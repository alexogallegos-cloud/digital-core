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57"/>
  </p:notesMasterIdLst>
  <p:sldIdLst>
    <p:sldId id="444" r:id="rId5"/>
    <p:sldId id="265" r:id="rId6"/>
    <p:sldId id="266" r:id="rId7"/>
    <p:sldId id="422" r:id="rId8"/>
    <p:sldId id="445" r:id="rId9"/>
    <p:sldId id="315" r:id="rId10"/>
    <p:sldId id="414" r:id="rId11"/>
    <p:sldId id="462" r:id="rId12"/>
    <p:sldId id="416" r:id="rId13"/>
    <p:sldId id="417" r:id="rId14"/>
    <p:sldId id="446" r:id="rId15"/>
    <p:sldId id="447" r:id="rId16"/>
    <p:sldId id="390" r:id="rId17"/>
    <p:sldId id="443" r:id="rId18"/>
    <p:sldId id="466" r:id="rId19"/>
    <p:sldId id="463" r:id="rId20"/>
    <p:sldId id="465" r:id="rId21"/>
    <p:sldId id="464" r:id="rId22"/>
    <p:sldId id="467" r:id="rId23"/>
    <p:sldId id="450" r:id="rId24"/>
    <p:sldId id="451" r:id="rId25"/>
    <p:sldId id="459" r:id="rId26"/>
    <p:sldId id="449" r:id="rId27"/>
    <p:sldId id="448" r:id="rId28"/>
    <p:sldId id="457" r:id="rId29"/>
    <p:sldId id="455" r:id="rId30"/>
    <p:sldId id="453" r:id="rId31"/>
    <p:sldId id="454" r:id="rId32"/>
    <p:sldId id="460" r:id="rId33"/>
    <p:sldId id="458" r:id="rId34"/>
    <p:sldId id="456" r:id="rId35"/>
    <p:sldId id="452" r:id="rId36"/>
    <p:sldId id="362" r:id="rId37"/>
    <p:sldId id="442" r:id="rId38"/>
    <p:sldId id="334" r:id="rId39"/>
    <p:sldId id="282" r:id="rId40"/>
    <p:sldId id="333" r:id="rId41"/>
    <p:sldId id="358" r:id="rId42"/>
    <p:sldId id="335" r:id="rId43"/>
    <p:sldId id="338" r:id="rId44"/>
    <p:sldId id="341" r:id="rId45"/>
    <p:sldId id="441" r:id="rId46"/>
    <p:sldId id="344" r:id="rId47"/>
    <p:sldId id="342" r:id="rId48"/>
    <p:sldId id="339" r:id="rId49"/>
    <p:sldId id="340" r:id="rId50"/>
    <p:sldId id="343" r:id="rId51"/>
    <p:sldId id="350" r:id="rId52"/>
    <p:sldId id="351" r:id="rId53"/>
    <p:sldId id="352" r:id="rId54"/>
    <p:sldId id="353" r:id="rId55"/>
    <p:sldId id="357" r:id="rId5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56082"/>
    <a:srgbClr val="E6E6DC"/>
    <a:srgbClr val="7500C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072FECE-A9DA-4D39-B5B2-F4C50DCE1EB6}" v="58" dt="2026-08-11T22:45:42.89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00" d="100"/>
          <a:sy n="100" d="100"/>
        </p:scale>
        <p:origin x="876" y="4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presProps" Target="presProps.xml"/><Relationship Id="rId5" Type="http://schemas.openxmlformats.org/officeDocument/2006/relationships/slide" Target="slides/slide1.xml"/><Relationship Id="rId61" Type="http://schemas.openxmlformats.org/officeDocument/2006/relationships/tableStyles" Target="tableStyles.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viewProps" Target="viewProp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notesMaster" Target="notesMasters/notesMaster1.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FD8439F-F0A5-4C0D-AD57-80E4C14A7F32}" type="datetimeFigureOut">
              <a:t>12/08/2026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AF1892-54DF-4B18-83C8-92F8FE765213}" type="slidenum">
              <a:t>‹#›</a:t>
            </a:fld>
            <a:endParaRPr lang="en-US"/>
          </a:p>
        </p:txBody>
      </p:sp>
    </p:spTree>
    <p:extLst>
      <p:ext uri="{BB962C8B-B14F-4D97-AF65-F5344CB8AC3E}">
        <p14:creationId xmlns:p14="http://schemas.microsoft.com/office/powerpoint/2010/main" val="2293041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072C5D8-91B8-40D4-9C9A-31EB0EF7358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550654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E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072C5D8-91B8-40D4-9C9A-31EB0EF7358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077836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
          </a:p>
        </p:txBody>
      </p:sp>
      <p:sp>
        <p:nvSpPr>
          <p:cNvPr id="4" name="Slide Number Placeholder 3"/>
          <p:cNvSpPr>
            <a:spLocks noGrp="1"/>
          </p:cNvSpPr>
          <p:nvPr>
            <p:ph type="sldNum" sz="quarter" idx="5"/>
          </p:nvPr>
        </p:nvSpPr>
        <p:spPr/>
        <p:txBody>
          <a:bodyPr/>
          <a:lstStyle/>
          <a:p>
            <a:fld id="{AAAF1892-54DF-4B18-83C8-92F8FE765213}" type="slidenum">
              <a:rPr lang="es-ES" smtClean="0"/>
              <a:t>10</a:t>
            </a:fld>
            <a:endParaRPr lang="es-ES"/>
          </a:p>
        </p:txBody>
      </p:sp>
    </p:spTree>
    <p:extLst>
      <p:ext uri="{BB962C8B-B14F-4D97-AF65-F5344CB8AC3E}">
        <p14:creationId xmlns:p14="http://schemas.microsoft.com/office/powerpoint/2010/main" val="32664562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 dirty="0"/>
          </a:p>
        </p:txBody>
      </p:sp>
      <p:sp>
        <p:nvSpPr>
          <p:cNvPr id="4" name="Slide Number Placeholder 3"/>
          <p:cNvSpPr>
            <a:spLocks noGrp="1"/>
          </p:cNvSpPr>
          <p:nvPr>
            <p:ph type="sldNum" sz="quarter" idx="5"/>
          </p:nvPr>
        </p:nvSpPr>
        <p:spPr/>
        <p:txBody>
          <a:bodyPr/>
          <a:lstStyle/>
          <a:p>
            <a:fld id="{AAAF1892-54DF-4B18-83C8-92F8FE765213}" type="slidenum">
              <a:rPr lang="es-ES" smtClean="0"/>
              <a:t>18</a:t>
            </a:fld>
            <a:endParaRPr lang="es-ES"/>
          </a:p>
        </p:txBody>
      </p:sp>
    </p:spTree>
    <p:extLst>
      <p:ext uri="{BB962C8B-B14F-4D97-AF65-F5344CB8AC3E}">
        <p14:creationId xmlns:p14="http://schemas.microsoft.com/office/powerpoint/2010/main" val="7417833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80EE857-C304-45B0-8088-656281E00E68}" type="slidenum">
              <a:rPr lang="en-US" smtClean="0"/>
              <a:t>29</a:t>
            </a:fld>
            <a:endParaRPr lang="en-US"/>
          </a:p>
        </p:txBody>
      </p:sp>
    </p:spTree>
    <p:extLst>
      <p:ext uri="{BB962C8B-B14F-4D97-AF65-F5344CB8AC3E}">
        <p14:creationId xmlns:p14="http://schemas.microsoft.com/office/powerpoint/2010/main" val="22703382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
          </a:p>
        </p:txBody>
      </p:sp>
      <p:sp>
        <p:nvSpPr>
          <p:cNvPr id="4" name="Slide Number Placeholder 3"/>
          <p:cNvSpPr>
            <a:spLocks noGrp="1"/>
          </p:cNvSpPr>
          <p:nvPr>
            <p:ph type="sldNum" sz="quarter" idx="5"/>
          </p:nvPr>
        </p:nvSpPr>
        <p:spPr/>
        <p:txBody>
          <a:bodyPr/>
          <a:lstStyle/>
          <a:p>
            <a:fld id="{AAAF1892-54DF-4B18-83C8-92F8FE765213}" type="slidenum">
              <a:rPr lang="es-ES" smtClean="0"/>
              <a:t>31</a:t>
            </a:fld>
            <a:endParaRPr lang="es-ES"/>
          </a:p>
        </p:txBody>
      </p:sp>
    </p:spTree>
    <p:extLst>
      <p:ext uri="{BB962C8B-B14F-4D97-AF65-F5344CB8AC3E}">
        <p14:creationId xmlns:p14="http://schemas.microsoft.com/office/powerpoint/2010/main" val="18082529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
          </a:p>
        </p:txBody>
      </p:sp>
      <p:sp>
        <p:nvSpPr>
          <p:cNvPr id="4" name="Slide Number Placeholder 3"/>
          <p:cNvSpPr>
            <a:spLocks noGrp="1"/>
          </p:cNvSpPr>
          <p:nvPr>
            <p:ph type="sldNum" sz="quarter" idx="5"/>
          </p:nvPr>
        </p:nvSpPr>
        <p:spPr/>
        <p:txBody>
          <a:bodyPr/>
          <a:lstStyle/>
          <a:p>
            <a:fld id="{AAAF1892-54DF-4B18-83C8-92F8FE765213}" type="slidenum">
              <a:rPr lang="es-ES" smtClean="0"/>
              <a:t>32</a:t>
            </a:fld>
            <a:endParaRPr lang="es-ES"/>
          </a:p>
        </p:txBody>
      </p:sp>
    </p:spTree>
    <p:extLst>
      <p:ext uri="{BB962C8B-B14F-4D97-AF65-F5344CB8AC3E}">
        <p14:creationId xmlns:p14="http://schemas.microsoft.com/office/powerpoint/2010/main" val="40658393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 dirty="0"/>
          </a:p>
        </p:txBody>
      </p:sp>
      <p:sp>
        <p:nvSpPr>
          <p:cNvPr id="4" name="Slide Number Placeholder 3"/>
          <p:cNvSpPr>
            <a:spLocks noGrp="1"/>
          </p:cNvSpPr>
          <p:nvPr>
            <p:ph type="sldNum" sz="quarter" idx="5"/>
          </p:nvPr>
        </p:nvSpPr>
        <p:spPr/>
        <p:txBody>
          <a:bodyPr/>
          <a:lstStyle/>
          <a:p>
            <a:fld id="{AAAF1892-54DF-4B18-83C8-92F8FE765213}" type="slidenum">
              <a:rPr lang="es-ES" smtClean="0"/>
              <a:t>47</a:t>
            </a:fld>
            <a:endParaRPr lang="es-ES"/>
          </a:p>
        </p:txBody>
      </p:sp>
    </p:spTree>
    <p:extLst>
      <p:ext uri="{BB962C8B-B14F-4D97-AF65-F5344CB8AC3E}">
        <p14:creationId xmlns:p14="http://schemas.microsoft.com/office/powerpoint/2010/main" val="264113444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userDrawn="1">
  <p:cSld name="15_Title: Black7 Acquisition+Image">
    <p:bg>
      <p:bgPr>
        <a:solidFill>
          <a:schemeClr val="accent3"/>
        </a:solidFill>
        <a:effectLst/>
      </p:bgPr>
    </p:bg>
    <p:spTree>
      <p:nvGrpSpPr>
        <p:cNvPr id="1" name=""/>
        <p:cNvGrpSpPr/>
        <p:nvPr/>
      </p:nvGrpSpPr>
      <p:grpSpPr>
        <a:xfrm>
          <a:off x="0" y="0"/>
          <a:ext cx="0" cy="0"/>
          <a:chOff x="0" y="0"/>
          <a:chExt cx="0" cy="0"/>
        </a:xfrm>
      </p:grpSpPr>
      <p:pic>
        <p:nvPicPr>
          <p:cNvPr id="6" name="Picture 5" descr="Un tren atravesando un túnel&#10;&#10;Descripción generada automáticamente">
            <a:extLst>
              <a:ext uri="{FF2B5EF4-FFF2-40B4-BE49-F238E27FC236}">
                <a16:creationId xmlns:a16="http://schemas.microsoft.com/office/drawing/2014/main" id="{85C5FF8B-95C7-C551-B1CB-374F0F58FECB}"/>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7868" b="7868"/>
          <a:stretch/>
        </p:blipFill>
        <p:spPr>
          <a:xfrm>
            <a:off x="-7984" y="0"/>
            <a:ext cx="12207968" cy="6858000"/>
          </a:xfrm>
          <a:prstGeom prst="rect">
            <a:avLst/>
          </a:prstGeom>
        </p:spPr>
      </p:pic>
      <p:pic>
        <p:nvPicPr>
          <p:cNvPr id="3" name="Picture 2">
            <a:extLst>
              <a:ext uri="{FF2B5EF4-FFF2-40B4-BE49-F238E27FC236}">
                <a16:creationId xmlns:a16="http://schemas.microsoft.com/office/drawing/2014/main" id="{3619E561-A29C-8FA0-CBD7-3A266E6204AA}"/>
              </a:ext>
            </a:extLst>
          </p:cNvPr>
          <p:cNvPicPr>
            <a:picLocks noChangeAspect="1"/>
          </p:cNvPicPr>
          <p:nvPr userDrawn="1"/>
        </p:nvPicPr>
        <p:blipFill>
          <a:blip r:embed="rId3">
            <a:alphaModFix amt="52000"/>
            <a:extLst>
              <a:ext uri="{28A0092B-C50C-407E-A947-70E740481C1C}">
                <a14:useLocalDpi xmlns:a14="http://schemas.microsoft.com/office/drawing/2010/main" val="0"/>
              </a:ext>
            </a:extLst>
          </a:blip>
          <a:stretch/>
        </p:blipFill>
        <p:spPr>
          <a:xfrm>
            <a:off x="0" y="-823"/>
            <a:ext cx="12188952" cy="6858000"/>
          </a:xfrm>
          <a:prstGeom prst="rect">
            <a:avLst/>
          </a:prstGeom>
        </p:spPr>
      </p:pic>
      <p:sp>
        <p:nvSpPr>
          <p:cNvPr id="4" name="Rectangle 3">
            <a:extLst>
              <a:ext uri="{FF2B5EF4-FFF2-40B4-BE49-F238E27FC236}">
                <a16:creationId xmlns:a16="http://schemas.microsoft.com/office/drawing/2014/main" id="{5EDA6F70-65FF-FCD8-1B47-38ADD6F6B5FE}"/>
              </a:ext>
            </a:extLst>
          </p:cNvPr>
          <p:cNvSpPr/>
          <p:nvPr userDrawn="1"/>
        </p:nvSpPr>
        <p:spPr>
          <a:xfrm>
            <a:off x="0" y="0"/>
            <a:ext cx="6096000" cy="6858000"/>
          </a:xfrm>
          <a:prstGeom prst="rect">
            <a:avLst/>
          </a:prstGeom>
          <a:gradFill>
            <a:gsLst>
              <a:gs pos="0">
                <a:schemeClr val="bg1"/>
              </a:gs>
              <a:gs pos="100000">
                <a:schemeClr val="bg1">
                  <a:alpha val="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IN" err="1"/>
          </a:p>
        </p:txBody>
      </p:sp>
      <p:sp>
        <p:nvSpPr>
          <p:cNvPr id="7" name="Title 1">
            <a:extLst>
              <a:ext uri="{FF2B5EF4-FFF2-40B4-BE49-F238E27FC236}">
                <a16:creationId xmlns:a16="http://schemas.microsoft.com/office/drawing/2014/main" id="{37524701-2790-4705-8FD4-F1B02CBB78FC}"/>
              </a:ext>
            </a:extLst>
          </p:cNvPr>
          <p:cNvSpPr>
            <a:spLocks noGrp="1"/>
          </p:cNvSpPr>
          <p:nvPr>
            <p:ph type="ctrTitle" hasCustomPrompt="1"/>
          </p:nvPr>
        </p:nvSpPr>
        <p:spPr bwMode="black">
          <a:xfrm>
            <a:off x="1090024" y="2737373"/>
            <a:ext cx="10027921" cy="1459477"/>
          </a:xfrm>
        </p:spPr>
        <p:txBody>
          <a:bodyPr anchor="b"/>
          <a:lstStyle>
            <a:lvl1pPr algn="l">
              <a:lnSpc>
                <a:spcPct val="90000"/>
              </a:lnSpc>
              <a:defRPr sz="4800" b="1">
                <a:solidFill>
                  <a:schemeClr val="tx1"/>
                </a:solidFill>
                <a:latin typeface="Graphik (Body)"/>
              </a:defRPr>
            </a:lvl1pPr>
          </a:lstStyle>
          <a:p>
            <a:r>
              <a:rPr lang="es"/>
              <a:t>Título del lugar</a:t>
            </a:r>
            <a:br>
              <a:rPr lang="en-US"/>
            </a:br>
            <a:r>
              <a:rPr lang="es"/>
              <a:t>aquí</a:t>
            </a:r>
          </a:p>
        </p:txBody>
      </p:sp>
      <p:sp>
        <p:nvSpPr>
          <p:cNvPr id="8" name="Subtitle 2">
            <a:extLst>
              <a:ext uri="{FF2B5EF4-FFF2-40B4-BE49-F238E27FC236}">
                <a16:creationId xmlns:a16="http://schemas.microsoft.com/office/drawing/2014/main" id="{E2B04ECA-6F5D-4ABE-B739-A5A491724792}"/>
              </a:ext>
            </a:extLst>
          </p:cNvPr>
          <p:cNvSpPr>
            <a:spLocks noGrp="1"/>
          </p:cNvSpPr>
          <p:nvPr>
            <p:ph type="subTitle" idx="1" hasCustomPrompt="1"/>
          </p:nvPr>
        </p:nvSpPr>
        <p:spPr bwMode="black">
          <a:xfrm>
            <a:off x="1090024" y="4355303"/>
            <a:ext cx="10027921" cy="481496"/>
          </a:xfrm>
        </p:spPr>
        <p:txBody>
          <a:bodyPr/>
          <a:lstStyle>
            <a:lvl1pPr marL="0" indent="0" algn="l">
              <a:lnSpc>
                <a:spcPct val="90000"/>
              </a:lnSpc>
              <a:spcAft>
                <a:spcPts val="1200"/>
              </a:spcAft>
              <a:buNone/>
              <a:defRPr sz="2000" b="0" i="0" spc="0">
                <a:solidFill>
                  <a:schemeClr val="tx1"/>
                </a:solidFill>
                <a:latin typeface="Graphik" panose="020B0503030202060203"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s"/>
              <a:t>Coloca el subtítulo aquí en 20pt</a:t>
            </a:r>
            <a:endParaRPr lang="en-US"/>
          </a:p>
        </p:txBody>
      </p:sp>
      <p:sp>
        <p:nvSpPr>
          <p:cNvPr id="14" name="GTS_WH">
            <a:extLst>
              <a:ext uri="{FF2B5EF4-FFF2-40B4-BE49-F238E27FC236}">
                <a16:creationId xmlns:a16="http://schemas.microsoft.com/office/drawing/2014/main" id="{A319DDD6-88DD-4991-B24D-5A7AEE42F80E}"/>
              </a:ext>
              <a:ext uri="{C183D7F6-B498-43B3-948B-1728B52AA6E4}">
                <adec:decorative xmlns:adec="http://schemas.microsoft.com/office/drawing/2017/decorative" val="1"/>
              </a:ext>
            </a:extLst>
          </p:cNvPr>
          <p:cNvSpPr>
            <a:spLocks noChangeAspect="1"/>
          </p:cNvSpPr>
          <p:nvPr userDrawn="1"/>
        </p:nvSpPr>
        <p:spPr bwMode="auto">
          <a:xfrm>
            <a:off x="1090024" y="416469"/>
            <a:ext cx="546149" cy="599405"/>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raphik"/>
              <a:ea typeface="+mn-ea"/>
              <a:cs typeface="+mn-cs"/>
            </a:endParaRPr>
          </a:p>
        </p:txBody>
      </p:sp>
      <p:sp>
        <p:nvSpPr>
          <p:cNvPr id="23" name="Graphic 21">
            <a:extLst>
              <a:ext uri="{FF2B5EF4-FFF2-40B4-BE49-F238E27FC236}">
                <a16:creationId xmlns:a16="http://schemas.microsoft.com/office/drawing/2014/main" id="{8205AA92-7D23-457D-A2A1-B60A48C67F49}"/>
              </a:ext>
            </a:extLst>
          </p:cNvPr>
          <p:cNvSpPr/>
          <p:nvPr/>
        </p:nvSpPr>
        <p:spPr>
          <a:xfrm rot="5400000">
            <a:off x="384632" y="5388754"/>
            <a:ext cx="917291" cy="917291"/>
          </a:xfrm>
          <a:custGeom>
            <a:avLst/>
            <a:gdLst>
              <a:gd name="connsiteX0" fmla="*/ 2324100 w 2324100"/>
              <a:gd name="connsiteY0" fmla="*/ 0 h 2324100"/>
              <a:gd name="connsiteX1" fmla="*/ 2324100 w 2324100"/>
              <a:gd name="connsiteY1" fmla="*/ 2324100 h 2324100"/>
              <a:gd name="connsiteX2" fmla="*/ 0 w 2324100"/>
              <a:gd name="connsiteY2" fmla="*/ 2324100 h 2324100"/>
            </a:gdLst>
            <a:ahLst/>
            <a:cxnLst>
              <a:cxn ang="0">
                <a:pos x="connsiteX0" y="connsiteY0"/>
              </a:cxn>
              <a:cxn ang="0">
                <a:pos x="connsiteX1" y="connsiteY1"/>
              </a:cxn>
              <a:cxn ang="0">
                <a:pos x="connsiteX2" y="connsiteY2"/>
              </a:cxn>
            </a:cxnLst>
            <a:rect l="l" t="t" r="r" b="b"/>
            <a:pathLst>
              <a:path w="2324100" h="2324100">
                <a:moveTo>
                  <a:pt x="2324100" y="0"/>
                </a:moveTo>
                <a:lnTo>
                  <a:pt x="2324100" y="2324100"/>
                </a:lnTo>
                <a:lnTo>
                  <a:pt x="0" y="2324100"/>
                </a:lnTo>
              </a:path>
            </a:pathLst>
          </a:custGeom>
          <a:noFill/>
          <a:ln w="19050" cap="flat">
            <a:solidFill>
              <a:schemeClr val="tx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raphik"/>
              <a:ea typeface="+mn-ea"/>
              <a:cs typeface="+mn-cs"/>
            </a:endParaRPr>
          </a:p>
        </p:txBody>
      </p:sp>
      <p:sp>
        <p:nvSpPr>
          <p:cNvPr id="24" name="Graphic 21">
            <a:extLst>
              <a:ext uri="{FF2B5EF4-FFF2-40B4-BE49-F238E27FC236}">
                <a16:creationId xmlns:a16="http://schemas.microsoft.com/office/drawing/2014/main" id="{B85AA6E9-E996-4D63-B7FB-443282A480B4}"/>
              </a:ext>
            </a:extLst>
          </p:cNvPr>
          <p:cNvSpPr/>
          <p:nvPr userDrawn="1"/>
        </p:nvSpPr>
        <p:spPr>
          <a:xfrm rot="16200000">
            <a:off x="10555705" y="380999"/>
            <a:ext cx="1255295" cy="1255295"/>
          </a:xfrm>
          <a:custGeom>
            <a:avLst/>
            <a:gdLst>
              <a:gd name="connsiteX0" fmla="*/ 2324100 w 2324100"/>
              <a:gd name="connsiteY0" fmla="*/ 0 h 2324100"/>
              <a:gd name="connsiteX1" fmla="*/ 2324100 w 2324100"/>
              <a:gd name="connsiteY1" fmla="*/ 2324100 h 2324100"/>
              <a:gd name="connsiteX2" fmla="*/ 0 w 2324100"/>
              <a:gd name="connsiteY2" fmla="*/ 2324100 h 2324100"/>
            </a:gdLst>
            <a:ahLst/>
            <a:cxnLst>
              <a:cxn ang="0">
                <a:pos x="connsiteX0" y="connsiteY0"/>
              </a:cxn>
              <a:cxn ang="0">
                <a:pos x="connsiteX1" y="connsiteY1"/>
              </a:cxn>
              <a:cxn ang="0">
                <a:pos x="connsiteX2" y="connsiteY2"/>
              </a:cxn>
            </a:cxnLst>
            <a:rect l="l" t="t" r="r" b="b"/>
            <a:pathLst>
              <a:path w="2324100" h="2324100">
                <a:moveTo>
                  <a:pt x="2324100" y="0"/>
                </a:moveTo>
                <a:lnTo>
                  <a:pt x="2324100" y="2324100"/>
                </a:lnTo>
                <a:lnTo>
                  <a:pt x="0" y="2324100"/>
                </a:lnTo>
              </a:path>
            </a:pathLst>
          </a:custGeom>
          <a:noFill/>
          <a:ln w="19050" cap="flat">
            <a:solidFill>
              <a:schemeClr val="tx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raphik"/>
              <a:ea typeface="+mn-ea"/>
              <a:cs typeface="+mn-cs"/>
            </a:endParaRPr>
          </a:p>
        </p:txBody>
      </p:sp>
    </p:spTree>
    <p:extLst>
      <p:ext uri="{BB962C8B-B14F-4D97-AF65-F5344CB8AC3E}">
        <p14:creationId xmlns:p14="http://schemas.microsoft.com/office/powerpoint/2010/main" val="1451717983"/>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Side stripe blank">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8119FEF2-BA68-89B0-0974-A87A45F4685B}"/>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151" t="10096" r="38466" b="29520"/>
          <a:stretch/>
        </p:blipFill>
        <p:spPr bwMode="invGray">
          <a:xfrm>
            <a:off x="0" y="0"/>
            <a:ext cx="12188952" cy="6858000"/>
          </a:xfrm>
          <a:prstGeom prst="rect">
            <a:avLst/>
          </a:prstGeom>
        </p:spPr>
      </p:pic>
      <p:sp>
        <p:nvSpPr>
          <p:cNvPr id="5" name="Rectangle 4">
            <a:extLst>
              <a:ext uri="{FF2B5EF4-FFF2-40B4-BE49-F238E27FC236}">
                <a16:creationId xmlns:a16="http://schemas.microsoft.com/office/drawing/2014/main" id="{1377DAFA-3362-4425-8CD2-4290DB9845EC}"/>
              </a:ext>
            </a:extLst>
          </p:cNvPr>
          <p:cNvSpPr/>
          <p:nvPr userDrawn="1"/>
        </p:nvSpPr>
        <p:spPr>
          <a:xfrm>
            <a:off x="111967" y="0"/>
            <a:ext cx="12080033"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pic>
        <p:nvPicPr>
          <p:cNvPr id="6" name="Accenture GTS">
            <a:extLst>
              <a:ext uri="{FF2B5EF4-FFF2-40B4-BE49-F238E27FC236}">
                <a16:creationId xmlns:a16="http://schemas.microsoft.com/office/drawing/2014/main" id="{B4910298-83CA-2AFB-7BE4-D7DCA8F9B160}"/>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81000" y="6474701"/>
            <a:ext cx="190800" cy="209415"/>
          </a:xfrm>
          <a:prstGeom prst="rect">
            <a:avLst/>
          </a:prstGeom>
        </p:spPr>
      </p:pic>
      <p:sp>
        <p:nvSpPr>
          <p:cNvPr id="3" name="Footer Placeholder 4">
            <a:extLst>
              <a:ext uri="{FF2B5EF4-FFF2-40B4-BE49-F238E27FC236}">
                <a16:creationId xmlns:a16="http://schemas.microsoft.com/office/drawing/2014/main" id="{BE33DF40-0BA4-F87D-AF22-972ED99888C2}"/>
              </a:ext>
            </a:extLst>
          </p:cNvPr>
          <p:cNvSpPr>
            <a:spLocks noGrp="1"/>
          </p:cNvSpPr>
          <p:nvPr>
            <p:ph type="ftr" sz="quarter" idx="3"/>
          </p:nvPr>
        </p:nvSpPr>
        <p:spPr>
          <a:xfrm>
            <a:off x="8684895" y="6622818"/>
            <a:ext cx="3175200" cy="132523"/>
          </a:xfrm>
          <a:prstGeom prst="rect">
            <a:avLst/>
          </a:prstGeom>
        </p:spPr>
        <p:txBody>
          <a:bodyPr vert="horz" wrap="none" lIns="0" tIns="0" rIns="0" bIns="0" rtlCol="0" anchor="ctr">
            <a:noAutofit/>
          </a:bodyPr>
          <a:lstStyle>
            <a:lvl1pPr algn="r">
              <a:defRPr sz="800">
                <a:solidFill>
                  <a:schemeClr val="tx1">
                    <a:alpha val="65000"/>
                  </a:schemeClr>
                </a:solidFill>
              </a:defRPr>
            </a:lvl1pPr>
          </a:lstStyle>
          <a:p>
            <a:r>
              <a:rPr lang="es"/>
              <a:t>Copyright © 2025 Accenture. Todos los derechos reservados.</a:t>
            </a:r>
          </a:p>
        </p:txBody>
      </p:sp>
    </p:spTree>
    <p:extLst>
      <p:ext uri="{BB962C8B-B14F-4D97-AF65-F5344CB8AC3E}">
        <p14:creationId xmlns:p14="http://schemas.microsoft.com/office/powerpoint/2010/main" val="10716886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E722738-7C96-E8CF-04DC-3D2F9296DDD7}"/>
              </a:ext>
            </a:extLst>
          </p:cNvPr>
          <p:cNvSpPr txBox="1"/>
          <p:nvPr userDrawn="1"/>
        </p:nvSpPr>
        <p:spPr>
          <a:xfrm>
            <a:off x="7986335" y="6657117"/>
            <a:ext cx="3855145" cy="140115"/>
          </a:xfrm>
          <a:prstGeom prst="rect">
            <a:avLst/>
          </a:prstGeom>
          <a:noFill/>
        </p:spPr>
        <p:txBody>
          <a:bodyPr wrap="square" lIns="0" tIns="0" rIns="0" bIns="0" rtlCol="0">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r>
              <a:rPr lang="es" sz="800" b="0" i="0">
                <a:solidFill>
                  <a:schemeClr val="tx1">
                    <a:alpha val="50000"/>
                  </a:schemeClr>
                </a:solidFill>
                <a:latin typeface="Graphik" panose="020B0503030202060203" pitchFamily="34" charset="77"/>
              </a:rPr>
              <a:t>Copyright © 2025 Accenture. Todos los derechos reservados. Solo para uso interno</a:t>
            </a:r>
            <a:endParaRPr lang="en-US" sz="800" b="0" i="0">
              <a:solidFill>
                <a:schemeClr val="tx1">
                  <a:alpha val="50000"/>
                </a:schemeClr>
              </a:solidFill>
              <a:latin typeface="Graphik" panose="020B0503030202060203" pitchFamily="34" charset="77"/>
            </a:endParaRPr>
          </a:p>
          <a:p>
            <a:pPr algn="r" defTabSz="228600">
              <a:spcAft>
                <a:spcPts val="1200"/>
              </a:spcAft>
            </a:pPr>
            <a:endParaRPr lang="en-US" b="0" i="0" noProof="0">
              <a:solidFill>
                <a:schemeClr val="tx1">
                  <a:alpha val="50000"/>
                </a:schemeClr>
              </a:solidFill>
              <a:latin typeface="Graphik" panose="020B0503030202060203" pitchFamily="34" charset="77"/>
            </a:endParaRPr>
          </a:p>
        </p:txBody>
      </p:sp>
    </p:spTree>
    <p:extLst>
      <p:ext uri="{BB962C8B-B14F-4D97-AF65-F5344CB8AC3E}">
        <p14:creationId xmlns:p14="http://schemas.microsoft.com/office/powerpoint/2010/main" val="533618743"/>
      </p:ext>
    </p:extLst>
  </p:cSld>
  <p:clrMap bg1="lt1" tx1="dk1" bg2="lt2" tx2="dk2" accent1="accent1" accent2="accent2" accent3="accent3" accent4="accent4" accent5="accent5" accent6="accent6" hlink="hlink" folHlink="folHlink"/>
  <p:sldLayoutIdLst>
    <p:sldLayoutId id="2147483661" r:id="rId1"/>
    <p:sldLayoutId id="2147483662" r:id="rId2"/>
  </p:sldLayoutIdLst>
  <p:hf hdr="0" dt="0"/>
  <p:txStyles>
    <p:titleStyle>
      <a:lvl1pPr algn="l" defTabSz="914400" rtl="0" eaLnBrk="1" latinLnBrk="0" hangingPunct="1">
        <a:lnSpc>
          <a:spcPct val="80000"/>
        </a:lnSpc>
        <a:spcBef>
          <a:spcPct val="0"/>
        </a:spcBef>
        <a:buNone/>
        <a:defRPr sz="3600" b="1" kern="1200">
          <a:solidFill>
            <a:schemeClr val="tx1"/>
          </a:solidFill>
          <a:latin typeface="+mj-lt"/>
          <a:ea typeface="+mj-ea"/>
          <a:cs typeface="+mj-cs"/>
        </a:defRPr>
      </a:lvl1pPr>
    </p:titleStyle>
    <p:bodyStyle>
      <a:lvl1pPr marL="228600" indent="-228600" algn="l" defTabSz="228600" rtl="0" eaLnBrk="1" latinLnBrk="0" hangingPunct="1">
        <a:lnSpc>
          <a:spcPct val="100000"/>
        </a:lnSpc>
        <a:spcBef>
          <a:spcPts val="0"/>
        </a:spcBef>
        <a:spcAft>
          <a:spcPts val="600"/>
        </a:spcAft>
        <a:buFont typeface="Graphik"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Graphik"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Graphik"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Graphik"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Graphik"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Graphik"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Graphik"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Graphik" panose="020B0604020202020204" pitchFamily="34" charset="0"/>
        <a:buNone/>
        <a:defRPr sz="800" kern="1200">
          <a:solidFill>
            <a:schemeClr val="tx2"/>
          </a:solidFill>
          <a:latin typeface="+mn-lt"/>
          <a:ea typeface="+mn-ea"/>
          <a:cs typeface="+mn-cs"/>
        </a:defRPr>
      </a:lvl9pPr>
    </p:bodyStyle>
    <p:otherStyle>
      <a:defPPr>
        <a:defRPr lang="en-US"/>
      </a:defPPr>
      <a:lvl1pPr marL="0" algn="l" defTabSz="914400" rtl="0" eaLnBrk="1" latinLnBrk="0" hangingPunct="1">
        <a:defRPr sz="1400" kern="1200">
          <a:solidFill>
            <a:schemeClr val="tx1"/>
          </a:solidFill>
          <a:latin typeface="+mn-lt"/>
          <a:ea typeface="+mn-ea"/>
          <a:cs typeface="+mn-cs"/>
        </a:defRPr>
      </a:lvl1pPr>
      <a:lvl2pPr marL="457200" algn="l" defTabSz="914400" rtl="0" eaLnBrk="1" latinLnBrk="0" hangingPunct="1">
        <a:defRPr sz="1400" kern="1200">
          <a:solidFill>
            <a:schemeClr val="tx1"/>
          </a:solidFill>
          <a:latin typeface="+mn-lt"/>
          <a:ea typeface="+mn-ea"/>
          <a:cs typeface="+mn-cs"/>
        </a:defRPr>
      </a:lvl2pPr>
      <a:lvl3pPr marL="914400" algn="l" defTabSz="914400" rtl="0" eaLnBrk="1" latinLnBrk="0" hangingPunct="1">
        <a:defRPr sz="1400" kern="1200">
          <a:solidFill>
            <a:schemeClr val="tx1"/>
          </a:solidFill>
          <a:latin typeface="+mn-lt"/>
          <a:ea typeface="+mn-ea"/>
          <a:cs typeface="+mn-cs"/>
        </a:defRPr>
      </a:lvl3pPr>
      <a:lvl4pPr marL="1371600" algn="l" defTabSz="914400" rtl="0" eaLnBrk="1" latinLnBrk="0" hangingPunct="1">
        <a:defRPr sz="1400" kern="1200">
          <a:solidFill>
            <a:schemeClr val="tx1"/>
          </a:solidFill>
          <a:latin typeface="+mn-lt"/>
          <a:ea typeface="+mn-ea"/>
          <a:cs typeface="+mn-cs"/>
        </a:defRPr>
      </a:lvl4pPr>
      <a:lvl5pPr marL="1828800" algn="l" defTabSz="914400" rtl="0" eaLnBrk="1" latinLnBrk="0" hangingPunct="1">
        <a:defRPr sz="1400" kern="1200">
          <a:solidFill>
            <a:schemeClr val="tx1"/>
          </a:solidFill>
          <a:latin typeface="+mn-lt"/>
          <a:ea typeface="+mn-ea"/>
          <a:cs typeface="+mn-cs"/>
        </a:defRPr>
      </a:lvl5pPr>
      <a:lvl6pPr marL="2286000" algn="l" defTabSz="914400" rtl="0" eaLnBrk="1" latinLnBrk="0" hangingPunct="1">
        <a:defRPr sz="1400" kern="1200">
          <a:solidFill>
            <a:schemeClr val="tx1"/>
          </a:solidFill>
          <a:latin typeface="+mn-lt"/>
          <a:ea typeface="+mn-ea"/>
          <a:cs typeface="+mn-cs"/>
        </a:defRPr>
      </a:lvl6pPr>
      <a:lvl7pPr marL="2743200" algn="l" defTabSz="914400" rtl="0" eaLnBrk="1" latinLnBrk="0" hangingPunct="1">
        <a:defRPr sz="1400" kern="1200">
          <a:solidFill>
            <a:schemeClr val="tx1"/>
          </a:solidFill>
          <a:latin typeface="+mn-lt"/>
          <a:ea typeface="+mn-ea"/>
          <a:cs typeface="+mn-cs"/>
        </a:defRPr>
      </a:lvl7pPr>
      <a:lvl8pPr marL="3200400" algn="l" defTabSz="914400" rtl="0" eaLnBrk="1" latinLnBrk="0" hangingPunct="1">
        <a:defRPr sz="1400" kern="1200">
          <a:solidFill>
            <a:schemeClr val="tx1"/>
          </a:solidFill>
          <a:latin typeface="+mn-lt"/>
          <a:ea typeface="+mn-ea"/>
          <a:cs typeface="+mn-cs"/>
        </a:defRPr>
      </a:lvl8pPr>
      <a:lvl9pPr marL="3657600" algn="l" defTabSz="914400" rtl="0" eaLnBrk="1" latinLnBrk="0" hangingPunct="1">
        <a:defRPr sz="1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slideLayout" Target="../slideLayouts/slideLayout2.xml"/><Relationship Id="rId1" Type="http://schemas.openxmlformats.org/officeDocument/2006/relationships/tags" Target="../tags/tag1.xml"/><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12.svg"/><Relationship Id="rId4" Type="http://schemas.openxmlformats.org/officeDocument/2006/relationships/image" Target="../media/image11.svg"/></Relationships>
</file>

<file path=ppt/slides/_rels/slide7.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sv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sv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slide" Target="slide3.xml"/><Relationship Id="rId1" Type="http://schemas.openxmlformats.org/officeDocument/2006/relationships/slideLayout" Target="../slideLayouts/slideLayout2.xml"/><Relationship Id="rId4" Type="http://schemas.microsoft.com/office/2007/relationships/hdphoto" Target="../media/hdphoto1.wdp"/></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slide" Target="slide3.xml"/><Relationship Id="rId1" Type="http://schemas.openxmlformats.org/officeDocument/2006/relationships/slideLayout" Target="../slideLayouts/slideLayout2.xml"/><Relationship Id="rId4" Type="http://schemas.microsoft.com/office/2007/relationships/hdphoto" Target="../media/hdphoto1.wdp"/></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slide" Target="slide3.xml"/><Relationship Id="rId1" Type="http://schemas.openxmlformats.org/officeDocument/2006/relationships/slideLayout" Target="../slideLayouts/slideLayout2.xml"/><Relationship Id="rId4" Type="http://schemas.microsoft.com/office/2007/relationships/hdphoto" Target="../media/hdphoto1.wdp"/></Relationships>
</file>

<file path=ppt/slides/_rels/slide18.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7.png"/><Relationship Id="rId5" Type="http://schemas.microsoft.com/office/2007/relationships/hdphoto" Target="../media/hdphoto1.wdp"/><Relationship Id="rId4" Type="http://schemas.openxmlformats.org/officeDocument/2006/relationships/image" Target="../media/image1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20.png"/></Relationships>
</file>

<file path=ppt/slides/_rels/slide3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8.png"/><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2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47.xml.rels><?xml version="1.0" encoding="UTF-8" standalone="yes"?>
<Relationships xmlns="http://schemas.openxmlformats.org/package/2006/relationships"><Relationship Id="rId3" Type="http://schemas.openxmlformats.org/officeDocument/2006/relationships/image" Target="../media/image30.png"/><Relationship Id="rId7" Type="http://schemas.openxmlformats.org/officeDocument/2006/relationships/image" Target="../media/image33.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32.png"/><Relationship Id="rId4" Type="http://schemas.openxmlformats.org/officeDocument/2006/relationships/image" Target="../media/image31.png"/></Relationships>
</file>

<file path=ppt/slides/_rels/slide48.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FA4AD4-2923-9EA3-0435-14BBF92E40A4}"/>
            </a:ext>
          </a:extLst>
        </p:cNvPr>
        <p:cNvGrpSpPr/>
        <p:nvPr/>
      </p:nvGrpSpPr>
      <p:grpSpPr>
        <a:xfrm>
          <a:off x="0" y="0"/>
          <a:ext cx="0" cy="0"/>
          <a:chOff x="0" y="0"/>
          <a:chExt cx="0" cy="0"/>
        </a:xfrm>
      </p:grpSpPr>
      <p:pic>
        <p:nvPicPr>
          <p:cNvPr id="16" name="Picture Placeholder 15">
            <a:extLst>
              <a:ext uri="{FF2B5EF4-FFF2-40B4-BE49-F238E27FC236}">
                <a16:creationId xmlns:a16="http://schemas.microsoft.com/office/drawing/2014/main" id="{4303AB5D-6534-ECB0-CC9F-E90553B7EF8B}"/>
              </a:ext>
            </a:extLst>
          </p:cNvPr>
          <p:cNvPicPr>
            <a:picLocks noGrp="1" noChangeAspect="1"/>
          </p:cNvPicPr>
          <p:nvPr>
            <p:ph type="pic" sz="quarter" idx="4294967295"/>
          </p:nvPr>
        </p:nvPicPr>
        <p:blipFill>
          <a:blip r:embed="rId2">
            <a:extLst>
              <a:ext uri="{28A0092B-C50C-407E-A947-70E740481C1C}">
                <a14:useLocalDpi xmlns:a14="http://schemas.microsoft.com/office/drawing/2010/main" val="0"/>
              </a:ext>
            </a:extLst>
          </a:blip>
          <a:srcRect l="20062" r="20062"/>
          <a:stretch/>
        </p:blipFill>
        <p:spPr>
          <a:xfrm>
            <a:off x="6096000" y="24714"/>
            <a:ext cx="6096000" cy="6858000"/>
          </a:xfrm>
          <a:prstGeom prst="rect">
            <a:avLst/>
          </a:prstGeom>
        </p:spPr>
      </p:pic>
      <p:sp>
        <p:nvSpPr>
          <p:cNvPr id="17" name="TextBox 16">
            <a:extLst>
              <a:ext uri="{FF2B5EF4-FFF2-40B4-BE49-F238E27FC236}">
                <a16:creationId xmlns:a16="http://schemas.microsoft.com/office/drawing/2014/main" id="{9C677428-B5B0-0397-7930-65E5ED504101}"/>
              </a:ext>
            </a:extLst>
          </p:cNvPr>
          <p:cNvSpPr txBox="1"/>
          <p:nvPr/>
        </p:nvSpPr>
        <p:spPr>
          <a:xfrm>
            <a:off x="7054753" y="6447723"/>
            <a:ext cx="4551903" cy="203203"/>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r>
              <a:rPr kumimoji="0" lang="es" sz="8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 Copyright © 2025 Accenture. Todos los derechos reservados.</a:t>
            </a:r>
          </a:p>
        </p:txBody>
      </p:sp>
      <p:sp>
        <p:nvSpPr>
          <p:cNvPr id="18" name="TextBox 17">
            <a:extLst>
              <a:ext uri="{FF2B5EF4-FFF2-40B4-BE49-F238E27FC236}">
                <a16:creationId xmlns:a16="http://schemas.microsoft.com/office/drawing/2014/main" id="{C6D7642A-C595-A717-05EE-87D17B840778}"/>
              </a:ext>
            </a:extLst>
          </p:cNvPr>
          <p:cNvSpPr txBox="1"/>
          <p:nvPr/>
        </p:nvSpPr>
        <p:spPr>
          <a:xfrm>
            <a:off x="11621120" y="6459129"/>
            <a:ext cx="505097" cy="20005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F90F471-3972-4120-B8B3-0237DE626C35}" type="slidenum">
              <a:rPr kumimoji="0" lang="en-US" sz="700" b="0" i="0" u="none" strike="noStrike" kern="1200" cap="none" spc="0" normalizeH="0" baseline="0" noProof="0" smtClean="0">
                <a:ln>
                  <a:noFill/>
                </a:ln>
                <a:solidFill>
                  <a:srgbClr val="000000"/>
                </a:solidFill>
                <a:effectLst/>
                <a:uLnTx/>
                <a:uFillTx/>
                <a:latin typeface="Graphik Light" panose="020B0403030202060203" pitchFamily="34"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7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endParaRPr>
          </a:p>
        </p:txBody>
      </p:sp>
      <p:sp>
        <p:nvSpPr>
          <p:cNvPr id="14" name="Text Placeholder 8">
            <a:extLst>
              <a:ext uri="{FF2B5EF4-FFF2-40B4-BE49-F238E27FC236}">
                <a16:creationId xmlns:a16="http://schemas.microsoft.com/office/drawing/2014/main" id="{1B29711C-72F6-1415-6827-3616652CB011}"/>
              </a:ext>
            </a:extLst>
          </p:cNvPr>
          <p:cNvSpPr txBox="1">
            <a:spLocks/>
          </p:cNvSpPr>
          <p:nvPr/>
        </p:nvSpPr>
        <p:spPr>
          <a:xfrm>
            <a:off x="381000" y="2199546"/>
            <a:ext cx="2641600" cy="772253"/>
          </a:xfrm>
          <a:prstGeom prst="rect">
            <a:avLst/>
          </a:prstGeom>
        </p:spPr>
        <p:txBody>
          <a:bodyPr vert="horz" lIns="0" tIns="0" rIns="0" bIns="0" rtlCol="0">
            <a:noAutofit/>
          </a:bodyPr>
          <a:lstStyle>
            <a:lvl1pPr marL="0" indent="0" algn="l" defTabSz="228600" rtl="0" eaLnBrk="1" latinLnBrk="0" hangingPunct="1">
              <a:lnSpc>
                <a:spcPct val="100000"/>
              </a:lnSpc>
              <a:spcBef>
                <a:spcPts val="0"/>
              </a:spcBef>
              <a:spcAft>
                <a:spcPts val="600"/>
              </a:spcAft>
              <a:buFont typeface="Arial" panose="020B0604020202020204" pitchFamily="34" charset="0"/>
              <a:buNone/>
              <a:defRPr lang="en-US" sz="7200" b="0" i="0" kern="1200" spc="-150" dirty="0">
                <a:solidFill>
                  <a:schemeClr val="accent2"/>
                </a:solidFill>
                <a:latin typeface="Graphik Light" panose="020B0403030202060203" pitchFamily="34" charset="0"/>
                <a:ea typeface="+mn-ea"/>
                <a:cs typeface="+mn-cs"/>
              </a:defRPr>
            </a:lvl1pPr>
            <a:lvl2pPr marL="457200" indent="-228600" algn="l" defTabSz="228600" rtl="0" eaLnBrk="1" latinLnBrk="0" hangingPunct="1">
              <a:lnSpc>
                <a:spcPct val="100000"/>
              </a:lnSpc>
              <a:spcBef>
                <a:spcPts val="0"/>
              </a:spcBef>
              <a:spcAft>
                <a:spcPts val="600"/>
              </a:spcAft>
              <a:buClrTx/>
              <a:buFont typeface="Arial"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Arial"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Arial"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Arial"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Arial" panose="020B0604020202020204" pitchFamily="34" charset="0"/>
              <a:buNone/>
              <a:defRPr sz="800" kern="1200">
                <a:solidFill>
                  <a:schemeClr val="tx2"/>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s" sz="7200" b="0" i="0" u="none" strike="noStrike" kern="1200" cap="none" spc="-150" normalizeH="0" baseline="0" noProof="0">
                <a:ln>
                  <a:noFill/>
                </a:ln>
                <a:solidFill>
                  <a:srgbClr val="7500C0"/>
                </a:solidFill>
                <a:effectLst/>
                <a:uLnTx/>
                <a:uFillTx/>
                <a:latin typeface="Graphik Light" panose="020B0403030202060203" pitchFamily="34" charset="0"/>
                <a:ea typeface="+mn-ea"/>
                <a:cs typeface="+mn-cs"/>
              </a:rPr>
              <a:t>01. </a:t>
            </a:r>
          </a:p>
        </p:txBody>
      </p:sp>
      <p:sp>
        <p:nvSpPr>
          <p:cNvPr id="15" name="Title 7">
            <a:extLst>
              <a:ext uri="{FF2B5EF4-FFF2-40B4-BE49-F238E27FC236}">
                <a16:creationId xmlns:a16="http://schemas.microsoft.com/office/drawing/2014/main" id="{2F77F5EF-E020-7D3E-769E-8FEBB8C9EF97}"/>
              </a:ext>
            </a:extLst>
          </p:cNvPr>
          <p:cNvSpPr txBox="1">
            <a:spLocks/>
          </p:cNvSpPr>
          <p:nvPr/>
        </p:nvSpPr>
        <p:spPr>
          <a:xfrm>
            <a:off x="380999" y="3201006"/>
            <a:ext cx="5597013" cy="582441"/>
          </a:xfrm>
          <a:prstGeom prst="rect">
            <a:avLst/>
          </a:prstGeom>
        </p:spPr>
        <p:txBody>
          <a:bodyPr vert="horz" lIns="0" tIns="61200" rIns="0" bIns="0" rtlCol="0" anchor="t">
            <a:noAutofit/>
          </a:bodyPr>
          <a:lstStyle>
            <a:lvl1pPr algn="l" defTabSz="914400" rtl="0" eaLnBrk="1" latinLnBrk="0" hangingPunct="1">
              <a:lnSpc>
                <a:spcPct val="80000"/>
              </a:lnSpc>
              <a:spcBef>
                <a:spcPct val="0"/>
              </a:spcBef>
              <a:buNone/>
              <a:defRPr sz="3200" b="0" kern="1200">
                <a:solidFill>
                  <a:schemeClr val="bg1"/>
                </a:solidFill>
                <a:latin typeface="Graphik Medium" panose="020B0603030202060203" pitchFamily="34" charset="0"/>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3200" b="0" i="0" u="none" strike="noStrike" kern="1200" cap="none" spc="0" normalizeH="0" baseline="0" noProof="0">
                <a:ln>
                  <a:noFill/>
                </a:ln>
                <a:solidFill>
                  <a:srgbClr val="000000"/>
                </a:solidFill>
                <a:effectLst/>
                <a:uLnTx/>
                <a:uFillTx/>
                <a:latin typeface="Graphik Medium" panose="020B0603030202060203" pitchFamily="34" charset="0"/>
                <a:ea typeface="+mj-ea"/>
                <a:cs typeface="+mj-cs"/>
              </a:rPr>
              <a:t>Conceptos fundamentales</a:t>
            </a:r>
            <a:endParaRPr kumimoji="0" lang="en-IN" sz="3200" b="0" i="0" u="none" strike="noStrike" kern="1200" cap="none" spc="0" normalizeH="0" baseline="0" noProof="0">
              <a:ln>
                <a:noFill/>
              </a:ln>
              <a:solidFill>
                <a:srgbClr val="000000"/>
              </a:solidFill>
              <a:effectLst/>
              <a:uLnTx/>
              <a:uFillTx/>
              <a:latin typeface="Graphik Medium" panose="020B0603030202060203" pitchFamily="34" charset="0"/>
              <a:ea typeface="+mj-ea"/>
              <a:cs typeface="+mj-cs"/>
            </a:endParaRPr>
          </a:p>
        </p:txBody>
      </p:sp>
      <p:sp>
        <p:nvSpPr>
          <p:cNvPr id="2" name="TextBox 1">
            <a:extLst>
              <a:ext uri="{FF2B5EF4-FFF2-40B4-BE49-F238E27FC236}">
                <a16:creationId xmlns:a16="http://schemas.microsoft.com/office/drawing/2014/main" id="{21A2D352-4764-FF7C-34BB-5B3FAF493F57}"/>
              </a:ext>
            </a:extLst>
          </p:cNvPr>
          <p:cNvSpPr txBox="1"/>
          <p:nvPr/>
        </p:nvSpPr>
        <p:spPr>
          <a:xfrm>
            <a:off x="5553075" y="2971800"/>
            <a:ext cx="914400" cy="914400"/>
          </a:xfrm>
          <a:prstGeom prst="rect">
            <a:avLst/>
          </a:prstGeom>
          <a:noFill/>
        </p:spPr>
        <p:txBody>
          <a:bodyPr wrap="square" lIns="0" tIns="0" rIns="0" bIns="0" rtlCol="0">
            <a:noAutofit/>
          </a:bodyPr>
          <a:lstStyle/>
          <a:p>
            <a:pPr algn="l" defTabSz="228600">
              <a:spcAft>
                <a:spcPts val="1200"/>
              </a:spcAft>
            </a:pPr>
            <a:endParaRPr lang="en-US" noProof="0"/>
          </a:p>
        </p:txBody>
      </p:sp>
    </p:spTree>
    <p:extLst>
      <p:ext uri="{BB962C8B-B14F-4D97-AF65-F5344CB8AC3E}">
        <p14:creationId xmlns:p14="http://schemas.microsoft.com/office/powerpoint/2010/main" val="31649243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C65693-B91D-033D-FD45-70EEBFB73068}"/>
            </a:ext>
          </a:extLst>
        </p:cNvPr>
        <p:cNvGrpSpPr/>
        <p:nvPr/>
      </p:nvGrpSpPr>
      <p:grpSpPr>
        <a:xfrm>
          <a:off x="0" y="0"/>
          <a:ext cx="0" cy="0"/>
          <a:chOff x="0" y="0"/>
          <a:chExt cx="0" cy="0"/>
        </a:xfrm>
      </p:grpSpPr>
      <p:sp>
        <p:nvSpPr>
          <p:cNvPr id="16" name="Footer Placeholder 2">
            <a:extLst>
              <a:ext uri="{FF2B5EF4-FFF2-40B4-BE49-F238E27FC236}">
                <a16:creationId xmlns:a16="http://schemas.microsoft.com/office/drawing/2014/main" id="{BAAB644B-FD1D-4C17-A370-FE8C50F04DD2}"/>
              </a:ext>
            </a:extLst>
          </p:cNvPr>
          <p:cNvSpPr>
            <a:spLocks noGrp="1"/>
          </p:cNvSpPr>
          <p:nvPr>
            <p:ph type="ftr" sz="quarter" idx="3"/>
          </p:nvPr>
        </p:nvSpPr>
        <p:spPr>
          <a:xfrm>
            <a:off x="8908942" y="6617127"/>
            <a:ext cx="3175200" cy="132523"/>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alpha val="65000"/>
                  </a:srgbClr>
                </a:solidFill>
                <a:effectLst/>
                <a:uLnTx/>
                <a:uFillTx/>
                <a:latin typeface="Graphik"/>
                <a:ea typeface="+mn-ea"/>
                <a:cs typeface="+mn-cs"/>
              </a:rPr>
              <a:t>Copyright © 2025 Accenture. Todos los derechos reservados.</a:t>
            </a:r>
          </a:p>
        </p:txBody>
      </p:sp>
      <p:sp>
        <p:nvSpPr>
          <p:cNvPr id="55" name="Subtitle 2">
            <a:extLst>
              <a:ext uri="{FF2B5EF4-FFF2-40B4-BE49-F238E27FC236}">
                <a16:creationId xmlns:a16="http://schemas.microsoft.com/office/drawing/2014/main" id="{071E4A91-1428-1069-0214-C97E410DCD3B}"/>
              </a:ext>
            </a:extLst>
          </p:cNvPr>
          <p:cNvSpPr txBox="1">
            <a:spLocks/>
          </p:cNvSpPr>
          <p:nvPr/>
        </p:nvSpPr>
        <p:spPr>
          <a:xfrm>
            <a:off x="5631501" y="1637499"/>
            <a:ext cx="5264428" cy="4357279"/>
          </a:xfrm>
          <a:prstGeom prst="rect">
            <a:avLst/>
          </a:prstGeom>
        </p:spPr>
        <p:txBody>
          <a:bodyPr vert="horz" lIns="0" tIns="0" rIns="0" bIns="0" rtlCol="0" anchor="t">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just" defTabSz="228600" rtl="0" eaLnBrk="1" fontAlgn="auto" latinLnBrk="0" hangingPunct="1">
              <a:lnSpc>
                <a:spcPct val="90000"/>
              </a:lnSpc>
              <a:spcBef>
                <a:spcPts val="600"/>
              </a:spcBef>
              <a:spcAft>
                <a:spcPts val="600"/>
              </a:spcAft>
              <a:buClrTx/>
              <a:buSzTx/>
              <a:buFontTx/>
              <a:buNone/>
              <a:tabLst/>
              <a:defRPr/>
            </a:pPr>
            <a:r>
              <a:rPr lang="es" sz="1200" b="0" i="0" dirty="0">
                <a:latin typeface="Graphik"/>
              </a:rPr>
              <a:t>Nuestra visión de la arquitectura de TI bancaria del futuro se basa en tres componentes principales:</a:t>
            </a:r>
            <a:endParaRPr kumimoji="0" lang="en-US" sz="1600" b="0" i="0" u="none" strike="noStrike" kern="1200" cap="none" spc="0" normalizeH="0" baseline="0" noProof="0" dirty="0">
              <a:ln>
                <a:noFill/>
              </a:ln>
              <a:solidFill>
                <a:srgbClr val="000000">
                  <a:lumMod val="85000"/>
                  <a:lumOff val="15000"/>
                </a:srgbClr>
              </a:solidFill>
              <a:effectLst/>
              <a:uLnTx/>
              <a:uFillTx/>
              <a:latin typeface="Graphik"/>
              <a:ea typeface="+mn-ea"/>
              <a:cs typeface="+mn-cs"/>
            </a:endParaRPr>
          </a:p>
          <a:p>
            <a:pPr marL="342900" algn="just" defTabSz="228600">
              <a:lnSpc>
                <a:spcPct val="90000"/>
              </a:lnSpc>
              <a:spcBef>
                <a:spcPts val="600"/>
              </a:spcBef>
              <a:spcAft>
                <a:spcPts val="600"/>
              </a:spcAft>
              <a:defRPr/>
            </a:pPr>
            <a:r>
              <a:rPr kumimoji="0" lang="es" sz="1200" b="1" i="0" u="none" strike="noStrike" kern="1200" cap="none" spc="0" normalizeH="0" baseline="0" noProof="0" dirty="0">
                <a:ln>
                  <a:noFill/>
                </a:ln>
                <a:solidFill>
                  <a:srgbClr val="000000">
                    <a:lumMod val="85000"/>
                    <a:lumOff val="15000"/>
                  </a:srgbClr>
                </a:solidFill>
                <a:effectLst/>
                <a:uLnTx/>
                <a:uFillTx/>
                <a:latin typeface="Graphik"/>
                <a:ea typeface="+mn-ea"/>
                <a:cs typeface="+mn-cs"/>
              </a:rPr>
              <a:t>Un motor de "Banco of One"</a:t>
            </a:r>
            <a:r>
              <a:rPr kumimoji="0" lang="es" sz="1200" b="0" i="0" u="none" strike="noStrike" kern="1200" cap="none" spc="0" normalizeH="0" baseline="0" noProof="0" dirty="0">
                <a:ln>
                  <a:noFill/>
                </a:ln>
                <a:solidFill>
                  <a:srgbClr val="000000">
                    <a:lumMod val="85000"/>
                    <a:lumOff val="15000"/>
                  </a:srgbClr>
                </a:solidFill>
                <a:effectLst/>
                <a:uLnTx/>
                <a:uFillTx/>
                <a:latin typeface="Graphik"/>
                <a:ea typeface="+mn-ea"/>
                <a:cs typeface="+mn-cs"/>
              </a:rPr>
              <a:t> basado en</a:t>
            </a:r>
            <a:r>
              <a:rPr kumimoji="0" lang="es" sz="1200" b="1" i="0" u="none" strike="noStrike" kern="1200" cap="none" spc="0" normalizeH="0" baseline="0" noProof="0" dirty="0">
                <a:ln>
                  <a:noFill/>
                </a:ln>
                <a:solidFill>
                  <a:srgbClr val="000000">
                    <a:lumMod val="85000"/>
                    <a:lumOff val="15000"/>
                  </a:srgbClr>
                </a:solidFill>
                <a:effectLst/>
                <a:uLnTx/>
                <a:uFillTx/>
                <a:latin typeface="Graphik"/>
                <a:ea typeface="+mn-ea"/>
                <a:cs typeface="+mn-cs"/>
              </a:rPr>
              <a:t> IA</a:t>
            </a:r>
            <a:r>
              <a:rPr kumimoji="0" lang="es" sz="1200" b="0" i="0" u="none" strike="noStrike" kern="1200" cap="none" spc="0" normalizeH="0" baseline="0" noProof="0" dirty="0">
                <a:ln>
                  <a:noFill/>
                </a:ln>
                <a:solidFill>
                  <a:srgbClr val="000000">
                    <a:lumMod val="85000"/>
                    <a:lumOff val="15000"/>
                  </a:srgbClr>
                </a:solidFill>
                <a:effectLst/>
                <a:uLnTx/>
                <a:uFillTx/>
                <a:latin typeface="Graphik"/>
                <a:ea typeface="+mn-ea"/>
                <a:cs typeface="+mn-cs"/>
              </a:rPr>
              <a:t>, donde la mejor elección de productos, servicios y experiencias se crea individualmente para ajustarse perfectamente al contexto del cliente, utilizando las capacidades propias y del ecosistema del mercado de forma </a:t>
            </a:r>
            <a:r>
              <a:rPr kumimoji="0" lang="es" sz="1200" b="1" i="0" u="none" strike="noStrike" kern="1200" cap="none" spc="0" normalizeH="0" baseline="0" noProof="0" dirty="0">
                <a:ln>
                  <a:noFill/>
                </a:ln>
                <a:solidFill>
                  <a:srgbClr val="000000">
                    <a:lumMod val="85000"/>
                    <a:lumOff val="15000"/>
                  </a:srgbClr>
                </a:solidFill>
                <a:effectLst/>
                <a:uLnTx/>
                <a:uFillTx/>
                <a:latin typeface="Graphik"/>
                <a:ea typeface="+mn-ea"/>
                <a:cs typeface="+mn-cs"/>
              </a:rPr>
              <a:t>proactiva</a:t>
            </a:r>
            <a:r>
              <a:rPr kumimoji="0" lang="es" sz="1200" b="0" i="0" u="none" strike="noStrike" kern="1200" cap="none" spc="0" normalizeH="0" baseline="0" noProof="0" dirty="0">
                <a:ln>
                  <a:noFill/>
                </a:ln>
                <a:solidFill>
                  <a:srgbClr val="000000">
                    <a:lumMod val="85000"/>
                    <a:lumOff val="15000"/>
                  </a:srgbClr>
                </a:solidFill>
                <a:effectLst/>
                <a:uLnTx/>
                <a:uFillTx/>
                <a:latin typeface="Graphik"/>
                <a:ea typeface="+mn-ea"/>
                <a:cs typeface="+mn-cs"/>
              </a:rPr>
              <a:t> en el </a:t>
            </a:r>
            <a:r>
              <a:rPr kumimoji="0" lang="es" sz="1200" b="1" i="0" u="none" strike="noStrike" kern="1200" cap="none" spc="0" normalizeH="0" baseline="0" noProof="0" dirty="0">
                <a:ln>
                  <a:noFill/>
                </a:ln>
                <a:solidFill>
                  <a:srgbClr val="000000">
                    <a:lumMod val="85000"/>
                    <a:lumOff val="15000"/>
                  </a:srgbClr>
                </a:solidFill>
                <a:effectLst/>
                <a:uLnTx/>
                <a:uFillTx/>
                <a:latin typeface="Graphik"/>
                <a:ea typeface="+mn-ea"/>
                <a:cs typeface="+mn-cs"/>
              </a:rPr>
              <a:t>momento y momento de</a:t>
            </a:r>
            <a:r>
              <a:rPr kumimoji="0" lang="es" sz="1200" b="0" i="0" u="none" strike="noStrike" kern="1200" cap="none" spc="0" normalizeH="0" baseline="0" noProof="0" dirty="0">
                <a:ln>
                  <a:noFill/>
                </a:ln>
                <a:solidFill>
                  <a:srgbClr val="000000">
                    <a:lumMod val="85000"/>
                    <a:lumOff val="15000"/>
                  </a:srgbClr>
                </a:solidFill>
                <a:effectLst/>
                <a:uLnTx/>
                <a:uFillTx/>
                <a:latin typeface="Graphik"/>
                <a:ea typeface="+mn-ea"/>
                <a:cs typeface="+mn-cs"/>
              </a:rPr>
              <a:t> necesidad a través de todos los medios de interacción posibles. Esto requerirá </a:t>
            </a:r>
            <a:r>
              <a:rPr kumimoji="0" lang="es" sz="1200" b="1" i="0" u="none" strike="noStrike" kern="1200" cap="none" spc="0" normalizeH="0" baseline="0" noProof="0" dirty="0">
                <a:ln>
                  <a:noFill/>
                </a:ln>
                <a:solidFill>
                  <a:srgbClr val="000000">
                    <a:lumMod val="85000"/>
                    <a:lumOff val="15000"/>
                  </a:srgbClr>
                </a:solidFill>
                <a:effectLst/>
                <a:uLnTx/>
                <a:uFillTx/>
                <a:latin typeface="Graphik"/>
                <a:ea typeface="+mn-ea"/>
                <a:cs typeface="+mn-cs"/>
              </a:rPr>
              <a:t>capacidades analíticas</a:t>
            </a:r>
            <a:r>
              <a:rPr kumimoji="0" lang="es" sz="1200" b="0" i="0" u="none" strike="noStrike" kern="1200" cap="none" spc="0" normalizeH="0" baseline="0" noProof="0" dirty="0">
                <a:ln>
                  <a:noFill/>
                </a:ln>
                <a:solidFill>
                  <a:srgbClr val="000000">
                    <a:lumMod val="85000"/>
                    <a:lumOff val="15000"/>
                  </a:srgbClr>
                </a:solidFill>
                <a:effectLst/>
                <a:uLnTx/>
                <a:uFillTx/>
                <a:latin typeface="Graphik"/>
                <a:ea typeface="+mn-ea"/>
                <a:cs typeface="+mn-cs"/>
              </a:rPr>
              <a:t> en todos los ámbitos y un sólido centro de datos orientado individualmente.</a:t>
            </a:r>
            <a:endParaRPr lang="en-US" sz="1200" dirty="0">
              <a:solidFill>
                <a:srgbClr val="000000">
                  <a:lumMod val="85000"/>
                  <a:lumOff val="15000"/>
                </a:srgbClr>
              </a:solidFill>
              <a:latin typeface="Graphik"/>
            </a:endParaRPr>
          </a:p>
          <a:p>
            <a:pPr marL="342900" algn="just" defTabSz="228600">
              <a:spcBef>
                <a:spcPts val="1800"/>
              </a:spcBef>
              <a:spcAft>
                <a:spcPts val="600"/>
              </a:spcAft>
              <a:defRPr/>
            </a:pPr>
            <a:r>
              <a:rPr kumimoji="0" lang="es" sz="1200" b="1" i="0" u="none" strike="noStrike" kern="1200" cap="none" spc="0" normalizeH="0" baseline="0" noProof="0" dirty="0">
                <a:ln>
                  <a:noFill/>
                </a:ln>
                <a:solidFill>
                  <a:srgbClr val="000000">
                    <a:lumMod val="85000"/>
                    <a:lumOff val="15000"/>
                  </a:srgbClr>
                </a:solidFill>
                <a:effectLst/>
                <a:uLnTx/>
                <a:uFillTx/>
                <a:latin typeface="Graphik"/>
                <a:ea typeface="+mn-ea"/>
                <a:cs typeface="+mn-cs"/>
              </a:rPr>
              <a:t>Motor</a:t>
            </a:r>
            <a:r>
              <a:rPr kumimoji="0" lang="es" sz="1200" b="0" i="0" u="none" strike="noStrike" kern="1200" cap="none" spc="0" normalizeH="0" baseline="0" noProof="0" dirty="0">
                <a:ln>
                  <a:noFill/>
                </a:ln>
                <a:solidFill>
                  <a:srgbClr val="000000">
                    <a:lumMod val="85000"/>
                    <a:lumOff val="15000"/>
                  </a:srgbClr>
                </a:solidFill>
                <a:effectLst/>
                <a:uLnTx/>
                <a:uFillTx/>
                <a:latin typeface="Graphik"/>
                <a:ea typeface="+mn-ea"/>
                <a:cs typeface="+mn-cs"/>
              </a:rPr>
              <a:t> de abstracción </a:t>
            </a:r>
            <a:r>
              <a:rPr kumimoji="0" lang="es" sz="1200" b="1" i="0" u="none" strike="noStrike" kern="1200" cap="none" spc="0" normalizeH="0" baseline="0" noProof="0" dirty="0">
                <a:ln>
                  <a:noFill/>
                </a:ln>
                <a:solidFill>
                  <a:srgbClr val="000000">
                    <a:lumMod val="85000"/>
                    <a:lumOff val="15000"/>
                  </a:srgbClr>
                </a:solidFill>
                <a:effectLst/>
                <a:uLnTx/>
                <a:uFillTx/>
                <a:latin typeface="Graphik"/>
                <a:ea typeface="+mn-ea"/>
                <a:cs typeface="+mn-cs"/>
              </a:rPr>
              <a:t>de Interoperabilidad</a:t>
            </a:r>
            <a:r>
              <a:rPr kumimoji="0" lang="es" sz="1200" b="0" i="0" u="none" strike="noStrike" kern="1200" cap="none" spc="0" normalizeH="0" baseline="0" noProof="0" dirty="0">
                <a:ln>
                  <a:noFill/>
                </a:ln>
                <a:solidFill>
                  <a:srgbClr val="000000">
                    <a:lumMod val="85000"/>
                    <a:lumOff val="15000"/>
                  </a:srgbClr>
                </a:solidFill>
                <a:effectLst/>
                <a:uLnTx/>
                <a:uFillTx/>
                <a:latin typeface="Graphik"/>
                <a:ea typeface="+mn-ea"/>
                <a:cs typeface="+mn-cs"/>
              </a:rPr>
              <a:t> que asegura el desacoplamiento, integración técnica, orquestación y coexistencia de todas las tecnologías potenciales de diferentes fuentes, alojando alternativas y protocolos de comunicación, de manera fluida. </a:t>
            </a:r>
            <a:endParaRPr lang="en-US" sz="1200" dirty="0">
              <a:solidFill>
                <a:srgbClr val="000000">
                  <a:lumMod val="85000"/>
                  <a:lumOff val="15000"/>
                </a:srgbClr>
              </a:solidFill>
              <a:latin typeface="Graphik"/>
            </a:endParaRPr>
          </a:p>
          <a:p>
            <a:pPr marL="342900" algn="just" defTabSz="228600">
              <a:lnSpc>
                <a:spcPct val="90000"/>
              </a:lnSpc>
              <a:spcBef>
                <a:spcPts val="2500"/>
              </a:spcBef>
              <a:spcAft>
                <a:spcPts val="600"/>
              </a:spcAft>
              <a:defRPr/>
            </a:pPr>
            <a:r>
              <a:rPr lang="es" sz="1200" dirty="0">
                <a:solidFill>
                  <a:srgbClr val="000000">
                    <a:lumMod val="85000"/>
                    <a:lumOff val="15000"/>
                  </a:srgbClr>
                </a:solidFill>
                <a:latin typeface="Graphik"/>
              </a:rPr>
              <a:t>Aplicaciones</a:t>
            </a:r>
            <a:r>
              <a:rPr kumimoji="0" lang="es" sz="1200" i="0" u="none" strike="noStrike" kern="1200" cap="none" spc="0" normalizeH="0" baseline="0" noProof="0" dirty="0">
                <a:ln>
                  <a:noFill/>
                </a:ln>
                <a:solidFill>
                  <a:srgbClr val="000000">
                    <a:lumMod val="85000"/>
                    <a:lumOff val="15000"/>
                  </a:srgbClr>
                </a:solidFill>
                <a:effectLst/>
                <a:uLnTx/>
                <a:uFillTx/>
                <a:latin typeface="Graphik"/>
                <a:ea typeface="+mn-ea"/>
                <a:cs typeface="+mn-cs"/>
              </a:rPr>
              <a:t> y </a:t>
            </a:r>
            <a:r>
              <a:rPr lang="es" sz="1200" dirty="0">
                <a:solidFill>
                  <a:srgbClr val="000000">
                    <a:lumMod val="85000"/>
                    <a:lumOff val="15000"/>
                  </a:srgbClr>
                </a:solidFill>
                <a:latin typeface="Graphik"/>
              </a:rPr>
              <a:t>p</a:t>
            </a:r>
            <a:r>
              <a:rPr kumimoji="0" lang="es" sz="1200" i="0" u="none" strike="noStrike" kern="1200" cap="none" spc="0" normalizeH="0" baseline="0" noProof="0" dirty="0">
                <a:ln>
                  <a:noFill/>
                </a:ln>
                <a:solidFill>
                  <a:srgbClr val="000000">
                    <a:lumMod val="85000"/>
                    <a:lumOff val="15000"/>
                  </a:srgbClr>
                </a:solidFill>
                <a:effectLst/>
                <a:uLnTx/>
                <a:uFillTx/>
                <a:latin typeface="Graphik"/>
                <a:ea typeface="+mn-ea"/>
                <a:cs typeface="+mn-cs"/>
              </a:rPr>
              <a:t>rocesadores </a:t>
            </a:r>
            <a:r>
              <a:rPr lang="es" sz="1200" b="1" dirty="0">
                <a:solidFill>
                  <a:srgbClr val="000000">
                    <a:lumMod val="85000"/>
                    <a:lumOff val="15000"/>
                  </a:srgbClr>
                </a:solidFill>
                <a:latin typeface="Graphik"/>
              </a:rPr>
              <a:t>H</a:t>
            </a:r>
            <a:r>
              <a:rPr kumimoji="0" lang="es" sz="1200" b="1" i="0" u="none" strike="noStrike" kern="1200" cap="none" spc="0" normalizeH="0" baseline="0" noProof="0" dirty="0">
                <a:ln>
                  <a:noFill/>
                </a:ln>
                <a:solidFill>
                  <a:srgbClr val="000000">
                    <a:lumMod val="85000"/>
                    <a:lumOff val="15000"/>
                  </a:srgbClr>
                </a:solidFill>
                <a:effectLst/>
                <a:uLnTx/>
                <a:uFillTx/>
                <a:latin typeface="Graphik"/>
                <a:ea typeface="+mn-ea"/>
                <a:cs typeface="+mn-cs"/>
              </a:rPr>
              <a:t>íbrid-Core</a:t>
            </a:r>
            <a:r>
              <a:rPr kumimoji="0" lang="es" sz="1200" b="0" i="0" u="none" strike="noStrike" kern="1200" cap="none" spc="0" normalizeH="0" baseline="0" noProof="0" dirty="0">
                <a:ln>
                  <a:noFill/>
                </a:ln>
                <a:solidFill>
                  <a:srgbClr val="000000">
                    <a:lumMod val="85000"/>
                    <a:lumOff val="15000"/>
                  </a:srgbClr>
                </a:solidFill>
                <a:effectLst/>
                <a:uLnTx/>
                <a:uFillTx/>
                <a:latin typeface="Graphik"/>
                <a:ea typeface="+mn-ea"/>
                <a:cs typeface="+mn-cs"/>
              </a:rPr>
              <a:t>, heredados y de próxima generación, on-premise, cloud y SaaS trabajando juntos bajo un enfoque empresarial adaptado al propósito, alimentando y siendo alimentados desde la capa de interoperabilidad con las capacidades funcionales y técnicas requeridas de interoperabilidad/coexistencia.</a:t>
            </a:r>
            <a:endParaRPr lang="en-US" sz="1200" b="0" i="0" u="none" strike="noStrike" kern="1200" cap="none" spc="0" normalizeH="0" baseline="0" noProof="0" dirty="0">
              <a:ln>
                <a:noFill/>
              </a:ln>
              <a:solidFill>
                <a:srgbClr val="000000">
                  <a:lumMod val="85000"/>
                  <a:lumOff val="15000"/>
                </a:srgbClr>
              </a:solidFill>
              <a:effectLst/>
              <a:uLnTx/>
              <a:uFillTx/>
              <a:latin typeface="Graphik"/>
            </a:endParaRPr>
          </a:p>
          <a:p>
            <a:pPr marL="342900" marR="0" lvl="0" indent="-228600" algn="just" defTabSz="228600" rtl="0" eaLnBrk="1" fontAlgn="auto" latinLnBrk="0" hangingPunct="1">
              <a:lnSpc>
                <a:spcPct val="90000"/>
              </a:lnSpc>
              <a:spcBef>
                <a:spcPts val="600"/>
              </a:spcBef>
              <a:spcAft>
                <a:spcPts val="600"/>
              </a:spcAft>
              <a:buClrTx/>
              <a:buSzTx/>
              <a:buFont typeface="Arial"/>
              <a:buChar char="•"/>
              <a:tabLst/>
              <a:defRPr/>
            </a:pPr>
            <a:endParaRPr kumimoji="0" lang="en-US" sz="1200" b="0" i="0" u="none" strike="noStrike" kern="1200" cap="none" spc="0" normalizeH="0" baseline="0" noProof="0" dirty="0">
              <a:ln>
                <a:noFill/>
              </a:ln>
              <a:solidFill>
                <a:srgbClr val="000000">
                  <a:lumMod val="85000"/>
                  <a:lumOff val="15000"/>
                </a:srgbClr>
              </a:solidFill>
              <a:effectLst/>
              <a:uLnTx/>
              <a:uFillTx/>
              <a:latin typeface="Graphik"/>
              <a:ea typeface="+mn-ea"/>
              <a:cs typeface="+mn-cs"/>
            </a:endParaRPr>
          </a:p>
          <a:p>
            <a:pPr marL="342900" marR="0" lvl="0" indent="-228600" algn="just" defTabSz="228600" rtl="0" eaLnBrk="1" fontAlgn="auto" latinLnBrk="0" hangingPunct="1">
              <a:lnSpc>
                <a:spcPct val="90000"/>
              </a:lnSpc>
              <a:spcBef>
                <a:spcPts val="600"/>
              </a:spcBef>
              <a:spcAft>
                <a:spcPts val="600"/>
              </a:spcAft>
              <a:buClrTx/>
              <a:buSzTx/>
              <a:buFont typeface="Arial"/>
              <a:buChar char="•"/>
              <a:tabLst/>
              <a:defRPr/>
            </a:pPr>
            <a:endParaRPr kumimoji="0" lang="en-US" sz="1200" b="0" i="0" u="none" strike="noStrike" kern="1200" cap="none" spc="0" normalizeH="0" baseline="0" noProof="0" dirty="0">
              <a:ln>
                <a:noFill/>
              </a:ln>
              <a:solidFill>
                <a:srgbClr val="000000">
                  <a:lumMod val="85000"/>
                  <a:lumOff val="15000"/>
                </a:srgbClr>
              </a:solidFill>
              <a:effectLst/>
              <a:uLnTx/>
              <a:uFillTx/>
              <a:latin typeface="Graphik"/>
              <a:ea typeface="+mn-ea"/>
              <a:cs typeface="+mn-cs"/>
            </a:endParaRPr>
          </a:p>
        </p:txBody>
      </p:sp>
      <p:sp>
        <p:nvSpPr>
          <p:cNvPr id="56" name="Oval 55">
            <a:extLst>
              <a:ext uri="{FF2B5EF4-FFF2-40B4-BE49-F238E27FC236}">
                <a16:creationId xmlns:a16="http://schemas.microsoft.com/office/drawing/2014/main" id="{37B38617-C3E6-7B09-53B1-0B1B806B73CA}"/>
              </a:ext>
            </a:extLst>
          </p:cNvPr>
          <p:cNvSpPr/>
          <p:nvPr/>
        </p:nvSpPr>
        <p:spPr>
          <a:xfrm>
            <a:off x="5607921" y="2071533"/>
            <a:ext cx="270328" cy="270329"/>
          </a:xfrm>
          <a:prstGeom prst="ellipse">
            <a:avLst/>
          </a:prstGeom>
          <a:solidFill>
            <a:srgbClr val="A10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200" b="1" i="0" u="none" strike="noStrike" kern="1200" cap="none" spc="0" normalizeH="0" baseline="0" noProof="0">
                <a:ln>
                  <a:noFill/>
                </a:ln>
                <a:solidFill>
                  <a:srgbClr val="FFFFFF"/>
                </a:solidFill>
                <a:effectLst/>
                <a:uLnTx/>
                <a:uFillTx/>
                <a:latin typeface="Graphik"/>
                <a:ea typeface="+mn-ea"/>
                <a:cs typeface="+mn-cs"/>
              </a:rPr>
              <a:t>1</a:t>
            </a:r>
          </a:p>
        </p:txBody>
      </p:sp>
      <p:sp>
        <p:nvSpPr>
          <p:cNvPr id="57" name="Oval 56">
            <a:extLst>
              <a:ext uri="{FF2B5EF4-FFF2-40B4-BE49-F238E27FC236}">
                <a16:creationId xmlns:a16="http://schemas.microsoft.com/office/drawing/2014/main" id="{A8FA98C8-1DBA-0BB8-5E3B-57C87E287044}"/>
              </a:ext>
            </a:extLst>
          </p:cNvPr>
          <p:cNvSpPr/>
          <p:nvPr/>
        </p:nvSpPr>
        <p:spPr>
          <a:xfrm>
            <a:off x="5646844" y="4999145"/>
            <a:ext cx="270328" cy="270329"/>
          </a:xfrm>
          <a:prstGeom prst="ellipse">
            <a:avLst/>
          </a:prstGeom>
          <a:solidFill>
            <a:srgbClr val="350056"/>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200" b="1" i="0" u="none" strike="noStrike" kern="1200" cap="none" spc="0" normalizeH="0" baseline="0" noProof="0">
                <a:ln>
                  <a:noFill/>
                </a:ln>
                <a:solidFill>
                  <a:srgbClr val="FFFFFF"/>
                </a:solidFill>
                <a:effectLst/>
                <a:uLnTx/>
                <a:uFillTx/>
                <a:latin typeface="Graphik"/>
                <a:ea typeface="+mn-ea"/>
                <a:cs typeface="+mn-cs"/>
              </a:rPr>
              <a:t>3</a:t>
            </a:r>
          </a:p>
        </p:txBody>
      </p:sp>
      <p:sp>
        <p:nvSpPr>
          <p:cNvPr id="58" name="Oval 57">
            <a:extLst>
              <a:ext uri="{FF2B5EF4-FFF2-40B4-BE49-F238E27FC236}">
                <a16:creationId xmlns:a16="http://schemas.microsoft.com/office/drawing/2014/main" id="{1868E8F0-8CB1-EDAA-A0FD-CA350FC45409}"/>
              </a:ext>
            </a:extLst>
          </p:cNvPr>
          <p:cNvSpPr/>
          <p:nvPr/>
        </p:nvSpPr>
        <p:spPr>
          <a:xfrm>
            <a:off x="5615861" y="3700759"/>
            <a:ext cx="270328" cy="270329"/>
          </a:xfrm>
          <a:prstGeom prst="ellipse">
            <a:avLst/>
          </a:prstGeom>
          <a:solidFill>
            <a:srgbClr val="750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200" b="1" i="0" u="none" strike="noStrike" kern="1200" cap="none" spc="0" normalizeH="0" baseline="0" noProof="0">
                <a:ln>
                  <a:noFill/>
                </a:ln>
                <a:solidFill>
                  <a:srgbClr val="FFFFFF"/>
                </a:solidFill>
                <a:effectLst/>
                <a:uLnTx/>
                <a:uFillTx/>
                <a:latin typeface="Graphik"/>
                <a:ea typeface="+mn-ea"/>
                <a:cs typeface="+mn-cs"/>
              </a:rPr>
              <a:t>2</a:t>
            </a:r>
          </a:p>
        </p:txBody>
      </p:sp>
      <p:sp>
        <p:nvSpPr>
          <p:cNvPr id="59" name="Rectangle 58">
            <a:extLst>
              <a:ext uri="{FF2B5EF4-FFF2-40B4-BE49-F238E27FC236}">
                <a16:creationId xmlns:a16="http://schemas.microsoft.com/office/drawing/2014/main" id="{C06CF606-936D-729D-FF0A-9EB99F93684D}"/>
              </a:ext>
            </a:extLst>
          </p:cNvPr>
          <p:cNvSpPr/>
          <p:nvPr/>
        </p:nvSpPr>
        <p:spPr>
          <a:xfrm>
            <a:off x="11384694" y="1871708"/>
            <a:ext cx="144000" cy="36000"/>
          </a:xfrm>
          <a:prstGeom prst="rect">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err="1">
              <a:ln>
                <a:noFill/>
              </a:ln>
              <a:solidFill>
                <a:srgbClr val="FFFFFF"/>
              </a:solidFill>
              <a:effectLst/>
              <a:uLnTx/>
              <a:uFillTx/>
              <a:latin typeface="Graphik"/>
              <a:ea typeface="+mn-ea"/>
              <a:cs typeface="+mn-cs"/>
            </a:endParaRPr>
          </a:p>
        </p:txBody>
      </p:sp>
      <p:sp>
        <p:nvSpPr>
          <p:cNvPr id="60" name="Right Triangle 59">
            <a:extLst>
              <a:ext uri="{FF2B5EF4-FFF2-40B4-BE49-F238E27FC236}">
                <a16:creationId xmlns:a16="http://schemas.microsoft.com/office/drawing/2014/main" id="{5FCDC153-B7D1-F90C-8CE1-0C2B7BFA7329}"/>
              </a:ext>
            </a:extLst>
          </p:cNvPr>
          <p:cNvSpPr/>
          <p:nvPr/>
        </p:nvSpPr>
        <p:spPr>
          <a:xfrm>
            <a:off x="11252066" y="1838826"/>
            <a:ext cx="428325" cy="3870074"/>
          </a:xfrm>
          <a:prstGeom prst="rtTriangle">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err="1">
              <a:ln>
                <a:noFill/>
              </a:ln>
              <a:solidFill>
                <a:srgbClr val="FFFFFF"/>
              </a:solidFill>
              <a:effectLst/>
              <a:uLnTx/>
              <a:uFillTx/>
              <a:latin typeface="Graphik"/>
              <a:ea typeface="+mn-ea"/>
              <a:cs typeface="+mn-cs"/>
            </a:endParaRPr>
          </a:p>
        </p:txBody>
      </p:sp>
      <p:sp>
        <p:nvSpPr>
          <p:cNvPr id="61" name="Cross 60">
            <a:extLst>
              <a:ext uri="{FF2B5EF4-FFF2-40B4-BE49-F238E27FC236}">
                <a16:creationId xmlns:a16="http://schemas.microsoft.com/office/drawing/2014/main" id="{5C5F4DDC-85E8-D5E4-2159-D3A16B1BA075}"/>
              </a:ext>
            </a:extLst>
          </p:cNvPr>
          <p:cNvSpPr/>
          <p:nvPr/>
        </p:nvSpPr>
        <p:spPr>
          <a:xfrm>
            <a:off x="11373492" y="5441023"/>
            <a:ext cx="144000" cy="144000"/>
          </a:xfrm>
          <a:prstGeom prst="plus">
            <a:avLst>
              <a:gd name="adj" fmla="val 35583"/>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err="1">
              <a:ln>
                <a:noFill/>
              </a:ln>
              <a:solidFill>
                <a:srgbClr val="FFFFFF"/>
              </a:solidFill>
              <a:effectLst/>
              <a:uLnTx/>
              <a:uFillTx/>
              <a:latin typeface="Graphik"/>
              <a:ea typeface="+mn-ea"/>
              <a:cs typeface="+mn-cs"/>
            </a:endParaRPr>
          </a:p>
        </p:txBody>
      </p:sp>
      <p:sp>
        <p:nvSpPr>
          <p:cNvPr id="63" name="TextBox 62">
            <a:extLst>
              <a:ext uri="{FF2B5EF4-FFF2-40B4-BE49-F238E27FC236}">
                <a16:creationId xmlns:a16="http://schemas.microsoft.com/office/drawing/2014/main" id="{7B1D3CAF-B5F3-BFD1-1036-B8FE8548F7CB}"/>
              </a:ext>
            </a:extLst>
          </p:cNvPr>
          <p:cNvSpPr txBox="1"/>
          <p:nvPr/>
        </p:nvSpPr>
        <p:spPr>
          <a:xfrm>
            <a:off x="2317023" y="6196484"/>
            <a:ext cx="1151165" cy="2308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lumMod val="85000"/>
                    <a:lumOff val="15000"/>
                  </a:srgbClr>
                </a:solidFill>
                <a:effectLst/>
                <a:uLnTx/>
                <a:uFillTx/>
                <a:latin typeface="Graphik"/>
                <a:ea typeface="+mn-ea"/>
                <a:cs typeface="+mn-cs"/>
              </a:rPr>
              <a:t>Vista detallada </a:t>
            </a:r>
            <a:endParaRPr kumimoji="0" lang="en-US" sz="900" b="1" i="0" u="none" strike="noStrike" kern="1200" cap="none" spc="0" normalizeH="0" baseline="0" noProof="0">
              <a:ln>
                <a:noFill/>
              </a:ln>
              <a:solidFill>
                <a:srgbClr val="000000"/>
              </a:solidFill>
              <a:effectLst/>
              <a:uLnTx/>
              <a:uFillTx/>
              <a:latin typeface="Graphik"/>
              <a:ea typeface="+mn-ea"/>
              <a:cs typeface="+mn-cs"/>
            </a:endParaRPr>
          </a:p>
        </p:txBody>
      </p:sp>
      <p:pic>
        <p:nvPicPr>
          <p:cNvPr id="64" name="Picture 63">
            <a:extLst>
              <a:ext uri="{FF2B5EF4-FFF2-40B4-BE49-F238E27FC236}">
                <a16:creationId xmlns:a16="http://schemas.microsoft.com/office/drawing/2014/main" id="{4DCD60B0-6849-559D-65E0-6DF6632053A2}"/>
              </a:ext>
            </a:extLst>
          </p:cNvPr>
          <p:cNvPicPr>
            <a:picLocks noChangeAspect="1"/>
          </p:cNvPicPr>
          <p:nvPr/>
        </p:nvPicPr>
        <p:blipFill>
          <a:blip r:embed="rId2"/>
          <a:stretch>
            <a:fillRect/>
          </a:stretch>
        </p:blipFill>
        <p:spPr>
          <a:xfrm>
            <a:off x="3372201" y="6061568"/>
            <a:ext cx="1115575" cy="627511"/>
          </a:xfrm>
          <a:prstGeom prst="rect">
            <a:avLst/>
          </a:prstGeom>
        </p:spPr>
      </p:pic>
      <p:sp>
        <p:nvSpPr>
          <p:cNvPr id="65" name="Content Placeholder 34">
            <a:extLst>
              <a:ext uri="{FF2B5EF4-FFF2-40B4-BE49-F238E27FC236}">
                <a16:creationId xmlns:a16="http://schemas.microsoft.com/office/drawing/2014/main" id="{2399DF29-4080-133A-5108-59C634AC3991}"/>
              </a:ext>
            </a:extLst>
          </p:cNvPr>
          <p:cNvSpPr txBox="1">
            <a:spLocks/>
          </p:cNvSpPr>
          <p:nvPr/>
        </p:nvSpPr>
        <p:spPr>
          <a:xfrm>
            <a:off x="285990" y="641993"/>
            <a:ext cx="11430000" cy="246221"/>
          </a:xfrm>
          <a:prstGeom prst="rect">
            <a:avLst/>
          </a:prstGeom>
        </p:spPr>
        <p:txBody>
          <a:bodyPr/>
          <a:lstStyle>
            <a:lvl1pPr marL="228600" indent="-228600" algn="l" defTabSz="228600" rtl="0" eaLnBrk="1" latinLnBrk="0" hangingPunct="1">
              <a:lnSpc>
                <a:spcPct val="100000"/>
              </a:lnSpc>
              <a:spcBef>
                <a:spcPts val="0"/>
              </a:spcBef>
              <a:spcAft>
                <a:spcPts val="600"/>
              </a:spcAft>
              <a:buFont typeface="Arial"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Arial"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Arial"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Arial"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Arial"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Arial" panose="020B0604020202020204" pitchFamily="34" charset="0"/>
              <a:buNone/>
              <a:defRPr sz="800" kern="1200">
                <a:solidFill>
                  <a:schemeClr val="tx2"/>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s" sz="1600" b="1" i="0" u="none" strike="noStrike" kern="1200" cap="none" spc="0" normalizeH="0" baseline="0" noProof="0">
                <a:ln>
                  <a:noFill/>
                </a:ln>
                <a:solidFill>
                  <a:srgbClr val="7500C0"/>
                </a:solidFill>
                <a:effectLst/>
                <a:uLnTx/>
                <a:uFillTx/>
                <a:latin typeface="Graphik" panose="020B0503030202060203" pitchFamily="34" charset="0"/>
                <a:ea typeface="+mn-ea"/>
                <a:cs typeface="+mn-cs"/>
              </a:rPr>
              <a:t>Modernización de la Arquitectura Tecnológica</a:t>
            </a:r>
          </a:p>
        </p:txBody>
      </p:sp>
      <p:sp>
        <p:nvSpPr>
          <p:cNvPr id="66" name="Title 1">
            <a:extLst>
              <a:ext uri="{FF2B5EF4-FFF2-40B4-BE49-F238E27FC236}">
                <a16:creationId xmlns:a16="http://schemas.microsoft.com/office/drawing/2014/main" id="{C97A567D-A43F-B0E6-BC63-81188CC88EF5}"/>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a:ln>
                  <a:noFill/>
                </a:ln>
                <a:solidFill>
                  <a:srgbClr val="7500C0"/>
                </a:solidFill>
                <a:effectLst/>
                <a:uLnTx/>
                <a:uFillTx/>
                <a:latin typeface="Graphik"/>
                <a:ea typeface="+mj-ea"/>
                <a:cs typeface="+mj-cs"/>
              </a:rPr>
              <a:t>Banco del futuro </a:t>
            </a:r>
            <a:r>
              <a:rPr kumimoji="0" lang="es" sz="2400" b="1" i="0" u="none" strike="noStrike" kern="1200" cap="none" spc="0" normalizeH="0" baseline="0" noProof="0">
                <a:ln>
                  <a:noFill/>
                </a:ln>
                <a:solidFill>
                  <a:srgbClr val="000000"/>
                </a:solidFill>
                <a:effectLst/>
                <a:uLnTx/>
                <a:uFillTx/>
                <a:latin typeface="Graphik"/>
                <a:ea typeface="+mj-ea"/>
                <a:cs typeface="+mj-cs"/>
              </a:rPr>
              <a:t>| </a:t>
            </a:r>
            <a:r>
              <a:rPr kumimoji="0" lang="es" sz="2000" b="1" i="0" u="none" strike="noStrike" kern="1200" cap="none" spc="0" normalizeH="0" baseline="0" noProof="0">
                <a:ln>
                  <a:noFill/>
                </a:ln>
                <a:solidFill>
                  <a:srgbClr val="000000"/>
                </a:solidFill>
                <a:effectLst/>
                <a:uLnTx/>
                <a:uFillTx/>
                <a:latin typeface="Graphik"/>
                <a:ea typeface="+mj-ea"/>
                <a:cs typeface="+mj-cs"/>
              </a:rPr>
              <a:t>Arquitectura Bancaria de nueva generación</a:t>
            </a:r>
            <a:endParaRPr kumimoji="0" lang="es" sz="2400" b="1" i="0" u="none" strike="noStrike" kern="1200" cap="none" spc="0" normalizeH="0" baseline="0" noProof="0">
              <a:ln>
                <a:noFill/>
              </a:ln>
              <a:solidFill>
                <a:srgbClr val="000000"/>
              </a:solidFill>
              <a:effectLst/>
              <a:uLnTx/>
              <a:uFillTx/>
              <a:latin typeface="Graphik"/>
              <a:ea typeface="+mj-ea"/>
              <a:cs typeface="+mj-cs"/>
            </a:endParaRPr>
          </a:p>
        </p:txBody>
      </p:sp>
      <p:pic>
        <p:nvPicPr>
          <p:cNvPr id="4" name="Picture 3">
            <a:extLst>
              <a:ext uri="{FF2B5EF4-FFF2-40B4-BE49-F238E27FC236}">
                <a16:creationId xmlns:a16="http://schemas.microsoft.com/office/drawing/2014/main" id="{FEB1A953-FB75-0F18-9F8C-EAFA3DF4461D}"/>
              </a:ext>
            </a:extLst>
          </p:cNvPr>
          <p:cNvPicPr>
            <a:picLocks noChangeAspect="1"/>
          </p:cNvPicPr>
          <p:nvPr/>
        </p:nvPicPr>
        <p:blipFill>
          <a:blip r:embed="rId3"/>
          <a:stretch>
            <a:fillRect/>
          </a:stretch>
        </p:blipFill>
        <p:spPr>
          <a:xfrm>
            <a:off x="672118" y="1432972"/>
            <a:ext cx="4571605" cy="4484763"/>
          </a:xfrm>
          <a:prstGeom prst="rect">
            <a:avLst/>
          </a:prstGeom>
          <a:effectLst>
            <a:outerShdw blurRad="50800" dist="139700" dir="1200000" algn="tl" rotWithShape="0">
              <a:schemeClr val="accent4">
                <a:alpha val="40000"/>
              </a:schemeClr>
            </a:outerShdw>
          </a:effectLst>
        </p:spPr>
      </p:pic>
    </p:spTree>
    <p:extLst>
      <p:ext uri="{BB962C8B-B14F-4D97-AF65-F5344CB8AC3E}">
        <p14:creationId xmlns:p14="http://schemas.microsoft.com/office/powerpoint/2010/main" val="17820076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5CA83A-8D80-D4C0-4776-9471B6DAF1F6}"/>
            </a:ext>
          </a:extLst>
        </p:cNvPr>
        <p:cNvGrpSpPr/>
        <p:nvPr/>
      </p:nvGrpSpPr>
      <p:grpSpPr>
        <a:xfrm>
          <a:off x="0" y="0"/>
          <a:ext cx="0" cy="0"/>
          <a:chOff x="0" y="0"/>
          <a:chExt cx="0" cy="0"/>
        </a:xfrm>
      </p:grpSpPr>
      <p:sp>
        <p:nvSpPr>
          <p:cNvPr id="11" name="Title 1">
            <a:extLst>
              <a:ext uri="{FF2B5EF4-FFF2-40B4-BE49-F238E27FC236}">
                <a16:creationId xmlns:a16="http://schemas.microsoft.com/office/drawing/2014/main" id="{7A2C0BA3-0349-76E5-ADF4-1124763AEA4B}"/>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a:ln>
                  <a:noFill/>
                </a:ln>
                <a:solidFill>
                  <a:srgbClr val="7500C0"/>
                </a:solidFill>
                <a:effectLst/>
                <a:uLnTx/>
                <a:uFillTx/>
                <a:latin typeface="Graphik"/>
                <a:ea typeface="+mj-ea"/>
                <a:cs typeface="+mj-cs"/>
              </a:rPr>
              <a:t>Banco del futuro </a:t>
            </a:r>
            <a:r>
              <a:rPr kumimoji="0" lang="es" sz="2400" b="1" i="0" u="none" strike="noStrike" kern="1200" cap="none" spc="0" normalizeH="0" baseline="0" noProof="0">
                <a:ln>
                  <a:noFill/>
                </a:ln>
                <a:solidFill>
                  <a:srgbClr val="000000"/>
                </a:solidFill>
                <a:effectLst/>
                <a:uLnTx/>
                <a:uFillTx/>
                <a:latin typeface="Graphik"/>
                <a:ea typeface="+mj-ea"/>
                <a:cs typeface="+mj-cs"/>
              </a:rPr>
              <a:t>| </a:t>
            </a:r>
            <a:r>
              <a:rPr kumimoji="0" lang="es" sz="2000" b="1" i="0" u="none" strike="noStrike" kern="1200" cap="none" spc="0" normalizeH="0" baseline="0" noProof="0">
                <a:ln>
                  <a:noFill/>
                </a:ln>
                <a:solidFill>
                  <a:srgbClr val="000000"/>
                </a:solidFill>
                <a:effectLst/>
                <a:uLnTx/>
                <a:uFillTx/>
                <a:latin typeface="Graphik"/>
                <a:ea typeface="+mj-ea"/>
                <a:cs typeface="+mj-cs"/>
              </a:rPr>
              <a:t>Arquitectura de TI de nueva generación (Detallado)</a:t>
            </a:r>
          </a:p>
          <a:p>
            <a:pPr marL="0" marR="0" lvl="0" indent="0" algn="l" defTabSz="914400" rtl="0" eaLnBrk="1" fontAlgn="auto" latinLnBrk="0" hangingPunct="1">
              <a:lnSpc>
                <a:spcPct val="80000"/>
              </a:lnSpc>
              <a:spcBef>
                <a:spcPct val="0"/>
              </a:spcBef>
              <a:spcAft>
                <a:spcPts val="0"/>
              </a:spcAft>
              <a:buClrTx/>
              <a:buSzTx/>
              <a:buFontTx/>
              <a:buNone/>
              <a:tabLst/>
              <a:defRPr/>
            </a:pPr>
            <a:endParaRPr kumimoji="0" lang="en-US" sz="2400" b="1" i="0" u="none" strike="noStrike" kern="1200" cap="none" spc="0" normalizeH="0" baseline="0" noProof="0">
              <a:ln>
                <a:noFill/>
              </a:ln>
              <a:solidFill>
                <a:srgbClr val="000000"/>
              </a:solidFill>
              <a:effectLst/>
              <a:uLnTx/>
              <a:uFillTx/>
              <a:latin typeface="Graphik"/>
              <a:ea typeface="+mj-ea"/>
              <a:cs typeface="+mj-cs"/>
            </a:endParaRPr>
          </a:p>
        </p:txBody>
      </p:sp>
      <p:sp>
        <p:nvSpPr>
          <p:cNvPr id="16" name="Footer Placeholder 2">
            <a:extLst>
              <a:ext uri="{FF2B5EF4-FFF2-40B4-BE49-F238E27FC236}">
                <a16:creationId xmlns:a16="http://schemas.microsoft.com/office/drawing/2014/main" id="{DAA737C7-ADA7-8B2D-61B8-505715BA3E69}"/>
              </a:ext>
            </a:extLst>
          </p:cNvPr>
          <p:cNvSpPr>
            <a:spLocks noGrp="1"/>
          </p:cNvSpPr>
          <p:nvPr>
            <p:ph type="ftr" sz="quarter" idx="3"/>
          </p:nvPr>
        </p:nvSpPr>
        <p:spPr>
          <a:xfrm>
            <a:off x="8908942" y="6617127"/>
            <a:ext cx="3175200" cy="132523"/>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alpha val="65000"/>
                  </a:srgbClr>
                </a:solidFill>
                <a:effectLst/>
                <a:uLnTx/>
                <a:uFillTx/>
                <a:latin typeface="Graphik"/>
                <a:ea typeface="+mn-ea"/>
                <a:cs typeface="+mn-cs"/>
              </a:rPr>
              <a:t>Copyright © 2025 Accenture. Todos los derechos reservados.</a:t>
            </a:r>
          </a:p>
        </p:txBody>
      </p:sp>
      <p:sp>
        <p:nvSpPr>
          <p:cNvPr id="4" name="Text Placeholder 1">
            <a:extLst>
              <a:ext uri="{FF2B5EF4-FFF2-40B4-BE49-F238E27FC236}">
                <a16:creationId xmlns:a16="http://schemas.microsoft.com/office/drawing/2014/main" id="{65915FF7-BC35-90ED-A9A2-AF9E4B3C0F13}"/>
              </a:ext>
            </a:extLst>
          </p:cNvPr>
          <p:cNvSpPr txBox="1">
            <a:spLocks/>
          </p:cNvSpPr>
          <p:nvPr/>
        </p:nvSpPr>
        <p:spPr>
          <a:xfrm>
            <a:off x="304800" y="674264"/>
            <a:ext cx="11430000" cy="288925"/>
          </a:xfrm>
          <a:prstGeom prst="rect">
            <a:avLst/>
          </a:prstGeom>
        </p:spPr>
        <p:txBody>
          <a:bodyPr/>
          <a:lstStyle>
            <a:lvl1pPr marL="0" indent="0" algn="l" defTabSz="228600" rtl="0" eaLnBrk="1" latinLnBrk="0" hangingPunct="1">
              <a:lnSpc>
                <a:spcPct val="100000"/>
              </a:lnSpc>
              <a:spcBef>
                <a:spcPts val="0"/>
              </a:spcBef>
              <a:spcAft>
                <a:spcPts val="600"/>
              </a:spcAft>
              <a:buFont typeface="Arial" panose="020B0604020202020204" pitchFamily="34" charset="0"/>
              <a:buNone/>
              <a:defRPr sz="1800" b="0" kern="1200">
                <a:solidFill>
                  <a:schemeClr val="tx1"/>
                </a:solidFill>
                <a:latin typeface="+mn-lt"/>
                <a:ea typeface="+mn-ea"/>
                <a:cs typeface="+mn-cs"/>
              </a:defRPr>
            </a:lvl1pPr>
            <a:lvl2pPr marL="182563" indent="-182563" algn="l" defTabSz="228600" rtl="0" eaLnBrk="1" latinLnBrk="0" hangingPunct="1">
              <a:lnSpc>
                <a:spcPct val="100000"/>
              </a:lnSpc>
              <a:spcBef>
                <a:spcPts val="0"/>
              </a:spcBef>
              <a:spcAft>
                <a:spcPts val="600"/>
              </a:spcAft>
              <a:buClrTx/>
              <a:buFont typeface="Arial" panose="020B0604020202020204" pitchFamily="34" charset="0"/>
              <a:buChar char="•"/>
              <a:defRPr sz="1800" kern="1200">
                <a:solidFill>
                  <a:schemeClr val="tx1"/>
                </a:solidFill>
                <a:latin typeface="+mn-lt"/>
                <a:ea typeface="+mn-ea"/>
                <a:cs typeface="+mn-cs"/>
              </a:defRPr>
            </a:lvl2pPr>
            <a:lvl3pPr marL="355600" indent="-173038" algn="l" defTabSz="228600" rtl="0" eaLnBrk="1" latinLnBrk="0" hangingPunct="1">
              <a:lnSpc>
                <a:spcPct val="100000"/>
              </a:lnSpc>
              <a:spcBef>
                <a:spcPts val="0"/>
              </a:spcBef>
              <a:spcAft>
                <a:spcPts val="600"/>
              </a:spcAft>
              <a:buFont typeface="System Font"/>
              <a:buChar char="–"/>
              <a:defRPr sz="1800" kern="1200">
                <a:solidFill>
                  <a:schemeClr val="tx1"/>
                </a:solidFill>
                <a:latin typeface="+mn-lt"/>
                <a:ea typeface="+mn-ea"/>
                <a:cs typeface="+mn-cs"/>
              </a:defRPr>
            </a:lvl3pPr>
            <a:lvl4pPr marL="538163" indent="-182563" algn="l" defTabSz="2286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4pPr>
            <a:lvl5pPr marL="720725" indent="-182563" algn="l" defTabSz="228600" rtl="0" eaLnBrk="1" latinLnBrk="0" hangingPunct="1">
              <a:lnSpc>
                <a:spcPct val="100000"/>
              </a:lnSpc>
              <a:spcBef>
                <a:spcPts val="0"/>
              </a:spcBef>
              <a:spcAft>
                <a:spcPts val="600"/>
              </a:spcAft>
              <a:buFont typeface="System Font"/>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12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12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12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1200"/>
              </a:spcAft>
              <a:buFont typeface="Arial" panose="020B0604020202020204" pitchFamily="34" charset="0"/>
              <a:buNone/>
              <a:defRPr sz="800" kern="1200">
                <a:solidFill>
                  <a:schemeClr val="tx2"/>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s" sz="1400" b="0" i="0" u="none" strike="noStrike" kern="1200" cap="none" spc="0" normalizeH="0" baseline="0" noProof="0">
                <a:ln>
                  <a:noFill/>
                </a:ln>
                <a:solidFill>
                  <a:srgbClr val="000000"/>
                </a:solidFill>
                <a:effectLst/>
                <a:uLnTx/>
                <a:uFillTx/>
                <a:latin typeface="Graphik"/>
                <a:ea typeface="+mn-ea"/>
                <a:cs typeface="+mn-cs"/>
              </a:rPr>
              <a:t>Un ecosistema evolucionado para impulsar los flujos de negocio, ofrecer a los clientes una experiencia y servicios de "Bank of One" y estimular la productividad de los empleados aprovechando el poder de la nube, los datos y las tecnologías de IA</a:t>
            </a:r>
          </a:p>
        </p:txBody>
      </p:sp>
      <p:sp>
        <p:nvSpPr>
          <p:cNvPr id="3" name="TextBox 27">
            <a:extLst>
              <a:ext uri="{FF2B5EF4-FFF2-40B4-BE49-F238E27FC236}">
                <a16:creationId xmlns:a16="http://schemas.microsoft.com/office/drawing/2014/main" id="{5962EBB6-93E3-1205-F6E6-2D472B7CC5FD}"/>
              </a:ext>
            </a:extLst>
          </p:cNvPr>
          <p:cNvSpPr txBox="1"/>
          <p:nvPr/>
        </p:nvSpPr>
        <p:spPr>
          <a:xfrm>
            <a:off x="480493" y="3934042"/>
            <a:ext cx="2409067" cy="1169551"/>
          </a:xfrm>
          <a:prstGeom prst="rect">
            <a:avLst/>
          </a:prstGeom>
          <a:noFill/>
        </p:spPr>
        <p:txBody>
          <a:bodyPr wrap="square" lIns="0" tIns="0" rIns="0" bIns="0" rtlCol="0">
            <a:spAutoFit/>
          </a:bodyPr>
          <a:lstStyle/>
          <a:p>
            <a:pPr marL="0" marR="0" lvl="0" indent="0" algn="l" defTabSz="913309" rtl="0" eaLnBrk="1" fontAlgn="auto" latinLnBrk="0" hangingPunct="1">
              <a:lnSpc>
                <a:spcPct val="100000"/>
              </a:lnSpc>
              <a:spcBef>
                <a:spcPts val="600"/>
              </a:spcBef>
              <a:spcAft>
                <a:spcPts val="0"/>
              </a:spcAft>
              <a:buClrTx/>
              <a:buSzTx/>
              <a:buFontTx/>
              <a:buNone/>
              <a:tabLst/>
              <a:defRPr/>
            </a:pPr>
            <a:r>
              <a:rPr kumimoji="0" lang="es" sz="1050" b="1" i="0" u="none" strike="noStrike" kern="1200" cap="none" spc="0" normalizeH="0" baseline="0" noProof="0" dirty="0">
                <a:ln>
                  <a:noFill/>
                </a:ln>
                <a:solidFill>
                  <a:prstClr val="black"/>
                </a:solidFill>
                <a:effectLst/>
                <a:uLnTx/>
                <a:uFillTx/>
                <a:latin typeface="Graphik"/>
                <a:ea typeface="+mn-ea"/>
                <a:cs typeface="+mn-cs"/>
              </a:rPr>
              <a:t>Hibrid-Core y Motores más pequeños</a:t>
            </a:r>
          </a:p>
          <a:p>
            <a:pPr marL="0" marR="0" lvl="0" indent="0" algn="l" defTabSz="913309" rtl="0" eaLnBrk="1" fontAlgn="auto" latinLnBrk="0" hangingPunct="1">
              <a:lnSpc>
                <a:spcPct val="100000"/>
              </a:lnSpc>
              <a:spcBef>
                <a:spcPts val="600"/>
              </a:spcBef>
              <a:spcAft>
                <a:spcPts val="0"/>
              </a:spcAft>
              <a:buClrTx/>
              <a:buSzTx/>
              <a:buFontTx/>
              <a:buNone/>
              <a:tabLst/>
              <a:defRPr/>
            </a:pPr>
            <a:r>
              <a:rPr kumimoji="0" lang="es" sz="1000" b="0" i="0" u="none" strike="noStrike" kern="1200" cap="none" spc="0" normalizeH="0" baseline="0" noProof="0" dirty="0">
                <a:ln>
                  <a:noFill/>
                </a:ln>
                <a:solidFill>
                  <a:prstClr val="black"/>
                </a:solidFill>
                <a:effectLst/>
                <a:uLnTx/>
                <a:uFillTx/>
                <a:latin typeface="Graphik Light" panose="020B0403030202060203" pitchFamily="34" charset="0"/>
                <a:ea typeface="+mn-ea"/>
                <a:cs typeface="+mn-cs"/>
              </a:rPr>
              <a:t>Coexistencia de diferentes motores de banca central y distintos enfoques de alojamiento (soluciones locales, en la nube y SaaS), siguiendo un enfoque empresarial adaptado a su propósito.</a:t>
            </a:r>
          </a:p>
        </p:txBody>
      </p:sp>
      <p:sp>
        <p:nvSpPr>
          <p:cNvPr id="55" name="Rectangle 54">
            <a:extLst>
              <a:ext uri="{FF2B5EF4-FFF2-40B4-BE49-F238E27FC236}">
                <a16:creationId xmlns:a16="http://schemas.microsoft.com/office/drawing/2014/main" id="{6F02DD73-5D9A-ED1A-876D-657D9AEF1ECA}"/>
              </a:ext>
            </a:extLst>
          </p:cNvPr>
          <p:cNvSpPr/>
          <p:nvPr/>
        </p:nvSpPr>
        <p:spPr>
          <a:xfrm>
            <a:off x="406487" y="1657779"/>
            <a:ext cx="2795478" cy="1006813"/>
          </a:xfrm>
          <a:prstGeom prst="rect">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tIns="91335" bIns="91335" rtlCol="0" anchor="ctr"/>
          <a:lstStyle/>
          <a:p>
            <a:pPr marL="0" marR="0" lvl="0" indent="0" algn="ctr" defTabSz="584116" rtl="0" eaLnBrk="1" fontAlgn="auto" latinLnBrk="0" hangingPunct="1">
              <a:lnSpc>
                <a:spcPct val="100000"/>
              </a:lnSpc>
              <a:spcBef>
                <a:spcPts val="0"/>
              </a:spcBef>
              <a:spcAft>
                <a:spcPts val="0"/>
              </a:spcAft>
              <a:buClrTx/>
              <a:buSzTx/>
              <a:buFontTx/>
              <a:buNone/>
              <a:tabLst/>
              <a:defRPr/>
            </a:pPr>
            <a:endParaRPr kumimoji="0" lang="en-US" sz="1798" b="0" i="0" u="none" strike="noStrike" kern="1200" cap="none" spc="0" normalizeH="0" baseline="0" noProof="0" err="1">
              <a:ln>
                <a:noFill/>
              </a:ln>
              <a:solidFill>
                <a:srgbClr val="FFFFFF"/>
              </a:solidFill>
              <a:effectLst/>
              <a:uLnTx/>
              <a:uFillTx/>
              <a:latin typeface="Graphik"/>
              <a:ea typeface="+mn-ea"/>
              <a:cs typeface="+mn-cs"/>
            </a:endParaRPr>
          </a:p>
        </p:txBody>
      </p:sp>
      <p:pic>
        <p:nvPicPr>
          <p:cNvPr id="56" name="Graphic 55" descr="Esquema de piezas del puzzle">
            <a:extLst>
              <a:ext uri="{FF2B5EF4-FFF2-40B4-BE49-F238E27FC236}">
                <a16:creationId xmlns:a16="http://schemas.microsoft.com/office/drawing/2014/main" id="{1DC3F743-10EC-1621-2A86-E20C3DB6251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387408" y="1474083"/>
            <a:ext cx="268172" cy="268172"/>
          </a:xfrm>
          <a:prstGeom prst="rect">
            <a:avLst/>
          </a:prstGeom>
        </p:spPr>
      </p:pic>
      <p:grpSp>
        <p:nvGrpSpPr>
          <p:cNvPr id="57" name="Group 56">
            <a:extLst>
              <a:ext uri="{FF2B5EF4-FFF2-40B4-BE49-F238E27FC236}">
                <a16:creationId xmlns:a16="http://schemas.microsoft.com/office/drawing/2014/main" id="{70E8FA55-F94D-3A44-E596-EB1EAB539DEF}"/>
              </a:ext>
            </a:extLst>
          </p:cNvPr>
          <p:cNvGrpSpPr>
            <a:grpSpLocks noChangeAspect="1"/>
          </p:cNvGrpSpPr>
          <p:nvPr/>
        </p:nvGrpSpPr>
        <p:grpSpPr>
          <a:xfrm>
            <a:off x="2762823" y="1724043"/>
            <a:ext cx="209539" cy="204328"/>
            <a:chOff x="7494588" y="5003801"/>
            <a:chExt cx="914401" cy="850900"/>
          </a:xfrm>
          <a:solidFill>
            <a:schemeClr val="bg1"/>
          </a:solidFill>
        </p:grpSpPr>
        <p:sp>
          <p:nvSpPr>
            <p:cNvPr id="58" name="Freeform 5">
              <a:extLst>
                <a:ext uri="{FF2B5EF4-FFF2-40B4-BE49-F238E27FC236}">
                  <a16:creationId xmlns:a16="http://schemas.microsoft.com/office/drawing/2014/main" id="{A20B38C6-40A2-A1F9-53E7-7C378D3478E0}"/>
                </a:ext>
              </a:extLst>
            </p:cNvPr>
            <p:cNvSpPr>
              <a:spLocks/>
            </p:cNvSpPr>
            <p:nvPr/>
          </p:nvSpPr>
          <p:spPr bwMode="auto">
            <a:xfrm>
              <a:off x="7585076" y="5657851"/>
              <a:ext cx="690563" cy="196850"/>
            </a:xfrm>
            <a:custGeom>
              <a:avLst/>
              <a:gdLst>
                <a:gd name="T0" fmla="*/ 201 w 212"/>
                <a:gd name="T1" fmla="*/ 5 h 60"/>
                <a:gd name="T2" fmla="*/ 180 w 212"/>
                <a:gd name="T3" fmla="*/ 24 h 60"/>
                <a:gd name="T4" fmla="*/ 159 w 212"/>
                <a:gd name="T5" fmla="*/ 4 h 60"/>
                <a:gd name="T6" fmla="*/ 152 w 212"/>
                <a:gd name="T7" fmla="*/ 3 h 60"/>
                <a:gd name="T8" fmla="*/ 127 w 212"/>
                <a:gd name="T9" fmla="*/ 13 h 60"/>
                <a:gd name="T10" fmla="*/ 122 w 212"/>
                <a:gd name="T11" fmla="*/ 19 h 60"/>
                <a:gd name="T12" fmla="*/ 122 w 212"/>
                <a:gd name="T13" fmla="*/ 48 h 60"/>
                <a:gd name="T14" fmla="*/ 92 w 212"/>
                <a:gd name="T15" fmla="*/ 48 h 60"/>
                <a:gd name="T16" fmla="*/ 92 w 212"/>
                <a:gd name="T17" fmla="*/ 19 h 60"/>
                <a:gd name="T18" fmla="*/ 88 w 212"/>
                <a:gd name="T19" fmla="*/ 13 h 60"/>
                <a:gd name="T20" fmla="*/ 62 w 212"/>
                <a:gd name="T21" fmla="*/ 3 h 60"/>
                <a:gd name="T22" fmla="*/ 55 w 212"/>
                <a:gd name="T23" fmla="*/ 4 h 60"/>
                <a:gd name="T24" fmla="*/ 34 w 212"/>
                <a:gd name="T25" fmla="*/ 24 h 60"/>
                <a:gd name="T26" fmla="*/ 11 w 212"/>
                <a:gd name="T27" fmla="*/ 2 h 60"/>
                <a:gd name="T28" fmla="*/ 3 w 212"/>
                <a:gd name="T29" fmla="*/ 3 h 60"/>
                <a:gd name="T30" fmla="*/ 3 w 212"/>
                <a:gd name="T31" fmla="*/ 11 h 60"/>
                <a:gd name="T32" fmla="*/ 30 w 212"/>
                <a:gd name="T33" fmla="*/ 37 h 60"/>
                <a:gd name="T34" fmla="*/ 39 w 212"/>
                <a:gd name="T35" fmla="*/ 37 h 60"/>
                <a:gd name="T36" fmla="*/ 60 w 212"/>
                <a:gd name="T37" fmla="*/ 15 h 60"/>
                <a:gd name="T38" fmla="*/ 80 w 212"/>
                <a:gd name="T39" fmla="*/ 23 h 60"/>
                <a:gd name="T40" fmla="*/ 80 w 212"/>
                <a:gd name="T41" fmla="*/ 54 h 60"/>
                <a:gd name="T42" fmla="*/ 86 w 212"/>
                <a:gd name="T43" fmla="*/ 60 h 60"/>
                <a:gd name="T44" fmla="*/ 128 w 212"/>
                <a:gd name="T45" fmla="*/ 60 h 60"/>
                <a:gd name="T46" fmla="*/ 134 w 212"/>
                <a:gd name="T47" fmla="*/ 54 h 60"/>
                <a:gd name="T48" fmla="*/ 134 w 212"/>
                <a:gd name="T49" fmla="*/ 23 h 60"/>
                <a:gd name="T50" fmla="*/ 154 w 212"/>
                <a:gd name="T51" fmla="*/ 15 h 60"/>
                <a:gd name="T52" fmla="*/ 176 w 212"/>
                <a:gd name="T53" fmla="*/ 37 h 60"/>
                <a:gd name="T54" fmla="*/ 184 w 212"/>
                <a:gd name="T55" fmla="*/ 37 h 60"/>
                <a:gd name="T56" fmla="*/ 209 w 212"/>
                <a:gd name="T57" fmla="*/ 13 h 60"/>
                <a:gd name="T58" fmla="*/ 210 w 212"/>
                <a:gd name="T59" fmla="*/ 5 h 60"/>
                <a:gd name="T60" fmla="*/ 201 w 212"/>
                <a:gd name="T61" fmla="*/ 5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12" h="60">
                  <a:moveTo>
                    <a:pt x="201" y="5"/>
                  </a:moveTo>
                  <a:cubicBezTo>
                    <a:pt x="180" y="24"/>
                    <a:pt x="180" y="24"/>
                    <a:pt x="180" y="24"/>
                  </a:cubicBezTo>
                  <a:cubicBezTo>
                    <a:pt x="159" y="4"/>
                    <a:pt x="159" y="4"/>
                    <a:pt x="159" y="4"/>
                  </a:cubicBezTo>
                  <a:cubicBezTo>
                    <a:pt x="157" y="2"/>
                    <a:pt x="154" y="1"/>
                    <a:pt x="152" y="3"/>
                  </a:cubicBezTo>
                  <a:cubicBezTo>
                    <a:pt x="145" y="7"/>
                    <a:pt x="136" y="11"/>
                    <a:pt x="127" y="13"/>
                  </a:cubicBezTo>
                  <a:cubicBezTo>
                    <a:pt x="124" y="14"/>
                    <a:pt x="122" y="16"/>
                    <a:pt x="122" y="19"/>
                  </a:cubicBezTo>
                  <a:cubicBezTo>
                    <a:pt x="122" y="48"/>
                    <a:pt x="122" y="48"/>
                    <a:pt x="122" y="48"/>
                  </a:cubicBezTo>
                  <a:cubicBezTo>
                    <a:pt x="92" y="48"/>
                    <a:pt x="92" y="48"/>
                    <a:pt x="92" y="48"/>
                  </a:cubicBezTo>
                  <a:cubicBezTo>
                    <a:pt x="92" y="19"/>
                    <a:pt x="92" y="19"/>
                    <a:pt x="92" y="19"/>
                  </a:cubicBezTo>
                  <a:cubicBezTo>
                    <a:pt x="92" y="16"/>
                    <a:pt x="90" y="14"/>
                    <a:pt x="88" y="13"/>
                  </a:cubicBezTo>
                  <a:cubicBezTo>
                    <a:pt x="78" y="11"/>
                    <a:pt x="69" y="7"/>
                    <a:pt x="62" y="3"/>
                  </a:cubicBezTo>
                  <a:cubicBezTo>
                    <a:pt x="60" y="1"/>
                    <a:pt x="57" y="2"/>
                    <a:pt x="55" y="4"/>
                  </a:cubicBezTo>
                  <a:cubicBezTo>
                    <a:pt x="34" y="24"/>
                    <a:pt x="34" y="24"/>
                    <a:pt x="34" y="24"/>
                  </a:cubicBezTo>
                  <a:cubicBezTo>
                    <a:pt x="11" y="2"/>
                    <a:pt x="11" y="2"/>
                    <a:pt x="11" y="2"/>
                  </a:cubicBezTo>
                  <a:cubicBezTo>
                    <a:pt x="9" y="0"/>
                    <a:pt x="5" y="0"/>
                    <a:pt x="3" y="3"/>
                  </a:cubicBezTo>
                  <a:cubicBezTo>
                    <a:pt x="0" y="5"/>
                    <a:pt x="0" y="9"/>
                    <a:pt x="3" y="11"/>
                  </a:cubicBezTo>
                  <a:cubicBezTo>
                    <a:pt x="30" y="37"/>
                    <a:pt x="30" y="37"/>
                    <a:pt x="30" y="37"/>
                  </a:cubicBezTo>
                  <a:cubicBezTo>
                    <a:pt x="33" y="39"/>
                    <a:pt x="36" y="39"/>
                    <a:pt x="39" y="37"/>
                  </a:cubicBezTo>
                  <a:cubicBezTo>
                    <a:pt x="60" y="15"/>
                    <a:pt x="60" y="15"/>
                    <a:pt x="60" y="15"/>
                  </a:cubicBezTo>
                  <a:cubicBezTo>
                    <a:pt x="66" y="19"/>
                    <a:pt x="73" y="21"/>
                    <a:pt x="80" y="23"/>
                  </a:cubicBezTo>
                  <a:cubicBezTo>
                    <a:pt x="80" y="54"/>
                    <a:pt x="80" y="54"/>
                    <a:pt x="80" y="54"/>
                  </a:cubicBezTo>
                  <a:cubicBezTo>
                    <a:pt x="80" y="57"/>
                    <a:pt x="83" y="60"/>
                    <a:pt x="86" y="60"/>
                  </a:cubicBezTo>
                  <a:cubicBezTo>
                    <a:pt x="128" y="60"/>
                    <a:pt x="128" y="60"/>
                    <a:pt x="128" y="60"/>
                  </a:cubicBezTo>
                  <a:cubicBezTo>
                    <a:pt x="131" y="60"/>
                    <a:pt x="134" y="57"/>
                    <a:pt x="134" y="54"/>
                  </a:cubicBezTo>
                  <a:cubicBezTo>
                    <a:pt x="134" y="23"/>
                    <a:pt x="134" y="23"/>
                    <a:pt x="134" y="23"/>
                  </a:cubicBezTo>
                  <a:cubicBezTo>
                    <a:pt x="141" y="21"/>
                    <a:pt x="148" y="19"/>
                    <a:pt x="154" y="15"/>
                  </a:cubicBezTo>
                  <a:cubicBezTo>
                    <a:pt x="176" y="37"/>
                    <a:pt x="176" y="37"/>
                    <a:pt x="176" y="37"/>
                  </a:cubicBezTo>
                  <a:cubicBezTo>
                    <a:pt x="178" y="39"/>
                    <a:pt x="182" y="39"/>
                    <a:pt x="184" y="37"/>
                  </a:cubicBezTo>
                  <a:cubicBezTo>
                    <a:pt x="209" y="13"/>
                    <a:pt x="209" y="13"/>
                    <a:pt x="209" y="13"/>
                  </a:cubicBezTo>
                  <a:cubicBezTo>
                    <a:pt x="212" y="11"/>
                    <a:pt x="212" y="7"/>
                    <a:pt x="210" y="5"/>
                  </a:cubicBezTo>
                  <a:cubicBezTo>
                    <a:pt x="207" y="2"/>
                    <a:pt x="204" y="2"/>
                    <a:pt x="201"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35" tIns="45668" rIns="91335" bIns="45668" numCol="1" anchor="t" anchorCtr="0" compatLnSpc="1">
              <a:prstTxWarp prst="textNoShape">
                <a:avLst/>
              </a:prstTxWarp>
            </a:bodyPr>
            <a:lstStyle/>
            <a:p>
              <a:pPr marL="0" marR="0" lvl="0" indent="0" algn="l" defTabSz="913309"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Graphik"/>
                <a:ea typeface="+mn-ea"/>
                <a:cs typeface="+mn-cs"/>
              </a:endParaRPr>
            </a:p>
          </p:txBody>
        </p:sp>
        <p:sp>
          <p:nvSpPr>
            <p:cNvPr id="59" name="Freeform 6">
              <a:extLst>
                <a:ext uri="{FF2B5EF4-FFF2-40B4-BE49-F238E27FC236}">
                  <a16:creationId xmlns:a16="http://schemas.microsoft.com/office/drawing/2014/main" id="{BC066DE2-C662-32F2-3BBF-2B58E89BD4C6}"/>
                </a:ext>
              </a:extLst>
            </p:cNvPr>
            <p:cNvSpPr>
              <a:spLocks/>
            </p:cNvSpPr>
            <p:nvPr/>
          </p:nvSpPr>
          <p:spPr bwMode="auto">
            <a:xfrm>
              <a:off x="7507288" y="5003801"/>
              <a:ext cx="852488" cy="598488"/>
            </a:xfrm>
            <a:custGeom>
              <a:avLst/>
              <a:gdLst>
                <a:gd name="T0" fmla="*/ 37 w 262"/>
                <a:gd name="T1" fmla="*/ 157 h 183"/>
                <a:gd name="T2" fmla="*/ 56 w 262"/>
                <a:gd name="T3" fmla="*/ 181 h 183"/>
                <a:gd name="T4" fmla="*/ 47 w 262"/>
                <a:gd name="T5" fmla="*/ 149 h 183"/>
                <a:gd name="T6" fmla="*/ 12 w 262"/>
                <a:gd name="T7" fmla="*/ 145 h 183"/>
                <a:gd name="T8" fmla="*/ 42 w 262"/>
                <a:gd name="T9" fmla="*/ 116 h 183"/>
                <a:gd name="T10" fmla="*/ 58 w 262"/>
                <a:gd name="T11" fmla="*/ 86 h 183"/>
                <a:gd name="T12" fmla="*/ 36 w 262"/>
                <a:gd name="T13" fmla="*/ 58 h 183"/>
                <a:gd name="T14" fmla="*/ 79 w 262"/>
                <a:gd name="T15" fmla="*/ 56 h 183"/>
                <a:gd name="T16" fmla="*/ 112 w 262"/>
                <a:gd name="T17" fmla="*/ 47 h 183"/>
                <a:gd name="T18" fmla="*/ 116 w 262"/>
                <a:gd name="T19" fmla="*/ 12 h 183"/>
                <a:gd name="T20" fmla="*/ 146 w 262"/>
                <a:gd name="T21" fmla="*/ 41 h 183"/>
                <a:gd name="T22" fmla="*/ 176 w 262"/>
                <a:gd name="T23" fmla="*/ 57 h 183"/>
                <a:gd name="T24" fmla="*/ 204 w 262"/>
                <a:gd name="T25" fmla="*/ 35 h 183"/>
                <a:gd name="T26" fmla="*/ 206 w 262"/>
                <a:gd name="T27" fmla="*/ 78 h 183"/>
                <a:gd name="T28" fmla="*/ 215 w 262"/>
                <a:gd name="T29" fmla="*/ 112 h 183"/>
                <a:gd name="T30" fmla="*/ 250 w 262"/>
                <a:gd name="T31" fmla="*/ 116 h 183"/>
                <a:gd name="T32" fmla="*/ 221 w 262"/>
                <a:gd name="T33" fmla="*/ 145 h 183"/>
                <a:gd name="T34" fmla="*/ 205 w 262"/>
                <a:gd name="T35" fmla="*/ 173 h 183"/>
                <a:gd name="T36" fmla="*/ 210 w 262"/>
                <a:gd name="T37" fmla="*/ 182 h 183"/>
                <a:gd name="T38" fmla="*/ 225 w 262"/>
                <a:gd name="T39" fmla="*/ 157 h 183"/>
                <a:gd name="T40" fmla="*/ 262 w 262"/>
                <a:gd name="T41" fmla="*/ 151 h 183"/>
                <a:gd name="T42" fmla="*/ 256 w 262"/>
                <a:gd name="T43" fmla="*/ 104 h 183"/>
                <a:gd name="T44" fmla="*/ 217 w 262"/>
                <a:gd name="T45" fmla="*/ 83 h 183"/>
                <a:gd name="T46" fmla="*/ 241 w 262"/>
                <a:gd name="T47" fmla="*/ 58 h 183"/>
                <a:gd name="T48" fmla="*/ 208 w 262"/>
                <a:gd name="T49" fmla="*/ 23 h 183"/>
                <a:gd name="T50" fmla="*/ 178 w 262"/>
                <a:gd name="T51" fmla="*/ 44 h 183"/>
                <a:gd name="T52" fmla="*/ 158 w 262"/>
                <a:gd name="T53" fmla="*/ 6 h 183"/>
                <a:gd name="T54" fmla="*/ 110 w 262"/>
                <a:gd name="T55" fmla="*/ 0 h 183"/>
                <a:gd name="T56" fmla="*/ 104 w 262"/>
                <a:gd name="T57" fmla="*/ 36 h 183"/>
                <a:gd name="T58" fmla="*/ 63 w 262"/>
                <a:gd name="T59" fmla="*/ 23 h 183"/>
                <a:gd name="T60" fmla="*/ 23 w 262"/>
                <a:gd name="T61" fmla="*/ 53 h 183"/>
                <a:gd name="T62" fmla="*/ 23 w 262"/>
                <a:gd name="T63" fmla="*/ 62 h 183"/>
                <a:gd name="T64" fmla="*/ 37 w 262"/>
                <a:gd name="T65" fmla="*/ 104 h 183"/>
                <a:gd name="T66" fmla="*/ 0 w 262"/>
                <a:gd name="T67" fmla="*/ 110 h 183"/>
                <a:gd name="T68" fmla="*/ 6 w 262"/>
                <a:gd name="T69" fmla="*/ 157 h 1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62" h="183">
                  <a:moveTo>
                    <a:pt x="6" y="157"/>
                  </a:moveTo>
                  <a:cubicBezTo>
                    <a:pt x="37" y="157"/>
                    <a:pt x="37" y="157"/>
                    <a:pt x="37" y="157"/>
                  </a:cubicBezTo>
                  <a:cubicBezTo>
                    <a:pt x="39" y="164"/>
                    <a:pt x="43" y="172"/>
                    <a:pt x="47" y="179"/>
                  </a:cubicBezTo>
                  <a:cubicBezTo>
                    <a:pt x="49" y="182"/>
                    <a:pt x="53" y="183"/>
                    <a:pt x="56" y="181"/>
                  </a:cubicBezTo>
                  <a:cubicBezTo>
                    <a:pt x="58" y="180"/>
                    <a:pt x="59" y="176"/>
                    <a:pt x="58" y="173"/>
                  </a:cubicBezTo>
                  <a:cubicBezTo>
                    <a:pt x="53" y="165"/>
                    <a:pt x="49" y="157"/>
                    <a:pt x="47" y="149"/>
                  </a:cubicBezTo>
                  <a:cubicBezTo>
                    <a:pt x="47" y="147"/>
                    <a:pt x="44" y="145"/>
                    <a:pt x="42" y="145"/>
                  </a:cubicBezTo>
                  <a:cubicBezTo>
                    <a:pt x="12" y="145"/>
                    <a:pt x="12" y="145"/>
                    <a:pt x="12" y="145"/>
                  </a:cubicBezTo>
                  <a:cubicBezTo>
                    <a:pt x="12" y="116"/>
                    <a:pt x="12" y="116"/>
                    <a:pt x="12" y="116"/>
                  </a:cubicBezTo>
                  <a:cubicBezTo>
                    <a:pt x="42" y="116"/>
                    <a:pt x="42" y="116"/>
                    <a:pt x="42" y="116"/>
                  </a:cubicBezTo>
                  <a:cubicBezTo>
                    <a:pt x="44" y="116"/>
                    <a:pt x="47" y="114"/>
                    <a:pt x="47" y="112"/>
                  </a:cubicBezTo>
                  <a:cubicBezTo>
                    <a:pt x="50" y="102"/>
                    <a:pt x="54" y="92"/>
                    <a:pt x="58" y="86"/>
                  </a:cubicBezTo>
                  <a:cubicBezTo>
                    <a:pt x="59" y="83"/>
                    <a:pt x="59" y="80"/>
                    <a:pt x="57" y="78"/>
                  </a:cubicBezTo>
                  <a:cubicBezTo>
                    <a:pt x="36" y="58"/>
                    <a:pt x="36" y="58"/>
                    <a:pt x="36" y="58"/>
                  </a:cubicBezTo>
                  <a:cubicBezTo>
                    <a:pt x="58" y="35"/>
                    <a:pt x="58" y="35"/>
                    <a:pt x="58" y="35"/>
                  </a:cubicBezTo>
                  <a:cubicBezTo>
                    <a:pt x="79" y="56"/>
                    <a:pt x="79" y="56"/>
                    <a:pt x="79" y="56"/>
                  </a:cubicBezTo>
                  <a:cubicBezTo>
                    <a:pt x="81" y="58"/>
                    <a:pt x="84" y="58"/>
                    <a:pt x="86" y="57"/>
                  </a:cubicBezTo>
                  <a:cubicBezTo>
                    <a:pt x="93" y="53"/>
                    <a:pt x="102" y="49"/>
                    <a:pt x="112" y="47"/>
                  </a:cubicBezTo>
                  <a:cubicBezTo>
                    <a:pt x="114" y="46"/>
                    <a:pt x="116" y="44"/>
                    <a:pt x="116" y="41"/>
                  </a:cubicBezTo>
                  <a:cubicBezTo>
                    <a:pt x="116" y="12"/>
                    <a:pt x="116" y="12"/>
                    <a:pt x="116" y="12"/>
                  </a:cubicBezTo>
                  <a:cubicBezTo>
                    <a:pt x="146" y="12"/>
                    <a:pt x="146" y="12"/>
                    <a:pt x="146" y="12"/>
                  </a:cubicBezTo>
                  <a:cubicBezTo>
                    <a:pt x="146" y="41"/>
                    <a:pt x="146" y="41"/>
                    <a:pt x="146" y="41"/>
                  </a:cubicBezTo>
                  <a:cubicBezTo>
                    <a:pt x="146" y="44"/>
                    <a:pt x="148" y="46"/>
                    <a:pt x="151" y="47"/>
                  </a:cubicBezTo>
                  <a:cubicBezTo>
                    <a:pt x="160" y="49"/>
                    <a:pt x="169" y="53"/>
                    <a:pt x="176" y="57"/>
                  </a:cubicBezTo>
                  <a:cubicBezTo>
                    <a:pt x="178" y="58"/>
                    <a:pt x="181" y="58"/>
                    <a:pt x="183" y="56"/>
                  </a:cubicBezTo>
                  <a:cubicBezTo>
                    <a:pt x="204" y="35"/>
                    <a:pt x="204" y="35"/>
                    <a:pt x="204" y="35"/>
                  </a:cubicBezTo>
                  <a:cubicBezTo>
                    <a:pt x="226" y="58"/>
                    <a:pt x="226" y="58"/>
                    <a:pt x="226" y="58"/>
                  </a:cubicBezTo>
                  <a:cubicBezTo>
                    <a:pt x="206" y="78"/>
                    <a:pt x="206" y="78"/>
                    <a:pt x="206" y="78"/>
                  </a:cubicBezTo>
                  <a:cubicBezTo>
                    <a:pt x="204" y="80"/>
                    <a:pt x="203" y="83"/>
                    <a:pt x="205" y="86"/>
                  </a:cubicBezTo>
                  <a:cubicBezTo>
                    <a:pt x="209" y="92"/>
                    <a:pt x="212" y="102"/>
                    <a:pt x="215" y="112"/>
                  </a:cubicBezTo>
                  <a:cubicBezTo>
                    <a:pt x="216" y="114"/>
                    <a:pt x="218" y="116"/>
                    <a:pt x="221" y="116"/>
                  </a:cubicBezTo>
                  <a:cubicBezTo>
                    <a:pt x="250" y="116"/>
                    <a:pt x="250" y="116"/>
                    <a:pt x="250" y="116"/>
                  </a:cubicBezTo>
                  <a:cubicBezTo>
                    <a:pt x="250" y="145"/>
                    <a:pt x="250" y="145"/>
                    <a:pt x="250" y="145"/>
                  </a:cubicBezTo>
                  <a:cubicBezTo>
                    <a:pt x="221" y="145"/>
                    <a:pt x="221" y="145"/>
                    <a:pt x="221" y="145"/>
                  </a:cubicBezTo>
                  <a:cubicBezTo>
                    <a:pt x="218" y="145"/>
                    <a:pt x="216" y="147"/>
                    <a:pt x="215" y="149"/>
                  </a:cubicBezTo>
                  <a:cubicBezTo>
                    <a:pt x="213" y="157"/>
                    <a:pt x="210" y="165"/>
                    <a:pt x="205" y="173"/>
                  </a:cubicBezTo>
                  <a:cubicBezTo>
                    <a:pt x="203" y="176"/>
                    <a:pt x="204" y="180"/>
                    <a:pt x="207" y="181"/>
                  </a:cubicBezTo>
                  <a:cubicBezTo>
                    <a:pt x="208" y="182"/>
                    <a:pt x="209" y="182"/>
                    <a:pt x="210" y="182"/>
                  </a:cubicBezTo>
                  <a:cubicBezTo>
                    <a:pt x="212" y="182"/>
                    <a:pt x="214" y="181"/>
                    <a:pt x="215" y="179"/>
                  </a:cubicBezTo>
                  <a:cubicBezTo>
                    <a:pt x="220" y="172"/>
                    <a:pt x="223" y="164"/>
                    <a:pt x="225" y="157"/>
                  </a:cubicBezTo>
                  <a:cubicBezTo>
                    <a:pt x="256" y="157"/>
                    <a:pt x="256" y="157"/>
                    <a:pt x="256" y="157"/>
                  </a:cubicBezTo>
                  <a:cubicBezTo>
                    <a:pt x="259" y="157"/>
                    <a:pt x="262" y="154"/>
                    <a:pt x="262" y="151"/>
                  </a:cubicBezTo>
                  <a:cubicBezTo>
                    <a:pt x="262" y="110"/>
                    <a:pt x="262" y="110"/>
                    <a:pt x="262" y="110"/>
                  </a:cubicBezTo>
                  <a:cubicBezTo>
                    <a:pt x="262" y="107"/>
                    <a:pt x="259" y="104"/>
                    <a:pt x="256" y="104"/>
                  </a:cubicBezTo>
                  <a:cubicBezTo>
                    <a:pt x="225" y="104"/>
                    <a:pt x="225" y="104"/>
                    <a:pt x="225" y="104"/>
                  </a:cubicBezTo>
                  <a:cubicBezTo>
                    <a:pt x="223" y="97"/>
                    <a:pt x="220" y="90"/>
                    <a:pt x="217" y="83"/>
                  </a:cubicBezTo>
                  <a:cubicBezTo>
                    <a:pt x="239" y="62"/>
                    <a:pt x="239" y="62"/>
                    <a:pt x="239" y="62"/>
                  </a:cubicBezTo>
                  <a:cubicBezTo>
                    <a:pt x="240" y="61"/>
                    <a:pt x="241" y="59"/>
                    <a:pt x="241" y="58"/>
                  </a:cubicBezTo>
                  <a:cubicBezTo>
                    <a:pt x="241" y="56"/>
                    <a:pt x="240" y="54"/>
                    <a:pt x="239" y="53"/>
                  </a:cubicBezTo>
                  <a:cubicBezTo>
                    <a:pt x="208" y="23"/>
                    <a:pt x="208" y="23"/>
                    <a:pt x="208" y="23"/>
                  </a:cubicBezTo>
                  <a:cubicBezTo>
                    <a:pt x="206" y="20"/>
                    <a:pt x="202" y="20"/>
                    <a:pt x="200" y="23"/>
                  </a:cubicBezTo>
                  <a:cubicBezTo>
                    <a:pt x="178" y="44"/>
                    <a:pt x="178" y="44"/>
                    <a:pt x="178" y="44"/>
                  </a:cubicBezTo>
                  <a:cubicBezTo>
                    <a:pt x="172" y="41"/>
                    <a:pt x="165" y="38"/>
                    <a:pt x="158" y="36"/>
                  </a:cubicBezTo>
                  <a:cubicBezTo>
                    <a:pt x="158" y="6"/>
                    <a:pt x="158" y="6"/>
                    <a:pt x="158" y="6"/>
                  </a:cubicBezTo>
                  <a:cubicBezTo>
                    <a:pt x="158" y="2"/>
                    <a:pt x="155" y="0"/>
                    <a:pt x="152" y="0"/>
                  </a:cubicBezTo>
                  <a:cubicBezTo>
                    <a:pt x="110" y="0"/>
                    <a:pt x="110" y="0"/>
                    <a:pt x="110" y="0"/>
                  </a:cubicBezTo>
                  <a:cubicBezTo>
                    <a:pt x="107" y="0"/>
                    <a:pt x="104" y="2"/>
                    <a:pt x="104" y="6"/>
                  </a:cubicBezTo>
                  <a:cubicBezTo>
                    <a:pt x="104" y="36"/>
                    <a:pt x="104" y="36"/>
                    <a:pt x="104" y="36"/>
                  </a:cubicBezTo>
                  <a:cubicBezTo>
                    <a:pt x="97" y="38"/>
                    <a:pt x="90" y="41"/>
                    <a:pt x="84" y="44"/>
                  </a:cubicBezTo>
                  <a:cubicBezTo>
                    <a:pt x="63" y="23"/>
                    <a:pt x="63" y="23"/>
                    <a:pt x="63" y="23"/>
                  </a:cubicBezTo>
                  <a:cubicBezTo>
                    <a:pt x="60" y="20"/>
                    <a:pt x="56" y="20"/>
                    <a:pt x="54" y="23"/>
                  </a:cubicBezTo>
                  <a:cubicBezTo>
                    <a:pt x="23" y="53"/>
                    <a:pt x="23" y="53"/>
                    <a:pt x="23" y="53"/>
                  </a:cubicBezTo>
                  <a:cubicBezTo>
                    <a:pt x="22" y="54"/>
                    <a:pt x="22" y="56"/>
                    <a:pt x="22" y="58"/>
                  </a:cubicBezTo>
                  <a:cubicBezTo>
                    <a:pt x="22" y="59"/>
                    <a:pt x="22" y="61"/>
                    <a:pt x="23" y="62"/>
                  </a:cubicBezTo>
                  <a:cubicBezTo>
                    <a:pt x="45" y="84"/>
                    <a:pt x="45" y="84"/>
                    <a:pt x="45" y="84"/>
                  </a:cubicBezTo>
                  <a:cubicBezTo>
                    <a:pt x="42" y="90"/>
                    <a:pt x="39" y="97"/>
                    <a:pt x="37" y="104"/>
                  </a:cubicBezTo>
                  <a:cubicBezTo>
                    <a:pt x="6" y="104"/>
                    <a:pt x="6" y="104"/>
                    <a:pt x="6" y="104"/>
                  </a:cubicBezTo>
                  <a:cubicBezTo>
                    <a:pt x="3" y="104"/>
                    <a:pt x="0" y="107"/>
                    <a:pt x="0" y="110"/>
                  </a:cubicBezTo>
                  <a:cubicBezTo>
                    <a:pt x="0" y="151"/>
                    <a:pt x="0" y="151"/>
                    <a:pt x="0" y="151"/>
                  </a:cubicBezTo>
                  <a:cubicBezTo>
                    <a:pt x="0" y="154"/>
                    <a:pt x="3" y="157"/>
                    <a:pt x="6" y="1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35" tIns="45668" rIns="91335" bIns="45668" numCol="1" anchor="t" anchorCtr="0" compatLnSpc="1">
              <a:prstTxWarp prst="textNoShape">
                <a:avLst/>
              </a:prstTxWarp>
            </a:bodyPr>
            <a:lstStyle/>
            <a:p>
              <a:pPr marL="0" marR="0" lvl="0" indent="0" algn="l" defTabSz="913309"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Graphik"/>
                <a:ea typeface="+mn-ea"/>
                <a:cs typeface="+mn-cs"/>
              </a:endParaRPr>
            </a:p>
          </p:txBody>
        </p:sp>
        <p:sp>
          <p:nvSpPr>
            <p:cNvPr id="60" name="Freeform 7">
              <a:extLst>
                <a:ext uri="{FF2B5EF4-FFF2-40B4-BE49-F238E27FC236}">
                  <a16:creationId xmlns:a16="http://schemas.microsoft.com/office/drawing/2014/main" id="{06C7FF32-9CC5-B330-0AC1-D2AC86AF8126}"/>
                </a:ext>
              </a:extLst>
            </p:cNvPr>
            <p:cNvSpPr>
              <a:spLocks/>
            </p:cNvSpPr>
            <p:nvPr/>
          </p:nvSpPr>
          <p:spPr bwMode="auto">
            <a:xfrm>
              <a:off x="7885113" y="5176838"/>
              <a:ext cx="260350" cy="415925"/>
            </a:xfrm>
            <a:custGeom>
              <a:avLst/>
              <a:gdLst>
                <a:gd name="T0" fmla="*/ 52 w 80"/>
                <a:gd name="T1" fmla="*/ 126 h 127"/>
                <a:gd name="T2" fmla="*/ 57 w 80"/>
                <a:gd name="T3" fmla="*/ 127 h 127"/>
                <a:gd name="T4" fmla="*/ 61 w 80"/>
                <a:gd name="T5" fmla="*/ 126 h 127"/>
                <a:gd name="T6" fmla="*/ 79 w 80"/>
                <a:gd name="T7" fmla="*/ 79 h 127"/>
                <a:gd name="T8" fmla="*/ 57 w 80"/>
                <a:gd name="T9" fmla="*/ 32 h 127"/>
                <a:gd name="T10" fmla="*/ 23 w 80"/>
                <a:gd name="T11" fmla="*/ 17 h 127"/>
                <a:gd name="T12" fmla="*/ 30 w 80"/>
                <a:gd name="T13" fmla="*/ 12 h 127"/>
                <a:gd name="T14" fmla="*/ 31 w 80"/>
                <a:gd name="T15" fmla="*/ 3 h 127"/>
                <a:gd name="T16" fmla="*/ 23 w 80"/>
                <a:gd name="T17" fmla="*/ 2 h 127"/>
                <a:gd name="T18" fmla="*/ 2 w 80"/>
                <a:gd name="T19" fmla="*/ 18 h 127"/>
                <a:gd name="T20" fmla="*/ 0 w 80"/>
                <a:gd name="T21" fmla="*/ 22 h 127"/>
                <a:gd name="T22" fmla="*/ 1 w 80"/>
                <a:gd name="T23" fmla="*/ 27 h 127"/>
                <a:gd name="T24" fmla="*/ 17 w 80"/>
                <a:gd name="T25" fmla="*/ 46 h 127"/>
                <a:gd name="T26" fmla="*/ 22 w 80"/>
                <a:gd name="T27" fmla="*/ 48 h 127"/>
                <a:gd name="T28" fmla="*/ 26 w 80"/>
                <a:gd name="T29" fmla="*/ 47 h 127"/>
                <a:gd name="T30" fmla="*/ 26 w 80"/>
                <a:gd name="T31" fmla="*/ 38 h 127"/>
                <a:gd name="T32" fmla="*/ 19 w 80"/>
                <a:gd name="T33" fmla="*/ 29 h 127"/>
                <a:gd name="T34" fmla="*/ 49 w 80"/>
                <a:gd name="T35" fmla="*/ 41 h 127"/>
                <a:gd name="T36" fmla="*/ 67 w 80"/>
                <a:gd name="T37" fmla="*/ 79 h 127"/>
                <a:gd name="T38" fmla="*/ 52 w 80"/>
                <a:gd name="T39" fmla="*/ 117 h 127"/>
                <a:gd name="T40" fmla="*/ 52 w 80"/>
                <a:gd name="T41" fmla="*/ 126 h 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80" h="127">
                  <a:moveTo>
                    <a:pt x="52" y="126"/>
                  </a:moveTo>
                  <a:cubicBezTo>
                    <a:pt x="54" y="127"/>
                    <a:pt x="55" y="127"/>
                    <a:pt x="57" y="127"/>
                  </a:cubicBezTo>
                  <a:cubicBezTo>
                    <a:pt x="58" y="127"/>
                    <a:pt x="60" y="127"/>
                    <a:pt x="61" y="126"/>
                  </a:cubicBezTo>
                  <a:cubicBezTo>
                    <a:pt x="73" y="113"/>
                    <a:pt x="80" y="96"/>
                    <a:pt x="79" y="79"/>
                  </a:cubicBezTo>
                  <a:cubicBezTo>
                    <a:pt x="78" y="61"/>
                    <a:pt x="70" y="44"/>
                    <a:pt x="57" y="32"/>
                  </a:cubicBezTo>
                  <a:cubicBezTo>
                    <a:pt x="47" y="24"/>
                    <a:pt x="35" y="19"/>
                    <a:pt x="23" y="17"/>
                  </a:cubicBezTo>
                  <a:cubicBezTo>
                    <a:pt x="30" y="12"/>
                    <a:pt x="30" y="12"/>
                    <a:pt x="30" y="12"/>
                  </a:cubicBezTo>
                  <a:cubicBezTo>
                    <a:pt x="33" y="10"/>
                    <a:pt x="33" y="6"/>
                    <a:pt x="31" y="3"/>
                  </a:cubicBezTo>
                  <a:cubicBezTo>
                    <a:pt x="29" y="1"/>
                    <a:pt x="25" y="0"/>
                    <a:pt x="23" y="2"/>
                  </a:cubicBezTo>
                  <a:cubicBezTo>
                    <a:pt x="2" y="18"/>
                    <a:pt x="2" y="18"/>
                    <a:pt x="2" y="18"/>
                  </a:cubicBezTo>
                  <a:cubicBezTo>
                    <a:pt x="1" y="19"/>
                    <a:pt x="0" y="21"/>
                    <a:pt x="0" y="22"/>
                  </a:cubicBezTo>
                  <a:cubicBezTo>
                    <a:pt x="0" y="24"/>
                    <a:pt x="0" y="26"/>
                    <a:pt x="1" y="27"/>
                  </a:cubicBezTo>
                  <a:cubicBezTo>
                    <a:pt x="17" y="46"/>
                    <a:pt x="17" y="46"/>
                    <a:pt x="17" y="46"/>
                  </a:cubicBezTo>
                  <a:cubicBezTo>
                    <a:pt x="18" y="47"/>
                    <a:pt x="20" y="48"/>
                    <a:pt x="22" y="48"/>
                  </a:cubicBezTo>
                  <a:cubicBezTo>
                    <a:pt x="23" y="48"/>
                    <a:pt x="24" y="48"/>
                    <a:pt x="26" y="47"/>
                  </a:cubicBezTo>
                  <a:cubicBezTo>
                    <a:pt x="28" y="45"/>
                    <a:pt x="29" y="41"/>
                    <a:pt x="26" y="38"/>
                  </a:cubicBezTo>
                  <a:cubicBezTo>
                    <a:pt x="19" y="29"/>
                    <a:pt x="19" y="29"/>
                    <a:pt x="19" y="29"/>
                  </a:cubicBezTo>
                  <a:cubicBezTo>
                    <a:pt x="30" y="30"/>
                    <a:pt x="40" y="34"/>
                    <a:pt x="49" y="41"/>
                  </a:cubicBezTo>
                  <a:cubicBezTo>
                    <a:pt x="60" y="51"/>
                    <a:pt x="66" y="64"/>
                    <a:pt x="67" y="79"/>
                  </a:cubicBezTo>
                  <a:cubicBezTo>
                    <a:pt x="68" y="93"/>
                    <a:pt x="62" y="107"/>
                    <a:pt x="52" y="117"/>
                  </a:cubicBezTo>
                  <a:cubicBezTo>
                    <a:pt x="50" y="120"/>
                    <a:pt x="50" y="123"/>
                    <a:pt x="52" y="12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35" tIns="45668" rIns="91335" bIns="45668" numCol="1" anchor="t" anchorCtr="0" compatLnSpc="1">
              <a:prstTxWarp prst="textNoShape">
                <a:avLst/>
              </a:prstTxWarp>
            </a:bodyPr>
            <a:lstStyle/>
            <a:p>
              <a:pPr marL="0" marR="0" lvl="0" indent="0" algn="l" defTabSz="913309"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Graphik"/>
                <a:ea typeface="+mn-ea"/>
                <a:cs typeface="+mn-cs"/>
              </a:endParaRPr>
            </a:p>
          </p:txBody>
        </p:sp>
        <p:sp>
          <p:nvSpPr>
            <p:cNvPr id="61" name="Freeform 8">
              <a:extLst>
                <a:ext uri="{FF2B5EF4-FFF2-40B4-BE49-F238E27FC236}">
                  <a16:creationId xmlns:a16="http://schemas.microsoft.com/office/drawing/2014/main" id="{E5B2969D-E3A3-ED05-51CE-ABB08A59C172}"/>
                </a:ext>
              </a:extLst>
            </p:cNvPr>
            <p:cNvSpPr>
              <a:spLocks/>
            </p:cNvSpPr>
            <p:nvPr/>
          </p:nvSpPr>
          <p:spPr bwMode="auto">
            <a:xfrm>
              <a:off x="7494588" y="5611813"/>
              <a:ext cx="288925" cy="39688"/>
            </a:xfrm>
            <a:custGeom>
              <a:avLst/>
              <a:gdLst>
                <a:gd name="T0" fmla="*/ 89 w 89"/>
                <a:gd name="T1" fmla="*/ 6 h 12"/>
                <a:gd name="T2" fmla="*/ 83 w 89"/>
                <a:gd name="T3" fmla="*/ 0 h 12"/>
                <a:gd name="T4" fmla="*/ 6 w 89"/>
                <a:gd name="T5" fmla="*/ 0 h 12"/>
                <a:gd name="T6" fmla="*/ 0 w 89"/>
                <a:gd name="T7" fmla="*/ 6 h 12"/>
                <a:gd name="T8" fmla="*/ 6 w 89"/>
                <a:gd name="T9" fmla="*/ 12 h 12"/>
                <a:gd name="T10" fmla="*/ 83 w 89"/>
                <a:gd name="T11" fmla="*/ 12 h 12"/>
                <a:gd name="T12" fmla="*/ 89 w 89"/>
                <a:gd name="T13" fmla="*/ 6 h 12"/>
              </a:gdLst>
              <a:ahLst/>
              <a:cxnLst>
                <a:cxn ang="0">
                  <a:pos x="T0" y="T1"/>
                </a:cxn>
                <a:cxn ang="0">
                  <a:pos x="T2" y="T3"/>
                </a:cxn>
                <a:cxn ang="0">
                  <a:pos x="T4" y="T5"/>
                </a:cxn>
                <a:cxn ang="0">
                  <a:pos x="T6" y="T7"/>
                </a:cxn>
                <a:cxn ang="0">
                  <a:pos x="T8" y="T9"/>
                </a:cxn>
                <a:cxn ang="0">
                  <a:pos x="T10" y="T11"/>
                </a:cxn>
                <a:cxn ang="0">
                  <a:pos x="T12" y="T13"/>
                </a:cxn>
              </a:cxnLst>
              <a:rect l="0" t="0" r="r" b="b"/>
              <a:pathLst>
                <a:path w="89" h="12">
                  <a:moveTo>
                    <a:pt x="89" y="6"/>
                  </a:moveTo>
                  <a:cubicBezTo>
                    <a:pt x="89" y="3"/>
                    <a:pt x="86" y="0"/>
                    <a:pt x="83" y="0"/>
                  </a:cubicBezTo>
                  <a:cubicBezTo>
                    <a:pt x="6" y="0"/>
                    <a:pt x="6" y="0"/>
                    <a:pt x="6" y="0"/>
                  </a:cubicBezTo>
                  <a:cubicBezTo>
                    <a:pt x="3" y="0"/>
                    <a:pt x="0" y="3"/>
                    <a:pt x="0" y="6"/>
                  </a:cubicBezTo>
                  <a:cubicBezTo>
                    <a:pt x="0" y="9"/>
                    <a:pt x="3" y="12"/>
                    <a:pt x="6" y="12"/>
                  </a:cubicBezTo>
                  <a:cubicBezTo>
                    <a:pt x="83" y="12"/>
                    <a:pt x="83" y="12"/>
                    <a:pt x="83" y="12"/>
                  </a:cubicBezTo>
                  <a:cubicBezTo>
                    <a:pt x="86" y="12"/>
                    <a:pt x="89" y="9"/>
                    <a:pt x="89"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35" tIns="45668" rIns="91335" bIns="45668" numCol="1" anchor="t" anchorCtr="0" compatLnSpc="1">
              <a:prstTxWarp prst="textNoShape">
                <a:avLst/>
              </a:prstTxWarp>
            </a:bodyPr>
            <a:lstStyle/>
            <a:p>
              <a:pPr marL="0" marR="0" lvl="0" indent="0" algn="l" defTabSz="913309"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Graphik"/>
                <a:ea typeface="+mn-ea"/>
                <a:cs typeface="+mn-cs"/>
              </a:endParaRPr>
            </a:p>
          </p:txBody>
        </p:sp>
        <p:sp>
          <p:nvSpPr>
            <p:cNvPr id="62" name="Freeform 9">
              <a:extLst>
                <a:ext uri="{FF2B5EF4-FFF2-40B4-BE49-F238E27FC236}">
                  <a16:creationId xmlns:a16="http://schemas.microsoft.com/office/drawing/2014/main" id="{957823FC-65C7-DA81-FD4C-9AB292F88F88}"/>
                </a:ext>
              </a:extLst>
            </p:cNvPr>
            <p:cNvSpPr>
              <a:spLocks/>
            </p:cNvSpPr>
            <p:nvPr/>
          </p:nvSpPr>
          <p:spPr bwMode="auto">
            <a:xfrm>
              <a:off x="7721601" y="5251451"/>
              <a:ext cx="687388" cy="461963"/>
            </a:xfrm>
            <a:custGeom>
              <a:avLst/>
              <a:gdLst>
                <a:gd name="T0" fmla="*/ 209 w 211"/>
                <a:gd name="T1" fmla="*/ 112 h 141"/>
                <a:gd name="T2" fmla="*/ 189 w 211"/>
                <a:gd name="T3" fmla="*/ 93 h 141"/>
                <a:gd name="T4" fmla="*/ 181 w 211"/>
                <a:gd name="T5" fmla="*/ 93 h 141"/>
                <a:gd name="T6" fmla="*/ 181 w 211"/>
                <a:gd name="T7" fmla="*/ 102 h 141"/>
                <a:gd name="T8" fmla="*/ 190 w 211"/>
                <a:gd name="T9" fmla="*/ 110 h 141"/>
                <a:gd name="T10" fmla="*/ 68 w 211"/>
                <a:gd name="T11" fmla="*/ 110 h 141"/>
                <a:gd name="T12" fmla="*/ 67 w 211"/>
                <a:gd name="T13" fmla="*/ 110 h 141"/>
                <a:gd name="T14" fmla="*/ 30 w 211"/>
                <a:gd name="T15" fmla="*/ 96 h 141"/>
                <a:gd name="T16" fmla="*/ 13 w 211"/>
                <a:gd name="T17" fmla="*/ 60 h 141"/>
                <a:gd name="T18" fmla="*/ 40 w 211"/>
                <a:gd name="T19" fmla="*/ 13 h 141"/>
                <a:gd name="T20" fmla="*/ 43 w 211"/>
                <a:gd name="T21" fmla="*/ 4 h 141"/>
                <a:gd name="T22" fmla="*/ 34 w 211"/>
                <a:gd name="T23" fmla="*/ 2 h 141"/>
                <a:gd name="T24" fmla="*/ 1 w 211"/>
                <a:gd name="T25" fmla="*/ 60 h 141"/>
                <a:gd name="T26" fmla="*/ 22 w 211"/>
                <a:gd name="T27" fmla="*/ 105 h 141"/>
                <a:gd name="T28" fmla="*/ 65 w 211"/>
                <a:gd name="T29" fmla="*/ 122 h 141"/>
                <a:gd name="T30" fmla="*/ 67 w 211"/>
                <a:gd name="T31" fmla="*/ 122 h 141"/>
                <a:gd name="T32" fmla="*/ 67 w 211"/>
                <a:gd name="T33" fmla="*/ 122 h 141"/>
                <a:gd name="T34" fmla="*/ 190 w 211"/>
                <a:gd name="T35" fmla="*/ 122 h 141"/>
                <a:gd name="T36" fmla="*/ 180 w 211"/>
                <a:gd name="T37" fmla="*/ 130 h 141"/>
                <a:gd name="T38" fmla="*/ 180 w 211"/>
                <a:gd name="T39" fmla="*/ 138 h 141"/>
                <a:gd name="T40" fmla="*/ 184 w 211"/>
                <a:gd name="T41" fmla="*/ 141 h 141"/>
                <a:gd name="T42" fmla="*/ 188 w 211"/>
                <a:gd name="T43" fmla="*/ 139 h 141"/>
                <a:gd name="T44" fmla="*/ 209 w 211"/>
                <a:gd name="T45" fmla="*/ 121 h 141"/>
                <a:gd name="T46" fmla="*/ 211 w 211"/>
                <a:gd name="T47" fmla="*/ 116 h 141"/>
                <a:gd name="T48" fmla="*/ 209 w 211"/>
                <a:gd name="T49" fmla="*/ 112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11" h="141">
                  <a:moveTo>
                    <a:pt x="209" y="112"/>
                  </a:moveTo>
                  <a:cubicBezTo>
                    <a:pt x="189" y="93"/>
                    <a:pt x="189" y="93"/>
                    <a:pt x="189" y="93"/>
                  </a:cubicBezTo>
                  <a:cubicBezTo>
                    <a:pt x="187" y="91"/>
                    <a:pt x="183" y="91"/>
                    <a:pt x="181" y="93"/>
                  </a:cubicBezTo>
                  <a:cubicBezTo>
                    <a:pt x="178" y="95"/>
                    <a:pt x="178" y="99"/>
                    <a:pt x="181" y="102"/>
                  </a:cubicBezTo>
                  <a:cubicBezTo>
                    <a:pt x="190" y="110"/>
                    <a:pt x="190" y="110"/>
                    <a:pt x="190" y="110"/>
                  </a:cubicBezTo>
                  <a:cubicBezTo>
                    <a:pt x="68" y="110"/>
                    <a:pt x="68" y="110"/>
                    <a:pt x="68" y="110"/>
                  </a:cubicBezTo>
                  <a:cubicBezTo>
                    <a:pt x="67" y="110"/>
                    <a:pt x="67" y="110"/>
                    <a:pt x="67" y="110"/>
                  </a:cubicBezTo>
                  <a:cubicBezTo>
                    <a:pt x="53" y="110"/>
                    <a:pt x="40" y="105"/>
                    <a:pt x="30" y="96"/>
                  </a:cubicBezTo>
                  <a:cubicBezTo>
                    <a:pt x="20" y="87"/>
                    <a:pt x="14" y="74"/>
                    <a:pt x="13" y="60"/>
                  </a:cubicBezTo>
                  <a:cubicBezTo>
                    <a:pt x="13" y="40"/>
                    <a:pt x="23" y="22"/>
                    <a:pt x="40" y="13"/>
                  </a:cubicBezTo>
                  <a:cubicBezTo>
                    <a:pt x="43" y="11"/>
                    <a:pt x="44" y="7"/>
                    <a:pt x="43" y="4"/>
                  </a:cubicBezTo>
                  <a:cubicBezTo>
                    <a:pt x="41" y="1"/>
                    <a:pt x="37" y="0"/>
                    <a:pt x="34" y="2"/>
                  </a:cubicBezTo>
                  <a:cubicBezTo>
                    <a:pt x="13" y="14"/>
                    <a:pt x="0" y="36"/>
                    <a:pt x="1" y="60"/>
                  </a:cubicBezTo>
                  <a:cubicBezTo>
                    <a:pt x="2" y="77"/>
                    <a:pt x="9" y="93"/>
                    <a:pt x="22" y="105"/>
                  </a:cubicBezTo>
                  <a:cubicBezTo>
                    <a:pt x="34" y="116"/>
                    <a:pt x="49" y="122"/>
                    <a:pt x="65" y="122"/>
                  </a:cubicBezTo>
                  <a:cubicBezTo>
                    <a:pt x="66" y="122"/>
                    <a:pt x="66" y="122"/>
                    <a:pt x="67" y="122"/>
                  </a:cubicBezTo>
                  <a:cubicBezTo>
                    <a:pt x="67" y="122"/>
                    <a:pt x="67" y="122"/>
                    <a:pt x="67" y="122"/>
                  </a:cubicBezTo>
                  <a:cubicBezTo>
                    <a:pt x="190" y="122"/>
                    <a:pt x="190" y="122"/>
                    <a:pt x="190" y="122"/>
                  </a:cubicBezTo>
                  <a:cubicBezTo>
                    <a:pt x="180" y="130"/>
                    <a:pt x="180" y="130"/>
                    <a:pt x="180" y="130"/>
                  </a:cubicBezTo>
                  <a:cubicBezTo>
                    <a:pt x="178" y="132"/>
                    <a:pt x="177" y="136"/>
                    <a:pt x="180" y="138"/>
                  </a:cubicBezTo>
                  <a:cubicBezTo>
                    <a:pt x="181" y="140"/>
                    <a:pt x="182" y="141"/>
                    <a:pt x="184" y="141"/>
                  </a:cubicBezTo>
                  <a:cubicBezTo>
                    <a:pt x="186" y="141"/>
                    <a:pt x="187" y="140"/>
                    <a:pt x="188" y="139"/>
                  </a:cubicBezTo>
                  <a:cubicBezTo>
                    <a:pt x="209" y="121"/>
                    <a:pt x="209" y="121"/>
                    <a:pt x="209" y="121"/>
                  </a:cubicBezTo>
                  <a:cubicBezTo>
                    <a:pt x="210" y="120"/>
                    <a:pt x="211" y="118"/>
                    <a:pt x="211" y="116"/>
                  </a:cubicBezTo>
                  <a:cubicBezTo>
                    <a:pt x="211" y="115"/>
                    <a:pt x="211" y="113"/>
                    <a:pt x="209" y="1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35" tIns="45668" rIns="91335" bIns="45668" numCol="1" anchor="t" anchorCtr="0" compatLnSpc="1">
              <a:prstTxWarp prst="textNoShape">
                <a:avLst/>
              </a:prstTxWarp>
            </a:bodyPr>
            <a:lstStyle/>
            <a:p>
              <a:pPr marL="0" marR="0" lvl="0" indent="0" algn="l" defTabSz="913309"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Graphik"/>
                <a:ea typeface="+mn-ea"/>
                <a:cs typeface="+mn-cs"/>
              </a:endParaRPr>
            </a:p>
          </p:txBody>
        </p:sp>
      </p:grpSp>
      <p:sp>
        <p:nvSpPr>
          <p:cNvPr id="63" name="TextBox 27">
            <a:extLst>
              <a:ext uri="{FF2B5EF4-FFF2-40B4-BE49-F238E27FC236}">
                <a16:creationId xmlns:a16="http://schemas.microsoft.com/office/drawing/2014/main" id="{1174BA8A-1FD3-8C97-CECF-7737176CA458}"/>
              </a:ext>
            </a:extLst>
          </p:cNvPr>
          <p:cNvSpPr txBox="1"/>
          <p:nvPr/>
        </p:nvSpPr>
        <p:spPr>
          <a:xfrm>
            <a:off x="9552825" y="1708672"/>
            <a:ext cx="2386495" cy="1533753"/>
          </a:xfrm>
          <a:prstGeom prst="rect">
            <a:avLst/>
          </a:prstGeom>
          <a:noFill/>
        </p:spPr>
        <p:txBody>
          <a:bodyPr wrap="square" lIns="0" tIns="0" rIns="0" bIns="0" rtlCol="0">
            <a:spAutoFit/>
          </a:bodyPr>
          <a:lstStyle/>
          <a:p>
            <a:pPr marL="0" marR="0" lvl="0" indent="0" algn="l" defTabSz="913309" rtl="0" eaLnBrk="1" fontAlgn="auto" latinLnBrk="0" hangingPunct="1">
              <a:lnSpc>
                <a:spcPct val="100000"/>
              </a:lnSpc>
              <a:spcBef>
                <a:spcPts val="0"/>
              </a:spcBef>
              <a:spcAft>
                <a:spcPts val="300"/>
              </a:spcAft>
              <a:buClrTx/>
              <a:buSzTx/>
              <a:buFontTx/>
              <a:buNone/>
              <a:tabLst/>
              <a:defRPr/>
            </a:pPr>
            <a:r>
              <a:rPr kumimoji="0" lang="es" sz="1050" b="1" i="0" u="none" strike="noStrike" kern="1200" cap="none" spc="0" normalizeH="0" baseline="0" noProof="0">
                <a:ln>
                  <a:noFill/>
                </a:ln>
                <a:solidFill>
                  <a:prstClr val="black"/>
                </a:solidFill>
                <a:effectLst/>
                <a:uLnTx/>
                <a:uFillTx/>
                <a:latin typeface="Graphik"/>
                <a:ea typeface="+mn-ea"/>
                <a:cs typeface="+mn-cs"/>
              </a:rPr>
              <a:t>Sistemas de Innovación</a:t>
            </a:r>
          </a:p>
          <a:p>
            <a:pPr marL="179785" marR="0" lvl="0" indent="-179785" algn="l" defTabSz="913309" rtl="0" eaLnBrk="1" fontAlgn="auto" latinLnBrk="0" hangingPunct="1">
              <a:lnSpc>
                <a:spcPct val="100000"/>
              </a:lnSpc>
              <a:spcBef>
                <a:spcPts val="0"/>
              </a:spcBef>
              <a:spcAft>
                <a:spcPts val="199"/>
              </a:spcAft>
              <a:buClrTx/>
              <a:buSzTx/>
              <a:buFont typeface="Arial" panose="020B0604020202020204" pitchFamily="34" charset="0"/>
              <a:buChar char="•"/>
              <a:tabLst/>
              <a:defRPr/>
            </a:pPr>
            <a:r>
              <a:rPr kumimoji="0" lang="es" sz="1000" b="0" i="0" u="none" strike="noStrike" kern="1200" cap="none" spc="0" normalizeH="0" baseline="0" noProof="0">
                <a:ln>
                  <a:noFill/>
                </a:ln>
                <a:solidFill>
                  <a:prstClr val="black"/>
                </a:solidFill>
                <a:effectLst/>
                <a:uLnTx/>
                <a:uFillTx/>
                <a:latin typeface="Graphik Light" panose="020B0403030202060203" pitchFamily="34" charset="0"/>
                <a:ea typeface="+mn-ea"/>
                <a:cs typeface="+mn-cs"/>
              </a:rPr>
              <a:t>Alto grado de cambio con una mentalidad de Fallar Rápido</a:t>
            </a:r>
          </a:p>
          <a:p>
            <a:pPr marL="179785" marR="0" lvl="0" indent="-179785" algn="l" defTabSz="913309" rtl="0" eaLnBrk="1" fontAlgn="auto" latinLnBrk="0" hangingPunct="1">
              <a:lnSpc>
                <a:spcPct val="100000"/>
              </a:lnSpc>
              <a:spcBef>
                <a:spcPts val="0"/>
              </a:spcBef>
              <a:spcAft>
                <a:spcPts val="199"/>
              </a:spcAft>
              <a:buClrTx/>
              <a:buSzTx/>
              <a:buFont typeface="Arial" panose="020B0604020202020204" pitchFamily="34" charset="0"/>
              <a:buChar char="•"/>
              <a:tabLst/>
              <a:defRPr/>
            </a:pPr>
            <a:r>
              <a:rPr kumimoji="0" lang="es" sz="1000" b="0" i="0" u="none" strike="noStrike" kern="1200" cap="none" spc="0" normalizeH="0" baseline="0" noProof="0">
                <a:ln>
                  <a:noFill/>
                </a:ln>
                <a:solidFill>
                  <a:prstClr val="black"/>
                </a:solidFill>
                <a:effectLst/>
                <a:uLnTx/>
                <a:uFillTx/>
                <a:latin typeface="Graphik Light" panose="020B0403030202060203" pitchFamily="34" charset="0"/>
                <a:ea typeface="+mn-ea"/>
                <a:cs typeface="+mn-cs"/>
              </a:rPr>
              <a:t>Permitir la experimentación y el prototipado</a:t>
            </a:r>
          </a:p>
          <a:p>
            <a:pPr marL="179785" marR="0" lvl="0" indent="-179785" algn="l" defTabSz="584116" rtl="0" eaLnBrk="1" fontAlgn="auto" latinLnBrk="0" hangingPunct="1">
              <a:lnSpc>
                <a:spcPct val="100000"/>
              </a:lnSpc>
              <a:spcBef>
                <a:spcPts val="0"/>
              </a:spcBef>
              <a:spcAft>
                <a:spcPts val="199"/>
              </a:spcAft>
              <a:buClrTx/>
              <a:buSzTx/>
              <a:buFont typeface="Arial" panose="020B0604020202020204" pitchFamily="34" charset="0"/>
              <a:buChar char="•"/>
              <a:tabLst/>
              <a:defRPr/>
            </a:pPr>
            <a:r>
              <a:rPr kumimoji="0" lang="es" sz="1000" b="0" i="0" u="none" strike="noStrike" kern="1200" cap="none" spc="0" normalizeH="0" baseline="0" noProof="0">
                <a:ln>
                  <a:noFill/>
                </a:ln>
                <a:solidFill>
                  <a:prstClr val="black"/>
                </a:solidFill>
                <a:effectLst/>
                <a:uLnTx/>
                <a:uFillTx/>
                <a:latin typeface="Graphik Light" panose="020B0403030202060203" pitchFamily="34" charset="0"/>
                <a:ea typeface="+mn-ea"/>
                <a:cs typeface="+mn-cs"/>
              </a:rPr>
              <a:t>Uso de la nube y la arquitectura de microservicios </a:t>
            </a:r>
          </a:p>
          <a:p>
            <a:pPr marL="179785" marR="0" lvl="0" indent="-179785" algn="l" defTabSz="584116" rtl="0" eaLnBrk="1" fontAlgn="auto" latinLnBrk="0" hangingPunct="1">
              <a:lnSpc>
                <a:spcPct val="100000"/>
              </a:lnSpc>
              <a:spcBef>
                <a:spcPts val="0"/>
              </a:spcBef>
              <a:spcAft>
                <a:spcPts val="199"/>
              </a:spcAft>
              <a:buClrTx/>
              <a:buSzTx/>
              <a:buFont typeface="Arial" panose="020B0604020202020204" pitchFamily="34" charset="0"/>
              <a:buChar char="•"/>
              <a:tabLst/>
              <a:defRPr/>
            </a:pPr>
            <a:r>
              <a:rPr kumimoji="0" lang="es" sz="1000" b="1" i="0" u="sng" strike="noStrike" kern="1200" cap="none" spc="0" normalizeH="0" baseline="0" noProof="0">
                <a:ln>
                  <a:noFill/>
                </a:ln>
                <a:solidFill>
                  <a:prstClr val="black"/>
                </a:solidFill>
                <a:effectLst/>
                <a:uLnTx/>
                <a:uFillTx/>
                <a:latin typeface="Graphik Light" panose="020B0403030202060203" pitchFamily="34" charset="0"/>
                <a:ea typeface="+mn-ea"/>
                <a:cs typeface="+mn-cs"/>
              </a:rPr>
              <a:t>Construcción propia</a:t>
            </a:r>
          </a:p>
          <a:p>
            <a:pPr marL="179785" marR="0" lvl="0" indent="-179785" algn="l" defTabSz="913309" rtl="0" eaLnBrk="1" fontAlgn="auto" latinLnBrk="0" hangingPunct="1">
              <a:lnSpc>
                <a:spcPct val="100000"/>
              </a:lnSpc>
              <a:spcBef>
                <a:spcPts val="0"/>
              </a:spcBef>
              <a:spcAft>
                <a:spcPts val="199"/>
              </a:spcAft>
              <a:buClrTx/>
              <a:buSzTx/>
              <a:buFont typeface="Arial" panose="020B0604020202020204" pitchFamily="34" charset="0"/>
              <a:buChar char="•"/>
              <a:tabLst/>
              <a:defRPr/>
            </a:pPr>
            <a:endParaRPr kumimoji="0" lang="en-US" sz="1000" b="0" i="0" u="none" strike="noStrike" kern="1200" cap="none" spc="0" normalizeH="0" baseline="0" noProof="0">
              <a:ln>
                <a:noFill/>
              </a:ln>
              <a:solidFill>
                <a:prstClr val="black"/>
              </a:solidFill>
              <a:effectLst/>
              <a:uLnTx/>
              <a:uFillTx/>
              <a:latin typeface="Graphik Light" panose="020B0403030202060203" pitchFamily="34" charset="0"/>
              <a:ea typeface="+mn-ea"/>
              <a:cs typeface="+mn-cs"/>
            </a:endParaRPr>
          </a:p>
        </p:txBody>
      </p:sp>
      <p:sp>
        <p:nvSpPr>
          <p:cNvPr id="64" name="TextBox 28">
            <a:extLst>
              <a:ext uri="{FF2B5EF4-FFF2-40B4-BE49-F238E27FC236}">
                <a16:creationId xmlns:a16="http://schemas.microsoft.com/office/drawing/2014/main" id="{49335F67-5F3C-96D0-4318-5144F73F310B}"/>
              </a:ext>
            </a:extLst>
          </p:cNvPr>
          <p:cNvSpPr txBox="1"/>
          <p:nvPr/>
        </p:nvSpPr>
        <p:spPr>
          <a:xfrm rot="16200000">
            <a:off x="8637370" y="5230530"/>
            <a:ext cx="1302700" cy="261610"/>
          </a:xfrm>
          <a:prstGeom prst="rect">
            <a:avLst/>
          </a:prstGeom>
          <a:noFill/>
        </p:spPr>
        <p:txBody>
          <a:bodyPr wrap="square" rtlCol="0">
            <a:spAutoFit/>
          </a:bodyPr>
          <a:lstStyle/>
          <a:p>
            <a:pPr marL="0" marR="0" lvl="0" indent="0" algn="l" defTabSz="913309"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prstClr val="black"/>
                </a:solidFill>
                <a:effectLst/>
                <a:uLnTx/>
                <a:uFillTx/>
                <a:latin typeface="Graphik" panose="020B0503030202060203" pitchFamily="34" charset="0"/>
                <a:ea typeface="+mn-ea"/>
                <a:cs typeface="+mn-cs"/>
              </a:rPr>
              <a:t>Estabilidad</a:t>
            </a:r>
          </a:p>
        </p:txBody>
      </p:sp>
      <p:sp>
        <p:nvSpPr>
          <p:cNvPr id="65" name="TextBox 33">
            <a:extLst>
              <a:ext uri="{FF2B5EF4-FFF2-40B4-BE49-F238E27FC236}">
                <a16:creationId xmlns:a16="http://schemas.microsoft.com/office/drawing/2014/main" id="{FB47440D-B024-509D-4500-62EF571D0201}"/>
              </a:ext>
            </a:extLst>
          </p:cNvPr>
          <p:cNvSpPr txBox="1"/>
          <p:nvPr/>
        </p:nvSpPr>
        <p:spPr>
          <a:xfrm rot="16200000">
            <a:off x="8807658" y="2012440"/>
            <a:ext cx="962123" cy="261610"/>
          </a:xfrm>
          <a:prstGeom prst="rect">
            <a:avLst/>
          </a:prstGeom>
          <a:noFill/>
        </p:spPr>
        <p:txBody>
          <a:bodyPr wrap="none" rtlCol="0">
            <a:spAutoFit/>
          </a:bodyPr>
          <a:lstStyle/>
          <a:p>
            <a:pPr marL="0" marR="0" lvl="0" indent="0" algn="l" defTabSz="913309"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prstClr val="black"/>
                </a:solidFill>
                <a:effectLst/>
                <a:uLnTx/>
                <a:uFillTx/>
                <a:latin typeface="Graphik" panose="020B0503030202060203" pitchFamily="34" charset="0"/>
                <a:ea typeface="+mn-ea"/>
                <a:cs typeface="+mn-cs"/>
              </a:rPr>
              <a:t>Flexibilidad</a:t>
            </a:r>
          </a:p>
        </p:txBody>
      </p:sp>
      <p:sp>
        <p:nvSpPr>
          <p:cNvPr id="66" name="Arrow: Up-Down 34">
            <a:extLst>
              <a:ext uri="{FF2B5EF4-FFF2-40B4-BE49-F238E27FC236}">
                <a16:creationId xmlns:a16="http://schemas.microsoft.com/office/drawing/2014/main" id="{D15CA3BF-FD7C-0F85-5532-3875EE7DFA43}"/>
              </a:ext>
            </a:extLst>
          </p:cNvPr>
          <p:cNvSpPr/>
          <p:nvPr/>
        </p:nvSpPr>
        <p:spPr>
          <a:xfrm>
            <a:off x="8986459" y="1765588"/>
            <a:ext cx="199006" cy="4138720"/>
          </a:xfrm>
          <a:prstGeom prst="upDownArrow">
            <a:avLst>
              <a:gd name="adj1" fmla="val 18726"/>
              <a:gd name="adj2" fmla="val 59865"/>
            </a:avLst>
          </a:prstGeom>
          <a:solidFill>
            <a:srgbClr val="FF0000"/>
          </a:solidFill>
          <a:ln>
            <a:solidFill>
              <a:srgbClr val="FF324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3309" rtl="0" eaLnBrk="1" fontAlgn="auto" latinLnBrk="0" hangingPunct="1">
              <a:lnSpc>
                <a:spcPct val="100000"/>
              </a:lnSpc>
              <a:spcBef>
                <a:spcPts val="0"/>
              </a:spcBef>
              <a:spcAft>
                <a:spcPts val="0"/>
              </a:spcAft>
              <a:buClrTx/>
              <a:buSzTx/>
              <a:buFontTx/>
              <a:buNone/>
              <a:tabLst/>
              <a:defRPr/>
            </a:pPr>
            <a:endParaRPr kumimoji="0" lang="en-US" sz="1198" b="0" i="0" u="none" strike="noStrike" kern="1200" cap="none" spc="0" normalizeH="0" baseline="0" noProof="0">
              <a:ln>
                <a:noFill/>
              </a:ln>
              <a:solidFill>
                <a:srgbClr val="7030A0"/>
              </a:solidFill>
              <a:effectLst/>
              <a:uLnTx/>
              <a:uFillTx/>
              <a:latin typeface="Calibri"/>
              <a:ea typeface="+mn-ea"/>
              <a:cs typeface="+mn-cs"/>
            </a:endParaRPr>
          </a:p>
        </p:txBody>
      </p:sp>
      <p:sp>
        <p:nvSpPr>
          <p:cNvPr id="67" name="TextBox 35">
            <a:extLst>
              <a:ext uri="{FF2B5EF4-FFF2-40B4-BE49-F238E27FC236}">
                <a16:creationId xmlns:a16="http://schemas.microsoft.com/office/drawing/2014/main" id="{11DAF220-39E6-7E94-1734-4E28B27AC035}"/>
              </a:ext>
            </a:extLst>
          </p:cNvPr>
          <p:cNvSpPr txBox="1"/>
          <p:nvPr/>
        </p:nvSpPr>
        <p:spPr>
          <a:xfrm>
            <a:off x="9539415" y="4919002"/>
            <a:ext cx="2395081" cy="1000274"/>
          </a:xfrm>
          <a:prstGeom prst="rect">
            <a:avLst/>
          </a:prstGeom>
          <a:noFill/>
        </p:spPr>
        <p:txBody>
          <a:bodyPr wrap="square" lIns="0" tIns="0" rIns="0" bIns="0" rtlCol="0">
            <a:spAutoFit/>
          </a:bodyPr>
          <a:lstStyle>
            <a:defPPr>
              <a:defRPr lang="en-US"/>
            </a:defPPr>
            <a:lvl1pPr marR="0" lvl="0" indent="0" defTabSz="913309" fontAlgn="auto">
              <a:lnSpc>
                <a:spcPct val="100000"/>
              </a:lnSpc>
              <a:spcBef>
                <a:spcPts val="0"/>
              </a:spcBef>
              <a:spcAft>
                <a:spcPts val="300"/>
              </a:spcAft>
              <a:buClrTx/>
              <a:buSzTx/>
              <a:buFontTx/>
              <a:buNone/>
              <a:tabLst/>
              <a:defRPr kumimoji="0" sz="1050" b="1" i="0" u="none" strike="noStrike" cap="none" spc="0" normalizeH="0" baseline="0">
                <a:ln>
                  <a:noFill/>
                </a:ln>
                <a:solidFill>
                  <a:prstClr val="black"/>
                </a:solidFill>
                <a:effectLst/>
                <a:uLnTx/>
                <a:uFillTx/>
                <a:latin typeface="Graphik"/>
              </a:defRPr>
            </a:lvl1pPr>
          </a:lstStyle>
          <a:p>
            <a:r>
              <a:rPr lang="es"/>
              <a:t>Sistemas de Registro</a:t>
            </a:r>
          </a:p>
          <a:p>
            <a:pPr marL="171450" indent="-171450">
              <a:buFont typeface="Arial" panose="020B0604020202020204" pitchFamily="34" charset="0"/>
              <a:buChar char="•"/>
            </a:pPr>
            <a:r>
              <a:rPr lang="es" sz="1000" b="0">
                <a:latin typeface="Graphik Light" panose="020B0403030202060203" pitchFamily="34" charset="0"/>
              </a:rPr>
              <a:t>Enfoque en la seguridad y disponibilidad</a:t>
            </a:r>
          </a:p>
          <a:p>
            <a:pPr marL="171450" indent="-171450">
              <a:buFont typeface="Arial" panose="020B0604020202020204" pitchFamily="34" charset="0"/>
              <a:buChar char="•"/>
            </a:pPr>
            <a:r>
              <a:rPr lang="es" sz="1000" b="0">
                <a:latin typeface="Graphik Light" panose="020B0403030202060203" pitchFamily="34" charset="0"/>
              </a:rPr>
              <a:t>Evolución más predecible de las funcionalidades</a:t>
            </a:r>
          </a:p>
          <a:p>
            <a:pPr marL="171450" indent="-171450">
              <a:buFont typeface="Arial" panose="020B0604020202020204" pitchFamily="34" charset="0"/>
              <a:buChar char="•"/>
            </a:pPr>
            <a:r>
              <a:rPr lang="es" sz="1000" b="0">
                <a:latin typeface="Graphik Light" panose="020B0403030202060203" pitchFamily="34" charset="0"/>
              </a:rPr>
              <a:t>Mayor uso de paquetes</a:t>
            </a:r>
          </a:p>
        </p:txBody>
      </p:sp>
      <p:sp>
        <p:nvSpPr>
          <p:cNvPr id="68" name="TextBox 36">
            <a:extLst>
              <a:ext uri="{FF2B5EF4-FFF2-40B4-BE49-F238E27FC236}">
                <a16:creationId xmlns:a16="http://schemas.microsoft.com/office/drawing/2014/main" id="{699432CF-A79C-9CF2-28A4-6C751AD76C3A}"/>
              </a:ext>
            </a:extLst>
          </p:cNvPr>
          <p:cNvSpPr txBox="1"/>
          <p:nvPr/>
        </p:nvSpPr>
        <p:spPr>
          <a:xfrm>
            <a:off x="9548002" y="3211494"/>
            <a:ext cx="2386495" cy="1738938"/>
          </a:xfrm>
          <a:prstGeom prst="rect">
            <a:avLst/>
          </a:prstGeom>
          <a:noFill/>
        </p:spPr>
        <p:txBody>
          <a:bodyPr wrap="square" lIns="0" tIns="0" rIns="0" bIns="0" rtlCol="0">
            <a:spAutoFit/>
          </a:bodyPr>
          <a:lstStyle>
            <a:defPPr>
              <a:defRPr lang="en-US"/>
            </a:defPPr>
            <a:lvl1pPr marR="0" lvl="0" indent="0" defTabSz="913309" fontAlgn="auto">
              <a:lnSpc>
                <a:spcPct val="100000"/>
              </a:lnSpc>
              <a:spcBef>
                <a:spcPts val="0"/>
              </a:spcBef>
              <a:spcAft>
                <a:spcPts val="300"/>
              </a:spcAft>
              <a:buClrTx/>
              <a:buSzTx/>
              <a:buFontTx/>
              <a:buNone/>
              <a:tabLst/>
              <a:defRPr kumimoji="0" sz="1050" b="1" i="0" u="none" strike="noStrike" cap="none" spc="0" normalizeH="0" baseline="0">
                <a:ln>
                  <a:noFill/>
                </a:ln>
                <a:solidFill>
                  <a:prstClr val="black"/>
                </a:solidFill>
                <a:effectLst/>
                <a:uLnTx/>
                <a:uFillTx/>
                <a:latin typeface="Graphik"/>
              </a:defRPr>
            </a:lvl1pPr>
          </a:lstStyle>
          <a:p>
            <a:r>
              <a:rPr lang="es"/>
              <a:t>Sistemas de diferenciación</a:t>
            </a:r>
          </a:p>
          <a:p>
            <a:pPr marL="171450" indent="-171450">
              <a:buFont typeface="Arial" panose="020B0604020202020204" pitchFamily="34" charset="0"/>
              <a:buChar char="•"/>
            </a:pPr>
            <a:r>
              <a:rPr lang="es" sz="1000" b="0">
                <a:latin typeface="Graphik Light" panose="020B0403030202060203" pitchFamily="34" charset="0"/>
              </a:rPr>
              <a:t>Alto grado de cambio, buscando aumentar la eficiencia y reducir el tiempo de lanzamiento al mercado</a:t>
            </a:r>
          </a:p>
          <a:p>
            <a:pPr marL="171450" indent="-171450">
              <a:buFont typeface="Arial" panose="020B0604020202020204" pitchFamily="34" charset="0"/>
              <a:buChar char="•"/>
            </a:pPr>
            <a:r>
              <a:rPr lang="es" sz="1000" b="0">
                <a:latin typeface="Graphik Light" panose="020B0403030202060203" pitchFamily="34" charset="0"/>
              </a:rPr>
              <a:t>Tendencia a añadir funcionalidades de productos bancarios</a:t>
            </a:r>
          </a:p>
          <a:p>
            <a:pPr marL="171450" indent="-171450">
              <a:buFont typeface="Arial" panose="020B0604020202020204" pitchFamily="34" charset="0"/>
              <a:buChar char="•"/>
            </a:pPr>
            <a:r>
              <a:rPr lang="es" sz="1000" b="0">
                <a:latin typeface="Graphik Light" panose="020B0403030202060203" pitchFamily="34" charset="0"/>
              </a:rPr>
              <a:t>Arquitectura flexible y débilmente acoplada</a:t>
            </a:r>
          </a:p>
          <a:p>
            <a:pPr marL="171450" indent="-171450">
              <a:buFont typeface="Arial" panose="020B0604020202020204" pitchFamily="34" charset="0"/>
              <a:buChar char="•"/>
            </a:pPr>
            <a:r>
              <a:rPr lang="es" sz="1000" u="sng">
                <a:latin typeface="Graphik Light" panose="020B0403030202060203" pitchFamily="34" charset="0"/>
              </a:rPr>
              <a:t>Construcción propia</a:t>
            </a:r>
          </a:p>
          <a:p>
            <a:pPr marL="171450" indent="-171450">
              <a:buFont typeface="Arial" panose="020B0604020202020204" pitchFamily="34" charset="0"/>
              <a:buChar char="•"/>
            </a:pPr>
            <a:endParaRPr lang="es" sz="1000" u="sng">
              <a:latin typeface="Graphik Light" panose="020B0403030202060203" pitchFamily="34" charset="0"/>
            </a:endParaRPr>
          </a:p>
        </p:txBody>
      </p:sp>
      <p:sp>
        <p:nvSpPr>
          <p:cNvPr id="69" name="TextBox 27">
            <a:extLst>
              <a:ext uri="{FF2B5EF4-FFF2-40B4-BE49-F238E27FC236}">
                <a16:creationId xmlns:a16="http://schemas.microsoft.com/office/drawing/2014/main" id="{03DE4179-9D74-E3D7-98C2-3112B252539B}"/>
              </a:ext>
            </a:extLst>
          </p:cNvPr>
          <p:cNvSpPr txBox="1"/>
          <p:nvPr/>
        </p:nvSpPr>
        <p:spPr>
          <a:xfrm>
            <a:off x="480493" y="2770709"/>
            <a:ext cx="2427611" cy="1007968"/>
          </a:xfrm>
          <a:prstGeom prst="rect">
            <a:avLst/>
          </a:prstGeom>
          <a:noFill/>
        </p:spPr>
        <p:txBody>
          <a:bodyPr wrap="square" lIns="0" tIns="0" rIns="0" bIns="0" rtlCol="0">
            <a:spAutoFit/>
          </a:bodyPr>
          <a:lstStyle/>
          <a:p>
            <a:pPr marL="0" marR="0" lvl="0" indent="0" algn="l" defTabSz="913309" rtl="0" eaLnBrk="1" fontAlgn="auto" latinLnBrk="0" hangingPunct="1">
              <a:lnSpc>
                <a:spcPct val="100000"/>
              </a:lnSpc>
              <a:spcBef>
                <a:spcPts val="600"/>
              </a:spcBef>
              <a:spcAft>
                <a:spcPts val="0"/>
              </a:spcAft>
              <a:buClrTx/>
              <a:buSzTx/>
              <a:buFontTx/>
              <a:buNone/>
              <a:tabLst/>
              <a:defRPr/>
            </a:pPr>
            <a:r>
              <a:rPr kumimoji="0" lang="es" sz="1050" b="1" i="0" u="none" strike="noStrike" kern="1200" cap="none" spc="0" normalizeH="0" baseline="0" noProof="0">
                <a:ln>
                  <a:noFill/>
                </a:ln>
                <a:solidFill>
                  <a:prstClr val="black"/>
                </a:solidFill>
                <a:effectLst/>
                <a:uLnTx/>
                <a:uFillTx/>
                <a:latin typeface="Graphik"/>
                <a:ea typeface="+mn-ea"/>
                <a:cs typeface="+mn-cs"/>
              </a:rPr>
              <a:t>Capa de interoperabilidad</a:t>
            </a:r>
          </a:p>
          <a:p>
            <a:pPr marL="0" marR="0" lvl="0" indent="0" algn="l" defTabSz="913309" rtl="0" eaLnBrk="1" fontAlgn="auto" latinLnBrk="0" hangingPunct="1">
              <a:lnSpc>
                <a:spcPct val="100000"/>
              </a:lnSpc>
              <a:spcBef>
                <a:spcPts val="600"/>
              </a:spcBef>
              <a:spcAft>
                <a:spcPts val="0"/>
              </a:spcAft>
              <a:buClrTx/>
              <a:buSzTx/>
              <a:buFontTx/>
              <a:buNone/>
              <a:tabLst/>
              <a:defRPr/>
            </a:pPr>
            <a:r>
              <a:rPr kumimoji="0" lang="es" sz="1000" b="0" i="0" u="none" strike="noStrike" kern="1200" cap="none" spc="0" normalizeH="0" baseline="0" noProof="0">
                <a:ln>
                  <a:noFill/>
                </a:ln>
                <a:solidFill>
                  <a:prstClr val="black"/>
                </a:solidFill>
                <a:effectLst/>
                <a:uLnTx/>
                <a:uFillTx/>
                <a:latin typeface="Graphik Light" panose="020B0403030202060203" pitchFamily="34" charset="0"/>
                <a:ea typeface="+mn-ea"/>
                <a:cs typeface="+mn-cs"/>
              </a:rPr>
              <a:t>Permite el desacoplamiento, integración, orquestación y coexistencia de todas las posibles tecnologías, fuentes, alternativas de alojamiento y protocolos de comunicación.</a:t>
            </a:r>
          </a:p>
        </p:txBody>
      </p:sp>
      <p:grpSp>
        <p:nvGrpSpPr>
          <p:cNvPr id="70" name="Group 69">
            <a:extLst>
              <a:ext uri="{FF2B5EF4-FFF2-40B4-BE49-F238E27FC236}">
                <a16:creationId xmlns:a16="http://schemas.microsoft.com/office/drawing/2014/main" id="{5E11709E-7B76-4C28-295F-CAB4FABE1C60}"/>
              </a:ext>
            </a:extLst>
          </p:cNvPr>
          <p:cNvGrpSpPr/>
          <p:nvPr>
            <p:custDataLst>
              <p:tags r:id="rId1"/>
            </p:custDataLst>
          </p:nvPr>
        </p:nvGrpSpPr>
        <p:grpSpPr>
          <a:xfrm>
            <a:off x="6524834" y="1267587"/>
            <a:ext cx="1808294" cy="125756"/>
            <a:chOff x="10456977" y="228600"/>
            <a:chExt cx="973023" cy="266244"/>
          </a:xfrm>
        </p:grpSpPr>
        <p:sp>
          <p:nvSpPr>
            <p:cNvPr id="71" name="TextBox 70">
              <a:extLst>
                <a:ext uri="{FF2B5EF4-FFF2-40B4-BE49-F238E27FC236}">
                  <a16:creationId xmlns:a16="http://schemas.microsoft.com/office/drawing/2014/main" id="{15D36AAB-2F4A-1857-A5C3-FC3EABCE434D}"/>
                </a:ext>
              </a:extLst>
            </p:cNvPr>
            <p:cNvSpPr txBox="1"/>
            <p:nvPr/>
          </p:nvSpPr>
          <p:spPr>
            <a:xfrm>
              <a:off x="10456977" y="248029"/>
              <a:ext cx="973023" cy="227385"/>
            </a:xfrm>
            <a:prstGeom prst="rect">
              <a:avLst/>
            </a:prstGeom>
            <a:noFill/>
          </p:spPr>
          <p:txBody>
            <a:bodyPr vert="horz" wrap="square" lIns="0" tIns="0" rIns="0" bIns="0" rtlCol="0" anchor="ctr" anchorCtr="1">
              <a:spAutoFit/>
            </a:bodyPr>
            <a:lstStyle/>
            <a:p>
              <a:pPr marL="0" marR="0" lvl="0" indent="0" algn="ctr" defTabSz="228327" rtl="0" eaLnBrk="1" fontAlgn="auto" latinLnBrk="0" hangingPunct="1">
                <a:lnSpc>
                  <a:spcPct val="100000"/>
                </a:lnSpc>
                <a:spcBef>
                  <a:spcPts val="0"/>
                </a:spcBef>
                <a:spcAft>
                  <a:spcPts val="1198"/>
                </a:spcAft>
                <a:buClrTx/>
                <a:buSzTx/>
                <a:buFontTx/>
                <a:buNone/>
                <a:tabLst/>
                <a:defRPr/>
              </a:pPr>
              <a:r>
                <a:rPr kumimoji="0" lang="es" sz="698" b="1" i="0" u="none" strike="noStrike" kern="1200" cap="none" spc="0" normalizeH="0" baseline="0" noProof="0">
                  <a:ln>
                    <a:noFill/>
                  </a:ln>
                  <a:solidFill>
                    <a:srgbClr val="000000"/>
                  </a:solidFill>
                  <a:effectLst/>
                  <a:uLnTx/>
                  <a:uFillTx/>
                  <a:latin typeface="Graphik"/>
                  <a:ea typeface="+mn-ea"/>
                  <a:cs typeface="+mn-cs"/>
                </a:rPr>
                <a:t>CONCEPTUAL / NO EXHAUSTIVO</a:t>
              </a:r>
            </a:p>
          </p:txBody>
        </p:sp>
        <p:cxnSp>
          <p:nvCxnSpPr>
            <p:cNvPr id="72" name="Straight Connector 71">
              <a:extLst>
                <a:ext uri="{FF2B5EF4-FFF2-40B4-BE49-F238E27FC236}">
                  <a16:creationId xmlns:a16="http://schemas.microsoft.com/office/drawing/2014/main" id="{06ECE2C8-4847-8A98-C56E-429269E88D87}"/>
                </a:ext>
              </a:extLst>
            </p:cNvPr>
            <p:cNvCxnSpPr>
              <a:cxnSpLocks/>
            </p:cNvCxnSpPr>
            <p:nvPr/>
          </p:nvCxnSpPr>
          <p:spPr>
            <a:xfrm>
              <a:off x="10456977" y="228600"/>
              <a:ext cx="973023" cy="0"/>
            </a:xfrm>
            <a:prstGeom prst="line">
              <a:avLst/>
            </a:prstGeom>
            <a:ln w="12700" cmpd="sng">
              <a:solidFill>
                <a:srgbClr val="000000"/>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9E2A5A31-679C-6A37-633D-354B6C0984B7}"/>
                </a:ext>
              </a:extLst>
            </p:cNvPr>
            <p:cNvCxnSpPr>
              <a:cxnSpLocks/>
            </p:cNvCxnSpPr>
            <p:nvPr/>
          </p:nvCxnSpPr>
          <p:spPr>
            <a:xfrm>
              <a:off x="10456977" y="494844"/>
              <a:ext cx="973023" cy="0"/>
            </a:xfrm>
            <a:prstGeom prst="line">
              <a:avLst/>
            </a:prstGeom>
            <a:ln w="12700" cmpd="sng">
              <a:solidFill>
                <a:srgbClr val="000000"/>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74" name="TextBox 73">
            <a:extLst>
              <a:ext uri="{FF2B5EF4-FFF2-40B4-BE49-F238E27FC236}">
                <a16:creationId xmlns:a16="http://schemas.microsoft.com/office/drawing/2014/main" id="{8C087FAF-BCC1-B7C8-FF20-76198AB87191}"/>
              </a:ext>
            </a:extLst>
          </p:cNvPr>
          <p:cNvSpPr txBox="1"/>
          <p:nvPr/>
        </p:nvSpPr>
        <p:spPr>
          <a:xfrm>
            <a:off x="9026153" y="1325454"/>
            <a:ext cx="2913167" cy="276679"/>
          </a:xfrm>
          <a:prstGeom prst="rect">
            <a:avLst/>
          </a:prstGeom>
          <a:noFill/>
        </p:spPr>
        <p:txBody>
          <a:bodyPr wrap="square">
            <a:spAutoFit/>
          </a:bodyPr>
          <a:lstStyle/>
          <a:p>
            <a:pPr marL="0" marR="0" lvl="0" indent="0" algn="l" defTabSz="913309" rtl="0" eaLnBrk="1" fontAlgn="auto" latinLnBrk="0" hangingPunct="1">
              <a:lnSpc>
                <a:spcPct val="100000"/>
              </a:lnSpc>
              <a:spcBef>
                <a:spcPts val="600"/>
              </a:spcBef>
              <a:spcAft>
                <a:spcPts val="0"/>
              </a:spcAft>
              <a:buClrTx/>
              <a:buSzTx/>
              <a:buFontTx/>
              <a:buNone/>
              <a:tabLst/>
              <a:defRPr/>
            </a:pPr>
            <a:r>
              <a:rPr kumimoji="0" lang="es" sz="1198" b="1" i="0" u="none" strike="noStrike" kern="1200" cap="none" spc="0" normalizeH="0" baseline="0" noProof="0">
                <a:ln>
                  <a:noFill/>
                </a:ln>
                <a:solidFill>
                  <a:srgbClr val="460073"/>
                </a:solidFill>
                <a:effectLst/>
                <a:uLnTx/>
                <a:uFillTx/>
                <a:latin typeface="Graphik"/>
                <a:ea typeface="+mn-ea"/>
                <a:cs typeface="+mn-cs"/>
              </a:rPr>
              <a:t>Arquitectura del Ecosistema</a:t>
            </a:r>
          </a:p>
        </p:txBody>
      </p:sp>
      <p:sp>
        <p:nvSpPr>
          <p:cNvPr id="75" name="TextBox 27">
            <a:extLst>
              <a:ext uri="{FF2B5EF4-FFF2-40B4-BE49-F238E27FC236}">
                <a16:creationId xmlns:a16="http://schemas.microsoft.com/office/drawing/2014/main" id="{F6579F12-54E5-A578-D319-119FE017783D}"/>
              </a:ext>
            </a:extLst>
          </p:cNvPr>
          <p:cNvSpPr txBox="1"/>
          <p:nvPr/>
        </p:nvSpPr>
        <p:spPr>
          <a:xfrm>
            <a:off x="480493" y="1736553"/>
            <a:ext cx="2778271" cy="854080"/>
          </a:xfrm>
          <a:prstGeom prst="rect">
            <a:avLst/>
          </a:prstGeom>
          <a:noFill/>
        </p:spPr>
        <p:txBody>
          <a:bodyPr wrap="square" lIns="0" tIns="0" rIns="0" bIns="0" rtlCol="0">
            <a:spAutoFit/>
          </a:bodyPr>
          <a:lstStyle/>
          <a:p>
            <a:pPr marL="0" marR="0" lvl="0" indent="0" algn="l" defTabSz="913309" rtl="0" eaLnBrk="1" fontAlgn="auto" latinLnBrk="0" hangingPunct="1">
              <a:lnSpc>
                <a:spcPct val="100000"/>
              </a:lnSpc>
              <a:spcBef>
                <a:spcPts val="600"/>
              </a:spcBef>
              <a:spcAft>
                <a:spcPts val="0"/>
              </a:spcAft>
              <a:buClrTx/>
              <a:buSzTx/>
              <a:buFontTx/>
              <a:buNone/>
              <a:tabLst/>
              <a:defRPr/>
            </a:pPr>
            <a:r>
              <a:rPr kumimoji="0" lang="es" sz="1050" b="1" i="0" u="none" strike="noStrike" kern="1200" cap="none" spc="0" normalizeH="0" baseline="0" noProof="0">
                <a:ln>
                  <a:noFill/>
                </a:ln>
                <a:solidFill>
                  <a:prstClr val="black"/>
                </a:solidFill>
                <a:effectLst/>
                <a:uLnTx/>
                <a:uFillTx/>
                <a:latin typeface="Graphik"/>
                <a:ea typeface="+mn-ea"/>
                <a:cs typeface="+mn-cs"/>
              </a:rPr>
              <a:t>"Bank of One" basado en IA</a:t>
            </a:r>
          </a:p>
          <a:p>
            <a:pPr marL="0" marR="0" lvl="0" indent="0" algn="l" defTabSz="913309" rtl="0" eaLnBrk="1" fontAlgn="auto" latinLnBrk="0" hangingPunct="1">
              <a:lnSpc>
                <a:spcPct val="100000"/>
              </a:lnSpc>
              <a:spcBef>
                <a:spcPts val="600"/>
              </a:spcBef>
              <a:spcAft>
                <a:spcPts val="0"/>
              </a:spcAft>
              <a:buClrTx/>
              <a:buSzTx/>
              <a:buFontTx/>
              <a:buNone/>
              <a:tabLst/>
              <a:defRPr/>
            </a:pPr>
            <a:r>
              <a:rPr kumimoji="0" lang="es" sz="1000" b="0" i="0" u="none" strike="noStrike" kern="1200" cap="none" spc="0" normalizeH="0" baseline="0" noProof="0">
                <a:ln>
                  <a:noFill/>
                </a:ln>
                <a:solidFill>
                  <a:prstClr val="black"/>
                </a:solidFill>
                <a:effectLst/>
                <a:uLnTx/>
                <a:uFillTx/>
                <a:latin typeface="Graphik Light" panose="020B0403030202060203" pitchFamily="34" charset="0"/>
                <a:ea typeface="+mn-ea"/>
                <a:cs typeface="+mn-cs"/>
              </a:rPr>
              <a:t>Productos, servicios y experiencias personalizados utilizando capacidades internas y del ecosistema del banco para responder a cada necesidad de forma proactiva.</a:t>
            </a:r>
          </a:p>
        </p:txBody>
      </p:sp>
      <p:sp>
        <p:nvSpPr>
          <p:cNvPr id="76" name="TextBox 75">
            <a:extLst>
              <a:ext uri="{FF2B5EF4-FFF2-40B4-BE49-F238E27FC236}">
                <a16:creationId xmlns:a16="http://schemas.microsoft.com/office/drawing/2014/main" id="{4EB5A4A1-742D-5527-8E35-CBD56C835FAC}"/>
              </a:ext>
            </a:extLst>
          </p:cNvPr>
          <p:cNvSpPr txBox="1"/>
          <p:nvPr/>
        </p:nvSpPr>
        <p:spPr>
          <a:xfrm>
            <a:off x="299889" y="1325452"/>
            <a:ext cx="2913167" cy="276679"/>
          </a:xfrm>
          <a:prstGeom prst="rect">
            <a:avLst/>
          </a:prstGeom>
          <a:noFill/>
        </p:spPr>
        <p:txBody>
          <a:bodyPr wrap="square">
            <a:spAutoFit/>
          </a:bodyPr>
          <a:lstStyle/>
          <a:p>
            <a:pPr marL="0" marR="0" lvl="0" indent="0" algn="l" defTabSz="913309" rtl="0" eaLnBrk="1" fontAlgn="auto" latinLnBrk="0" hangingPunct="1">
              <a:lnSpc>
                <a:spcPct val="100000"/>
              </a:lnSpc>
              <a:spcBef>
                <a:spcPts val="600"/>
              </a:spcBef>
              <a:spcAft>
                <a:spcPts val="0"/>
              </a:spcAft>
              <a:buClrTx/>
              <a:buSzTx/>
              <a:buFontTx/>
              <a:buNone/>
              <a:tabLst/>
              <a:defRPr/>
            </a:pPr>
            <a:r>
              <a:rPr kumimoji="0" lang="es" sz="1198" b="1" i="0" u="none" strike="noStrike" kern="1200" cap="none" spc="0" normalizeH="0" baseline="0" noProof="0">
                <a:ln>
                  <a:noFill/>
                </a:ln>
                <a:solidFill>
                  <a:srgbClr val="460073"/>
                </a:solidFill>
                <a:effectLst/>
                <a:uLnTx/>
                <a:uFillTx/>
                <a:latin typeface="Graphik"/>
                <a:ea typeface="+mn-ea"/>
                <a:cs typeface="+mn-cs"/>
              </a:rPr>
              <a:t>Componentes clave del ecosistema</a:t>
            </a:r>
          </a:p>
        </p:txBody>
      </p:sp>
      <p:cxnSp>
        <p:nvCxnSpPr>
          <p:cNvPr id="77" name="Straight Connector 76">
            <a:extLst>
              <a:ext uri="{FF2B5EF4-FFF2-40B4-BE49-F238E27FC236}">
                <a16:creationId xmlns:a16="http://schemas.microsoft.com/office/drawing/2014/main" id="{C0D27FE2-5C70-51D6-EE7A-EAF6C480B8B4}"/>
              </a:ext>
            </a:extLst>
          </p:cNvPr>
          <p:cNvCxnSpPr>
            <a:cxnSpLocks/>
          </p:cNvCxnSpPr>
          <p:nvPr/>
        </p:nvCxnSpPr>
        <p:spPr>
          <a:xfrm>
            <a:off x="379083" y="1595125"/>
            <a:ext cx="2833972" cy="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6F7D2017-719C-BCB2-3FA1-6E3A4FBA40CC}"/>
              </a:ext>
            </a:extLst>
          </p:cNvPr>
          <p:cNvCxnSpPr>
            <a:cxnSpLocks/>
          </p:cNvCxnSpPr>
          <p:nvPr/>
        </p:nvCxnSpPr>
        <p:spPr>
          <a:xfrm>
            <a:off x="9056062" y="1595125"/>
            <a:ext cx="2748385" cy="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sp>
        <p:nvSpPr>
          <p:cNvPr id="79" name="Freeform: Shape 78">
            <a:extLst>
              <a:ext uri="{FF2B5EF4-FFF2-40B4-BE49-F238E27FC236}">
                <a16:creationId xmlns:a16="http://schemas.microsoft.com/office/drawing/2014/main" id="{958BA757-C07E-12EE-7325-8D92CBAFB067}"/>
              </a:ext>
            </a:extLst>
          </p:cNvPr>
          <p:cNvSpPr/>
          <p:nvPr/>
        </p:nvSpPr>
        <p:spPr>
          <a:xfrm>
            <a:off x="2461621" y="1475443"/>
            <a:ext cx="6171467" cy="1541280"/>
          </a:xfrm>
          <a:custGeom>
            <a:avLst/>
            <a:gdLst>
              <a:gd name="connsiteX0" fmla="*/ 0 w 6178550"/>
              <a:gd name="connsiteY0" fmla="*/ 273050 h 1543050"/>
              <a:gd name="connsiteX1" fmla="*/ 819150 w 6178550"/>
              <a:gd name="connsiteY1" fmla="*/ 285750 h 1543050"/>
              <a:gd name="connsiteX2" fmla="*/ 812800 w 6178550"/>
              <a:gd name="connsiteY2" fmla="*/ 6350 h 1543050"/>
              <a:gd name="connsiteX3" fmla="*/ 6165850 w 6178550"/>
              <a:gd name="connsiteY3" fmla="*/ 0 h 1543050"/>
              <a:gd name="connsiteX4" fmla="*/ 6178550 w 6178550"/>
              <a:gd name="connsiteY4" fmla="*/ 1524000 h 1543050"/>
              <a:gd name="connsiteX5" fmla="*/ 6178550 w 6178550"/>
              <a:gd name="connsiteY5" fmla="*/ 1530350 h 1543050"/>
              <a:gd name="connsiteX6" fmla="*/ 6178550 w 6178550"/>
              <a:gd name="connsiteY6" fmla="*/ 1543050 h 1543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178550" h="1543050">
                <a:moveTo>
                  <a:pt x="0" y="273050"/>
                </a:moveTo>
                <a:lnTo>
                  <a:pt x="819150" y="285750"/>
                </a:lnTo>
                <a:lnTo>
                  <a:pt x="812800" y="6350"/>
                </a:lnTo>
                <a:lnTo>
                  <a:pt x="6165850" y="0"/>
                </a:lnTo>
                <a:lnTo>
                  <a:pt x="6178550" y="1524000"/>
                </a:lnTo>
                <a:lnTo>
                  <a:pt x="6178550" y="1530350"/>
                </a:lnTo>
                <a:lnTo>
                  <a:pt x="6178550" y="1543050"/>
                </a:lnTo>
              </a:path>
            </a:pathLst>
          </a:cu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584116" rtl="0" eaLnBrk="1" fontAlgn="auto" latinLnBrk="0" hangingPunct="1">
              <a:lnSpc>
                <a:spcPct val="100000"/>
              </a:lnSpc>
              <a:spcBef>
                <a:spcPts val="0"/>
              </a:spcBef>
              <a:spcAft>
                <a:spcPts val="0"/>
              </a:spcAft>
              <a:buClrTx/>
              <a:buSzTx/>
              <a:buFontTx/>
              <a:buNone/>
              <a:tabLst/>
              <a:defRPr/>
            </a:pPr>
            <a:endParaRPr kumimoji="0" lang="es-ES" sz="1798" b="0" i="0" u="none" strike="noStrike" kern="1200" cap="none" spc="0" normalizeH="0" baseline="0" noProof="0">
              <a:ln>
                <a:noFill/>
              </a:ln>
              <a:solidFill>
                <a:srgbClr val="FFFFFF"/>
              </a:solidFill>
              <a:effectLst/>
              <a:uLnTx/>
              <a:uFillTx/>
              <a:latin typeface="Graphik"/>
              <a:ea typeface="+mn-ea"/>
              <a:cs typeface="+mn-cs"/>
            </a:endParaRPr>
          </a:p>
        </p:txBody>
      </p:sp>
      <p:sp>
        <p:nvSpPr>
          <p:cNvPr id="80" name="Oval 79">
            <a:extLst>
              <a:ext uri="{FF2B5EF4-FFF2-40B4-BE49-F238E27FC236}">
                <a16:creationId xmlns:a16="http://schemas.microsoft.com/office/drawing/2014/main" id="{C1D7B18D-BED9-859A-2543-005E51CC72B7}"/>
              </a:ext>
            </a:extLst>
          </p:cNvPr>
          <p:cNvSpPr/>
          <p:nvPr/>
        </p:nvSpPr>
        <p:spPr>
          <a:xfrm>
            <a:off x="2770179" y="3971897"/>
            <a:ext cx="101748" cy="105316"/>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1335" bIns="91335" rtlCol="0" anchor="ctr"/>
          <a:lstStyle/>
          <a:p>
            <a:pPr marL="0" marR="0" lvl="0" indent="0" algn="ctr" defTabSz="584116" rtl="0" eaLnBrk="1" fontAlgn="auto" latinLnBrk="0" hangingPunct="1">
              <a:lnSpc>
                <a:spcPct val="100000"/>
              </a:lnSpc>
              <a:spcBef>
                <a:spcPts val="0"/>
              </a:spcBef>
              <a:spcAft>
                <a:spcPts val="0"/>
              </a:spcAft>
              <a:buClrTx/>
              <a:buSzTx/>
              <a:buFontTx/>
              <a:buNone/>
              <a:tabLst/>
              <a:defRPr/>
            </a:pPr>
            <a:endParaRPr kumimoji="0" lang="es-ES" sz="1798" b="0" i="0" u="none" strike="noStrike" kern="1200" cap="none" spc="0" normalizeH="0" baseline="0" noProof="0" err="1">
              <a:ln>
                <a:noFill/>
              </a:ln>
              <a:solidFill>
                <a:srgbClr val="FFFFFF"/>
              </a:solidFill>
              <a:effectLst/>
              <a:uLnTx/>
              <a:uFillTx/>
              <a:latin typeface="Graphik"/>
              <a:ea typeface="+mn-ea"/>
              <a:cs typeface="+mn-cs"/>
            </a:endParaRPr>
          </a:p>
        </p:txBody>
      </p:sp>
      <p:sp>
        <p:nvSpPr>
          <p:cNvPr id="81" name="Oval 80">
            <a:extLst>
              <a:ext uri="{FF2B5EF4-FFF2-40B4-BE49-F238E27FC236}">
                <a16:creationId xmlns:a16="http://schemas.microsoft.com/office/drawing/2014/main" id="{8A1CF340-B2CF-B72B-96C9-005B51A77E9A}"/>
              </a:ext>
            </a:extLst>
          </p:cNvPr>
          <p:cNvSpPr/>
          <p:nvPr/>
        </p:nvSpPr>
        <p:spPr>
          <a:xfrm>
            <a:off x="2792352" y="3965035"/>
            <a:ext cx="45667" cy="103812"/>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1335" bIns="91335" rtlCol="0" anchor="ctr"/>
          <a:lstStyle/>
          <a:p>
            <a:pPr marL="0" marR="0" lvl="0" indent="0" algn="ctr" defTabSz="584116" rtl="0" eaLnBrk="1" fontAlgn="auto" latinLnBrk="0" hangingPunct="1">
              <a:lnSpc>
                <a:spcPct val="100000"/>
              </a:lnSpc>
              <a:spcBef>
                <a:spcPts val="0"/>
              </a:spcBef>
              <a:spcAft>
                <a:spcPts val="0"/>
              </a:spcAft>
              <a:buClrTx/>
              <a:buSzTx/>
              <a:buFontTx/>
              <a:buNone/>
              <a:tabLst/>
              <a:defRPr/>
            </a:pPr>
            <a:endParaRPr kumimoji="0" lang="es-ES" sz="1798" b="0" i="0" u="none" strike="noStrike" kern="1200" cap="none" spc="0" normalizeH="0" baseline="0" noProof="0" err="1">
              <a:ln>
                <a:noFill/>
              </a:ln>
              <a:solidFill>
                <a:srgbClr val="FFFFFF"/>
              </a:solidFill>
              <a:effectLst/>
              <a:uLnTx/>
              <a:uFillTx/>
              <a:latin typeface="Graphik"/>
              <a:ea typeface="+mn-ea"/>
              <a:cs typeface="+mn-cs"/>
            </a:endParaRPr>
          </a:p>
        </p:txBody>
      </p:sp>
      <p:pic>
        <p:nvPicPr>
          <p:cNvPr id="82" name="Picture 81">
            <a:extLst>
              <a:ext uri="{FF2B5EF4-FFF2-40B4-BE49-F238E27FC236}">
                <a16:creationId xmlns:a16="http://schemas.microsoft.com/office/drawing/2014/main" id="{1609A540-B722-A2CB-7CC4-0896358508CA}"/>
              </a:ext>
            </a:extLst>
          </p:cNvPr>
          <p:cNvPicPr>
            <a:picLocks noChangeAspect="1"/>
          </p:cNvPicPr>
          <p:nvPr/>
        </p:nvPicPr>
        <p:blipFill>
          <a:blip r:embed="rId4"/>
          <a:stretch>
            <a:fillRect/>
          </a:stretch>
        </p:blipFill>
        <p:spPr>
          <a:xfrm>
            <a:off x="3373420" y="2015230"/>
            <a:ext cx="5550637" cy="3545035"/>
          </a:xfrm>
          <a:prstGeom prst="rect">
            <a:avLst/>
          </a:prstGeom>
        </p:spPr>
      </p:pic>
      <p:cxnSp>
        <p:nvCxnSpPr>
          <p:cNvPr id="83" name="Connector: Elbow 82">
            <a:extLst>
              <a:ext uri="{FF2B5EF4-FFF2-40B4-BE49-F238E27FC236}">
                <a16:creationId xmlns:a16="http://schemas.microsoft.com/office/drawing/2014/main" id="{07E849A0-62DF-0DE5-3EF9-01667EC97D17}"/>
              </a:ext>
            </a:extLst>
          </p:cNvPr>
          <p:cNvCxnSpPr>
            <a:cxnSpLocks/>
          </p:cNvCxnSpPr>
          <p:nvPr/>
        </p:nvCxnSpPr>
        <p:spPr>
          <a:xfrm>
            <a:off x="2474781" y="1825580"/>
            <a:ext cx="2363919" cy="174973"/>
          </a:xfrm>
          <a:prstGeom prst="bentConnector3">
            <a:avLst>
              <a:gd name="adj1" fmla="val 50000"/>
            </a:avLst>
          </a:prstGeom>
          <a:ln w="28575">
            <a:solidFill>
              <a:srgbClr val="FF3246"/>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84" name="Connector: Elbow 83">
            <a:extLst>
              <a:ext uri="{FF2B5EF4-FFF2-40B4-BE49-F238E27FC236}">
                <a16:creationId xmlns:a16="http://schemas.microsoft.com/office/drawing/2014/main" id="{43D2D590-5656-AFDE-A3D9-080310920A65}"/>
              </a:ext>
            </a:extLst>
          </p:cNvPr>
          <p:cNvCxnSpPr>
            <a:cxnSpLocks/>
          </p:cNvCxnSpPr>
          <p:nvPr/>
        </p:nvCxnSpPr>
        <p:spPr>
          <a:xfrm flipV="1">
            <a:off x="2814862" y="3542267"/>
            <a:ext cx="2282761" cy="482288"/>
          </a:xfrm>
          <a:prstGeom prst="bentConnector3">
            <a:avLst>
              <a:gd name="adj1" fmla="val 50000"/>
            </a:avLst>
          </a:prstGeom>
          <a:ln w="28575">
            <a:solidFill>
              <a:srgbClr val="FF3246"/>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85" name="Connector: Elbow 84">
            <a:extLst>
              <a:ext uri="{FF2B5EF4-FFF2-40B4-BE49-F238E27FC236}">
                <a16:creationId xmlns:a16="http://schemas.microsoft.com/office/drawing/2014/main" id="{45B6D2A1-E65A-B25E-4F32-1BC438A685BB}"/>
              </a:ext>
            </a:extLst>
          </p:cNvPr>
          <p:cNvCxnSpPr>
            <a:cxnSpLocks/>
          </p:cNvCxnSpPr>
          <p:nvPr/>
        </p:nvCxnSpPr>
        <p:spPr>
          <a:xfrm flipV="1">
            <a:off x="2474571" y="2770709"/>
            <a:ext cx="912837" cy="57482"/>
          </a:xfrm>
          <a:prstGeom prst="bentConnector3">
            <a:avLst>
              <a:gd name="adj1" fmla="val 50000"/>
            </a:avLst>
          </a:prstGeom>
          <a:ln w="28575">
            <a:solidFill>
              <a:srgbClr val="FF3246"/>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880507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82743D-A9EB-BB47-FC8B-9CBA25DE2166}"/>
            </a:ext>
          </a:extLst>
        </p:cNvPr>
        <p:cNvGrpSpPr/>
        <p:nvPr/>
      </p:nvGrpSpPr>
      <p:grpSpPr>
        <a:xfrm>
          <a:off x="0" y="0"/>
          <a:ext cx="0" cy="0"/>
          <a:chOff x="0" y="0"/>
          <a:chExt cx="0" cy="0"/>
        </a:xfrm>
      </p:grpSpPr>
      <p:sp>
        <p:nvSpPr>
          <p:cNvPr id="11" name="Title 1">
            <a:extLst>
              <a:ext uri="{FF2B5EF4-FFF2-40B4-BE49-F238E27FC236}">
                <a16:creationId xmlns:a16="http://schemas.microsoft.com/office/drawing/2014/main" id="{E27A8107-D50D-2913-4486-B489CE76B2D7}"/>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a:ln>
                  <a:noFill/>
                </a:ln>
                <a:solidFill>
                  <a:srgbClr val="7500C0"/>
                </a:solidFill>
                <a:effectLst/>
                <a:uLnTx/>
                <a:uFillTx/>
                <a:latin typeface="Graphik"/>
                <a:ea typeface="+mj-ea"/>
                <a:cs typeface="+mj-cs"/>
              </a:rPr>
              <a:t>Modernización del legado y banco del futuro</a:t>
            </a:r>
          </a:p>
        </p:txBody>
      </p:sp>
      <p:sp>
        <p:nvSpPr>
          <p:cNvPr id="16" name="Footer Placeholder 2">
            <a:extLst>
              <a:ext uri="{FF2B5EF4-FFF2-40B4-BE49-F238E27FC236}">
                <a16:creationId xmlns:a16="http://schemas.microsoft.com/office/drawing/2014/main" id="{81D84C92-CD89-7580-D1B5-59C04281A76F}"/>
              </a:ext>
            </a:extLst>
          </p:cNvPr>
          <p:cNvSpPr>
            <a:spLocks noGrp="1"/>
          </p:cNvSpPr>
          <p:nvPr>
            <p:ph type="ftr" sz="quarter" idx="3"/>
          </p:nvPr>
        </p:nvSpPr>
        <p:spPr>
          <a:xfrm>
            <a:off x="8908942" y="6617127"/>
            <a:ext cx="3175200" cy="132523"/>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alpha val="65000"/>
                  </a:srgbClr>
                </a:solidFill>
                <a:effectLst/>
                <a:uLnTx/>
                <a:uFillTx/>
                <a:latin typeface="Graphik"/>
                <a:ea typeface="+mn-ea"/>
                <a:cs typeface="+mn-cs"/>
              </a:rPr>
              <a:t>Copyright © 2025 Accenture. Todos los derechos reservados.</a:t>
            </a:r>
          </a:p>
        </p:txBody>
      </p:sp>
      <p:sp>
        <p:nvSpPr>
          <p:cNvPr id="4" name="Text Placeholder 1">
            <a:extLst>
              <a:ext uri="{FF2B5EF4-FFF2-40B4-BE49-F238E27FC236}">
                <a16:creationId xmlns:a16="http://schemas.microsoft.com/office/drawing/2014/main" id="{7B581C34-F2CE-16FA-494E-70C76A087FE1}"/>
              </a:ext>
            </a:extLst>
          </p:cNvPr>
          <p:cNvSpPr txBox="1">
            <a:spLocks/>
          </p:cNvSpPr>
          <p:nvPr/>
        </p:nvSpPr>
        <p:spPr>
          <a:xfrm>
            <a:off x="304800" y="674264"/>
            <a:ext cx="11522004" cy="288925"/>
          </a:xfrm>
          <a:prstGeom prst="rect">
            <a:avLst/>
          </a:prstGeom>
        </p:spPr>
        <p:txBody>
          <a:bodyPr/>
          <a:lstStyle>
            <a:lvl1pPr marL="0" indent="0" algn="l" defTabSz="228600" rtl="0" eaLnBrk="1" latinLnBrk="0" hangingPunct="1">
              <a:lnSpc>
                <a:spcPct val="100000"/>
              </a:lnSpc>
              <a:spcBef>
                <a:spcPts val="0"/>
              </a:spcBef>
              <a:spcAft>
                <a:spcPts val="600"/>
              </a:spcAft>
              <a:buFont typeface="Arial" panose="020B0604020202020204" pitchFamily="34" charset="0"/>
              <a:buNone/>
              <a:defRPr sz="1800" b="0" kern="1200">
                <a:solidFill>
                  <a:schemeClr val="tx1"/>
                </a:solidFill>
                <a:latin typeface="+mn-lt"/>
                <a:ea typeface="+mn-ea"/>
                <a:cs typeface="+mn-cs"/>
              </a:defRPr>
            </a:lvl1pPr>
            <a:lvl2pPr marL="182563" indent="-182563" algn="l" defTabSz="228600" rtl="0" eaLnBrk="1" latinLnBrk="0" hangingPunct="1">
              <a:lnSpc>
                <a:spcPct val="100000"/>
              </a:lnSpc>
              <a:spcBef>
                <a:spcPts val="0"/>
              </a:spcBef>
              <a:spcAft>
                <a:spcPts val="600"/>
              </a:spcAft>
              <a:buClrTx/>
              <a:buFont typeface="Arial" panose="020B0604020202020204" pitchFamily="34" charset="0"/>
              <a:buChar char="•"/>
              <a:defRPr sz="1800" kern="1200">
                <a:solidFill>
                  <a:schemeClr val="tx1"/>
                </a:solidFill>
                <a:latin typeface="+mn-lt"/>
                <a:ea typeface="+mn-ea"/>
                <a:cs typeface="+mn-cs"/>
              </a:defRPr>
            </a:lvl2pPr>
            <a:lvl3pPr marL="355600" indent="-173038" algn="l" defTabSz="228600" rtl="0" eaLnBrk="1" latinLnBrk="0" hangingPunct="1">
              <a:lnSpc>
                <a:spcPct val="100000"/>
              </a:lnSpc>
              <a:spcBef>
                <a:spcPts val="0"/>
              </a:spcBef>
              <a:spcAft>
                <a:spcPts val="600"/>
              </a:spcAft>
              <a:buFont typeface="System Font"/>
              <a:buChar char="–"/>
              <a:defRPr sz="1800" kern="1200">
                <a:solidFill>
                  <a:schemeClr val="tx1"/>
                </a:solidFill>
                <a:latin typeface="+mn-lt"/>
                <a:ea typeface="+mn-ea"/>
                <a:cs typeface="+mn-cs"/>
              </a:defRPr>
            </a:lvl3pPr>
            <a:lvl4pPr marL="538163" indent="-182563" algn="l" defTabSz="2286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4pPr>
            <a:lvl5pPr marL="720725" indent="-182563" algn="l" defTabSz="228600" rtl="0" eaLnBrk="1" latinLnBrk="0" hangingPunct="1">
              <a:lnSpc>
                <a:spcPct val="100000"/>
              </a:lnSpc>
              <a:spcBef>
                <a:spcPts val="0"/>
              </a:spcBef>
              <a:spcAft>
                <a:spcPts val="600"/>
              </a:spcAft>
              <a:buFont typeface="System Font"/>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12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12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12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1200"/>
              </a:spcAft>
              <a:buFont typeface="Arial" panose="020B0604020202020204" pitchFamily="34" charset="0"/>
              <a:buNone/>
              <a:defRPr sz="800" kern="1200">
                <a:solidFill>
                  <a:schemeClr val="tx2"/>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s" sz="1600" b="1" i="0" u="none" strike="noStrike" kern="1200" cap="none" spc="0" normalizeH="0" baseline="0" noProof="0">
                <a:ln>
                  <a:noFill/>
                </a:ln>
                <a:solidFill>
                  <a:srgbClr val="7500C0"/>
                </a:solidFill>
                <a:effectLst/>
                <a:uLnTx/>
                <a:uFillTx/>
                <a:latin typeface="Graphik" panose="020B0503030202060203" pitchFamily="34" charset="0"/>
                <a:ea typeface="+mn-ea"/>
                <a:cs typeface="+mn-cs"/>
              </a:rPr>
              <a:t>Modernización de la Arquitectura Tecnológica - Coexistencia </a:t>
            </a:r>
            <a:r>
              <a:rPr kumimoji="0" lang="es" sz="1350" b="1" i="0" u="none" strike="noStrike" kern="1200" cap="none" spc="0" normalizeH="0" baseline="0" noProof="0">
                <a:ln>
                  <a:noFill/>
                </a:ln>
                <a:solidFill>
                  <a:srgbClr val="7500C0"/>
                </a:solidFill>
                <a:effectLst/>
                <a:uLnTx/>
                <a:uFillTx/>
                <a:latin typeface="Graphik" panose="020B0503030202060203" pitchFamily="34" charset="0"/>
                <a:ea typeface="+mn-ea"/>
                <a:cs typeface="+mn-cs"/>
              </a:rPr>
              <a:t>(Motores de productos cruzados e integridad transaccional)</a:t>
            </a:r>
          </a:p>
        </p:txBody>
      </p:sp>
      <p:sp>
        <p:nvSpPr>
          <p:cNvPr id="3" name="Rectangle 2">
            <a:extLst>
              <a:ext uri="{FF2B5EF4-FFF2-40B4-BE49-F238E27FC236}">
                <a16:creationId xmlns:a16="http://schemas.microsoft.com/office/drawing/2014/main" id="{505BA973-4928-2DC1-C030-6965D1ACDE35}"/>
              </a:ext>
            </a:extLst>
          </p:cNvPr>
          <p:cNvSpPr/>
          <p:nvPr/>
        </p:nvSpPr>
        <p:spPr>
          <a:xfrm>
            <a:off x="0" y="1690359"/>
            <a:ext cx="12191999" cy="1224000"/>
          </a:xfrm>
          <a:prstGeom prst="rect">
            <a:avLst/>
          </a:prstGeom>
          <a:blipFill>
            <a:blip r:embed="rId2"/>
            <a:stretch>
              <a:fillRect/>
            </a:stretch>
          </a:blipFill>
          <a:ln w="12700" cap="flat" cmpd="sng" algn="ctr">
            <a:noFill/>
            <a:prstDash val="solid"/>
            <a:miter lim="800000"/>
          </a:ln>
          <a:effectLst/>
        </p:spPr>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0" cap="none" spc="0" normalizeH="0" baseline="0" noProof="0">
              <a:ln>
                <a:noFill/>
              </a:ln>
              <a:solidFill>
                <a:srgbClr val="FFFFFF"/>
              </a:solidFill>
              <a:effectLst/>
              <a:uLnTx/>
              <a:uFillTx/>
              <a:latin typeface="Graphik"/>
              <a:ea typeface="+mn-ea"/>
              <a:cs typeface="+mn-cs"/>
            </a:endParaRPr>
          </a:p>
        </p:txBody>
      </p:sp>
      <p:sp>
        <p:nvSpPr>
          <p:cNvPr id="6" name="Text Placeholder 3">
            <a:extLst>
              <a:ext uri="{FF2B5EF4-FFF2-40B4-BE49-F238E27FC236}">
                <a16:creationId xmlns:a16="http://schemas.microsoft.com/office/drawing/2014/main" id="{64BF129C-2DB6-9BCB-B302-4D8F58D33EB4}"/>
              </a:ext>
            </a:extLst>
          </p:cNvPr>
          <p:cNvSpPr txBox="1">
            <a:spLocks/>
          </p:cNvSpPr>
          <p:nvPr/>
        </p:nvSpPr>
        <p:spPr>
          <a:xfrm>
            <a:off x="323572" y="1017924"/>
            <a:ext cx="11430000" cy="1169423"/>
          </a:xfrm>
          <a:prstGeom prst="rect">
            <a:avLst/>
          </a:prstGeom>
        </p:spPr>
        <p:txBody>
          <a:bodyPr/>
          <a:lstStyle>
            <a:lvl1pPr marL="228600" indent="-228600" algn="l" defTabSz="228600" rtl="0" eaLnBrk="1" latinLnBrk="0" hangingPunct="1">
              <a:lnSpc>
                <a:spcPct val="100000"/>
              </a:lnSpc>
              <a:spcBef>
                <a:spcPts val="0"/>
              </a:spcBef>
              <a:spcAft>
                <a:spcPts val="600"/>
              </a:spcAft>
              <a:buFont typeface="Graphik"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Graphik"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Graphik"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Graphik"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Graphik"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Graphik"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Graphik"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Graphik" panose="020B0604020202020204" pitchFamily="34" charset="0"/>
              <a:buNone/>
              <a:defRPr sz="800" kern="1200">
                <a:solidFill>
                  <a:schemeClr val="tx2"/>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600"/>
              </a:spcAft>
              <a:buClrTx/>
              <a:buSzTx/>
              <a:buFont typeface="Graphik" panose="020B0604020202020204" pitchFamily="34" charset="0"/>
              <a:buNone/>
              <a:tabLst/>
              <a:defRPr/>
            </a:pPr>
            <a:r>
              <a:rPr kumimoji="0" lang="es" sz="1400" b="0" i="0" u="none" strike="noStrike" kern="1200" cap="none" spc="0" normalizeH="0" baseline="0" noProof="0">
                <a:ln>
                  <a:noFill/>
                </a:ln>
                <a:solidFill>
                  <a:srgbClr val="000000"/>
                </a:solidFill>
                <a:effectLst/>
                <a:uLnTx/>
                <a:uFillTx/>
                <a:latin typeface="Graphik"/>
                <a:ea typeface="+mn-ea"/>
                <a:cs typeface="+mn-cs"/>
              </a:rPr>
              <a:t>Una vista arquitectónica integral de extremo a extremo permite una integración fluida entre sistemas, reduce la complejidad y garantiza una estrategia de modernización coherente que apoya el crecimiento futuro.</a:t>
            </a:r>
          </a:p>
        </p:txBody>
      </p:sp>
      <p:sp>
        <p:nvSpPr>
          <p:cNvPr id="7" name="TextBox 6">
            <a:extLst>
              <a:ext uri="{FF2B5EF4-FFF2-40B4-BE49-F238E27FC236}">
                <a16:creationId xmlns:a16="http://schemas.microsoft.com/office/drawing/2014/main" id="{5CB0A7F1-4FDF-A6AE-2921-6A4788A303FD}"/>
              </a:ext>
            </a:extLst>
          </p:cNvPr>
          <p:cNvSpPr txBox="1"/>
          <p:nvPr/>
        </p:nvSpPr>
        <p:spPr>
          <a:xfrm>
            <a:off x="380999" y="2201154"/>
            <a:ext cx="6148277" cy="646331"/>
          </a:xfrm>
          <a:prstGeom prst="rect">
            <a:avLst/>
          </a:prstGeom>
          <a:noFill/>
        </p:spPr>
        <p:txBody>
          <a:bodyPr wrap="square" lIns="0">
            <a:spAutoFit/>
          </a:bodyPr>
          <a:lstStyle/>
          <a:p>
            <a:pPr marL="0" marR="0" lvl="0" indent="0" algn="l" defTabSz="914400" rtl="0" eaLnBrk="1" fontAlgn="auto" latinLnBrk="0" hangingPunct="1">
              <a:lnSpc>
                <a:spcPct val="100000"/>
              </a:lnSpc>
              <a:spcBef>
                <a:spcPts val="600"/>
              </a:spcBef>
              <a:spcAft>
                <a:spcPts val="600"/>
              </a:spcAft>
              <a:buClrTx/>
              <a:buSzTx/>
              <a:buFontTx/>
              <a:buNone/>
              <a:tabLst/>
              <a:defRPr/>
            </a:pPr>
            <a:r>
              <a:rPr kumimoji="0" lang="es" sz="1200" b="0" i="0" u="none" strike="noStrike" kern="1200" cap="none" spc="0" normalizeH="0" baseline="0" noProof="0">
                <a:ln>
                  <a:noFill/>
                </a:ln>
                <a:solidFill>
                  <a:srgbClr val="FFFFFF"/>
                </a:solidFill>
                <a:effectLst/>
                <a:uLnTx/>
                <a:uFillTx/>
                <a:latin typeface="Graphik Light" panose="020B0403030202060203" pitchFamily="34" charset="0"/>
                <a:ea typeface="+mn-ea"/>
                <a:cs typeface="+mn-cs"/>
              </a:rPr>
              <a:t>Los servicios de coexistencia permitirán evolucionar gradualmente la arquitectura, pivotando en cualquier momento. La convivencia será estructural facilitando un ecosistema orientado y componible de enfoque empresarial.</a:t>
            </a:r>
            <a:endParaRPr kumimoji="0" lang="en-IE" sz="1200" b="0" i="0" u="none" strike="noStrike" kern="1200" cap="none" spc="0" normalizeH="0" baseline="0" noProof="0">
              <a:ln>
                <a:noFill/>
              </a:ln>
              <a:solidFill>
                <a:srgbClr val="FFFFFF"/>
              </a:solidFill>
              <a:effectLst/>
              <a:uLnTx/>
              <a:uFillTx/>
              <a:latin typeface="Graphik Light" panose="020B0403030202060203" pitchFamily="34" charset="0"/>
              <a:ea typeface="+mn-ea"/>
              <a:cs typeface="+mn-cs"/>
            </a:endParaRPr>
          </a:p>
        </p:txBody>
      </p:sp>
      <p:sp>
        <p:nvSpPr>
          <p:cNvPr id="13" name="Rectangle 12">
            <a:extLst>
              <a:ext uri="{FF2B5EF4-FFF2-40B4-BE49-F238E27FC236}">
                <a16:creationId xmlns:a16="http://schemas.microsoft.com/office/drawing/2014/main" id="{901E092C-7191-4494-F906-59BA8264F1BD}"/>
              </a:ext>
            </a:extLst>
          </p:cNvPr>
          <p:cNvSpPr/>
          <p:nvPr/>
        </p:nvSpPr>
        <p:spPr>
          <a:xfrm>
            <a:off x="959117" y="1803787"/>
            <a:ext cx="3455088" cy="3693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91440" bIns="9144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1600" b="1" i="0" u="none" strike="noStrike" kern="1200" cap="none" spc="0" normalizeH="0" baseline="0" noProof="0">
                <a:ln>
                  <a:noFill/>
                </a:ln>
                <a:solidFill>
                  <a:srgbClr val="FFFFFF"/>
                </a:solidFill>
                <a:effectLst/>
                <a:uLnTx/>
                <a:uFillTx/>
                <a:latin typeface="Graphik Semibold" panose="020B0703030202060203" pitchFamily="34" charset="0"/>
                <a:ea typeface="+mn-ea"/>
                <a:cs typeface="+mn-cs"/>
              </a:rPr>
              <a:t>Coexistencia Lógica</a:t>
            </a:r>
          </a:p>
        </p:txBody>
      </p:sp>
      <p:sp>
        <p:nvSpPr>
          <p:cNvPr id="14" name="Freeform 73">
            <a:extLst>
              <a:ext uri="{FF2B5EF4-FFF2-40B4-BE49-F238E27FC236}">
                <a16:creationId xmlns:a16="http://schemas.microsoft.com/office/drawing/2014/main" id="{BA97192B-1B62-1A3E-B67D-64ED3ECE1CD6}"/>
              </a:ext>
            </a:extLst>
          </p:cNvPr>
          <p:cNvSpPr>
            <a:spLocks/>
          </p:cNvSpPr>
          <p:nvPr/>
        </p:nvSpPr>
        <p:spPr bwMode="auto">
          <a:xfrm>
            <a:off x="385745" y="1855776"/>
            <a:ext cx="490202" cy="244528"/>
          </a:xfrm>
          <a:custGeom>
            <a:avLst/>
            <a:gdLst>
              <a:gd name="T0" fmla="*/ 216 w 288"/>
              <a:gd name="T1" fmla="*/ 144 h 144"/>
              <a:gd name="T2" fmla="*/ 151 w 288"/>
              <a:gd name="T3" fmla="*/ 105 h 144"/>
              <a:gd name="T4" fmla="*/ 153 w 288"/>
              <a:gd name="T5" fmla="*/ 97 h 144"/>
              <a:gd name="T6" fmla="*/ 161 w 288"/>
              <a:gd name="T7" fmla="*/ 99 h 144"/>
              <a:gd name="T8" fmla="*/ 161 w 288"/>
              <a:gd name="T9" fmla="*/ 99 h 144"/>
              <a:gd name="T10" fmla="*/ 216 w 288"/>
              <a:gd name="T11" fmla="*/ 132 h 144"/>
              <a:gd name="T12" fmla="*/ 276 w 288"/>
              <a:gd name="T13" fmla="*/ 72 h 144"/>
              <a:gd name="T14" fmla="*/ 216 w 288"/>
              <a:gd name="T15" fmla="*/ 12 h 144"/>
              <a:gd name="T16" fmla="*/ 149 w 288"/>
              <a:gd name="T17" fmla="*/ 75 h 144"/>
              <a:gd name="T18" fmla="*/ 72 w 288"/>
              <a:gd name="T19" fmla="*/ 144 h 144"/>
              <a:gd name="T20" fmla="*/ 0 w 288"/>
              <a:gd name="T21" fmla="*/ 72 h 144"/>
              <a:gd name="T22" fmla="*/ 72 w 288"/>
              <a:gd name="T23" fmla="*/ 0 h 144"/>
              <a:gd name="T24" fmla="*/ 132 w 288"/>
              <a:gd name="T25" fmla="*/ 45 h 144"/>
              <a:gd name="T26" fmla="*/ 128 w 288"/>
              <a:gd name="T27" fmla="*/ 53 h 144"/>
              <a:gd name="T28" fmla="*/ 121 w 288"/>
              <a:gd name="T29" fmla="*/ 50 h 144"/>
              <a:gd name="T30" fmla="*/ 72 w 288"/>
              <a:gd name="T31" fmla="*/ 12 h 144"/>
              <a:gd name="T32" fmla="*/ 12 w 288"/>
              <a:gd name="T33" fmla="*/ 72 h 144"/>
              <a:gd name="T34" fmla="*/ 72 w 288"/>
              <a:gd name="T35" fmla="*/ 132 h 144"/>
              <a:gd name="T36" fmla="*/ 139 w 288"/>
              <a:gd name="T37" fmla="*/ 69 h 144"/>
              <a:gd name="T38" fmla="*/ 216 w 288"/>
              <a:gd name="T39" fmla="*/ 0 h 144"/>
              <a:gd name="T40" fmla="*/ 288 w 288"/>
              <a:gd name="T41" fmla="*/ 72 h 144"/>
              <a:gd name="T42" fmla="*/ 216 w 288"/>
              <a:gd name="T43" fmla="*/ 144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88" h="144">
                <a:moveTo>
                  <a:pt x="216" y="144"/>
                </a:moveTo>
                <a:cubicBezTo>
                  <a:pt x="177" y="144"/>
                  <a:pt x="152" y="107"/>
                  <a:pt x="151" y="105"/>
                </a:cubicBezTo>
                <a:cubicBezTo>
                  <a:pt x="149" y="102"/>
                  <a:pt x="150" y="99"/>
                  <a:pt x="153" y="97"/>
                </a:cubicBezTo>
                <a:cubicBezTo>
                  <a:pt x="155" y="95"/>
                  <a:pt x="159" y="96"/>
                  <a:pt x="161" y="99"/>
                </a:cubicBezTo>
                <a:cubicBezTo>
                  <a:pt x="161" y="99"/>
                  <a:pt x="161" y="99"/>
                  <a:pt x="161" y="99"/>
                </a:cubicBezTo>
                <a:cubicBezTo>
                  <a:pt x="161" y="99"/>
                  <a:pt x="184" y="132"/>
                  <a:pt x="216" y="132"/>
                </a:cubicBezTo>
                <a:cubicBezTo>
                  <a:pt x="249" y="132"/>
                  <a:pt x="276" y="105"/>
                  <a:pt x="276" y="72"/>
                </a:cubicBezTo>
                <a:cubicBezTo>
                  <a:pt x="276" y="39"/>
                  <a:pt x="249" y="12"/>
                  <a:pt x="216" y="12"/>
                </a:cubicBezTo>
                <a:cubicBezTo>
                  <a:pt x="189" y="12"/>
                  <a:pt x="169" y="44"/>
                  <a:pt x="149" y="75"/>
                </a:cubicBezTo>
                <a:cubicBezTo>
                  <a:pt x="128" y="109"/>
                  <a:pt x="105" y="144"/>
                  <a:pt x="72" y="144"/>
                </a:cubicBezTo>
                <a:cubicBezTo>
                  <a:pt x="32" y="144"/>
                  <a:pt x="0" y="112"/>
                  <a:pt x="0" y="72"/>
                </a:cubicBezTo>
                <a:cubicBezTo>
                  <a:pt x="0" y="32"/>
                  <a:pt x="32" y="0"/>
                  <a:pt x="72" y="0"/>
                </a:cubicBezTo>
                <a:cubicBezTo>
                  <a:pt x="112" y="0"/>
                  <a:pt x="131" y="44"/>
                  <a:pt x="132" y="45"/>
                </a:cubicBezTo>
                <a:cubicBezTo>
                  <a:pt x="133" y="49"/>
                  <a:pt x="131" y="52"/>
                  <a:pt x="128" y="53"/>
                </a:cubicBezTo>
                <a:cubicBezTo>
                  <a:pt x="125" y="55"/>
                  <a:pt x="122" y="53"/>
                  <a:pt x="121" y="50"/>
                </a:cubicBezTo>
                <a:cubicBezTo>
                  <a:pt x="120" y="50"/>
                  <a:pt x="104" y="12"/>
                  <a:pt x="72" y="12"/>
                </a:cubicBezTo>
                <a:cubicBezTo>
                  <a:pt x="39" y="12"/>
                  <a:pt x="12" y="39"/>
                  <a:pt x="12" y="72"/>
                </a:cubicBezTo>
                <a:cubicBezTo>
                  <a:pt x="12" y="105"/>
                  <a:pt x="39" y="132"/>
                  <a:pt x="72" y="132"/>
                </a:cubicBezTo>
                <a:cubicBezTo>
                  <a:pt x="99" y="132"/>
                  <a:pt x="119" y="100"/>
                  <a:pt x="139" y="69"/>
                </a:cubicBezTo>
                <a:cubicBezTo>
                  <a:pt x="160" y="35"/>
                  <a:pt x="183" y="0"/>
                  <a:pt x="216" y="0"/>
                </a:cubicBezTo>
                <a:cubicBezTo>
                  <a:pt x="256" y="0"/>
                  <a:pt x="288" y="32"/>
                  <a:pt x="288" y="72"/>
                </a:cubicBezTo>
                <a:cubicBezTo>
                  <a:pt x="288" y="112"/>
                  <a:pt x="256" y="144"/>
                  <a:pt x="216" y="144"/>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96968C"/>
              </a:solidFill>
              <a:effectLst/>
              <a:uLnTx/>
              <a:uFillTx/>
              <a:latin typeface="Graphik"/>
              <a:ea typeface="+mn-ea"/>
              <a:cs typeface="Arial" charset="0"/>
            </a:endParaRPr>
          </a:p>
        </p:txBody>
      </p:sp>
      <p:sp>
        <p:nvSpPr>
          <p:cNvPr id="17" name="TextBox 16">
            <a:extLst>
              <a:ext uri="{FF2B5EF4-FFF2-40B4-BE49-F238E27FC236}">
                <a16:creationId xmlns:a16="http://schemas.microsoft.com/office/drawing/2014/main" id="{040852C9-6570-468A-B7E0-9DCE296AFFE0}"/>
              </a:ext>
            </a:extLst>
          </p:cNvPr>
          <p:cNvSpPr txBox="1"/>
          <p:nvPr/>
        </p:nvSpPr>
        <p:spPr>
          <a:xfrm>
            <a:off x="6919484" y="2201154"/>
            <a:ext cx="4891517" cy="646331"/>
          </a:xfrm>
          <a:prstGeom prst="rect">
            <a:avLst/>
          </a:prstGeom>
          <a:noFill/>
        </p:spPr>
        <p:txBody>
          <a:bodyPr wrap="square" lIns="0">
            <a:spAutoFit/>
          </a:bodyPr>
          <a:lstStyle/>
          <a:p>
            <a:pPr marL="0" marR="0" lvl="0" indent="0" algn="l" defTabSz="914400" rtl="0" eaLnBrk="1" fontAlgn="auto" latinLnBrk="0" hangingPunct="1">
              <a:lnSpc>
                <a:spcPct val="100000"/>
              </a:lnSpc>
              <a:spcBef>
                <a:spcPts val="600"/>
              </a:spcBef>
              <a:spcAft>
                <a:spcPts val="600"/>
              </a:spcAft>
              <a:buClrTx/>
              <a:buSzTx/>
              <a:buFontTx/>
              <a:buNone/>
              <a:tabLst/>
              <a:defRPr/>
            </a:pPr>
            <a:r>
              <a:rPr kumimoji="0" lang="es" sz="1200" b="0" i="0" u="none" strike="noStrike" kern="1200" cap="none" spc="0" normalizeH="0" baseline="0" noProof="0">
                <a:ln>
                  <a:noFill/>
                </a:ln>
                <a:solidFill>
                  <a:srgbClr val="FFFFFF"/>
                </a:solidFill>
                <a:effectLst/>
                <a:uLnTx/>
                <a:uFillTx/>
                <a:latin typeface="Graphik Light" panose="020B0403030202060203" pitchFamily="34" charset="0"/>
                <a:ea typeface="+mn-ea"/>
                <a:cs typeface="+mn-cs"/>
              </a:rPr>
              <a:t>La coexistencia técnica es un conjunto de facilitadores que apoyan los servicios de desacoplamiento e integración, así como los servicios de coexistencia </a:t>
            </a:r>
          </a:p>
        </p:txBody>
      </p:sp>
      <p:grpSp>
        <p:nvGrpSpPr>
          <p:cNvPr id="18" name="Group 17">
            <a:extLst>
              <a:ext uri="{FF2B5EF4-FFF2-40B4-BE49-F238E27FC236}">
                <a16:creationId xmlns:a16="http://schemas.microsoft.com/office/drawing/2014/main" id="{378D6DCC-294E-321A-4C9E-E695E529F505}"/>
              </a:ext>
            </a:extLst>
          </p:cNvPr>
          <p:cNvGrpSpPr/>
          <p:nvPr/>
        </p:nvGrpSpPr>
        <p:grpSpPr>
          <a:xfrm>
            <a:off x="6944047" y="1772716"/>
            <a:ext cx="4685974" cy="400403"/>
            <a:chOff x="7336427" y="1772716"/>
            <a:chExt cx="4685974" cy="400403"/>
          </a:xfrm>
        </p:grpSpPr>
        <p:grpSp>
          <p:nvGrpSpPr>
            <p:cNvPr id="20" name="Group 242">
              <a:extLst>
                <a:ext uri="{FF2B5EF4-FFF2-40B4-BE49-F238E27FC236}">
                  <a16:creationId xmlns:a16="http://schemas.microsoft.com/office/drawing/2014/main" id="{EF32896C-8DD6-A9FF-CAD6-A91E8E437FE5}"/>
                </a:ext>
              </a:extLst>
            </p:cNvPr>
            <p:cNvGrpSpPr>
              <a:grpSpLocks noChangeAspect="1"/>
            </p:cNvGrpSpPr>
            <p:nvPr/>
          </p:nvGrpSpPr>
          <p:grpSpPr bwMode="auto">
            <a:xfrm>
              <a:off x="7336427" y="1772716"/>
              <a:ext cx="384185" cy="385083"/>
              <a:chOff x="4478" y="440"/>
              <a:chExt cx="426" cy="427"/>
            </a:xfrm>
            <a:solidFill>
              <a:schemeClr val="bg1"/>
            </a:solidFill>
          </p:grpSpPr>
          <p:sp>
            <p:nvSpPr>
              <p:cNvPr id="23" name="Freeform 243">
                <a:extLst>
                  <a:ext uri="{FF2B5EF4-FFF2-40B4-BE49-F238E27FC236}">
                    <a16:creationId xmlns:a16="http://schemas.microsoft.com/office/drawing/2014/main" id="{33951A2B-DB2C-6C24-1287-F4057114FE4C}"/>
                  </a:ext>
                </a:extLst>
              </p:cNvPr>
              <p:cNvSpPr>
                <a:spLocks noEditPoints="1"/>
              </p:cNvSpPr>
              <p:nvPr/>
            </p:nvSpPr>
            <p:spPr bwMode="auto">
              <a:xfrm>
                <a:off x="4549" y="440"/>
                <a:ext cx="284" cy="284"/>
              </a:xfrm>
              <a:custGeom>
                <a:avLst/>
                <a:gdLst>
                  <a:gd name="T0" fmla="*/ 96 w 192"/>
                  <a:gd name="T1" fmla="*/ 192 h 192"/>
                  <a:gd name="T2" fmla="*/ 0 w 192"/>
                  <a:gd name="T3" fmla="*/ 96 h 192"/>
                  <a:gd name="T4" fmla="*/ 96 w 192"/>
                  <a:gd name="T5" fmla="*/ 0 h 192"/>
                  <a:gd name="T6" fmla="*/ 192 w 192"/>
                  <a:gd name="T7" fmla="*/ 96 h 192"/>
                  <a:gd name="T8" fmla="*/ 96 w 192"/>
                  <a:gd name="T9" fmla="*/ 192 h 192"/>
                  <a:gd name="T10" fmla="*/ 96 w 192"/>
                  <a:gd name="T11" fmla="*/ 12 h 192"/>
                  <a:gd name="T12" fmla="*/ 12 w 192"/>
                  <a:gd name="T13" fmla="*/ 96 h 192"/>
                  <a:gd name="T14" fmla="*/ 96 w 192"/>
                  <a:gd name="T15" fmla="*/ 180 h 192"/>
                  <a:gd name="T16" fmla="*/ 180 w 192"/>
                  <a:gd name="T17" fmla="*/ 96 h 192"/>
                  <a:gd name="T18" fmla="*/ 96 w 192"/>
                  <a:gd name="T19" fmla="*/ 12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2" h="192">
                    <a:moveTo>
                      <a:pt x="96" y="192"/>
                    </a:moveTo>
                    <a:cubicBezTo>
                      <a:pt x="43" y="192"/>
                      <a:pt x="0" y="149"/>
                      <a:pt x="0" y="96"/>
                    </a:cubicBezTo>
                    <a:cubicBezTo>
                      <a:pt x="0" y="43"/>
                      <a:pt x="43" y="0"/>
                      <a:pt x="96" y="0"/>
                    </a:cubicBezTo>
                    <a:cubicBezTo>
                      <a:pt x="149" y="0"/>
                      <a:pt x="192" y="43"/>
                      <a:pt x="192" y="96"/>
                    </a:cubicBezTo>
                    <a:cubicBezTo>
                      <a:pt x="192" y="149"/>
                      <a:pt x="149" y="192"/>
                      <a:pt x="96" y="192"/>
                    </a:cubicBezTo>
                    <a:close/>
                    <a:moveTo>
                      <a:pt x="96" y="12"/>
                    </a:moveTo>
                    <a:cubicBezTo>
                      <a:pt x="50" y="12"/>
                      <a:pt x="12" y="50"/>
                      <a:pt x="12" y="96"/>
                    </a:cubicBezTo>
                    <a:cubicBezTo>
                      <a:pt x="12" y="142"/>
                      <a:pt x="50" y="180"/>
                      <a:pt x="96" y="180"/>
                    </a:cubicBezTo>
                    <a:cubicBezTo>
                      <a:pt x="143" y="180"/>
                      <a:pt x="180" y="142"/>
                      <a:pt x="180" y="96"/>
                    </a:cubicBezTo>
                    <a:cubicBezTo>
                      <a:pt x="180" y="50"/>
                      <a:pt x="143" y="12"/>
                      <a:pt x="9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AU" sz="1800" b="0" i="0" u="none" strike="noStrike" kern="0" cap="none" spc="0" normalizeH="0" baseline="0" noProof="0">
                  <a:ln>
                    <a:noFill/>
                  </a:ln>
                  <a:solidFill>
                    <a:srgbClr val="96968C"/>
                  </a:solidFill>
                  <a:effectLst/>
                  <a:uLnTx/>
                  <a:uFillTx/>
                  <a:latin typeface="Arial" charset="0"/>
                  <a:ea typeface="+mn-ea"/>
                  <a:cs typeface="Arial" charset="0"/>
                </a:endParaRPr>
              </a:p>
            </p:txBody>
          </p:sp>
          <p:sp>
            <p:nvSpPr>
              <p:cNvPr id="24" name="Freeform 244">
                <a:extLst>
                  <a:ext uri="{FF2B5EF4-FFF2-40B4-BE49-F238E27FC236}">
                    <a16:creationId xmlns:a16="http://schemas.microsoft.com/office/drawing/2014/main" id="{D177E4C0-F701-BDB1-ABCF-60B94AC194AD}"/>
                  </a:ext>
                </a:extLst>
              </p:cNvPr>
              <p:cNvSpPr>
                <a:spLocks noEditPoints="1"/>
              </p:cNvSpPr>
              <p:nvPr/>
            </p:nvSpPr>
            <p:spPr bwMode="auto">
              <a:xfrm>
                <a:off x="4478" y="582"/>
                <a:ext cx="284" cy="285"/>
              </a:xfrm>
              <a:custGeom>
                <a:avLst/>
                <a:gdLst>
                  <a:gd name="T0" fmla="*/ 96 w 192"/>
                  <a:gd name="T1" fmla="*/ 192 h 192"/>
                  <a:gd name="T2" fmla="*/ 0 w 192"/>
                  <a:gd name="T3" fmla="*/ 96 h 192"/>
                  <a:gd name="T4" fmla="*/ 96 w 192"/>
                  <a:gd name="T5" fmla="*/ 0 h 192"/>
                  <a:gd name="T6" fmla="*/ 192 w 192"/>
                  <a:gd name="T7" fmla="*/ 96 h 192"/>
                  <a:gd name="T8" fmla="*/ 96 w 192"/>
                  <a:gd name="T9" fmla="*/ 192 h 192"/>
                  <a:gd name="T10" fmla="*/ 96 w 192"/>
                  <a:gd name="T11" fmla="*/ 12 h 192"/>
                  <a:gd name="T12" fmla="*/ 12 w 192"/>
                  <a:gd name="T13" fmla="*/ 96 h 192"/>
                  <a:gd name="T14" fmla="*/ 96 w 192"/>
                  <a:gd name="T15" fmla="*/ 180 h 192"/>
                  <a:gd name="T16" fmla="*/ 180 w 192"/>
                  <a:gd name="T17" fmla="*/ 96 h 192"/>
                  <a:gd name="T18" fmla="*/ 96 w 192"/>
                  <a:gd name="T19" fmla="*/ 12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2" h="192">
                    <a:moveTo>
                      <a:pt x="96" y="192"/>
                    </a:moveTo>
                    <a:cubicBezTo>
                      <a:pt x="43" y="192"/>
                      <a:pt x="0" y="149"/>
                      <a:pt x="0" y="96"/>
                    </a:cubicBezTo>
                    <a:cubicBezTo>
                      <a:pt x="0" y="43"/>
                      <a:pt x="43" y="0"/>
                      <a:pt x="96" y="0"/>
                    </a:cubicBezTo>
                    <a:cubicBezTo>
                      <a:pt x="149" y="0"/>
                      <a:pt x="192" y="43"/>
                      <a:pt x="192" y="96"/>
                    </a:cubicBezTo>
                    <a:cubicBezTo>
                      <a:pt x="192" y="149"/>
                      <a:pt x="149" y="192"/>
                      <a:pt x="96" y="192"/>
                    </a:cubicBezTo>
                    <a:close/>
                    <a:moveTo>
                      <a:pt x="96" y="12"/>
                    </a:moveTo>
                    <a:cubicBezTo>
                      <a:pt x="50" y="12"/>
                      <a:pt x="12" y="50"/>
                      <a:pt x="12" y="96"/>
                    </a:cubicBezTo>
                    <a:cubicBezTo>
                      <a:pt x="12" y="142"/>
                      <a:pt x="50" y="180"/>
                      <a:pt x="96" y="180"/>
                    </a:cubicBezTo>
                    <a:cubicBezTo>
                      <a:pt x="143" y="180"/>
                      <a:pt x="180" y="142"/>
                      <a:pt x="180" y="96"/>
                    </a:cubicBezTo>
                    <a:cubicBezTo>
                      <a:pt x="180" y="50"/>
                      <a:pt x="143" y="12"/>
                      <a:pt x="9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AU" sz="1800" b="0" i="0" u="none" strike="noStrike" kern="0" cap="none" spc="0" normalizeH="0" baseline="0" noProof="0">
                  <a:ln>
                    <a:noFill/>
                  </a:ln>
                  <a:solidFill>
                    <a:srgbClr val="96968C"/>
                  </a:solidFill>
                  <a:effectLst/>
                  <a:uLnTx/>
                  <a:uFillTx/>
                  <a:latin typeface="Arial" charset="0"/>
                  <a:ea typeface="+mn-ea"/>
                  <a:cs typeface="Arial" charset="0"/>
                </a:endParaRPr>
              </a:p>
            </p:txBody>
          </p:sp>
          <p:sp>
            <p:nvSpPr>
              <p:cNvPr id="25" name="Freeform 245">
                <a:extLst>
                  <a:ext uri="{FF2B5EF4-FFF2-40B4-BE49-F238E27FC236}">
                    <a16:creationId xmlns:a16="http://schemas.microsoft.com/office/drawing/2014/main" id="{02C745C0-8E0F-EC2B-297D-6662E76D7CA1}"/>
                  </a:ext>
                </a:extLst>
              </p:cNvPr>
              <p:cNvSpPr>
                <a:spLocks noEditPoints="1"/>
              </p:cNvSpPr>
              <p:nvPr/>
            </p:nvSpPr>
            <p:spPr bwMode="auto">
              <a:xfrm>
                <a:off x="4620" y="582"/>
                <a:ext cx="284" cy="285"/>
              </a:xfrm>
              <a:custGeom>
                <a:avLst/>
                <a:gdLst>
                  <a:gd name="T0" fmla="*/ 96 w 192"/>
                  <a:gd name="T1" fmla="*/ 192 h 192"/>
                  <a:gd name="T2" fmla="*/ 0 w 192"/>
                  <a:gd name="T3" fmla="*/ 96 h 192"/>
                  <a:gd name="T4" fmla="*/ 96 w 192"/>
                  <a:gd name="T5" fmla="*/ 0 h 192"/>
                  <a:gd name="T6" fmla="*/ 192 w 192"/>
                  <a:gd name="T7" fmla="*/ 96 h 192"/>
                  <a:gd name="T8" fmla="*/ 96 w 192"/>
                  <a:gd name="T9" fmla="*/ 192 h 192"/>
                  <a:gd name="T10" fmla="*/ 96 w 192"/>
                  <a:gd name="T11" fmla="*/ 12 h 192"/>
                  <a:gd name="T12" fmla="*/ 12 w 192"/>
                  <a:gd name="T13" fmla="*/ 96 h 192"/>
                  <a:gd name="T14" fmla="*/ 96 w 192"/>
                  <a:gd name="T15" fmla="*/ 180 h 192"/>
                  <a:gd name="T16" fmla="*/ 180 w 192"/>
                  <a:gd name="T17" fmla="*/ 96 h 192"/>
                  <a:gd name="T18" fmla="*/ 96 w 192"/>
                  <a:gd name="T19" fmla="*/ 12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2" h="192">
                    <a:moveTo>
                      <a:pt x="96" y="192"/>
                    </a:moveTo>
                    <a:cubicBezTo>
                      <a:pt x="43" y="192"/>
                      <a:pt x="0" y="149"/>
                      <a:pt x="0" y="96"/>
                    </a:cubicBezTo>
                    <a:cubicBezTo>
                      <a:pt x="0" y="43"/>
                      <a:pt x="43" y="0"/>
                      <a:pt x="96" y="0"/>
                    </a:cubicBezTo>
                    <a:cubicBezTo>
                      <a:pt x="149" y="0"/>
                      <a:pt x="192" y="43"/>
                      <a:pt x="192" y="96"/>
                    </a:cubicBezTo>
                    <a:cubicBezTo>
                      <a:pt x="192" y="149"/>
                      <a:pt x="149" y="192"/>
                      <a:pt x="96" y="192"/>
                    </a:cubicBezTo>
                    <a:close/>
                    <a:moveTo>
                      <a:pt x="96" y="12"/>
                    </a:moveTo>
                    <a:cubicBezTo>
                      <a:pt x="50" y="12"/>
                      <a:pt x="12" y="50"/>
                      <a:pt x="12" y="96"/>
                    </a:cubicBezTo>
                    <a:cubicBezTo>
                      <a:pt x="12" y="142"/>
                      <a:pt x="50" y="180"/>
                      <a:pt x="96" y="180"/>
                    </a:cubicBezTo>
                    <a:cubicBezTo>
                      <a:pt x="143" y="180"/>
                      <a:pt x="180" y="142"/>
                      <a:pt x="180" y="96"/>
                    </a:cubicBezTo>
                    <a:cubicBezTo>
                      <a:pt x="180" y="50"/>
                      <a:pt x="143" y="12"/>
                      <a:pt x="9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AU" sz="1800" b="0" i="0" u="none" strike="noStrike" kern="0" cap="none" spc="0" normalizeH="0" baseline="0" noProof="0">
                  <a:ln>
                    <a:noFill/>
                  </a:ln>
                  <a:solidFill>
                    <a:srgbClr val="96968C"/>
                  </a:solidFill>
                  <a:effectLst/>
                  <a:uLnTx/>
                  <a:uFillTx/>
                  <a:latin typeface="Arial" charset="0"/>
                  <a:ea typeface="+mn-ea"/>
                  <a:cs typeface="Arial" charset="0"/>
                </a:endParaRPr>
              </a:p>
            </p:txBody>
          </p:sp>
        </p:grpSp>
        <p:sp>
          <p:nvSpPr>
            <p:cNvPr id="22" name="Rectangle 21">
              <a:extLst>
                <a:ext uri="{FF2B5EF4-FFF2-40B4-BE49-F238E27FC236}">
                  <a16:creationId xmlns:a16="http://schemas.microsoft.com/office/drawing/2014/main" id="{D8B279E3-BD8E-2F48-C3D1-C3E79E478644}"/>
                </a:ext>
              </a:extLst>
            </p:cNvPr>
            <p:cNvSpPr/>
            <p:nvPr/>
          </p:nvSpPr>
          <p:spPr>
            <a:xfrm>
              <a:off x="7784620" y="1803787"/>
              <a:ext cx="4237781" cy="3693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91440" bIns="9144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1600" b="1" i="0" u="none" strike="noStrike" kern="1200" cap="none" spc="0" normalizeH="0" baseline="0" noProof="0">
                  <a:ln>
                    <a:noFill/>
                  </a:ln>
                  <a:solidFill>
                    <a:srgbClr val="FFFFFF"/>
                  </a:solidFill>
                  <a:effectLst/>
                  <a:uLnTx/>
                  <a:uFillTx/>
                  <a:latin typeface="Graphik Semibold" panose="020B0703030202060203" pitchFamily="34" charset="0"/>
                  <a:ea typeface="+mn-ea"/>
                  <a:cs typeface="+mn-cs"/>
                </a:rPr>
                <a:t>Coexistencia Técnica (Patrones clave)</a:t>
              </a:r>
            </a:p>
          </p:txBody>
        </p:sp>
      </p:grpSp>
      <p:sp>
        <p:nvSpPr>
          <p:cNvPr id="26" name="Rounded Rectangle 46">
            <a:extLst>
              <a:ext uri="{FF2B5EF4-FFF2-40B4-BE49-F238E27FC236}">
                <a16:creationId xmlns:a16="http://schemas.microsoft.com/office/drawing/2014/main" id="{B9EA2929-A56C-EE8A-6D40-448C15AB1695}"/>
              </a:ext>
            </a:extLst>
          </p:cNvPr>
          <p:cNvSpPr/>
          <p:nvPr/>
        </p:nvSpPr>
        <p:spPr>
          <a:xfrm>
            <a:off x="4103874" y="4657902"/>
            <a:ext cx="1184444" cy="306000"/>
          </a:xfrm>
          <a:prstGeom prst="rect">
            <a:avLst/>
          </a:prstGeom>
          <a:solidFill>
            <a:srgbClr val="440073"/>
          </a:solidFill>
          <a:ln w="6350">
            <a:noFill/>
            <a:miter lim="800000"/>
            <a:headEnd/>
            <a:tailEnd/>
          </a:ln>
          <a:effectLst/>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0" marR="0" lvl="0" indent="0" algn="l" defTabSz="914400" rtl="0" eaLnBrk="1" fontAlgn="base" latinLnBrk="0" hangingPunct="1">
              <a:lnSpc>
                <a:spcPct val="85000"/>
              </a:lnSpc>
              <a:spcBef>
                <a:spcPts val="0"/>
              </a:spcBef>
              <a:spcAft>
                <a:spcPts val="300"/>
              </a:spcAft>
              <a:buClrTx/>
              <a:buSzTx/>
              <a:buFontTx/>
              <a:buNone/>
              <a:tabLst/>
              <a:defRPr/>
            </a:pPr>
            <a:r>
              <a:rPr kumimoji="0" lang="es" sz="900" b="1" i="0" u="none" strike="noStrike" kern="0" cap="none" spc="0" normalizeH="0" baseline="0" noProof="0">
                <a:ln>
                  <a:noFill/>
                </a:ln>
                <a:solidFill>
                  <a:srgbClr val="FFFFFF"/>
                </a:solidFill>
                <a:effectLst/>
                <a:uLnTx/>
                <a:uFillTx/>
                <a:latin typeface="Graphik Semibold" panose="020B0703030202060203" pitchFamily="34" charset="0"/>
                <a:ea typeface="+mn-ea"/>
                <a:cs typeface="Arial" charset="0"/>
              </a:rPr>
              <a:t>Agrupación y Barrido</a:t>
            </a:r>
          </a:p>
        </p:txBody>
      </p:sp>
      <p:sp>
        <p:nvSpPr>
          <p:cNvPr id="27" name="Rounded Rectangle 28">
            <a:extLst>
              <a:ext uri="{FF2B5EF4-FFF2-40B4-BE49-F238E27FC236}">
                <a16:creationId xmlns:a16="http://schemas.microsoft.com/office/drawing/2014/main" id="{4AC7C17E-85B4-7227-5F81-DF4DA0955450}"/>
              </a:ext>
            </a:extLst>
          </p:cNvPr>
          <p:cNvSpPr/>
          <p:nvPr/>
        </p:nvSpPr>
        <p:spPr>
          <a:xfrm>
            <a:off x="4103874" y="5011526"/>
            <a:ext cx="1184444" cy="1414935"/>
          </a:xfrm>
          <a:prstGeom prst="rect">
            <a:avLst/>
          </a:prstGeom>
          <a:solidFill>
            <a:schemeClr val="bg1">
              <a:lumMod val="95000"/>
            </a:schemeClr>
          </a:solidFill>
          <a:ln w="19050">
            <a:noFill/>
            <a:prstDash val="sysDot"/>
            <a:headEnd type="none" w="med" len="med"/>
            <a:tailEnd type="oval" w="med" len="med"/>
          </a:ln>
        </p:spPr>
        <p:style>
          <a:lnRef idx="1">
            <a:schemeClr val="accent1"/>
          </a:lnRef>
          <a:fillRef idx="0">
            <a:schemeClr val="accent1"/>
          </a:fillRef>
          <a:effectRef idx="0">
            <a:schemeClr val="accent1"/>
          </a:effectRef>
          <a:fontRef idx="minor">
            <a:schemeClr val="tx1"/>
          </a:fontRef>
        </p:style>
        <p:txBody>
          <a:bodyPr lIns="36000" rIns="36000" rtlCol="0" anchor="t"/>
          <a:lstStyle/>
          <a:p>
            <a:pPr marL="0" marR="0" lvl="0" indent="0" algn="l" defTabSz="914400" rtl="0" eaLnBrk="1" fontAlgn="auto" latinLnBrk="0" hangingPunct="1">
              <a:lnSpc>
                <a:spcPct val="85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Estrategia de gestión de caja que consiste en consolidar varias cuentas de caja de una empresa en una sola cuenta o fondo para optimizar la posición global de caja, mejorar la gestión del flujo de caja y beneficiarse de ingresos por intereses o ahorro de costes.</a:t>
            </a:r>
          </a:p>
        </p:txBody>
      </p:sp>
      <p:sp>
        <p:nvSpPr>
          <p:cNvPr id="28" name="Rounded Rectangle 46">
            <a:extLst>
              <a:ext uri="{FF2B5EF4-FFF2-40B4-BE49-F238E27FC236}">
                <a16:creationId xmlns:a16="http://schemas.microsoft.com/office/drawing/2014/main" id="{11A2D84D-2E7D-6A6B-47A7-CC5BB5FDA955}"/>
              </a:ext>
            </a:extLst>
          </p:cNvPr>
          <p:cNvSpPr/>
          <p:nvPr/>
        </p:nvSpPr>
        <p:spPr>
          <a:xfrm>
            <a:off x="4103874" y="3004355"/>
            <a:ext cx="1184444" cy="306000"/>
          </a:xfrm>
          <a:prstGeom prst="rect">
            <a:avLst/>
          </a:prstGeom>
          <a:solidFill>
            <a:srgbClr val="440073"/>
          </a:solidFill>
          <a:ln w="6350">
            <a:noFill/>
            <a:miter lim="800000"/>
            <a:headEnd/>
            <a:tailEnd/>
          </a:ln>
          <a:effectLst/>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0" marR="0" lvl="0" indent="0" algn="l" defTabSz="914400" rtl="0" eaLnBrk="1" fontAlgn="base" latinLnBrk="0" hangingPunct="1">
              <a:lnSpc>
                <a:spcPct val="85000"/>
              </a:lnSpc>
              <a:spcBef>
                <a:spcPts val="0"/>
              </a:spcBef>
              <a:spcAft>
                <a:spcPts val="300"/>
              </a:spcAft>
              <a:buClrTx/>
              <a:buSzTx/>
              <a:buFontTx/>
              <a:buNone/>
              <a:tabLst/>
              <a:defRPr/>
            </a:pPr>
            <a:r>
              <a:rPr kumimoji="0" lang="es" sz="900" b="1" i="0" u="none" strike="noStrike" kern="0" cap="none" spc="0" normalizeH="0" baseline="0" noProof="0">
                <a:ln>
                  <a:noFill/>
                </a:ln>
                <a:solidFill>
                  <a:srgbClr val="FFFFFF"/>
                </a:solidFill>
                <a:effectLst/>
                <a:uLnTx/>
                <a:uFillTx/>
                <a:latin typeface="Graphik Semibold" panose="020B0703030202060203" pitchFamily="34" charset="0"/>
                <a:ea typeface="+mn-ea"/>
                <a:cs typeface="Arial" charset="0"/>
              </a:rPr>
              <a:t>Declaraciones</a:t>
            </a:r>
          </a:p>
        </p:txBody>
      </p:sp>
      <p:sp>
        <p:nvSpPr>
          <p:cNvPr id="29" name="Rounded Rectangle 28">
            <a:extLst>
              <a:ext uri="{FF2B5EF4-FFF2-40B4-BE49-F238E27FC236}">
                <a16:creationId xmlns:a16="http://schemas.microsoft.com/office/drawing/2014/main" id="{84827374-C3FA-7007-1D3F-B255E0F2162A}"/>
              </a:ext>
            </a:extLst>
          </p:cNvPr>
          <p:cNvSpPr/>
          <p:nvPr/>
        </p:nvSpPr>
        <p:spPr>
          <a:xfrm>
            <a:off x="4103874" y="3342439"/>
            <a:ext cx="1184444" cy="1226227"/>
          </a:xfrm>
          <a:prstGeom prst="rect">
            <a:avLst/>
          </a:prstGeom>
          <a:solidFill>
            <a:schemeClr val="bg1">
              <a:lumMod val="95000"/>
            </a:schemeClr>
          </a:solidFill>
          <a:ln w="19050">
            <a:noFill/>
            <a:prstDash val="sysDot"/>
            <a:headEnd type="none" w="med" len="med"/>
            <a:tailEnd type="oval" w="med" len="med"/>
          </a:ln>
        </p:spPr>
        <p:style>
          <a:lnRef idx="1">
            <a:schemeClr val="accent1"/>
          </a:lnRef>
          <a:fillRef idx="0">
            <a:schemeClr val="accent1"/>
          </a:fillRef>
          <a:effectRef idx="0">
            <a:schemeClr val="accent1"/>
          </a:effectRef>
          <a:fontRef idx="minor">
            <a:schemeClr val="tx1"/>
          </a:fontRef>
        </p:style>
        <p:txBody>
          <a:bodyPr lIns="36000" tIns="36000" rIns="36000" bIns="36000" rtlCol="0" anchor="t"/>
          <a:lstStyle/>
          <a:p>
            <a:pPr marL="0" marR="0" lvl="0" indent="0" algn="l" defTabSz="914400" rtl="0" eaLnBrk="1" fontAlgn="auto" latinLnBrk="0" hangingPunct="1">
              <a:lnSpc>
                <a:spcPct val="85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Incluye actividades relacionadas con la emisión de extractos regulares de clientes/cuentas tanto en formatos electrónicos como físicos, así como notificaciones y notificaciones ad- hoc / on-event eventos.</a:t>
            </a:r>
            <a:endParaRPr kumimoji="0" lang="LID4096" sz="8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endParaRPr>
          </a:p>
        </p:txBody>
      </p:sp>
      <p:sp>
        <p:nvSpPr>
          <p:cNvPr id="30" name="Rounded Rectangle 48">
            <a:extLst>
              <a:ext uri="{FF2B5EF4-FFF2-40B4-BE49-F238E27FC236}">
                <a16:creationId xmlns:a16="http://schemas.microsoft.com/office/drawing/2014/main" id="{F26FC224-BB46-93A8-0755-D95C933AF197}"/>
              </a:ext>
            </a:extLst>
          </p:cNvPr>
          <p:cNvSpPr/>
          <p:nvPr/>
        </p:nvSpPr>
        <p:spPr>
          <a:xfrm>
            <a:off x="1621958" y="4657902"/>
            <a:ext cx="1184444" cy="306000"/>
          </a:xfrm>
          <a:prstGeom prst="rect">
            <a:avLst/>
          </a:prstGeom>
          <a:solidFill>
            <a:srgbClr val="440073"/>
          </a:solidFill>
          <a:ln w="6350">
            <a:noFill/>
            <a:miter lim="800000"/>
            <a:headEnd/>
            <a:tailEnd/>
          </a:ln>
          <a:effectLst/>
        </p:spPr>
        <p:txBody>
          <a:bodyPr rot="0" spcFirstLastPara="0" vertOverflow="overflow" horzOverflow="overflow" vert="horz" wrap="square" lIns="36000" tIns="72000" rIns="36000" bIns="72000" numCol="1" spcCol="0" rtlCol="0" fromWordArt="0" anchor="ctr" anchorCtr="0" forceAA="0" compatLnSpc="1">
            <a:prstTxWarp prst="textNoShape">
              <a:avLst/>
            </a:prstTxWarp>
            <a:noAutofit/>
          </a:bodyPr>
          <a:lstStyle/>
          <a:p>
            <a:pPr marL="0" marR="0" lvl="0" indent="0" algn="l" defTabSz="914400" rtl="0" eaLnBrk="1" fontAlgn="base" latinLnBrk="0" hangingPunct="1">
              <a:lnSpc>
                <a:spcPct val="85000"/>
              </a:lnSpc>
              <a:spcBef>
                <a:spcPts val="0"/>
              </a:spcBef>
              <a:spcAft>
                <a:spcPts val="300"/>
              </a:spcAft>
              <a:buClrTx/>
              <a:buSzTx/>
              <a:buFontTx/>
              <a:buNone/>
              <a:tabLst/>
              <a:defRPr/>
            </a:pPr>
            <a:r>
              <a:rPr kumimoji="0" lang="es" sz="900" b="1" i="0" u="none" strike="noStrike" kern="0" cap="none" spc="0" normalizeH="0" baseline="0" noProof="0">
                <a:ln>
                  <a:noFill/>
                </a:ln>
                <a:solidFill>
                  <a:srgbClr val="FFFFFF"/>
                </a:solidFill>
                <a:effectLst/>
                <a:uLnTx/>
                <a:uFillTx/>
                <a:latin typeface="Graphik Semibold" panose="020B0703030202060203" pitchFamily="34" charset="0"/>
                <a:ea typeface="+mn-ea"/>
                <a:cs typeface="Arial" charset="0"/>
              </a:rPr>
              <a:t>Moneda</a:t>
            </a:r>
          </a:p>
        </p:txBody>
      </p:sp>
      <p:sp>
        <p:nvSpPr>
          <p:cNvPr id="31" name="Rounded Rectangle 28">
            <a:extLst>
              <a:ext uri="{FF2B5EF4-FFF2-40B4-BE49-F238E27FC236}">
                <a16:creationId xmlns:a16="http://schemas.microsoft.com/office/drawing/2014/main" id="{EAA47A27-D086-6E51-4D4E-71975CA826ED}"/>
              </a:ext>
            </a:extLst>
          </p:cNvPr>
          <p:cNvSpPr/>
          <p:nvPr/>
        </p:nvSpPr>
        <p:spPr>
          <a:xfrm>
            <a:off x="1621958" y="5011526"/>
            <a:ext cx="1184444" cy="1414935"/>
          </a:xfrm>
          <a:prstGeom prst="rect">
            <a:avLst/>
          </a:prstGeom>
          <a:solidFill>
            <a:schemeClr val="bg1">
              <a:lumMod val="95000"/>
            </a:schemeClr>
          </a:solidFill>
          <a:ln w="19050">
            <a:noFill/>
            <a:prstDash val="sysDot"/>
            <a:headEnd type="none" w="med" len="med"/>
            <a:tailEnd type="oval" w="med" len="med"/>
          </a:ln>
        </p:spPr>
        <p:style>
          <a:lnRef idx="1">
            <a:schemeClr val="accent1"/>
          </a:lnRef>
          <a:fillRef idx="0">
            <a:schemeClr val="accent1"/>
          </a:fillRef>
          <a:effectRef idx="0">
            <a:schemeClr val="accent1"/>
          </a:effectRef>
          <a:fontRef idx="minor">
            <a:schemeClr val="tx1"/>
          </a:fontRef>
        </p:style>
        <p:txBody>
          <a:bodyPr lIns="36000" rIns="36000" rtlCol="0" anchor="t"/>
          <a:lstStyle/>
          <a:p>
            <a:pPr marL="0" marR="0" lvl="0" indent="0" algn="l" defTabSz="914400" rtl="0" eaLnBrk="1" fontAlgn="auto" latinLnBrk="0" hangingPunct="1">
              <a:lnSpc>
                <a:spcPct val="85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Se refiere a la capacidad de una entidad para facilitar la conversión de una moneda en otra, facilitando transacciones y comercios internacionales. Permite el intercambio de monedas a los tipos de mercado vigentes.</a:t>
            </a:r>
          </a:p>
        </p:txBody>
      </p:sp>
      <p:sp>
        <p:nvSpPr>
          <p:cNvPr id="32" name="Rounded Rectangle 48">
            <a:extLst>
              <a:ext uri="{FF2B5EF4-FFF2-40B4-BE49-F238E27FC236}">
                <a16:creationId xmlns:a16="http://schemas.microsoft.com/office/drawing/2014/main" id="{8853EBFA-E688-7426-F63A-7739DEF08D7F}"/>
              </a:ext>
            </a:extLst>
          </p:cNvPr>
          <p:cNvSpPr/>
          <p:nvPr/>
        </p:nvSpPr>
        <p:spPr>
          <a:xfrm>
            <a:off x="1621958" y="3004355"/>
            <a:ext cx="1184444" cy="306000"/>
          </a:xfrm>
          <a:prstGeom prst="rect">
            <a:avLst/>
          </a:prstGeom>
          <a:solidFill>
            <a:srgbClr val="440073"/>
          </a:solidFill>
          <a:ln w="6350">
            <a:noFill/>
            <a:miter lim="800000"/>
            <a:headEnd/>
            <a:tailEnd/>
          </a:ln>
          <a:effectLst/>
        </p:spPr>
        <p:txBody>
          <a:bodyPr rot="0" spcFirstLastPara="0" vertOverflow="overflow" horzOverflow="overflow" vert="horz" wrap="square" lIns="36000" tIns="72000" rIns="36000" bIns="72000" numCol="1" spcCol="0" rtlCol="0" fromWordArt="0" anchor="ctr" anchorCtr="0" forceAA="0" compatLnSpc="1">
            <a:prstTxWarp prst="textNoShape">
              <a:avLst/>
            </a:prstTxWarp>
            <a:noAutofit/>
          </a:bodyPr>
          <a:lstStyle/>
          <a:p>
            <a:pPr marL="0" marR="0" lvl="0" indent="0" algn="l" defTabSz="914400" rtl="0" eaLnBrk="1" fontAlgn="base" latinLnBrk="0" hangingPunct="1">
              <a:lnSpc>
                <a:spcPct val="85000"/>
              </a:lnSpc>
              <a:spcBef>
                <a:spcPts val="0"/>
              </a:spcBef>
              <a:spcAft>
                <a:spcPts val="300"/>
              </a:spcAft>
              <a:buClrTx/>
              <a:buSzTx/>
              <a:buFontTx/>
              <a:buNone/>
              <a:tabLst/>
              <a:defRPr/>
            </a:pPr>
            <a:r>
              <a:rPr kumimoji="0" lang="es" sz="900" b="1" i="0" u="none" strike="noStrike" kern="0" cap="none" spc="0" normalizeH="0" baseline="0" noProof="0">
                <a:ln>
                  <a:noFill/>
                </a:ln>
                <a:solidFill>
                  <a:srgbClr val="FFFFFF"/>
                </a:solidFill>
                <a:effectLst/>
                <a:uLnTx/>
                <a:uFillTx/>
                <a:latin typeface="Graphik Semibold" panose="020B0703030202060203" pitchFamily="34" charset="0"/>
                <a:ea typeface="+mn-ea"/>
                <a:cs typeface="Arial" charset="0"/>
              </a:rPr>
              <a:t>Gestión de Contratos</a:t>
            </a:r>
          </a:p>
        </p:txBody>
      </p:sp>
      <p:sp>
        <p:nvSpPr>
          <p:cNvPr id="33" name="Rounded Rectangle 28">
            <a:extLst>
              <a:ext uri="{FF2B5EF4-FFF2-40B4-BE49-F238E27FC236}">
                <a16:creationId xmlns:a16="http://schemas.microsoft.com/office/drawing/2014/main" id="{DAEDA170-3395-3844-77DC-F6930478EF0A}"/>
              </a:ext>
            </a:extLst>
          </p:cNvPr>
          <p:cNvSpPr/>
          <p:nvPr/>
        </p:nvSpPr>
        <p:spPr>
          <a:xfrm>
            <a:off x="1621958" y="3342439"/>
            <a:ext cx="1184444" cy="1226227"/>
          </a:xfrm>
          <a:prstGeom prst="rect">
            <a:avLst/>
          </a:prstGeom>
          <a:solidFill>
            <a:schemeClr val="bg1">
              <a:lumMod val="95000"/>
            </a:schemeClr>
          </a:solidFill>
          <a:ln w="19050">
            <a:noFill/>
            <a:prstDash val="sysDot"/>
            <a:headEnd type="none" w="med" len="med"/>
            <a:tailEnd type="oval" w="med" len="med"/>
          </a:ln>
        </p:spPr>
        <p:style>
          <a:lnRef idx="1">
            <a:schemeClr val="accent1"/>
          </a:lnRef>
          <a:fillRef idx="0">
            <a:schemeClr val="accent1"/>
          </a:fillRef>
          <a:effectRef idx="0">
            <a:schemeClr val="accent1"/>
          </a:effectRef>
          <a:fontRef idx="minor">
            <a:schemeClr val="tx1"/>
          </a:fontRef>
        </p:style>
        <p:txBody>
          <a:bodyPr lIns="36000" tIns="36000" rIns="36000" bIns="36000" rtlCol="0" anchor="t"/>
          <a:lstStyle/>
          <a:p>
            <a:pPr marL="0" marR="0" lvl="0" indent="0" algn="l" defTabSz="914400" rtl="0" eaLnBrk="1" fontAlgn="auto" latinLnBrk="0" hangingPunct="1">
              <a:lnSpc>
                <a:spcPct val="85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Mantener y actualizar la información contractual, monitorizar la actividad contractual y gestionar solicitudes y consultas relacionadas con el contrato.</a:t>
            </a:r>
          </a:p>
          <a:p>
            <a:pPr marL="0" marR="0" lvl="0" indent="0" algn="l" defTabSz="914400" rtl="0" eaLnBrk="1" fontAlgn="auto" latinLnBrk="0" hangingPunct="1">
              <a:lnSpc>
                <a:spcPct val="85000"/>
              </a:lnSpc>
              <a:spcBef>
                <a:spcPts val="0"/>
              </a:spcBef>
              <a:spcAft>
                <a:spcPts val="0"/>
              </a:spcAft>
              <a:buClrTx/>
              <a:buSzTx/>
              <a:buFontTx/>
              <a:buNone/>
              <a:tabLst/>
              <a:defRPr/>
            </a:pPr>
            <a:endParaRPr kumimoji="0" lang="LID4096" sz="8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endParaRPr>
          </a:p>
        </p:txBody>
      </p:sp>
      <p:sp>
        <p:nvSpPr>
          <p:cNvPr id="34" name="Rounded Rectangle 50">
            <a:extLst>
              <a:ext uri="{FF2B5EF4-FFF2-40B4-BE49-F238E27FC236}">
                <a16:creationId xmlns:a16="http://schemas.microsoft.com/office/drawing/2014/main" id="{42937F7D-77F5-4816-3D2C-DFC83A5EFD23}"/>
              </a:ext>
            </a:extLst>
          </p:cNvPr>
          <p:cNvSpPr/>
          <p:nvPr/>
        </p:nvSpPr>
        <p:spPr>
          <a:xfrm>
            <a:off x="381000" y="4657902"/>
            <a:ext cx="1184444" cy="306000"/>
          </a:xfrm>
          <a:prstGeom prst="rect">
            <a:avLst/>
          </a:prstGeom>
          <a:solidFill>
            <a:srgbClr val="440073"/>
          </a:solidFill>
          <a:ln w="6350">
            <a:noFill/>
            <a:miter lim="800000"/>
            <a:headEnd/>
            <a:tailEnd/>
          </a:ln>
          <a:effectLst/>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0" marR="0" lvl="0" indent="0" algn="l" defTabSz="914400" rtl="0" eaLnBrk="1" fontAlgn="base" latinLnBrk="0" hangingPunct="1">
              <a:lnSpc>
                <a:spcPct val="85000"/>
              </a:lnSpc>
              <a:spcBef>
                <a:spcPts val="0"/>
              </a:spcBef>
              <a:spcAft>
                <a:spcPts val="300"/>
              </a:spcAft>
              <a:buClrTx/>
              <a:buSzTx/>
              <a:buFontTx/>
              <a:buNone/>
              <a:tabLst/>
              <a:defRPr/>
            </a:pPr>
            <a:r>
              <a:rPr kumimoji="0" lang="es" sz="900" b="1" i="0" u="none" strike="noStrike" kern="0" cap="none" spc="0" normalizeH="0" baseline="0" noProof="0">
                <a:ln>
                  <a:noFill/>
                </a:ln>
                <a:solidFill>
                  <a:srgbClr val="FFFFFF"/>
                </a:solidFill>
                <a:effectLst/>
                <a:uLnTx/>
                <a:uFillTx/>
                <a:latin typeface="Graphik Semibold" panose="020B0703030202060203" pitchFamily="34" charset="0"/>
                <a:ea typeface="+mn-ea"/>
                <a:cs typeface="Arial" charset="0"/>
              </a:rPr>
              <a:t>Gestión de Límites</a:t>
            </a:r>
          </a:p>
        </p:txBody>
      </p:sp>
      <p:sp>
        <p:nvSpPr>
          <p:cNvPr id="35" name="Rounded Rectangle 28">
            <a:extLst>
              <a:ext uri="{FF2B5EF4-FFF2-40B4-BE49-F238E27FC236}">
                <a16:creationId xmlns:a16="http://schemas.microsoft.com/office/drawing/2014/main" id="{499243EE-B41B-4455-71B1-B90ED45B7010}"/>
              </a:ext>
            </a:extLst>
          </p:cNvPr>
          <p:cNvSpPr/>
          <p:nvPr/>
        </p:nvSpPr>
        <p:spPr>
          <a:xfrm>
            <a:off x="381000" y="5011526"/>
            <a:ext cx="1184444" cy="1414935"/>
          </a:xfrm>
          <a:prstGeom prst="rect">
            <a:avLst/>
          </a:prstGeom>
          <a:solidFill>
            <a:schemeClr val="bg1">
              <a:lumMod val="95000"/>
            </a:schemeClr>
          </a:solidFill>
          <a:ln w="19050">
            <a:noFill/>
            <a:prstDash val="sysDot"/>
            <a:headEnd type="none" w="med" len="med"/>
            <a:tailEnd type="oval" w="med" len="med"/>
          </a:ln>
        </p:spPr>
        <p:style>
          <a:lnRef idx="1">
            <a:schemeClr val="accent1"/>
          </a:lnRef>
          <a:fillRef idx="0">
            <a:schemeClr val="accent1"/>
          </a:fillRef>
          <a:effectRef idx="0">
            <a:schemeClr val="accent1"/>
          </a:effectRef>
          <a:fontRef idx="minor">
            <a:schemeClr val="tx1"/>
          </a:fontRef>
        </p:style>
        <p:txBody>
          <a:bodyPr lIns="36000" rIns="36000" rtlCol="0" anchor="t"/>
          <a:lstStyle/>
          <a:p>
            <a:pPr marL="0" marR="0" lvl="0" indent="0" algn="l" defTabSz="914400" rtl="0" eaLnBrk="1" fontAlgn="auto" latinLnBrk="0" hangingPunct="1">
              <a:lnSpc>
                <a:spcPct val="85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Proceso de gestión de autorizaciones y límites de líneas de crédito de contrapartes para monitorizar la gestión de contraparte y riesgo crediticio.</a:t>
            </a:r>
          </a:p>
          <a:p>
            <a:pPr marL="0" marR="0" lvl="0" indent="0" algn="l" defTabSz="914400" rtl="0" eaLnBrk="1" fontAlgn="auto" latinLnBrk="0" hangingPunct="1">
              <a:lnSpc>
                <a:spcPct val="85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Los límites se gestionan en actividades crediticias y transaccionales.</a:t>
            </a:r>
          </a:p>
        </p:txBody>
      </p:sp>
      <p:sp>
        <p:nvSpPr>
          <p:cNvPr id="36" name="Rounded Rectangle 50">
            <a:extLst>
              <a:ext uri="{FF2B5EF4-FFF2-40B4-BE49-F238E27FC236}">
                <a16:creationId xmlns:a16="http://schemas.microsoft.com/office/drawing/2014/main" id="{14D721D6-D109-8212-85C2-C3F14A9BFECB}"/>
              </a:ext>
            </a:extLst>
          </p:cNvPr>
          <p:cNvSpPr/>
          <p:nvPr/>
        </p:nvSpPr>
        <p:spPr>
          <a:xfrm>
            <a:off x="381000" y="3004355"/>
            <a:ext cx="1184444" cy="306000"/>
          </a:xfrm>
          <a:prstGeom prst="rect">
            <a:avLst/>
          </a:prstGeom>
          <a:solidFill>
            <a:srgbClr val="440073"/>
          </a:solidFill>
          <a:ln w="6350">
            <a:noFill/>
            <a:miter lim="800000"/>
            <a:headEnd/>
            <a:tailEnd/>
          </a:ln>
          <a:effectLst/>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0" marR="0" lvl="0" indent="0" algn="l" defTabSz="914400" rtl="0" eaLnBrk="1" fontAlgn="base" latinLnBrk="0" hangingPunct="1">
              <a:lnSpc>
                <a:spcPct val="85000"/>
              </a:lnSpc>
              <a:spcBef>
                <a:spcPts val="0"/>
              </a:spcBef>
              <a:spcAft>
                <a:spcPts val="300"/>
              </a:spcAft>
              <a:buClrTx/>
              <a:buSzTx/>
              <a:buFontTx/>
              <a:buNone/>
              <a:tabLst/>
              <a:defRPr/>
            </a:pPr>
            <a:r>
              <a:rPr kumimoji="0" lang="es" sz="900" b="1" i="0" u="none" strike="noStrike" kern="0" cap="none" spc="0" normalizeH="0" baseline="0" noProof="0">
                <a:ln>
                  <a:noFill/>
                </a:ln>
                <a:solidFill>
                  <a:srgbClr val="FFFFFF"/>
                </a:solidFill>
                <a:effectLst/>
                <a:uLnTx/>
                <a:uFillTx/>
                <a:latin typeface="Graphik Semibold" panose="020B0703030202060203" pitchFamily="34" charset="0"/>
                <a:ea typeface="+mn-ea"/>
                <a:cs typeface="Arial" charset="0"/>
              </a:rPr>
              <a:t>Maestro de Partido</a:t>
            </a:r>
          </a:p>
        </p:txBody>
      </p:sp>
      <p:sp>
        <p:nvSpPr>
          <p:cNvPr id="37" name="Rounded Rectangle 28">
            <a:extLst>
              <a:ext uri="{FF2B5EF4-FFF2-40B4-BE49-F238E27FC236}">
                <a16:creationId xmlns:a16="http://schemas.microsoft.com/office/drawing/2014/main" id="{782C14F9-853C-EFD4-760F-9D1D1BB8E828}"/>
              </a:ext>
            </a:extLst>
          </p:cNvPr>
          <p:cNvSpPr/>
          <p:nvPr/>
        </p:nvSpPr>
        <p:spPr>
          <a:xfrm>
            <a:off x="381000" y="3342439"/>
            <a:ext cx="1184444" cy="1226227"/>
          </a:xfrm>
          <a:prstGeom prst="rect">
            <a:avLst/>
          </a:prstGeom>
          <a:solidFill>
            <a:schemeClr val="bg1">
              <a:lumMod val="95000"/>
            </a:schemeClr>
          </a:solidFill>
          <a:ln w="19050">
            <a:noFill/>
            <a:prstDash val="sysDot"/>
            <a:headEnd type="none" w="med" len="med"/>
            <a:tailEnd type="oval" w="med" len="med"/>
          </a:ln>
        </p:spPr>
        <p:style>
          <a:lnRef idx="1">
            <a:schemeClr val="accent1"/>
          </a:lnRef>
          <a:fillRef idx="0">
            <a:schemeClr val="accent1"/>
          </a:fillRef>
          <a:effectRef idx="0">
            <a:schemeClr val="accent1"/>
          </a:effectRef>
          <a:fontRef idx="minor">
            <a:schemeClr val="tx1"/>
          </a:fontRef>
        </p:style>
        <p:txBody>
          <a:bodyPr lIns="36000" tIns="36000" rIns="36000" bIns="36000" rtlCol="0" anchor="t"/>
          <a:lstStyle/>
          <a:p>
            <a:pPr marL="0" marR="0" lvl="0" indent="0" algn="l" defTabSz="914400" rtl="0" eaLnBrk="1" fontAlgn="auto" latinLnBrk="0" hangingPunct="1">
              <a:lnSpc>
                <a:spcPct val="85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Repositorio único para sistemas de información al cliente que permitirá compartir la información del cliente en toda la organización. Puede proporcionar vistas segmentadas basadas en diferentes perfiles. </a:t>
            </a:r>
          </a:p>
        </p:txBody>
      </p:sp>
      <p:sp>
        <p:nvSpPr>
          <p:cNvPr id="38" name="Rounded Rectangle 50">
            <a:extLst>
              <a:ext uri="{FF2B5EF4-FFF2-40B4-BE49-F238E27FC236}">
                <a16:creationId xmlns:a16="http://schemas.microsoft.com/office/drawing/2014/main" id="{DFCF6420-13E4-641C-8886-E5EF24D18C1B}"/>
              </a:ext>
            </a:extLst>
          </p:cNvPr>
          <p:cNvSpPr/>
          <p:nvPr/>
        </p:nvSpPr>
        <p:spPr>
          <a:xfrm>
            <a:off x="2862916" y="4657902"/>
            <a:ext cx="1184444" cy="306000"/>
          </a:xfrm>
          <a:prstGeom prst="rect">
            <a:avLst/>
          </a:prstGeom>
          <a:solidFill>
            <a:srgbClr val="440073"/>
          </a:solidFill>
          <a:ln w="6350">
            <a:noFill/>
            <a:miter lim="800000"/>
            <a:headEnd/>
            <a:tailEnd/>
          </a:ln>
          <a:effectLst/>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0" marR="0" lvl="0" indent="0" algn="l" defTabSz="914400" rtl="0" eaLnBrk="1" fontAlgn="base" latinLnBrk="0" hangingPunct="1">
              <a:lnSpc>
                <a:spcPct val="85000"/>
              </a:lnSpc>
              <a:spcBef>
                <a:spcPts val="0"/>
              </a:spcBef>
              <a:spcAft>
                <a:spcPts val="300"/>
              </a:spcAft>
              <a:buClrTx/>
              <a:buSzTx/>
              <a:buFontTx/>
              <a:buNone/>
              <a:tabLst/>
              <a:defRPr/>
            </a:pPr>
            <a:r>
              <a:rPr kumimoji="0" lang="es" sz="900" b="1" i="0" u="none" strike="noStrike" kern="0" cap="none" spc="0" normalizeH="0" baseline="0" noProof="0">
                <a:ln>
                  <a:noFill/>
                </a:ln>
                <a:solidFill>
                  <a:srgbClr val="FFFFFF"/>
                </a:solidFill>
                <a:effectLst/>
                <a:uLnTx/>
                <a:uFillTx/>
                <a:latin typeface="Graphik Semibold" panose="020B0703030202060203" pitchFamily="34" charset="0"/>
                <a:ea typeface="+mn-ea"/>
                <a:cs typeface="Arial" charset="0"/>
              </a:rPr>
              <a:t>Precios (Intereses y Comisiones) </a:t>
            </a:r>
          </a:p>
        </p:txBody>
      </p:sp>
      <p:sp>
        <p:nvSpPr>
          <p:cNvPr id="39" name="Rounded Rectangle 28">
            <a:extLst>
              <a:ext uri="{FF2B5EF4-FFF2-40B4-BE49-F238E27FC236}">
                <a16:creationId xmlns:a16="http://schemas.microsoft.com/office/drawing/2014/main" id="{7C498894-0763-1059-E2A3-D9CFA2C08CFB}"/>
              </a:ext>
            </a:extLst>
          </p:cNvPr>
          <p:cNvSpPr/>
          <p:nvPr/>
        </p:nvSpPr>
        <p:spPr>
          <a:xfrm>
            <a:off x="2862916" y="5011526"/>
            <a:ext cx="1184444" cy="1414935"/>
          </a:xfrm>
          <a:prstGeom prst="rect">
            <a:avLst/>
          </a:prstGeom>
          <a:solidFill>
            <a:schemeClr val="bg1">
              <a:lumMod val="95000"/>
            </a:schemeClr>
          </a:solidFill>
          <a:ln w="19050">
            <a:noFill/>
            <a:prstDash val="sysDot"/>
            <a:headEnd type="none" w="med" len="med"/>
            <a:tailEnd type="oval" w="med" len="med"/>
          </a:ln>
        </p:spPr>
        <p:style>
          <a:lnRef idx="1">
            <a:schemeClr val="accent1"/>
          </a:lnRef>
          <a:fillRef idx="0">
            <a:schemeClr val="accent1"/>
          </a:fillRef>
          <a:effectRef idx="0">
            <a:schemeClr val="accent1"/>
          </a:effectRef>
          <a:fontRef idx="minor">
            <a:schemeClr val="tx1"/>
          </a:fontRef>
        </p:style>
        <p:txBody>
          <a:bodyPr lIns="36000" rIns="36000" rtlCol="0" anchor="t"/>
          <a:lstStyle/>
          <a:p>
            <a:pPr marL="0" marR="0" lvl="0" indent="0" algn="l" defTabSz="914400" rtl="0" eaLnBrk="1" fontAlgn="auto" latinLnBrk="0" hangingPunct="1">
              <a:lnSpc>
                <a:spcPct val="85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Gestión de la estrategia de precios mediante el cálculo de costes, la aplicación de diferentes modelos y la evaluación del comportamiento de clientes y competidores.</a:t>
            </a:r>
          </a:p>
          <a:p>
            <a:pPr marL="0" marR="0" lvl="0" indent="0" algn="l" defTabSz="914400" rtl="0" eaLnBrk="1" fontAlgn="auto" latinLnBrk="0" hangingPunct="1">
              <a:lnSpc>
                <a:spcPct val="85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Aplicar los tipos de interés y comisiones adecuados basados en ofertas personalizadas.</a:t>
            </a:r>
          </a:p>
        </p:txBody>
      </p:sp>
      <p:sp>
        <p:nvSpPr>
          <p:cNvPr id="40" name="Rounded Rectangle 50">
            <a:extLst>
              <a:ext uri="{FF2B5EF4-FFF2-40B4-BE49-F238E27FC236}">
                <a16:creationId xmlns:a16="http://schemas.microsoft.com/office/drawing/2014/main" id="{676B8430-2439-BFA9-2927-48D9A78B35A0}"/>
              </a:ext>
            </a:extLst>
          </p:cNvPr>
          <p:cNvSpPr/>
          <p:nvPr/>
        </p:nvSpPr>
        <p:spPr>
          <a:xfrm>
            <a:off x="2862916" y="3004355"/>
            <a:ext cx="1184444" cy="306000"/>
          </a:xfrm>
          <a:prstGeom prst="rect">
            <a:avLst/>
          </a:prstGeom>
          <a:solidFill>
            <a:srgbClr val="440073"/>
          </a:solidFill>
          <a:ln w="6350">
            <a:noFill/>
            <a:miter lim="800000"/>
            <a:headEnd/>
            <a:tailEnd/>
          </a:ln>
          <a:effectLst/>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0" marR="0" lvl="0" indent="0" algn="l" defTabSz="914400" rtl="0" eaLnBrk="1" fontAlgn="base" latinLnBrk="0" hangingPunct="1">
              <a:lnSpc>
                <a:spcPct val="85000"/>
              </a:lnSpc>
              <a:spcBef>
                <a:spcPts val="0"/>
              </a:spcBef>
              <a:spcAft>
                <a:spcPts val="300"/>
              </a:spcAft>
              <a:buClrTx/>
              <a:buSzTx/>
              <a:buFontTx/>
              <a:buNone/>
              <a:tabLst/>
              <a:defRPr/>
            </a:pPr>
            <a:r>
              <a:rPr kumimoji="0" lang="es" sz="900" b="1" i="0" u="none" strike="noStrike" kern="0" cap="none" spc="0" normalizeH="0" baseline="0" noProof="0">
                <a:ln>
                  <a:noFill/>
                </a:ln>
                <a:solidFill>
                  <a:srgbClr val="FFFFFF"/>
                </a:solidFill>
                <a:effectLst/>
                <a:uLnTx/>
                <a:uFillTx/>
                <a:latin typeface="Graphik Semibold" panose="020B0703030202060203" pitchFamily="34" charset="0"/>
                <a:ea typeface="+mn-ea"/>
                <a:cs typeface="Arial" charset="0"/>
              </a:rPr>
              <a:t>Catálogo de productos</a:t>
            </a:r>
          </a:p>
        </p:txBody>
      </p:sp>
      <p:sp>
        <p:nvSpPr>
          <p:cNvPr id="41" name="Rounded Rectangle 28">
            <a:extLst>
              <a:ext uri="{FF2B5EF4-FFF2-40B4-BE49-F238E27FC236}">
                <a16:creationId xmlns:a16="http://schemas.microsoft.com/office/drawing/2014/main" id="{E237D928-4D2C-CEA1-8DE6-94EE82724055}"/>
              </a:ext>
            </a:extLst>
          </p:cNvPr>
          <p:cNvSpPr/>
          <p:nvPr/>
        </p:nvSpPr>
        <p:spPr>
          <a:xfrm>
            <a:off x="2862916" y="3342439"/>
            <a:ext cx="1184444" cy="1226227"/>
          </a:xfrm>
          <a:prstGeom prst="rect">
            <a:avLst/>
          </a:prstGeom>
          <a:solidFill>
            <a:schemeClr val="bg1">
              <a:lumMod val="95000"/>
            </a:schemeClr>
          </a:solidFill>
          <a:ln w="19050">
            <a:noFill/>
            <a:prstDash val="sysDot"/>
            <a:headEnd type="none" w="med" len="med"/>
            <a:tailEnd type="oval" w="med" len="med"/>
          </a:ln>
        </p:spPr>
        <p:style>
          <a:lnRef idx="1">
            <a:schemeClr val="accent1"/>
          </a:lnRef>
          <a:fillRef idx="0">
            <a:schemeClr val="accent1"/>
          </a:fillRef>
          <a:effectRef idx="0">
            <a:schemeClr val="accent1"/>
          </a:effectRef>
          <a:fontRef idx="minor">
            <a:schemeClr val="tx1"/>
          </a:fontRef>
        </p:style>
        <p:txBody>
          <a:bodyPr lIns="36000" tIns="36000" rIns="36000" bIns="36000" rtlCol="0" anchor="t"/>
          <a:lstStyle/>
          <a:p>
            <a:pPr marL="0" marR="0" lvl="0" indent="0" algn="l" defTabSz="914400" rtl="0" eaLnBrk="1" fontAlgn="auto" latinLnBrk="0" hangingPunct="1">
              <a:lnSpc>
                <a:spcPct val="85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Implica mantener y gestionar de forma proactiva los componentes y la configuración del producto, guiados por un análisis profundo basado en datos.</a:t>
            </a:r>
          </a:p>
        </p:txBody>
      </p:sp>
      <p:cxnSp>
        <p:nvCxnSpPr>
          <p:cNvPr id="42" name="Straight Connector 41">
            <a:extLst>
              <a:ext uri="{FF2B5EF4-FFF2-40B4-BE49-F238E27FC236}">
                <a16:creationId xmlns:a16="http://schemas.microsoft.com/office/drawing/2014/main" id="{A7A120C0-8855-28ED-7D23-449E6EEB4BC5}"/>
              </a:ext>
            </a:extLst>
          </p:cNvPr>
          <p:cNvCxnSpPr>
            <a:cxnSpLocks/>
          </p:cNvCxnSpPr>
          <p:nvPr/>
        </p:nvCxnSpPr>
        <p:spPr>
          <a:xfrm>
            <a:off x="6735959" y="2904018"/>
            <a:ext cx="0" cy="3636000"/>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sp>
        <p:nvSpPr>
          <p:cNvPr id="43" name="Rounded Rectangle 46">
            <a:extLst>
              <a:ext uri="{FF2B5EF4-FFF2-40B4-BE49-F238E27FC236}">
                <a16:creationId xmlns:a16="http://schemas.microsoft.com/office/drawing/2014/main" id="{BCADB121-2B7A-124B-7E71-A90A54D019F6}"/>
              </a:ext>
            </a:extLst>
          </p:cNvPr>
          <p:cNvSpPr/>
          <p:nvPr/>
        </p:nvSpPr>
        <p:spPr>
          <a:xfrm>
            <a:off x="5344832" y="4657902"/>
            <a:ext cx="1184444" cy="306000"/>
          </a:xfrm>
          <a:prstGeom prst="rect">
            <a:avLst/>
          </a:prstGeom>
          <a:solidFill>
            <a:srgbClr val="440073"/>
          </a:solidFill>
          <a:ln w="6350">
            <a:noFill/>
            <a:miter lim="800000"/>
            <a:headEnd/>
            <a:tailEnd/>
          </a:ln>
          <a:effectLst/>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0" marR="0" lvl="0" indent="0" algn="l" defTabSz="914400" rtl="0" eaLnBrk="1" fontAlgn="base" latinLnBrk="0" hangingPunct="1">
              <a:lnSpc>
                <a:spcPct val="85000"/>
              </a:lnSpc>
              <a:spcBef>
                <a:spcPts val="0"/>
              </a:spcBef>
              <a:spcAft>
                <a:spcPts val="300"/>
              </a:spcAft>
              <a:buClrTx/>
              <a:buSzTx/>
              <a:buFontTx/>
              <a:buNone/>
              <a:tabLst/>
              <a:defRPr/>
            </a:pPr>
            <a:r>
              <a:rPr kumimoji="0" lang="es" sz="900" b="1" i="0" u="none" strike="noStrike" kern="0" cap="none" spc="0" normalizeH="0" baseline="0" noProof="0">
                <a:ln>
                  <a:noFill/>
                </a:ln>
                <a:solidFill>
                  <a:srgbClr val="FFFFFF"/>
                </a:solidFill>
                <a:effectLst/>
                <a:uLnTx/>
                <a:uFillTx/>
                <a:latin typeface="Graphik Semibold" panose="020B0703030202060203" pitchFamily="34" charset="0"/>
                <a:ea typeface="+mn-ea"/>
                <a:cs typeface="Arial" charset="0"/>
              </a:rPr>
              <a:t>Motor de Contabilidad</a:t>
            </a:r>
          </a:p>
        </p:txBody>
      </p:sp>
      <p:sp>
        <p:nvSpPr>
          <p:cNvPr id="44" name="Rounded Rectangle 28">
            <a:extLst>
              <a:ext uri="{FF2B5EF4-FFF2-40B4-BE49-F238E27FC236}">
                <a16:creationId xmlns:a16="http://schemas.microsoft.com/office/drawing/2014/main" id="{FD942A02-F95D-7490-AE1A-7C33477D22C1}"/>
              </a:ext>
            </a:extLst>
          </p:cNvPr>
          <p:cNvSpPr/>
          <p:nvPr/>
        </p:nvSpPr>
        <p:spPr>
          <a:xfrm>
            <a:off x="5344832" y="5011526"/>
            <a:ext cx="1184444" cy="1414935"/>
          </a:xfrm>
          <a:prstGeom prst="rect">
            <a:avLst/>
          </a:prstGeom>
          <a:solidFill>
            <a:schemeClr val="bg1">
              <a:lumMod val="95000"/>
            </a:schemeClr>
          </a:solidFill>
          <a:ln w="19050">
            <a:noFill/>
            <a:prstDash val="sysDot"/>
            <a:headEnd type="none" w="med" len="med"/>
            <a:tailEnd type="oval" w="med" len="med"/>
          </a:ln>
        </p:spPr>
        <p:style>
          <a:lnRef idx="1">
            <a:schemeClr val="accent1"/>
          </a:lnRef>
          <a:fillRef idx="0">
            <a:schemeClr val="accent1"/>
          </a:fillRef>
          <a:effectRef idx="0">
            <a:schemeClr val="accent1"/>
          </a:effectRef>
          <a:fontRef idx="minor">
            <a:schemeClr val="tx1"/>
          </a:fontRef>
        </p:style>
        <p:txBody>
          <a:bodyPr lIns="36000" rIns="36000" rtlCol="0" anchor="t"/>
          <a:lstStyle/>
          <a:p>
            <a:pPr marL="0" marR="0" lvl="0" indent="0" algn="l" defTabSz="914400" rtl="0" eaLnBrk="1" fontAlgn="auto" latinLnBrk="0" hangingPunct="1">
              <a:lnSpc>
                <a:spcPct val="85000"/>
              </a:lnSpc>
              <a:spcBef>
                <a:spcPts val="0"/>
              </a:spcBef>
              <a:spcAft>
                <a:spcPts val="0"/>
              </a:spcAft>
              <a:buClrTx/>
              <a:buSzTx/>
              <a:buFontTx/>
              <a:buNone/>
              <a:tabLst/>
              <a:defRPr/>
            </a:pPr>
            <a:r>
              <a:rPr kumimoji="0" lang="es" sz="800" b="0" i="0" u="none" strike="noStrike" kern="1200" cap="none" spc="0" normalizeH="0" baseline="0" noProof="0" dirty="0">
                <a:ln>
                  <a:noFill/>
                </a:ln>
                <a:solidFill>
                  <a:srgbClr val="000000"/>
                </a:solidFill>
                <a:effectLst/>
                <a:uLnTx/>
                <a:uFillTx/>
                <a:latin typeface="Graphik Light" panose="020B0403030202060203" pitchFamily="34" charset="0"/>
                <a:ea typeface="+mn-ea"/>
                <a:cs typeface="+mn-cs"/>
              </a:rPr>
              <a:t>Generación, enriquecimiento e informe de eventos contables. Incluye el uso del proceso de Open Banking/PSD2 para agregar datos financieros de movimientos de cuentas bancarias y alimentar el motor de riesgo crediticio con datos más precisos.</a:t>
            </a:r>
          </a:p>
        </p:txBody>
      </p:sp>
      <p:sp>
        <p:nvSpPr>
          <p:cNvPr id="45" name="Rounded Rectangle 46">
            <a:extLst>
              <a:ext uri="{FF2B5EF4-FFF2-40B4-BE49-F238E27FC236}">
                <a16:creationId xmlns:a16="http://schemas.microsoft.com/office/drawing/2014/main" id="{596AB52C-5FF0-E444-567F-82690A462185}"/>
              </a:ext>
            </a:extLst>
          </p:cNvPr>
          <p:cNvSpPr/>
          <p:nvPr/>
        </p:nvSpPr>
        <p:spPr>
          <a:xfrm>
            <a:off x="5344832" y="3004355"/>
            <a:ext cx="1184444" cy="306000"/>
          </a:xfrm>
          <a:prstGeom prst="rect">
            <a:avLst/>
          </a:prstGeom>
          <a:solidFill>
            <a:srgbClr val="440073"/>
          </a:solidFill>
          <a:ln w="6350">
            <a:noFill/>
            <a:miter lim="800000"/>
            <a:headEnd/>
            <a:tailEnd/>
          </a:ln>
          <a:effectLst/>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0" marR="0" lvl="0" indent="0" algn="l" defTabSz="914400" rtl="0" eaLnBrk="1" fontAlgn="base" latinLnBrk="0" hangingPunct="1">
              <a:lnSpc>
                <a:spcPct val="85000"/>
              </a:lnSpc>
              <a:spcBef>
                <a:spcPts val="0"/>
              </a:spcBef>
              <a:spcAft>
                <a:spcPts val="300"/>
              </a:spcAft>
              <a:buClrTx/>
              <a:buSzTx/>
              <a:buFontTx/>
              <a:buNone/>
              <a:tabLst/>
              <a:defRPr/>
            </a:pPr>
            <a:r>
              <a:rPr kumimoji="0" lang="es" sz="900" b="1" i="0" u="none" strike="noStrike" kern="0" cap="none" spc="0" normalizeH="0" baseline="0" noProof="0">
                <a:ln>
                  <a:noFill/>
                </a:ln>
                <a:solidFill>
                  <a:srgbClr val="FFFFFF"/>
                </a:solidFill>
                <a:effectLst/>
                <a:uLnTx/>
                <a:uFillTx/>
                <a:latin typeface="Graphik Semibold" panose="020B0703030202060203" pitchFamily="34" charset="0"/>
                <a:ea typeface="+mn-ea"/>
                <a:cs typeface="Arial" charset="0"/>
              </a:rPr>
              <a:t>Informes</a:t>
            </a:r>
          </a:p>
        </p:txBody>
      </p:sp>
      <p:sp>
        <p:nvSpPr>
          <p:cNvPr id="46" name="Rounded Rectangle 28">
            <a:extLst>
              <a:ext uri="{FF2B5EF4-FFF2-40B4-BE49-F238E27FC236}">
                <a16:creationId xmlns:a16="http://schemas.microsoft.com/office/drawing/2014/main" id="{75974420-9CA7-F487-686D-B5253C901667}"/>
              </a:ext>
            </a:extLst>
          </p:cNvPr>
          <p:cNvSpPr/>
          <p:nvPr/>
        </p:nvSpPr>
        <p:spPr>
          <a:xfrm>
            <a:off x="5344832" y="3342439"/>
            <a:ext cx="1184444" cy="1226227"/>
          </a:xfrm>
          <a:prstGeom prst="rect">
            <a:avLst/>
          </a:prstGeom>
          <a:solidFill>
            <a:schemeClr val="bg1">
              <a:lumMod val="95000"/>
            </a:schemeClr>
          </a:solidFill>
          <a:ln w="19050">
            <a:noFill/>
            <a:prstDash val="sysDot"/>
            <a:headEnd type="none" w="med" len="med"/>
            <a:tailEnd type="oval" w="med" len="med"/>
          </a:ln>
        </p:spPr>
        <p:style>
          <a:lnRef idx="1">
            <a:schemeClr val="accent1"/>
          </a:lnRef>
          <a:fillRef idx="0">
            <a:schemeClr val="accent1"/>
          </a:fillRef>
          <a:effectRef idx="0">
            <a:schemeClr val="accent1"/>
          </a:effectRef>
          <a:fontRef idx="minor">
            <a:schemeClr val="tx1"/>
          </a:fontRef>
        </p:style>
        <p:txBody>
          <a:bodyPr lIns="36000" tIns="36000" rIns="36000" bIns="36000" rtlCol="0" anchor="t"/>
          <a:lstStyle/>
          <a:p>
            <a:pPr marL="0" marR="0" lvl="0" indent="0" algn="l" defTabSz="914400" rtl="0" eaLnBrk="1" fontAlgn="auto" latinLnBrk="0" hangingPunct="1">
              <a:lnSpc>
                <a:spcPct val="85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Incluye la capacidad de fusionar información entre diferentes sistemas y proporcionar una visión unificada entre informes operativos, contables, informativos y regulatorios.</a:t>
            </a:r>
            <a:endParaRPr kumimoji="0" lang="LID4096" sz="8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endParaRPr>
          </a:p>
        </p:txBody>
      </p:sp>
      <p:sp>
        <p:nvSpPr>
          <p:cNvPr id="47" name="Rounded Rectangle 46">
            <a:extLst>
              <a:ext uri="{FF2B5EF4-FFF2-40B4-BE49-F238E27FC236}">
                <a16:creationId xmlns:a16="http://schemas.microsoft.com/office/drawing/2014/main" id="{6D5F045E-809C-E40E-CFD5-C4069B175733}"/>
              </a:ext>
            </a:extLst>
          </p:cNvPr>
          <p:cNvSpPr/>
          <p:nvPr/>
        </p:nvSpPr>
        <p:spPr>
          <a:xfrm>
            <a:off x="10642359" y="3004355"/>
            <a:ext cx="1184444" cy="306000"/>
          </a:xfrm>
          <a:prstGeom prst="rect">
            <a:avLst/>
          </a:prstGeom>
          <a:solidFill>
            <a:srgbClr val="AB2E72"/>
          </a:solidFill>
          <a:ln w="6350">
            <a:noFill/>
            <a:miter lim="800000"/>
            <a:headEnd/>
            <a:tailEnd/>
          </a:ln>
          <a:effectLst/>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0" marR="0" lvl="0" indent="0" algn="l" defTabSz="914400" rtl="0" eaLnBrk="1" fontAlgn="base" latinLnBrk="0" hangingPunct="1">
              <a:lnSpc>
                <a:spcPct val="85000"/>
              </a:lnSpc>
              <a:spcBef>
                <a:spcPts val="0"/>
              </a:spcBef>
              <a:spcAft>
                <a:spcPts val="300"/>
              </a:spcAft>
              <a:buClrTx/>
              <a:buSzTx/>
              <a:buFontTx/>
              <a:buNone/>
              <a:tabLst/>
              <a:defRPr/>
            </a:pPr>
            <a:r>
              <a:rPr kumimoji="0" lang="es" sz="900" b="1" i="0" u="none" strike="noStrike" kern="0" cap="none" spc="0" normalizeH="0" baseline="0" noProof="0">
                <a:ln>
                  <a:noFill/>
                </a:ln>
                <a:solidFill>
                  <a:srgbClr val="FFFFFF"/>
                </a:solidFill>
                <a:effectLst/>
                <a:uLnTx/>
                <a:uFillTx/>
                <a:latin typeface="Graphik Semibold" panose="020B0703030202060203" pitchFamily="34" charset="0"/>
                <a:ea typeface="+mn-ea"/>
                <a:cs typeface="Arial" charset="0"/>
              </a:rPr>
              <a:t>Datos de referencia</a:t>
            </a:r>
          </a:p>
        </p:txBody>
      </p:sp>
      <p:sp>
        <p:nvSpPr>
          <p:cNvPr id="48" name="Rounded Rectangle 28">
            <a:extLst>
              <a:ext uri="{FF2B5EF4-FFF2-40B4-BE49-F238E27FC236}">
                <a16:creationId xmlns:a16="http://schemas.microsoft.com/office/drawing/2014/main" id="{353DD3A4-D2D5-85B2-ED2A-443819E82DE3}"/>
              </a:ext>
            </a:extLst>
          </p:cNvPr>
          <p:cNvSpPr/>
          <p:nvPr/>
        </p:nvSpPr>
        <p:spPr>
          <a:xfrm>
            <a:off x="10642359" y="3342439"/>
            <a:ext cx="1184444" cy="1226227"/>
          </a:xfrm>
          <a:prstGeom prst="rect">
            <a:avLst/>
          </a:prstGeom>
          <a:solidFill>
            <a:schemeClr val="bg1">
              <a:lumMod val="95000"/>
            </a:schemeClr>
          </a:solidFill>
          <a:ln w="19050">
            <a:noFill/>
            <a:prstDash val="sysDot"/>
            <a:headEnd type="none" w="med" len="med"/>
            <a:tailEnd type="oval" w="med" len="med"/>
          </a:ln>
        </p:spPr>
        <p:style>
          <a:lnRef idx="1">
            <a:schemeClr val="accent1"/>
          </a:lnRef>
          <a:fillRef idx="0">
            <a:schemeClr val="accent1"/>
          </a:fillRef>
          <a:effectRef idx="0">
            <a:schemeClr val="accent1"/>
          </a:effectRef>
          <a:fontRef idx="minor">
            <a:schemeClr val="tx1"/>
          </a:fontRef>
        </p:style>
        <p:txBody>
          <a:bodyPr lIns="36000" tIns="36000" rIns="36000" bIns="36000" rtlCol="0" anchor="t"/>
          <a:lstStyle/>
          <a:p>
            <a:pPr marL="0" marR="0" lvl="0" indent="0" algn="l" defTabSz="914400" rtl="0" eaLnBrk="1" fontAlgn="auto" latinLnBrk="0" hangingPunct="1">
              <a:lnSpc>
                <a:spcPct val="85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Gestiona la relación entre los valores admitidos para parámetros dados. </a:t>
            </a:r>
          </a:p>
          <a:p>
            <a:pPr marL="0" marR="0" lvl="0" indent="0" algn="l" defTabSz="914400" rtl="0" eaLnBrk="1" fontAlgn="auto" latinLnBrk="0" hangingPunct="1">
              <a:lnSpc>
                <a:spcPct val="85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Dependiendo de un código, recupera una combinación de valores.</a:t>
            </a:r>
          </a:p>
        </p:txBody>
      </p:sp>
      <p:sp>
        <p:nvSpPr>
          <p:cNvPr id="49" name="Rounded Rectangle 48">
            <a:extLst>
              <a:ext uri="{FF2B5EF4-FFF2-40B4-BE49-F238E27FC236}">
                <a16:creationId xmlns:a16="http://schemas.microsoft.com/office/drawing/2014/main" id="{3B0AF467-FCDC-6A21-B5A1-1C02BBAF1732}"/>
              </a:ext>
            </a:extLst>
          </p:cNvPr>
          <p:cNvSpPr/>
          <p:nvPr/>
        </p:nvSpPr>
        <p:spPr>
          <a:xfrm>
            <a:off x="8160443" y="3004355"/>
            <a:ext cx="1184444" cy="306000"/>
          </a:xfrm>
          <a:prstGeom prst="rect">
            <a:avLst/>
          </a:prstGeom>
          <a:solidFill>
            <a:srgbClr val="AB2E72"/>
          </a:solidFill>
          <a:ln w="6350">
            <a:noFill/>
            <a:miter lim="800000"/>
            <a:headEnd/>
            <a:tailEnd/>
          </a:ln>
          <a:effectLst/>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0" marR="0" lvl="0" indent="0" algn="l" defTabSz="914400" rtl="0" eaLnBrk="1" fontAlgn="base" latinLnBrk="0" hangingPunct="1">
              <a:lnSpc>
                <a:spcPct val="85000"/>
              </a:lnSpc>
              <a:spcBef>
                <a:spcPts val="0"/>
              </a:spcBef>
              <a:spcAft>
                <a:spcPts val="300"/>
              </a:spcAft>
              <a:buClrTx/>
              <a:buSzTx/>
              <a:buFontTx/>
              <a:buNone/>
              <a:tabLst/>
              <a:defRPr/>
            </a:pPr>
            <a:r>
              <a:rPr kumimoji="0" lang="es" sz="900" b="1" i="0" u="none" strike="noStrike" kern="0" cap="none" spc="0" normalizeH="0" baseline="0" noProof="0">
                <a:ln>
                  <a:noFill/>
                </a:ln>
                <a:solidFill>
                  <a:srgbClr val="FFFFFF"/>
                </a:solidFill>
                <a:effectLst/>
                <a:uLnTx/>
                <a:uFillTx/>
                <a:latin typeface="Graphik Semibold" panose="020B0703030202060203" pitchFamily="34" charset="0"/>
                <a:ea typeface="+mn-ea"/>
                <a:cs typeface="Arial" charset="0"/>
              </a:rPr>
              <a:t>Confidencialidad</a:t>
            </a:r>
          </a:p>
        </p:txBody>
      </p:sp>
      <p:sp>
        <p:nvSpPr>
          <p:cNvPr id="50" name="Rounded Rectangle 28">
            <a:extLst>
              <a:ext uri="{FF2B5EF4-FFF2-40B4-BE49-F238E27FC236}">
                <a16:creationId xmlns:a16="http://schemas.microsoft.com/office/drawing/2014/main" id="{FF27AD00-D761-B90F-3824-6473576A237F}"/>
              </a:ext>
            </a:extLst>
          </p:cNvPr>
          <p:cNvSpPr/>
          <p:nvPr/>
        </p:nvSpPr>
        <p:spPr>
          <a:xfrm>
            <a:off x="8160443" y="3342439"/>
            <a:ext cx="1184444" cy="1226227"/>
          </a:xfrm>
          <a:prstGeom prst="rect">
            <a:avLst/>
          </a:prstGeom>
          <a:solidFill>
            <a:schemeClr val="bg1">
              <a:lumMod val="95000"/>
            </a:schemeClr>
          </a:solidFill>
          <a:ln w="19050">
            <a:noFill/>
            <a:prstDash val="sysDot"/>
            <a:headEnd type="none" w="med" len="med"/>
            <a:tailEnd type="oval" w="med" len="med"/>
          </a:ln>
        </p:spPr>
        <p:style>
          <a:lnRef idx="1">
            <a:schemeClr val="accent1"/>
          </a:lnRef>
          <a:fillRef idx="0">
            <a:schemeClr val="accent1"/>
          </a:fillRef>
          <a:effectRef idx="0">
            <a:schemeClr val="accent1"/>
          </a:effectRef>
          <a:fontRef idx="minor">
            <a:schemeClr val="tx1"/>
          </a:fontRef>
        </p:style>
        <p:txBody>
          <a:bodyPr lIns="18000" tIns="36000" rIns="18000" bIns="36000" rtlCol="0" anchor="t"/>
          <a:lstStyle/>
          <a:p>
            <a:pPr marL="0" marR="0" lvl="0" indent="0" algn="l" defTabSz="914400" rtl="0" eaLnBrk="1" fontAlgn="auto" latinLnBrk="0" hangingPunct="1">
              <a:lnSpc>
                <a:spcPct val="85000"/>
              </a:lnSpc>
              <a:spcBef>
                <a:spcPts val="0"/>
              </a:spcBef>
              <a:spcAft>
                <a:spcPts val="0"/>
              </a:spcAft>
              <a:buClrTx/>
              <a:buSzTx/>
              <a:buFontTx/>
              <a:buNone/>
              <a:tabLst/>
              <a:defRPr/>
            </a:pPr>
            <a:r>
              <a:rPr kumimoji="0" lang="es" sz="75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Verifica que un usuario, incluso si está autorizado para realizar una operación sobre una persona o contrato, tiene el perfil necesario para acceder a la información en función del nivel de confidencialidad que la entidad ha establecido para esa persona o contrato.</a:t>
            </a:r>
          </a:p>
        </p:txBody>
      </p:sp>
      <p:sp>
        <p:nvSpPr>
          <p:cNvPr id="51" name="Rounded Rectangle 50">
            <a:extLst>
              <a:ext uri="{FF2B5EF4-FFF2-40B4-BE49-F238E27FC236}">
                <a16:creationId xmlns:a16="http://schemas.microsoft.com/office/drawing/2014/main" id="{D5178BA4-40D4-F45D-3606-8055F4284124}"/>
              </a:ext>
            </a:extLst>
          </p:cNvPr>
          <p:cNvSpPr/>
          <p:nvPr/>
        </p:nvSpPr>
        <p:spPr>
          <a:xfrm>
            <a:off x="6919484" y="3004355"/>
            <a:ext cx="1184444" cy="306000"/>
          </a:xfrm>
          <a:prstGeom prst="rect">
            <a:avLst/>
          </a:prstGeom>
          <a:solidFill>
            <a:srgbClr val="AB2E72"/>
          </a:solidFill>
          <a:ln w="6350">
            <a:noFill/>
            <a:miter lim="800000"/>
            <a:headEnd/>
            <a:tailEnd/>
          </a:ln>
          <a:effectLst/>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0" marR="0" lvl="0" indent="0" algn="l" defTabSz="914400" rtl="0" eaLnBrk="1" fontAlgn="base" latinLnBrk="0" hangingPunct="1">
              <a:lnSpc>
                <a:spcPct val="85000"/>
              </a:lnSpc>
              <a:spcBef>
                <a:spcPts val="0"/>
              </a:spcBef>
              <a:spcAft>
                <a:spcPts val="300"/>
              </a:spcAft>
              <a:buClrTx/>
              <a:buSzTx/>
              <a:buFontTx/>
              <a:buNone/>
              <a:tabLst/>
              <a:defRPr/>
            </a:pPr>
            <a:r>
              <a:rPr kumimoji="0" lang="es" sz="900" b="1" i="0" u="none" strike="noStrike" kern="0" cap="none" spc="0" normalizeH="0" baseline="0" noProof="0">
                <a:ln>
                  <a:noFill/>
                </a:ln>
                <a:solidFill>
                  <a:srgbClr val="FFFFFF"/>
                </a:solidFill>
                <a:effectLst/>
                <a:uLnTx/>
                <a:uFillTx/>
                <a:latin typeface="Graphik Semibold" panose="020B0703030202060203" pitchFamily="34" charset="0"/>
                <a:ea typeface="+mn-ea"/>
                <a:cs typeface="Arial" charset="0"/>
              </a:rPr>
              <a:t>Conductor (Saga)</a:t>
            </a:r>
          </a:p>
        </p:txBody>
      </p:sp>
      <p:sp>
        <p:nvSpPr>
          <p:cNvPr id="52" name="Rounded Rectangle 28">
            <a:extLst>
              <a:ext uri="{FF2B5EF4-FFF2-40B4-BE49-F238E27FC236}">
                <a16:creationId xmlns:a16="http://schemas.microsoft.com/office/drawing/2014/main" id="{D34429E8-0975-CA48-F236-72DBABCFDE6E}"/>
              </a:ext>
            </a:extLst>
          </p:cNvPr>
          <p:cNvSpPr/>
          <p:nvPr/>
        </p:nvSpPr>
        <p:spPr>
          <a:xfrm>
            <a:off x="6919484" y="3342439"/>
            <a:ext cx="1184444" cy="1226227"/>
          </a:xfrm>
          <a:prstGeom prst="rect">
            <a:avLst/>
          </a:prstGeom>
          <a:solidFill>
            <a:schemeClr val="bg1">
              <a:lumMod val="95000"/>
            </a:schemeClr>
          </a:solidFill>
          <a:ln w="19050">
            <a:noFill/>
            <a:prstDash val="sysDot"/>
            <a:headEnd type="none" w="med" len="med"/>
            <a:tailEnd type="oval" w="med" len="med"/>
          </a:ln>
        </p:spPr>
        <p:style>
          <a:lnRef idx="1">
            <a:schemeClr val="accent1"/>
          </a:lnRef>
          <a:fillRef idx="0">
            <a:schemeClr val="accent1"/>
          </a:fillRef>
          <a:effectRef idx="0">
            <a:schemeClr val="accent1"/>
          </a:effectRef>
          <a:fontRef idx="minor">
            <a:schemeClr val="tx1"/>
          </a:fontRef>
        </p:style>
        <p:txBody>
          <a:bodyPr lIns="36000" tIns="36000" rIns="36000" bIns="36000" rtlCol="0" anchor="t"/>
          <a:lstStyle/>
          <a:p>
            <a:pPr marL="0" marR="0" lvl="0" indent="0" algn="l" defTabSz="914400" rtl="0" eaLnBrk="1" fontAlgn="auto" latinLnBrk="0" hangingPunct="1">
              <a:lnSpc>
                <a:spcPct val="85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Gestiona transacciones de larga duración que abarcan múltiples servicios. Permite la coordinación y orquestación de estas transacciones para garantizar la consistencia y fiabilidad de los datos.</a:t>
            </a:r>
          </a:p>
        </p:txBody>
      </p:sp>
      <p:sp>
        <p:nvSpPr>
          <p:cNvPr id="53" name="Rounded Rectangle 50">
            <a:extLst>
              <a:ext uri="{FF2B5EF4-FFF2-40B4-BE49-F238E27FC236}">
                <a16:creationId xmlns:a16="http://schemas.microsoft.com/office/drawing/2014/main" id="{5DB434AB-12F8-1BF9-C264-56323FA186BE}"/>
              </a:ext>
            </a:extLst>
          </p:cNvPr>
          <p:cNvSpPr/>
          <p:nvPr/>
        </p:nvSpPr>
        <p:spPr>
          <a:xfrm>
            <a:off x="9401401" y="3004355"/>
            <a:ext cx="1184444" cy="306000"/>
          </a:xfrm>
          <a:prstGeom prst="rect">
            <a:avLst/>
          </a:prstGeom>
          <a:solidFill>
            <a:srgbClr val="AB2E72"/>
          </a:solidFill>
          <a:ln w="6350">
            <a:noFill/>
            <a:miter lim="800000"/>
            <a:headEnd/>
            <a:tailEnd/>
          </a:ln>
          <a:effectLst/>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0" marR="0" lvl="0" indent="0" algn="l" defTabSz="914400" rtl="0" eaLnBrk="1" fontAlgn="base" latinLnBrk="0" hangingPunct="1">
              <a:lnSpc>
                <a:spcPct val="85000"/>
              </a:lnSpc>
              <a:spcBef>
                <a:spcPts val="0"/>
              </a:spcBef>
              <a:spcAft>
                <a:spcPts val="300"/>
              </a:spcAft>
              <a:buClrTx/>
              <a:buSzTx/>
              <a:buFontTx/>
              <a:buNone/>
              <a:tabLst/>
              <a:defRPr/>
            </a:pPr>
            <a:r>
              <a:rPr kumimoji="0" lang="es" sz="900" b="1" i="0" u="none" strike="noStrike" kern="0" cap="none" spc="0" normalizeH="0" baseline="0" noProof="0">
                <a:ln>
                  <a:noFill/>
                </a:ln>
                <a:solidFill>
                  <a:srgbClr val="FFFFFF"/>
                </a:solidFill>
                <a:effectLst/>
                <a:uLnTx/>
                <a:uFillTx/>
                <a:latin typeface="Graphik Semibold" panose="020B0703030202060203" pitchFamily="34" charset="0"/>
                <a:ea typeface="+mn-ea"/>
                <a:cs typeface="Arial" charset="0"/>
              </a:rPr>
              <a:t>Caché</a:t>
            </a:r>
          </a:p>
        </p:txBody>
      </p:sp>
      <p:sp>
        <p:nvSpPr>
          <p:cNvPr id="54" name="Rounded Rectangle 28">
            <a:extLst>
              <a:ext uri="{FF2B5EF4-FFF2-40B4-BE49-F238E27FC236}">
                <a16:creationId xmlns:a16="http://schemas.microsoft.com/office/drawing/2014/main" id="{45F4BAD2-C720-57CC-AB95-CC64F3E27052}"/>
              </a:ext>
            </a:extLst>
          </p:cNvPr>
          <p:cNvSpPr/>
          <p:nvPr/>
        </p:nvSpPr>
        <p:spPr>
          <a:xfrm>
            <a:off x="9401401" y="3342439"/>
            <a:ext cx="1184444" cy="1226227"/>
          </a:xfrm>
          <a:prstGeom prst="rect">
            <a:avLst/>
          </a:prstGeom>
          <a:solidFill>
            <a:schemeClr val="bg1">
              <a:lumMod val="95000"/>
            </a:schemeClr>
          </a:solidFill>
          <a:ln w="19050">
            <a:noFill/>
            <a:prstDash val="sysDot"/>
            <a:headEnd type="none" w="med" len="med"/>
            <a:tailEnd type="oval" w="med" len="med"/>
          </a:ln>
        </p:spPr>
        <p:style>
          <a:lnRef idx="1">
            <a:schemeClr val="accent1"/>
          </a:lnRef>
          <a:fillRef idx="0">
            <a:schemeClr val="accent1"/>
          </a:fillRef>
          <a:effectRef idx="0">
            <a:schemeClr val="accent1"/>
          </a:effectRef>
          <a:fontRef idx="minor">
            <a:schemeClr val="tx1"/>
          </a:fontRef>
        </p:style>
        <p:txBody>
          <a:bodyPr lIns="36000" tIns="36000" rIns="36000" bIns="36000" rtlCol="0" anchor="t"/>
          <a:lstStyle/>
          <a:p>
            <a:pPr marL="0" marR="0" lvl="0" indent="0" algn="l" defTabSz="914400" rtl="0" eaLnBrk="1" fontAlgn="auto" latinLnBrk="0" hangingPunct="1">
              <a:lnSpc>
                <a:spcPct val="85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Proceso de almacenar datos frecuentemente consultados en una ubicación temporal (caché) para mejorar el rendimiento reduciendo la necesidad de recuperar repetidamente los datos de su fuente original.</a:t>
            </a:r>
          </a:p>
        </p:txBody>
      </p:sp>
      <p:sp>
        <p:nvSpPr>
          <p:cNvPr id="55" name="Rounded Rectangle 48">
            <a:extLst>
              <a:ext uri="{FF2B5EF4-FFF2-40B4-BE49-F238E27FC236}">
                <a16:creationId xmlns:a16="http://schemas.microsoft.com/office/drawing/2014/main" id="{4AC898B3-C2C1-C8A5-C1AA-06E6C7F77C49}"/>
              </a:ext>
            </a:extLst>
          </p:cNvPr>
          <p:cNvSpPr/>
          <p:nvPr/>
        </p:nvSpPr>
        <p:spPr>
          <a:xfrm>
            <a:off x="8160443" y="4657902"/>
            <a:ext cx="1184444" cy="306000"/>
          </a:xfrm>
          <a:prstGeom prst="rect">
            <a:avLst/>
          </a:prstGeom>
          <a:solidFill>
            <a:srgbClr val="AB2E72"/>
          </a:solidFill>
          <a:ln w="6350">
            <a:noFill/>
            <a:miter lim="800000"/>
            <a:headEnd/>
            <a:tailEnd/>
          </a:ln>
          <a:effectLst/>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0" marR="0" lvl="0" indent="0" algn="l" defTabSz="914400" rtl="0" eaLnBrk="1" fontAlgn="base" latinLnBrk="0" hangingPunct="1">
              <a:lnSpc>
                <a:spcPct val="85000"/>
              </a:lnSpc>
              <a:spcBef>
                <a:spcPts val="0"/>
              </a:spcBef>
              <a:spcAft>
                <a:spcPts val="300"/>
              </a:spcAft>
              <a:buClrTx/>
              <a:buSzTx/>
              <a:buFontTx/>
              <a:buNone/>
              <a:tabLst/>
              <a:defRPr/>
            </a:pPr>
            <a:r>
              <a:rPr kumimoji="0" lang="es" sz="900" b="1" i="0" u="none" strike="noStrike" kern="0" cap="none" spc="0" normalizeH="0" baseline="0" noProof="0">
                <a:ln>
                  <a:noFill/>
                </a:ln>
                <a:solidFill>
                  <a:srgbClr val="FFFFFF"/>
                </a:solidFill>
                <a:effectLst/>
                <a:uLnTx/>
                <a:uFillTx/>
                <a:latin typeface="Graphik Semibold" panose="020B0703030202060203" pitchFamily="34" charset="0"/>
                <a:ea typeface="+mn-ea"/>
                <a:cs typeface="Arial" charset="0"/>
              </a:rPr>
              <a:t>Gestión de Errores</a:t>
            </a:r>
          </a:p>
        </p:txBody>
      </p:sp>
      <p:sp>
        <p:nvSpPr>
          <p:cNvPr id="56" name="Rounded Rectangle 28">
            <a:extLst>
              <a:ext uri="{FF2B5EF4-FFF2-40B4-BE49-F238E27FC236}">
                <a16:creationId xmlns:a16="http://schemas.microsoft.com/office/drawing/2014/main" id="{54938650-A80D-A9AD-4E52-3AB817C2B8D5}"/>
              </a:ext>
            </a:extLst>
          </p:cNvPr>
          <p:cNvSpPr/>
          <p:nvPr/>
        </p:nvSpPr>
        <p:spPr>
          <a:xfrm>
            <a:off x="8160443" y="5011526"/>
            <a:ext cx="1184444" cy="1414935"/>
          </a:xfrm>
          <a:prstGeom prst="rect">
            <a:avLst/>
          </a:prstGeom>
          <a:solidFill>
            <a:schemeClr val="bg1">
              <a:lumMod val="95000"/>
            </a:schemeClr>
          </a:solidFill>
          <a:ln w="19050">
            <a:noFill/>
            <a:prstDash val="sysDot"/>
            <a:headEnd type="none" w="med" len="med"/>
            <a:tailEnd type="oval" w="med" len="med"/>
          </a:ln>
        </p:spPr>
        <p:style>
          <a:lnRef idx="1">
            <a:schemeClr val="accent1"/>
          </a:lnRef>
          <a:fillRef idx="0">
            <a:schemeClr val="accent1"/>
          </a:fillRef>
          <a:effectRef idx="0">
            <a:schemeClr val="accent1"/>
          </a:effectRef>
          <a:fontRef idx="minor">
            <a:schemeClr val="tx1"/>
          </a:fontRef>
        </p:style>
        <p:txBody>
          <a:bodyPr lIns="36000" rIns="36000" rtlCol="0" anchor="t"/>
          <a:lstStyle/>
          <a:p>
            <a:pPr marL="0" marR="0" lvl="0" indent="0" algn="l" defTabSz="914400" rtl="0" eaLnBrk="1" fontAlgn="auto" latinLnBrk="0" hangingPunct="1">
              <a:lnSpc>
                <a:spcPct val="85000"/>
              </a:lnSpc>
              <a:spcBef>
                <a:spcPts val="0"/>
              </a:spcBef>
              <a:spcAft>
                <a:spcPts val="0"/>
              </a:spcAft>
              <a:buClrTx/>
              <a:buSzTx/>
              <a:buFontTx/>
              <a:buNone/>
              <a:tabLst/>
              <a:defRPr/>
            </a:pPr>
            <a:r>
              <a:rPr kumimoji="0" lang="es" sz="800" b="0" i="0" u="none" strike="noStrike" kern="1200" cap="none" spc="0" normalizeH="0" baseline="0" noProof="0" dirty="0">
                <a:ln>
                  <a:noFill/>
                </a:ln>
                <a:solidFill>
                  <a:srgbClr val="000000"/>
                </a:solidFill>
                <a:effectLst/>
                <a:uLnTx/>
                <a:uFillTx/>
                <a:latin typeface="Graphik Light" panose="020B0403030202060203" pitchFamily="34" charset="0"/>
                <a:ea typeface="+mn-ea"/>
                <a:cs typeface="+mn-cs"/>
              </a:rPr>
              <a:t>Permite la gestión de errores de componentes (funcionales o técnicos) y de aquellos dentro de la coreografía de proceso/API. Se basa en códigos de error que deben ser interpretados por la capa de coreografía / orquestación.</a:t>
            </a:r>
          </a:p>
          <a:p>
            <a:pPr marL="0" marR="0" lvl="0" indent="0" algn="l" defTabSz="914400" rtl="0" eaLnBrk="1" fontAlgn="auto" latinLnBrk="0" hangingPunct="1">
              <a:lnSpc>
                <a:spcPct val="85000"/>
              </a:lnSpc>
              <a:spcBef>
                <a:spcPts val="0"/>
              </a:spcBef>
              <a:spcAft>
                <a:spcPts val="0"/>
              </a:spcAft>
              <a:buClrTx/>
              <a:buSzTx/>
              <a:buFontTx/>
              <a:buNone/>
              <a:tabLst/>
              <a:defRPr/>
            </a:pPr>
            <a:endParaRPr kumimoji="0" lang="en-US" sz="800" b="0" i="0" u="none" strike="noStrike" kern="1200" cap="none" spc="0" normalizeH="0" baseline="0" noProof="0" dirty="0">
              <a:ln>
                <a:noFill/>
              </a:ln>
              <a:solidFill>
                <a:srgbClr val="000000"/>
              </a:solidFill>
              <a:effectLst/>
              <a:uLnTx/>
              <a:uFillTx/>
              <a:latin typeface="Graphik Light" panose="020B0403030202060203" pitchFamily="34" charset="0"/>
              <a:ea typeface="+mn-ea"/>
              <a:cs typeface="+mn-cs"/>
            </a:endParaRPr>
          </a:p>
        </p:txBody>
      </p:sp>
      <p:sp>
        <p:nvSpPr>
          <p:cNvPr id="57" name="Rounded Rectangle 50">
            <a:extLst>
              <a:ext uri="{FF2B5EF4-FFF2-40B4-BE49-F238E27FC236}">
                <a16:creationId xmlns:a16="http://schemas.microsoft.com/office/drawing/2014/main" id="{8410C7BE-5001-6CA6-2F36-9CDCBC2C5549}"/>
              </a:ext>
            </a:extLst>
          </p:cNvPr>
          <p:cNvSpPr/>
          <p:nvPr/>
        </p:nvSpPr>
        <p:spPr>
          <a:xfrm>
            <a:off x="6919484" y="4657902"/>
            <a:ext cx="1184444" cy="306000"/>
          </a:xfrm>
          <a:prstGeom prst="rect">
            <a:avLst/>
          </a:prstGeom>
          <a:solidFill>
            <a:srgbClr val="AB2E72"/>
          </a:solidFill>
          <a:ln w="6350">
            <a:noFill/>
            <a:miter lim="800000"/>
            <a:headEnd/>
            <a:tailEnd/>
          </a:ln>
          <a:effectLst/>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0" marR="0" lvl="0" indent="0" algn="l" defTabSz="914400" rtl="0" eaLnBrk="1" fontAlgn="base" latinLnBrk="0" hangingPunct="1">
              <a:lnSpc>
                <a:spcPct val="85000"/>
              </a:lnSpc>
              <a:spcBef>
                <a:spcPts val="0"/>
              </a:spcBef>
              <a:spcAft>
                <a:spcPts val="300"/>
              </a:spcAft>
              <a:buClrTx/>
              <a:buSzTx/>
              <a:buFontTx/>
              <a:buNone/>
              <a:tabLst/>
              <a:defRPr/>
            </a:pPr>
            <a:r>
              <a:rPr kumimoji="0" lang="es" sz="900" b="1" i="0" u="none" strike="noStrike" kern="0" cap="none" spc="0" normalizeH="0" baseline="0" noProof="0">
                <a:ln>
                  <a:noFill/>
                </a:ln>
                <a:solidFill>
                  <a:srgbClr val="FFFFFF"/>
                </a:solidFill>
                <a:effectLst/>
                <a:uLnTx/>
                <a:uFillTx/>
                <a:latin typeface="Graphik Semibold" panose="020B0703030202060203" pitchFamily="34" charset="0"/>
                <a:ea typeface="+mn-ea"/>
                <a:cs typeface="Arial" charset="0"/>
              </a:rPr>
              <a:t>ID de operación</a:t>
            </a:r>
          </a:p>
        </p:txBody>
      </p:sp>
      <p:sp>
        <p:nvSpPr>
          <p:cNvPr id="58" name="Rounded Rectangle 28">
            <a:extLst>
              <a:ext uri="{FF2B5EF4-FFF2-40B4-BE49-F238E27FC236}">
                <a16:creationId xmlns:a16="http://schemas.microsoft.com/office/drawing/2014/main" id="{91791855-6A17-D330-E2F5-963A61639F63}"/>
              </a:ext>
            </a:extLst>
          </p:cNvPr>
          <p:cNvSpPr/>
          <p:nvPr/>
        </p:nvSpPr>
        <p:spPr>
          <a:xfrm>
            <a:off x="6919484" y="5011526"/>
            <a:ext cx="1184444" cy="1414935"/>
          </a:xfrm>
          <a:prstGeom prst="rect">
            <a:avLst/>
          </a:prstGeom>
          <a:solidFill>
            <a:schemeClr val="bg1">
              <a:lumMod val="95000"/>
            </a:schemeClr>
          </a:solidFill>
          <a:ln w="19050">
            <a:noFill/>
            <a:prstDash val="sysDot"/>
            <a:headEnd type="none" w="med" len="med"/>
            <a:tailEnd type="oval" w="med" len="med"/>
          </a:ln>
        </p:spPr>
        <p:style>
          <a:lnRef idx="1">
            <a:schemeClr val="accent1"/>
          </a:lnRef>
          <a:fillRef idx="0">
            <a:schemeClr val="accent1"/>
          </a:fillRef>
          <a:effectRef idx="0">
            <a:schemeClr val="accent1"/>
          </a:effectRef>
          <a:fontRef idx="minor">
            <a:schemeClr val="tx1"/>
          </a:fontRef>
        </p:style>
        <p:txBody>
          <a:bodyPr lIns="36000" rIns="36000" rtlCol="0" anchor="t"/>
          <a:lstStyle/>
          <a:p>
            <a:pPr marL="0" marR="0" lvl="0" indent="0" algn="l" defTabSz="914400" rtl="0" eaLnBrk="1" fontAlgn="auto" latinLnBrk="0" hangingPunct="1">
              <a:lnSpc>
                <a:spcPct val="85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ID único que debe generarse en la solicitud para propagarse a lo largo de las diferentes capas.</a:t>
            </a:r>
          </a:p>
          <a:p>
            <a:pPr marL="0" marR="0" lvl="0" indent="0" algn="l" defTabSz="914400" rtl="0" eaLnBrk="1" fontAlgn="auto" latinLnBrk="0" hangingPunct="1">
              <a:lnSpc>
                <a:spcPct val="85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Permite la trazabilidad de toda la operación.</a:t>
            </a:r>
          </a:p>
        </p:txBody>
      </p:sp>
      <p:sp>
        <p:nvSpPr>
          <p:cNvPr id="59" name="Rounded Rectangle 50">
            <a:extLst>
              <a:ext uri="{FF2B5EF4-FFF2-40B4-BE49-F238E27FC236}">
                <a16:creationId xmlns:a16="http://schemas.microsoft.com/office/drawing/2014/main" id="{FCA82FBC-925E-3846-FEA8-438C2FFAFAFB}"/>
              </a:ext>
            </a:extLst>
          </p:cNvPr>
          <p:cNvSpPr/>
          <p:nvPr/>
        </p:nvSpPr>
        <p:spPr>
          <a:xfrm>
            <a:off x="9401401" y="4657902"/>
            <a:ext cx="1184444" cy="306000"/>
          </a:xfrm>
          <a:prstGeom prst="rect">
            <a:avLst/>
          </a:prstGeom>
          <a:solidFill>
            <a:srgbClr val="AB2E72"/>
          </a:solidFill>
          <a:ln w="6350">
            <a:noFill/>
            <a:miter lim="800000"/>
            <a:headEnd/>
            <a:tailEnd/>
          </a:ln>
          <a:effectLst/>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0" marR="0" lvl="0" indent="0" algn="l" defTabSz="914400" rtl="0" eaLnBrk="1" fontAlgn="base" latinLnBrk="0" hangingPunct="1">
              <a:lnSpc>
                <a:spcPct val="85000"/>
              </a:lnSpc>
              <a:spcBef>
                <a:spcPts val="0"/>
              </a:spcBef>
              <a:spcAft>
                <a:spcPts val="300"/>
              </a:spcAft>
              <a:buClrTx/>
              <a:buSzTx/>
              <a:buFontTx/>
              <a:buNone/>
              <a:tabLst/>
              <a:defRPr/>
            </a:pPr>
            <a:r>
              <a:rPr kumimoji="0" lang="es" sz="900" b="1" i="0" u="none" strike="noStrike" kern="0" cap="none" spc="0" normalizeH="0" baseline="0" noProof="0">
                <a:ln>
                  <a:noFill/>
                </a:ln>
                <a:solidFill>
                  <a:srgbClr val="FFFFFF"/>
                </a:solidFill>
                <a:effectLst/>
                <a:uLnTx/>
                <a:uFillTx/>
                <a:latin typeface="Graphik Semibold" panose="020B0703030202060203" pitchFamily="34" charset="0"/>
                <a:ea typeface="+mn-ea"/>
                <a:cs typeface="Arial" charset="0"/>
              </a:rPr>
              <a:t>Modelado de Datos</a:t>
            </a:r>
          </a:p>
        </p:txBody>
      </p:sp>
      <p:sp>
        <p:nvSpPr>
          <p:cNvPr id="60" name="Rounded Rectangle 28">
            <a:extLst>
              <a:ext uri="{FF2B5EF4-FFF2-40B4-BE49-F238E27FC236}">
                <a16:creationId xmlns:a16="http://schemas.microsoft.com/office/drawing/2014/main" id="{39CA02F8-9FC8-C343-B5AA-6E23A20EDAF6}"/>
              </a:ext>
            </a:extLst>
          </p:cNvPr>
          <p:cNvSpPr/>
          <p:nvPr/>
        </p:nvSpPr>
        <p:spPr>
          <a:xfrm>
            <a:off x="9401401" y="5011526"/>
            <a:ext cx="1184444" cy="1414935"/>
          </a:xfrm>
          <a:prstGeom prst="rect">
            <a:avLst/>
          </a:prstGeom>
          <a:solidFill>
            <a:schemeClr val="bg1">
              <a:lumMod val="95000"/>
            </a:schemeClr>
          </a:solidFill>
          <a:ln w="19050">
            <a:noFill/>
            <a:prstDash val="sysDot"/>
            <a:headEnd type="none" w="med" len="med"/>
            <a:tailEnd type="oval" w="med" len="med"/>
          </a:ln>
        </p:spPr>
        <p:style>
          <a:lnRef idx="1">
            <a:schemeClr val="accent1"/>
          </a:lnRef>
          <a:fillRef idx="0">
            <a:schemeClr val="accent1"/>
          </a:fillRef>
          <a:effectRef idx="0">
            <a:schemeClr val="accent1"/>
          </a:effectRef>
          <a:fontRef idx="minor">
            <a:schemeClr val="tx1"/>
          </a:fontRef>
        </p:style>
        <p:txBody>
          <a:bodyPr lIns="36000" rIns="36000" rtlCol="0" anchor="t"/>
          <a:lstStyle/>
          <a:p>
            <a:pPr marL="0" marR="0" lvl="0" indent="0" algn="l" defTabSz="914400" rtl="0" eaLnBrk="1" fontAlgn="auto" latinLnBrk="0" hangingPunct="1">
              <a:lnSpc>
                <a:spcPct val="85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Repositorio central para registrar y mantener datos relacionados entre diferentes conceptos empresariales. Punto único de contacto para registrar la información existente, cómo se genera y dependencias de datos.</a:t>
            </a:r>
          </a:p>
        </p:txBody>
      </p:sp>
      <p:cxnSp>
        <p:nvCxnSpPr>
          <p:cNvPr id="61" name="Straight Connector 60">
            <a:extLst>
              <a:ext uri="{FF2B5EF4-FFF2-40B4-BE49-F238E27FC236}">
                <a16:creationId xmlns:a16="http://schemas.microsoft.com/office/drawing/2014/main" id="{13888B29-E0D2-2046-7F5E-6C765D807F0E}"/>
              </a:ext>
            </a:extLst>
          </p:cNvPr>
          <p:cNvCxnSpPr>
            <a:cxnSpLocks/>
          </p:cNvCxnSpPr>
          <p:nvPr/>
        </p:nvCxnSpPr>
        <p:spPr>
          <a:xfrm>
            <a:off x="6735959" y="1648460"/>
            <a:ext cx="0" cy="1265899"/>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cxnSp>
      <p:sp>
        <p:nvSpPr>
          <p:cNvPr id="62" name="Rounded Rectangle 50">
            <a:extLst>
              <a:ext uri="{FF2B5EF4-FFF2-40B4-BE49-F238E27FC236}">
                <a16:creationId xmlns:a16="http://schemas.microsoft.com/office/drawing/2014/main" id="{598B7AB6-0CED-70C8-033A-6757CE12389C}"/>
              </a:ext>
            </a:extLst>
          </p:cNvPr>
          <p:cNvSpPr/>
          <p:nvPr/>
        </p:nvSpPr>
        <p:spPr>
          <a:xfrm>
            <a:off x="10626556" y="4657902"/>
            <a:ext cx="1184444" cy="306000"/>
          </a:xfrm>
          <a:prstGeom prst="rect">
            <a:avLst/>
          </a:prstGeom>
          <a:solidFill>
            <a:srgbClr val="AB2E72"/>
          </a:solidFill>
          <a:ln w="6350">
            <a:noFill/>
            <a:miter lim="800000"/>
            <a:headEnd/>
            <a:tailEnd/>
          </a:ln>
          <a:effectLst/>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0" marR="0" lvl="0" indent="0" algn="l" defTabSz="914400" rtl="0" eaLnBrk="1" fontAlgn="base" latinLnBrk="0" hangingPunct="1">
              <a:lnSpc>
                <a:spcPct val="85000"/>
              </a:lnSpc>
              <a:spcBef>
                <a:spcPts val="0"/>
              </a:spcBef>
              <a:spcAft>
                <a:spcPts val="300"/>
              </a:spcAft>
              <a:buClrTx/>
              <a:buSzTx/>
              <a:buFontTx/>
              <a:buNone/>
              <a:tabLst/>
              <a:defRPr/>
            </a:pPr>
            <a:r>
              <a:rPr kumimoji="0" lang="es" sz="900" b="1" i="0" u="none" strike="noStrike" kern="0" cap="none" spc="0" normalizeH="0" baseline="0" noProof="0">
                <a:ln>
                  <a:noFill/>
                </a:ln>
                <a:solidFill>
                  <a:srgbClr val="FFFFFF"/>
                </a:solidFill>
                <a:effectLst/>
                <a:uLnTx/>
                <a:uFillTx/>
                <a:latin typeface="Graphik Semibold" panose="020B0703030202060203" pitchFamily="34" charset="0"/>
                <a:ea typeface="+mn-ea"/>
                <a:cs typeface="Arial" charset="0"/>
              </a:rPr>
              <a:t>Observabilidad</a:t>
            </a:r>
          </a:p>
        </p:txBody>
      </p:sp>
      <p:sp>
        <p:nvSpPr>
          <p:cNvPr id="63" name="Rounded Rectangle 28">
            <a:extLst>
              <a:ext uri="{FF2B5EF4-FFF2-40B4-BE49-F238E27FC236}">
                <a16:creationId xmlns:a16="http://schemas.microsoft.com/office/drawing/2014/main" id="{DC2F9B1C-E008-C741-C777-A09339DAB9A4}"/>
              </a:ext>
            </a:extLst>
          </p:cNvPr>
          <p:cNvSpPr/>
          <p:nvPr/>
        </p:nvSpPr>
        <p:spPr>
          <a:xfrm>
            <a:off x="10626556" y="5011526"/>
            <a:ext cx="1184444" cy="1414935"/>
          </a:xfrm>
          <a:prstGeom prst="rect">
            <a:avLst/>
          </a:prstGeom>
          <a:solidFill>
            <a:schemeClr val="bg1">
              <a:lumMod val="95000"/>
            </a:schemeClr>
          </a:solidFill>
          <a:ln w="19050">
            <a:noFill/>
            <a:prstDash val="sysDot"/>
            <a:headEnd type="none" w="med" len="med"/>
            <a:tailEnd type="oval" w="med" len="med"/>
          </a:ln>
        </p:spPr>
        <p:style>
          <a:lnRef idx="1">
            <a:schemeClr val="accent1"/>
          </a:lnRef>
          <a:fillRef idx="0">
            <a:schemeClr val="accent1"/>
          </a:fillRef>
          <a:effectRef idx="0">
            <a:schemeClr val="accent1"/>
          </a:effectRef>
          <a:fontRef idx="minor">
            <a:schemeClr val="tx1"/>
          </a:fontRef>
        </p:style>
        <p:txBody>
          <a:bodyPr lIns="36000" rIns="36000" rtlCol="0" anchor="t"/>
          <a:lstStyle/>
          <a:p>
            <a:pPr marL="0" marR="0" lvl="0" indent="0" algn="l" defTabSz="914400" rtl="0" eaLnBrk="1" fontAlgn="auto" latinLnBrk="0" hangingPunct="1">
              <a:lnSpc>
                <a:spcPct val="85000"/>
              </a:lnSpc>
              <a:spcBef>
                <a:spcPts val="0"/>
              </a:spcBef>
              <a:spcAft>
                <a:spcPts val="0"/>
              </a:spcAft>
              <a:buClrTx/>
              <a:buSzTx/>
              <a:buFontTx/>
              <a:buNone/>
              <a:tabLst/>
              <a:defRPr/>
            </a:pPr>
            <a:r>
              <a:rPr kumimoji="0" lang="es" sz="75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Asegurar la observabilidad desde dos ángulos diferentes:</a:t>
            </a:r>
          </a:p>
          <a:p>
            <a:pPr marL="0" marR="0" lvl="0" indent="0" algn="l" defTabSz="914400" rtl="0" eaLnBrk="1" fontAlgn="auto" latinLnBrk="0" hangingPunct="1">
              <a:lnSpc>
                <a:spcPct val="85000"/>
              </a:lnSpc>
              <a:spcBef>
                <a:spcPts val="0"/>
              </a:spcBef>
              <a:spcAft>
                <a:spcPts val="0"/>
              </a:spcAft>
              <a:buClrTx/>
              <a:buSzTx/>
              <a:buFontTx/>
              <a:buNone/>
              <a:tabLst/>
              <a:defRPr/>
            </a:pPr>
            <a:r>
              <a:rPr kumimoji="0" lang="es" sz="75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1.- Mapeo de todos los componentes tecnológicos que soportan cada uno de los diferentes servicios empresariales</a:t>
            </a:r>
          </a:p>
          <a:p>
            <a:pPr marL="0" marR="0" lvl="0" indent="0" algn="l" defTabSz="914400" rtl="0" eaLnBrk="1" fontAlgn="auto" latinLnBrk="0" hangingPunct="1">
              <a:lnSpc>
                <a:spcPct val="85000"/>
              </a:lnSpc>
              <a:spcBef>
                <a:spcPts val="0"/>
              </a:spcBef>
              <a:spcAft>
                <a:spcPts val="0"/>
              </a:spcAft>
              <a:buClrTx/>
              <a:buSzTx/>
              <a:buFontTx/>
              <a:buNone/>
              <a:tabLst/>
              <a:defRPr/>
            </a:pPr>
            <a:r>
              <a:rPr kumimoji="0" lang="es" sz="75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2.- Trazabilidad dinámica y en tiempo real de todos los diferentes flujos entre todos los componentes tecnológicas implicados. </a:t>
            </a:r>
          </a:p>
        </p:txBody>
      </p:sp>
    </p:spTree>
    <p:extLst>
      <p:ext uri="{BB962C8B-B14F-4D97-AF65-F5344CB8AC3E}">
        <p14:creationId xmlns:p14="http://schemas.microsoft.com/office/powerpoint/2010/main" val="20001974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BF42E0-77FA-8A8E-216D-94907D0AC5C5}"/>
            </a:ext>
          </a:extLst>
        </p:cNvPr>
        <p:cNvGrpSpPr/>
        <p:nvPr/>
      </p:nvGrpSpPr>
      <p:grpSpPr>
        <a:xfrm>
          <a:off x="0" y="0"/>
          <a:ext cx="0" cy="0"/>
          <a:chOff x="0" y="0"/>
          <a:chExt cx="0" cy="0"/>
        </a:xfrm>
      </p:grpSpPr>
      <p:pic>
        <p:nvPicPr>
          <p:cNvPr id="16" name="Picture Placeholder 15">
            <a:extLst>
              <a:ext uri="{FF2B5EF4-FFF2-40B4-BE49-F238E27FC236}">
                <a16:creationId xmlns:a16="http://schemas.microsoft.com/office/drawing/2014/main" id="{FC621569-776A-22A2-1A1A-8CC96862874B}"/>
              </a:ext>
            </a:extLst>
          </p:cNvPr>
          <p:cNvPicPr>
            <a:picLocks noGrp="1" noChangeAspect="1"/>
          </p:cNvPicPr>
          <p:nvPr>
            <p:ph type="pic" sz="quarter" idx="4294967295"/>
          </p:nvPr>
        </p:nvPicPr>
        <p:blipFill>
          <a:blip r:embed="rId2">
            <a:extLst>
              <a:ext uri="{28A0092B-C50C-407E-A947-70E740481C1C}">
                <a14:useLocalDpi xmlns:a14="http://schemas.microsoft.com/office/drawing/2010/main" val="0"/>
              </a:ext>
            </a:extLst>
          </a:blip>
          <a:srcRect l="20062" r="20062"/>
          <a:stretch/>
        </p:blipFill>
        <p:spPr>
          <a:xfrm>
            <a:off x="6096000" y="0"/>
            <a:ext cx="6096000" cy="6858000"/>
          </a:xfrm>
          <a:prstGeom prst="rect">
            <a:avLst/>
          </a:prstGeom>
        </p:spPr>
      </p:pic>
      <p:sp>
        <p:nvSpPr>
          <p:cNvPr id="17" name="TextBox 16">
            <a:extLst>
              <a:ext uri="{FF2B5EF4-FFF2-40B4-BE49-F238E27FC236}">
                <a16:creationId xmlns:a16="http://schemas.microsoft.com/office/drawing/2014/main" id="{3EEFEE3B-750C-69C5-5DF5-0C711038C8F1}"/>
              </a:ext>
            </a:extLst>
          </p:cNvPr>
          <p:cNvSpPr txBox="1"/>
          <p:nvPr/>
        </p:nvSpPr>
        <p:spPr>
          <a:xfrm>
            <a:off x="7054753" y="6447723"/>
            <a:ext cx="4551903" cy="203203"/>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r>
              <a:rPr kumimoji="0" lang="es" sz="8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 Copyright © 2025 Accenture. Todos los derechos reservados.</a:t>
            </a:r>
          </a:p>
        </p:txBody>
      </p:sp>
      <p:sp>
        <p:nvSpPr>
          <p:cNvPr id="18" name="TextBox 17">
            <a:extLst>
              <a:ext uri="{FF2B5EF4-FFF2-40B4-BE49-F238E27FC236}">
                <a16:creationId xmlns:a16="http://schemas.microsoft.com/office/drawing/2014/main" id="{322C619A-891C-DD26-7F57-CBC9839A777B}"/>
              </a:ext>
            </a:extLst>
          </p:cNvPr>
          <p:cNvSpPr txBox="1"/>
          <p:nvPr/>
        </p:nvSpPr>
        <p:spPr>
          <a:xfrm>
            <a:off x="11621120" y="6459129"/>
            <a:ext cx="505097" cy="20005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F90F471-3972-4120-B8B3-0237DE626C35}" type="slidenum">
              <a:rPr kumimoji="0" lang="en-US" sz="700" b="0" i="0" u="none" strike="noStrike" kern="1200" cap="none" spc="0" normalizeH="0" baseline="0" noProof="0" smtClean="0">
                <a:ln>
                  <a:noFill/>
                </a:ln>
                <a:solidFill>
                  <a:srgbClr val="000000"/>
                </a:solidFill>
                <a:effectLst/>
                <a:uLnTx/>
                <a:uFillTx/>
                <a:latin typeface="Graphik Light" panose="020B0403030202060203" pitchFamily="34"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a:t>
            </a:fld>
            <a:endParaRPr kumimoji="0" lang="en-US" sz="7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endParaRPr>
          </a:p>
        </p:txBody>
      </p:sp>
      <p:sp>
        <p:nvSpPr>
          <p:cNvPr id="14" name="Text Placeholder 8">
            <a:extLst>
              <a:ext uri="{FF2B5EF4-FFF2-40B4-BE49-F238E27FC236}">
                <a16:creationId xmlns:a16="http://schemas.microsoft.com/office/drawing/2014/main" id="{30AA5193-F654-0B35-8BB7-285734F523D8}"/>
              </a:ext>
            </a:extLst>
          </p:cNvPr>
          <p:cNvSpPr txBox="1">
            <a:spLocks/>
          </p:cNvSpPr>
          <p:nvPr/>
        </p:nvSpPr>
        <p:spPr>
          <a:xfrm>
            <a:off x="381000" y="2199546"/>
            <a:ext cx="2641600" cy="772253"/>
          </a:xfrm>
          <a:prstGeom prst="rect">
            <a:avLst/>
          </a:prstGeom>
        </p:spPr>
        <p:txBody>
          <a:bodyPr vert="horz" lIns="0" tIns="0" rIns="0" bIns="0" rtlCol="0">
            <a:noAutofit/>
          </a:bodyPr>
          <a:lstStyle>
            <a:lvl1pPr marL="0" indent="0" algn="l" defTabSz="228600" rtl="0" eaLnBrk="1" latinLnBrk="0" hangingPunct="1">
              <a:lnSpc>
                <a:spcPct val="100000"/>
              </a:lnSpc>
              <a:spcBef>
                <a:spcPts val="0"/>
              </a:spcBef>
              <a:spcAft>
                <a:spcPts val="600"/>
              </a:spcAft>
              <a:buFont typeface="Arial" panose="020B0604020202020204" pitchFamily="34" charset="0"/>
              <a:buNone/>
              <a:defRPr lang="en-US" sz="7200" b="0" i="0" kern="1200" spc="-150" dirty="0">
                <a:solidFill>
                  <a:schemeClr val="accent2"/>
                </a:solidFill>
                <a:latin typeface="Graphik Light" panose="020B0403030202060203" pitchFamily="34" charset="0"/>
                <a:ea typeface="+mn-ea"/>
                <a:cs typeface="+mn-cs"/>
              </a:defRPr>
            </a:lvl1pPr>
            <a:lvl2pPr marL="457200" indent="-228600" algn="l" defTabSz="228600" rtl="0" eaLnBrk="1" latinLnBrk="0" hangingPunct="1">
              <a:lnSpc>
                <a:spcPct val="100000"/>
              </a:lnSpc>
              <a:spcBef>
                <a:spcPts val="0"/>
              </a:spcBef>
              <a:spcAft>
                <a:spcPts val="600"/>
              </a:spcAft>
              <a:buClrTx/>
              <a:buFont typeface="Arial"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Arial"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Arial"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Arial"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Arial" panose="020B0604020202020204" pitchFamily="34" charset="0"/>
              <a:buNone/>
              <a:defRPr sz="800" kern="1200">
                <a:solidFill>
                  <a:schemeClr val="tx2"/>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s" sz="7200" b="0" i="0" u="none" strike="noStrike" kern="1200" cap="none" spc="-150" normalizeH="0" baseline="0" noProof="0">
                <a:ln>
                  <a:noFill/>
                </a:ln>
                <a:solidFill>
                  <a:srgbClr val="7500C0"/>
                </a:solidFill>
                <a:effectLst/>
                <a:uLnTx/>
                <a:uFillTx/>
                <a:latin typeface="Graphik Light" panose="020B0403030202060203" pitchFamily="34" charset="0"/>
                <a:ea typeface="+mn-ea"/>
                <a:cs typeface="+mn-cs"/>
              </a:rPr>
              <a:t>02. </a:t>
            </a:r>
          </a:p>
        </p:txBody>
      </p:sp>
      <p:sp>
        <p:nvSpPr>
          <p:cNvPr id="15" name="Title 7">
            <a:extLst>
              <a:ext uri="{FF2B5EF4-FFF2-40B4-BE49-F238E27FC236}">
                <a16:creationId xmlns:a16="http://schemas.microsoft.com/office/drawing/2014/main" id="{688F91BC-4E87-BBE5-E1DD-E2AEA0B31B3E}"/>
              </a:ext>
            </a:extLst>
          </p:cNvPr>
          <p:cNvSpPr txBox="1">
            <a:spLocks/>
          </p:cNvSpPr>
          <p:nvPr/>
        </p:nvSpPr>
        <p:spPr>
          <a:xfrm>
            <a:off x="380999" y="3201006"/>
            <a:ext cx="5597013" cy="582441"/>
          </a:xfrm>
          <a:prstGeom prst="rect">
            <a:avLst/>
          </a:prstGeom>
        </p:spPr>
        <p:txBody>
          <a:bodyPr vert="horz" lIns="0" tIns="61200" rIns="0" bIns="0" rtlCol="0" anchor="t">
            <a:noAutofit/>
          </a:bodyPr>
          <a:lstStyle>
            <a:lvl1pPr algn="l" defTabSz="914400" rtl="0" eaLnBrk="1" latinLnBrk="0" hangingPunct="1">
              <a:lnSpc>
                <a:spcPct val="80000"/>
              </a:lnSpc>
              <a:spcBef>
                <a:spcPct val="0"/>
              </a:spcBef>
              <a:buNone/>
              <a:defRPr sz="3200" b="0" kern="1200">
                <a:solidFill>
                  <a:schemeClr val="bg1"/>
                </a:solidFill>
                <a:latin typeface="Graphik Medium" panose="020B0603030202060203" pitchFamily="34" charset="0"/>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3200" b="0" i="0" u="none" strike="noStrike" kern="1200" cap="none" spc="0" normalizeH="0" baseline="0" noProof="0">
                <a:ln>
                  <a:noFill/>
                </a:ln>
                <a:solidFill>
                  <a:srgbClr val="000000"/>
                </a:solidFill>
                <a:effectLst/>
                <a:uLnTx/>
                <a:uFillTx/>
                <a:latin typeface="Graphik Medium" panose="020B0603030202060203" pitchFamily="34" charset="0"/>
                <a:ea typeface="+mj-ea"/>
                <a:cs typeface="+mj-cs"/>
              </a:rPr>
              <a:t>Marco de Interoperabilidad</a:t>
            </a:r>
            <a:endParaRPr kumimoji="0" lang="en-IN" sz="3200" b="0" i="0" u="none" strike="noStrike" kern="1200" cap="none" spc="0" normalizeH="0" baseline="0" noProof="0">
              <a:ln>
                <a:noFill/>
              </a:ln>
              <a:solidFill>
                <a:srgbClr val="000000"/>
              </a:solidFill>
              <a:effectLst/>
              <a:uLnTx/>
              <a:uFillTx/>
              <a:latin typeface="Graphik Medium" panose="020B0603030202060203" pitchFamily="34" charset="0"/>
              <a:ea typeface="+mj-ea"/>
              <a:cs typeface="+mj-cs"/>
            </a:endParaRPr>
          </a:p>
        </p:txBody>
      </p:sp>
    </p:spTree>
    <p:extLst>
      <p:ext uri="{BB962C8B-B14F-4D97-AF65-F5344CB8AC3E}">
        <p14:creationId xmlns:p14="http://schemas.microsoft.com/office/powerpoint/2010/main" val="33949229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292211-BCB6-B0A6-01A4-B7FEC33BAA8C}"/>
            </a:ext>
          </a:extLst>
        </p:cNvPr>
        <p:cNvGrpSpPr/>
        <p:nvPr/>
      </p:nvGrpSpPr>
      <p:grpSpPr>
        <a:xfrm>
          <a:off x="0" y="0"/>
          <a:ext cx="0" cy="0"/>
          <a:chOff x="0" y="0"/>
          <a:chExt cx="0" cy="0"/>
        </a:xfrm>
      </p:grpSpPr>
      <p:sp>
        <p:nvSpPr>
          <p:cNvPr id="16" name="Footer Placeholder 2">
            <a:extLst>
              <a:ext uri="{FF2B5EF4-FFF2-40B4-BE49-F238E27FC236}">
                <a16:creationId xmlns:a16="http://schemas.microsoft.com/office/drawing/2014/main" id="{E657014F-BE1C-59A8-D821-68B10929D570}"/>
              </a:ext>
            </a:extLst>
          </p:cNvPr>
          <p:cNvSpPr>
            <a:spLocks noGrp="1"/>
          </p:cNvSpPr>
          <p:nvPr>
            <p:ph type="ftr" sz="quarter" idx="3"/>
          </p:nvPr>
        </p:nvSpPr>
        <p:spPr>
          <a:xfrm>
            <a:off x="8908942" y="6617127"/>
            <a:ext cx="3175200" cy="132523"/>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alpha val="65000"/>
                  </a:srgbClr>
                </a:solidFill>
                <a:effectLst/>
                <a:uLnTx/>
                <a:uFillTx/>
                <a:latin typeface="Graphik"/>
                <a:ea typeface="+mn-ea"/>
                <a:cs typeface="+mn-cs"/>
              </a:rPr>
              <a:t>Copyright © 2025 Accenture. Todos los derechos reservados.</a:t>
            </a:r>
          </a:p>
        </p:txBody>
      </p:sp>
      <p:sp>
        <p:nvSpPr>
          <p:cNvPr id="65" name="Content Placeholder 34">
            <a:extLst>
              <a:ext uri="{FF2B5EF4-FFF2-40B4-BE49-F238E27FC236}">
                <a16:creationId xmlns:a16="http://schemas.microsoft.com/office/drawing/2014/main" id="{34D2D05E-5B8A-7FDC-6E18-186D9FA041C0}"/>
              </a:ext>
            </a:extLst>
          </p:cNvPr>
          <p:cNvSpPr txBox="1">
            <a:spLocks/>
          </p:cNvSpPr>
          <p:nvPr/>
        </p:nvSpPr>
        <p:spPr>
          <a:xfrm>
            <a:off x="324090" y="641993"/>
            <a:ext cx="11430000" cy="246221"/>
          </a:xfrm>
          <a:prstGeom prst="rect">
            <a:avLst/>
          </a:prstGeom>
        </p:spPr>
        <p:txBody>
          <a:bodyPr/>
          <a:lstStyle>
            <a:lvl1pPr marL="228600" indent="-228600" algn="l" defTabSz="228600" rtl="0" eaLnBrk="1" latinLnBrk="0" hangingPunct="1">
              <a:lnSpc>
                <a:spcPct val="100000"/>
              </a:lnSpc>
              <a:spcBef>
                <a:spcPts val="0"/>
              </a:spcBef>
              <a:spcAft>
                <a:spcPts val="600"/>
              </a:spcAft>
              <a:buFont typeface="Arial"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Arial"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Arial"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Arial"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Arial"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Arial" panose="020B0604020202020204" pitchFamily="34" charset="0"/>
              <a:buNone/>
              <a:defRPr sz="800" kern="1200">
                <a:solidFill>
                  <a:schemeClr val="tx2"/>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s" sz="1600" b="1" i="0" u="none" strike="noStrike" kern="1200" cap="none" spc="0" normalizeH="0" baseline="0" noProof="0">
                <a:ln>
                  <a:noFill/>
                </a:ln>
                <a:solidFill>
                  <a:srgbClr val="7500C0"/>
                </a:solidFill>
                <a:effectLst/>
                <a:uLnTx/>
                <a:uFillTx/>
                <a:latin typeface="Graphik" panose="020B0503030202060203" pitchFamily="34" charset="0"/>
                <a:ea typeface="+mn-ea"/>
                <a:cs typeface="+mn-cs"/>
              </a:rPr>
              <a:t>La arquitectura interoperable es RED (reactiva, en tiempo real, impulsada por eventos y desacoplada)</a:t>
            </a:r>
          </a:p>
        </p:txBody>
      </p:sp>
      <p:sp>
        <p:nvSpPr>
          <p:cNvPr id="66" name="Title 1">
            <a:extLst>
              <a:ext uri="{FF2B5EF4-FFF2-40B4-BE49-F238E27FC236}">
                <a16:creationId xmlns:a16="http://schemas.microsoft.com/office/drawing/2014/main" id="{27E3D597-A553-8B74-D85D-1707C388D3DB}"/>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a:ln>
                  <a:noFill/>
                </a:ln>
                <a:solidFill>
                  <a:srgbClr val="7500C0"/>
                </a:solidFill>
                <a:effectLst/>
                <a:uLnTx/>
                <a:uFillTx/>
                <a:latin typeface="Graphik"/>
                <a:ea typeface="+mj-ea"/>
                <a:cs typeface="+mj-cs"/>
              </a:rPr>
              <a:t>Principios de Arquitectura Interoperable</a:t>
            </a:r>
          </a:p>
        </p:txBody>
      </p:sp>
      <p:pic>
        <p:nvPicPr>
          <p:cNvPr id="10" name="Picture 9">
            <a:extLst>
              <a:ext uri="{FF2B5EF4-FFF2-40B4-BE49-F238E27FC236}">
                <a16:creationId xmlns:a16="http://schemas.microsoft.com/office/drawing/2014/main" id="{015A5905-F222-A0EB-014F-525C0427A74B}"/>
              </a:ext>
            </a:extLst>
          </p:cNvPr>
          <p:cNvPicPr>
            <a:picLocks noChangeAspect="1"/>
          </p:cNvPicPr>
          <p:nvPr/>
        </p:nvPicPr>
        <p:blipFill rotWithShape="1">
          <a:blip r:embed="rId3">
            <a:extLst>
              <a:ext uri="{28A0092B-C50C-407E-A947-70E740481C1C}">
                <a14:useLocalDpi xmlns:a14="http://schemas.microsoft.com/office/drawing/2010/main" val="0"/>
              </a:ext>
            </a:extLst>
          </a:blip>
          <a:srcRect l="1151" t="55820" r="38466" b="34387"/>
          <a:stretch/>
        </p:blipFill>
        <p:spPr bwMode="invGray">
          <a:xfrm>
            <a:off x="-1256" y="5280062"/>
            <a:ext cx="12188952" cy="1112083"/>
          </a:xfrm>
          <a:prstGeom prst="rect">
            <a:avLst/>
          </a:prstGeom>
        </p:spPr>
      </p:pic>
      <p:sp>
        <p:nvSpPr>
          <p:cNvPr id="11" name="TextBox 10">
            <a:extLst>
              <a:ext uri="{FF2B5EF4-FFF2-40B4-BE49-F238E27FC236}">
                <a16:creationId xmlns:a16="http://schemas.microsoft.com/office/drawing/2014/main" id="{173F7284-FB3B-EB79-37D5-8AD8EF05309C}"/>
              </a:ext>
            </a:extLst>
          </p:cNvPr>
          <p:cNvSpPr txBox="1"/>
          <p:nvPr/>
        </p:nvSpPr>
        <p:spPr>
          <a:xfrm>
            <a:off x="435403" y="1119272"/>
            <a:ext cx="6459638" cy="4139595"/>
          </a:xfrm>
          <a:prstGeom prst="rect">
            <a:avLst/>
          </a:prstGeom>
          <a:noFill/>
        </p:spPr>
        <p:txBody>
          <a:bodyPr wrap="square" lIns="0">
            <a:spAutoFit/>
          </a:bodyPr>
          <a:lstStyle/>
          <a:p>
            <a:pPr marL="0" marR="0" lvl="0" indent="0" algn="l" defTabSz="914400" rtl="0" eaLnBrk="1" fontAlgn="auto" latinLnBrk="0" hangingPunct="1">
              <a:lnSpc>
                <a:spcPct val="100000"/>
              </a:lnSpc>
              <a:spcBef>
                <a:spcPts val="0"/>
              </a:spcBef>
              <a:spcAft>
                <a:spcPts val="1000"/>
              </a:spcAft>
              <a:buClrTx/>
              <a:buSzTx/>
              <a:buFontTx/>
              <a:buNone/>
              <a:tabLst/>
              <a:defRPr/>
            </a:pPr>
            <a:r>
              <a:rPr kumimoji="0" lang="es" sz="1400" b="1" i="0" u="none" strike="noStrike" kern="1200" cap="none" spc="0" normalizeH="0" baseline="0" noProof="0" dirty="0">
                <a:ln>
                  <a:noFill/>
                </a:ln>
                <a:solidFill>
                  <a:srgbClr val="7500C0"/>
                </a:solidFill>
                <a:effectLst/>
                <a:uLnTx/>
                <a:uFillTx/>
                <a:latin typeface="Graphik Semibold" panose="020B0703030202060203" pitchFamily="34" charset="0"/>
                <a:ea typeface="+mn-ea"/>
                <a:cs typeface="+mn-cs"/>
              </a:rPr>
              <a:t>Reactivo</a:t>
            </a:r>
            <a:r>
              <a:rPr kumimoji="0" lang="es" sz="1400" b="0" i="0" u="none" strike="noStrike" kern="1200" cap="none" spc="0" normalizeH="0" baseline="0" noProof="0" dirty="0">
                <a:ln>
                  <a:noFill/>
                </a:ln>
                <a:solidFill>
                  <a:srgbClr val="7500C0"/>
                </a:solidFill>
                <a:effectLst/>
                <a:uLnTx/>
                <a:uFillTx/>
                <a:latin typeface="Graphik Semibold" panose="020B0703030202060203" pitchFamily="34" charset="0"/>
                <a:ea typeface="+mn-ea"/>
                <a:cs typeface="+mn-cs"/>
              </a:rPr>
              <a:t>: </a:t>
            </a:r>
            <a:r>
              <a:rPr lang="es" sz="1400" dirty="0">
                <a:solidFill>
                  <a:srgbClr val="000000"/>
                </a:solidFill>
                <a:latin typeface="Graphik Light" panose="020B0403030202060203" pitchFamily="34" charset="0"/>
              </a:rPr>
              <a:t>Una arquitectura </a:t>
            </a:r>
            <a:r>
              <a:rPr lang="es" sz="1400" dirty="0">
                <a:solidFill>
                  <a:srgbClr val="000000"/>
                </a:solidFill>
                <a:highlight>
                  <a:srgbClr val="FFFF00"/>
                </a:highlight>
                <a:latin typeface="Graphik Light" panose="020B0403030202060203" pitchFamily="34" charset="0"/>
              </a:rPr>
              <a:t>responsiva</a:t>
            </a:r>
            <a:r>
              <a:rPr lang="es" sz="1400" dirty="0">
                <a:solidFill>
                  <a:srgbClr val="000000"/>
                </a:solidFill>
                <a:latin typeface="Graphik Light" panose="020B0403030202060203" pitchFamily="34" charset="0"/>
              </a:rPr>
              <a:t> en caso de fallo, que permite escalar a cualquier tamaño </a:t>
            </a:r>
            <a:r>
              <a:rPr kumimoji="0" lang="es" sz="1400" b="0" i="0" u="none" strike="noStrike" kern="1200" cap="none" spc="0" normalizeH="0" baseline="0" noProof="0" dirty="0">
                <a:ln>
                  <a:noFill/>
                </a:ln>
                <a:solidFill>
                  <a:srgbClr val="000000"/>
                </a:solidFill>
                <a:effectLst/>
                <a:uLnTx/>
                <a:uFillTx/>
                <a:latin typeface="Graphik Light" panose="020B0403030202060203" pitchFamily="34" charset="0"/>
                <a:ea typeface="+mn-ea"/>
                <a:cs typeface="+mn-cs"/>
              </a:rPr>
              <a:t>y gestionar volúmenes variables. La arquitectura reactiva permite resiliencia y escalabilidad en cualquier dominio.</a:t>
            </a:r>
            <a:endParaRPr kumimoji="0" lang="en-US" sz="1400" b="1" i="0" u="none" strike="noStrike" kern="1200" cap="none" spc="0" normalizeH="0" baseline="0" noProof="0" dirty="0">
              <a:ln>
                <a:noFill/>
              </a:ln>
              <a:solidFill>
                <a:srgbClr val="000000"/>
              </a:solidFill>
              <a:effectLst/>
              <a:uLnTx/>
              <a:uFillTx/>
              <a:latin typeface="Graphik Light" panose="020B0403030202060203" pitchFamily="34" charset="0"/>
              <a:ea typeface="+mn-ea"/>
              <a:cs typeface="+mn-cs"/>
            </a:endParaRPr>
          </a:p>
          <a:p>
            <a:pPr marL="0" marR="0" lvl="0" indent="0" algn="l" defTabSz="914400" rtl="0" eaLnBrk="1" fontAlgn="auto" latinLnBrk="0" hangingPunct="1">
              <a:lnSpc>
                <a:spcPct val="100000"/>
              </a:lnSpc>
              <a:spcBef>
                <a:spcPts val="0"/>
              </a:spcBef>
              <a:spcAft>
                <a:spcPts val="1000"/>
              </a:spcAft>
              <a:buClrTx/>
              <a:buSzTx/>
              <a:buFontTx/>
              <a:buNone/>
              <a:tabLst/>
              <a:defRPr/>
            </a:pPr>
            <a:r>
              <a:rPr kumimoji="0" lang="es" sz="1400" b="1" i="0" u="none" strike="noStrike" kern="1200" cap="none" spc="0" normalizeH="0" baseline="0" noProof="0" dirty="0">
                <a:ln>
                  <a:noFill/>
                </a:ln>
                <a:solidFill>
                  <a:srgbClr val="7500C0"/>
                </a:solidFill>
                <a:effectLst/>
                <a:uLnTx/>
                <a:uFillTx/>
                <a:latin typeface="Graphik Semibold" panose="020B0703030202060203" pitchFamily="34" charset="0"/>
                <a:ea typeface="+mn-ea"/>
                <a:cs typeface="+mn-cs"/>
              </a:rPr>
              <a:t>Tiempo real: </a:t>
            </a:r>
            <a:r>
              <a:rPr lang="es" sz="1400" dirty="0">
                <a:solidFill>
                  <a:srgbClr val="000000"/>
                </a:solidFill>
                <a:latin typeface="Graphik Light" panose="020B0403030202060203" pitchFamily="34" charset="0"/>
              </a:rPr>
              <a:t>L</a:t>
            </a:r>
            <a:r>
              <a:rPr kumimoji="0" lang="es" sz="1400" b="0" i="0" u="none" strike="noStrike" kern="1200" cap="none" spc="0" normalizeH="0" baseline="0" noProof="0" dirty="0">
                <a:ln>
                  <a:noFill/>
                </a:ln>
                <a:solidFill>
                  <a:srgbClr val="000000"/>
                </a:solidFill>
                <a:effectLst/>
                <a:uLnTx/>
                <a:uFillTx/>
                <a:latin typeface="Graphik Light" panose="020B0403030202060203" pitchFamily="34" charset="0"/>
                <a:ea typeface="+mn-ea"/>
                <a:cs typeface="+mn-cs"/>
              </a:rPr>
              <a:t>os datos y mensajes están en coreografía constante, fluyendo por el sistema como flujos. La arquitectura interoperable garantiza que los datos se entreguen en tiempo real, permitiendo eliminar las limitaciones actuales de los sistemas de enfrentamiento.</a:t>
            </a:r>
            <a:endParaRPr kumimoji="0" lang="en-US" sz="1400" b="1" i="0" u="none" strike="noStrike" kern="1200" cap="none" spc="0" normalizeH="0" baseline="0" noProof="0" dirty="0">
              <a:ln>
                <a:noFill/>
              </a:ln>
              <a:solidFill>
                <a:srgbClr val="000000"/>
              </a:solidFill>
              <a:effectLst/>
              <a:uLnTx/>
              <a:uFillTx/>
              <a:latin typeface="Graphik Light" panose="020B0403030202060203" pitchFamily="34" charset="0"/>
              <a:ea typeface="+mn-ea"/>
              <a:cs typeface="+mn-cs"/>
            </a:endParaRPr>
          </a:p>
          <a:p>
            <a:pPr marL="0" marR="0" lvl="0" indent="0" algn="l" defTabSz="914400" rtl="0" eaLnBrk="1" fontAlgn="auto" latinLnBrk="0" hangingPunct="1">
              <a:lnSpc>
                <a:spcPct val="100000"/>
              </a:lnSpc>
              <a:spcBef>
                <a:spcPts val="0"/>
              </a:spcBef>
              <a:spcAft>
                <a:spcPts val="1000"/>
              </a:spcAft>
              <a:buClrTx/>
              <a:buSzTx/>
              <a:buFontTx/>
              <a:buNone/>
              <a:tabLst/>
              <a:defRPr/>
            </a:pPr>
            <a:r>
              <a:rPr kumimoji="0" lang="es" sz="1400" b="1" i="0" u="none" strike="noStrike" kern="1200" cap="none" spc="0" normalizeH="0" baseline="0" noProof="0" dirty="0">
                <a:ln>
                  <a:noFill/>
                </a:ln>
                <a:solidFill>
                  <a:srgbClr val="7500C0"/>
                </a:solidFill>
                <a:effectLst/>
                <a:uLnTx/>
                <a:uFillTx/>
                <a:latin typeface="Graphik Semibold" panose="020B0703030202060203" pitchFamily="34" charset="0"/>
                <a:ea typeface="+mn-ea"/>
                <a:cs typeface="+mn-cs"/>
              </a:rPr>
              <a:t>Impulsado por eventos: </a:t>
            </a:r>
            <a:r>
              <a:rPr lang="es" sz="1400" dirty="0">
                <a:solidFill>
                  <a:srgbClr val="000000"/>
                </a:solidFill>
                <a:latin typeface="Graphik Light" panose="020B0403030202060203" pitchFamily="34" charset="0"/>
              </a:rPr>
              <a:t>T</a:t>
            </a:r>
            <a:r>
              <a:rPr kumimoji="0" lang="es" sz="1400" b="0" i="0" u="none" strike="noStrike" kern="1200" cap="none" spc="0" normalizeH="0" baseline="0" noProof="0" dirty="0">
                <a:ln>
                  <a:noFill/>
                </a:ln>
                <a:solidFill>
                  <a:srgbClr val="000000"/>
                </a:solidFill>
                <a:effectLst/>
                <a:uLnTx/>
                <a:uFillTx/>
                <a:latin typeface="Graphik Light" panose="020B0403030202060203" pitchFamily="34" charset="0"/>
                <a:ea typeface="+mn-ea"/>
                <a:cs typeface="+mn-cs"/>
              </a:rPr>
              <a:t>odos los mensajes tienden a gestionarse mediante eventos, servicios de datos y funciones (que forman parte de los diferentes dominios). Reaccionar a los eventos suscritos y generar o promover sus propios eventos aislados del resto. </a:t>
            </a:r>
          </a:p>
          <a:p>
            <a:pPr marL="0" marR="0" lvl="0" indent="0" algn="l" defTabSz="914400" rtl="0" eaLnBrk="1" fontAlgn="auto" latinLnBrk="0" hangingPunct="1">
              <a:lnSpc>
                <a:spcPct val="100000"/>
              </a:lnSpc>
              <a:spcBef>
                <a:spcPts val="0"/>
              </a:spcBef>
              <a:spcAft>
                <a:spcPts val="1000"/>
              </a:spcAft>
              <a:buClrTx/>
              <a:buSzTx/>
              <a:buFontTx/>
              <a:buNone/>
              <a:tabLst/>
              <a:defRPr/>
            </a:pPr>
            <a:r>
              <a:rPr kumimoji="0" lang="es" sz="1400" b="1" i="0" u="none" strike="noStrike" kern="1200" cap="none" spc="0" normalizeH="0" baseline="0" noProof="0" dirty="0">
                <a:ln>
                  <a:noFill/>
                </a:ln>
                <a:solidFill>
                  <a:srgbClr val="7500C0"/>
                </a:solidFill>
                <a:effectLst/>
                <a:uLnTx/>
                <a:uFillTx/>
                <a:latin typeface="Graphik Semibold" panose="020B0703030202060203" pitchFamily="34" charset="0"/>
                <a:ea typeface="+mn-ea"/>
                <a:cs typeface="+mn-cs"/>
              </a:rPr>
              <a:t>Desacoplado:</a:t>
            </a:r>
            <a:r>
              <a:rPr lang="es" sz="1400" dirty="0">
                <a:solidFill>
                  <a:srgbClr val="000000"/>
                </a:solidFill>
                <a:latin typeface="Graphik Light" panose="020B0403030202060203" pitchFamily="34" charset="0"/>
                <a:cs typeface="Helvetica"/>
              </a:rPr>
              <a:t> </a:t>
            </a:r>
            <a:r>
              <a:rPr lang="es" sz="1400" dirty="0">
                <a:solidFill>
                  <a:srgbClr val="000000"/>
                </a:solidFill>
                <a:latin typeface="Graphik Light" panose="020B0403030202060203" pitchFamily="34" charset="0"/>
                <a:cs typeface="Helvetica"/>
                <a:sym typeface="Graphik"/>
              </a:rPr>
              <a:t>Los </a:t>
            </a:r>
            <a:r>
              <a:rPr kumimoji="0" lang="es" sz="1400" b="0" i="0" u="none" strike="noStrike" kern="1200" cap="none" spc="0" normalizeH="0" baseline="0" noProof="0" dirty="0">
                <a:ln>
                  <a:noFill/>
                </a:ln>
                <a:solidFill>
                  <a:srgbClr val="000000"/>
                </a:solidFill>
                <a:effectLst/>
                <a:uLnTx/>
                <a:uFillTx/>
                <a:latin typeface="Graphik Light" panose="020B0403030202060203" pitchFamily="34" charset="0"/>
                <a:ea typeface="+mn-ea"/>
                <a:cs typeface="Helvetica"/>
                <a:sym typeface="Graphik"/>
              </a:rPr>
              <a:t>componentes del sistema son autónomos, modulares, desplegables de forma independiente y coreografiados. El desacoplamiento aumenta la velocidad de salida al mercado, rompiendo las interdependencias de las aplicaciones. Esto permite una mayor flexibilidad y escalabilidad para adaptarse a los cambios en los requisitos empresariales. Fragmentación adecuada de los servicios.</a:t>
            </a:r>
          </a:p>
        </p:txBody>
      </p:sp>
      <p:sp>
        <p:nvSpPr>
          <p:cNvPr id="12" name="Rectangle 11">
            <a:extLst>
              <a:ext uri="{FF2B5EF4-FFF2-40B4-BE49-F238E27FC236}">
                <a16:creationId xmlns:a16="http://schemas.microsoft.com/office/drawing/2014/main" id="{210AF6B0-A53C-2849-BDC5-C97F519D8DDA}"/>
              </a:ext>
            </a:extLst>
          </p:cNvPr>
          <p:cNvSpPr/>
          <p:nvPr/>
        </p:nvSpPr>
        <p:spPr>
          <a:xfrm>
            <a:off x="1715708" y="5426988"/>
            <a:ext cx="8869388" cy="744070"/>
          </a:xfrm>
          <a:prstGeom prst="rect">
            <a:avLst/>
          </a:prstGeom>
          <a:noFill/>
          <a:ln w="12700" cap="flat" cmpd="sng" algn="ctr">
            <a:noFill/>
            <a:prstDash val="solid"/>
            <a:miter lim="800000"/>
          </a:ln>
          <a:effectLst/>
        </p:spPr>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800" b="0" i="0" u="none" strike="noStrike" kern="0" cap="none" spc="0" normalizeH="0" baseline="0" noProof="0" dirty="0">
                <a:ln>
                  <a:noFill/>
                </a:ln>
                <a:solidFill>
                  <a:srgbClr val="FFFFFF"/>
                </a:solidFill>
                <a:effectLst/>
                <a:uLnTx/>
                <a:uFillTx/>
                <a:latin typeface="Graphik Light" panose="020B0403030202060203" pitchFamily="34" charset="0"/>
                <a:ea typeface="+mn-ea"/>
                <a:cs typeface="+mn-cs"/>
              </a:rPr>
              <a:t>"La interoperabilidad permitirá que las plataformas existentes evolucionen bajo un enfoque transversal, al tiempo que se permite la coexistencia con sistemas heredados y la transformación de los modelos de negocio y tecnología."</a:t>
            </a:r>
          </a:p>
        </p:txBody>
      </p:sp>
      <p:grpSp>
        <p:nvGrpSpPr>
          <p:cNvPr id="13" name="Group 12">
            <a:extLst>
              <a:ext uri="{FF2B5EF4-FFF2-40B4-BE49-F238E27FC236}">
                <a16:creationId xmlns:a16="http://schemas.microsoft.com/office/drawing/2014/main" id="{AAC39B34-69CD-629D-EF16-1D4D841C93BE}"/>
              </a:ext>
            </a:extLst>
          </p:cNvPr>
          <p:cNvGrpSpPr/>
          <p:nvPr/>
        </p:nvGrpSpPr>
        <p:grpSpPr>
          <a:xfrm>
            <a:off x="7275472" y="1437489"/>
            <a:ext cx="4589930" cy="3333885"/>
            <a:chOff x="7333129" y="1695315"/>
            <a:chExt cx="4589930" cy="3333885"/>
          </a:xfrm>
        </p:grpSpPr>
        <p:sp>
          <p:nvSpPr>
            <p:cNvPr id="14" name="Rectangle: Rounded Corners 13">
              <a:extLst>
                <a:ext uri="{FF2B5EF4-FFF2-40B4-BE49-F238E27FC236}">
                  <a16:creationId xmlns:a16="http://schemas.microsoft.com/office/drawing/2014/main" id="{38EE64C8-EF90-A9BA-A394-617EF6491CBE}"/>
                </a:ext>
              </a:extLst>
            </p:cNvPr>
            <p:cNvSpPr/>
            <p:nvPr/>
          </p:nvSpPr>
          <p:spPr>
            <a:xfrm>
              <a:off x="7333129" y="1695315"/>
              <a:ext cx="4589930" cy="3333885"/>
            </a:xfrm>
            <a:prstGeom prst="roundRect">
              <a:avLst>
                <a:gd name="adj" fmla="val 6386"/>
              </a:avLst>
            </a:prstGeom>
            <a:solidFill>
              <a:srgbClr val="FFFFFF"/>
            </a:solidFill>
            <a:ln w="12700" cap="flat" cmpd="sng" algn="ctr">
              <a:solidFill>
                <a:srgbClr val="96968C"/>
              </a:solidFill>
              <a:prstDash val="solid"/>
              <a:miter lim="800000"/>
            </a:ln>
            <a:effectLst/>
          </p:spPr>
          <p:txBody>
            <a:bodyPr tIns="0" bIns="9144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800" b="1" i="0" u="none" strike="noStrike" kern="0" cap="none" spc="0" normalizeH="0" baseline="0" noProof="0">
                  <a:ln>
                    <a:noFill/>
                  </a:ln>
                  <a:solidFill>
                    <a:srgbClr val="FFFFFF">
                      <a:lumMod val="65000"/>
                    </a:srgbClr>
                  </a:solidFill>
                  <a:effectLst/>
                  <a:uLnTx/>
                  <a:uFillTx/>
                  <a:latin typeface="Graphik Semibold" panose="020B0703030202060203" pitchFamily="34" charset="0"/>
                  <a:ea typeface="+mn-ea"/>
                  <a:cs typeface="+mn-cs"/>
                </a:rPr>
                <a:t>Arquitectura </a:t>
              </a:r>
              <a:r>
                <a:rPr lang="es" b="1" kern="0">
                  <a:solidFill>
                    <a:srgbClr val="FFFFFF">
                      <a:lumMod val="65000"/>
                    </a:srgbClr>
                  </a:solidFill>
                  <a:latin typeface="Graphik Semibold" panose="020B0703030202060203" pitchFamily="34" charset="0"/>
                </a:rPr>
                <a:t>I</a:t>
              </a:r>
              <a:r>
                <a:rPr kumimoji="0" lang="es" sz="1800" b="1" i="0" u="none" strike="noStrike" kern="0" cap="none" spc="0" normalizeH="0" baseline="0" noProof="0">
                  <a:ln>
                    <a:noFill/>
                  </a:ln>
                  <a:solidFill>
                    <a:srgbClr val="FFFFFF">
                      <a:lumMod val="65000"/>
                    </a:srgbClr>
                  </a:solidFill>
                  <a:effectLst/>
                  <a:uLnTx/>
                  <a:uFillTx/>
                  <a:latin typeface="Graphik Semibold" panose="020B0703030202060203" pitchFamily="34" charset="0"/>
                  <a:ea typeface="+mn-ea"/>
                  <a:cs typeface="+mn-cs"/>
                </a:rPr>
                <a:t>nteroperable</a:t>
              </a:r>
              <a:endParaRPr kumimoji="0" lang="es-ES_tradnl" sz="1800" b="1" i="0" u="none" strike="noStrike" kern="0" cap="none" spc="0" normalizeH="0" baseline="0" noProof="0">
                <a:ln>
                  <a:noFill/>
                </a:ln>
                <a:solidFill>
                  <a:srgbClr val="FFFFFF">
                    <a:lumMod val="65000"/>
                  </a:srgbClr>
                </a:solidFill>
                <a:effectLst/>
                <a:uLnTx/>
                <a:uFillTx/>
                <a:latin typeface="Graphik Semibold" panose="020B0703030202060203" pitchFamily="34" charset="0"/>
                <a:ea typeface="+mn-ea"/>
                <a:cs typeface="+mn-cs"/>
              </a:endParaRPr>
            </a:p>
          </p:txBody>
        </p:sp>
        <p:sp>
          <p:nvSpPr>
            <p:cNvPr id="17" name="Rectangle: Rounded Corners 16">
              <a:extLst>
                <a:ext uri="{FF2B5EF4-FFF2-40B4-BE49-F238E27FC236}">
                  <a16:creationId xmlns:a16="http://schemas.microsoft.com/office/drawing/2014/main" id="{5439FED8-A873-1CD0-A401-A9775BDBA51A}"/>
                </a:ext>
              </a:extLst>
            </p:cNvPr>
            <p:cNvSpPr/>
            <p:nvPr/>
          </p:nvSpPr>
          <p:spPr>
            <a:xfrm>
              <a:off x="8077200" y="2148025"/>
              <a:ext cx="3675531" cy="360000"/>
            </a:xfrm>
            <a:prstGeom prst="roundRect">
              <a:avLst/>
            </a:prstGeom>
            <a:solidFill>
              <a:srgbClr val="FFFFFF">
                <a:lumMod val="75000"/>
              </a:srgbClr>
            </a:solidFill>
            <a:ln w="12700" cap="flat" cmpd="sng" algn="ctr">
              <a:noFill/>
              <a:prstDash val="solid"/>
              <a:miter lim="800000"/>
            </a:ln>
            <a:effectLst/>
          </p:spPr>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400" b="1" i="0" u="none" strike="noStrike" kern="0" cap="none" spc="0" normalizeH="0" baseline="0" noProof="0">
                  <a:ln>
                    <a:noFill/>
                  </a:ln>
                  <a:solidFill>
                    <a:srgbClr val="FFFFFF"/>
                  </a:solidFill>
                  <a:effectLst/>
                  <a:uLnTx/>
                  <a:uFillTx/>
                  <a:latin typeface="Graphik Semibold" panose="020B0703030202060203" pitchFamily="34" charset="0"/>
                  <a:ea typeface="+mn-ea"/>
                  <a:cs typeface="+mn-cs"/>
                </a:rPr>
                <a:t>Desacoplamiento</a:t>
              </a:r>
            </a:p>
          </p:txBody>
        </p:sp>
        <p:sp>
          <p:nvSpPr>
            <p:cNvPr id="18" name="Rectangle: Rounded Corners 17">
              <a:extLst>
                <a:ext uri="{FF2B5EF4-FFF2-40B4-BE49-F238E27FC236}">
                  <a16:creationId xmlns:a16="http://schemas.microsoft.com/office/drawing/2014/main" id="{537F8204-FFDC-BFC2-B835-A0F446D269FC}"/>
                </a:ext>
              </a:extLst>
            </p:cNvPr>
            <p:cNvSpPr/>
            <p:nvPr/>
          </p:nvSpPr>
          <p:spPr>
            <a:xfrm>
              <a:off x="8077200" y="2552133"/>
              <a:ext cx="3675531" cy="360000"/>
            </a:xfrm>
            <a:prstGeom prst="roundRect">
              <a:avLst/>
            </a:prstGeom>
            <a:solidFill>
              <a:srgbClr val="FFFFFF">
                <a:lumMod val="75000"/>
              </a:srgbClr>
            </a:solidFill>
            <a:ln w="12700" cap="flat" cmpd="sng" algn="ctr">
              <a:noFill/>
              <a:prstDash val="solid"/>
              <a:miter lim="800000"/>
            </a:ln>
            <a:effectLst/>
          </p:spPr>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400" b="1" i="0" u="none" strike="noStrike" kern="0" cap="none" spc="0" normalizeH="0" baseline="0" noProof="0">
                  <a:ln>
                    <a:noFill/>
                  </a:ln>
                  <a:solidFill>
                    <a:srgbClr val="FFFFFF"/>
                  </a:solidFill>
                  <a:effectLst/>
                  <a:uLnTx/>
                  <a:uFillTx/>
                  <a:latin typeface="Graphik Semibold" panose="020B0703030202060203" pitchFamily="34" charset="0"/>
                  <a:ea typeface="+mn-ea"/>
                  <a:cs typeface="+mn-cs"/>
                </a:rPr>
                <a:t>Integración</a:t>
              </a:r>
            </a:p>
          </p:txBody>
        </p:sp>
        <p:sp>
          <p:nvSpPr>
            <p:cNvPr id="19" name="Rectangle: Rounded Corners 18">
              <a:extLst>
                <a:ext uri="{FF2B5EF4-FFF2-40B4-BE49-F238E27FC236}">
                  <a16:creationId xmlns:a16="http://schemas.microsoft.com/office/drawing/2014/main" id="{8CEA6F69-5329-86C3-8733-C55E7BD15D31}"/>
                </a:ext>
              </a:extLst>
            </p:cNvPr>
            <p:cNvSpPr/>
            <p:nvPr/>
          </p:nvSpPr>
          <p:spPr>
            <a:xfrm>
              <a:off x="8077200" y="3446935"/>
              <a:ext cx="3675531" cy="605119"/>
            </a:xfrm>
            <a:prstGeom prst="roundRect">
              <a:avLst/>
            </a:prstGeom>
            <a:solidFill>
              <a:srgbClr val="FFFFFF">
                <a:lumMod val="75000"/>
              </a:srgbClr>
            </a:solidFill>
            <a:ln w="12700" cap="flat" cmpd="sng" algn="ctr">
              <a:noFill/>
              <a:prstDash val="solid"/>
              <a:miter lim="800000"/>
            </a:ln>
            <a:effectLst/>
          </p:spPr>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400" b="1" i="0" u="none" strike="noStrike" kern="0" cap="none" spc="0" normalizeH="0" baseline="0" noProof="0">
                  <a:ln>
                    <a:noFill/>
                  </a:ln>
                  <a:solidFill>
                    <a:srgbClr val="FFFFFF"/>
                  </a:solidFill>
                  <a:effectLst/>
                  <a:uLnTx/>
                  <a:uFillTx/>
                  <a:latin typeface="Graphik Semibold" panose="020B0703030202060203" pitchFamily="34" charset="0"/>
                  <a:ea typeface="+mn-ea"/>
                  <a:cs typeface="+mn-cs"/>
                </a:rPr>
                <a:t>Coexistencia</a:t>
              </a:r>
            </a:p>
          </p:txBody>
        </p:sp>
        <p:sp>
          <p:nvSpPr>
            <p:cNvPr id="20" name="Rectangle: Rounded Corners 19">
              <a:extLst>
                <a:ext uri="{FF2B5EF4-FFF2-40B4-BE49-F238E27FC236}">
                  <a16:creationId xmlns:a16="http://schemas.microsoft.com/office/drawing/2014/main" id="{532419E0-2E4D-012A-F229-021DBABA77E2}"/>
                </a:ext>
              </a:extLst>
            </p:cNvPr>
            <p:cNvSpPr/>
            <p:nvPr/>
          </p:nvSpPr>
          <p:spPr>
            <a:xfrm>
              <a:off x="8077200" y="2997293"/>
              <a:ext cx="3675531" cy="360000"/>
            </a:xfrm>
            <a:prstGeom prst="roundRect">
              <a:avLst/>
            </a:prstGeom>
            <a:solidFill>
              <a:srgbClr val="FFFFFF">
                <a:lumMod val="75000"/>
              </a:srgbClr>
            </a:solidFill>
            <a:ln w="12700" cap="flat" cmpd="sng" algn="ctr">
              <a:noFill/>
              <a:prstDash val="solid"/>
              <a:miter lim="800000"/>
            </a:ln>
            <a:effectLst/>
          </p:spPr>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400" b="1" i="0" u="none" strike="noStrike" kern="0" cap="none" spc="0" normalizeH="0" baseline="0" noProof="0" dirty="0">
                  <a:ln>
                    <a:noFill/>
                  </a:ln>
                  <a:solidFill>
                    <a:srgbClr val="FFFFFF"/>
                  </a:solidFill>
                  <a:effectLst/>
                  <a:uLnTx/>
                  <a:uFillTx/>
                  <a:latin typeface="Graphik Semibold" panose="020B0703030202060203" pitchFamily="34" charset="0"/>
                  <a:ea typeface="+mn-ea"/>
                  <a:cs typeface="+mn-cs"/>
                </a:rPr>
                <a:t>Coreografía / Orquestación</a:t>
              </a:r>
            </a:p>
          </p:txBody>
        </p:sp>
        <p:sp>
          <p:nvSpPr>
            <p:cNvPr id="21" name="Rectangle: Rounded Corners 20">
              <a:extLst>
                <a:ext uri="{FF2B5EF4-FFF2-40B4-BE49-F238E27FC236}">
                  <a16:creationId xmlns:a16="http://schemas.microsoft.com/office/drawing/2014/main" id="{6216CA2F-6002-5DE7-12D4-C26BA87495AB}"/>
                </a:ext>
              </a:extLst>
            </p:cNvPr>
            <p:cNvSpPr/>
            <p:nvPr/>
          </p:nvSpPr>
          <p:spPr>
            <a:xfrm>
              <a:off x="8077200" y="4141696"/>
              <a:ext cx="3675532" cy="605119"/>
            </a:xfrm>
            <a:prstGeom prst="roundRect">
              <a:avLst/>
            </a:prstGeom>
            <a:solidFill>
              <a:srgbClr val="FFFFFF">
                <a:lumMod val="75000"/>
              </a:srgbClr>
            </a:solidFill>
            <a:ln w="12700" cap="flat" cmpd="sng" algn="ctr">
              <a:noFill/>
              <a:prstDash val="solid"/>
              <a:miter lim="800000"/>
            </a:ln>
            <a:effectLst/>
          </p:spPr>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400" b="1" i="0" u="none" strike="noStrike" kern="0" cap="none" spc="0" normalizeH="0" baseline="0" noProof="0">
                  <a:ln>
                    <a:noFill/>
                  </a:ln>
                  <a:solidFill>
                    <a:srgbClr val="FFFFFF"/>
                  </a:solidFill>
                  <a:effectLst/>
                  <a:uLnTx/>
                  <a:uFillTx/>
                  <a:latin typeface="Graphik Semibold" panose="020B0703030202060203" pitchFamily="34" charset="0"/>
                  <a:ea typeface="+mn-ea"/>
                  <a:cs typeface="+mn-cs"/>
                </a:rPr>
                <a:t>Microservicios</a:t>
              </a:r>
            </a:p>
          </p:txBody>
        </p:sp>
        <p:sp>
          <p:nvSpPr>
            <p:cNvPr id="22" name="Rectangle: Rounded Corners 21">
              <a:extLst>
                <a:ext uri="{FF2B5EF4-FFF2-40B4-BE49-F238E27FC236}">
                  <a16:creationId xmlns:a16="http://schemas.microsoft.com/office/drawing/2014/main" id="{65BF1814-A45E-C7DD-0591-F51FA46AB22E}"/>
                </a:ext>
              </a:extLst>
            </p:cNvPr>
            <p:cNvSpPr/>
            <p:nvPr/>
          </p:nvSpPr>
          <p:spPr>
            <a:xfrm rot="16200000">
              <a:off x="6490580" y="3240878"/>
              <a:ext cx="2598790" cy="413084"/>
            </a:xfrm>
            <a:prstGeom prst="roundRect">
              <a:avLst/>
            </a:prstGeom>
            <a:solidFill>
              <a:srgbClr val="FFFFFF">
                <a:lumMod val="75000"/>
              </a:srgbClr>
            </a:solidFill>
            <a:ln w="12700" cap="flat" cmpd="sng" algn="ctr">
              <a:noFill/>
              <a:prstDash val="solid"/>
              <a:miter lim="800000"/>
            </a:ln>
            <a:effectLst/>
          </p:spPr>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200" b="1" i="0" u="none" strike="noStrike" kern="0" cap="none" spc="0" normalizeH="0" baseline="0" noProof="0" dirty="0">
                  <a:ln>
                    <a:noFill/>
                  </a:ln>
                  <a:solidFill>
                    <a:srgbClr val="FFFFFF"/>
                  </a:solidFill>
                  <a:effectLst/>
                  <a:uLnTx/>
                  <a:uFillTx/>
                  <a:latin typeface="Graphik Semibold" panose="020B0703030202060203" pitchFamily="34" charset="0"/>
                  <a:ea typeface="+mn-ea"/>
                  <a:cs typeface="+mn-cs"/>
                </a:rPr>
                <a:t>Servicios Empresariales Principales (Backbone)</a:t>
              </a:r>
            </a:p>
          </p:txBody>
        </p:sp>
        <p:pic>
          <p:nvPicPr>
            <p:cNvPr id="23" name="Graphic 22" descr="Esquema de piezas del puzzle">
              <a:extLst>
                <a:ext uri="{FF2B5EF4-FFF2-40B4-BE49-F238E27FC236}">
                  <a16:creationId xmlns:a16="http://schemas.microsoft.com/office/drawing/2014/main" id="{4A107591-E9C4-8DC6-AC33-97A60288F90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610005" y="1724806"/>
              <a:ext cx="386510" cy="386510"/>
            </a:xfrm>
            <a:prstGeom prst="rect">
              <a:avLst/>
            </a:prstGeom>
          </p:spPr>
        </p:pic>
        <p:grpSp>
          <p:nvGrpSpPr>
            <p:cNvPr id="24" name="Group 48">
              <a:extLst>
                <a:ext uri="{FF2B5EF4-FFF2-40B4-BE49-F238E27FC236}">
                  <a16:creationId xmlns:a16="http://schemas.microsoft.com/office/drawing/2014/main" id="{CDE290B3-D6F3-6E51-37B4-43F9D1184FCD}"/>
                </a:ext>
              </a:extLst>
            </p:cNvPr>
            <p:cNvGrpSpPr>
              <a:grpSpLocks noChangeAspect="1"/>
            </p:cNvGrpSpPr>
            <p:nvPr/>
          </p:nvGrpSpPr>
          <p:grpSpPr bwMode="auto">
            <a:xfrm>
              <a:off x="8244648" y="2265624"/>
              <a:ext cx="216405" cy="180002"/>
              <a:chOff x="3427" y="474"/>
              <a:chExt cx="428" cy="356"/>
            </a:xfrm>
            <a:solidFill>
              <a:srgbClr val="FFFFFF"/>
            </a:solidFill>
          </p:grpSpPr>
          <p:sp>
            <p:nvSpPr>
              <p:cNvPr id="32" name="Freeform 49">
                <a:extLst>
                  <a:ext uri="{FF2B5EF4-FFF2-40B4-BE49-F238E27FC236}">
                    <a16:creationId xmlns:a16="http://schemas.microsoft.com/office/drawing/2014/main" id="{9F1518F9-2348-7FBE-A268-2104FB9E003B}"/>
                  </a:ext>
                </a:extLst>
              </p:cNvPr>
              <p:cNvSpPr>
                <a:spLocks/>
              </p:cNvSpPr>
              <p:nvPr/>
            </p:nvSpPr>
            <p:spPr bwMode="auto">
              <a:xfrm>
                <a:off x="3427" y="615"/>
                <a:ext cx="428" cy="108"/>
              </a:xfrm>
              <a:custGeom>
                <a:avLst/>
                <a:gdLst>
                  <a:gd name="T0" fmla="*/ 144 w 289"/>
                  <a:gd name="T1" fmla="*/ 73 h 73"/>
                  <a:gd name="T2" fmla="*/ 142 w 289"/>
                  <a:gd name="T3" fmla="*/ 73 h 73"/>
                  <a:gd name="T4" fmla="*/ 4 w 289"/>
                  <a:gd name="T5" fmla="*/ 13 h 73"/>
                  <a:gd name="T6" fmla="*/ 1 w 289"/>
                  <a:gd name="T7" fmla="*/ 5 h 73"/>
                  <a:gd name="T8" fmla="*/ 9 w 289"/>
                  <a:gd name="T9" fmla="*/ 2 h 73"/>
                  <a:gd name="T10" fmla="*/ 144 w 289"/>
                  <a:gd name="T11" fmla="*/ 61 h 73"/>
                  <a:gd name="T12" fmla="*/ 280 w 289"/>
                  <a:gd name="T13" fmla="*/ 2 h 73"/>
                  <a:gd name="T14" fmla="*/ 288 w 289"/>
                  <a:gd name="T15" fmla="*/ 5 h 73"/>
                  <a:gd name="T16" fmla="*/ 285 w 289"/>
                  <a:gd name="T17" fmla="*/ 13 h 73"/>
                  <a:gd name="T18" fmla="*/ 147 w 289"/>
                  <a:gd name="T19" fmla="*/ 73 h 73"/>
                  <a:gd name="T20" fmla="*/ 144 w 289"/>
                  <a:gd name="T21" fmla="*/ 73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9" h="73">
                    <a:moveTo>
                      <a:pt x="144" y="73"/>
                    </a:moveTo>
                    <a:cubicBezTo>
                      <a:pt x="144" y="73"/>
                      <a:pt x="143" y="73"/>
                      <a:pt x="142" y="73"/>
                    </a:cubicBezTo>
                    <a:cubicBezTo>
                      <a:pt x="4" y="13"/>
                      <a:pt x="4" y="13"/>
                      <a:pt x="4" y="13"/>
                    </a:cubicBezTo>
                    <a:cubicBezTo>
                      <a:pt x="1" y="11"/>
                      <a:pt x="0" y="8"/>
                      <a:pt x="1" y="5"/>
                    </a:cubicBezTo>
                    <a:cubicBezTo>
                      <a:pt x="2" y="2"/>
                      <a:pt x="6" y="0"/>
                      <a:pt x="9" y="2"/>
                    </a:cubicBezTo>
                    <a:cubicBezTo>
                      <a:pt x="144" y="61"/>
                      <a:pt x="144" y="61"/>
                      <a:pt x="144" y="61"/>
                    </a:cubicBezTo>
                    <a:cubicBezTo>
                      <a:pt x="280" y="2"/>
                      <a:pt x="280" y="2"/>
                      <a:pt x="280" y="2"/>
                    </a:cubicBezTo>
                    <a:cubicBezTo>
                      <a:pt x="283" y="0"/>
                      <a:pt x="287" y="2"/>
                      <a:pt x="288" y="5"/>
                    </a:cubicBezTo>
                    <a:cubicBezTo>
                      <a:pt x="289" y="8"/>
                      <a:pt x="288" y="11"/>
                      <a:pt x="285" y="13"/>
                    </a:cubicBezTo>
                    <a:cubicBezTo>
                      <a:pt x="147" y="73"/>
                      <a:pt x="147" y="73"/>
                      <a:pt x="147" y="73"/>
                    </a:cubicBezTo>
                    <a:cubicBezTo>
                      <a:pt x="146" y="73"/>
                      <a:pt x="145" y="73"/>
                      <a:pt x="144"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33" name="Freeform 50">
                <a:extLst>
                  <a:ext uri="{FF2B5EF4-FFF2-40B4-BE49-F238E27FC236}">
                    <a16:creationId xmlns:a16="http://schemas.microsoft.com/office/drawing/2014/main" id="{BCFEA7B9-25BE-D36F-5A28-353F084D379B}"/>
                  </a:ext>
                </a:extLst>
              </p:cNvPr>
              <p:cNvSpPr>
                <a:spLocks/>
              </p:cNvSpPr>
              <p:nvPr/>
            </p:nvSpPr>
            <p:spPr bwMode="auto">
              <a:xfrm>
                <a:off x="3427" y="668"/>
                <a:ext cx="428" cy="108"/>
              </a:xfrm>
              <a:custGeom>
                <a:avLst/>
                <a:gdLst>
                  <a:gd name="T0" fmla="*/ 144 w 289"/>
                  <a:gd name="T1" fmla="*/ 73 h 73"/>
                  <a:gd name="T2" fmla="*/ 142 w 289"/>
                  <a:gd name="T3" fmla="*/ 73 h 73"/>
                  <a:gd name="T4" fmla="*/ 4 w 289"/>
                  <a:gd name="T5" fmla="*/ 13 h 73"/>
                  <a:gd name="T6" fmla="*/ 1 w 289"/>
                  <a:gd name="T7" fmla="*/ 5 h 73"/>
                  <a:gd name="T8" fmla="*/ 9 w 289"/>
                  <a:gd name="T9" fmla="*/ 2 h 73"/>
                  <a:gd name="T10" fmla="*/ 144 w 289"/>
                  <a:gd name="T11" fmla="*/ 61 h 73"/>
                  <a:gd name="T12" fmla="*/ 280 w 289"/>
                  <a:gd name="T13" fmla="*/ 2 h 73"/>
                  <a:gd name="T14" fmla="*/ 288 w 289"/>
                  <a:gd name="T15" fmla="*/ 5 h 73"/>
                  <a:gd name="T16" fmla="*/ 285 w 289"/>
                  <a:gd name="T17" fmla="*/ 13 h 73"/>
                  <a:gd name="T18" fmla="*/ 147 w 289"/>
                  <a:gd name="T19" fmla="*/ 73 h 73"/>
                  <a:gd name="T20" fmla="*/ 144 w 289"/>
                  <a:gd name="T21" fmla="*/ 73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9" h="73">
                    <a:moveTo>
                      <a:pt x="144" y="73"/>
                    </a:moveTo>
                    <a:cubicBezTo>
                      <a:pt x="144" y="73"/>
                      <a:pt x="143" y="73"/>
                      <a:pt x="142" y="73"/>
                    </a:cubicBezTo>
                    <a:cubicBezTo>
                      <a:pt x="4" y="13"/>
                      <a:pt x="4" y="13"/>
                      <a:pt x="4" y="13"/>
                    </a:cubicBezTo>
                    <a:cubicBezTo>
                      <a:pt x="1" y="11"/>
                      <a:pt x="0" y="8"/>
                      <a:pt x="1" y="5"/>
                    </a:cubicBezTo>
                    <a:cubicBezTo>
                      <a:pt x="2" y="2"/>
                      <a:pt x="6" y="0"/>
                      <a:pt x="9" y="2"/>
                    </a:cubicBezTo>
                    <a:cubicBezTo>
                      <a:pt x="144" y="61"/>
                      <a:pt x="144" y="61"/>
                      <a:pt x="144" y="61"/>
                    </a:cubicBezTo>
                    <a:cubicBezTo>
                      <a:pt x="280" y="2"/>
                      <a:pt x="280" y="2"/>
                      <a:pt x="280" y="2"/>
                    </a:cubicBezTo>
                    <a:cubicBezTo>
                      <a:pt x="283" y="0"/>
                      <a:pt x="287" y="2"/>
                      <a:pt x="288" y="5"/>
                    </a:cubicBezTo>
                    <a:cubicBezTo>
                      <a:pt x="289" y="8"/>
                      <a:pt x="288" y="11"/>
                      <a:pt x="285" y="13"/>
                    </a:cubicBezTo>
                    <a:cubicBezTo>
                      <a:pt x="147" y="73"/>
                      <a:pt x="147" y="73"/>
                      <a:pt x="147" y="73"/>
                    </a:cubicBezTo>
                    <a:cubicBezTo>
                      <a:pt x="146" y="73"/>
                      <a:pt x="145" y="73"/>
                      <a:pt x="144"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34" name="Freeform 51">
                <a:extLst>
                  <a:ext uri="{FF2B5EF4-FFF2-40B4-BE49-F238E27FC236}">
                    <a16:creationId xmlns:a16="http://schemas.microsoft.com/office/drawing/2014/main" id="{DA20F1AA-DC00-8959-780E-62A500A77C01}"/>
                  </a:ext>
                </a:extLst>
              </p:cNvPr>
              <p:cNvSpPr>
                <a:spLocks/>
              </p:cNvSpPr>
              <p:nvPr/>
            </p:nvSpPr>
            <p:spPr bwMode="auto">
              <a:xfrm>
                <a:off x="3427" y="722"/>
                <a:ext cx="428" cy="108"/>
              </a:xfrm>
              <a:custGeom>
                <a:avLst/>
                <a:gdLst>
                  <a:gd name="T0" fmla="*/ 144 w 289"/>
                  <a:gd name="T1" fmla="*/ 73 h 73"/>
                  <a:gd name="T2" fmla="*/ 142 w 289"/>
                  <a:gd name="T3" fmla="*/ 73 h 73"/>
                  <a:gd name="T4" fmla="*/ 4 w 289"/>
                  <a:gd name="T5" fmla="*/ 13 h 73"/>
                  <a:gd name="T6" fmla="*/ 1 w 289"/>
                  <a:gd name="T7" fmla="*/ 5 h 73"/>
                  <a:gd name="T8" fmla="*/ 9 w 289"/>
                  <a:gd name="T9" fmla="*/ 2 h 73"/>
                  <a:gd name="T10" fmla="*/ 144 w 289"/>
                  <a:gd name="T11" fmla="*/ 61 h 73"/>
                  <a:gd name="T12" fmla="*/ 280 w 289"/>
                  <a:gd name="T13" fmla="*/ 2 h 73"/>
                  <a:gd name="T14" fmla="*/ 288 w 289"/>
                  <a:gd name="T15" fmla="*/ 5 h 73"/>
                  <a:gd name="T16" fmla="*/ 285 w 289"/>
                  <a:gd name="T17" fmla="*/ 13 h 73"/>
                  <a:gd name="T18" fmla="*/ 147 w 289"/>
                  <a:gd name="T19" fmla="*/ 73 h 73"/>
                  <a:gd name="T20" fmla="*/ 144 w 289"/>
                  <a:gd name="T21" fmla="*/ 73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9" h="73">
                    <a:moveTo>
                      <a:pt x="144" y="73"/>
                    </a:moveTo>
                    <a:cubicBezTo>
                      <a:pt x="144" y="73"/>
                      <a:pt x="143" y="73"/>
                      <a:pt x="142" y="73"/>
                    </a:cubicBezTo>
                    <a:cubicBezTo>
                      <a:pt x="4" y="13"/>
                      <a:pt x="4" y="13"/>
                      <a:pt x="4" y="13"/>
                    </a:cubicBezTo>
                    <a:cubicBezTo>
                      <a:pt x="1" y="11"/>
                      <a:pt x="0" y="8"/>
                      <a:pt x="1" y="5"/>
                    </a:cubicBezTo>
                    <a:cubicBezTo>
                      <a:pt x="2" y="2"/>
                      <a:pt x="6" y="0"/>
                      <a:pt x="9" y="2"/>
                    </a:cubicBezTo>
                    <a:cubicBezTo>
                      <a:pt x="144" y="61"/>
                      <a:pt x="144" y="61"/>
                      <a:pt x="144" y="61"/>
                    </a:cubicBezTo>
                    <a:cubicBezTo>
                      <a:pt x="280" y="2"/>
                      <a:pt x="280" y="2"/>
                      <a:pt x="280" y="2"/>
                    </a:cubicBezTo>
                    <a:cubicBezTo>
                      <a:pt x="283" y="0"/>
                      <a:pt x="287" y="2"/>
                      <a:pt x="288" y="5"/>
                    </a:cubicBezTo>
                    <a:cubicBezTo>
                      <a:pt x="289" y="8"/>
                      <a:pt x="288" y="11"/>
                      <a:pt x="285" y="13"/>
                    </a:cubicBezTo>
                    <a:cubicBezTo>
                      <a:pt x="147" y="73"/>
                      <a:pt x="147" y="73"/>
                      <a:pt x="147" y="73"/>
                    </a:cubicBezTo>
                    <a:cubicBezTo>
                      <a:pt x="146" y="73"/>
                      <a:pt x="145" y="73"/>
                      <a:pt x="144"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35" name="Freeform 52">
                <a:extLst>
                  <a:ext uri="{FF2B5EF4-FFF2-40B4-BE49-F238E27FC236}">
                    <a16:creationId xmlns:a16="http://schemas.microsoft.com/office/drawing/2014/main" id="{09269973-0EC1-5D51-819A-489E229EB906}"/>
                  </a:ext>
                </a:extLst>
              </p:cNvPr>
              <p:cNvSpPr>
                <a:spLocks noEditPoints="1"/>
              </p:cNvSpPr>
              <p:nvPr/>
            </p:nvSpPr>
            <p:spPr bwMode="auto">
              <a:xfrm>
                <a:off x="3427" y="474"/>
                <a:ext cx="426" cy="196"/>
              </a:xfrm>
              <a:custGeom>
                <a:avLst/>
                <a:gdLst>
                  <a:gd name="T0" fmla="*/ 144 w 288"/>
                  <a:gd name="T1" fmla="*/ 132 h 132"/>
                  <a:gd name="T2" fmla="*/ 142 w 288"/>
                  <a:gd name="T3" fmla="*/ 132 h 132"/>
                  <a:gd name="T4" fmla="*/ 4 w 288"/>
                  <a:gd name="T5" fmla="*/ 72 h 132"/>
                  <a:gd name="T6" fmla="*/ 0 w 288"/>
                  <a:gd name="T7" fmla="*/ 66 h 132"/>
                  <a:gd name="T8" fmla="*/ 4 w 288"/>
                  <a:gd name="T9" fmla="*/ 61 h 132"/>
                  <a:gd name="T10" fmla="*/ 142 w 288"/>
                  <a:gd name="T11" fmla="*/ 1 h 132"/>
                  <a:gd name="T12" fmla="*/ 147 w 288"/>
                  <a:gd name="T13" fmla="*/ 1 h 132"/>
                  <a:gd name="T14" fmla="*/ 285 w 288"/>
                  <a:gd name="T15" fmla="*/ 61 h 132"/>
                  <a:gd name="T16" fmla="*/ 288 w 288"/>
                  <a:gd name="T17" fmla="*/ 66 h 132"/>
                  <a:gd name="T18" fmla="*/ 285 w 288"/>
                  <a:gd name="T19" fmla="*/ 72 h 132"/>
                  <a:gd name="T20" fmla="*/ 147 w 288"/>
                  <a:gd name="T21" fmla="*/ 132 h 132"/>
                  <a:gd name="T22" fmla="*/ 144 w 288"/>
                  <a:gd name="T23" fmla="*/ 132 h 132"/>
                  <a:gd name="T24" fmla="*/ 21 w 288"/>
                  <a:gd name="T25" fmla="*/ 66 h 132"/>
                  <a:gd name="T26" fmla="*/ 144 w 288"/>
                  <a:gd name="T27" fmla="*/ 120 h 132"/>
                  <a:gd name="T28" fmla="*/ 267 w 288"/>
                  <a:gd name="T29" fmla="*/ 66 h 132"/>
                  <a:gd name="T30" fmla="*/ 144 w 288"/>
                  <a:gd name="T31" fmla="*/ 13 h 132"/>
                  <a:gd name="T32" fmla="*/ 21 w 288"/>
                  <a:gd name="T33" fmla="*/ 66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88" h="132">
                    <a:moveTo>
                      <a:pt x="144" y="132"/>
                    </a:moveTo>
                    <a:cubicBezTo>
                      <a:pt x="144" y="132"/>
                      <a:pt x="143" y="132"/>
                      <a:pt x="142" y="132"/>
                    </a:cubicBezTo>
                    <a:cubicBezTo>
                      <a:pt x="4" y="72"/>
                      <a:pt x="4" y="72"/>
                      <a:pt x="4" y="72"/>
                    </a:cubicBezTo>
                    <a:cubicBezTo>
                      <a:pt x="2" y="71"/>
                      <a:pt x="0" y="69"/>
                      <a:pt x="0" y="66"/>
                    </a:cubicBezTo>
                    <a:cubicBezTo>
                      <a:pt x="0" y="64"/>
                      <a:pt x="2" y="62"/>
                      <a:pt x="4" y="61"/>
                    </a:cubicBezTo>
                    <a:cubicBezTo>
                      <a:pt x="142" y="1"/>
                      <a:pt x="142" y="1"/>
                      <a:pt x="142" y="1"/>
                    </a:cubicBezTo>
                    <a:cubicBezTo>
                      <a:pt x="144" y="0"/>
                      <a:pt x="145" y="0"/>
                      <a:pt x="147" y="1"/>
                    </a:cubicBezTo>
                    <a:cubicBezTo>
                      <a:pt x="285" y="61"/>
                      <a:pt x="285" y="61"/>
                      <a:pt x="285" y="61"/>
                    </a:cubicBezTo>
                    <a:cubicBezTo>
                      <a:pt x="287" y="62"/>
                      <a:pt x="288" y="64"/>
                      <a:pt x="288" y="66"/>
                    </a:cubicBezTo>
                    <a:cubicBezTo>
                      <a:pt x="288" y="69"/>
                      <a:pt x="287" y="71"/>
                      <a:pt x="285" y="72"/>
                    </a:cubicBezTo>
                    <a:cubicBezTo>
                      <a:pt x="147" y="132"/>
                      <a:pt x="147" y="132"/>
                      <a:pt x="147" y="132"/>
                    </a:cubicBezTo>
                    <a:cubicBezTo>
                      <a:pt x="146" y="132"/>
                      <a:pt x="145" y="132"/>
                      <a:pt x="144" y="132"/>
                    </a:cubicBezTo>
                    <a:close/>
                    <a:moveTo>
                      <a:pt x="21" y="66"/>
                    </a:moveTo>
                    <a:cubicBezTo>
                      <a:pt x="144" y="120"/>
                      <a:pt x="144" y="120"/>
                      <a:pt x="144" y="120"/>
                    </a:cubicBezTo>
                    <a:cubicBezTo>
                      <a:pt x="267" y="66"/>
                      <a:pt x="267" y="66"/>
                      <a:pt x="267" y="66"/>
                    </a:cubicBezTo>
                    <a:cubicBezTo>
                      <a:pt x="144" y="13"/>
                      <a:pt x="144" y="13"/>
                      <a:pt x="144" y="13"/>
                    </a:cubicBezTo>
                    <a:lnTo>
                      <a:pt x="21" y="6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grpSp>
        <p:pic>
          <p:nvPicPr>
            <p:cNvPr id="25" name="Graphic 24" descr="Red">
              <a:extLst>
                <a:ext uri="{FF2B5EF4-FFF2-40B4-BE49-F238E27FC236}">
                  <a16:creationId xmlns:a16="http://schemas.microsoft.com/office/drawing/2014/main" id="{C15BC799-A0F5-DB7B-E2C5-E0B78DE1D03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235683" y="2608737"/>
              <a:ext cx="252000" cy="252000"/>
            </a:xfrm>
            <a:prstGeom prst="rect">
              <a:avLst/>
            </a:prstGeom>
          </p:spPr>
        </p:pic>
        <p:sp>
          <p:nvSpPr>
            <p:cNvPr id="26" name="Freeform 147">
              <a:extLst>
                <a:ext uri="{FF2B5EF4-FFF2-40B4-BE49-F238E27FC236}">
                  <a16:creationId xmlns:a16="http://schemas.microsoft.com/office/drawing/2014/main" id="{B88558DE-40B6-04AB-73A3-F966601797BC}"/>
                </a:ext>
              </a:extLst>
            </p:cNvPr>
            <p:cNvSpPr>
              <a:spLocks noEditPoints="1"/>
            </p:cNvSpPr>
            <p:nvPr/>
          </p:nvSpPr>
          <p:spPr bwMode="auto">
            <a:xfrm>
              <a:off x="8174247" y="4362223"/>
              <a:ext cx="396000" cy="216000"/>
            </a:xfrm>
            <a:custGeom>
              <a:avLst/>
              <a:gdLst>
                <a:gd name="T0" fmla="*/ 54 w 288"/>
                <a:gd name="T1" fmla="*/ 180 h 180"/>
                <a:gd name="T2" fmla="*/ 14 w 288"/>
                <a:gd name="T3" fmla="*/ 164 h 180"/>
                <a:gd name="T4" fmla="*/ 0 w 288"/>
                <a:gd name="T5" fmla="*/ 129 h 180"/>
                <a:gd name="T6" fmla="*/ 19 w 288"/>
                <a:gd name="T7" fmla="*/ 89 h 180"/>
                <a:gd name="T8" fmla="*/ 55 w 288"/>
                <a:gd name="T9" fmla="*/ 78 h 180"/>
                <a:gd name="T10" fmla="*/ 144 w 288"/>
                <a:gd name="T11" fmla="*/ 0 h 180"/>
                <a:gd name="T12" fmla="*/ 224 w 288"/>
                <a:gd name="T13" fmla="*/ 48 h 180"/>
                <a:gd name="T14" fmla="*/ 268 w 288"/>
                <a:gd name="T15" fmla="*/ 66 h 180"/>
                <a:gd name="T16" fmla="*/ 288 w 288"/>
                <a:gd name="T17" fmla="*/ 114 h 180"/>
                <a:gd name="T18" fmla="*/ 229 w 288"/>
                <a:gd name="T19" fmla="*/ 180 h 180"/>
                <a:gd name="T20" fmla="*/ 228 w 288"/>
                <a:gd name="T21" fmla="*/ 180 h 180"/>
                <a:gd name="T22" fmla="*/ 54 w 288"/>
                <a:gd name="T23" fmla="*/ 180 h 180"/>
                <a:gd name="T24" fmla="*/ 54 w 288"/>
                <a:gd name="T25" fmla="*/ 180 h 180"/>
                <a:gd name="T26" fmla="*/ 51 w 288"/>
                <a:gd name="T27" fmla="*/ 90 h 180"/>
                <a:gd name="T28" fmla="*/ 27 w 288"/>
                <a:gd name="T29" fmla="*/ 99 h 180"/>
                <a:gd name="T30" fmla="*/ 12 w 288"/>
                <a:gd name="T31" fmla="*/ 129 h 180"/>
                <a:gd name="T32" fmla="*/ 22 w 288"/>
                <a:gd name="T33" fmla="*/ 156 h 180"/>
                <a:gd name="T34" fmla="*/ 54 w 288"/>
                <a:gd name="T35" fmla="*/ 168 h 180"/>
                <a:gd name="T36" fmla="*/ 54 w 288"/>
                <a:gd name="T37" fmla="*/ 168 h 180"/>
                <a:gd name="T38" fmla="*/ 228 w 288"/>
                <a:gd name="T39" fmla="*/ 168 h 180"/>
                <a:gd name="T40" fmla="*/ 276 w 288"/>
                <a:gd name="T41" fmla="*/ 114 h 180"/>
                <a:gd name="T42" fmla="*/ 260 w 288"/>
                <a:gd name="T43" fmla="*/ 75 h 180"/>
                <a:gd name="T44" fmla="*/ 220 w 288"/>
                <a:gd name="T45" fmla="*/ 60 h 180"/>
                <a:gd name="T46" fmla="*/ 215 w 288"/>
                <a:gd name="T47" fmla="*/ 57 h 180"/>
                <a:gd name="T48" fmla="*/ 144 w 288"/>
                <a:gd name="T49" fmla="*/ 12 h 180"/>
                <a:gd name="T50" fmla="*/ 66 w 288"/>
                <a:gd name="T51" fmla="*/ 85 h 180"/>
                <a:gd name="T52" fmla="*/ 64 w 288"/>
                <a:gd name="T53" fmla="*/ 90 h 180"/>
                <a:gd name="T54" fmla="*/ 59 w 288"/>
                <a:gd name="T55" fmla="*/ 91 h 180"/>
                <a:gd name="T56" fmla="*/ 51 w 288"/>
                <a:gd name="T57" fmla="*/ 90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88" h="180">
                  <a:moveTo>
                    <a:pt x="54" y="180"/>
                  </a:moveTo>
                  <a:cubicBezTo>
                    <a:pt x="51" y="180"/>
                    <a:pt x="29" y="179"/>
                    <a:pt x="14" y="164"/>
                  </a:cubicBezTo>
                  <a:cubicBezTo>
                    <a:pt x="5" y="156"/>
                    <a:pt x="0" y="144"/>
                    <a:pt x="0" y="129"/>
                  </a:cubicBezTo>
                  <a:cubicBezTo>
                    <a:pt x="0" y="113"/>
                    <a:pt x="7" y="99"/>
                    <a:pt x="19" y="89"/>
                  </a:cubicBezTo>
                  <a:cubicBezTo>
                    <a:pt x="29" y="81"/>
                    <a:pt x="42" y="77"/>
                    <a:pt x="55" y="78"/>
                  </a:cubicBezTo>
                  <a:cubicBezTo>
                    <a:pt x="61" y="34"/>
                    <a:pt x="99" y="0"/>
                    <a:pt x="144" y="0"/>
                  </a:cubicBezTo>
                  <a:cubicBezTo>
                    <a:pt x="177" y="0"/>
                    <a:pt x="208" y="19"/>
                    <a:pt x="224" y="48"/>
                  </a:cubicBezTo>
                  <a:cubicBezTo>
                    <a:pt x="240" y="48"/>
                    <a:pt x="256" y="55"/>
                    <a:pt x="268" y="66"/>
                  </a:cubicBezTo>
                  <a:cubicBezTo>
                    <a:pt x="281" y="79"/>
                    <a:pt x="288" y="96"/>
                    <a:pt x="288" y="114"/>
                  </a:cubicBezTo>
                  <a:cubicBezTo>
                    <a:pt x="288" y="171"/>
                    <a:pt x="230" y="180"/>
                    <a:pt x="229" y="180"/>
                  </a:cubicBezTo>
                  <a:cubicBezTo>
                    <a:pt x="229" y="180"/>
                    <a:pt x="228" y="180"/>
                    <a:pt x="228" y="180"/>
                  </a:cubicBezTo>
                  <a:cubicBezTo>
                    <a:pt x="54" y="180"/>
                    <a:pt x="54" y="180"/>
                    <a:pt x="54" y="180"/>
                  </a:cubicBezTo>
                  <a:cubicBezTo>
                    <a:pt x="54" y="180"/>
                    <a:pt x="54" y="180"/>
                    <a:pt x="54" y="180"/>
                  </a:cubicBezTo>
                  <a:close/>
                  <a:moveTo>
                    <a:pt x="51" y="90"/>
                  </a:moveTo>
                  <a:cubicBezTo>
                    <a:pt x="42" y="90"/>
                    <a:pt x="34" y="93"/>
                    <a:pt x="27" y="99"/>
                  </a:cubicBezTo>
                  <a:cubicBezTo>
                    <a:pt x="17" y="106"/>
                    <a:pt x="12" y="117"/>
                    <a:pt x="12" y="129"/>
                  </a:cubicBezTo>
                  <a:cubicBezTo>
                    <a:pt x="12" y="140"/>
                    <a:pt x="16" y="149"/>
                    <a:pt x="22" y="156"/>
                  </a:cubicBezTo>
                  <a:cubicBezTo>
                    <a:pt x="34" y="168"/>
                    <a:pt x="53" y="168"/>
                    <a:pt x="54" y="168"/>
                  </a:cubicBezTo>
                  <a:cubicBezTo>
                    <a:pt x="54" y="168"/>
                    <a:pt x="54" y="168"/>
                    <a:pt x="54" y="168"/>
                  </a:cubicBezTo>
                  <a:cubicBezTo>
                    <a:pt x="228" y="168"/>
                    <a:pt x="228" y="168"/>
                    <a:pt x="228" y="168"/>
                  </a:cubicBezTo>
                  <a:cubicBezTo>
                    <a:pt x="233" y="167"/>
                    <a:pt x="276" y="159"/>
                    <a:pt x="276" y="114"/>
                  </a:cubicBezTo>
                  <a:cubicBezTo>
                    <a:pt x="276" y="99"/>
                    <a:pt x="270" y="85"/>
                    <a:pt x="260" y="75"/>
                  </a:cubicBezTo>
                  <a:cubicBezTo>
                    <a:pt x="249" y="65"/>
                    <a:pt x="235" y="59"/>
                    <a:pt x="220" y="60"/>
                  </a:cubicBezTo>
                  <a:cubicBezTo>
                    <a:pt x="218" y="60"/>
                    <a:pt x="216" y="59"/>
                    <a:pt x="215" y="57"/>
                  </a:cubicBezTo>
                  <a:cubicBezTo>
                    <a:pt x="202" y="29"/>
                    <a:pt x="174" y="12"/>
                    <a:pt x="144" y="12"/>
                  </a:cubicBezTo>
                  <a:cubicBezTo>
                    <a:pt x="103" y="12"/>
                    <a:pt x="69" y="44"/>
                    <a:pt x="66" y="85"/>
                  </a:cubicBezTo>
                  <a:cubicBezTo>
                    <a:pt x="66" y="87"/>
                    <a:pt x="66" y="88"/>
                    <a:pt x="64" y="90"/>
                  </a:cubicBezTo>
                  <a:cubicBezTo>
                    <a:pt x="63" y="91"/>
                    <a:pt x="61" y="91"/>
                    <a:pt x="59" y="91"/>
                  </a:cubicBezTo>
                  <a:cubicBezTo>
                    <a:pt x="57" y="90"/>
                    <a:pt x="54" y="90"/>
                    <a:pt x="51" y="90"/>
                  </a:cubicBez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27" name="Freeform 5">
              <a:extLst>
                <a:ext uri="{FF2B5EF4-FFF2-40B4-BE49-F238E27FC236}">
                  <a16:creationId xmlns:a16="http://schemas.microsoft.com/office/drawing/2014/main" id="{FBA83DF6-BA93-5561-651A-7988DC91D251}"/>
                </a:ext>
              </a:extLst>
            </p:cNvPr>
            <p:cNvSpPr>
              <a:spLocks noEditPoints="1"/>
            </p:cNvSpPr>
            <p:nvPr/>
          </p:nvSpPr>
          <p:spPr bwMode="auto">
            <a:xfrm>
              <a:off x="8235683" y="3641494"/>
              <a:ext cx="252000" cy="252000"/>
            </a:xfrm>
            <a:custGeom>
              <a:avLst/>
              <a:gdLst>
                <a:gd name="T0" fmla="*/ 60 w 88"/>
                <a:gd name="T1" fmla="*/ 8 h 88"/>
                <a:gd name="T2" fmla="*/ 60 w 88"/>
                <a:gd name="T3" fmla="*/ 29 h 88"/>
                <a:gd name="T4" fmla="*/ 28 w 88"/>
                <a:gd name="T5" fmla="*/ 29 h 88"/>
                <a:gd name="T6" fmla="*/ 28 w 88"/>
                <a:gd name="T7" fmla="*/ 8 h 88"/>
                <a:gd name="T8" fmla="*/ 0 w 88"/>
                <a:gd name="T9" fmla="*/ 8 h 88"/>
                <a:gd name="T10" fmla="*/ 14 w 88"/>
                <a:gd name="T11" fmla="*/ 36 h 88"/>
                <a:gd name="T12" fmla="*/ 41 w 88"/>
                <a:gd name="T13" fmla="*/ 44 h 88"/>
                <a:gd name="T14" fmla="*/ 14 w 88"/>
                <a:gd name="T15" fmla="*/ 52 h 88"/>
                <a:gd name="T16" fmla="*/ 0 w 88"/>
                <a:gd name="T17" fmla="*/ 80 h 88"/>
                <a:gd name="T18" fmla="*/ 28 w 88"/>
                <a:gd name="T19" fmla="*/ 80 h 88"/>
                <a:gd name="T20" fmla="*/ 28 w 88"/>
                <a:gd name="T21" fmla="*/ 59 h 88"/>
                <a:gd name="T22" fmla="*/ 60 w 88"/>
                <a:gd name="T23" fmla="*/ 59 h 88"/>
                <a:gd name="T24" fmla="*/ 60 w 88"/>
                <a:gd name="T25" fmla="*/ 80 h 88"/>
                <a:gd name="T26" fmla="*/ 88 w 88"/>
                <a:gd name="T27" fmla="*/ 80 h 88"/>
                <a:gd name="T28" fmla="*/ 74 w 88"/>
                <a:gd name="T29" fmla="*/ 52 h 88"/>
                <a:gd name="T30" fmla="*/ 47 w 88"/>
                <a:gd name="T31" fmla="*/ 44 h 88"/>
                <a:gd name="T32" fmla="*/ 74 w 88"/>
                <a:gd name="T33" fmla="*/ 36 h 88"/>
                <a:gd name="T34" fmla="*/ 88 w 88"/>
                <a:gd name="T35" fmla="*/ 8 h 88"/>
                <a:gd name="T36" fmla="*/ 4 w 88"/>
                <a:gd name="T37" fmla="*/ 14 h 88"/>
                <a:gd name="T38" fmla="*/ 24 w 88"/>
                <a:gd name="T39" fmla="*/ 14 h 88"/>
                <a:gd name="T40" fmla="*/ 14 w 88"/>
                <a:gd name="T41" fmla="*/ 22 h 88"/>
                <a:gd name="T42" fmla="*/ 4 w 88"/>
                <a:gd name="T43" fmla="*/ 14 h 88"/>
                <a:gd name="T44" fmla="*/ 24 w 88"/>
                <a:gd name="T45" fmla="*/ 8 h 88"/>
                <a:gd name="T46" fmla="*/ 4 w 88"/>
                <a:gd name="T47" fmla="*/ 8 h 88"/>
                <a:gd name="T48" fmla="*/ 14 w 88"/>
                <a:gd name="T49" fmla="*/ 32 h 88"/>
                <a:gd name="T50" fmla="*/ 4 w 88"/>
                <a:gd name="T51" fmla="*/ 24 h 88"/>
                <a:gd name="T52" fmla="*/ 24 w 88"/>
                <a:gd name="T53" fmla="*/ 24 h 88"/>
                <a:gd name="T54" fmla="*/ 14 w 88"/>
                <a:gd name="T55" fmla="*/ 32 h 88"/>
                <a:gd name="T56" fmla="*/ 14 w 88"/>
                <a:gd name="T57" fmla="*/ 74 h 88"/>
                <a:gd name="T58" fmla="*/ 4 w 88"/>
                <a:gd name="T59" fmla="*/ 66 h 88"/>
                <a:gd name="T60" fmla="*/ 24 w 88"/>
                <a:gd name="T61" fmla="*/ 66 h 88"/>
                <a:gd name="T62" fmla="*/ 14 w 88"/>
                <a:gd name="T63" fmla="*/ 56 h 88"/>
                <a:gd name="T64" fmla="*/ 14 w 88"/>
                <a:gd name="T65" fmla="*/ 64 h 88"/>
                <a:gd name="T66" fmla="*/ 14 w 88"/>
                <a:gd name="T67" fmla="*/ 56 h 88"/>
                <a:gd name="T68" fmla="*/ 4 w 88"/>
                <a:gd name="T69" fmla="*/ 80 h 88"/>
                <a:gd name="T70" fmla="*/ 14 w 88"/>
                <a:gd name="T71" fmla="*/ 78 h 88"/>
                <a:gd name="T72" fmla="*/ 24 w 88"/>
                <a:gd name="T73" fmla="*/ 80 h 88"/>
                <a:gd name="T74" fmla="*/ 84 w 88"/>
                <a:gd name="T75" fmla="*/ 70 h 88"/>
                <a:gd name="T76" fmla="*/ 64 w 88"/>
                <a:gd name="T77" fmla="*/ 70 h 88"/>
                <a:gd name="T78" fmla="*/ 74 w 88"/>
                <a:gd name="T79" fmla="*/ 68 h 88"/>
                <a:gd name="T80" fmla="*/ 84 w 88"/>
                <a:gd name="T81" fmla="*/ 70 h 88"/>
                <a:gd name="T82" fmla="*/ 64 w 88"/>
                <a:gd name="T83" fmla="*/ 80 h 88"/>
                <a:gd name="T84" fmla="*/ 74 w 88"/>
                <a:gd name="T85" fmla="*/ 78 h 88"/>
                <a:gd name="T86" fmla="*/ 84 w 88"/>
                <a:gd name="T87" fmla="*/ 80 h 88"/>
                <a:gd name="T88" fmla="*/ 74 w 88"/>
                <a:gd name="T89" fmla="*/ 56 h 88"/>
                <a:gd name="T90" fmla="*/ 74 w 88"/>
                <a:gd name="T91" fmla="*/ 64 h 88"/>
                <a:gd name="T92" fmla="*/ 74 w 88"/>
                <a:gd name="T93" fmla="*/ 56 h 88"/>
                <a:gd name="T94" fmla="*/ 74 w 88"/>
                <a:gd name="T95" fmla="*/ 22 h 88"/>
                <a:gd name="T96" fmla="*/ 64 w 88"/>
                <a:gd name="T97" fmla="*/ 14 h 88"/>
                <a:gd name="T98" fmla="*/ 84 w 88"/>
                <a:gd name="T99" fmla="*/ 14 h 88"/>
                <a:gd name="T100" fmla="*/ 74 w 88"/>
                <a:gd name="T101" fmla="*/ 4 h 88"/>
                <a:gd name="T102" fmla="*/ 74 w 88"/>
                <a:gd name="T103" fmla="*/ 12 h 88"/>
                <a:gd name="T104" fmla="*/ 74 w 88"/>
                <a:gd name="T105" fmla="*/ 4 h 88"/>
                <a:gd name="T106" fmla="*/ 64 w 88"/>
                <a:gd name="T107" fmla="*/ 28 h 88"/>
                <a:gd name="T108" fmla="*/ 74 w 88"/>
                <a:gd name="T109" fmla="*/ 26 h 88"/>
                <a:gd name="T110" fmla="*/ 84 w 88"/>
                <a:gd name="T111" fmla="*/ 28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88" h="88">
                  <a:moveTo>
                    <a:pt x="74" y="0"/>
                  </a:moveTo>
                  <a:cubicBezTo>
                    <a:pt x="66" y="0"/>
                    <a:pt x="60" y="3"/>
                    <a:pt x="60" y="8"/>
                  </a:cubicBezTo>
                  <a:cubicBezTo>
                    <a:pt x="60" y="28"/>
                    <a:pt x="60" y="28"/>
                    <a:pt x="60" y="28"/>
                  </a:cubicBezTo>
                  <a:cubicBezTo>
                    <a:pt x="60" y="28"/>
                    <a:pt x="60" y="29"/>
                    <a:pt x="60" y="29"/>
                  </a:cubicBezTo>
                  <a:cubicBezTo>
                    <a:pt x="44" y="41"/>
                    <a:pt x="44" y="41"/>
                    <a:pt x="44" y="41"/>
                  </a:cubicBezTo>
                  <a:cubicBezTo>
                    <a:pt x="28" y="29"/>
                    <a:pt x="28" y="29"/>
                    <a:pt x="28" y="29"/>
                  </a:cubicBezTo>
                  <a:cubicBezTo>
                    <a:pt x="28" y="29"/>
                    <a:pt x="28" y="28"/>
                    <a:pt x="28" y="28"/>
                  </a:cubicBezTo>
                  <a:cubicBezTo>
                    <a:pt x="28" y="8"/>
                    <a:pt x="28" y="8"/>
                    <a:pt x="28" y="8"/>
                  </a:cubicBezTo>
                  <a:cubicBezTo>
                    <a:pt x="28" y="3"/>
                    <a:pt x="22" y="0"/>
                    <a:pt x="14" y="0"/>
                  </a:cubicBezTo>
                  <a:cubicBezTo>
                    <a:pt x="6" y="0"/>
                    <a:pt x="0" y="3"/>
                    <a:pt x="0" y="8"/>
                  </a:cubicBezTo>
                  <a:cubicBezTo>
                    <a:pt x="0" y="28"/>
                    <a:pt x="0" y="28"/>
                    <a:pt x="0" y="28"/>
                  </a:cubicBezTo>
                  <a:cubicBezTo>
                    <a:pt x="0" y="33"/>
                    <a:pt x="6" y="36"/>
                    <a:pt x="14" y="36"/>
                  </a:cubicBezTo>
                  <a:cubicBezTo>
                    <a:pt x="19" y="36"/>
                    <a:pt x="23" y="35"/>
                    <a:pt x="26" y="32"/>
                  </a:cubicBezTo>
                  <a:cubicBezTo>
                    <a:pt x="41" y="44"/>
                    <a:pt x="41" y="44"/>
                    <a:pt x="41" y="44"/>
                  </a:cubicBezTo>
                  <a:cubicBezTo>
                    <a:pt x="26" y="56"/>
                    <a:pt x="26" y="56"/>
                    <a:pt x="26" y="56"/>
                  </a:cubicBezTo>
                  <a:cubicBezTo>
                    <a:pt x="23" y="53"/>
                    <a:pt x="19" y="52"/>
                    <a:pt x="14" y="52"/>
                  </a:cubicBezTo>
                  <a:cubicBezTo>
                    <a:pt x="6" y="52"/>
                    <a:pt x="0" y="55"/>
                    <a:pt x="0" y="60"/>
                  </a:cubicBezTo>
                  <a:cubicBezTo>
                    <a:pt x="0" y="80"/>
                    <a:pt x="0" y="80"/>
                    <a:pt x="0" y="80"/>
                  </a:cubicBezTo>
                  <a:cubicBezTo>
                    <a:pt x="0" y="85"/>
                    <a:pt x="6" y="88"/>
                    <a:pt x="14" y="88"/>
                  </a:cubicBezTo>
                  <a:cubicBezTo>
                    <a:pt x="22" y="88"/>
                    <a:pt x="28" y="85"/>
                    <a:pt x="28" y="80"/>
                  </a:cubicBezTo>
                  <a:cubicBezTo>
                    <a:pt x="28" y="60"/>
                    <a:pt x="28" y="60"/>
                    <a:pt x="28" y="60"/>
                  </a:cubicBezTo>
                  <a:cubicBezTo>
                    <a:pt x="28" y="60"/>
                    <a:pt x="28" y="59"/>
                    <a:pt x="28" y="59"/>
                  </a:cubicBezTo>
                  <a:cubicBezTo>
                    <a:pt x="44" y="47"/>
                    <a:pt x="44" y="47"/>
                    <a:pt x="44" y="47"/>
                  </a:cubicBezTo>
                  <a:cubicBezTo>
                    <a:pt x="60" y="59"/>
                    <a:pt x="60" y="59"/>
                    <a:pt x="60" y="59"/>
                  </a:cubicBezTo>
                  <a:cubicBezTo>
                    <a:pt x="60" y="59"/>
                    <a:pt x="60" y="60"/>
                    <a:pt x="60" y="60"/>
                  </a:cubicBezTo>
                  <a:cubicBezTo>
                    <a:pt x="60" y="80"/>
                    <a:pt x="60" y="80"/>
                    <a:pt x="60" y="80"/>
                  </a:cubicBezTo>
                  <a:cubicBezTo>
                    <a:pt x="60" y="85"/>
                    <a:pt x="66" y="88"/>
                    <a:pt x="74" y="88"/>
                  </a:cubicBezTo>
                  <a:cubicBezTo>
                    <a:pt x="82" y="88"/>
                    <a:pt x="88" y="85"/>
                    <a:pt x="88" y="80"/>
                  </a:cubicBezTo>
                  <a:cubicBezTo>
                    <a:pt x="88" y="60"/>
                    <a:pt x="88" y="60"/>
                    <a:pt x="88" y="60"/>
                  </a:cubicBezTo>
                  <a:cubicBezTo>
                    <a:pt x="88" y="55"/>
                    <a:pt x="82" y="52"/>
                    <a:pt x="74" y="52"/>
                  </a:cubicBezTo>
                  <a:cubicBezTo>
                    <a:pt x="69" y="52"/>
                    <a:pt x="65" y="53"/>
                    <a:pt x="62" y="56"/>
                  </a:cubicBezTo>
                  <a:cubicBezTo>
                    <a:pt x="47" y="44"/>
                    <a:pt x="47" y="44"/>
                    <a:pt x="47" y="44"/>
                  </a:cubicBezTo>
                  <a:cubicBezTo>
                    <a:pt x="62" y="32"/>
                    <a:pt x="62" y="32"/>
                    <a:pt x="62" y="32"/>
                  </a:cubicBezTo>
                  <a:cubicBezTo>
                    <a:pt x="65" y="35"/>
                    <a:pt x="69" y="36"/>
                    <a:pt x="74" y="36"/>
                  </a:cubicBezTo>
                  <a:cubicBezTo>
                    <a:pt x="82" y="36"/>
                    <a:pt x="88" y="33"/>
                    <a:pt x="88" y="28"/>
                  </a:cubicBezTo>
                  <a:cubicBezTo>
                    <a:pt x="88" y="8"/>
                    <a:pt x="88" y="8"/>
                    <a:pt x="88" y="8"/>
                  </a:cubicBezTo>
                  <a:cubicBezTo>
                    <a:pt x="88" y="3"/>
                    <a:pt x="82" y="0"/>
                    <a:pt x="74" y="0"/>
                  </a:cubicBezTo>
                  <a:close/>
                  <a:moveTo>
                    <a:pt x="4" y="14"/>
                  </a:moveTo>
                  <a:cubicBezTo>
                    <a:pt x="7" y="15"/>
                    <a:pt x="10" y="16"/>
                    <a:pt x="14" y="16"/>
                  </a:cubicBezTo>
                  <a:cubicBezTo>
                    <a:pt x="18" y="16"/>
                    <a:pt x="21" y="15"/>
                    <a:pt x="24" y="14"/>
                  </a:cubicBezTo>
                  <a:cubicBezTo>
                    <a:pt x="24" y="18"/>
                    <a:pt x="24" y="18"/>
                    <a:pt x="24" y="18"/>
                  </a:cubicBezTo>
                  <a:cubicBezTo>
                    <a:pt x="24" y="20"/>
                    <a:pt x="20" y="22"/>
                    <a:pt x="14" y="22"/>
                  </a:cubicBezTo>
                  <a:cubicBezTo>
                    <a:pt x="8" y="22"/>
                    <a:pt x="4" y="20"/>
                    <a:pt x="4" y="18"/>
                  </a:cubicBezTo>
                  <a:lnTo>
                    <a:pt x="4" y="14"/>
                  </a:lnTo>
                  <a:close/>
                  <a:moveTo>
                    <a:pt x="14" y="4"/>
                  </a:moveTo>
                  <a:cubicBezTo>
                    <a:pt x="20" y="4"/>
                    <a:pt x="24" y="6"/>
                    <a:pt x="24" y="8"/>
                  </a:cubicBezTo>
                  <a:cubicBezTo>
                    <a:pt x="24" y="10"/>
                    <a:pt x="20" y="12"/>
                    <a:pt x="14" y="12"/>
                  </a:cubicBezTo>
                  <a:cubicBezTo>
                    <a:pt x="8" y="12"/>
                    <a:pt x="4" y="10"/>
                    <a:pt x="4" y="8"/>
                  </a:cubicBezTo>
                  <a:cubicBezTo>
                    <a:pt x="4" y="6"/>
                    <a:pt x="8" y="4"/>
                    <a:pt x="14" y="4"/>
                  </a:cubicBezTo>
                  <a:close/>
                  <a:moveTo>
                    <a:pt x="14" y="32"/>
                  </a:moveTo>
                  <a:cubicBezTo>
                    <a:pt x="8" y="32"/>
                    <a:pt x="4" y="30"/>
                    <a:pt x="4" y="28"/>
                  </a:cubicBezTo>
                  <a:cubicBezTo>
                    <a:pt x="4" y="24"/>
                    <a:pt x="4" y="24"/>
                    <a:pt x="4" y="24"/>
                  </a:cubicBezTo>
                  <a:cubicBezTo>
                    <a:pt x="7" y="25"/>
                    <a:pt x="10" y="26"/>
                    <a:pt x="14" y="26"/>
                  </a:cubicBezTo>
                  <a:cubicBezTo>
                    <a:pt x="18" y="26"/>
                    <a:pt x="21" y="25"/>
                    <a:pt x="24" y="24"/>
                  </a:cubicBezTo>
                  <a:cubicBezTo>
                    <a:pt x="24" y="28"/>
                    <a:pt x="24" y="28"/>
                    <a:pt x="24" y="28"/>
                  </a:cubicBezTo>
                  <a:cubicBezTo>
                    <a:pt x="24" y="30"/>
                    <a:pt x="20" y="32"/>
                    <a:pt x="14" y="32"/>
                  </a:cubicBezTo>
                  <a:close/>
                  <a:moveTo>
                    <a:pt x="24" y="70"/>
                  </a:moveTo>
                  <a:cubicBezTo>
                    <a:pt x="24" y="72"/>
                    <a:pt x="20" y="74"/>
                    <a:pt x="14" y="74"/>
                  </a:cubicBezTo>
                  <a:cubicBezTo>
                    <a:pt x="8" y="74"/>
                    <a:pt x="4" y="72"/>
                    <a:pt x="4" y="70"/>
                  </a:cubicBezTo>
                  <a:cubicBezTo>
                    <a:pt x="4" y="66"/>
                    <a:pt x="4" y="66"/>
                    <a:pt x="4" y="66"/>
                  </a:cubicBezTo>
                  <a:cubicBezTo>
                    <a:pt x="7" y="67"/>
                    <a:pt x="10" y="68"/>
                    <a:pt x="14" y="68"/>
                  </a:cubicBezTo>
                  <a:cubicBezTo>
                    <a:pt x="18" y="68"/>
                    <a:pt x="21" y="67"/>
                    <a:pt x="24" y="66"/>
                  </a:cubicBezTo>
                  <a:lnTo>
                    <a:pt x="24" y="70"/>
                  </a:lnTo>
                  <a:close/>
                  <a:moveTo>
                    <a:pt x="14" y="56"/>
                  </a:moveTo>
                  <a:cubicBezTo>
                    <a:pt x="20" y="56"/>
                    <a:pt x="24" y="58"/>
                    <a:pt x="24" y="60"/>
                  </a:cubicBezTo>
                  <a:cubicBezTo>
                    <a:pt x="24" y="62"/>
                    <a:pt x="20" y="64"/>
                    <a:pt x="14" y="64"/>
                  </a:cubicBezTo>
                  <a:cubicBezTo>
                    <a:pt x="8" y="64"/>
                    <a:pt x="4" y="62"/>
                    <a:pt x="4" y="60"/>
                  </a:cubicBezTo>
                  <a:cubicBezTo>
                    <a:pt x="4" y="58"/>
                    <a:pt x="8" y="56"/>
                    <a:pt x="14" y="56"/>
                  </a:cubicBezTo>
                  <a:close/>
                  <a:moveTo>
                    <a:pt x="14" y="84"/>
                  </a:moveTo>
                  <a:cubicBezTo>
                    <a:pt x="8" y="84"/>
                    <a:pt x="4" y="82"/>
                    <a:pt x="4" y="80"/>
                  </a:cubicBezTo>
                  <a:cubicBezTo>
                    <a:pt x="4" y="76"/>
                    <a:pt x="4" y="76"/>
                    <a:pt x="4" y="76"/>
                  </a:cubicBezTo>
                  <a:cubicBezTo>
                    <a:pt x="7" y="77"/>
                    <a:pt x="10" y="78"/>
                    <a:pt x="14" y="78"/>
                  </a:cubicBezTo>
                  <a:cubicBezTo>
                    <a:pt x="18" y="78"/>
                    <a:pt x="21" y="77"/>
                    <a:pt x="24" y="76"/>
                  </a:cubicBezTo>
                  <a:cubicBezTo>
                    <a:pt x="24" y="80"/>
                    <a:pt x="24" y="80"/>
                    <a:pt x="24" y="80"/>
                  </a:cubicBezTo>
                  <a:cubicBezTo>
                    <a:pt x="24" y="82"/>
                    <a:pt x="20" y="84"/>
                    <a:pt x="14" y="84"/>
                  </a:cubicBezTo>
                  <a:close/>
                  <a:moveTo>
                    <a:pt x="84" y="70"/>
                  </a:moveTo>
                  <a:cubicBezTo>
                    <a:pt x="84" y="72"/>
                    <a:pt x="80" y="74"/>
                    <a:pt x="74" y="74"/>
                  </a:cubicBezTo>
                  <a:cubicBezTo>
                    <a:pt x="68" y="74"/>
                    <a:pt x="64" y="72"/>
                    <a:pt x="64" y="70"/>
                  </a:cubicBezTo>
                  <a:cubicBezTo>
                    <a:pt x="64" y="66"/>
                    <a:pt x="64" y="66"/>
                    <a:pt x="64" y="66"/>
                  </a:cubicBezTo>
                  <a:cubicBezTo>
                    <a:pt x="67" y="67"/>
                    <a:pt x="70" y="68"/>
                    <a:pt x="74" y="68"/>
                  </a:cubicBezTo>
                  <a:cubicBezTo>
                    <a:pt x="78" y="68"/>
                    <a:pt x="81" y="67"/>
                    <a:pt x="84" y="66"/>
                  </a:cubicBezTo>
                  <a:lnTo>
                    <a:pt x="84" y="70"/>
                  </a:lnTo>
                  <a:close/>
                  <a:moveTo>
                    <a:pt x="74" y="84"/>
                  </a:moveTo>
                  <a:cubicBezTo>
                    <a:pt x="68" y="84"/>
                    <a:pt x="64" y="82"/>
                    <a:pt x="64" y="80"/>
                  </a:cubicBezTo>
                  <a:cubicBezTo>
                    <a:pt x="64" y="76"/>
                    <a:pt x="64" y="76"/>
                    <a:pt x="64" y="76"/>
                  </a:cubicBezTo>
                  <a:cubicBezTo>
                    <a:pt x="67" y="77"/>
                    <a:pt x="70" y="78"/>
                    <a:pt x="74" y="78"/>
                  </a:cubicBezTo>
                  <a:cubicBezTo>
                    <a:pt x="78" y="78"/>
                    <a:pt x="81" y="77"/>
                    <a:pt x="84" y="76"/>
                  </a:cubicBezTo>
                  <a:cubicBezTo>
                    <a:pt x="84" y="80"/>
                    <a:pt x="84" y="80"/>
                    <a:pt x="84" y="80"/>
                  </a:cubicBezTo>
                  <a:cubicBezTo>
                    <a:pt x="84" y="82"/>
                    <a:pt x="80" y="84"/>
                    <a:pt x="74" y="84"/>
                  </a:cubicBezTo>
                  <a:close/>
                  <a:moveTo>
                    <a:pt x="74" y="56"/>
                  </a:moveTo>
                  <a:cubicBezTo>
                    <a:pt x="80" y="56"/>
                    <a:pt x="84" y="58"/>
                    <a:pt x="84" y="60"/>
                  </a:cubicBezTo>
                  <a:cubicBezTo>
                    <a:pt x="84" y="62"/>
                    <a:pt x="80" y="64"/>
                    <a:pt x="74" y="64"/>
                  </a:cubicBezTo>
                  <a:cubicBezTo>
                    <a:pt x="68" y="64"/>
                    <a:pt x="64" y="62"/>
                    <a:pt x="64" y="60"/>
                  </a:cubicBezTo>
                  <a:cubicBezTo>
                    <a:pt x="64" y="58"/>
                    <a:pt x="68" y="56"/>
                    <a:pt x="74" y="56"/>
                  </a:cubicBezTo>
                  <a:close/>
                  <a:moveTo>
                    <a:pt x="84" y="18"/>
                  </a:moveTo>
                  <a:cubicBezTo>
                    <a:pt x="84" y="20"/>
                    <a:pt x="80" y="22"/>
                    <a:pt x="74" y="22"/>
                  </a:cubicBezTo>
                  <a:cubicBezTo>
                    <a:pt x="68" y="22"/>
                    <a:pt x="64" y="20"/>
                    <a:pt x="64" y="18"/>
                  </a:cubicBezTo>
                  <a:cubicBezTo>
                    <a:pt x="64" y="14"/>
                    <a:pt x="64" y="14"/>
                    <a:pt x="64" y="14"/>
                  </a:cubicBezTo>
                  <a:cubicBezTo>
                    <a:pt x="67" y="15"/>
                    <a:pt x="70" y="16"/>
                    <a:pt x="74" y="16"/>
                  </a:cubicBezTo>
                  <a:cubicBezTo>
                    <a:pt x="78" y="16"/>
                    <a:pt x="81" y="15"/>
                    <a:pt x="84" y="14"/>
                  </a:cubicBezTo>
                  <a:lnTo>
                    <a:pt x="84" y="18"/>
                  </a:lnTo>
                  <a:close/>
                  <a:moveTo>
                    <a:pt x="74" y="4"/>
                  </a:moveTo>
                  <a:cubicBezTo>
                    <a:pt x="80" y="4"/>
                    <a:pt x="84" y="6"/>
                    <a:pt x="84" y="8"/>
                  </a:cubicBezTo>
                  <a:cubicBezTo>
                    <a:pt x="84" y="10"/>
                    <a:pt x="80" y="12"/>
                    <a:pt x="74" y="12"/>
                  </a:cubicBezTo>
                  <a:cubicBezTo>
                    <a:pt x="68" y="12"/>
                    <a:pt x="64" y="10"/>
                    <a:pt x="64" y="8"/>
                  </a:cubicBezTo>
                  <a:cubicBezTo>
                    <a:pt x="64" y="6"/>
                    <a:pt x="68" y="4"/>
                    <a:pt x="74" y="4"/>
                  </a:cubicBezTo>
                  <a:close/>
                  <a:moveTo>
                    <a:pt x="74" y="32"/>
                  </a:moveTo>
                  <a:cubicBezTo>
                    <a:pt x="68" y="32"/>
                    <a:pt x="64" y="30"/>
                    <a:pt x="64" y="28"/>
                  </a:cubicBezTo>
                  <a:cubicBezTo>
                    <a:pt x="64" y="24"/>
                    <a:pt x="64" y="24"/>
                    <a:pt x="64" y="24"/>
                  </a:cubicBezTo>
                  <a:cubicBezTo>
                    <a:pt x="67" y="25"/>
                    <a:pt x="70" y="26"/>
                    <a:pt x="74" y="26"/>
                  </a:cubicBezTo>
                  <a:cubicBezTo>
                    <a:pt x="78" y="26"/>
                    <a:pt x="81" y="25"/>
                    <a:pt x="84" y="24"/>
                  </a:cubicBezTo>
                  <a:cubicBezTo>
                    <a:pt x="84" y="28"/>
                    <a:pt x="84" y="28"/>
                    <a:pt x="84" y="28"/>
                  </a:cubicBezTo>
                  <a:cubicBezTo>
                    <a:pt x="84" y="30"/>
                    <a:pt x="80" y="32"/>
                    <a:pt x="74" y="32"/>
                  </a:cubicBez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96968C"/>
                </a:solidFill>
                <a:effectLst/>
                <a:uLnTx/>
                <a:uFillTx/>
                <a:latin typeface="Graphik Semibold" panose="020B0703030202060203" pitchFamily="34" charset="0"/>
                <a:ea typeface="+mn-ea"/>
                <a:cs typeface="Arial" charset="0"/>
              </a:endParaRPr>
            </a:p>
          </p:txBody>
        </p:sp>
        <p:grpSp>
          <p:nvGrpSpPr>
            <p:cNvPr id="28" name="Group 67">
              <a:extLst>
                <a:ext uri="{FF2B5EF4-FFF2-40B4-BE49-F238E27FC236}">
                  <a16:creationId xmlns:a16="http://schemas.microsoft.com/office/drawing/2014/main" id="{1AB62754-2FD0-6662-E478-72C8F4DA8DBD}"/>
                </a:ext>
              </a:extLst>
            </p:cNvPr>
            <p:cNvGrpSpPr>
              <a:grpSpLocks noChangeAspect="1"/>
            </p:cNvGrpSpPr>
            <p:nvPr/>
          </p:nvGrpSpPr>
          <p:grpSpPr bwMode="auto">
            <a:xfrm>
              <a:off x="8235683" y="3043950"/>
              <a:ext cx="252000" cy="251409"/>
              <a:chOff x="1356" y="1721"/>
              <a:chExt cx="427" cy="426"/>
            </a:xfrm>
            <a:solidFill>
              <a:srgbClr val="FFFFFF"/>
            </a:solidFill>
          </p:grpSpPr>
          <p:sp>
            <p:nvSpPr>
              <p:cNvPr id="29" name="Freeform 68">
                <a:extLst>
                  <a:ext uri="{FF2B5EF4-FFF2-40B4-BE49-F238E27FC236}">
                    <a16:creationId xmlns:a16="http://schemas.microsoft.com/office/drawing/2014/main" id="{222EAAA6-295F-E684-E7D2-8F4633CA3CCA}"/>
                  </a:ext>
                </a:extLst>
              </p:cNvPr>
              <p:cNvSpPr>
                <a:spLocks noEditPoints="1"/>
              </p:cNvSpPr>
              <p:nvPr/>
            </p:nvSpPr>
            <p:spPr bwMode="auto">
              <a:xfrm>
                <a:off x="1356" y="1721"/>
                <a:ext cx="427" cy="426"/>
              </a:xfrm>
              <a:custGeom>
                <a:avLst/>
                <a:gdLst>
                  <a:gd name="T0" fmla="*/ 126 w 288"/>
                  <a:gd name="T1" fmla="*/ 288 h 288"/>
                  <a:gd name="T2" fmla="*/ 120 w 288"/>
                  <a:gd name="T3" fmla="*/ 247 h 288"/>
                  <a:gd name="T4" fmla="*/ 67 w 288"/>
                  <a:gd name="T5" fmla="*/ 262 h 288"/>
                  <a:gd name="T6" fmla="*/ 25 w 288"/>
                  <a:gd name="T7" fmla="*/ 229 h 288"/>
                  <a:gd name="T8" fmla="*/ 25 w 288"/>
                  <a:gd name="T9" fmla="*/ 220 h 288"/>
                  <a:gd name="T10" fmla="*/ 40 w 288"/>
                  <a:gd name="T11" fmla="*/ 168 h 288"/>
                  <a:gd name="T12" fmla="*/ 0 w 288"/>
                  <a:gd name="T13" fmla="*/ 162 h 288"/>
                  <a:gd name="T14" fmla="*/ 6 w 288"/>
                  <a:gd name="T15" fmla="*/ 120 h 288"/>
                  <a:gd name="T16" fmla="*/ 49 w 288"/>
                  <a:gd name="T17" fmla="*/ 92 h 288"/>
                  <a:gd name="T18" fmla="*/ 23 w 288"/>
                  <a:gd name="T19" fmla="*/ 63 h 288"/>
                  <a:gd name="T20" fmla="*/ 59 w 288"/>
                  <a:gd name="T21" fmla="*/ 25 h 288"/>
                  <a:gd name="T22" fmla="*/ 92 w 288"/>
                  <a:gd name="T23" fmla="*/ 49 h 288"/>
                  <a:gd name="T24" fmla="*/ 120 w 288"/>
                  <a:gd name="T25" fmla="*/ 6 h 288"/>
                  <a:gd name="T26" fmla="*/ 162 w 288"/>
                  <a:gd name="T27" fmla="*/ 0 h 288"/>
                  <a:gd name="T28" fmla="*/ 168 w 288"/>
                  <a:gd name="T29" fmla="*/ 40 h 288"/>
                  <a:gd name="T30" fmla="*/ 220 w 288"/>
                  <a:gd name="T31" fmla="*/ 25 h 288"/>
                  <a:gd name="T32" fmla="*/ 263 w 288"/>
                  <a:gd name="T33" fmla="*/ 59 h 288"/>
                  <a:gd name="T34" fmla="*/ 263 w 288"/>
                  <a:gd name="T35" fmla="*/ 67 h 288"/>
                  <a:gd name="T36" fmla="*/ 248 w 288"/>
                  <a:gd name="T37" fmla="*/ 120 h 288"/>
                  <a:gd name="T38" fmla="*/ 288 w 288"/>
                  <a:gd name="T39" fmla="*/ 126 h 288"/>
                  <a:gd name="T40" fmla="*/ 282 w 288"/>
                  <a:gd name="T41" fmla="*/ 168 h 288"/>
                  <a:gd name="T42" fmla="*/ 238 w 288"/>
                  <a:gd name="T43" fmla="*/ 196 h 288"/>
                  <a:gd name="T44" fmla="*/ 263 w 288"/>
                  <a:gd name="T45" fmla="*/ 229 h 288"/>
                  <a:gd name="T46" fmla="*/ 220 w 288"/>
                  <a:gd name="T47" fmla="*/ 262 h 288"/>
                  <a:gd name="T48" fmla="*/ 168 w 288"/>
                  <a:gd name="T49" fmla="*/ 247 h 288"/>
                  <a:gd name="T50" fmla="*/ 162 w 288"/>
                  <a:gd name="T51" fmla="*/ 288 h 288"/>
                  <a:gd name="T52" fmla="*/ 156 w 288"/>
                  <a:gd name="T53" fmla="*/ 276 h 288"/>
                  <a:gd name="T54" fmla="*/ 160 w 288"/>
                  <a:gd name="T55" fmla="*/ 237 h 288"/>
                  <a:gd name="T56" fmla="*/ 201 w 288"/>
                  <a:gd name="T57" fmla="*/ 226 h 288"/>
                  <a:gd name="T58" fmla="*/ 250 w 288"/>
                  <a:gd name="T59" fmla="*/ 224 h 288"/>
                  <a:gd name="T60" fmla="*/ 226 w 288"/>
                  <a:gd name="T61" fmla="*/ 194 h 288"/>
                  <a:gd name="T62" fmla="*/ 243 w 288"/>
                  <a:gd name="T63" fmla="*/ 156 h 288"/>
                  <a:gd name="T64" fmla="*/ 276 w 288"/>
                  <a:gd name="T65" fmla="*/ 132 h 288"/>
                  <a:gd name="T66" fmla="*/ 237 w 288"/>
                  <a:gd name="T67" fmla="*/ 127 h 288"/>
                  <a:gd name="T68" fmla="*/ 227 w 288"/>
                  <a:gd name="T69" fmla="*/ 86 h 288"/>
                  <a:gd name="T70" fmla="*/ 224 w 288"/>
                  <a:gd name="T71" fmla="*/ 38 h 288"/>
                  <a:gd name="T72" fmla="*/ 194 w 288"/>
                  <a:gd name="T73" fmla="*/ 62 h 288"/>
                  <a:gd name="T74" fmla="*/ 156 w 288"/>
                  <a:gd name="T75" fmla="*/ 45 h 288"/>
                  <a:gd name="T76" fmla="*/ 132 w 288"/>
                  <a:gd name="T77" fmla="*/ 12 h 288"/>
                  <a:gd name="T78" fmla="*/ 127 w 288"/>
                  <a:gd name="T79" fmla="*/ 50 h 288"/>
                  <a:gd name="T80" fmla="*/ 87 w 288"/>
                  <a:gd name="T81" fmla="*/ 61 h 288"/>
                  <a:gd name="T82" fmla="*/ 38 w 288"/>
                  <a:gd name="T83" fmla="*/ 63 h 288"/>
                  <a:gd name="T84" fmla="*/ 62 w 288"/>
                  <a:gd name="T85" fmla="*/ 94 h 288"/>
                  <a:gd name="T86" fmla="*/ 45 w 288"/>
                  <a:gd name="T87" fmla="*/ 132 h 288"/>
                  <a:gd name="T88" fmla="*/ 12 w 288"/>
                  <a:gd name="T89" fmla="*/ 156 h 288"/>
                  <a:gd name="T90" fmla="*/ 51 w 288"/>
                  <a:gd name="T91" fmla="*/ 160 h 288"/>
                  <a:gd name="T92" fmla="*/ 61 w 288"/>
                  <a:gd name="T93" fmla="*/ 201 h 288"/>
                  <a:gd name="T94" fmla="*/ 63 w 288"/>
                  <a:gd name="T95" fmla="*/ 250 h 288"/>
                  <a:gd name="T96" fmla="*/ 94 w 288"/>
                  <a:gd name="T97" fmla="*/ 226 h 288"/>
                  <a:gd name="T98" fmla="*/ 132 w 288"/>
                  <a:gd name="T99" fmla="*/ 243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88" h="288">
                    <a:moveTo>
                      <a:pt x="162" y="288"/>
                    </a:moveTo>
                    <a:cubicBezTo>
                      <a:pt x="126" y="288"/>
                      <a:pt x="126" y="288"/>
                      <a:pt x="126" y="288"/>
                    </a:cubicBezTo>
                    <a:cubicBezTo>
                      <a:pt x="123" y="288"/>
                      <a:pt x="120" y="285"/>
                      <a:pt x="120" y="282"/>
                    </a:cubicBezTo>
                    <a:cubicBezTo>
                      <a:pt x="120" y="247"/>
                      <a:pt x="120" y="247"/>
                      <a:pt x="120" y="247"/>
                    </a:cubicBezTo>
                    <a:cubicBezTo>
                      <a:pt x="110" y="245"/>
                      <a:pt x="100" y="242"/>
                      <a:pt x="92" y="238"/>
                    </a:cubicBezTo>
                    <a:cubicBezTo>
                      <a:pt x="67" y="262"/>
                      <a:pt x="67" y="262"/>
                      <a:pt x="67" y="262"/>
                    </a:cubicBezTo>
                    <a:cubicBezTo>
                      <a:pt x="65" y="265"/>
                      <a:pt x="61" y="265"/>
                      <a:pt x="59" y="262"/>
                    </a:cubicBezTo>
                    <a:cubicBezTo>
                      <a:pt x="25" y="229"/>
                      <a:pt x="25" y="229"/>
                      <a:pt x="25" y="229"/>
                    </a:cubicBezTo>
                    <a:cubicBezTo>
                      <a:pt x="24" y="227"/>
                      <a:pt x="23" y="226"/>
                      <a:pt x="23" y="224"/>
                    </a:cubicBezTo>
                    <a:cubicBezTo>
                      <a:pt x="23" y="223"/>
                      <a:pt x="24" y="221"/>
                      <a:pt x="25" y="220"/>
                    </a:cubicBezTo>
                    <a:cubicBezTo>
                      <a:pt x="49" y="196"/>
                      <a:pt x="49" y="196"/>
                      <a:pt x="49" y="196"/>
                    </a:cubicBezTo>
                    <a:cubicBezTo>
                      <a:pt x="46" y="188"/>
                      <a:pt x="43" y="177"/>
                      <a:pt x="40" y="168"/>
                    </a:cubicBezTo>
                    <a:cubicBezTo>
                      <a:pt x="6" y="168"/>
                      <a:pt x="6" y="168"/>
                      <a:pt x="6" y="168"/>
                    </a:cubicBezTo>
                    <a:cubicBezTo>
                      <a:pt x="3" y="168"/>
                      <a:pt x="0" y="165"/>
                      <a:pt x="0" y="162"/>
                    </a:cubicBezTo>
                    <a:cubicBezTo>
                      <a:pt x="0" y="126"/>
                      <a:pt x="0" y="126"/>
                      <a:pt x="0" y="126"/>
                    </a:cubicBezTo>
                    <a:cubicBezTo>
                      <a:pt x="0" y="122"/>
                      <a:pt x="3" y="120"/>
                      <a:pt x="6" y="120"/>
                    </a:cubicBezTo>
                    <a:cubicBezTo>
                      <a:pt x="40" y="120"/>
                      <a:pt x="40" y="120"/>
                      <a:pt x="40" y="120"/>
                    </a:cubicBezTo>
                    <a:cubicBezTo>
                      <a:pt x="43" y="110"/>
                      <a:pt x="46" y="100"/>
                      <a:pt x="49" y="92"/>
                    </a:cubicBezTo>
                    <a:cubicBezTo>
                      <a:pt x="25" y="67"/>
                      <a:pt x="25" y="67"/>
                      <a:pt x="25" y="67"/>
                    </a:cubicBezTo>
                    <a:cubicBezTo>
                      <a:pt x="24" y="66"/>
                      <a:pt x="23" y="65"/>
                      <a:pt x="23" y="63"/>
                    </a:cubicBezTo>
                    <a:cubicBezTo>
                      <a:pt x="23" y="61"/>
                      <a:pt x="24" y="60"/>
                      <a:pt x="25" y="59"/>
                    </a:cubicBezTo>
                    <a:cubicBezTo>
                      <a:pt x="59" y="25"/>
                      <a:pt x="59" y="25"/>
                      <a:pt x="59" y="25"/>
                    </a:cubicBezTo>
                    <a:cubicBezTo>
                      <a:pt x="61" y="23"/>
                      <a:pt x="65" y="23"/>
                      <a:pt x="67" y="25"/>
                    </a:cubicBezTo>
                    <a:cubicBezTo>
                      <a:pt x="92" y="49"/>
                      <a:pt x="92" y="49"/>
                      <a:pt x="92" y="49"/>
                    </a:cubicBezTo>
                    <a:cubicBezTo>
                      <a:pt x="100" y="45"/>
                      <a:pt x="110" y="42"/>
                      <a:pt x="120" y="40"/>
                    </a:cubicBezTo>
                    <a:cubicBezTo>
                      <a:pt x="120" y="6"/>
                      <a:pt x="120" y="6"/>
                      <a:pt x="120" y="6"/>
                    </a:cubicBezTo>
                    <a:cubicBezTo>
                      <a:pt x="120" y="2"/>
                      <a:pt x="123" y="0"/>
                      <a:pt x="126" y="0"/>
                    </a:cubicBezTo>
                    <a:cubicBezTo>
                      <a:pt x="162" y="0"/>
                      <a:pt x="162" y="0"/>
                      <a:pt x="162" y="0"/>
                    </a:cubicBezTo>
                    <a:cubicBezTo>
                      <a:pt x="165" y="0"/>
                      <a:pt x="168" y="2"/>
                      <a:pt x="168" y="6"/>
                    </a:cubicBezTo>
                    <a:cubicBezTo>
                      <a:pt x="168" y="40"/>
                      <a:pt x="168" y="40"/>
                      <a:pt x="168" y="40"/>
                    </a:cubicBezTo>
                    <a:cubicBezTo>
                      <a:pt x="177" y="42"/>
                      <a:pt x="188" y="45"/>
                      <a:pt x="196" y="49"/>
                    </a:cubicBezTo>
                    <a:cubicBezTo>
                      <a:pt x="220" y="25"/>
                      <a:pt x="220" y="25"/>
                      <a:pt x="220" y="25"/>
                    </a:cubicBezTo>
                    <a:cubicBezTo>
                      <a:pt x="223" y="23"/>
                      <a:pt x="226" y="23"/>
                      <a:pt x="229" y="25"/>
                    </a:cubicBezTo>
                    <a:cubicBezTo>
                      <a:pt x="263" y="59"/>
                      <a:pt x="263" y="59"/>
                      <a:pt x="263" y="59"/>
                    </a:cubicBezTo>
                    <a:cubicBezTo>
                      <a:pt x="264" y="60"/>
                      <a:pt x="264" y="61"/>
                      <a:pt x="264" y="63"/>
                    </a:cubicBezTo>
                    <a:cubicBezTo>
                      <a:pt x="264" y="65"/>
                      <a:pt x="264" y="66"/>
                      <a:pt x="263" y="67"/>
                    </a:cubicBezTo>
                    <a:cubicBezTo>
                      <a:pt x="238" y="92"/>
                      <a:pt x="238" y="92"/>
                      <a:pt x="238" y="92"/>
                    </a:cubicBezTo>
                    <a:cubicBezTo>
                      <a:pt x="242" y="100"/>
                      <a:pt x="245" y="110"/>
                      <a:pt x="248" y="120"/>
                    </a:cubicBezTo>
                    <a:cubicBezTo>
                      <a:pt x="282" y="120"/>
                      <a:pt x="282" y="120"/>
                      <a:pt x="282" y="120"/>
                    </a:cubicBezTo>
                    <a:cubicBezTo>
                      <a:pt x="285" y="120"/>
                      <a:pt x="288" y="122"/>
                      <a:pt x="288" y="126"/>
                    </a:cubicBezTo>
                    <a:cubicBezTo>
                      <a:pt x="288" y="162"/>
                      <a:pt x="288" y="162"/>
                      <a:pt x="288" y="162"/>
                    </a:cubicBezTo>
                    <a:cubicBezTo>
                      <a:pt x="288" y="165"/>
                      <a:pt x="285" y="168"/>
                      <a:pt x="282" y="168"/>
                    </a:cubicBezTo>
                    <a:cubicBezTo>
                      <a:pt x="248" y="168"/>
                      <a:pt x="248" y="168"/>
                      <a:pt x="248" y="168"/>
                    </a:cubicBezTo>
                    <a:cubicBezTo>
                      <a:pt x="245" y="177"/>
                      <a:pt x="242" y="188"/>
                      <a:pt x="238" y="196"/>
                    </a:cubicBezTo>
                    <a:cubicBezTo>
                      <a:pt x="263" y="220"/>
                      <a:pt x="263" y="220"/>
                      <a:pt x="263" y="220"/>
                    </a:cubicBezTo>
                    <a:cubicBezTo>
                      <a:pt x="265" y="222"/>
                      <a:pt x="265" y="226"/>
                      <a:pt x="263" y="229"/>
                    </a:cubicBezTo>
                    <a:cubicBezTo>
                      <a:pt x="229" y="262"/>
                      <a:pt x="229" y="262"/>
                      <a:pt x="229" y="262"/>
                    </a:cubicBezTo>
                    <a:cubicBezTo>
                      <a:pt x="226" y="265"/>
                      <a:pt x="223" y="265"/>
                      <a:pt x="220" y="262"/>
                    </a:cubicBezTo>
                    <a:cubicBezTo>
                      <a:pt x="196" y="238"/>
                      <a:pt x="196" y="238"/>
                      <a:pt x="196" y="238"/>
                    </a:cubicBezTo>
                    <a:cubicBezTo>
                      <a:pt x="188" y="242"/>
                      <a:pt x="177" y="245"/>
                      <a:pt x="168" y="247"/>
                    </a:cubicBezTo>
                    <a:cubicBezTo>
                      <a:pt x="168" y="282"/>
                      <a:pt x="168" y="282"/>
                      <a:pt x="168" y="282"/>
                    </a:cubicBezTo>
                    <a:cubicBezTo>
                      <a:pt x="168" y="285"/>
                      <a:pt x="165" y="288"/>
                      <a:pt x="162" y="288"/>
                    </a:cubicBezTo>
                    <a:close/>
                    <a:moveTo>
                      <a:pt x="132" y="276"/>
                    </a:moveTo>
                    <a:cubicBezTo>
                      <a:pt x="156" y="276"/>
                      <a:pt x="156" y="276"/>
                      <a:pt x="156" y="276"/>
                    </a:cubicBezTo>
                    <a:cubicBezTo>
                      <a:pt x="156" y="243"/>
                      <a:pt x="156" y="243"/>
                      <a:pt x="156" y="243"/>
                    </a:cubicBezTo>
                    <a:cubicBezTo>
                      <a:pt x="156" y="240"/>
                      <a:pt x="158" y="238"/>
                      <a:pt x="160" y="237"/>
                    </a:cubicBezTo>
                    <a:cubicBezTo>
                      <a:pt x="167" y="235"/>
                      <a:pt x="185" y="231"/>
                      <a:pt x="194" y="226"/>
                    </a:cubicBezTo>
                    <a:cubicBezTo>
                      <a:pt x="196" y="224"/>
                      <a:pt x="199" y="224"/>
                      <a:pt x="201" y="226"/>
                    </a:cubicBezTo>
                    <a:cubicBezTo>
                      <a:pt x="224" y="250"/>
                      <a:pt x="224" y="250"/>
                      <a:pt x="224" y="250"/>
                    </a:cubicBezTo>
                    <a:cubicBezTo>
                      <a:pt x="250" y="224"/>
                      <a:pt x="250" y="224"/>
                      <a:pt x="250" y="224"/>
                    </a:cubicBezTo>
                    <a:cubicBezTo>
                      <a:pt x="227" y="201"/>
                      <a:pt x="227" y="201"/>
                      <a:pt x="227" y="201"/>
                    </a:cubicBezTo>
                    <a:cubicBezTo>
                      <a:pt x="225" y="199"/>
                      <a:pt x="224" y="196"/>
                      <a:pt x="226" y="194"/>
                    </a:cubicBezTo>
                    <a:cubicBezTo>
                      <a:pt x="231" y="185"/>
                      <a:pt x="235" y="167"/>
                      <a:pt x="237" y="160"/>
                    </a:cubicBezTo>
                    <a:cubicBezTo>
                      <a:pt x="238" y="158"/>
                      <a:pt x="240" y="156"/>
                      <a:pt x="243" y="156"/>
                    </a:cubicBezTo>
                    <a:cubicBezTo>
                      <a:pt x="276" y="156"/>
                      <a:pt x="276" y="156"/>
                      <a:pt x="276" y="156"/>
                    </a:cubicBezTo>
                    <a:cubicBezTo>
                      <a:pt x="276" y="132"/>
                      <a:pt x="276" y="132"/>
                      <a:pt x="276" y="132"/>
                    </a:cubicBezTo>
                    <a:cubicBezTo>
                      <a:pt x="243" y="132"/>
                      <a:pt x="243" y="132"/>
                      <a:pt x="243" y="132"/>
                    </a:cubicBezTo>
                    <a:cubicBezTo>
                      <a:pt x="240" y="132"/>
                      <a:pt x="238" y="130"/>
                      <a:pt x="237" y="127"/>
                    </a:cubicBezTo>
                    <a:cubicBezTo>
                      <a:pt x="235" y="120"/>
                      <a:pt x="231" y="103"/>
                      <a:pt x="226" y="94"/>
                    </a:cubicBezTo>
                    <a:cubicBezTo>
                      <a:pt x="224" y="91"/>
                      <a:pt x="225" y="88"/>
                      <a:pt x="227" y="86"/>
                    </a:cubicBezTo>
                    <a:cubicBezTo>
                      <a:pt x="250" y="63"/>
                      <a:pt x="250" y="63"/>
                      <a:pt x="250" y="63"/>
                    </a:cubicBezTo>
                    <a:cubicBezTo>
                      <a:pt x="224" y="38"/>
                      <a:pt x="224" y="38"/>
                      <a:pt x="224" y="38"/>
                    </a:cubicBezTo>
                    <a:cubicBezTo>
                      <a:pt x="201" y="61"/>
                      <a:pt x="201" y="61"/>
                      <a:pt x="201" y="61"/>
                    </a:cubicBezTo>
                    <a:cubicBezTo>
                      <a:pt x="199" y="63"/>
                      <a:pt x="196" y="63"/>
                      <a:pt x="194" y="62"/>
                    </a:cubicBezTo>
                    <a:cubicBezTo>
                      <a:pt x="186" y="57"/>
                      <a:pt x="171" y="53"/>
                      <a:pt x="160" y="50"/>
                    </a:cubicBezTo>
                    <a:cubicBezTo>
                      <a:pt x="158" y="50"/>
                      <a:pt x="156" y="47"/>
                      <a:pt x="156" y="45"/>
                    </a:cubicBezTo>
                    <a:cubicBezTo>
                      <a:pt x="156" y="12"/>
                      <a:pt x="156" y="12"/>
                      <a:pt x="156" y="12"/>
                    </a:cubicBezTo>
                    <a:cubicBezTo>
                      <a:pt x="132" y="12"/>
                      <a:pt x="132" y="12"/>
                      <a:pt x="132" y="12"/>
                    </a:cubicBezTo>
                    <a:cubicBezTo>
                      <a:pt x="132" y="45"/>
                      <a:pt x="132" y="45"/>
                      <a:pt x="132" y="45"/>
                    </a:cubicBezTo>
                    <a:cubicBezTo>
                      <a:pt x="132" y="47"/>
                      <a:pt x="130" y="50"/>
                      <a:pt x="127" y="50"/>
                    </a:cubicBezTo>
                    <a:cubicBezTo>
                      <a:pt x="117" y="53"/>
                      <a:pt x="102" y="57"/>
                      <a:pt x="94" y="62"/>
                    </a:cubicBezTo>
                    <a:cubicBezTo>
                      <a:pt x="92" y="63"/>
                      <a:pt x="89" y="63"/>
                      <a:pt x="87" y="61"/>
                    </a:cubicBezTo>
                    <a:cubicBezTo>
                      <a:pt x="63" y="38"/>
                      <a:pt x="63" y="38"/>
                      <a:pt x="63" y="38"/>
                    </a:cubicBezTo>
                    <a:cubicBezTo>
                      <a:pt x="38" y="63"/>
                      <a:pt x="38" y="63"/>
                      <a:pt x="38" y="63"/>
                    </a:cubicBezTo>
                    <a:cubicBezTo>
                      <a:pt x="61" y="86"/>
                      <a:pt x="61" y="86"/>
                      <a:pt x="61" y="86"/>
                    </a:cubicBezTo>
                    <a:cubicBezTo>
                      <a:pt x="63" y="88"/>
                      <a:pt x="63" y="91"/>
                      <a:pt x="62" y="94"/>
                    </a:cubicBezTo>
                    <a:cubicBezTo>
                      <a:pt x="57" y="103"/>
                      <a:pt x="52" y="120"/>
                      <a:pt x="51" y="127"/>
                    </a:cubicBezTo>
                    <a:cubicBezTo>
                      <a:pt x="50" y="130"/>
                      <a:pt x="48" y="132"/>
                      <a:pt x="45" y="132"/>
                    </a:cubicBezTo>
                    <a:cubicBezTo>
                      <a:pt x="12" y="132"/>
                      <a:pt x="12" y="132"/>
                      <a:pt x="12" y="132"/>
                    </a:cubicBezTo>
                    <a:cubicBezTo>
                      <a:pt x="12" y="156"/>
                      <a:pt x="12" y="156"/>
                      <a:pt x="12" y="156"/>
                    </a:cubicBezTo>
                    <a:cubicBezTo>
                      <a:pt x="45" y="156"/>
                      <a:pt x="45" y="156"/>
                      <a:pt x="45" y="156"/>
                    </a:cubicBezTo>
                    <a:cubicBezTo>
                      <a:pt x="48" y="156"/>
                      <a:pt x="50" y="158"/>
                      <a:pt x="51" y="160"/>
                    </a:cubicBezTo>
                    <a:cubicBezTo>
                      <a:pt x="52" y="167"/>
                      <a:pt x="57" y="185"/>
                      <a:pt x="62" y="194"/>
                    </a:cubicBezTo>
                    <a:cubicBezTo>
                      <a:pt x="63" y="196"/>
                      <a:pt x="63" y="199"/>
                      <a:pt x="61" y="201"/>
                    </a:cubicBezTo>
                    <a:cubicBezTo>
                      <a:pt x="38" y="224"/>
                      <a:pt x="38" y="224"/>
                      <a:pt x="38" y="224"/>
                    </a:cubicBezTo>
                    <a:cubicBezTo>
                      <a:pt x="63" y="250"/>
                      <a:pt x="63" y="250"/>
                      <a:pt x="63" y="250"/>
                    </a:cubicBezTo>
                    <a:cubicBezTo>
                      <a:pt x="87" y="226"/>
                      <a:pt x="87" y="226"/>
                      <a:pt x="87" y="226"/>
                    </a:cubicBezTo>
                    <a:cubicBezTo>
                      <a:pt x="88" y="224"/>
                      <a:pt x="92" y="224"/>
                      <a:pt x="94" y="226"/>
                    </a:cubicBezTo>
                    <a:cubicBezTo>
                      <a:pt x="103" y="231"/>
                      <a:pt x="121" y="235"/>
                      <a:pt x="127" y="237"/>
                    </a:cubicBezTo>
                    <a:cubicBezTo>
                      <a:pt x="130" y="238"/>
                      <a:pt x="132" y="240"/>
                      <a:pt x="132" y="243"/>
                    </a:cubicBezTo>
                    <a:lnTo>
                      <a:pt x="132" y="27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30" name="Freeform 69">
                <a:extLst>
                  <a:ext uri="{FF2B5EF4-FFF2-40B4-BE49-F238E27FC236}">
                    <a16:creationId xmlns:a16="http://schemas.microsoft.com/office/drawing/2014/main" id="{A65102E5-7928-4DD9-FD40-2BBF9A35A345}"/>
                  </a:ext>
                </a:extLst>
              </p:cNvPr>
              <p:cNvSpPr>
                <a:spLocks noEditPoints="1"/>
              </p:cNvSpPr>
              <p:nvPr/>
            </p:nvSpPr>
            <p:spPr bwMode="auto">
              <a:xfrm>
                <a:off x="1454" y="1819"/>
                <a:ext cx="231" cy="230"/>
              </a:xfrm>
              <a:custGeom>
                <a:avLst/>
                <a:gdLst>
                  <a:gd name="T0" fmla="*/ 78 w 156"/>
                  <a:gd name="T1" fmla="*/ 156 h 156"/>
                  <a:gd name="T2" fmla="*/ 0 w 156"/>
                  <a:gd name="T3" fmla="*/ 78 h 156"/>
                  <a:gd name="T4" fmla="*/ 78 w 156"/>
                  <a:gd name="T5" fmla="*/ 0 h 156"/>
                  <a:gd name="T6" fmla="*/ 156 w 156"/>
                  <a:gd name="T7" fmla="*/ 78 h 156"/>
                  <a:gd name="T8" fmla="*/ 78 w 156"/>
                  <a:gd name="T9" fmla="*/ 156 h 156"/>
                  <a:gd name="T10" fmla="*/ 78 w 156"/>
                  <a:gd name="T11" fmla="*/ 12 h 156"/>
                  <a:gd name="T12" fmla="*/ 12 w 156"/>
                  <a:gd name="T13" fmla="*/ 78 h 156"/>
                  <a:gd name="T14" fmla="*/ 78 w 156"/>
                  <a:gd name="T15" fmla="*/ 144 h 156"/>
                  <a:gd name="T16" fmla="*/ 144 w 156"/>
                  <a:gd name="T17" fmla="*/ 78 h 156"/>
                  <a:gd name="T18" fmla="*/ 78 w 156"/>
                  <a:gd name="T19" fmla="*/ 12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6" h="156">
                    <a:moveTo>
                      <a:pt x="78" y="156"/>
                    </a:moveTo>
                    <a:cubicBezTo>
                      <a:pt x="35" y="156"/>
                      <a:pt x="0" y="121"/>
                      <a:pt x="0" y="78"/>
                    </a:cubicBezTo>
                    <a:cubicBezTo>
                      <a:pt x="0" y="35"/>
                      <a:pt x="35" y="0"/>
                      <a:pt x="78" y="0"/>
                    </a:cubicBezTo>
                    <a:cubicBezTo>
                      <a:pt x="121" y="0"/>
                      <a:pt x="156" y="35"/>
                      <a:pt x="156" y="78"/>
                    </a:cubicBezTo>
                    <a:cubicBezTo>
                      <a:pt x="156" y="121"/>
                      <a:pt x="121" y="156"/>
                      <a:pt x="78" y="156"/>
                    </a:cubicBezTo>
                    <a:close/>
                    <a:moveTo>
                      <a:pt x="78" y="12"/>
                    </a:moveTo>
                    <a:cubicBezTo>
                      <a:pt x="41" y="12"/>
                      <a:pt x="12" y="41"/>
                      <a:pt x="12" y="78"/>
                    </a:cubicBezTo>
                    <a:cubicBezTo>
                      <a:pt x="12" y="114"/>
                      <a:pt x="41" y="144"/>
                      <a:pt x="78" y="144"/>
                    </a:cubicBezTo>
                    <a:cubicBezTo>
                      <a:pt x="114" y="144"/>
                      <a:pt x="144" y="114"/>
                      <a:pt x="144" y="78"/>
                    </a:cubicBezTo>
                    <a:cubicBezTo>
                      <a:pt x="144" y="41"/>
                      <a:pt x="114" y="12"/>
                      <a:pt x="7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31" name="Freeform 70">
                <a:extLst>
                  <a:ext uri="{FF2B5EF4-FFF2-40B4-BE49-F238E27FC236}">
                    <a16:creationId xmlns:a16="http://schemas.microsoft.com/office/drawing/2014/main" id="{669F7C7C-DB09-61DF-53AC-E8D99E7CC931}"/>
                  </a:ext>
                </a:extLst>
              </p:cNvPr>
              <p:cNvSpPr>
                <a:spLocks noEditPoints="1"/>
              </p:cNvSpPr>
              <p:nvPr/>
            </p:nvSpPr>
            <p:spPr bwMode="auto">
              <a:xfrm>
                <a:off x="1534" y="1872"/>
                <a:ext cx="98" cy="124"/>
              </a:xfrm>
              <a:custGeom>
                <a:avLst/>
                <a:gdLst>
                  <a:gd name="T0" fmla="*/ 6 w 66"/>
                  <a:gd name="T1" fmla="*/ 84 h 84"/>
                  <a:gd name="T2" fmla="*/ 3 w 66"/>
                  <a:gd name="T3" fmla="*/ 83 h 84"/>
                  <a:gd name="T4" fmla="*/ 0 w 66"/>
                  <a:gd name="T5" fmla="*/ 78 h 84"/>
                  <a:gd name="T6" fmla="*/ 0 w 66"/>
                  <a:gd name="T7" fmla="*/ 6 h 84"/>
                  <a:gd name="T8" fmla="*/ 3 w 66"/>
                  <a:gd name="T9" fmla="*/ 1 h 84"/>
                  <a:gd name="T10" fmla="*/ 9 w 66"/>
                  <a:gd name="T11" fmla="*/ 1 h 84"/>
                  <a:gd name="T12" fmla="*/ 63 w 66"/>
                  <a:gd name="T13" fmla="*/ 37 h 84"/>
                  <a:gd name="T14" fmla="*/ 66 w 66"/>
                  <a:gd name="T15" fmla="*/ 42 h 84"/>
                  <a:gd name="T16" fmla="*/ 63 w 66"/>
                  <a:gd name="T17" fmla="*/ 47 h 84"/>
                  <a:gd name="T18" fmla="*/ 9 w 66"/>
                  <a:gd name="T19" fmla="*/ 83 h 84"/>
                  <a:gd name="T20" fmla="*/ 6 w 66"/>
                  <a:gd name="T21" fmla="*/ 84 h 84"/>
                  <a:gd name="T22" fmla="*/ 12 w 66"/>
                  <a:gd name="T23" fmla="*/ 17 h 84"/>
                  <a:gd name="T24" fmla="*/ 12 w 66"/>
                  <a:gd name="T25" fmla="*/ 66 h 84"/>
                  <a:gd name="T26" fmla="*/ 49 w 66"/>
                  <a:gd name="T27" fmla="*/ 42 h 84"/>
                  <a:gd name="T28" fmla="*/ 12 w 66"/>
                  <a:gd name="T29" fmla="*/ 17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6" h="84">
                    <a:moveTo>
                      <a:pt x="6" y="84"/>
                    </a:moveTo>
                    <a:cubicBezTo>
                      <a:pt x="5" y="84"/>
                      <a:pt x="4" y="83"/>
                      <a:pt x="3" y="83"/>
                    </a:cubicBezTo>
                    <a:cubicBezTo>
                      <a:pt x="1" y="82"/>
                      <a:pt x="0" y="80"/>
                      <a:pt x="0" y="78"/>
                    </a:cubicBezTo>
                    <a:cubicBezTo>
                      <a:pt x="0" y="6"/>
                      <a:pt x="0" y="6"/>
                      <a:pt x="0" y="6"/>
                    </a:cubicBezTo>
                    <a:cubicBezTo>
                      <a:pt x="0" y="4"/>
                      <a:pt x="1" y="2"/>
                      <a:pt x="3" y="1"/>
                    </a:cubicBezTo>
                    <a:cubicBezTo>
                      <a:pt x="5" y="0"/>
                      <a:pt x="7" y="0"/>
                      <a:pt x="9" y="1"/>
                    </a:cubicBezTo>
                    <a:cubicBezTo>
                      <a:pt x="63" y="37"/>
                      <a:pt x="63" y="37"/>
                      <a:pt x="63" y="37"/>
                    </a:cubicBezTo>
                    <a:cubicBezTo>
                      <a:pt x="65" y="38"/>
                      <a:pt x="66" y="40"/>
                      <a:pt x="66" y="42"/>
                    </a:cubicBezTo>
                    <a:cubicBezTo>
                      <a:pt x="66" y="44"/>
                      <a:pt x="65" y="46"/>
                      <a:pt x="63" y="47"/>
                    </a:cubicBezTo>
                    <a:cubicBezTo>
                      <a:pt x="9" y="83"/>
                      <a:pt x="9" y="83"/>
                      <a:pt x="9" y="83"/>
                    </a:cubicBezTo>
                    <a:cubicBezTo>
                      <a:pt x="8" y="83"/>
                      <a:pt x="7" y="84"/>
                      <a:pt x="6" y="84"/>
                    </a:cubicBezTo>
                    <a:close/>
                    <a:moveTo>
                      <a:pt x="12" y="17"/>
                    </a:moveTo>
                    <a:cubicBezTo>
                      <a:pt x="12" y="66"/>
                      <a:pt x="12" y="66"/>
                      <a:pt x="12" y="66"/>
                    </a:cubicBezTo>
                    <a:cubicBezTo>
                      <a:pt x="49" y="42"/>
                      <a:pt x="49" y="42"/>
                      <a:pt x="49" y="42"/>
                    </a:cubicBezTo>
                    <a:lnTo>
                      <a:pt x="12" y="1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grpSp>
      </p:grpSp>
    </p:spTree>
    <p:extLst>
      <p:ext uri="{BB962C8B-B14F-4D97-AF65-F5344CB8AC3E}">
        <p14:creationId xmlns:p14="http://schemas.microsoft.com/office/powerpoint/2010/main" val="12953780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2C0E7A-B07A-37D4-74D9-8292B2418680}"/>
            </a:ext>
          </a:extLst>
        </p:cNvPr>
        <p:cNvGrpSpPr/>
        <p:nvPr/>
      </p:nvGrpSpPr>
      <p:grpSpPr>
        <a:xfrm>
          <a:off x="0" y="0"/>
          <a:ext cx="0" cy="0"/>
          <a:chOff x="0" y="0"/>
          <a:chExt cx="0" cy="0"/>
        </a:xfrm>
      </p:grpSpPr>
      <p:sp>
        <p:nvSpPr>
          <p:cNvPr id="16" name="Footer Placeholder 2">
            <a:extLst>
              <a:ext uri="{FF2B5EF4-FFF2-40B4-BE49-F238E27FC236}">
                <a16:creationId xmlns:a16="http://schemas.microsoft.com/office/drawing/2014/main" id="{0A3DC084-F45A-384C-232B-FDEF85FD95E7}"/>
              </a:ext>
            </a:extLst>
          </p:cNvPr>
          <p:cNvSpPr>
            <a:spLocks noGrp="1"/>
          </p:cNvSpPr>
          <p:nvPr>
            <p:ph type="ftr" sz="quarter" idx="3"/>
          </p:nvPr>
        </p:nvSpPr>
        <p:spPr>
          <a:xfrm>
            <a:off x="8908942" y="6617127"/>
            <a:ext cx="3175200" cy="132523"/>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alpha val="65000"/>
                  </a:srgbClr>
                </a:solidFill>
                <a:effectLst/>
                <a:uLnTx/>
                <a:uFillTx/>
                <a:latin typeface="Graphik"/>
                <a:ea typeface="+mn-ea"/>
                <a:cs typeface="+mn-cs"/>
              </a:rPr>
              <a:t>Copyright © 2025 Accenture. Todos los derechos reservados.</a:t>
            </a:r>
          </a:p>
        </p:txBody>
      </p:sp>
      <p:sp>
        <p:nvSpPr>
          <p:cNvPr id="66" name="Title 1">
            <a:extLst>
              <a:ext uri="{FF2B5EF4-FFF2-40B4-BE49-F238E27FC236}">
                <a16:creationId xmlns:a16="http://schemas.microsoft.com/office/drawing/2014/main" id="{1AE61D69-E1E3-91CF-5A18-4CB66EF7AA8F}"/>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a:ln>
                  <a:noFill/>
                </a:ln>
                <a:solidFill>
                  <a:srgbClr val="7500C0"/>
                </a:solidFill>
                <a:effectLst/>
                <a:uLnTx/>
                <a:uFillTx/>
                <a:latin typeface="Graphik"/>
                <a:ea typeface="+mj-ea"/>
                <a:cs typeface="+mj-cs"/>
              </a:rPr>
              <a:t>Arquitectura interoperable</a:t>
            </a:r>
          </a:p>
        </p:txBody>
      </p:sp>
      <p:sp>
        <p:nvSpPr>
          <p:cNvPr id="38" name="TextBox 37">
            <a:extLst>
              <a:ext uri="{FF2B5EF4-FFF2-40B4-BE49-F238E27FC236}">
                <a16:creationId xmlns:a16="http://schemas.microsoft.com/office/drawing/2014/main" id="{8C51231C-39D5-5C64-3FE7-BA7531E32DA5}"/>
              </a:ext>
            </a:extLst>
          </p:cNvPr>
          <p:cNvSpPr txBox="1"/>
          <p:nvPr/>
        </p:nvSpPr>
        <p:spPr>
          <a:xfrm>
            <a:off x="2942264" y="1038122"/>
            <a:ext cx="8749553" cy="160043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1400" b="1" i="0" u="none" strike="noStrike" kern="1200" cap="none" spc="0" normalizeH="0" baseline="0" noProof="0" dirty="0">
                <a:ln>
                  <a:noFill/>
                </a:ln>
                <a:solidFill>
                  <a:srgbClr val="7500C0"/>
                </a:solidFill>
                <a:effectLst/>
                <a:uLnTx/>
                <a:uFillTx/>
                <a:latin typeface="Graphik Semibold" panose="020B0703030202060203" pitchFamily="34" charset="0"/>
                <a:ea typeface="+mn-ea"/>
                <a:cs typeface="+mn-cs"/>
              </a:rPr>
              <a:t>Desacoplamiento:</a:t>
            </a:r>
            <a:r>
              <a:rPr kumimoji="0" lang="es" sz="1400" b="0" i="0" u="none" strike="noStrike" kern="1200" cap="none" spc="0" normalizeH="0" baseline="0" noProof="0" dirty="0">
                <a:ln>
                  <a:noFill/>
                </a:ln>
                <a:solidFill>
                  <a:srgbClr val="7500C0"/>
                </a:solidFill>
                <a:effectLst/>
                <a:uLnTx/>
                <a:uFillTx/>
                <a:latin typeface="Graphik Semibold" panose="020B0703030202060203" pitchFamily="34" charset="0"/>
                <a:ea typeface="+mn-ea"/>
                <a:cs typeface="+mn-cs"/>
              </a:rPr>
              <a:t> </a:t>
            </a:r>
            <a:r>
              <a:rPr lang="es" sz="1400" dirty="0">
                <a:solidFill>
                  <a:srgbClr val="000000"/>
                </a:solidFill>
                <a:latin typeface="Graphik Light" panose="020B0403030202060203" pitchFamily="34" charset="0"/>
              </a:rPr>
              <a:t>L</a:t>
            </a:r>
            <a:r>
              <a:rPr kumimoji="0" lang="es" sz="1400" b="0" i="0" u="none" strike="noStrike" kern="1200" cap="none" spc="0" normalizeH="0" baseline="0" noProof="0" dirty="0">
                <a:ln>
                  <a:noFill/>
                </a:ln>
                <a:solidFill>
                  <a:srgbClr val="000000"/>
                </a:solidFill>
                <a:effectLst/>
                <a:uLnTx/>
                <a:uFillTx/>
                <a:latin typeface="Graphik Light" panose="020B0403030202060203" pitchFamily="34" charset="0"/>
                <a:ea typeface="+mn-ea"/>
                <a:cs typeface="+mn-cs"/>
              </a:rPr>
              <a:t>a reutilizabilidad y la modularidad son principios fundamentales para una arquitectura compuesta. Esta capa de desacoplamiento soportará diferentes niveles de abstracción, permitiendo exponer información utilizando lenguaje de datos que puede entenderse en todo el ecosistema de aplicaciones disponibles tanto en sistemas upstream como downstream.</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1400" b="0" i="0" u="none" strike="noStrike" kern="1200" cap="none" spc="0" normalizeH="0" baseline="0" noProof="0" dirty="0">
                <a:ln>
                  <a:noFill/>
                </a:ln>
                <a:solidFill>
                  <a:srgbClr val="000000"/>
                </a:solidFill>
                <a:effectLst/>
                <a:uLnTx/>
                <a:uFillTx/>
                <a:latin typeface="Graphik Light" panose="020B0403030202060203" pitchFamily="34" charset="0"/>
                <a:ea typeface="+mn-ea"/>
                <a:cs typeface="+mn-cs"/>
              </a:rPr>
              <a:t>Capa de abstracción que permite reutilizar componentes / artefactos e incluye una fuerte capa de control, seguridad y monitorización.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000000"/>
              </a:solidFill>
              <a:effectLst/>
              <a:uLnTx/>
              <a:uFillTx/>
              <a:latin typeface="Graphik Light" panose="020B0403030202060203" pitchFamily="34" charset="0"/>
              <a:ea typeface="+mn-ea"/>
              <a:cs typeface="+mn-cs"/>
            </a:endParaRPr>
          </a:p>
        </p:txBody>
      </p:sp>
      <p:sp>
        <p:nvSpPr>
          <p:cNvPr id="39" name="TextBox 38">
            <a:extLst>
              <a:ext uri="{FF2B5EF4-FFF2-40B4-BE49-F238E27FC236}">
                <a16:creationId xmlns:a16="http://schemas.microsoft.com/office/drawing/2014/main" id="{A243CC9B-D121-7B8A-2E7B-4EAAFA8B894E}"/>
              </a:ext>
            </a:extLst>
          </p:cNvPr>
          <p:cNvSpPr txBox="1"/>
          <p:nvPr/>
        </p:nvSpPr>
        <p:spPr>
          <a:xfrm>
            <a:off x="2942263" y="2838763"/>
            <a:ext cx="8749553" cy="95410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1400" b="1" i="0" u="none" strike="noStrike" kern="1200" cap="none" spc="0" normalizeH="0" baseline="0" noProof="0">
                <a:ln>
                  <a:noFill/>
                </a:ln>
                <a:solidFill>
                  <a:srgbClr val="7500C0"/>
                </a:solidFill>
                <a:effectLst/>
                <a:uLnTx/>
                <a:uFillTx/>
                <a:latin typeface="Graphik Semibold" panose="020B0703030202060203" pitchFamily="34" charset="0"/>
                <a:ea typeface="+mn-ea"/>
                <a:cs typeface="+mn-cs"/>
              </a:rPr>
              <a:t>Integración: </a:t>
            </a:r>
            <a:r>
              <a:rPr kumimoji="0" lang="es" sz="14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Permite integrar diferentes tecnologías y aplicaciones independientemente de las tecnologías objetivo y de origen. También se encarga de la seguridad y permite transmitir datos de manera confidencial y de seguridad.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14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Permite agregar información, procesar la ingesta de datos y sincronizar la información entre aplicaciones. </a:t>
            </a:r>
          </a:p>
        </p:txBody>
      </p:sp>
      <p:sp>
        <p:nvSpPr>
          <p:cNvPr id="40" name="TextBox 39">
            <a:extLst>
              <a:ext uri="{FF2B5EF4-FFF2-40B4-BE49-F238E27FC236}">
                <a16:creationId xmlns:a16="http://schemas.microsoft.com/office/drawing/2014/main" id="{8741CEA2-1D59-7D2A-B44D-8BDB9481F098}"/>
              </a:ext>
            </a:extLst>
          </p:cNvPr>
          <p:cNvSpPr txBox="1"/>
          <p:nvPr/>
        </p:nvSpPr>
        <p:spPr>
          <a:xfrm>
            <a:off x="2942262" y="4653344"/>
            <a:ext cx="8749553" cy="160043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1400" b="1" i="0" u="none" strike="noStrike" kern="1200" cap="none" spc="0" normalizeH="0" baseline="0" noProof="0" dirty="0">
                <a:ln>
                  <a:noFill/>
                </a:ln>
                <a:solidFill>
                  <a:srgbClr val="7500C0"/>
                </a:solidFill>
                <a:effectLst/>
                <a:uLnTx/>
                <a:uFillTx/>
                <a:latin typeface="Graphik Semibold" panose="020B0703030202060203" pitchFamily="34" charset="0"/>
                <a:ea typeface="+mn-ea"/>
                <a:cs typeface="+mn-cs"/>
              </a:rPr>
              <a:t>Coreografía / Orquestación: </a:t>
            </a:r>
            <a:r>
              <a:rPr kumimoji="0" lang="es" sz="1400" b="0" i="0" u="none" strike="noStrike" kern="1200" cap="none" spc="0" normalizeH="0" baseline="0" noProof="0" dirty="0">
                <a:ln>
                  <a:noFill/>
                </a:ln>
                <a:solidFill>
                  <a:srgbClr val="000000"/>
                </a:solidFill>
                <a:effectLst/>
                <a:uLnTx/>
                <a:uFillTx/>
                <a:latin typeface="Graphik Light" panose="020B0403030202060203" pitchFamily="34" charset="0"/>
                <a:ea typeface="+mn-ea"/>
                <a:cs typeface="+mn-cs"/>
              </a:rPr>
              <a:t>Proceso de coordinación de servicios, recursos y dominios para agilizar las actividades de TI y negocio de extremo a extremo. La coreografía coordina servicios síncronos y asíncronos usando colas o eventos a través de HUBs o brokers específicos </a:t>
            </a:r>
            <a:r>
              <a:rPr kumimoji="0" lang="es" sz="1400" b="1" i="0" u="none" strike="noStrike" kern="1200" cap="none" spc="0" normalizeH="0" baseline="0" noProof="0" dirty="0">
                <a:ln>
                  <a:noFill/>
                </a:ln>
                <a:solidFill>
                  <a:srgbClr val="7500C0"/>
                </a:solidFill>
                <a:effectLst/>
                <a:uLnTx/>
                <a:uFillTx/>
                <a:latin typeface="Graphik Semibold" panose="020B0703030202060203" pitchFamily="34" charset="0"/>
                <a:ea typeface="+mn-ea"/>
                <a:cs typeface="+mn-cs"/>
              </a:rPr>
              <a:t>(APIs y Eventos). </a:t>
            </a:r>
            <a:r>
              <a:rPr kumimoji="0" lang="es" sz="1400" b="0" i="0" u="none" strike="noStrike" kern="1200" cap="none" spc="0" normalizeH="0" baseline="0" noProof="0" dirty="0">
                <a:ln>
                  <a:noFill/>
                </a:ln>
                <a:solidFill>
                  <a:srgbClr val="000000"/>
                </a:solidFill>
                <a:effectLst/>
                <a:uLnTx/>
                <a:uFillTx/>
                <a:latin typeface="Graphik Light" panose="020B0403030202060203" pitchFamily="34" charset="0"/>
                <a:ea typeface="+mn-ea"/>
                <a:cs typeface="+mn-cs"/>
              </a:rPr>
              <a:t>Esta fachada de orquestación permite configurar y monitorizar fácilmente los servicios, agrupando diferentes servicios granulares en funciones de extremo a extremo. Dicha función puede ser de negocio (por ejemplo, abrir una cuenta, realizar una transferencia, ...) o técnica (</a:t>
            </a:r>
            <a:r>
              <a:rPr lang="es" sz="1400" dirty="0">
                <a:solidFill>
                  <a:srgbClr val="000000"/>
                </a:solidFill>
                <a:latin typeface="Graphik Light" panose="020B0403030202060203" pitchFamily="34" charset="0"/>
              </a:rPr>
              <a:t>por ejemplo</a:t>
            </a:r>
            <a:r>
              <a:rPr kumimoji="0" lang="es" sz="1400" b="0" i="0" u="none" strike="noStrike" kern="1200" cap="none" spc="0" normalizeH="0" baseline="0" noProof="0" dirty="0">
                <a:ln>
                  <a:noFill/>
                </a:ln>
                <a:solidFill>
                  <a:srgbClr val="000000"/>
                </a:solidFill>
                <a:effectLst/>
                <a:uLnTx/>
                <a:uFillTx/>
                <a:latin typeface="Graphik Light" panose="020B0403030202060203" pitchFamily="34" charset="0"/>
                <a:ea typeface="+mn-ea"/>
                <a:cs typeface="+mn-cs"/>
              </a:rPr>
              <a:t>, capacidad de gestión de errores y rollback/reversión).</a:t>
            </a:r>
          </a:p>
        </p:txBody>
      </p:sp>
      <p:grpSp>
        <p:nvGrpSpPr>
          <p:cNvPr id="12" name="Group 11">
            <a:extLst>
              <a:ext uri="{FF2B5EF4-FFF2-40B4-BE49-F238E27FC236}">
                <a16:creationId xmlns:a16="http://schemas.microsoft.com/office/drawing/2014/main" id="{DF369160-BC7B-BFAA-34D7-F6960AB7CFA9}"/>
              </a:ext>
            </a:extLst>
          </p:cNvPr>
          <p:cNvGrpSpPr/>
          <p:nvPr/>
        </p:nvGrpSpPr>
        <p:grpSpPr>
          <a:xfrm>
            <a:off x="381001" y="1022926"/>
            <a:ext cx="2388481" cy="1581473"/>
            <a:chOff x="381001" y="1022926"/>
            <a:chExt cx="2388481" cy="1581473"/>
          </a:xfrm>
        </p:grpSpPr>
        <p:grpSp>
          <p:nvGrpSpPr>
            <p:cNvPr id="9" name="Group 8">
              <a:extLst>
                <a:ext uri="{FF2B5EF4-FFF2-40B4-BE49-F238E27FC236}">
                  <a16:creationId xmlns:a16="http://schemas.microsoft.com/office/drawing/2014/main" id="{B5D24E89-3025-EE35-F169-974C085BDD5F}"/>
                </a:ext>
              </a:extLst>
            </p:cNvPr>
            <p:cNvGrpSpPr/>
            <p:nvPr/>
          </p:nvGrpSpPr>
          <p:grpSpPr>
            <a:xfrm>
              <a:off x="381001" y="1022926"/>
              <a:ext cx="2388481" cy="1581473"/>
              <a:chOff x="596766" y="1022926"/>
              <a:chExt cx="2388481" cy="1581473"/>
            </a:xfrm>
          </p:grpSpPr>
          <p:sp>
            <p:nvSpPr>
              <p:cNvPr id="36" name="Rectangle: Rounded Corners 35">
                <a:extLst>
                  <a:ext uri="{FF2B5EF4-FFF2-40B4-BE49-F238E27FC236}">
                    <a16:creationId xmlns:a16="http://schemas.microsoft.com/office/drawing/2014/main" id="{8BE0391C-D80C-71DE-48F0-515B03C4BB41}"/>
                  </a:ext>
                </a:extLst>
              </p:cNvPr>
              <p:cNvSpPr/>
              <p:nvPr/>
            </p:nvSpPr>
            <p:spPr>
              <a:xfrm>
                <a:off x="596766" y="1022926"/>
                <a:ext cx="2388481" cy="1581473"/>
              </a:xfrm>
              <a:prstGeom prst="roundRect">
                <a:avLst>
                  <a:gd name="adj" fmla="val 8731"/>
                </a:avLst>
              </a:prstGeom>
              <a:solidFill>
                <a:srgbClr val="FFFFFF"/>
              </a:solidFill>
              <a:ln w="12700" cap="flat" cmpd="sng" algn="ctr">
                <a:solidFill>
                  <a:srgbClr val="96968C"/>
                </a:solidFill>
                <a:prstDash val="solid"/>
                <a:miter lim="800000"/>
              </a:ln>
              <a:effectLst/>
            </p:spPr>
            <p:txBody>
              <a:bodyPr tIns="0" bIns="9144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1" i="0" u="none" strike="noStrike" kern="0" cap="none" spc="0" normalizeH="0" baseline="0" noProof="0">
                    <a:ln>
                      <a:noFill/>
                    </a:ln>
                    <a:solidFill>
                      <a:srgbClr val="FFFFFF">
                        <a:lumMod val="65000"/>
                      </a:srgbClr>
                    </a:solidFill>
                    <a:effectLst/>
                    <a:uLnTx/>
                    <a:uFillTx/>
                    <a:latin typeface="Graphik Semibold" panose="020B0703030202060203" pitchFamily="34" charset="0"/>
                    <a:ea typeface="+mn-ea"/>
                    <a:cs typeface="+mn-cs"/>
                  </a:rPr>
                  <a:t>Arquitectura interoperable</a:t>
                </a:r>
              </a:p>
            </p:txBody>
          </p:sp>
          <p:pic>
            <p:nvPicPr>
              <p:cNvPr id="37" name="Graphic 36" descr="Esquema de piezas del puzzle">
                <a:extLst>
                  <a:ext uri="{FF2B5EF4-FFF2-40B4-BE49-F238E27FC236}">
                    <a16:creationId xmlns:a16="http://schemas.microsoft.com/office/drawing/2014/main" id="{238B2B41-DA44-3091-5EE3-8110AAD59AF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95164" y="1042277"/>
                <a:ext cx="193632" cy="193632"/>
              </a:xfrm>
              <a:prstGeom prst="rect">
                <a:avLst/>
              </a:prstGeom>
            </p:spPr>
          </p:pic>
        </p:grpSp>
        <p:sp>
          <p:nvSpPr>
            <p:cNvPr id="41" name="Rectangle: Rounded Corners 40">
              <a:extLst>
                <a:ext uri="{FF2B5EF4-FFF2-40B4-BE49-F238E27FC236}">
                  <a16:creationId xmlns:a16="http://schemas.microsoft.com/office/drawing/2014/main" id="{79AFA44A-38D5-D018-DB12-8DB729F1AA7D}"/>
                </a:ext>
              </a:extLst>
            </p:cNvPr>
            <p:cNvSpPr/>
            <p:nvPr/>
          </p:nvSpPr>
          <p:spPr>
            <a:xfrm>
              <a:off x="743613" y="1245038"/>
              <a:ext cx="1841349" cy="176627"/>
            </a:xfrm>
            <a:prstGeom prst="roundRect">
              <a:avLst/>
            </a:prstGeom>
            <a:solidFill>
              <a:srgbClr val="580090"/>
            </a:solidFill>
            <a:ln w="12700" cap="flat" cmpd="sng" algn="ctr">
              <a:noFill/>
              <a:prstDash val="solid"/>
              <a:miter lim="800000"/>
            </a:ln>
            <a:effectLst/>
          </p:spPr>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1" i="0" u="none" strike="noStrike" kern="0" cap="none" spc="0" normalizeH="0" baseline="0" noProof="0">
                  <a:ln>
                    <a:noFill/>
                  </a:ln>
                  <a:solidFill>
                    <a:srgbClr val="FFFFFF"/>
                  </a:solidFill>
                  <a:effectLst/>
                  <a:uLnTx/>
                  <a:uFillTx/>
                  <a:latin typeface="Graphik Semibold" panose="020B0703030202060203" pitchFamily="34" charset="0"/>
                  <a:ea typeface="+mn-ea"/>
                  <a:cs typeface="+mn-cs"/>
                </a:rPr>
                <a:t>Desacoplamiento</a:t>
              </a:r>
            </a:p>
          </p:txBody>
        </p:sp>
        <p:sp>
          <p:nvSpPr>
            <p:cNvPr id="42" name="Rectangle: Rounded Corners 41">
              <a:extLst>
                <a:ext uri="{FF2B5EF4-FFF2-40B4-BE49-F238E27FC236}">
                  <a16:creationId xmlns:a16="http://schemas.microsoft.com/office/drawing/2014/main" id="{0AAC9C74-8219-3B10-F0C4-DD230FA3CDF8}"/>
                </a:ext>
              </a:extLst>
            </p:cNvPr>
            <p:cNvSpPr/>
            <p:nvPr/>
          </p:nvSpPr>
          <p:spPr>
            <a:xfrm>
              <a:off x="743613" y="1443305"/>
              <a:ext cx="1841349" cy="176627"/>
            </a:xfrm>
            <a:prstGeom prst="roundRect">
              <a:avLst/>
            </a:prstGeom>
            <a:solidFill>
              <a:srgbClr val="FFFFFF">
                <a:lumMod val="75000"/>
              </a:srgbClr>
            </a:solidFill>
            <a:ln w="12700" cap="flat" cmpd="sng" algn="ctr">
              <a:noFill/>
              <a:prstDash val="solid"/>
              <a:miter lim="800000"/>
            </a:ln>
            <a:effectLst/>
          </p:spPr>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1" i="0" u="none" strike="noStrike" kern="0" cap="none" spc="0" normalizeH="0" baseline="0" noProof="0">
                  <a:ln>
                    <a:noFill/>
                  </a:ln>
                  <a:solidFill>
                    <a:srgbClr val="FFFFFF"/>
                  </a:solidFill>
                  <a:effectLst/>
                  <a:uLnTx/>
                  <a:uFillTx/>
                  <a:latin typeface="Graphik Semibold" panose="020B0703030202060203" pitchFamily="34" charset="0"/>
                  <a:ea typeface="+mn-ea"/>
                  <a:cs typeface="+mn-cs"/>
                </a:rPr>
                <a:t>Integración</a:t>
              </a:r>
            </a:p>
          </p:txBody>
        </p:sp>
        <p:sp>
          <p:nvSpPr>
            <p:cNvPr id="43" name="Rectangle: Rounded Corners 42">
              <a:extLst>
                <a:ext uri="{FF2B5EF4-FFF2-40B4-BE49-F238E27FC236}">
                  <a16:creationId xmlns:a16="http://schemas.microsoft.com/office/drawing/2014/main" id="{8886C973-13FB-0AE5-B382-68EDD977F9D7}"/>
                </a:ext>
              </a:extLst>
            </p:cNvPr>
            <p:cNvSpPr/>
            <p:nvPr/>
          </p:nvSpPr>
          <p:spPr>
            <a:xfrm>
              <a:off x="743613" y="1882322"/>
              <a:ext cx="1841349" cy="296889"/>
            </a:xfrm>
            <a:prstGeom prst="roundRect">
              <a:avLst/>
            </a:prstGeom>
            <a:solidFill>
              <a:srgbClr val="FFFFFF">
                <a:lumMod val="75000"/>
              </a:srgbClr>
            </a:solidFill>
            <a:ln w="12700" cap="flat" cmpd="sng" algn="ctr">
              <a:noFill/>
              <a:prstDash val="solid"/>
              <a:miter lim="800000"/>
            </a:ln>
            <a:effectLst/>
          </p:spPr>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1" i="0" u="none" strike="noStrike" kern="0" cap="none" spc="0" normalizeH="0" baseline="0" noProof="0">
                  <a:ln>
                    <a:noFill/>
                  </a:ln>
                  <a:solidFill>
                    <a:srgbClr val="FFFFFF"/>
                  </a:solidFill>
                  <a:effectLst/>
                  <a:uLnTx/>
                  <a:uFillTx/>
                  <a:latin typeface="Graphik Semibold" panose="020B0703030202060203" pitchFamily="34" charset="0"/>
                  <a:ea typeface="+mn-ea"/>
                  <a:cs typeface="+mn-cs"/>
                </a:rPr>
                <a:t>Coexistencia</a:t>
              </a:r>
            </a:p>
          </p:txBody>
        </p:sp>
        <p:sp>
          <p:nvSpPr>
            <p:cNvPr id="44" name="Rectangle: Rounded Corners 43">
              <a:extLst>
                <a:ext uri="{FF2B5EF4-FFF2-40B4-BE49-F238E27FC236}">
                  <a16:creationId xmlns:a16="http://schemas.microsoft.com/office/drawing/2014/main" id="{93F5226F-35A1-3040-3EE9-351AD2C963CB}"/>
                </a:ext>
              </a:extLst>
            </p:cNvPr>
            <p:cNvSpPr/>
            <p:nvPr/>
          </p:nvSpPr>
          <p:spPr>
            <a:xfrm>
              <a:off x="743613" y="1661714"/>
              <a:ext cx="1841349" cy="176627"/>
            </a:xfrm>
            <a:prstGeom prst="roundRect">
              <a:avLst/>
            </a:prstGeom>
            <a:solidFill>
              <a:srgbClr val="FFFFFF">
                <a:lumMod val="75000"/>
              </a:srgbClr>
            </a:solidFill>
            <a:ln w="12700" cap="flat" cmpd="sng" algn="ctr">
              <a:noFill/>
              <a:prstDash val="solid"/>
              <a:miter lim="800000"/>
            </a:ln>
            <a:effectLst/>
          </p:spPr>
          <p:txBody>
            <a:bodyPr lIns="0" tIns="91440" rIns="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1" i="0" u="none" strike="noStrike" kern="0" cap="none" spc="0" normalizeH="0" baseline="0" noProof="0" dirty="0">
                  <a:ln>
                    <a:noFill/>
                  </a:ln>
                  <a:solidFill>
                    <a:srgbClr val="FFFFFF"/>
                  </a:solidFill>
                  <a:effectLst/>
                  <a:uLnTx/>
                  <a:uFillTx/>
                  <a:latin typeface="Graphik Semibold" panose="020B0703030202060203" pitchFamily="34" charset="0"/>
                  <a:ea typeface="+mn-ea"/>
                  <a:cs typeface="+mn-cs"/>
                </a:rPr>
                <a:t>Coreografía y Orquia</a:t>
              </a:r>
            </a:p>
          </p:txBody>
        </p:sp>
        <p:sp>
          <p:nvSpPr>
            <p:cNvPr id="45" name="Rectangle: Rounded Corners 44">
              <a:extLst>
                <a:ext uri="{FF2B5EF4-FFF2-40B4-BE49-F238E27FC236}">
                  <a16:creationId xmlns:a16="http://schemas.microsoft.com/office/drawing/2014/main" id="{0A9B179A-4255-ABC9-8C8E-FDC03282C936}"/>
                </a:ext>
              </a:extLst>
            </p:cNvPr>
            <p:cNvSpPr/>
            <p:nvPr/>
          </p:nvSpPr>
          <p:spPr>
            <a:xfrm>
              <a:off x="743613" y="2223192"/>
              <a:ext cx="1841349" cy="312235"/>
            </a:xfrm>
            <a:prstGeom prst="roundRect">
              <a:avLst/>
            </a:prstGeom>
            <a:solidFill>
              <a:srgbClr val="FFFFFF">
                <a:lumMod val="75000"/>
              </a:srgbClr>
            </a:solidFill>
            <a:ln w="12700" cap="flat" cmpd="sng" algn="ctr">
              <a:noFill/>
              <a:prstDash val="solid"/>
              <a:miter lim="800000"/>
            </a:ln>
            <a:effectLst/>
          </p:spPr>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1" i="0" u="none" strike="noStrike" kern="0" cap="none" spc="0" normalizeH="0" baseline="0" noProof="0">
                  <a:ln>
                    <a:noFill/>
                  </a:ln>
                  <a:solidFill>
                    <a:srgbClr val="FFFFFF"/>
                  </a:solidFill>
                  <a:effectLst/>
                  <a:uLnTx/>
                  <a:uFillTx/>
                  <a:latin typeface="Graphik Semibold" panose="020B0703030202060203" pitchFamily="34" charset="0"/>
                  <a:ea typeface="+mn-ea"/>
                  <a:cs typeface="+mn-cs"/>
                </a:rPr>
                <a:t>Microservicios</a:t>
              </a:r>
            </a:p>
          </p:txBody>
        </p:sp>
        <p:sp>
          <p:nvSpPr>
            <p:cNvPr id="46" name="Rectangle: Rounded Corners 45">
              <a:extLst>
                <a:ext uri="{FF2B5EF4-FFF2-40B4-BE49-F238E27FC236}">
                  <a16:creationId xmlns:a16="http://schemas.microsoft.com/office/drawing/2014/main" id="{E8561BB2-B6B8-A55B-BC74-DA1FC82672C8}"/>
                </a:ext>
              </a:extLst>
            </p:cNvPr>
            <p:cNvSpPr/>
            <p:nvPr/>
          </p:nvSpPr>
          <p:spPr>
            <a:xfrm rot="16200000">
              <a:off x="-37801" y="1797017"/>
              <a:ext cx="1275043" cy="206945"/>
            </a:xfrm>
            <a:prstGeom prst="roundRect">
              <a:avLst/>
            </a:prstGeom>
            <a:solidFill>
              <a:srgbClr val="FFFFFF">
                <a:lumMod val="75000"/>
              </a:srgbClr>
            </a:solidFill>
            <a:ln w="12700" cap="flat" cmpd="sng" algn="ctr">
              <a:noFill/>
              <a:prstDash val="solid"/>
              <a:miter lim="800000"/>
            </a:ln>
            <a:effectLst/>
          </p:spPr>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1" i="0" u="none" strike="noStrike" kern="0" cap="none" spc="0" normalizeH="0" baseline="0" noProof="0">
                  <a:ln>
                    <a:noFill/>
                  </a:ln>
                  <a:solidFill>
                    <a:srgbClr val="FFFFFF"/>
                  </a:solidFill>
                  <a:effectLst/>
                  <a:uLnTx/>
                  <a:uFillTx/>
                  <a:latin typeface="Graphik Semibold" panose="020B0703030202060203" pitchFamily="34" charset="0"/>
                  <a:ea typeface="+mn-ea"/>
                  <a:cs typeface="+mn-cs"/>
                </a:rPr>
                <a:t>Servicios Empresariales Principales (Backbone)</a:t>
              </a:r>
            </a:p>
          </p:txBody>
        </p:sp>
        <p:grpSp>
          <p:nvGrpSpPr>
            <p:cNvPr id="47" name="Group 48">
              <a:extLst>
                <a:ext uri="{FF2B5EF4-FFF2-40B4-BE49-F238E27FC236}">
                  <a16:creationId xmlns:a16="http://schemas.microsoft.com/office/drawing/2014/main" id="{B3BD1DEC-55C9-C607-F54F-0E46C582D544}"/>
                </a:ext>
              </a:extLst>
            </p:cNvPr>
            <p:cNvGrpSpPr>
              <a:grpSpLocks noChangeAspect="1"/>
            </p:cNvGrpSpPr>
            <p:nvPr/>
          </p:nvGrpSpPr>
          <p:grpSpPr bwMode="auto">
            <a:xfrm>
              <a:off x="867921" y="1302739"/>
              <a:ext cx="108414" cy="88314"/>
              <a:chOff x="3427" y="474"/>
              <a:chExt cx="428" cy="356"/>
            </a:xfrm>
            <a:solidFill>
              <a:srgbClr val="FFFFFF"/>
            </a:solidFill>
          </p:grpSpPr>
          <p:sp>
            <p:nvSpPr>
              <p:cNvPr id="48" name="Freeform 49">
                <a:extLst>
                  <a:ext uri="{FF2B5EF4-FFF2-40B4-BE49-F238E27FC236}">
                    <a16:creationId xmlns:a16="http://schemas.microsoft.com/office/drawing/2014/main" id="{8D2374CA-C731-6539-CC57-A2D20F7B6B9F}"/>
                  </a:ext>
                </a:extLst>
              </p:cNvPr>
              <p:cNvSpPr>
                <a:spLocks/>
              </p:cNvSpPr>
              <p:nvPr/>
            </p:nvSpPr>
            <p:spPr bwMode="auto">
              <a:xfrm>
                <a:off x="3427" y="615"/>
                <a:ext cx="428" cy="108"/>
              </a:xfrm>
              <a:custGeom>
                <a:avLst/>
                <a:gdLst>
                  <a:gd name="T0" fmla="*/ 144 w 289"/>
                  <a:gd name="T1" fmla="*/ 73 h 73"/>
                  <a:gd name="T2" fmla="*/ 142 w 289"/>
                  <a:gd name="T3" fmla="*/ 73 h 73"/>
                  <a:gd name="T4" fmla="*/ 4 w 289"/>
                  <a:gd name="T5" fmla="*/ 13 h 73"/>
                  <a:gd name="T6" fmla="*/ 1 w 289"/>
                  <a:gd name="T7" fmla="*/ 5 h 73"/>
                  <a:gd name="T8" fmla="*/ 9 w 289"/>
                  <a:gd name="T9" fmla="*/ 2 h 73"/>
                  <a:gd name="T10" fmla="*/ 144 w 289"/>
                  <a:gd name="T11" fmla="*/ 61 h 73"/>
                  <a:gd name="T12" fmla="*/ 280 w 289"/>
                  <a:gd name="T13" fmla="*/ 2 h 73"/>
                  <a:gd name="T14" fmla="*/ 288 w 289"/>
                  <a:gd name="T15" fmla="*/ 5 h 73"/>
                  <a:gd name="T16" fmla="*/ 285 w 289"/>
                  <a:gd name="T17" fmla="*/ 13 h 73"/>
                  <a:gd name="T18" fmla="*/ 147 w 289"/>
                  <a:gd name="T19" fmla="*/ 73 h 73"/>
                  <a:gd name="T20" fmla="*/ 144 w 289"/>
                  <a:gd name="T21" fmla="*/ 73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9" h="73">
                    <a:moveTo>
                      <a:pt x="144" y="73"/>
                    </a:moveTo>
                    <a:cubicBezTo>
                      <a:pt x="144" y="73"/>
                      <a:pt x="143" y="73"/>
                      <a:pt x="142" y="73"/>
                    </a:cubicBezTo>
                    <a:cubicBezTo>
                      <a:pt x="4" y="13"/>
                      <a:pt x="4" y="13"/>
                      <a:pt x="4" y="13"/>
                    </a:cubicBezTo>
                    <a:cubicBezTo>
                      <a:pt x="1" y="11"/>
                      <a:pt x="0" y="8"/>
                      <a:pt x="1" y="5"/>
                    </a:cubicBezTo>
                    <a:cubicBezTo>
                      <a:pt x="2" y="2"/>
                      <a:pt x="6" y="0"/>
                      <a:pt x="9" y="2"/>
                    </a:cubicBezTo>
                    <a:cubicBezTo>
                      <a:pt x="144" y="61"/>
                      <a:pt x="144" y="61"/>
                      <a:pt x="144" y="61"/>
                    </a:cubicBezTo>
                    <a:cubicBezTo>
                      <a:pt x="280" y="2"/>
                      <a:pt x="280" y="2"/>
                      <a:pt x="280" y="2"/>
                    </a:cubicBezTo>
                    <a:cubicBezTo>
                      <a:pt x="283" y="0"/>
                      <a:pt x="287" y="2"/>
                      <a:pt x="288" y="5"/>
                    </a:cubicBezTo>
                    <a:cubicBezTo>
                      <a:pt x="289" y="8"/>
                      <a:pt x="288" y="11"/>
                      <a:pt x="285" y="13"/>
                    </a:cubicBezTo>
                    <a:cubicBezTo>
                      <a:pt x="147" y="73"/>
                      <a:pt x="147" y="73"/>
                      <a:pt x="147" y="73"/>
                    </a:cubicBezTo>
                    <a:cubicBezTo>
                      <a:pt x="146" y="73"/>
                      <a:pt x="145" y="73"/>
                      <a:pt x="144"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49" name="Freeform 50">
                <a:extLst>
                  <a:ext uri="{FF2B5EF4-FFF2-40B4-BE49-F238E27FC236}">
                    <a16:creationId xmlns:a16="http://schemas.microsoft.com/office/drawing/2014/main" id="{405ABF90-C909-E9DF-0711-0A37BA22FAFE}"/>
                  </a:ext>
                </a:extLst>
              </p:cNvPr>
              <p:cNvSpPr>
                <a:spLocks/>
              </p:cNvSpPr>
              <p:nvPr/>
            </p:nvSpPr>
            <p:spPr bwMode="auto">
              <a:xfrm>
                <a:off x="3427" y="668"/>
                <a:ext cx="428" cy="108"/>
              </a:xfrm>
              <a:custGeom>
                <a:avLst/>
                <a:gdLst>
                  <a:gd name="T0" fmla="*/ 144 w 289"/>
                  <a:gd name="T1" fmla="*/ 73 h 73"/>
                  <a:gd name="T2" fmla="*/ 142 w 289"/>
                  <a:gd name="T3" fmla="*/ 73 h 73"/>
                  <a:gd name="T4" fmla="*/ 4 w 289"/>
                  <a:gd name="T5" fmla="*/ 13 h 73"/>
                  <a:gd name="T6" fmla="*/ 1 w 289"/>
                  <a:gd name="T7" fmla="*/ 5 h 73"/>
                  <a:gd name="T8" fmla="*/ 9 w 289"/>
                  <a:gd name="T9" fmla="*/ 2 h 73"/>
                  <a:gd name="T10" fmla="*/ 144 w 289"/>
                  <a:gd name="T11" fmla="*/ 61 h 73"/>
                  <a:gd name="T12" fmla="*/ 280 w 289"/>
                  <a:gd name="T13" fmla="*/ 2 h 73"/>
                  <a:gd name="T14" fmla="*/ 288 w 289"/>
                  <a:gd name="T15" fmla="*/ 5 h 73"/>
                  <a:gd name="T16" fmla="*/ 285 w 289"/>
                  <a:gd name="T17" fmla="*/ 13 h 73"/>
                  <a:gd name="T18" fmla="*/ 147 w 289"/>
                  <a:gd name="T19" fmla="*/ 73 h 73"/>
                  <a:gd name="T20" fmla="*/ 144 w 289"/>
                  <a:gd name="T21" fmla="*/ 73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9" h="73">
                    <a:moveTo>
                      <a:pt x="144" y="73"/>
                    </a:moveTo>
                    <a:cubicBezTo>
                      <a:pt x="144" y="73"/>
                      <a:pt x="143" y="73"/>
                      <a:pt x="142" y="73"/>
                    </a:cubicBezTo>
                    <a:cubicBezTo>
                      <a:pt x="4" y="13"/>
                      <a:pt x="4" y="13"/>
                      <a:pt x="4" y="13"/>
                    </a:cubicBezTo>
                    <a:cubicBezTo>
                      <a:pt x="1" y="11"/>
                      <a:pt x="0" y="8"/>
                      <a:pt x="1" y="5"/>
                    </a:cubicBezTo>
                    <a:cubicBezTo>
                      <a:pt x="2" y="2"/>
                      <a:pt x="6" y="0"/>
                      <a:pt x="9" y="2"/>
                    </a:cubicBezTo>
                    <a:cubicBezTo>
                      <a:pt x="144" y="61"/>
                      <a:pt x="144" y="61"/>
                      <a:pt x="144" y="61"/>
                    </a:cubicBezTo>
                    <a:cubicBezTo>
                      <a:pt x="280" y="2"/>
                      <a:pt x="280" y="2"/>
                      <a:pt x="280" y="2"/>
                    </a:cubicBezTo>
                    <a:cubicBezTo>
                      <a:pt x="283" y="0"/>
                      <a:pt x="287" y="2"/>
                      <a:pt x="288" y="5"/>
                    </a:cubicBezTo>
                    <a:cubicBezTo>
                      <a:pt x="289" y="8"/>
                      <a:pt x="288" y="11"/>
                      <a:pt x="285" y="13"/>
                    </a:cubicBezTo>
                    <a:cubicBezTo>
                      <a:pt x="147" y="73"/>
                      <a:pt x="147" y="73"/>
                      <a:pt x="147" y="73"/>
                    </a:cubicBezTo>
                    <a:cubicBezTo>
                      <a:pt x="146" y="73"/>
                      <a:pt x="145" y="73"/>
                      <a:pt x="144"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50" name="Freeform 51">
                <a:extLst>
                  <a:ext uri="{FF2B5EF4-FFF2-40B4-BE49-F238E27FC236}">
                    <a16:creationId xmlns:a16="http://schemas.microsoft.com/office/drawing/2014/main" id="{DD8AE31A-7FFF-83E9-3ED9-C2B7AD3F21AF}"/>
                  </a:ext>
                </a:extLst>
              </p:cNvPr>
              <p:cNvSpPr>
                <a:spLocks/>
              </p:cNvSpPr>
              <p:nvPr/>
            </p:nvSpPr>
            <p:spPr bwMode="auto">
              <a:xfrm>
                <a:off x="3427" y="722"/>
                <a:ext cx="428" cy="108"/>
              </a:xfrm>
              <a:custGeom>
                <a:avLst/>
                <a:gdLst>
                  <a:gd name="T0" fmla="*/ 144 w 289"/>
                  <a:gd name="T1" fmla="*/ 73 h 73"/>
                  <a:gd name="T2" fmla="*/ 142 w 289"/>
                  <a:gd name="T3" fmla="*/ 73 h 73"/>
                  <a:gd name="T4" fmla="*/ 4 w 289"/>
                  <a:gd name="T5" fmla="*/ 13 h 73"/>
                  <a:gd name="T6" fmla="*/ 1 w 289"/>
                  <a:gd name="T7" fmla="*/ 5 h 73"/>
                  <a:gd name="T8" fmla="*/ 9 w 289"/>
                  <a:gd name="T9" fmla="*/ 2 h 73"/>
                  <a:gd name="T10" fmla="*/ 144 w 289"/>
                  <a:gd name="T11" fmla="*/ 61 h 73"/>
                  <a:gd name="T12" fmla="*/ 280 w 289"/>
                  <a:gd name="T13" fmla="*/ 2 h 73"/>
                  <a:gd name="T14" fmla="*/ 288 w 289"/>
                  <a:gd name="T15" fmla="*/ 5 h 73"/>
                  <a:gd name="T16" fmla="*/ 285 w 289"/>
                  <a:gd name="T17" fmla="*/ 13 h 73"/>
                  <a:gd name="T18" fmla="*/ 147 w 289"/>
                  <a:gd name="T19" fmla="*/ 73 h 73"/>
                  <a:gd name="T20" fmla="*/ 144 w 289"/>
                  <a:gd name="T21" fmla="*/ 73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9" h="73">
                    <a:moveTo>
                      <a:pt x="144" y="73"/>
                    </a:moveTo>
                    <a:cubicBezTo>
                      <a:pt x="144" y="73"/>
                      <a:pt x="143" y="73"/>
                      <a:pt x="142" y="73"/>
                    </a:cubicBezTo>
                    <a:cubicBezTo>
                      <a:pt x="4" y="13"/>
                      <a:pt x="4" y="13"/>
                      <a:pt x="4" y="13"/>
                    </a:cubicBezTo>
                    <a:cubicBezTo>
                      <a:pt x="1" y="11"/>
                      <a:pt x="0" y="8"/>
                      <a:pt x="1" y="5"/>
                    </a:cubicBezTo>
                    <a:cubicBezTo>
                      <a:pt x="2" y="2"/>
                      <a:pt x="6" y="0"/>
                      <a:pt x="9" y="2"/>
                    </a:cubicBezTo>
                    <a:cubicBezTo>
                      <a:pt x="144" y="61"/>
                      <a:pt x="144" y="61"/>
                      <a:pt x="144" y="61"/>
                    </a:cubicBezTo>
                    <a:cubicBezTo>
                      <a:pt x="280" y="2"/>
                      <a:pt x="280" y="2"/>
                      <a:pt x="280" y="2"/>
                    </a:cubicBezTo>
                    <a:cubicBezTo>
                      <a:pt x="283" y="0"/>
                      <a:pt x="287" y="2"/>
                      <a:pt x="288" y="5"/>
                    </a:cubicBezTo>
                    <a:cubicBezTo>
                      <a:pt x="289" y="8"/>
                      <a:pt x="288" y="11"/>
                      <a:pt x="285" y="13"/>
                    </a:cubicBezTo>
                    <a:cubicBezTo>
                      <a:pt x="147" y="73"/>
                      <a:pt x="147" y="73"/>
                      <a:pt x="147" y="73"/>
                    </a:cubicBezTo>
                    <a:cubicBezTo>
                      <a:pt x="146" y="73"/>
                      <a:pt x="145" y="73"/>
                      <a:pt x="144"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51" name="Freeform 52">
                <a:extLst>
                  <a:ext uri="{FF2B5EF4-FFF2-40B4-BE49-F238E27FC236}">
                    <a16:creationId xmlns:a16="http://schemas.microsoft.com/office/drawing/2014/main" id="{995D2C99-D264-C867-2A51-6188B9C05843}"/>
                  </a:ext>
                </a:extLst>
              </p:cNvPr>
              <p:cNvSpPr>
                <a:spLocks noEditPoints="1"/>
              </p:cNvSpPr>
              <p:nvPr/>
            </p:nvSpPr>
            <p:spPr bwMode="auto">
              <a:xfrm>
                <a:off x="3427" y="474"/>
                <a:ext cx="426" cy="196"/>
              </a:xfrm>
              <a:custGeom>
                <a:avLst/>
                <a:gdLst>
                  <a:gd name="T0" fmla="*/ 144 w 288"/>
                  <a:gd name="T1" fmla="*/ 132 h 132"/>
                  <a:gd name="T2" fmla="*/ 142 w 288"/>
                  <a:gd name="T3" fmla="*/ 132 h 132"/>
                  <a:gd name="T4" fmla="*/ 4 w 288"/>
                  <a:gd name="T5" fmla="*/ 72 h 132"/>
                  <a:gd name="T6" fmla="*/ 0 w 288"/>
                  <a:gd name="T7" fmla="*/ 66 h 132"/>
                  <a:gd name="T8" fmla="*/ 4 w 288"/>
                  <a:gd name="T9" fmla="*/ 61 h 132"/>
                  <a:gd name="T10" fmla="*/ 142 w 288"/>
                  <a:gd name="T11" fmla="*/ 1 h 132"/>
                  <a:gd name="T12" fmla="*/ 147 w 288"/>
                  <a:gd name="T13" fmla="*/ 1 h 132"/>
                  <a:gd name="T14" fmla="*/ 285 w 288"/>
                  <a:gd name="T15" fmla="*/ 61 h 132"/>
                  <a:gd name="T16" fmla="*/ 288 w 288"/>
                  <a:gd name="T17" fmla="*/ 66 h 132"/>
                  <a:gd name="T18" fmla="*/ 285 w 288"/>
                  <a:gd name="T19" fmla="*/ 72 h 132"/>
                  <a:gd name="T20" fmla="*/ 147 w 288"/>
                  <a:gd name="T21" fmla="*/ 132 h 132"/>
                  <a:gd name="T22" fmla="*/ 144 w 288"/>
                  <a:gd name="T23" fmla="*/ 132 h 132"/>
                  <a:gd name="T24" fmla="*/ 21 w 288"/>
                  <a:gd name="T25" fmla="*/ 66 h 132"/>
                  <a:gd name="T26" fmla="*/ 144 w 288"/>
                  <a:gd name="T27" fmla="*/ 120 h 132"/>
                  <a:gd name="T28" fmla="*/ 267 w 288"/>
                  <a:gd name="T29" fmla="*/ 66 h 132"/>
                  <a:gd name="T30" fmla="*/ 144 w 288"/>
                  <a:gd name="T31" fmla="*/ 13 h 132"/>
                  <a:gd name="T32" fmla="*/ 21 w 288"/>
                  <a:gd name="T33" fmla="*/ 66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88" h="132">
                    <a:moveTo>
                      <a:pt x="144" y="132"/>
                    </a:moveTo>
                    <a:cubicBezTo>
                      <a:pt x="144" y="132"/>
                      <a:pt x="143" y="132"/>
                      <a:pt x="142" y="132"/>
                    </a:cubicBezTo>
                    <a:cubicBezTo>
                      <a:pt x="4" y="72"/>
                      <a:pt x="4" y="72"/>
                      <a:pt x="4" y="72"/>
                    </a:cubicBezTo>
                    <a:cubicBezTo>
                      <a:pt x="2" y="71"/>
                      <a:pt x="0" y="69"/>
                      <a:pt x="0" y="66"/>
                    </a:cubicBezTo>
                    <a:cubicBezTo>
                      <a:pt x="0" y="64"/>
                      <a:pt x="2" y="62"/>
                      <a:pt x="4" y="61"/>
                    </a:cubicBezTo>
                    <a:cubicBezTo>
                      <a:pt x="142" y="1"/>
                      <a:pt x="142" y="1"/>
                      <a:pt x="142" y="1"/>
                    </a:cubicBezTo>
                    <a:cubicBezTo>
                      <a:pt x="144" y="0"/>
                      <a:pt x="145" y="0"/>
                      <a:pt x="147" y="1"/>
                    </a:cubicBezTo>
                    <a:cubicBezTo>
                      <a:pt x="285" y="61"/>
                      <a:pt x="285" y="61"/>
                      <a:pt x="285" y="61"/>
                    </a:cubicBezTo>
                    <a:cubicBezTo>
                      <a:pt x="287" y="62"/>
                      <a:pt x="288" y="64"/>
                      <a:pt x="288" y="66"/>
                    </a:cubicBezTo>
                    <a:cubicBezTo>
                      <a:pt x="288" y="69"/>
                      <a:pt x="287" y="71"/>
                      <a:pt x="285" y="72"/>
                    </a:cubicBezTo>
                    <a:cubicBezTo>
                      <a:pt x="147" y="132"/>
                      <a:pt x="147" y="132"/>
                      <a:pt x="147" y="132"/>
                    </a:cubicBezTo>
                    <a:cubicBezTo>
                      <a:pt x="146" y="132"/>
                      <a:pt x="145" y="132"/>
                      <a:pt x="144" y="132"/>
                    </a:cubicBezTo>
                    <a:close/>
                    <a:moveTo>
                      <a:pt x="21" y="66"/>
                    </a:moveTo>
                    <a:cubicBezTo>
                      <a:pt x="144" y="120"/>
                      <a:pt x="144" y="120"/>
                      <a:pt x="144" y="120"/>
                    </a:cubicBezTo>
                    <a:cubicBezTo>
                      <a:pt x="267" y="66"/>
                      <a:pt x="267" y="66"/>
                      <a:pt x="267" y="66"/>
                    </a:cubicBezTo>
                    <a:cubicBezTo>
                      <a:pt x="144" y="13"/>
                      <a:pt x="144" y="13"/>
                      <a:pt x="144" y="13"/>
                    </a:cubicBezTo>
                    <a:lnTo>
                      <a:pt x="21" y="6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grpSp>
        <p:pic>
          <p:nvPicPr>
            <p:cNvPr id="52" name="Graphic 51" descr="Red">
              <a:extLst>
                <a:ext uri="{FF2B5EF4-FFF2-40B4-BE49-F238E27FC236}">
                  <a16:creationId xmlns:a16="http://schemas.microsoft.com/office/drawing/2014/main" id="{3F07AB43-EF22-23D9-EBB1-1123A5954E6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64733" y="1471077"/>
              <a:ext cx="123639" cy="123639"/>
            </a:xfrm>
            <a:prstGeom prst="rect">
              <a:avLst/>
            </a:prstGeom>
          </p:spPr>
        </p:pic>
        <p:sp>
          <p:nvSpPr>
            <p:cNvPr id="53" name="Freeform 147">
              <a:extLst>
                <a:ext uri="{FF2B5EF4-FFF2-40B4-BE49-F238E27FC236}">
                  <a16:creationId xmlns:a16="http://schemas.microsoft.com/office/drawing/2014/main" id="{1748E439-DE62-514B-C617-EE666F40801D}"/>
                </a:ext>
              </a:extLst>
            </p:cNvPr>
            <p:cNvSpPr>
              <a:spLocks noEditPoints="1"/>
            </p:cNvSpPr>
            <p:nvPr/>
          </p:nvSpPr>
          <p:spPr bwMode="auto">
            <a:xfrm>
              <a:off x="832652" y="2331389"/>
              <a:ext cx="198386" cy="105976"/>
            </a:xfrm>
            <a:custGeom>
              <a:avLst/>
              <a:gdLst>
                <a:gd name="T0" fmla="*/ 54 w 288"/>
                <a:gd name="T1" fmla="*/ 180 h 180"/>
                <a:gd name="T2" fmla="*/ 14 w 288"/>
                <a:gd name="T3" fmla="*/ 164 h 180"/>
                <a:gd name="T4" fmla="*/ 0 w 288"/>
                <a:gd name="T5" fmla="*/ 129 h 180"/>
                <a:gd name="T6" fmla="*/ 19 w 288"/>
                <a:gd name="T7" fmla="*/ 89 h 180"/>
                <a:gd name="T8" fmla="*/ 55 w 288"/>
                <a:gd name="T9" fmla="*/ 78 h 180"/>
                <a:gd name="T10" fmla="*/ 144 w 288"/>
                <a:gd name="T11" fmla="*/ 0 h 180"/>
                <a:gd name="T12" fmla="*/ 224 w 288"/>
                <a:gd name="T13" fmla="*/ 48 h 180"/>
                <a:gd name="T14" fmla="*/ 268 w 288"/>
                <a:gd name="T15" fmla="*/ 66 h 180"/>
                <a:gd name="T16" fmla="*/ 288 w 288"/>
                <a:gd name="T17" fmla="*/ 114 h 180"/>
                <a:gd name="T18" fmla="*/ 229 w 288"/>
                <a:gd name="T19" fmla="*/ 180 h 180"/>
                <a:gd name="T20" fmla="*/ 228 w 288"/>
                <a:gd name="T21" fmla="*/ 180 h 180"/>
                <a:gd name="T22" fmla="*/ 54 w 288"/>
                <a:gd name="T23" fmla="*/ 180 h 180"/>
                <a:gd name="T24" fmla="*/ 54 w 288"/>
                <a:gd name="T25" fmla="*/ 180 h 180"/>
                <a:gd name="T26" fmla="*/ 51 w 288"/>
                <a:gd name="T27" fmla="*/ 90 h 180"/>
                <a:gd name="T28" fmla="*/ 27 w 288"/>
                <a:gd name="T29" fmla="*/ 99 h 180"/>
                <a:gd name="T30" fmla="*/ 12 w 288"/>
                <a:gd name="T31" fmla="*/ 129 h 180"/>
                <a:gd name="T32" fmla="*/ 22 w 288"/>
                <a:gd name="T33" fmla="*/ 156 h 180"/>
                <a:gd name="T34" fmla="*/ 54 w 288"/>
                <a:gd name="T35" fmla="*/ 168 h 180"/>
                <a:gd name="T36" fmla="*/ 54 w 288"/>
                <a:gd name="T37" fmla="*/ 168 h 180"/>
                <a:gd name="T38" fmla="*/ 228 w 288"/>
                <a:gd name="T39" fmla="*/ 168 h 180"/>
                <a:gd name="T40" fmla="*/ 276 w 288"/>
                <a:gd name="T41" fmla="*/ 114 h 180"/>
                <a:gd name="T42" fmla="*/ 260 w 288"/>
                <a:gd name="T43" fmla="*/ 75 h 180"/>
                <a:gd name="T44" fmla="*/ 220 w 288"/>
                <a:gd name="T45" fmla="*/ 60 h 180"/>
                <a:gd name="T46" fmla="*/ 215 w 288"/>
                <a:gd name="T47" fmla="*/ 57 h 180"/>
                <a:gd name="T48" fmla="*/ 144 w 288"/>
                <a:gd name="T49" fmla="*/ 12 h 180"/>
                <a:gd name="T50" fmla="*/ 66 w 288"/>
                <a:gd name="T51" fmla="*/ 85 h 180"/>
                <a:gd name="T52" fmla="*/ 64 w 288"/>
                <a:gd name="T53" fmla="*/ 90 h 180"/>
                <a:gd name="T54" fmla="*/ 59 w 288"/>
                <a:gd name="T55" fmla="*/ 91 h 180"/>
                <a:gd name="T56" fmla="*/ 51 w 288"/>
                <a:gd name="T57" fmla="*/ 90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88" h="180">
                  <a:moveTo>
                    <a:pt x="54" y="180"/>
                  </a:moveTo>
                  <a:cubicBezTo>
                    <a:pt x="51" y="180"/>
                    <a:pt x="29" y="179"/>
                    <a:pt x="14" y="164"/>
                  </a:cubicBezTo>
                  <a:cubicBezTo>
                    <a:pt x="5" y="156"/>
                    <a:pt x="0" y="144"/>
                    <a:pt x="0" y="129"/>
                  </a:cubicBezTo>
                  <a:cubicBezTo>
                    <a:pt x="0" y="113"/>
                    <a:pt x="7" y="99"/>
                    <a:pt x="19" y="89"/>
                  </a:cubicBezTo>
                  <a:cubicBezTo>
                    <a:pt x="29" y="81"/>
                    <a:pt x="42" y="77"/>
                    <a:pt x="55" y="78"/>
                  </a:cubicBezTo>
                  <a:cubicBezTo>
                    <a:pt x="61" y="34"/>
                    <a:pt x="99" y="0"/>
                    <a:pt x="144" y="0"/>
                  </a:cubicBezTo>
                  <a:cubicBezTo>
                    <a:pt x="177" y="0"/>
                    <a:pt x="208" y="19"/>
                    <a:pt x="224" y="48"/>
                  </a:cubicBezTo>
                  <a:cubicBezTo>
                    <a:pt x="240" y="48"/>
                    <a:pt x="256" y="55"/>
                    <a:pt x="268" y="66"/>
                  </a:cubicBezTo>
                  <a:cubicBezTo>
                    <a:pt x="281" y="79"/>
                    <a:pt x="288" y="96"/>
                    <a:pt x="288" y="114"/>
                  </a:cubicBezTo>
                  <a:cubicBezTo>
                    <a:pt x="288" y="171"/>
                    <a:pt x="230" y="180"/>
                    <a:pt x="229" y="180"/>
                  </a:cubicBezTo>
                  <a:cubicBezTo>
                    <a:pt x="229" y="180"/>
                    <a:pt x="228" y="180"/>
                    <a:pt x="228" y="180"/>
                  </a:cubicBezTo>
                  <a:cubicBezTo>
                    <a:pt x="54" y="180"/>
                    <a:pt x="54" y="180"/>
                    <a:pt x="54" y="180"/>
                  </a:cubicBezTo>
                  <a:cubicBezTo>
                    <a:pt x="54" y="180"/>
                    <a:pt x="54" y="180"/>
                    <a:pt x="54" y="180"/>
                  </a:cubicBezTo>
                  <a:close/>
                  <a:moveTo>
                    <a:pt x="51" y="90"/>
                  </a:moveTo>
                  <a:cubicBezTo>
                    <a:pt x="42" y="90"/>
                    <a:pt x="34" y="93"/>
                    <a:pt x="27" y="99"/>
                  </a:cubicBezTo>
                  <a:cubicBezTo>
                    <a:pt x="17" y="106"/>
                    <a:pt x="12" y="117"/>
                    <a:pt x="12" y="129"/>
                  </a:cubicBezTo>
                  <a:cubicBezTo>
                    <a:pt x="12" y="140"/>
                    <a:pt x="16" y="149"/>
                    <a:pt x="22" y="156"/>
                  </a:cubicBezTo>
                  <a:cubicBezTo>
                    <a:pt x="34" y="168"/>
                    <a:pt x="53" y="168"/>
                    <a:pt x="54" y="168"/>
                  </a:cubicBezTo>
                  <a:cubicBezTo>
                    <a:pt x="54" y="168"/>
                    <a:pt x="54" y="168"/>
                    <a:pt x="54" y="168"/>
                  </a:cubicBezTo>
                  <a:cubicBezTo>
                    <a:pt x="228" y="168"/>
                    <a:pt x="228" y="168"/>
                    <a:pt x="228" y="168"/>
                  </a:cubicBezTo>
                  <a:cubicBezTo>
                    <a:pt x="233" y="167"/>
                    <a:pt x="276" y="159"/>
                    <a:pt x="276" y="114"/>
                  </a:cubicBezTo>
                  <a:cubicBezTo>
                    <a:pt x="276" y="99"/>
                    <a:pt x="270" y="85"/>
                    <a:pt x="260" y="75"/>
                  </a:cubicBezTo>
                  <a:cubicBezTo>
                    <a:pt x="249" y="65"/>
                    <a:pt x="235" y="59"/>
                    <a:pt x="220" y="60"/>
                  </a:cubicBezTo>
                  <a:cubicBezTo>
                    <a:pt x="218" y="60"/>
                    <a:pt x="216" y="59"/>
                    <a:pt x="215" y="57"/>
                  </a:cubicBezTo>
                  <a:cubicBezTo>
                    <a:pt x="202" y="29"/>
                    <a:pt x="174" y="12"/>
                    <a:pt x="144" y="12"/>
                  </a:cubicBezTo>
                  <a:cubicBezTo>
                    <a:pt x="103" y="12"/>
                    <a:pt x="69" y="44"/>
                    <a:pt x="66" y="85"/>
                  </a:cubicBezTo>
                  <a:cubicBezTo>
                    <a:pt x="66" y="87"/>
                    <a:pt x="66" y="88"/>
                    <a:pt x="64" y="90"/>
                  </a:cubicBezTo>
                  <a:cubicBezTo>
                    <a:pt x="63" y="91"/>
                    <a:pt x="61" y="91"/>
                    <a:pt x="59" y="91"/>
                  </a:cubicBezTo>
                  <a:cubicBezTo>
                    <a:pt x="57" y="90"/>
                    <a:pt x="54" y="90"/>
                    <a:pt x="51" y="90"/>
                  </a:cubicBez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54" name="Freeform 5">
              <a:extLst>
                <a:ext uri="{FF2B5EF4-FFF2-40B4-BE49-F238E27FC236}">
                  <a16:creationId xmlns:a16="http://schemas.microsoft.com/office/drawing/2014/main" id="{541CBF42-A58F-4FCE-C6DD-58F5B5948A75}"/>
                </a:ext>
              </a:extLst>
            </p:cNvPr>
            <p:cNvSpPr>
              <a:spLocks noEditPoints="1"/>
            </p:cNvSpPr>
            <p:nvPr/>
          </p:nvSpPr>
          <p:spPr bwMode="auto">
            <a:xfrm>
              <a:off x="863430" y="1977778"/>
              <a:ext cx="126246" cy="123639"/>
            </a:xfrm>
            <a:custGeom>
              <a:avLst/>
              <a:gdLst>
                <a:gd name="T0" fmla="*/ 60 w 88"/>
                <a:gd name="T1" fmla="*/ 8 h 88"/>
                <a:gd name="T2" fmla="*/ 60 w 88"/>
                <a:gd name="T3" fmla="*/ 29 h 88"/>
                <a:gd name="T4" fmla="*/ 28 w 88"/>
                <a:gd name="T5" fmla="*/ 29 h 88"/>
                <a:gd name="T6" fmla="*/ 28 w 88"/>
                <a:gd name="T7" fmla="*/ 8 h 88"/>
                <a:gd name="T8" fmla="*/ 0 w 88"/>
                <a:gd name="T9" fmla="*/ 8 h 88"/>
                <a:gd name="T10" fmla="*/ 14 w 88"/>
                <a:gd name="T11" fmla="*/ 36 h 88"/>
                <a:gd name="T12" fmla="*/ 41 w 88"/>
                <a:gd name="T13" fmla="*/ 44 h 88"/>
                <a:gd name="T14" fmla="*/ 14 w 88"/>
                <a:gd name="T15" fmla="*/ 52 h 88"/>
                <a:gd name="T16" fmla="*/ 0 w 88"/>
                <a:gd name="T17" fmla="*/ 80 h 88"/>
                <a:gd name="T18" fmla="*/ 28 w 88"/>
                <a:gd name="T19" fmla="*/ 80 h 88"/>
                <a:gd name="T20" fmla="*/ 28 w 88"/>
                <a:gd name="T21" fmla="*/ 59 h 88"/>
                <a:gd name="T22" fmla="*/ 60 w 88"/>
                <a:gd name="T23" fmla="*/ 59 h 88"/>
                <a:gd name="T24" fmla="*/ 60 w 88"/>
                <a:gd name="T25" fmla="*/ 80 h 88"/>
                <a:gd name="T26" fmla="*/ 88 w 88"/>
                <a:gd name="T27" fmla="*/ 80 h 88"/>
                <a:gd name="T28" fmla="*/ 74 w 88"/>
                <a:gd name="T29" fmla="*/ 52 h 88"/>
                <a:gd name="T30" fmla="*/ 47 w 88"/>
                <a:gd name="T31" fmla="*/ 44 h 88"/>
                <a:gd name="T32" fmla="*/ 74 w 88"/>
                <a:gd name="T33" fmla="*/ 36 h 88"/>
                <a:gd name="T34" fmla="*/ 88 w 88"/>
                <a:gd name="T35" fmla="*/ 8 h 88"/>
                <a:gd name="T36" fmla="*/ 4 w 88"/>
                <a:gd name="T37" fmla="*/ 14 h 88"/>
                <a:gd name="T38" fmla="*/ 24 w 88"/>
                <a:gd name="T39" fmla="*/ 14 h 88"/>
                <a:gd name="T40" fmla="*/ 14 w 88"/>
                <a:gd name="T41" fmla="*/ 22 h 88"/>
                <a:gd name="T42" fmla="*/ 4 w 88"/>
                <a:gd name="T43" fmla="*/ 14 h 88"/>
                <a:gd name="T44" fmla="*/ 24 w 88"/>
                <a:gd name="T45" fmla="*/ 8 h 88"/>
                <a:gd name="T46" fmla="*/ 4 w 88"/>
                <a:gd name="T47" fmla="*/ 8 h 88"/>
                <a:gd name="T48" fmla="*/ 14 w 88"/>
                <a:gd name="T49" fmla="*/ 32 h 88"/>
                <a:gd name="T50" fmla="*/ 4 w 88"/>
                <a:gd name="T51" fmla="*/ 24 h 88"/>
                <a:gd name="T52" fmla="*/ 24 w 88"/>
                <a:gd name="T53" fmla="*/ 24 h 88"/>
                <a:gd name="T54" fmla="*/ 14 w 88"/>
                <a:gd name="T55" fmla="*/ 32 h 88"/>
                <a:gd name="T56" fmla="*/ 14 w 88"/>
                <a:gd name="T57" fmla="*/ 74 h 88"/>
                <a:gd name="T58" fmla="*/ 4 w 88"/>
                <a:gd name="T59" fmla="*/ 66 h 88"/>
                <a:gd name="T60" fmla="*/ 24 w 88"/>
                <a:gd name="T61" fmla="*/ 66 h 88"/>
                <a:gd name="T62" fmla="*/ 14 w 88"/>
                <a:gd name="T63" fmla="*/ 56 h 88"/>
                <a:gd name="T64" fmla="*/ 14 w 88"/>
                <a:gd name="T65" fmla="*/ 64 h 88"/>
                <a:gd name="T66" fmla="*/ 14 w 88"/>
                <a:gd name="T67" fmla="*/ 56 h 88"/>
                <a:gd name="T68" fmla="*/ 4 w 88"/>
                <a:gd name="T69" fmla="*/ 80 h 88"/>
                <a:gd name="T70" fmla="*/ 14 w 88"/>
                <a:gd name="T71" fmla="*/ 78 h 88"/>
                <a:gd name="T72" fmla="*/ 24 w 88"/>
                <a:gd name="T73" fmla="*/ 80 h 88"/>
                <a:gd name="T74" fmla="*/ 84 w 88"/>
                <a:gd name="T75" fmla="*/ 70 h 88"/>
                <a:gd name="T76" fmla="*/ 64 w 88"/>
                <a:gd name="T77" fmla="*/ 70 h 88"/>
                <a:gd name="T78" fmla="*/ 74 w 88"/>
                <a:gd name="T79" fmla="*/ 68 h 88"/>
                <a:gd name="T80" fmla="*/ 84 w 88"/>
                <a:gd name="T81" fmla="*/ 70 h 88"/>
                <a:gd name="T82" fmla="*/ 64 w 88"/>
                <a:gd name="T83" fmla="*/ 80 h 88"/>
                <a:gd name="T84" fmla="*/ 74 w 88"/>
                <a:gd name="T85" fmla="*/ 78 h 88"/>
                <a:gd name="T86" fmla="*/ 84 w 88"/>
                <a:gd name="T87" fmla="*/ 80 h 88"/>
                <a:gd name="T88" fmla="*/ 74 w 88"/>
                <a:gd name="T89" fmla="*/ 56 h 88"/>
                <a:gd name="T90" fmla="*/ 74 w 88"/>
                <a:gd name="T91" fmla="*/ 64 h 88"/>
                <a:gd name="T92" fmla="*/ 74 w 88"/>
                <a:gd name="T93" fmla="*/ 56 h 88"/>
                <a:gd name="T94" fmla="*/ 74 w 88"/>
                <a:gd name="T95" fmla="*/ 22 h 88"/>
                <a:gd name="T96" fmla="*/ 64 w 88"/>
                <a:gd name="T97" fmla="*/ 14 h 88"/>
                <a:gd name="T98" fmla="*/ 84 w 88"/>
                <a:gd name="T99" fmla="*/ 14 h 88"/>
                <a:gd name="T100" fmla="*/ 74 w 88"/>
                <a:gd name="T101" fmla="*/ 4 h 88"/>
                <a:gd name="T102" fmla="*/ 74 w 88"/>
                <a:gd name="T103" fmla="*/ 12 h 88"/>
                <a:gd name="T104" fmla="*/ 74 w 88"/>
                <a:gd name="T105" fmla="*/ 4 h 88"/>
                <a:gd name="T106" fmla="*/ 64 w 88"/>
                <a:gd name="T107" fmla="*/ 28 h 88"/>
                <a:gd name="T108" fmla="*/ 74 w 88"/>
                <a:gd name="T109" fmla="*/ 26 h 88"/>
                <a:gd name="T110" fmla="*/ 84 w 88"/>
                <a:gd name="T111" fmla="*/ 28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88" h="88">
                  <a:moveTo>
                    <a:pt x="74" y="0"/>
                  </a:moveTo>
                  <a:cubicBezTo>
                    <a:pt x="66" y="0"/>
                    <a:pt x="60" y="3"/>
                    <a:pt x="60" y="8"/>
                  </a:cubicBezTo>
                  <a:cubicBezTo>
                    <a:pt x="60" y="28"/>
                    <a:pt x="60" y="28"/>
                    <a:pt x="60" y="28"/>
                  </a:cubicBezTo>
                  <a:cubicBezTo>
                    <a:pt x="60" y="28"/>
                    <a:pt x="60" y="29"/>
                    <a:pt x="60" y="29"/>
                  </a:cubicBezTo>
                  <a:cubicBezTo>
                    <a:pt x="44" y="41"/>
                    <a:pt x="44" y="41"/>
                    <a:pt x="44" y="41"/>
                  </a:cubicBezTo>
                  <a:cubicBezTo>
                    <a:pt x="28" y="29"/>
                    <a:pt x="28" y="29"/>
                    <a:pt x="28" y="29"/>
                  </a:cubicBezTo>
                  <a:cubicBezTo>
                    <a:pt x="28" y="29"/>
                    <a:pt x="28" y="28"/>
                    <a:pt x="28" y="28"/>
                  </a:cubicBezTo>
                  <a:cubicBezTo>
                    <a:pt x="28" y="8"/>
                    <a:pt x="28" y="8"/>
                    <a:pt x="28" y="8"/>
                  </a:cubicBezTo>
                  <a:cubicBezTo>
                    <a:pt x="28" y="3"/>
                    <a:pt x="22" y="0"/>
                    <a:pt x="14" y="0"/>
                  </a:cubicBezTo>
                  <a:cubicBezTo>
                    <a:pt x="6" y="0"/>
                    <a:pt x="0" y="3"/>
                    <a:pt x="0" y="8"/>
                  </a:cubicBezTo>
                  <a:cubicBezTo>
                    <a:pt x="0" y="28"/>
                    <a:pt x="0" y="28"/>
                    <a:pt x="0" y="28"/>
                  </a:cubicBezTo>
                  <a:cubicBezTo>
                    <a:pt x="0" y="33"/>
                    <a:pt x="6" y="36"/>
                    <a:pt x="14" y="36"/>
                  </a:cubicBezTo>
                  <a:cubicBezTo>
                    <a:pt x="19" y="36"/>
                    <a:pt x="23" y="35"/>
                    <a:pt x="26" y="32"/>
                  </a:cubicBezTo>
                  <a:cubicBezTo>
                    <a:pt x="41" y="44"/>
                    <a:pt x="41" y="44"/>
                    <a:pt x="41" y="44"/>
                  </a:cubicBezTo>
                  <a:cubicBezTo>
                    <a:pt x="26" y="56"/>
                    <a:pt x="26" y="56"/>
                    <a:pt x="26" y="56"/>
                  </a:cubicBezTo>
                  <a:cubicBezTo>
                    <a:pt x="23" y="53"/>
                    <a:pt x="19" y="52"/>
                    <a:pt x="14" y="52"/>
                  </a:cubicBezTo>
                  <a:cubicBezTo>
                    <a:pt x="6" y="52"/>
                    <a:pt x="0" y="55"/>
                    <a:pt x="0" y="60"/>
                  </a:cubicBezTo>
                  <a:cubicBezTo>
                    <a:pt x="0" y="80"/>
                    <a:pt x="0" y="80"/>
                    <a:pt x="0" y="80"/>
                  </a:cubicBezTo>
                  <a:cubicBezTo>
                    <a:pt x="0" y="85"/>
                    <a:pt x="6" y="88"/>
                    <a:pt x="14" y="88"/>
                  </a:cubicBezTo>
                  <a:cubicBezTo>
                    <a:pt x="22" y="88"/>
                    <a:pt x="28" y="85"/>
                    <a:pt x="28" y="80"/>
                  </a:cubicBezTo>
                  <a:cubicBezTo>
                    <a:pt x="28" y="60"/>
                    <a:pt x="28" y="60"/>
                    <a:pt x="28" y="60"/>
                  </a:cubicBezTo>
                  <a:cubicBezTo>
                    <a:pt x="28" y="60"/>
                    <a:pt x="28" y="59"/>
                    <a:pt x="28" y="59"/>
                  </a:cubicBezTo>
                  <a:cubicBezTo>
                    <a:pt x="44" y="47"/>
                    <a:pt x="44" y="47"/>
                    <a:pt x="44" y="47"/>
                  </a:cubicBezTo>
                  <a:cubicBezTo>
                    <a:pt x="60" y="59"/>
                    <a:pt x="60" y="59"/>
                    <a:pt x="60" y="59"/>
                  </a:cubicBezTo>
                  <a:cubicBezTo>
                    <a:pt x="60" y="59"/>
                    <a:pt x="60" y="60"/>
                    <a:pt x="60" y="60"/>
                  </a:cubicBezTo>
                  <a:cubicBezTo>
                    <a:pt x="60" y="80"/>
                    <a:pt x="60" y="80"/>
                    <a:pt x="60" y="80"/>
                  </a:cubicBezTo>
                  <a:cubicBezTo>
                    <a:pt x="60" y="85"/>
                    <a:pt x="66" y="88"/>
                    <a:pt x="74" y="88"/>
                  </a:cubicBezTo>
                  <a:cubicBezTo>
                    <a:pt x="82" y="88"/>
                    <a:pt x="88" y="85"/>
                    <a:pt x="88" y="80"/>
                  </a:cubicBezTo>
                  <a:cubicBezTo>
                    <a:pt x="88" y="60"/>
                    <a:pt x="88" y="60"/>
                    <a:pt x="88" y="60"/>
                  </a:cubicBezTo>
                  <a:cubicBezTo>
                    <a:pt x="88" y="55"/>
                    <a:pt x="82" y="52"/>
                    <a:pt x="74" y="52"/>
                  </a:cubicBezTo>
                  <a:cubicBezTo>
                    <a:pt x="69" y="52"/>
                    <a:pt x="65" y="53"/>
                    <a:pt x="62" y="56"/>
                  </a:cubicBezTo>
                  <a:cubicBezTo>
                    <a:pt x="47" y="44"/>
                    <a:pt x="47" y="44"/>
                    <a:pt x="47" y="44"/>
                  </a:cubicBezTo>
                  <a:cubicBezTo>
                    <a:pt x="62" y="32"/>
                    <a:pt x="62" y="32"/>
                    <a:pt x="62" y="32"/>
                  </a:cubicBezTo>
                  <a:cubicBezTo>
                    <a:pt x="65" y="35"/>
                    <a:pt x="69" y="36"/>
                    <a:pt x="74" y="36"/>
                  </a:cubicBezTo>
                  <a:cubicBezTo>
                    <a:pt x="82" y="36"/>
                    <a:pt x="88" y="33"/>
                    <a:pt x="88" y="28"/>
                  </a:cubicBezTo>
                  <a:cubicBezTo>
                    <a:pt x="88" y="8"/>
                    <a:pt x="88" y="8"/>
                    <a:pt x="88" y="8"/>
                  </a:cubicBezTo>
                  <a:cubicBezTo>
                    <a:pt x="88" y="3"/>
                    <a:pt x="82" y="0"/>
                    <a:pt x="74" y="0"/>
                  </a:cubicBezTo>
                  <a:close/>
                  <a:moveTo>
                    <a:pt x="4" y="14"/>
                  </a:moveTo>
                  <a:cubicBezTo>
                    <a:pt x="7" y="15"/>
                    <a:pt x="10" y="16"/>
                    <a:pt x="14" y="16"/>
                  </a:cubicBezTo>
                  <a:cubicBezTo>
                    <a:pt x="18" y="16"/>
                    <a:pt x="21" y="15"/>
                    <a:pt x="24" y="14"/>
                  </a:cubicBezTo>
                  <a:cubicBezTo>
                    <a:pt x="24" y="18"/>
                    <a:pt x="24" y="18"/>
                    <a:pt x="24" y="18"/>
                  </a:cubicBezTo>
                  <a:cubicBezTo>
                    <a:pt x="24" y="20"/>
                    <a:pt x="20" y="22"/>
                    <a:pt x="14" y="22"/>
                  </a:cubicBezTo>
                  <a:cubicBezTo>
                    <a:pt x="8" y="22"/>
                    <a:pt x="4" y="20"/>
                    <a:pt x="4" y="18"/>
                  </a:cubicBezTo>
                  <a:lnTo>
                    <a:pt x="4" y="14"/>
                  </a:lnTo>
                  <a:close/>
                  <a:moveTo>
                    <a:pt x="14" y="4"/>
                  </a:moveTo>
                  <a:cubicBezTo>
                    <a:pt x="20" y="4"/>
                    <a:pt x="24" y="6"/>
                    <a:pt x="24" y="8"/>
                  </a:cubicBezTo>
                  <a:cubicBezTo>
                    <a:pt x="24" y="10"/>
                    <a:pt x="20" y="12"/>
                    <a:pt x="14" y="12"/>
                  </a:cubicBezTo>
                  <a:cubicBezTo>
                    <a:pt x="8" y="12"/>
                    <a:pt x="4" y="10"/>
                    <a:pt x="4" y="8"/>
                  </a:cubicBezTo>
                  <a:cubicBezTo>
                    <a:pt x="4" y="6"/>
                    <a:pt x="8" y="4"/>
                    <a:pt x="14" y="4"/>
                  </a:cubicBezTo>
                  <a:close/>
                  <a:moveTo>
                    <a:pt x="14" y="32"/>
                  </a:moveTo>
                  <a:cubicBezTo>
                    <a:pt x="8" y="32"/>
                    <a:pt x="4" y="30"/>
                    <a:pt x="4" y="28"/>
                  </a:cubicBezTo>
                  <a:cubicBezTo>
                    <a:pt x="4" y="24"/>
                    <a:pt x="4" y="24"/>
                    <a:pt x="4" y="24"/>
                  </a:cubicBezTo>
                  <a:cubicBezTo>
                    <a:pt x="7" y="25"/>
                    <a:pt x="10" y="26"/>
                    <a:pt x="14" y="26"/>
                  </a:cubicBezTo>
                  <a:cubicBezTo>
                    <a:pt x="18" y="26"/>
                    <a:pt x="21" y="25"/>
                    <a:pt x="24" y="24"/>
                  </a:cubicBezTo>
                  <a:cubicBezTo>
                    <a:pt x="24" y="28"/>
                    <a:pt x="24" y="28"/>
                    <a:pt x="24" y="28"/>
                  </a:cubicBezTo>
                  <a:cubicBezTo>
                    <a:pt x="24" y="30"/>
                    <a:pt x="20" y="32"/>
                    <a:pt x="14" y="32"/>
                  </a:cubicBezTo>
                  <a:close/>
                  <a:moveTo>
                    <a:pt x="24" y="70"/>
                  </a:moveTo>
                  <a:cubicBezTo>
                    <a:pt x="24" y="72"/>
                    <a:pt x="20" y="74"/>
                    <a:pt x="14" y="74"/>
                  </a:cubicBezTo>
                  <a:cubicBezTo>
                    <a:pt x="8" y="74"/>
                    <a:pt x="4" y="72"/>
                    <a:pt x="4" y="70"/>
                  </a:cubicBezTo>
                  <a:cubicBezTo>
                    <a:pt x="4" y="66"/>
                    <a:pt x="4" y="66"/>
                    <a:pt x="4" y="66"/>
                  </a:cubicBezTo>
                  <a:cubicBezTo>
                    <a:pt x="7" y="67"/>
                    <a:pt x="10" y="68"/>
                    <a:pt x="14" y="68"/>
                  </a:cubicBezTo>
                  <a:cubicBezTo>
                    <a:pt x="18" y="68"/>
                    <a:pt x="21" y="67"/>
                    <a:pt x="24" y="66"/>
                  </a:cubicBezTo>
                  <a:lnTo>
                    <a:pt x="24" y="70"/>
                  </a:lnTo>
                  <a:close/>
                  <a:moveTo>
                    <a:pt x="14" y="56"/>
                  </a:moveTo>
                  <a:cubicBezTo>
                    <a:pt x="20" y="56"/>
                    <a:pt x="24" y="58"/>
                    <a:pt x="24" y="60"/>
                  </a:cubicBezTo>
                  <a:cubicBezTo>
                    <a:pt x="24" y="62"/>
                    <a:pt x="20" y="64"/>
                    <a:pt x="14" y="64"/>
                  </a:cubicBezTo>
                  <a:cubicBezTo>
                    <a:pt x="8" y="64"/>
                    <a:pt x="4" y="62"/>
                    <a:pt x="4" y="60"/>
                  </a:cubicBezTo>
                  <a:cubicBezTo>
                    <a:pt x="4" y="58"/>
                    <a:pt x="8" y="56"/>
                    <a:pt x="14" y="56"/>
                  </a:cubicBezTo>
                  <a:close/>
                  <a:moveTo>
                    <a:pt x="14" y="84"/>
                  </a:moveTo>
                  <a:cubicBezTo>
                    <a:pt x="8" y="84"/>
                    <a:pt x="4" y="82"/>
                    <a:pt x="4" y="80"/>
                  </a:cubicBezTo>
                  <a:cubicBezTo>
                    <a:pt x="4" y="76"/>
                    <a:pt x="4" y="76"/>
                    <a:pt x="4" y="76"/>
                  </a:cubicBezTo>
                  <a:cubicBezTo>
                    <a:pt x="7" y="77"/>
                    <a:pt x="10" y="78"/>
                    <a:pt x="14" y="78"/>
                  </a:cubicBezTo>
                  <a:cubicBezTo>
                    <a:pt x="18" y="78"/>
                    <a:pt x="21" y="77"/>
                    <a:pt x="24" y="76"/>
                  </a:cubicBezTo>
                  <a:cubicBezTo>
                    <a:pt x="24" y="80"/>
                    <a:pt x="24" y="80"/>
                    <a:pt x="24" y="80"/>
                  </a:cubicBezTo>
                  <a:cubicBezTo>
                    <a:pt x="24" y="82"/>
                    <a:pt x="20" y="84"/>
                    <a:pt x="14" y="84"/>
                  </a:cubicBezTo>
                  <a:close/>
                  <a:moveTo>
                    <a:pt x="84" y="70"/>
                  </a:moveTo>
                  <a:cubicBezTo>
                    <a:pt x="84" y="72"/>
                    <a:pt x="80" y="74"/>
                    <a:pt x="74" y="74"/>
                  </a:cubicBezTo>
                  <a:cubicBezTo>
                    <a:pt x="68" y="74"/>
                    <a:pt x="64" y="72"/>
                    <a:pt x="64" y="70"/>
                  </a:cubicBezTo>
                  <a:cubicBezTo>
                    <a:pt x="64" y="66"/>
                    <a:pt x="64" y="66"/>
                    <a:pt x="64" y="66"/>
                  </a:cubicBezTo>
                  <a:cubicBezTo>
                    <a:pt x="67" y="67"/>
                    <a:pt x="70" y="68"/>
                    <a:pt x="74" y="68"/>
                  </a:cubicBezTo>
                  <a:cubicBezTo>
                    <a:pt x="78" y="68"/>
                    <a:pt x="81" y="67"/>
                    <a:pt x="84" y="66"/>
                  </a:cubicBezTo>
                  <a:lnTo>
                    <a:pt x="84" y="70"/>
                  </a:lnTo>
                  <a:close/>
                  <a:moveTo>
                    <a:pt x="74" y="84"/>
                  </a:moveTo>
                  <a:cubicBezTo>
                    <a:pt x="68" y="84"/>
                    <a:pt x="64" y="82"/>
                    <a:pt x="64" y="80"/>
                  </a:cubicBezTo>
                  <a:cubicBezTo>
                    <a:pt x="64" y="76"/>
                    <a:pt x="64" y="76"/>
                    <a:pt x="64" y="76"/>
                  </a:cubicBezTo>
                  <a:cubicBezTo>
                    <a:pt x="67" y="77"/>
                    <a:pt x="70" y="78"/>
                    <a:pt x="74" y="78"/>
                  </a:cubicBezTo>
                  <a:cubicBezTo>
                    <a:pt x="78" y="78"/>
                    <a:pt x="81" y="77"/>
                    <a:pt x="84" y="76"/>
                  </a:cubicBezTo>
                  <a:cubicBezTo>
                    <a:pt x="84" y="80"/>
                    <a:pt x="84" y="80"/>
                    <a:pt x="84" y="80"/>
                  </a:cubicBezTo>
                  <a:cubicBezTo>
                    <a:pt x="84" y="82"/>
                    <a:pt x="80" y="84"/>
                    <a:pt x="74" y="84"/>
                  </a:cubicBezTo>
                  <a:close/>
                  <a:moveTo>
                    <a:pt x="74" y="56"/>
                  </a:moveTo>
                  <a:cubicBezTo>
                    <a:pt x="80" y="56"/>
                    <a:pt x="84" y="58"/>
                    <a:pt x="84" y="60"/>
                  </a:cubicBezTo>
                  <a:cubicBezTo>
                    <a:pt x="84" y="62"/>
                    <a:pt x="80" y="64"/>
                    <a:pt x="74" y="64"/>
                  </a:cubicBezTo>
                  <a:cubicBezTo>
                    <a:pt x="68" y="64"/>
                    <a:pt x="64" y="62"/>
                    <a:pt x="64" y="60"/>
                  </a:cubicBezTo>
                  <a:cubicBezTo>
                    <a:pt x="64" y="58"/>
                    <a:pt x="68" y="56"/>
                    <a:pt x="74" y="56"/>
                  </a:cubicBezTo>
                  <a:close/>
                  <a:moveTo>
                    <a:pt x="84" y="18"/>
                  </a:moveTo>
                  <a:cubicBezTo>
                    <a:pt x="84" y="20"/>
                    <a:pt x="80" y="22"/>
                    <a:pt x="74" y="22"/>
                  </a:cubicBezTo>
                  <a:cubicBezTo>
                    <a:pt x="68" y="22"/>
                    <a:pt x="64" y="20"/>
                    <a:pt x="64" y="18"/>
                  </a:cubicBezTo>
                  <a:cubicBezTo>
                    <a:pt x="64" y="14"/>
                    <a:pt x="64" y="14"/>
                    <a:pt x="64" y="14"/>
                  </a:cubicBezTo>
                  <a:cubicBezTo>
                    <a:pt x="67" y="15"/>
                    <a:pt x="70" y="16"/>
                    <a:pt x="74" y="16"/>
                  </a:cubicBezTo>
                  <a:cubicBezTo>
                    <a:pt x="78" y="16"/>
                    <a:pt x="81" y="15"/>
                    <a:pt x="84" y="14"/>
                  </a:cubicBezTo>
                  <a:lnTo>
                    <a:pt x="84" y="18"/>
                  </a:lnTo>
                  <a:close/>
                  <a:moveTo>
                    <a:pt x="74" y="4"/>
                  </a:moveTo>
                  <a:cubicBezTo>
                    <a:pt x="80" y="4"/>
                    <a:pt x="84" y="6"/>
                    <a:pt x="84" y="8"/>
                  </a:cubicBezTo>
                  <a:cubicBezTo>
                    <a:pt x="84" y="10"/>
                    <a:pt x="80" y="12"/>
                    <a:pt x="74" y="12"/>
                  </a:cubicBezTo>
                  <a:cubicBezTo>
                    <a:pt x="68" y="12"/>
                    <a:pt x="64" y="10"/>
                    <a:pt x="64" y="8"/>
                  </a:cubicBezTo>
                  <a:cubicBezTo>
                    <a:pt x="64" y="6"/>
                    <a:pt x="68" y="4"/>
                    <a:pt x="74" y="4"/>
                  </a:cubicBezTo>
                  <a:close/>
                  <a:moveTo>
                    <a:pt x="74" y="32"/>
                  </a:moveTo>
                  <a:cubicBezTo>
                    <a:pt x="68" y="32"/>
                    <a:pt x="64" y="30"/>
                    <a:pt x="64" y="28"/>
                  </a:cubicBezTo>
                  <a:cubicBezTo>
                    <a:pt x="64" y="24"/>
                    <a:pt x="64" y="24"/>
                    <a:pt x="64" y="24"/>
                  </a:cubicBezTo>
                  <a:cubicBezTo>
                    <a:pt x="67" y="25"/>
                    <a:pt x="70" y="26"/>
                    <a:pt x="74" y="26"/>
                  </a:cubicBezTo>
                  <a:cubicBezTo>
                    <a:pt x="78" y="26"/>
                    <a:pt x="81" y="25"/>
                    <a:pt x="84" y="24"/>
                  </a:cubicBezTo>
                  <a:cubicBezTo>
                    <a:pt x="84" y="28"/>
                    <a:pt x="84" y="28"/>
                    <a:pt x="84" y="28"/>
                  </a:cubicBezTo>
                  <a:cubicBezTo>
                    <a:pt x="84" y="30"/>
                    <a:pt x="80" y="32"/>
                    <a:pt x="74" y="32"/>
                  </a:cubicBez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800" b="0" i="0" u="none" strike="noStrike" kern="0" cap="none" spc="0" normalizeH="0" baseline="0" noProof="0">
                <a:ln>
                  <a:noFill/>
                </a:ln>
                <a:solidFill>
                  <a:srgbClr val="96968C"/>
                </a:solidFill>
                <a:effectLst/>
                <a:uLnTx/>
                <a:uFillTx/>
                <a:latin typeface="Graphik Semibold" panose="020B0703030202060203" pitchFamily="34" charset="0"/>
                <a:ea typeface="+mn-ea"/>
                <a:cs typeface="Arial" charset="0"/>
              </a:endParaRPr>
            </a:p>
          </p:txBody>
        </p:sp>
        <p:grpSp>
          <p:nvGrpSpPr>
            <p:cNvPr id="55" name="Group 67">
              <a:extLst>
                <a:ext uri="{FF2B5EF4-FFF2-40B4-BE49-F238E27FC236}">
                  <a16:creationId xmlns:a16="http://schemas.microsoft.com/office/drawing/2014/main" id="{B72B853C-0506-5E42-3266-607DC56A98CF}"/>
                </a:ext>
              </a:extLst>
            </p:cNvPr>
            <p:cNvGrpSpPr>
              <a:grpSpLocks noChangeAspect="1"/>
            </p:cNvGrpSpPr>
            <p:nvPr/>
          </p:nvGrpSpPr>
          <p:grpSpPr bwMode="auto">
            <a:xfrm>
              <a:off x="863430" y="1684605"/>
              <a:ext cx="126246" cy="123349"/>
              <a:chOff x="1356" y="1721"/>
              <a:chExt cx="427" cy="426"/>
            </a:xfrm>
            <a:solidFill>
              <a:srgbClr val="FFFFFF"/>
            </a:solidFill>
          </p:grpSpPr>
          <p:sp>
            <p:nvSpPr>
              <p:cNvPr id="56" name="Freeform 68">
                <a:extLst>
                  <a:ext uri="{FF2B5EF4-FFF2-40B4-BE49-F238E27FC236}">
                    <a16:creationId xmlns:a16="http://schemas.microsoft.com/office/drawing/2014/main" id="{E30E76B2-755D-AE8E-06EB-6C7B1D62CDF8}"/>
                  </a:ext>
                </a:extLst>
              </p:cNvPr>
              <p:cNvSpPr>
                <a:spLocks noEditPoints="1"/>
              </p:cNvSpPr>
              <p:nvPr/>
            </p:nvSpPr>
            <p:spPr bwMode="auto">
              <a:xfrm>
                <a:off x="1356" y="1721"/>
                <a:ext cx="427" cy="426"/>
              </a:xfrm>
              <a:custGeom>
                <a:avLst/>
                <a:gdLst>
                  <a:gd name="T0" fmla="*/ 126 w 288"/>
                  <a:gd name="T1" fmla="*/ 288 h 288"/>
                  <a:gd name="T2" fmla="*/ 120 w 288"/>
                  <a:gd name="T3" fmla="*/ 247 h 288"/>
                  <a:gd name="T4" fmla="*/ 67 w 288"/>
                  <a:gd name="T5" fmla="*/ 262 h 288"/>
                  <a:gd name="T6" fmla="*/ 25 w 288"/>
                  <a:gd name="T7" fmla="*/ 229 h 288"/>
                  <a:gd name="T8" fmla="*/ 25 w 288"/>
                  <a:gd name="T9" fmla="*/ 220 h 288"/>
                  <a:gd name="T10" fmla="*/ 40 w 288"/>
                  <a:gd name="T11" fmla="*/ 168 h 288"/>
                  <a:gd name="T12" fmla="*/ 0 w 288"/>
                  <a:gd name="T13" fmla="*/ 162 h 288"/>
                  <a:gd name="T14" fmla="*/ 6 w 288"/>
                  <a:gd name="T15" fmla="*/ 120 h 288"/>
                  <a:gd name="T16" fmla="*/ 49 w 288"/>
                  <a:gd name="T17" fmla="*/ 92 h 288"/>
                  <a:gd name="T18" fmla="*/ 23 w 288"/>
                  <a:gd name="T19" fmla="*/ 63 h 288"/>
                  <a:gd name="T20" fmla="*/ 59 w 288"/>
                  <a:gd name="T21" fmla="*/ 25 h 288"/>
                  <a:gd name="T22" fmla="*/ 92 w 288"/>
                  <a:gd name="T23" fmla="*/ 49 h 288"/>
                  <a:gd name="T24" fmla="*/ 120 w 288"/>
                  <a:gd name="T25" fmla="*/ 6 h 288"/>
                  <a:gd name="T26" fmla="*/ 162 w 288"/>
                  <a:gd name="T27" fmla="*/ 0 h 288"/>
                  <a:gd name="T28" fmla="*/ 168 w 288"/>
                  <a:gd name="T29" fmla="*/ 40 h 288"/>
                  <a:gd name="T30" fmla="*/ 220 w 288"/>
                  <a:gd name="T31" fmla="*/ 25 h 288"/>
                  <a:gd name="T32" fmla="*/ 263 w 288"/>
                  <a:gd name="T33" fmla="*/ 59 h 288"/>
                  <a:gd name="T34" fmla="*/ 263 w 288"/>
                  <a:gd name="T35" fmla="*/ 67 h 288"/>
                  <a:gd name="T36" fmla="*/ 248 w 288"/>
                  <a:gd name="T37" fmla="*/ 120 h 288"/>
                  <a:gd name="T38" fmla="*/ 288 w 288"/>
                  <a:gd name="T39" fmla="*/ 126 h 288"/>
                  <a:gd name="T40" fmla="*/ 282 w 288"/>
                  <a:gd name="T41" fmla="*/ 168 h 288"/>
                  <a:gd name="T42" fmla="*/ 238 w 288"/>
                  <a:gd name="T43" fmla="*/ 196 h 288"/>
                  <a:gd name="T44" fmla="*/ 263 w 288"/>
                  <a:gd name="T45" fmla="*/ 229 h 288"/>
                  <a:gd name="T46" fmla="*/ 220 w 288"/>
                  <a:gd name="T47" fmla="*/ 262 h 288"/>
                  <a:gd name="T48" fmla="*/ 168 w 288"/>
                  <a:gd name="T49" fmla="*/ 247 h 288"/>
                  <a:gd name="T50" fmla="*/ 162 w 288"/>
                  <a:gd name="T51" fmla="*/ 288 h 288"/>
                  <a:gd name="T52" fmla="*/ 156 w 288"/>
                  <a:gd name="T53" fmla="*/ 276 h 288"/>
                  <a:gd name="T54" fmla="*/ 160 w 288"/>
                  <a:gd name="T55" fmla="*/ 237 h 288"/>
                  <a:gd name="T56" fmla="*/ 201 w 288"/>
                  <a:gd name="T57" fmla="*/ 226 h 288"/>
                  <a:gd name="T58" fmla="*/ 250 w 288"/>
                  <a:gd name="T59" fmla="*/ 224 h 288"/>
                  <a:gd name="T60" fmla="*/ 226 w 288"/>
                  <a:gd name="T61" fmla="*/ 194 h 288"/>
                  <a:gd name="T62" fmla="*/ 243 w 288"/>
                  <a:gd name="T63" fmla="*/ 156 h 288"/>
                  <a:gd name="T64" fmla="*/ 276 w 288"/>
                  <a:gd name="T65" fmla="*/ 132 h 288"/>
                  <a:gd name="T66" fmla="*/ 237 w 288"/>
                  <a:gd name="T67" fmla="*/ 127 h 288"/>
                  <a:gd name="T68" fmla="*/ 227 w 288"/>
                  <a:gd name="T69" fmla="*/ 86 h 288"/>
                  <a:gd name="T70" fmla="*/ 224 w 288"/>
                  <a:gd name="T71" fmla="*/ 38 h 288"/>
                  <a:gd name="T72" fmla="*/ 194 w 288"/>
                  <a:gd name="T73" fmla="*/ 62 h 288"/>
                  <a:gd name="T74" fmla="*/ 156 w 288"/>
                  <a:gd name="T75" fmla="*/ 45 h 288"/>
                  <a:gd name="T76" fmla="*/ 132 w 288"/>
                  <a:gd name="T77" fmla="*/ 12 h 288"/>
                  <a:gd name="T78" fmla="*/ 127 w 288"/>
                  <a:gd name="T79" fmla="*/ 50 h 288"/>
                  <a:gd name="T80" fmla="*/ 87 w 288"/>
                  <a:gd name="T81" fmla="*/ 61 h 288"/>
                  <a:gd name="T82" fmla="*/ 38 w 288"/>
                  <a:gd name="T83" fmla="*/ 63 h 288"/>
                  <a:gd name="T84" fmla="*/ 62 w 288"/>
                  <a:gd name="T85" fmla="*/ 94 h 288"/>
                  <a:gd name="T86" fmla="*/ 45 w 288"/>
                  <a:gd name="T87" fmla="*/ 132 h 288"/>
                  <a:gd name="T88" fmla="*/ 12 w 288"/>
                  <a:gd name="T89" fmla="*/ 156 h 288"/>
                  <a:gd name="T90" fmla="*/ 51 w 288"/>
                  <a:gd name="T91" fmla="*/ 160 h 288"/>
                  <a:gd name="T92" fmla="*/ 61 w 288"/>
                  <a:gd name="T93" fmla="*/ 201 h 288"/>
                  <a:gd name="T94" fmla="*/ 63 w 288"/>
                  <a:gd name="T95" fmla="*/ 250 h 288"/>
                  <a:gd name="T96" fmla="*/ 94 w 288"/>
                  <a:gd name="T97" fmla="*/ 226 h 288"/>
                  <a:gd name="T98" fmla="*/ 132 w 288"/>
                  <a:gd name="T99" fmla="*/ 243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88" h="288">
                    <a:moveTo>
                      <a:pt x="162" y="288"/>
                    </a:moveTo>
                    <a:cubicBezTo>
                      <a:pt x="126" y="288"/>
                      <a:pt x="126" y="288"/>
                      <a:pt x="126" y="288"/>
                    </a:cubicBezTo>
                    <a:cubicBezTo>
                      <a:pt x="123" y="288"/>
                      <a:pt x="120" y="285"/>
                      <a:pt x="120" y="282"/>
                    </a:cubicBezTo>
                    <a:cubicBezTo>
                      <a:pt x="120" y="247"/>
                      <a:pt x="120" y="247"/>
                      <a:pt x="120" y="247"/>
                    </a:cubicBezTo>
                    <a:cubicBezTo>
                      <a:pt x="110" y="245"/>
                      <a:pt x="100" y="242"/>
                      <a:pt x="92" y="238"/>
                    </a:cubicBezTo>
                    <a:cubicBezTo>
                      <a:pt x="67" y="262"/>
                      <a:pt x="67" y="262"/>
                      <a:pt x="67" y="262"/>
                    </a:cubicBezTo>
                    <a:cubicBezTo>
                      <a:pt x="65" y="265"/>
                      <a:pt x="61" y="265"/>
                      <a:pt x="59" y="262"/>
                    </a:cubicBezTo>
                    <a:cubicBezTo>
                      <a:pt x="25" y="229"/>
                      <a:pt x="25" y="229"/>
                      <a:pt x="25" y="229"/>
                    </a:cubicBezTo>
                    <a:cubicBezTo>
                      <a:pt x="24" y="227"/>
                      <a:pt x="23" y="226"/>
                      <a:pt x="23" y="224"/>
                    </a:cubicBezTo>
                    <a:cubicBezTo>
                      <a:pt x="23" y="223"/>
                      <a:pt x="24" y="221"/>
                      <a:pt x="25" y="220"/>
                    </a:cubicBezTo>
                    <a:cubicBezTo>
                      <a:pt x="49" y="196"/>
                      <a:pt x="49" y="196"/>
                      <a:pt x="49" y="196"/>
                    </a:cubicBezTo>
                    <a:cubicBezTo>
                      <a:pt x="46" y="188"/>
                      <a:pt x="43" y="177"/>
                      <a:pt x="40" y="168"/>
                    </a:cubicBezTo>
                    <a:cubicBezTo>
                      <a:pt x="6" y="168"/>
                      <a:pt x="6" y="168"/>
                      <a:pt x="6" y="168"/>
                    </a:cubicBezTo>
                    <a:cubicBezTo>
                      <a:pt x="3" y="168"/>
                      <a:pt x="0" y="165"/>
                      <a:pt x="0" y="162"/>
                    </a:cubicBezTo>
                    <a:cubicBezTo>
                      <a:pt x="0" y="126"/>
                      <a:pt x="0" y="126"/>
                      <a:pt x="0" y="126"/>
                    </a:cubicBezTo>
                    <a:cubicBezTo>
                      <a:pt x="0" y="122"/>
                      <a:pt x="3" y="120"/>
                      <a:pt x="6" y="120"/>
                    </a:cubicBezTo>
                    <a:cubicBezTo>
                      <a:pt x="40" y="120"/>
                      <a:pt x="40" y="120"/>
                      <a:pt x="40" y="120"/>
                    </a:cubicBezTo>
                    <a:cubicBezTo>
                      <a:pt x="43" y="110"/>
                      <a:pt x="46" y="100"/>
                      <a:pt x="49" y="92"/>
                    </a:cubicBezTo>
                    <a:cubicBezTo>
                      <a:pt x="25" y="67"/>
                      <a:pt x="25" y="67"/>
                      <a:pt x="25" y="67"/>
                    </a:cubicBezTo>
                    <a:cubicBezTo>
                      <a:pt x="24" y="66"/>
                      <a:pt x="23" y="65"/>
                      <a:pt x="23" y="63"/>
                    </a:cubicBezTo>
                    <a:cubicBezTo>
                      <a:pt x="23" y="61"/>
                      <a:pt x="24" y="60"/>
                      <a:pt x="25" y="59"/>
                    </a:cubicBezTo>
                    <a:cubicBezTo>
                      <a:pt x="59" y="25"/>
                      <a:pt x="59" y="25"/>
                      <a:pt x="59" y="25"/>
                    </a:cubicBezTo>
                    <a:cubicBezTo>
                      <a:pt x="61" y="23"/>
                      <a:pt x="65" y="23"/>
                      <a:pt x="67" y="25"/>
                    </a:cubicBezTo>
                    <a:cubicBezTo>
                      <a:pt x="92" y="49"/>
                      <a:pt x="92" y="49"/>
                      <a:pt x="92" y="49"/>
                    </a:cubicBezTo>
                    <a:cubicBezTo>
                      <a:pt x="100" y="45"/>
                      <a:pt x="110" y="42"/>
                      <a:pt x="120" y="40"/>
                    </a:cubicBezTo>
                    <a:cubicBezTo>
                      <a:pt x="120" y="6"/>
                      <a:pt x="120" y="6"/>
                      <a:pt x="120" y="6"/>
                    </a:cubicBezTo>
                    <a:cubicBezTo>
                      <a:pt x="120" y="2"/>
                      <a:pt x="123" y="0"/>
                      <a:pt x="126" y="0"/>
                    </a:cubicBezTo>
                    <a:cubicBezTo>
                      <a:pt x="162" y="0"/>
                      <a:pt x="162" y="0"/>
                      <a:pt x="162" y="0"/>
                    </a:cubicBezTo>
                    <a:cubicBezTo>
                      <a:pt x="165" y="0"/>
                      <a:pt x="168" y="2"/>
                      <a:pt x="168" y="6"/>
                    </a:cubicBezTo>
                    <a:cubicBezTo>
                      <a:pt x="168" y="40"/>
                      <a:pt x="168" y="40"/>
                      <a:pt x="168" y="40"/>
                    </a:cubicBezTo>
                    <a:cubicBezTo>
                      <a:pt x="177" y="42"/>
                      <a:pt x="188" y="45"/>
                      <a:pt x="196" y="49"/>
                    </a:cubicBezTo>
                    <a:cubicBezTo>
                      <a:pt x="220" y="25"/>
                      <a:pt x="220" y="25"/>
                      <a:pt x="220" y="25"/>
                    </a:cubicBezTo>
                    <a:cubicBezTo>
                      <a:pt x="223" y="23"/>
                      <a:pt x="226" y="23"/>
                      <a:pt x="229" y="25"/>
                    </a:cubicBezTo>
                    <a:cubicBezTo>
                      <a:pt x="263" y="59"/>
                      <a:pt x="263" y="59"/>
                      <a:pt x="263" y="59"/>
                    </a:cubicBezTo>
                    <a:cubicBezTo>
                      <a:pt x="264" y="60"/>
                      <a:pt x="264" y="61"/>
                      <a:pt x="264" y="63"/>
                    </a:cubicBezTo>
                    <a:cubicBezTo>
                      <a:pt x="264" y="65"/>
                      <a:pt x="264" y="66"/>
                      <a:pt x="263" y="67"/>
                    </a:cubicBezTo>
                    <a:cubicBezTo>
                      <a:pt x="238" y="92"/>
                      <a:pt x="238" y="92"/>
                      <a:pt x="238" y="92"/>
                    </a:cubicBezTo>
                    <a:cubicBezTo>
                      <a:pt x="242" y="100"/>
                      <a:pt x="245" y="110"/>
                      <a:pt x="248" y="120"/>
                    </a:cubicBezTo>
                    <a:cubicBezTo>
                      <a:pt x="282" y="120"/>
                      <a:pt x="282" y="120"/>
                      <a:pt x="282" y="120"/>
                    </a:cubicBezTo>
                    <a:cubicBezTo>
                      <a:pt x="285" y="120"/>
                      <a:pt x="288" y="122"/>
                      <a:pt x="288" y="126"/>
                    </a:cubicBezTo>
                    <a:cubicBezTo>
                      <a:pt x="288" y="162"/>
                      <a:pt x="288" y="162"/>
                      <a:pt x="288" y="162"/>
                    </a:cubicBezTo>
                    <a:cubicBezTo>
                      <a:pt x="288" y="165"/>
                      <a:pt x="285" y="168"/>
                      <a:pt x="282" y="168"/>
                    </a:cubicBezTo>
                    <a:cubicBezTo>
                      <a:pt x="248" y="168"/>
                      <a:pt x="248" y="168"/>
                      <a:pt x="248" y="168"/>
                    </a:cubicBezTo>
                    <a:cubicBezTo>
                      <a:pt x="245" y="177"/>
                      <a:pt x="242" y="188"/>
                      <a:pt x="238" y="196"/>
                    </a:cubicBezTo>
                    <a:cubicBezTo>
                      <a:pt x="263" y="220"/>
                      <a:pt x="263" y="220"/>
                      <a:pt x="263" y="220"/>
                    </a:cubicBezTo>
                    <a:cubicBezTo>
                      <a:pt x="265" y="222"/>
                      <a:pt x="265" y="226"/>
                      <a:pt x="263" y="229"/>
                    </a:cubicBezTo>
                    <a:cubicBezTo>
                      <a:pt x="229" y="262"/>
                      <a:pt x="229" y="262"/>
                      <a:pt x="229" y="262"/>
                    </a:cubicBezTo>
                    <a:cubicBezTo>
                      <a:pt x="226" y="265"/>
                      <a:pt x="223" y="265"/>
                      <a:pt x="220" y="262"/>
                    </a:cubicBezTo>
                    <a:cubicBezTo>
                      <a:pt x="196" y="238"/>
                      <a:pt x="196" y="238"/>
                      <a:pt x="196" y="238"/>
                    </a:cubicBezTo>
                    <a:cubicBezTo>
                      <a:pt x="188" y="242"/>
                      <a:pt x="177" y="245"/>
                      <a:pt x="168" y="247"/>
                    </a:cubicBezTo>
                    <a:cubicBezTo>
                      <a:pt x="168" y="282"/>
                      <a:pt x="168" y="282"/>
                      <a:pt x="168" y="282"/>
                    </a:cubicBezTo>
                    <a:cubicBezTo>
                      <a:pt x="168" y="285"/>
                      <a:pt x="165" y="288"/>
                      <a:pt x="162" y="288"/>
                    </a:cubicBezTo>
                    <a:close/>
                    <a:moveTo>
                      <a:pt x="132" y="276"/>
                    </a:moveTo>
                    <a:cubicBezTo>
                      <a:pt x="156" y="276"/>
                      <a:pt x="156" y="276"/>
                      <a:pt x="156" y="276"/>
                    </a:cubicBezTo>
                    <a:cubicBezTo>
                      <a:pt x="156" y="243"/>
                      <a:pt x="156" y="243"/>
                      <a:pt x="156" y="243"/>
                    </a:cubicBezTo>
                    <a:cubicBezTo>
                      <a:pt x="156" y="240"/>
                      <a:pt x="158" y="238"/>
                      <a:pt x="160" y="237"/>
                    </a:cubicBezTo>
                    <a:cubicBezTo>
                      <a:pt x="167" y="235"/>
                      <a:pt x="185" y="231"/>
                      <a:pt x="194" y="226"/>
                    </a:cubicBezTo>
                    <a:cubicBezTo>
                      <a:pt x="196" y="224"/>
                      <a:pt x="199" y="224"/>
                      <a:pt x="201" y="226"/>
                    </a:cubicBezTo>
                    <a:cubicBezTo>
                      <a:pt x="224" y="250"/>
                      <a:pt x="224" y="250"/>
                      <a:pt x="224" y="250"/>
                    </a:cubicBezTo>
                    <a:cubicBezTo>
                      <a:pt x="250" y="224"/>
                      <a:pt x="250" y="224"/>
                      <a:pt x="250" y="224"/>
                    </a:cubicBezTo>
                    <a:cubicBezTo>
                      <a:pt x="227" y="201"/>
                      <a:pt x="227" y="201"/>
                      <a:pt x="227" y="201"/>
                    </a:cubicBezTo>
                    <a:cubicBezTo>
                      <a:pt x="225" y="199"/>
                      <a:pt x="224" y="196"/>
                      <a:pt x="226" y="194"/>
                    </a:cubicBezTo>
                    <a:cubicBezTo>
                      <a:pt x="231" y="185"/>
                      <a:pt x="235" y="167"/>
                      <a:pt x="237" y="160"/>
                    </a:cubicBezTo>
                    <a:cubicBezTo>
                      <a:pt x="238" y="158"/>
                      <a:pt x="240" y="156"/>
                      <a:pt x="243" y="156"/>
                    </a:cubicBezTo>
                    <a:cubicBezTo>
                      <a:pt x="276" y="156"/>
                      <a:pt x="276" y="156"/>
                      <a:pt x="276" y="156"/>
                    </a:cubicBezTo>
                    <a:cubicBezTo>
                      <a:pt x="276" y="132"/>
                      <a:pt x="276" y="132"/>
                      <a:pt x="276" y="132"/>
                    </a:cubicBezTo>
                    <a:cubicBezTo>
                      <a:pt x="243" y="132"/>
                      <a:pt x="243" y="132"/>
                      <a:pt x="243" y="132"/>
                    </a:cubicBezTo>
                    <a:cubicBezTo>
                      <a:pt x="240" y="132"/>
                      <a:pt x="238" y="130"/>
                      <a:pt x="237" y="127"/>
                    </a:cubicBezTo>
                    <a:cubicBezTo>
                      <a:pt x="235" y="120"/>
                      <a:pt x="231" y="103"/>
                      <a:pt x="226" y="94"/>
                    </a:cubicBezTo>
                    <a:cubicBezTo>
                      <a:pt x="224" y="91"/>
                      <a:pt x="225" y="88"/>
                      <a:pt x="227" y="86"/>
                    </a:cubicBezTo>
                    <a:cubicBezTo>
                      <a:pt x="250" y="63"/>
                      <a:pt x="250" y="63"/>
                      <a:pt x="250" y="63"/>
                    </a:cubicBezTo>
                    <a:cubicBezTo>
                      <a:pt x="224" y="38"/>
                      <a:pt x="224" y="38"/>
                      <a:pt x="224" y="38"/>
                    </a:cubicBezTo>
                    <a:cubicBezTo>
                      <a:pt x="201" y="61"/>
                      <a:pt x="201" y="61"/>
                      <a:pt x="201" y="61"/>
                    </a:cubicBezTo>
                    <a:cubicBezTo>
                      <a:pt x="199" y="63"/>
                      <a:pt x="196" y="63"/>
                      <a:pt x="194" y="62"/>
                    </a:cubicBezTo>
                    <a:cubicBezTo>
                      <a:pt x="186" y="57"/>
                      <a:pt x="171" y="53"/>
                      <a:pt x="160" y="50"/>
                    </a:cubicBezTo>
                    <a:cubicBezTo>
                      <a:pt x="158" y="50"/>
                      <a:pt x="156" y="47"/>
                      <a:pt x="156" y="45"/>
                    </a:cubicBezTo>
                    <a:cubicBezTo>
                      <a:pt x="156" y="12"/>
                      <a:pt x="156" y="12"/>
                      <a:pt x="156" y="12"/>
                    </a:cubicBezTo>
                    <a:cubicBezTo>
                      <a:pt x="132" y="12"/>
                      <a:pt x="132" y="12"/>
                      <a:pt x="132" y="12"/>
                    </a:cubicBezTo>
                    <a:cubicBezTo>
                      <a:pt x="132" y="45"/>
                      <a:pt x="132" y="45"/>
                      <a:pt x="132" y="45"/>
                    </a:cubicBezTo>
                    <a:cubicBezTo>
                      <a:pt x="132" y="47"/>
                      <a:pt x="130" y="50"/>
                      <a:pt x="127" y="50"/>
                    </a:cubicBezTo>
                    <a:cubicBezTo>
                      <a:pt x="117" y="53"/>
                      <a:pt x="102" y="57"/>
                      <a:pt x="94" y="62"/>
                    </a:cubicBezTo>
                    <a:cubicBezTo>
                      <a:pt x="92" y="63"/>
                      <a:pt x="89" y="63"/>
                      <a:pt x="87" y="61"/>
                    </a:cubicBezTo>
                    <a:cubicBezTo>
                      <a:pt x="63" y="38"/>
                      <a:pt x="63" y="38"/>
                      <a:pt x="63" y="38"/>
                    </a:cubicBezTo>
                    <a:cubicBezTo>
                      <a:pt x="38" y="63"/>
                      <a:pt x="38" y="63"/>
                      <a:pt x="38" y="63"/>
                    </a:cubicBezTo>
                    <a:cubicBezTo>
                      <a:pt x="61" y="86"/>
                      <a:pt x="61" y="86"/>
                      <a:pt x="61" y="86"/>
                    </a:cubicBezTo>
                    <a:cubicBezTo>
                      <a:pt x="63" y="88"/>
                      <a:pt x="63" y="91"/>
                      <a:pt x="62" y="94"/>
                    </a:cubicBezTo>
                    <a:cubicBezTo>
                      <a:pt x="57" y="103"/>
                      <a:pt x="52" y="120"/>
                      <a:pt x="51" y="127"/>
                    </a:cubicBezTo>
                    <a:cubicBezTo>
                      <a:pt x="50" y="130"/>
                      <a:pt x="48" y="132"/>
                      <a:pt x="45" y="132"/>
                    </a:cubicBezTo>
                    <a:cubicBezTo>
                      <a:pt x="12" y="132"/>
                      <a:pt x="12" y="132"/>
                      <a:pt x="12" y="132"/>
                    </a:cubicBezTo>
                    <a:cubicBezTo>
                      <a:pt x="12" y="156"/>
                      <a:pt x="12" y="156"/>
                      <a:pt x="12" y="156"/>
                    </a:cubicBezTo>
                    <a:cubicBezTo>
                      <a:pt x="45" y="156"/>
                      <a:pt x="45" y="156"/>
                      <a:pt x="45" y="156"/>
                    </a:cubicBezTo>
                    <a:cubicBezTo>
                      <a:pt x="48" y="156"/>
                      <a:pt x="50" y="158"/>
                      <a:pt x="51" y="160"/>
                    </a:cubicBezTo>
                    <a:cubicBezTo>
                      <a:pt x="52" y="167"/>
                      <a:pt x="57" y="185"/>
                      <a:pt x="62" y="194"/>
                    </a:cubicBezTo>
                    <a:cubicBezTo>
                      <a:pt x="63" y="196"/>
                      <a:pt x="63" y="199"/>
                      <a:pt x="61" y="201"/>
                    </a:cubicBezTo>
                    <a:cubicBezTo>
                      <a:pt x="38" y="224"/>
                      <a:pt x="38" y="224"/>
                      <a:pt x="38" y="224"/>
                    </a:cubicBezTo>
                    <a:cubicBezTo>
                      <a:pt x="63" y="250"/>
                      <a:pt x="63" y="250"/>
                      <a:pt x="63" y="250"/>
                    </a:cubicBezTo>
                    <a:cubicBezTo>
                      <a:pt x="87" y="226"/>
                      <a:pt x="87" y="226"/>
                      <a:pt x="87" y="226"/>
                    </a:cubicBezTo>
                    <a:cubicBezTo>
                      <a:pt x="88" y="224"/>
                      <a:pt x="92" y="224"/>
                      <a:pt x="94" y="226"/>
                    </a:cubicBezTo>
                    <a:cubicBezTo>
                      <a:pt x="103" y="231"/>
                      <a:pt x="121" y="235"/>
                      <a:pt x="127" y="237"/>
                    </a:cubicBezTo>
                    <a:cubicBezTo>
                      <a:pt x="130" y="238"/>
                      <a:pt x="132" y="240"/>
                      <a:pt x="132" y="243"/>
                    </a:cubicBezTo>
                    <a:lnTo>
                      <a:pt x="132" y="27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57" name="Freeform 69">
                <a:extLst>
                  <a:ext uri="{FF2B5EF4-FFF2-40B4-BE49-F238E27FC236}">
                    <a16:creationId xmlns:a16="http://schemas.microsoft.com/office/drawing/2014/main" id="{11B71CDE-A997-2708-8742-7FFB0F94F826}"/>
                  </a:ext>
                </a:extLst>
              </p:cNvPr>
              <p:cNvSpPr>
                <a:spLocks noEditPoints="1"/>
              </p:cNvSpPr>
              <p:nvPr/>
            </p:nvSpPr>
            <p:spPr bwMode="auto">
              <a:xfrm>
                <a:off x="1454" y="1819"/>
                <a:ext cx="231" cy="230"/>
              </a:xfrm>
              <a:custGeom>
                <a:avLst/>
                <a:gdLst>
                  <a:gd name="T0" fmla="*/ 78 w 156"/>
                  <a:gd name="T1" fmla="*/ 156 h 156"/>
                  <a:gd name="T2" fmla="*/ 0 w 156"/>
                  <a:gd name="T3" fmla="*/ 78 h 156"/>
                  <a:gd name="T4" fmla="*/ 78 w 156"/>
                  <a:gd name="T5" fmla="*/ 0 h 156"/>
                  <a:gd name="T6" fmla="*/ 156 w 156"/>
                  <a:gd name="T7" fmla="*/ 78 h 156"/>
                  <a:gd name="T8" fmla="*/ 78 w 156"/>
                  <a:gd name="T9" fmla="*/ 156 h 156"/>
                  <a:gd name="T10" fmla="*/ 78 w 156"/>
                  <a:gd name="T11" fmla="*/ 12 h 156"/>
                  <a:gd name="T12" fmla="*/ 12 w 156"/>
                  <a:gd name="T13" fmla="*/ 78 h 156"/>
                  <a:gd name="T14" fmla="*/ 78 w 156"/>
                  <a:gd name="T15" fmla="*/ 144 h 156"/>
                  <a:gd name="T16" fmla="*/ 144 w 156"/>
                  <a:gd name="T17" fmla="*/ 78 h 156"/>
                  <a:gd name="T18" fmla="*/ 78 w 156"/>
                  <a:gd name="T19" fmla="*/ 12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6" h="156">
                    <a:moveTo>
                      <a:pt x="78" y="156"/>
                    </a:moveTo>
                    <a:cubicBezTo>
                      <a:pt x="35" y="156"/>
                      <a:pt x="0" y="121"/>
                      <a:pt x="0" y="78"/>
                    </a:cubicBezTo>
                    <a:cubicBezTo>
                      <a:pt x="0" y="35"/>
                      <a:pt x="35" y="0"/>
                      <a:pt x="78" y="0"/>
                    </a:cubicBezTo>
                    <a:cubicBezTo>
                      <a:pt x="121" y="0"/>
                      <a:pt x="156" y="35"/>
                      <a:pt x="156" y="78"/>
                    </a:cubicBezTo>
                    <a:cubicBezTo>
                      <a:pt x="156" y="121"/>
                      <a:pt x="121" y="156"/>
                      <a:pt x="78" y="156"/>
                    </a:cubicBezTo>
                    <a:close/>
                    <a:moveTo>
                      <a:pt x="78" y="12"/>
                    </a:moveTo>
                    <a:cubicBezTo>
                      <a:pt x="41" y="12"/>
                      <a:pt x="12" y="41"/>
                      <a:pt x="12" y="78"/>
                    </a:cubicBezTo>
                    <a:cubicBezTo>
                      <a:pt x="12" y="114"/>
                      <a:pt x="41" y="144"/>
                      <a:pt x="78" y="144"/>
                    </a:cubicBezTo>
                    <a:cubicBezTo>
                      <a:pt x="114" y="144"/>
                      <a:pt x="144" y="114"/>
                      <a:pt x="144" y="78"/>
                    </a:cubicBezTo>
                    <a:cubicBezTo>
                      <a:pt x="144" y="41"/>
                      <a:pt x="114" y="12"/>
                      <a:pt x="7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58" name="Freeform 70">
                <a:extLst>
                  <a:ext uri="{FF2B5EF4-FFF2-40B4-BE49-F238E27FC236}">
                    <a16:creationId xmlns:a16="http://schemas.microsoft.com/office/drawing/2014/main" id="{1D48A89F-4F45-1BD2-0141-1DCBC74D920D}"/>
                  </a:ext>
                </a:extLst>
              </p:cNvPr>
              <p:cNvSpPr>
                <a:spLocks noEditPoints="1"/>
              </p:cNvSpPr>
              <p:nvPr/>
            </p:nvSpPr>
            <p:spPr bwMode="auto">
              <a:xfrm>
                <a:off x="1534" y="1872"/>
                <a:ext cx="98" cy="124"/>
              </a:xfrm>
              <a:custGeom>
                <a:avLst/>
                <a:gdLst>
                  <a:gd name="T0" fmla="*/ 6 w 66"/>
                  <a:gd name="T1" fmla="*/ 84 h 84"/>
                  <a:gd name="T2" fmla="*/ 3 w 66"/>
                  <a:gd name="T3" fmla="*/ 83 h 84"/>
                  <a:gd name="T4" fmla="*/ 0 w 66"/>
                  <a:gd name="T5" fmla="*/ 78 h 84"/>
                  <a:gd name="T6" fmla="*/ 0 w 66"/>
                  <a:gd name="T7" fmla="*/ 6 h 84"/>
                  <a:gd name="T8" fmla="*/ 3 w 66"/>
                  <a:gd name="T9" fmla="*/ 1 h 84"/>
                  <a:gd name="T10" fmla="*/ 9 w 66"/>
                  <a:gd name="T11" fmla="*/ 1 h 84"/>
                  <a:gd name="T12" fmla="*/ 63 w 66"/>
                  <a:gd name="T13" fmla="*/ 37 h 84"/>
                  <a:gd name="T14" fmla="*/ 66 w 66"/>
                  <a:gd name="T15" fmla="*/ 42 h 84"/>
                  <a:gd name="T16" fmla="*/ 63 w 66"/>
                  <a:gd name="T17" fmla="*/ 47 h 84"/>
                  <a:gd name="T18" fmla="*/ 9 w 66"/>
                  <a:gd name="T19" fmla="*/ 83 h 84"/>
                  <a:gd name="T20" fmla="*/ 6 w 66"/>
                  <a:gd name="T21" fmla="*/ 84 h 84"/>
                  <a:gd name="T22" fmla="*/ 12 w 66"/>
                  <a:gd name="T23" fmla="*/ 17 h 84"/>
                  <a:gd name="T24" fmla="*/ 12 w 66"/>
                  <a:gd name="T25" fmla="*/ 66 h 84"/>
                  <a:gd name="T26" fmla="*/ 49 w 66"/>
                  <a:gd name="T27" fmla="*/ 42 h 84"/>
                  <a:gd name="T28" fmla="*/ 12 w 66"/>
                  <a:gd name="T29" fmla="*/ 17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6" h="84">
                    <a:moveTo>
                      <a:pt x="6" y="84"/>
                    </a:moveTo>
                    <a:cubicBezTo>
                      <a:pt x="5" y="84"/>
                      <a:pt x="4" y="83"/>
                      <a:pt x="3" y="83"/>
                    </a:cubicBezTo>
                    <a:cubicBezTo>
                      <a:pt x="1" y="82"/>
                      <a:pt x="0" y="80"/>
                      <a:pt x="0" y="78"/>
                    </a:cubicBezTo>
                    <a:cubicBezTo>
                      <a:pt x="0" y="6"/>
                      <a:pt x="0" y="6"/>
                      <a:pt x="0" y="6"/>
                    </a:cubicBezTo>
                    <a:cubicBezTo>
                      <a:pt x="0" y="4"/>
                      <a:pt x="1" y="2"/>
                      <a:pt x="3" y="1"/>
                    </a:cubicBezTo>
                    <a:cubicBezTo>
                      <a:pt x="5" y="0"/>
                      <a:pt x="7" y="0"/>
                      <a:pt x="9" y="1"/>
                    </a:cubicBezTo>
                    <a:cubicBezTo>
                      <a:pt x="63" y="37"/>
                      <a:pt x="63" y="37"/>
                      <a:pt x="63" y="37"/>
                    </a:cubicBezTo>
                    <a:cubicBezTo>
                      <a:pt x="65" y="38"/>
                      <a:pt x="66" y="40"/>
                      <a:pt x="66" y="42"/>
                    </a:cubicBezTo>
                    <a:cubicBezTo>
                      <a:pt x="66" y="44"/>
                      <a:pt x="65" y="46"/>
                      <a:pt x="63" y="47"/>
                    </a:cubicBezTo>
                    <a:cubicBezTo>
                      <a:pt x="9" y="83"/>
                      <a:pt x="9" y="83"/>
                      <a:pt x="9" y="83"/>
                    </a:cubicBezTo>
                    <a:cubicBezTo>
                      <a:pt x="8" y="83"/>
                      <a:pt x="7" y="84"/>
                      <a:pt x="6" y="84"/>
                    </a:cubicBezTo>
                    <a:close/>
                    <a:moveTo>
                      <a:pt x="12" y="17"/>
                    </a:moveTo>
                    <a:cubicBezTo>
                      <a:pt x="12" y="66"/>
                      <a:pt x="12" y="66"/>
                      <a:pt x="12" y="66"/>
                    </a:cubicBezTo>
                    <a:cubicBezTo>
                      <a:pt x="49" y="42"/>
                      <a:pt x="49" y="42"/>
                      <a:pt x="49" y="42"/>
                    </a:cubicBezTo>
                    <a:lnTo>
                      <a:pt x="12" y="1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grpSp>
      </p:grpSp>
      <p:grpSp>
        <p:nvGrpSpPr>
          <p:cNvPr id="13" name="Group 12">
            <a:extLst>
              <a:ext uri="{FF2B5EF4-FFF2-40B4-BE49-F238E27FC236}">
                <a16:creationId xmlns:a16="http://schemas.microsoft.com/office/drawing/2014/main" id="{FC263745-1886-DAE9-A9E1-F1A79772AB27}"/>
              </a:ext>
            </a:extLst>
          </p:cNvPr>
          <p:cNvGrpSpPr/>
          <p:nvPr/>
        </p:nvGrpSpPr>
        <p:grpSpPr>
          <a:xfrm>
            <a:off x="381000" y="2838763"/>
            <a:ext cx="2388481" cy="1581473"/>
            <a:chOff x="381001" y="1022926"/>
            <a:chExt cx="2388481" cy="1581473"/>
          </a:xfrm>
        </p:grpSpPr>
        <p:grpSp>
          <p:nvGrpSpPr>
            <p:cNvPr id="14" name="Group 13">
              <a:extLst>
                <a:ext uri="{FF2B5EF4-FFF2-40B4-BE49-F238E27FC236}">
                  <a16:creationId xmlns:a16="http://schemas.microsoft.com/office/drawing/2014/main" id="{2DE417EB-CF53-B922-780E-CF16F1EDB041}"/>
                </a:ext>
              </a:extLst>
            </p:cNvPr>
            <p:cNvGrpSpPr/>
            <p:nvPr/>
          </p:nvGrpSpPr>
          <p:grpSpPr>
            <a:xfrm>
              <a:off x="381001" y="1022926"/>
              <a:ext cx="2388481" cy="1581473"/>
              <a:chOff x="596766" y="1022926"/>
              <a:chExt cx="2388481" cy="1581473"/>
            </a:xfrm>
          </p:grpSpPr>
          <p:sp>
            <p:nvSpPr>
              <p:cNvPr id="34" name="Rectangle: Rounded Corners 33">
                <a:extLst>
                  <a:ext uri="{FF2B5EF4-FFF2-40B4-BE49-F238E27FC236}">
                    <a16:creationId xmlns:a16="http://schemas.microsoft.com/office/drawing/2014/main" id="{1B975F03-3472-76DF-883D-BFF411693AC7}"/>
                  </a:ext>
                </a:extLst>
              </p:cNvPr>
              <p:cNvSpPr/>
              <p:nvPr/>
            </p:nvSpPr>
            <p:spPr>
              <a:xfrm>
                <a:off x="596766" y="1022926"/>
                <a:ext cx="2388481" cy="1581473"/>
              </a:xfrm>
              <a:prstGeom prst="roundRect">
                <a:avLst>
                  <a:gd name="adj" fmla="val 8731"/>
                </a:avLst>
              </a:prstGeom>
              <a:solidFill>
                <a:srgbClr val="FFFFFF"/>
              </a:solidFill>
              <a:ln w="12700" cap="flat" cmpd="sng" algn="ctr">
                <a:solidFill>
                  <a:srgbClr val="96968C"/>
                </a:solidFill>
                <a:prstDash val="solid"/>
                <a:miter lim="800000"/>
              </a:ln>
              <a:effectLst/>
            </p:spPr>
            <p:txBody>
              <a:bodyPr tIns="0" bIns="9144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1" i="0" u="none" strike="noStrike" kern="0" cap="none" spc="0" normalizeH="0" baseline="0" noProof="0">
                    <a:ln>
                      <a:noFill/>
                    </a:ln>
                    <a:solidFill>
                      <a:srgbClr val="FFFFFF">
                        <a:lumMod val="65000"/>
                      </a:srgbClr>
                    </a:solidFill>
                    <a:effectLst/>
                    <a:uLnTx/>
                    <a:uFillTx/>
                    <a:latin typeface="Graphik Semibold" panose="020B0703030202060203" pitchFamily="34" charset="0"/>
                    <a:ea typeface="+mn-ea"/>
                    <a:cs typeface="+mn-cs"/>
                  </a:rPr>
                  <a:t>Arquitectura interoperable</a:t>
                </a:r>
              </a:p>
            </p:txBody>
          </p:sp>
          <p:pic>
            <p:nvPicPr>
              <p:cNvPr id="35" name="Graphic 34" descr="Esquema de piezas del puzzle">
                <a:extLst>
                  <a:ext uri="{FF2B5EF4-FFF2-40B4-BE49-F238E27FC236}">
                    <a16:creationId xmlns:a16="http://schemas.microsoft.com/office/drawing/2014/main" id="{34E0842A-A4C5-97E1-6270-9580F714C4F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95164" y="1042277"/>
                <a:ext cx="193632" cy="193632"/>
              </a:xfrm>
              <a:prstGeom prst="rect">
                <a:avLst/>
              </a:prstGeom>
            </p:spPr>
          </p:pic>
        </p:grpSp>
        <p:sp>
          <p:nvSpPr>
            <p:cNvPr id="15" name="Rectangle: Rounded Corners 14">
              <a:extLst>
                <a:ext uri="{FF2B5EF4-FFF2-40B4-BE49-F238E27FC236}">
                  <a16:creationId xmlns:a16="http://schemas.microsoft.com/office/drawing/2014/main" id="{A44B8348-9FC2-CF25-CC20-1AA6112028B2}"/>
                </a:ext>
              </a:extLst>
            </p:cNvPr>
            <p:cNvSpPr/>
            <p:nvPr/>
          </p:nvSpPr>
          <p:spPr>
            <a:xfrm>
              <a:off x="743613" y="1245038"/>
              <a:ext cx="1841349" cy="176627"/>
            </a:xfrm>
            <a:prstGeom prst="roundRect">
              <a:avLst/>
            </a:prstGeom>
            <a:solidFill>
              <a:srgbClr val="FFFFFF">
                <a:lumMod val="75000"/>
              </a:srgbClr>
            </a:solidFill>
            <a:ln w="12700" cap="flat" cmpd="sng" algn="ctr">
              <a:noFill/>
              <a:prstDash val="solid"/>
              <a:miter lim="800000"/>
            </a:ln>
            <a:effectLst/>
          </p:spPr>
          <p:txBody>
            <a:bodyPr lIns="0" tIns="91440" rIns="0" bIns="91440" rtlCol="0" anchor="ctr"/>
            <a:lstStyle/>
            <a:p>
              <a:pPr algn="ctr"/>
              <a:r>
                <a:rPr lang="es" sz="800" b="1" kern="0">
                  <a:solidFill>
                    <a:srgbClr val="FFFFFF"/>
                  </a:solidFill>
                  <a:latin typeface="Graphik Semibold" panose="020B0703030202060203" pitchFamily="34" charset="0"/>
                </a:rPr>
                <a:t>Desacoplamiento</a:t>
              </a:r>
            </a:p>
          </p:txBody>
        </p:sp>
        <p:sp>
          <p:nvSpPr>
            <p:cNvPr id="17" name="Rectangle: Rounded Corners 16">
              <a:extLst>
                <a:ext uri="{FF2B5EF4-FFF2-40B4-BE49-F238E27FC236}">
                  <a16:creationId xmlns:a16="http://schemas.microsoft.com/office/drawing/2014/main" id="{C229E189-3861-9516-E12B-43D13985A087}"/>
                </a:ext>
              </a:extLst>
            </p:cNvPr>
            <p:cNvSpPr/>
            <p:nvPr/>
          </p:nvSpPr>
          <p:spPr>
            <a:xfrm>
              <a:off x="743613" y="1443305"/>
              <a:ext cx="1841349" cy="176627"/>
            </a:xfrm>
            <a:prstGeom prst="roundRect">
              <a:avLst/>
            </a:prstGeom>
            <a:solidFill>
              <a:srgbClr val="580090"/>
            </a:solidFill>
            <a:ln w="12700" cap="flat" cmpd="sng" algn="ctr">
              <a:noFill/>
              <a:prstDash val="solid"/>
              <a:miter lim="800000"/>
            </a:ln>
            <a:effectLst/>
          </p:spPr>
          <p:txBody>
            <a:bodyPr tIns="91440" bIns="91440" rtlCol="0" anchor="ctr"/>
            <a:lstStyle/>
            <a:p>
              <a:pPr algn="ctr"/>
              <a:r>
                <a:rPr lang="es" sz="800" b="1" kern="0">
                  <a:solidFill>
                    <a:srgbClr val="FFFFFF"/>
                  </a:solidFill>
                  <a:latin typeface="Graphik Semibold" panose="020B0703030202060203" pitchFamily="34" charset="0"/>
                </a:rPr>
                <a:t>Integración</a:t>
              </a:r>
            </a:p>
          </p:txBody>
        </p:sp>
        <p:sp>
          <p:nvSpPr>
            <p:cNvPr id="18" name="Rectangle: Rounded Corners 17">
              <a:extLst>
                <a:ext uri="{FF2B5EF4-FFF2-40B4-BE49-F238E27FC236}">
                  <a16:creationId xmlns:a16="http://schemas.microsoft.com/office/drawing/2014/main" id="{068D40BA-DEEB-C99D-F08A-63454FEA35B1}"/>
                </a:ext>
              </a:extLst>
            </p:cNvPr>
            <p:cNvSpPr/>
            <p:nvPr/>
          </p:nvSpPr>
          <p:spPr>
            <a:xfrm>
              <a:off x="743613" y="1882322"/>
              <a:ext cx="1841349" cy="296889"/>
            </a:xfrm>
            <a:prstGeom prst="roundRect">
              <a:avLst/>
            </a:prstGeom>
            <a:solidFill>
              <a:srgbClr val="FFFFFF">
                <a:lumMod val="75000"/>
              </a:srgbClr>
            </a:solidFill>
            <a:ln w="12700" cap="flat" cmpd="sng" algn="ctr">
              <a:noFill/>
              <a:prstDash val="solid"/>
              <a:miter lim="800000"/>
            </a:ln>
            <a:effectLst/>
          </p:spPr>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1" i="0" u="none" strike="noStrike" kern="0" cap="none" spc="0" normalizeH="0" baseline="0" noProof="0">
                  <a:ln>
                    <a:noFill/>
                  </a:ln>
                  <a:solidFill>
                    <a:srgbClr val="FFFFFF"/>
                  </a:solidFill>
                  <a:effectLst/>
                  <a:uLnTx/>
                  <a:uFillTx/>
                  <a:latin typeface="Graphik Semibold" panose="020B0703030202060203" pitchFamily="34" charset="0"/>
                  <a:ea typeface="+mn-ea"/>
                  <a:cs typeface="+mn-cs"/>
                </a:rPr>
                <a:t>Coexistencia</a:t>
              </a:r>
            </a:p>
          </p:txBody>
        </p:sp>
        <p:sp>
          <p:nvSpPr>
            <p:cNvPr id="19" name="Rectangle: Rounded Corners 18">
              <a:extLst>
                <a:ext uri="{FF2B5EF4-FFF2-40B4-BE49-F238E27FC236}">
                  <a16:creationId xmlns:a16="http://schemas.microsoft.com/office/drawing/2014/main" id="{B17944FD-EBE0-CC66-0142-FB4898DE7EE6}"/>
                </a:ext>
              </a:extLst>
            </p:cNvPr>
            <p:cNvSpPr/>
            <p:nvPr/>
          </p:nvSpPr>
          <p:spPr>
            <a:xfrm>
              <a:off x="743613" y="1661714"/>
              <a:ext cx="1841349" cy="176627"/>
            </a:xfrm>
            <a:prstGeom prst="roundRect">
              <a:avLst/>
            </a:prstGeom>
            <a:solidFill>
              <a:srgbClr val="FFFFFF">
                <a:lumMod val="75000"/>
              </a:srgbClr>
            </a:solidFill>
            <a:ln w="12700" cap="flat" cmpd="sng" algn="ctr">
              <a:noFill/>
              <a:prstDash val="solid"/>
              <a:miter lim="800000"/>
            </a:ln>
            <a:effectLst/>
          </p:spPr>
          <p:txBody>
            <a:bodyPr lIns="0" tIns="91440" rIns="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1" i="0" u="none" strike="noStrike" kern="0" cap="none" spc="0" normalizeH="0" baseline="0" noProof="0" dirty="0">
                  <a:ln>
                    <a:noFill/>
                  </a:ln>
                  <a:solidFill>
                    <a:srgbClr val="FFFFFF"/>
                  </a:solidFill>
                  <a:effectLst/>
                  <a:uLnTx/>
                  <a:uFillTx/>
                  <a:latin typeface="Graphik Semibold" panose="020B0703030202060203" pitchFamily="34" charset="0"/>
                  <a:ea typeface="+mn-ea"/>
                  <a:cs typeface="+mn-cs"/>
                </a:rPr>
                <a:t>Coreografía y Orquia</a:t>
              </a:r>
            </a:p>
          </p:txBody>
        </p:sp>
        <p:sp>
          <p:nvSpPr>
            <p:cNvPr id="20" name="Rectangle: Rounded Corners 19">
              <a:extLst>
                <a:ext uri="{FF2B5EF4-FFF2-40B4-BE49-F238E27FC236}">
                  <a16:creationId xmlns:a16="http://schemas.microsoft.com/office/drawing/2014/main" id="{4E47D1B9-9E61-5001-8B4A-476E6EFB061F}"/>
                </a:ext>
              </a:extLst>
            </p:cNvPr>
            <p:cNvSpPr/>
            <p:nvPr/>
          </p:nvSpPr>
          <p:spPr>
            <a:xfrm>
              <a:off x="743613" y="2223192"/>
              <a:ext cx="1841349" cy="312235"/>
            </a:xfrm>
            <a:prstGeom prst="roundRect">
              <a:avLst/>
            </a:prstGeom>
            <a:solidFill>
              <a:srgbClr val="FFFFFF">
                <a:lumMod val="75000"/>
              </a:srgbClr>
            </a:solidFill>
            <a:ln w="12700" cap="flat" cmpd="sng" algn="ctr">
              <a:noFill/>
              <a:prstDash val="solid"/>
              <a:miter lim="800000"/>
            </a:ln>
            <a:effectLst/>
          </p:spPr>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1" i="0" u="none" strike="noStrike" kern="0" cap="none" spc="0" normalizeH="0" baseline="0" noProof="0">
                  <a:ln>
                    <a:noFill/>
                  </a:ln>
                  <a:solidFill>
                    <a:srgbClr val="FFFFFF"/>
                  </a:solidFill>
                  <a:effectLst/>
                  <a:uLnTx/>
                  <a:uFillTx/>
                  <a:latin typeface="Graphik Semibold" panose="020B0703030202060203" pitchFamily="34" charset="0"/>
                  <a:ea typeface="+mn-ea"/>
                  <a:cs typeface="+mn-cs"/>
                </a:rPr>
                <a:t>Microservicios</a:t>
              </a:r>
            </a:p>
          </p:txBody>
        </p:sp>
        <p:sp>
          <p:nvSpPr>
            <p:cNvPr id="21" name="Rectangle: Rounded Corners 20">
              <a:extLst>
                <a:ext uri="{FF2B5EF4-FFF2-40B4-BE49-F238E27FC236}">
                  <a16:creationId xmlns:a16="http://schemas.microsoft.com/office/drawing/2014/main" id="{3E0293CA-308C-F74E-586C-9D97DD28C2CE}"/>
                </a:ext>
              </a:extLst>
            </p:cNvPr>
            <p:cNvSpPr/>
            <p:nvPr/>
          </p:nvSpPr>
          <p:spPr>
            <a:xfrm rot="16200000">
              <a:off x="-37801" y="1797017"/>
              <a:ext cx="1275043" cy="206945"/>
            </a:xfrm>
            <a:prstGeom prst="roundRect">
              <a:avLst/>
            </a:prstGeom>
            <a:solidFill>
              <a:srgbClr val="FFFFFF">
                <a:lumMod val="75000"/>
              </a:srgbClr>
            </a:solidFill>
            <a:ln w="12700" cap="flat" cmpd="sng" algn="ctr">
              <a:noFill/>
              <a:prstDash val="solid"/>
              <a:miter lim="800000"/>
            </a:ln>
            <a:effectLst/>
          </p:spPr>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1" i="0" u="none" strike="noStrike" kern="0" cap="none" spc="0" normalizeH="0" baseline="0" noProof="0">
                  <a:ln>
                    <a:noFill/>
                  </a:ln>
                  <a:solidFill>
                    <a:srgbClr val="FFFFFF"/>
                  </a:solidFill>
                  <a:effectLst/>
                  <a:uLnTx/>
                  <a:uFillTx/>
                  <a:latin typeface="Graphik Semibold" panose="020B0703030202060203" pitchFamily="34" charset="0"/>
                  <a:ea typeface="+mn-ea"/>
                  <a:cs typeface="+mn-cs"/>
                </a:rPr>
                <a:t>Servicios Empresariales Principales (Backbone)</a:t>
              </a:r>
            </a:p>
          </p:txBody>
        </p:sp>
        <p:grpSp>
          <p:nvGrpSpPr>
            <p:cNvPr id="22" name="Group 48">
              <a:extLst>
                <a:ext uri="{FF2B5EF4-FFF2-40B4-BE49-F238E27FC236}">
                  <a16:creationId xmlns:a16="http://schemas.microsoft.com/office/drawing/2014/main" id="{D456AA16-3BFA-80BE-984E-9ABA153F4FC0}"/>
                </a:ext>
              </a:extLst>
            </p:cNvPr>
            <p:cNvGrpSpPr>
              <a:grpSpLocks noChangeAspect="1"/>
            </p:cNvGrpSpPr>
            <p:nvPr/>
          </p:nvGrpSpPr>
          <p:grpSpPr bwMode="auto">
            <a:xfrm>
              <a:off x="867921" y="1302739"/>
              <a:ext cx="108414" cy="88314"/>
              <a:chOff x="3427" y="474"/>
              <a:chExt cx="428" cy="356"/>
            </a:xfrm>
            <a:solidFill>
              <a:srgbClr val="FFFFFF"/>
            </a:solidFill>
          </p:grpSpPr>
          <p:sp>
            <p:nvSpPr>
              <p:cNvPr id="30" name="Freeform 49">
                <a:extLst>
                  <a:ext uri="{FF2B5EF4-FFF2-40B4-BE49-F238E27FC236}">
                    <a16:creationId xmlns:a16="http://schemas.microsoft.com/office/drawing/2014/main" id="{8F98BE7E-EFBA-EEFC-10EB-2E62CD1836FD}"/>
                  </a:ext>
                </a:extLst>
              </p:cNvPr>
              <p:cNvSpPr>
                <a:spLocks/>
              </p:cNvSpPr>
              <p:nvPr/>
            </p:nvSpPr>
            <p:spPr bwMode="auto">
              <a:xfrm>
                <a:off x="3427" y="615"/>
                <a:ext cx="428" cy="108"/>
              </a:xfrm>
              <a:custGeom>
                <a:avLst/>
                <a:gdLst>
                  <a:gd name="T0" fmla="*/ 144 w 289"/>
                  <a:gd name="T1" fmla="*/ 73 h 73"/>
                  <a:gd name="T2" fmla="*/ 142 w 289"/>
                  <a:gd name="T3" fmla="*/ 73 h 73"/>
                  <a:gd name="T4" fmla="*/ 4 w 289"/>
                  <a:gd name="T5" fmla="*/ 13 h 73"/>
                  <a:gd name="T6" fmla="*/ 1 w 289"/>
                  <a:gd name="T7" fmla="*/ 5 h 73"/>
                  <a:gd name="T8" fmla="*/ 9 w 289"/>
                  <a:gd name="T9" fmla="*/ 2 h 73"/>
                  <a:gd name="T10" fmla="*/ 144 w 289"/>
                  <a:gd name="T11" fmla="*/ 61 h 73"/>
                  <a:gd name="T12" fmla="*/ 280 w 289"/>
                  <a:gd name="T13" fmla="*/ 2 h 73"/>
                  <a:gd name="T14" fmla="*/ 288 w 289"/>
                  <a:gd name="T15" fmla="*/ 5 h 73"/>
                  <a:gd name="T16" fmla="*/ 285 w 289"/>
                  <a:gd name="T17" fmla="*/ 13 h 73"/>
                  <a:gd name="T18" fmla="*/ 147 w 289"/>
                  <a:gd name="T19" fmla="*/ 73 h 73"/>
                  <a:gd name="T20" fmla="*/ 144 w 289"/>
                  <a:gd name="T21" fmla="*/ 73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9" h="73">
                    <a:moveTo>
                      <a:pt x="144" y="73"/>
                    </a:moveTo>
                    <a:cubicBezTo>
                      <a:pt x="144" y="73"/>
                      <a:pt x="143" y="73"/>
                      <a:pt x="142" y="73"/>
                    </a:cubicBezTo>
                    <a:cubicBezTo>
                      <a:pt x="4" y="13"/>
                      <a:pt x="4" y="13"/>
                      <a:pt x="4" y="13"/>
                    </a:cubicBezTo>
                    <a:cubicBezTo>
                      <a:pt x="1" y="11"/>
                      <a:pt x="0" y="8"/>
                      <a:pt x="1" y="5"/>
                    </a:cubicBezTo>
                    <a:cubicBezTo>
                      <a:pt x="2" y="2"/>
                      <a:pt x="6" y="0"/>
                      <a:pt x="9" y="2"/>
                    </a:cubicBezTo>
                    <a:cubicBezTo>
                      <a:pt x="144" y="61"/>
                      <a:pt x="144" y="61"/>
                      <a:pt x="144" y="61"/>
                    </a:cubicBezTo>
                    <a:cubicBezTo>
                      <a:pt x="280" y="2"/>
                      <a:pt x="280" y="2"/>
                      <a:pt x="280" y="2"/>
                    </a:cubicBezTo>
                    <a:cubicBezTo>
                      <a:pt x="283" y="0"/>
                      <a:pt x="287" y="2"/>
                      <a:pt x="288" y="5"/>
                    </a:cubicBezTo>
                    <a:cubicBezTo>
                      <a:pt x="289" y="8"/>
                      <a:pt x="288" y="11"/>
                      <a:pt x="285" y="13"/>
                    </a:cubicBezTo>
                    <a:cubicBezTo>
                      <a:pt x="147" y="73"/>
                      <a:pt x="147" y="73"/>
                      <a:pt x="147" y="73"/>
                    </a:cubicBezTo>
                    <a:cubicBezTo>
                      <a:pt x="146" y="73"/>
                      <a:pt x="145" y="73"/>
                      <a:pt x="144"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31" name="Freeform 50">
                <a:extLst>
                  <a:ext uri="{FF2B5EF4-FFF2-40B4-BE49-F238E27FC236}">
                    <a16:creationId xmlns:a16="http://schemas.microsoft.com/office/drawing/2014/main" id="{79AD0EBA-82A6-FBA2-A32A-428FD2647316}"/>
                  </a:ext>
                </a:extLst>
              </p:cNvPr>
              <p:cNvSpPr>
                <a:spLocks/>
              </p:cNvSpPr>
              <p:nvPr/>
            </p:nvSpPr>
            <p:spPr bwMode="auto">
              <a:xfrm>
                <a:off x="3427" y="668"/>
                <a:ext cx="428" cy="108"/>
              </a:xfrm>
              <a:custGeom>
                <a:avLst/>
                <a:gdLst>
                  <a:gd name="T0" fmla="*/ 144 w 289"/>
                  <a:gd name="T1" fmla="*/ 73 h 73"/>
                  <a:gd name="T2" fmla="*/ 142 w 289"/>
                  <a:gd name="T3" fmla="*/ 73 h 73"/>
                  <a:gd name="T4" fmla="*/ 4 w 289"/>
                  <a:gd name="T5" fmla="*/ 13 h 73"/>
                  <a:gd name="T6" fmla="*/ 1 w 289"/>
                  <a:gd name="T7" fmla="*/ 5 h 73"/>
                  <a:gd name="T8" fmla="*/ 9 w 289"/>
                  <a:gd name="T9" fmla="*/ 2 h 73"/>
                  <a:gd name="T10" fmla="*/ 144 w 289"/>
                  <a:gd name="T11" fmla="*/ 61 h 73"/>
                  <a:gd name="T12" fmla="*/ 280 w 289"/>
                  <a:gd name="T13" fmla="*/ 2 h 73"/>
                  <a:gd name="T14" fmla="*/ 288 w 289"/>
                  <a:gd name="T15" fmla="*/ 5 h 73"/>
                  <a:gd name="T16" fmla="*/ 285 w 289"/>
                  <a:gd name="T17" fmla="*/ 13 h 73"/>
                  <a:gd name="T18" fmla="*/ 147 w 289"/>
                  <a:gd name="T19" fmla="*/ 73 h 73"/>
                  <a:gd name="T20" fmla="*/ 144 w 289"/>
                  <a:gd name="T21" fmla="*/ 73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9" h="73">
                    <a:moveTo>
                      <a:pt x="144" y="73"/>
                    </a:moveTo>
                    <a:cubicBezTo>
                      <a:pt x="144" y="73"/>
                      <a:pt x="143" y="73"/>
                      <a:pt x="142" y="73"/>
                    </a:cubicBezTo>
                    <a:cubicBezTo>
                      <a:pt x="4" y="13"/>
                      <a:pt x="4" y="13"/>
                      <a:pt x="4" y="13"/>
                    </a:cubicBezTo>
                    <a:cubicBezTo>
                      <a:pt x="1" y="11"/>
                      <a:pt x="0" y="8"/>
                      <a:pt x="1" y="5"/>
                    </a:cubicBezTo>
                    <a:cubicBezTo>
                      <a:pt x="2" y="2"/>
                      <a:pt x="6" y="0"/>
                      <a:pt x="9" y="2"/>
                    </a:cubicBezTo>
                    <a:cubicBezTo>
                      <a:pt x="144" y="61"/>
                      <a:pt x="144" y="61"/>
                      <a:pt x="144" y="61"/>
                    </a:cubicBezTo>
                    <a:cubicBezTo>
                      <a:pt x="280" y="2"/>
                      <a:pt x="280" y="2"/>
                      <a:pt x="280" y="2"/>
                    </a:cubicBezTo>
                    <a:cubicBezTo>
                      <a:pt x="283" y="0"/>
                      <a:pt x="287" y="2"/>
                      <a:pt x="288" y="5"/>
                    </a:cubicBezTo>
                    <a:cubicBezTo>
                      <a:pt x="289" y="8"/>
                      <a:pt x="288" y="11"/>
                      <a:pt x="285" y="13"/>
                    </a:cubicBezTo>
                    <a:cubicBezTo>
                      <a:pt x="147" y="73"/>
                      <a:pt x="147" y="73"/>
                      <a:pt x="147" y="73"/>
                    </a:cubicBezTo>
                    <a:cubicBezTo>
                      <a:pt x="146" y="73"/>
                      <a:pt x="145" y="73"/>
                      <a:pt x="144"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32" name="Freeform 51">
                <a:extLst>
                  <a:ext uri="{FF2B5EF4-FFF2-40B4-BE49-F238E27FC236}">
                    <a16:creationId xmlns:a16="http://schemas.microsoft.com/office/drawing/2014/main" id="{5DE8665D-8255-903C-DD58-15B208950BE5}"/>
                  </a:ext>
                </a:extLst>
              </p:cNvPr>
              <p:cNvSpPr>
                <a:spLocks/>
              </p:cNvSpPr>
              <p:nvPr/>
            </p:nvSpPr>
            <p:spPr bwMode="auto">
              <a:xfrm>
                <a:off x="3427" y="722"/>
                <a:ext cx="428" cy="108"/>
              </a:xfrm>
              <a:custGeom>
                <a:avLst/>
                <a:gdLst>
                  <a:gd name="T0" fmla="*/ 144 w 289"/>
                  <a:gd name="T1" fmla="*/ 73 h 73"/>
                  <a:gd name="T2" fmla="*/ 142 w 289"/>
                  <a:gd name="T3" fmla="*/ 73 h 73"/>
                  <a:gd name="T4" fmla="*/ 4 w 289"/>
                  <a:gd name="T5" fmla="*/ 13 h 73"/>
                  <a:gd name="T6" fmla="*/ 1 w 289"/>
                  <a:gd name="T7" fmla="*/ 5 h 73"/>
                  <a:gd name="T8" fmla="*/ 9 w 289"/>
                  <a:gd name="T9" fmla="*/ 2 h 73"/>
                  <a:gd name="T10" fmla="*/ 144 w 289"/>
                  <a:gd name="T11" fmla="*/ 61 h 73"/>
                  <a:gd name="T12" fmla="*/ 280 w 289"/>
                  <a:gd name="T13" fmla="*/ 2 h 73"/>
                  <a:gd name="T14" fmla="*/ 288 w 289"/>
                  <a:gd name="T15" fmla="*/ 5 h 73"/>
                  <a:gd name="T16" fmla="*/ 285 w 289"/>
                  <a:gd name="T17" fmla="*/ 13 h 73"/>
                  <a:gd name="T18" fmla="*/ 147 w 289"/>
                  <a:gd name="T19" fmla="*/ 73 h 73"/>
                  <a:gd name="T20" fmla="*/ 144 w 289"/>
                  <a:gd name="T21" fmla="*/ 73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9" h="73">
                    <a:moveTo>
                      <a:pt x="144" y="73"/>
                    </a:moveTo>
                    <a:cubicBezTo>
                      <a:pt x="144" y="73"/>
                      <a:pt x="143" y="73"/>
                      <a:pt x="142" y="73"/>
                    </a:cubicBezTo>
                    <a:cubicBezTo>
                      <a:pt x="4" y="13"/>
                      <a:pt x="4" y="13"/>
                      <a:pt x="4" y="13"/>
                    </a:cubicBezTo>
                    <a:cubicBezTo>
                      <a:pt x="1" y="11"/>
                      <a:pt x="0" y="8"/>
                      <a:pt x="1" y="5"/>
                    </a:cubicBezTo>
                    <a:cubicBezTo>
                      <a:pt x="2" y="2"/>
                      <a:pt x="6" y="0"/>
                      <a:pt x="9" y="2"/>
                    </a:cubicBezTo>
                    <a:cubicBezTo>
                      <a:pt x="144" y="61"/>
                      <a:pt x="144" y="61"/>
                      <a:pt x="144" y="61"/>
                    </a:cubicBezTo>
                    <a:cubicBezTo>
                      <a:pt x="280" y="2"/>
                      <a:pt x="280" y="2"/>
                      <a:pt x="280" y="2"/>
                    </a:cubicBezTo>
                    <a:cubicBezTo>
                      <a:pt x="283" y="0"/>
                      <a:pt x="287" y="2"/>
                      <a:pt x="288" y="5"/>
                    </a:cubicBezTo>
                    <a:cubicBezTo>
                      <a:pt x="289" y="8"/>
                      <a:pt x="288" y="11"/>
                      <a:pt x="285" y="13"/>
                    </a:cubicBezTo>
                    <a:cubicBezTo>
                      <a:pt x="147" y="73"/>
                      <a:pt x="147" y="73"/>
                      <a:pt x="147" y="73"/>
                    </a:cubicBezTo>
                    <a:cubicBezTo>
                      <a:pt x="146" y="73"/>
                      <a:pt x="145" y="73"/>
                      <a:pt x="144"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33" name="Freeform 52">
                <a:extLst>
                  <a:ext uri="{FF2B5EF4-FFF2-40B4-BE49-F238E27FC236}">
                    <a16:creationId xmlns:a16="http://schemas.microsoft.com/office/drawing/2014/main" id="{1E5BA77C-CFCA-C972-82FE-B0D8EEA1253E}"/>
                  </a:ext>
                </a:extLst>
              </p:cNvPr>
              <p:cNvSpPr>
                <a:spLocks noEditPoints="1"/>
              </p:cNvSpPr>
              <p:nvPr/>
            </p:nvSpPr>
            <p:spPr bwMode="auto">
              <a:xfrm>
                <a:off x="3427" y="474"/>
                <a:ext cx="426" cy="196"/>
              </a:xfrm>
              <a:custGeom>
                <a:avLst/>
                <a:gdLst>
                  <a:gd name="T0" fmla="*/ 144 w 288"/>
                  <a:gd name="T1" fmla="*/ 132 h 132"/>
                  <a:gd name="T2" fmla="*/ 142 w 288"/>
                  <a:gd name="T3" fmla="*/ 132 h 132"/>
                  <a:gd name="T4" fmla="*/ 4 w 288"/>
                  <a:gd name="T5" fmla="*/ 72 h 132"/>
                  <a:gd name="T6" fmla="*/ 0 w 288"/>
                  <a:gd name="T7" fmla="*/ 66 h 132"/>
                  <a:gd name="T8" fmla="*/ 4 w 288"/>
                  <a:gd name="T9" fmla="*/ 61 h 132"/>
                  <a:gd name="T10" fmla="*/ 142 w 288"/>
                  <a:gd name="T11" fmla="*/ 1 h 132"/>
                  <a:gd name="T12" fmla="*/ 147 w 288"/>
                  <a:gd name="T13" fmla="*/ 1 h 132"/>
                  <a:gd name="T14" fmla="*/ 285 w 288"/>
                  <a:gd name="T15" fmla="*/ 61 h 132"/>
                  <a:gd name="T16" fmla="*/ 288 w 288"/>
                  <a:gd name="T17" fmla="*/ 66 h 132"/>
                  <a:gd name="T18" fmla="*/ 285 w 288"/>
                  <a:gd name="T19" fmla="*/ 72 h 132"/>
                  <a:gd name="T20" fmla="*/ 147 w 288"/>
                  <a:gd name="T21" fmla="*/ 132 h 132"/>
                  <a:gd name="T22" fmla="*/ 144 w 288"/>
                  <a:gd name="T23" fmla="*/ 132 h 132"/>
                  <a:gd name="T24" fmla="*/ 21 w 288"/>
                  <a:gd name="T25" fmla="*/ 66 h 132"/>
                  <a:gd name="T26" fmla="*/ 144 w 288"/>
                  <a:gd name="T27" fmla="*/ 120 h 132"/>
                  <a:gd name="T28" fmla="*/ 267 w 288"/>
                  <a:gd name="T29" fmla="*/ 66 h 132"/>
                  <a:gd name="T30" fmla="*/ 144 w 288"/>
                  <a:gd name="T31" fmla="*/ 13 h 132"/>
                  <a:gd name="T32" fmla="*/ 21 w 288"/>
                  <a:gd name="T33" fmla="*/ 66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88" h="132">
                    <a:moveTo>
                      <a:pt x="144" y="132"/>
                    </a:moveTo>
                    <a:cubicBezTo>
                      <a:pt x="144" y="132"/>
                      <a:pt x="143" y="132"/>
                      <a:pt x="142" y="132"/>
                    </a:cubicBezTo>
                    <a:cubicBezTo>
                      <a:pt x="4" y="72"/>
                      <a:pt x="4" y="72"/>
                      <a:pt x="4" y="72"/>
                    </a:cubicBezTo>
                    <a:cubicBezTo>
                      <a:pt x="2" y="71"/>
                      <a:pt x="0" y="69"/>
                      <a:pt x="0" y="66"/>
                    </a:cubicBezTo>
                    <a:cubicBezTo>
                      <a:pt x="0" y="64"/>
                      <a:pt x="2" y="62"/>
                      <a:pt x="4" y="61"/>
                    </a:cubicBezTo>
                    <a:cubicBezTo>
                      <a:pt x="142" y="1"/>
                      <a:pt x="142" y="1"/>
                      <a:pt x="142" y="1"/>
                    </a:cubicBezTo>
                    <a:cubicBezTo>
                      <a:pt x="144" y="0"/>
                      <a:pt x="145" y="0"/>
                      <a:pt x="147" y="1"/>
                    </a:cubicBezTo>
                    <a:cubicBezTo>
                      <a:pt x="285" y="61"/>
                      <a:pt x="285" y="61"/>
                      <a:pt x="285" y="61"/>
                    </a:cubicBezTo>
                    <a:cubicBezTo>
                      <a:pt x="287" y="62"/>
                      <a:pt x="288" y="64"/>
                      <a:pt x="288" y="66"/>
                    </a:cubicBezTo>
                    <a:cubicBezTo>
                      <a:pt x="288" y="69"/>
                      <a:pt x="287" y="71"/>
                      <a:pt x="285" y="72"/>
                    </a:cubicBezTo>
                    <a:cubicBezTo>
                      <a:pt x="147" y="132"/>
                      <a:pt x="147" y="132"/>
                      <a:pt x="147" y="132"/>
                    </a:cubicBezTo>
                    <a:cubicBezTo>
                      <a:pt x="146" y="132"/>
                      <a:pt x="145" y="132"/>
                      <a:pt x="144" y="132"/>
                    </a:cubicBezTo>
                    <a:close/>
                    <a:moveTo>
                      <a:pt x="21" y="66"/>
                    </a:moveTo>
                    <a:cubicBezTo>
                      <a:pt x="144" y="120"/>
                      <a:pt x="144" y="120"/>
                      <a:pt x="144" y="120"/>
                    </a:cubicBezTo>
                    <a:cubicBezTo>
                      <a:pt x="267" y="66"/>
                      <a:pt x="267" y="66"/>
                      <a:pt x="267" y="66"/>
                    </a:cubicBezTo>
                    <a:cubicBezTo>
                      <a:pt x="144" y="13"/>
                      <a:pt x="144" y="13"/>
                      <a:pt x="144" y="13"/>
                    </a:cubicBezTo>
                    <a:lnTo>
                      <a:pt x="21" y="6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grpSp>
        <p:pic>
          <p:nvPicPr>
            <p:cNvPr id="23" name="Graphic 22" descr="Red">
              <a:extLst>
                <a:ext uri="{FF2B5EF4-FFF2-40B4-BE49-F238E27FC236}">
                  <a16:creationId xmlns:a16="http://schemas.microsoft.com/office/drawing/2014/main" id="{76CDB7DE-5869-4229-ED1E-B83F363E7EE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64733" y="1471077"/>
              <a:ext cx="123639" cy="123639"/>
            </a:xfrm>
            <a:prstGeom prst="rect">
              <a:avLst/>
            </a:prstGeom>
          </p:spPr>
        </p:pic>
        <p:sp>
          <p:nvSpPr>
            <p:cNvPr id="24" name="Freeform 147">
              <a:extLst>
                <a:ext uri="{FF2B5EF4-FFF2-40B4-BE49-F238E27FC236}">
                  <a16:creationId xmlns:a16="http://schemas.microsoft.com/office/drawing/2014/main" id="{F52B7F88-26CE-6AC3-1E97-20717BCEEC4B}"/>
                </a:ext>
              </a:extLst>
            </p:cNvPr>
            <p:cNvSpPr>
              <a:spLocks noEditPoints="1"/>
            </p:cNvSpPr>
            <p:nvPr/>
          </p:nvSpPr>
          <p:spPr bwMode="auto">
            <a:xfrm>
              <a:off x="832652" y="2331389"/>
              <a:ext cx="198386" cy="105976"/>
            </a:xfrm>
            <a:custGeom>
              <a:avLst/>
              <a:gdLst>
                <a:gd name="T0" fmla="*/ 54 w 288"/>
                <a:gd name="T1" fmla="*/ 180 h 180"/>
                <a:gd name="T2" fmla="*/ 14 w 288"/>
                <a:gd name="T3" fmla="*/ 164 h 180"/>
                <a:gd name="T4" fmla="*/ 0 w 288"/>
                <a:gd name="T5" fmla="*/ 129 h 180"/>
                <a:gd name="T6" fmla="*/ 19 w 288"/>
                <a:gd name="T7" fmla="*/ 89 h 180"/>
                <a:gd name="T8" fmla="*/ 55 w 288"/>
                <a:gd name="T9" fmla="*/ 78 h 180"/>
                <a:gd name="T10" fmla="*/ 144 w 288"/>
                <a:gd name="T11" fmla="*/ 0 h 180"/>
                <a:gd name="T12" fmla="*/ 224 w 288"/>
                <a:gd name="T13" fmla="*/ 48 h 180"/>
                <a:gd name="T14" fmla="*/ 268 w 288"/>
                <a:gd name="T15" fmla="*/ 66 h 180"/>
                <a:gd name="T16" fmla="*/ 288 w 288"/>
                <a:gd name="T17" fmla="*/ 114 h 180"/>
                <a:gd name="T18" fmla="*/ 229 w 288"/>
                <a:gd name="T19" fmla="*/ 180 h 180"/>
                <a:gd name="T20" fmla="*/ 228 w 288"/>
                <a:gd name="T21" fmla="*/ 180 h 180"/>
                <a:gd name="T22" fmla="*/ 54 w 288"/>
                <a:gd name="T23" fmla="*/ 180 h 180"/>
                <a:gd name="T24" fmla="*/ 54 w 288"/>
                <a:gd name="T25" fmla="*/ 180 h 180"/>
                <a:gd name="T26" fmla="*/ 51 w 288"/>
                <a:gd name="T27" fmla="*/ 90 h 180"/>
                <a:gd name="T28" fmla="*/ 27 w 288"/>
                <a:gd name="T29" fmla="*/ 99 h 180"/>
                <a:gd name="T30" fmla="*/ 12 w 288"/>
                <a:gd name="T31" fmla="*/ 129 h 180"/>
                <a:gd name="T32" fmla="*/ 22 w 288"/>
                <a:gd name="T33" fmla="*/ 156 h 180"/>
                <a:gd name="T34" fmla="*/ 54 w 288"/>
                <a:gd name="T35" fmla="*/ 168 h 180"/>
                <a:gd name="T36" fmla="*/ 54 w 288"/>
                <a:gd name="T37" fmla="*/ 168 h 180"/>
                <a:gd name="T38" fmla="*/ 228 w 288"/>
                <a:gd name="T39" fmla="*/ 168 h 180"/>
                <a:gd name="T40" fmla="*/ 276 w 288"/>
                <a:gd name="T41" fmla="*/ 114 h 180"/>
                <a:gd name="T42" fmla="*/ 260 w 288"/>
                <a:gd name="T43" fmla="*/ 75 h 180"/>
                <a:gd name="T44" fmla="*/ 220 w 288"/>
                <a:gd name="T45" fmla="*/ 60 h 180"/>
                <a:gd name="T46" fmla="*/ 215 w 288"/>
                <a:gd name="T47" fmla="*/ 57 h 180"/>
                <a:gd name="T48" fmla="*/ 144 w 288"/>
                <a:gd name="T49" fmla="*/ 12 h 180"/>
                <a:gd name="T50" fmla="*/ 66 w 288"/>
                <a:gd name="T51" fmla="*/ 85 h 180"/>
                <a:gd name="T52" fmla="*/ 64 w 288"/>
                <a:gd name="T53" fmla="*/ 90 h 180"/>
                <a:gd name="T54" fmla="*/ 59 w 288"/>
                <a:gd name="T55" fmla="*/ 91 h 180"/>
                <a:gd name="T56" fmla="*/ 51 w 288"/>
                <a:gd name="T57" fmla="*/ 90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88" h="180">
                  <a:moveTo>
                    <a:pt x="54" y="180"/>
                  </a:moveTo>
                  <a:cubicBezTo>
                    <a:pt x="51" y="180"/>
                    <a:pt x="29" y="179"/>
                    <a:pt x="14" y="164"/>
                  </a:cubicBezTo>
                  <a:cubicBezTo>
                    <a:pt x="5" y="156"/>
                    <a:pt x="0" y="144"/>
                    <a:pt x="0" y="129"/>
                  </a:cubicBezTo>
                  <a:cubicBezTo>
                    <a:pt x="0" y="113"/>
                    <a:pt x="7" y="99"/>
                    <a:pt x="19" y="89"/>
                  </a:cubicBezTo>
                  <a:cubicBezTo>
                    <a:pt x="29" y="81"/>
                    <a:pt x="42" y="77"/>
                    <a:pt x="55" y="78"/>
                  </a:cubicBezTo>
                  <a:cubicBezTo>
                    <a:pt x="61" y="34"/>
                    <a:pt x="99" y="0"/>
                    <a:pt x="144" y="0"/>
                  </a:cubicBezTo>
                  <a:cubicBezTo>
                    <a:pt x="177" y="0"/>
                    <a:pt x="208" y="19"/>
                    <a:pt x="224" y="48"/>
                  </a:cubicBezTo>
                  <a:cubicBezTo>
                    <a:pt x="240" y="48"/>
                    <a:pt x="256" y="55"/>
                    <a:pt x="268" y="66"/>
                  </a:cubicBezTo>
                  <a:cubicBezTo>
                    <a:pt x="281" y="79"/>
                    <a:pt x="288" y="96"/>
                    <a:pt x="288" y="114"/>
                  </a:cubicBezTo>
                  <a:cubicBezTo>
                    <a:pt x="288" y="171"/>
                    <a:pt x="230" y="180"/>
                    <a:pt x="229" y="180"/>
                  </a:cubicBezTo>
                  <a:cubicBezTo>
                    <a:pt x="229" y="180"/>
                    <a:pt x="228" y="180"/>
                    <a:pt x="228" y="180"/>
                  </a:cubicBezTo>
                  <a:cubicBezTo>
                    <a:pt x="54" y="180"/>
                    <a:pt x="54" y="180"/>
                    <a:pt x="54" y="180"/>
                  </a:cubicBezTo>
                  <a:cubicBezTo>
                    <a:pt x="54" y="180"/>
                    <a:pt x="54" y="180"/>
                    <a:pt x="54" y="180"/>
                  </a:cubicBezTo>
                  <a:close/>
                  <a:moveTo>
                    <a:pt x="51" y="90"/>
                  </a:moveTo>
                  <a:cubicBezTo>
                    <a:pt x="42" y="90"/>
                    <a:pt x="34" y="93"/>
                    <a:pt x="27" y="99"/>
                  </a:cubicBezTo>
                  <a:cubicBezTo>
                    <a:pt x="17" y="106"/>
                    <a:pt x="12" y="117"/>
                    <a:pt x="12" y="129"/>
                  </a:cubicBezTo>
                  <a:cubicBezTo>
                    <a:pt x="12" y="140"/>
                    <a:pt x="16" y="149"/>
                    <a:pt x="22" y="156"/>
                  </a:cubicBezTo>
                  <a:cubicBezTo>
                    <a:pt x="34" y="168"/>
                    <a:pt x="53" y="168"/>
                    <a:pt x="54" y="168"/>
                  </a:cubicBezTo>
                  <a:cubicBezTo>
                    <a:pt x="54" y="168"/>
                    <a:pt x="54" y="168"/>
                    <a:pt x="54" y="168"/>
                  </a:cubicBezTo>
                  <a:cubicBezTo>
                    <a:pt x="228" y="168"/>
                    <a:pt x="228" y="168"/>
                    <a:pt x="228" y="168"/>
                  </a:cubicBezTo>
                  <a:cubicBezTo>
                    <a:pt x="233" y="167"/>
                    <a:pt x="276" y="159"/>
                    <a:pt x="276" y="114"/>
                  </a:cubicBezTo>
                  <a:cubicBezTo>
                    <a:pt x="276" y="99"/>
                    <a:pt x="270" y="85"/>
                    <a:pt x="260" y="75"/>
                  </a:cubicBezTo>
                  <a:cubicBezTo>
                    <a:pt x="249" y="65"/>
                    <a:pt x="235" y="59"/>
                    <a:pt x="220" y="60"/>
                  </a:cubicBezTo>
                  <a:cubicBezTo>
                    <a:pt x="218" y="60"/>
                    <a:pt x="216" y="59"/>
                    <a:pt x="215" y="57"/>
                  </a:cubicBezTo>
                  <a:cubicBezTo>
                    <a:pt x="202" y="29"/>
                    <a:pt x="174" y="12"/>
                    <a:pt x="144" y="12"/>
                  </a:cubicBezTo>
                  <a:cubicBezTo>
                    <a:pt x="103" y="12"/>
                    <a:pt x="69" y="44"/>
                    <a:pt x="66" y="85"/>
                  </a:cubicBezTo>
                  <a:cubicBezTo>
                    <a:pt x="66" y="87"/>
                    <a:pt x="66" y="88"/>
                    <a:pt x="64" y="90"/>
                  </a:cubicBezTo>
                  <a:cubicBezTo>
                    <a:pt x="63" y="91"/>
                    <a:pt x="61" y="91"/>
                    <a:pt x="59" y="91"/>
                  </a:cubicBezTo>
                  <a:cubicBezTo>
                    <a:pt x="57" y="90"/>
                    <a:pt x="54" y="90"/>
                    <a:pt x="51" y="90"/>
                  </a:cubicBez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25" name="Freeform 5">
              <a:extLst>
                <a:ext uri="{FF2B5EF4-FFF2-40B4-BE49-F238E27FC236}">
                  <a16:creationId xmlns:a16="http://schemas.microsoft.com/office/drawing/2014/main" id="{6052337A-1BB7-42F2-7327-D167B84D06DF}"/>
                </a:ext>
              </a:extLst>
            </p:cNvPr>
            <p:cNvSpPr>
              <a:spLocks noEditPoints="1"/>
            </p:cNvSpPr>
            <p:nvPr/>
          </p:nvSpPr>
          <p:spPr bwMode="auto">
            <a:xfrm>
              <a:off x="863430" y="1977778"/>
              <a:ext cx="126246" cy="123639"/>
            </a:xfrm>
            <a:custGeom>
              <a:avLst/>
              <a:gdLst>
                <a:gd name="T0" fmla="*/ 60 w 88"/>
                <a:gd name="T1" fmla="*/ 8 h 88"/>
                <a:gd name="T2" fmla="*/ 60 w 88"/>
                <a:gd name="T3" fmla="*/ 29 h 88"/>
                <a:gd name="T4" fmla="*/ 28 w 88"/>
                <a:gd name="T5" fmla="*/ 29 h 88"/>
                <a:gd name="T6" fmla="*/ 28 w 88"/>
                <a:gd name="T7" fmla="*/ 8 h 88"/>
                <a:gd name="T8" fmla="*/ 0 w 88"/>
                <a:gd name="T9" fmla="*/ 8 h 88"/>
                <a:gd name="T10" fmla="*/ 14 w 88"/>
                <a:gd name="T11" fmla="*/ 36 h 88"/>
                <a:gd name="T12" fmla="*/ 41 w 88"/>
                <a:gd name="T13" fmla="*/ 44 h 88"/>
                <a:gd name="T14" fmla="*/ 14 w 88"/>
                <a:gd name="T15" fmla="*/ 52 h 88"/>
                <a:gd name="T16" fmla="*/ 0 w 88"/>
                <a:gd name="T17" fmla="*/ 80 h 88"/>
                <a:gd name="T18" fmla="*/ 28 w 88"/>
                <a:gd name="T19" fmla="*/ 80 h 88"/>
                <a:gd name="T20" fmla="*/ 28 w 88"/>
                <a:gd name="T21" fmla="*/ 59 h 88"/>
                <a:gd name="T22" fmla="*/ 60 w 88"/>
                <a:gd name="T23" fmla="*/ 59 h 88"/>
                <a:gd name="T24" fmla="*/ 60 w 88"/>
                <a:gd name="T25" fmla="*/ 80 h 88"/>
                <a:gd name="T26" fmla="*/ 88 w 88"/>
                <a:gd name="T27" fmla="*/ 80 h 88"/>
                <a:gd name="T28" fmla="*/ 74 w 88"/>
                <a:gd name="T29" fmla="*/ 52 h 88"/>
                <a:gd name="T30" fmla="*/ 47 w 88"/>
                <a:gd name="T31" fmla="*/ 44 h 88"/>
                <a:gd name="T32" fmla="*/ 74 w 88"/>
                <a:gd name="T33" fmla="*/ 36 h 88"/>
                <a:gd name="T34" fmla="*/ 88 w 88"/>
                <a:gd name="T35" fmla="*/ 8 h 88"/>
                <a:gd name="T36" fmla="*/ 4 w 88"/>
                <a:gd name="T37" fmla="*/ 14 h 88"/>
                <a:gd name="T38" fmla="*/ 24 w 88"/>
                <a:gd name="T39" fmla="*/ 14 h 88"/>
                <a:gd name="T40" fmla="*/ 14 w 88"/>
                <a:gd name="T41" fmla="*/ 22 h 88"/>
                <a:gd name="T42" fmla="*/ 4 w 88"/>
                <a:gd name="T43" fmla="*/ 14 h 88"/>
                <a:gd name="T44" fmla="*/ 24 w 88"/>
                <a:gd name="T45" fmla="*/ 8 h 88"/>
                <a:gd name="T46" fmla="*/ 4 w 88"/>
                <a:gd name="T47" fmla="*/ 8 h 88"/>
                <a:gd name="T48" fmla="*/ 14 w 88"/>
                <a:gd name="T49" fmla="*/ 32 h 88"/>
                <a:gd name="T50" fmla="*/ 4 w 88"/>
                <a:gd name="T51" fmla="*/ 24 h 88"/>
                <a:gd name="T52" fmla="*/ 24 w 88"/>
                <a:gd name="T53" fmla="*/ 24 h 88"/>
                <a:gd name="T54" fmla="*/ 14 w 88"/>
                <a:gd name="T55" fmla="*/ 32 h 88"/>
                <a:gd name="T56" fmla="*/ 14 w 88"/>
                <a:gd name="T57" fmla="*/ 74 h 88"/>
                <a:gd name="T58" fmla="*/ 4 w 88"/>
                <a:gd name="T59" fmla="*/ 66 h 88"/>
                <a:gd name="T60" fmla="*/ 24 w 88"/>
                <a:gd name="T61" fmla="*/ 66 h 88"/>
                <a:gd name="T62" fmla="*/ 14 w 88"/>
                <a:gd name="T63" fmla="*/ 56 h 88"/>
                <a:gd name="T64" fmla="*/ 14 w 88"/>
                <a:gd name="T65" fmla="*/ 64 h 88"/>
                <a:gd name="T66" fmla="*/ 14 w 88"/>
                <a:gd name="T67" fmla="*/ 56 h 88"/>
                <a:gd name="T68" fmla="*/ 4 w 88"/>
                <a:gd name="T69" fmla="*/ 80 h 88"/>
                <a:gd name="T70" fmla="*/ 14 w 88"/>
                <a:gd name="T71" fmla="*/ 78 h 88"/>
                <a:gd name="T72" fmla="*/ 24 w 88"/>
                <a:gd name="T73" fmla="*/ 80 h 88"/>
                <a:gd name="T74" fmla="*/ 84 w 88"/>
                <a:gd name="T75" fmla="*/ 70 h 88"/>
                <a:gd name="T76" fmla="*/ 64 w 88"/>
                <a:gd name="T77" fmla="*/ 70 h 88"/>
                <a:gd name="T78" fmla="*/ 74 w 88"/>
                <a:gd name="T79" fmla="*/ 68 h 88"/>
                <a:gd name="T80" fmla="*/ 84 w 88"/>
                <a:gd name="T81" fmla="*/ 70 h 88"/>
                <a:gd name="T82" fmla="*/ 64 w 88"/>
                <a:gd name="T83" fmla="*/ 80 h 88"/>
                <a:gd name="T84" fmla="*/ 74 w 88"/>
                <a:gd name="T85" fmla="*/ 78 h 88"/>
                <a:gd name="T86" fmla="*/ 84 w 88"/>
                <a:gd name="T87" fmla="*/ 80 h 88"/>
                <a:gd name="T88" fmla="*/ 74 w 88"/>
                <a:gd name="T89" fmla="*/ 56 h 88"/>
                <a:gd name="T90" fmla="*/ 74 w 88"/>
                <a:gd name="T91" fmla="*/ 64 h 88"/>
                <a:gd name="T92" fmla="*/ 74 w 88"/>
                <a:gd name="T93" fmla="*/ 56 h 88"/>
                <a:gd name="T94" fmla="*/ 74 w 88"/>
                <a:gd name="T95" fmla="*/ 22 h 88"/>
                <a:gd name="T96" fmla="*/ 64 w 88"/>
                <a:gd name="T97" fmla="*/ 14 h 88"/>
                <a:gd name="T98" fmla="*/ 84 w 88"/>
                <a:gd name="T99" fmla="*/ 14 h 88"/>
                <a:gd name="T100" fmla="*/ 74 w 88"/>
                <a:gd name="T101" fmla="*/ 4 h 88"/>
                <a:gd name="T102" fmla="*/ 74 w 88"/>
                <a:gd name="T103" fmla="*/ 12 h 88"/>
                <a:gd name="T104" fmla="*/ 74 w 88"/>
                <a:gd name="T105" fmla="*/ 4 h 88"/>
                <a:gd name="T106" fmla="*/ 64 w 88"/>
                <a:gd name="T107" fmla="*/ 28 h 88"/>
                <a:gd name="T108" fmla="*/ 74 w 88"/>
                <a:gd name="T109" fmla="*/ 26 h 88"/>
                <a:gd name="T110" fmla="*/ 84 w 88"/>
                <a:gd name="T111" fmla="*/ 28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88" h="88">
                  <a:moveTo>
                    <a:pt x="74" y="0"/>
                  </a:moveTo>
                  <a:cubicBezTo>
                    <a:pt x="66" y="0"/>
                    <a:pt x="60" y="3"/>
                    <a:pt x="60" y="8"/>
                  </a:cubicBezTo>
                  <a:cubicBezTo>
                    <a:pt x="60" y="28"/>
                    <a:pt x="60" y="28"/>
                    <a:pt x="60" y="28"/>
                  </a:cubicBezTo>
                  <a:cubicBezTo>
                    <a:pt x="60" y="28"/>
                    <a:pt x="60" y="29"/>
                    <a:pt x="60" y="29"/>
                  </a:cubicBezTo>
                  <a:cubicBezTo>
                    <a:pt x="44" y="41"/>
                    <a:pt x="44" y="41"/>
                    <a:pt x="44" y="41"/>
                  </a:cubicBezTo>
                  <a:cubicBezTo>
                    <a:pt x="28" y="29"/>
                    <a:pt x="28" y="29"/>
                    <a:pt x="28" y="29"/>
                  </a:cubicBezTo>
                  <a:cubicBezTo>
                    <a:pt x="28" y="29"/>
                    <a:pt x="28" y="28"/>
                    <a:pt x="28" y="28"/>
                  </a:cubicBezTo>
                  <a:cubicBezTo>
                    <a:pt x="28" y="8"/>
                    <a:pt x="28" y="8"/>
                    <a:pt x="28" y="8"/>
                  </a:cubicBezTo>
                  <a:cubicBezTo>
                    <a:pt x="28" y="3"/>
                    <a:pt x="22" y="0"/>
                    <a:pt x="14" y="0"/>
                  </a:cubicBezTo>
                  <a:cubicBezTo>
                    <a:pt x="6" y="0"/>
                    <a:pt x="0" y="3"/>
                    <a:pt x="0" y="8"/>
                  </a:cubicBezTo>
                  <a:cubicBezTo>
                    <a:pt x="0" y="28"/>
                    <a:pt x="0" y="28"/>
                    <a:pt x="0" y="28"/>
                  </a:cubicBezTo>
                  <a:cubicBezTo>
                    <a:pt x="0" y="33"/>
                    <a:pt x="6" y="36"/>
                    <a:pt x="14" y="36"/>
                  </a:cubicBezTo>
                  <a:cubicBezTo>
                    <a:pt x="19" y="36"/>
                    <a:pt x="23" y="35"/>
                    <a:pt x="26" y="32"/>
                  </a:cubicBezTo>
                  <a:cubicBezTo>
                    <a:pt x="41" y="44"/>
                    <a:pt x="41" y="44"/>
                    <a:pt x="41" y="44"/>
                  </a:cubicBezTo>
                  <a:cubicBezTo>
                    <a:pt x="26" y="56"/>
                    <a:pt x="26" y="56"/>
                    <a:pt x="26" y="56"/>
                  </a:cubicBezTo>
                  <a:cubicBezTo>
                    <a:pt x="23" y="53"/>
                    <a:pt x="19" y="52"/>
                    <a:pt x="14" y="52"/>
                  </a:cubicBezTo>
                  <a:cubicBezTo>
                    <a:pt x="6" y="52"/>
                    <a:pt x="0" y="55"/>
                    <a:pt x="0" y="60"/>
                  </a:cubicBezTo>
                  <a:cubicBezTo>
                    <a:pt x="0" y="80"/>
                    <a:pt x="0" y="80"/>
                    <a:pt x="0" y="80"/>
                  </a:cubicBezTo>
                  <a:cubicBezTo>
                    <a:pt x="0" y="85"/>
                    <a:pt x="6" y="88"/>
                    <a:pt x="14" y="88"/>
                  </a:cubicBezTo>
                  <a:cubicBezTo>
                    <a:pt x="22" y="88"/>
                    <a:pt x="28" y="85"/>
                    <a:pt x="28" y="80"/>
                  </a:cubicBezTo>
                  <a:cubicBezTo>
                    <a:pt x="28" y="60"/>
                    <a:pt x="28" y="60"/>
                    <a:pt x="28" y="60"/>
                  </a:cubicBezTo>
                  <a:cubicBezTo>
                    <a:pt x="28" y="60"/>
                    <a:pt x="28" y="59"/>
                    <a:pt x="28" y="59"/>
                  </a:cubicBezTo>
                  <a:cubicBezTo>
                    <a:pt x="44" y="47"/>
                    <a:pt x="44" y="47"/>
                    <a:pt x="44" y="47"/>
                  </a:cubicBezTo>
                  <a:cubicBezTo>
                    <a:pt x="60" y="59"/>
                    <a:pt x="60" y="59"/>
                    <a:pt x="60" y="59"/>
                  </a:cubicBezTo>
                  <a:cubicBezTo>
                    <a:pt x="60" y="59"/>
                    <a:pt x="60" y="60"/>
                    <a:pt x="60" y="60"/>
                  </a:cubicBezTo>
                  <a:cubicBezTo>
                    <a:pt x="60" y="80"/>
                    <a:pt x="60" y="80"/>
                    <a:pt x="60" y="80"/>
                  </a:cubicBezTo>
                  <a:cubicBezTo>
                    <a:pt x="60" y="85"/>
                    <a:pt x="66" y="88"/>
                    <a:pt x="74" y="88"/>
                  </a:cubicBezTo>
                  <a:cubicBezTo>
                    <a:pt x="82" y="88"/>
                    <a:pt x="88" y="85"/>
                    <a:pt x="88" y="80"/>
                  </a:cubicBezTo>
                  <a:cubicBezTo>
                    <a:pt x="88" y="60"/>
                    <a:pt x="88" y="60"/>
                    <a:pt x="88" y="60"/>
                  </a:cubicBezTo>
                  <a:cubicBezTo>
                    <a:pt x="88" y="55"/>
                    <a:pt x="82" y="52"/>
                    <a:pt x="74" y="52"/>
                  </a:cubicBezTo>
                  <a:cubicBezTo>
                    <a:pt x="69" y="52"/>
                    <a:pt x="65" y="53"/>
                    <a:pt x="62" y="56"/>
                  </a:cubicBezTo>
                  <a:cubicBezTo>
                    <a:pt x="47" y="44"/>
                    <a:pt x="47" y="44"/>
                    <a:pt x="47" y="44"/>
                  </a:cubicBezTo>
                  <a:cubicBezTo>
                    <a:pt x="62" y="32"/>
                    <a:pt x="62" y="32"/>
                    <a:pt x="62" y="32"/>
                  </a:cubicBezTo>
                  <a:cubicBezTo>
                    <a:pt x="65" y="35"/>
                    <a:pt x="69" y="36"/>
                    <a:pt x="74" y="36"/>
                  </a:cubicBezTo>
                  <a:cubicBezTo>
                    <a:pt x="82" y="36"/>
                    <a:pt x="88" y="33"/>
                    <a:pt x="88" y="28"/>
                  </a:cubicBezTo>
                  <a:cubicBezTo>
                    <a:pt x="88" y="8"/>
                    <a:pt x="88" y="8"/>
                    <a:pt x="88" y="8"/>
                  </a:cubicBezTo>
                  <a:cubicBezTo>
                    <a:pt x="88" y="3"/>
                    <a:pt x="82" y="0"/>
                    <a:pt x="74" y="0"/>
                  </a:cubicBezTo>
                  <a:close/>
                  <a:moveTo>
                    <a:pt x="4" y="14"/>
                  </a:moveTo>
                  <a:cubicBezTo>
                    <a:pt x="7" y="15"/>
                    <a:pt x="10" y="16"/>
                    <a:pt x="14" y="16"/>
                  </a:cubicBezTo>
                  <a:cubicBezTo>
                    <a:pt x="18" y="16"/>
                    <a:pt x="21" y="15"/>
                    <a:pt x="24" y="14"/>
                  </a:cubicBezTo>
                  <a:cubicBezTo>
                    <a:pt x="24" y="18"/>
                    <a:pt x="24" y="18"/>
                    <a:pt x="24" y="18"/>
                  </a:cubicBezTo>
                  <a:cubicBezTo>
                    <a:pt x="24" y="20"/>
                    <a:pt x="20" y="22"/>
                    <a:pt x="14" y="22"/>
                  </a:cubicBezTo>
                  <a:cubicBezTo>
                    <a:pt x="8" y="22"/>
                    <a:pt x="4" y="20"/>
                    <a:pt x="4" y="18"/>
                  </a:cubicBezTo>
                  <a:lnTo>
                    <a:pt x="4" y="14"/>
                  </a:lnTo>
                  <a:close/>
                  <a:moveTo>
                    <a:pt x="14" y="4"/>
                  </a:moveTo>
                  <a:cubicBezTo>
                    <a:pt x="20" y="4"/>
                    <a:pt x="24" y="6"/>
                    <a:pt x="24" y="8"/>
                  </a:cubicBezTo>
                  <a:cubicBezTo>
                    <a:pt x="24" y="10"/>
                    <a:pt x="20" y="12"/>
                    <a:pt x="14" y="12"/>
                  </a:cubicBezTo>
                  <a:cubicBezTo>
                    <a:pt x="8" y="12"/>
                    <a:pt x="4" y="10"/>
                    <a:pt x="4" y="8"/>
                  </a:cubicBezTo>
                  <a:cubicBezTo>
                    <a:pt x="4" y="6"/>
                    <a:pt x="8" y="4"/>
                    <a:pt x="14" y="4"/>
                  </a:cubicBezTo>
                  <a:close/>
                  <a:moveTo>
                    <a:pt x="14" y="32"/>
                  </a:moveTo>
                  <a:cubicBezTo>
                    <a:pt x="8" y="32"/>
                    <a:pt x="4" y="30"/>
                    <a:pt x="4" y="28"/>
                  </a:cubicBezTo>
                  <a:cubicBezTo>
                    <a:pt x="4" y="24"/>
                    <a:pt x="4" y="24"/>
                    <a:pt x="4" y="24"/>
                  </a:cubicBezTo>
                  <a:cubicBezTo>
                    <a:pt x="7" y="25"/>
                    <a:pt x="10" y="26"/>
                    <a:pt x="14" y="26"/>
                  </a:cubicBezTo>
                  <a:cubicBezTo>
                    <a:pt x="18" y="26"/>
                    <a:pt x="21" y="25"/>
                    <a:pt x="24" y="24"/>
                  </a:cubicBezTo>
                  <a:cubicBezTo>
                    <a:pt x="24" y="28"/>
                    <a:pt x="24" y="28"/>
                    <a:pt x="24" y="28"/>
                  </a:cubicBezTo>
                  <a:cubicBezTo>
                    <a:pt x="24" y="30"/>
                    <a:pt x="20" y="32"/>
                    <a:pt x="14" y="32"/>
                  </a:cubicBezTo>
                  <a:close/>
                  <a:moveTo>
                    <a:pt x="24" y="70"/>
                  </a:moveTo>
                  <a:cubicBezTo>
                    <a:pt x="24" y="72"/>
                    <a:pt x="20" y="74"/>
                    <a:pt x="14" y="74"/>
                  </a:cubicBezTo>
                  <a:cubicBezTo>
                    <a:pt x="8" y="74"/>
                    <a:pt x="4" y="72"/>
                    <a:pt x="4" y="70"/>
                  </a:cubicBezTo>
                  <a:cubicBezTo>
                    <a:pt x="4" y="66"/>
                    <a:pt x="4" y="66"/>
                    <a:pt x="4" y="66"/>
                  </a:cubicBezTo>
                  <a:cubicBezTo>
                    <a:pt x="7" y="67"/>
                    <a:pt x="10" y="68"/>
                    <a:pt x="14" y="68"/>
                  </a:cubicBezTo>
                  <a:cubicBezTo>
                    <a:pt x="18" y="68"/>
                    <a:pt x="21" y="67"/>
                    <a:pt x="24" y="66"/>
                  </a:cubicBezTo>
                  <a:lnTo>
                    <a:pt x="24" y="70"/>
                  </a:lnTo>
                  <a:close/>
                  <a:moveTo>
                    <a:pt x="14" y="56"/>
                  </a:moveTo>
                  <a:cubicBezTo>
                    <a:pt x="20" y="56"/>
                    <a:pt x="24" y="58"/>
                    <a:pt x="24" y="60"/>
                  </a:cubicBezTo>
                  <a:cubicBezTo>
                    <a:pt x="24" y="62"/>
                    <a:pt x="20" y="64"/>
                    <a:pt x="14" y="64"/>
                  </a:cubicBezTo>
                  <a:cubicBezTo>
                    <a:pt x="8" y="64"/>
                    <a:pt x="4" y="62"/>
                    <a:pt x="4" y="60"/>
                  </a:cubicBezTo>
                  <a:cubicBezTo>
                    <a:pt x="4" y="58"/>
                    <a:pt x="8" y="56"/>
                    <a:pt x="14" y="56"/>
                  </a:cubicBezTo>
                  <a:close/>
                  <a:moveTo>
                    <a:pt x="14" y="84"/>
                  </a:moveTo>
                  <a:cubicBezTo>
                    <a:pt x="8" y="84"/>
                    <a:pt x="4" y="82"/>
                    <a:pt x="4" y="80"/>
                  </a:cubicBezTo>
                  <a:cubicBezTo>
                    <a:pt x="4" y="76"/>
                    <a:pt x="4" y="76"/>
                    <a:pt x="4" y="76"/>
                  </a:cubicBezTo>
                  <a:cubicBezTo>
                    <a:pt x="7" y="77"/>
                    <a:pt x="10" y="78"/>
                    <a:pt x="14" y="78"/>
                  </a:cubicBezTo>
                  <a:cubicBezTo>
                    <a:pt x="18" y="78"/>
                    <a:pt x="21" y="77"/>
                    <a:pt x="24" y="76"/>
                  </a:cubicBezTo>
                  <a:cubicBezTo>
                    <a:pt x="24" y="80"/>
                    <a:pt x="24" y="80"/>
                    <a:pt x="24" y="80"/>
                  </a:cubicBezTo>
                  <a:cubicBezTo>
                    <a:pt x="24" y="82"/>
                    <a:pt x="20" y="84"/>
                    <a:pt x="14" y="84"/>
                  </a:cubicBezTo>
                  <a:close/>
                  <a:moveTo>
                    <a:pt x="84" y="70"/>
                  </a:moveTo>
                  <a:cubicBezTo>
                    <a:pt x="84" y="72"/>
                    <a:pt x="80" y="74"/>
                    <a:pt x="74" y="74"/>
                  </a:cubicBezTo>
                  <a:cubicBezTo>
                    <a:pt x="68" y="74"/>
                    <a:pt x="64" y="72"/>
                    <a:pt x="64" y="70"/>
                  </a:cubicBezTo>
                  <a:cubicBezTo>
                    <a:pt x="64" y="66"/>
                    <a:pt x="64" y="66"/>
                    <a:pt x="64" y="66"/>
                  </a:cubicBezTo>
                  <a:cubicBezTo>
                    <a:pt x="67" y="67"/>
                    <a:pt x="70" y="68"/>
                    <a:pt x="74" y="68"/>
                  </a:cubicBezTo>
                  <a:cubicBezTo>
                    <a:pt x="78" y="68"/>
                    <a:pt x="81" y="67"/>
                    <a:pt x="84" y="66"/>
                  </a:cubicBezTo>
                  <a:lnTo>
                    <a:pt x="84" y="70"/>
                  </a:lnTo>
                  <a:close/>
                  <a:moveTo>
                    <a:pt x="74" y="84"/>
                  </a:moveTo>
                  <a:cubicBezTo>
                    <a:pt x="68" y="84"/>
                    <a:pt x="64" y="82"/>
                    <a:pt x="64" y="80"/>
                  </a:cubicBezTo>
                  <a:cubicBezTo>
                    <a:pt x="64" y="76"/>
                    <a:pt x="64" y="76"/>
                    <a:pt x="64" y="76"/>
                  </a:cubicBezTo>
                  <a:cubicBezTo>
                    <a:pt x="67" y="77"/>
                    <a:pt x="70" y="78"/>
                    <a:pt x="74" y="78"/>
                  </a:cubicBezTo>
                  <a:cubicBezTo>
                    <a:pt x="78" y="78"/>
                    <a:pt x="81" y="77"/>
                    <a:pt x="84" y="76"/>
                  </a:cubicBezTo>
                  <a:cubicBezTo>
                    <a:pt x="84" y="80"/>
                    <a:pt x="84" y="80"/>
                    <a:pt x="84" y="80"/>
                  </a:cubicBezTo>
                  <a:cubicBezTo>
                    <a:pt x="84" y="82"/>
                    <a:pt x="80" y="84"/>
                    <a:pt x="74" y="84"/>
                  </a:cubicBezTo>
                  <a:close/>
                  <a:moveTo>
                    <a:pt x="74" y="56"/>
                  </a:moveTo>
                  <a:cubicBezTo>
                    <a:pt x="80" y="56"/>
                    <a:pt x="84" y="58"/>
                    <a:pt x="84" y="60"/>
                  </a:cubicBezTo>
                  <a:cubicBezTo>
                    <a:pt x="84" y="62"/>
                    <a:pt x="80" y="64"/>
                    <a:pt x="74" y="64"/>
                  </a:cubicBezTo>
                  <a:cubicBezTo>
                    <a:pt x="68" y="64"/>
                    <a:pt x="64" y="62"/>
                    <a:pt x="64" y="60"/>
                  </a:cubicBezTo>
                  <a:cubicBezTo>
                    <a:pt x="64" y="58"/>
                    <a:pt x="68" y="56"/>
                    <a:pt x="74" y="56"/>
                  </a:cubicBezTo>
                  <a:close/>
                  <a:moveTo>
                    <a:pt x="84" y="18"/>
                  </a:moveTo>
                  <a:cubicBezTo>
                    <a:pt x="84" y="20"/>
                    <a:pt x="80" y="22"/>
                    <a:pt x="74" y="22"/>
                  </a:cubicBezTo>
                  <a:cubicBezTo>
                    <a:pt x="68" y="22"/>
                    <a:pt x="64" y="20"/>
                    <a:pt x="64" y="18"/>
                  </a:cubicBezTo>
                  <a:cubicBezTo>
                    <a:pt x="64" y="14"/>
                    <a:pt x="64" y="14"/>
                    <a:pt x="64" y="14"/>
                  </a:cubicBezTo>
                  <a:cubicBezTo>
                    <a:pt x="67" y="15"/>
                    <a:pt x="70" y="16"/>
                    <a:pt x="74" y="16"/>
                  </a:cubicBezTo>
                  <a:cubicBezTo>
                    <a:pt x="78" y="16"/>
                    <a:pt x="81" y="15"/>
                    <a:pt x="84" y="14"/>
                  </a:cubicBezTo>
                  <a:lnTo>
                    <a:pt x="84" y="18"/>
                  </a:lnTo>
                  <a:close/>
                  <a:moveTo>
                    <a:pt x="74" y="4"/>
                  </a:moveTo>
                  <a:cubicBezTo>
                    <a:pt x="80" y="4"/>
                    <a:pt x="84" y="6"/>
                    <a:pt x="84" y="8"/>
                  </a:cubicBezTo>
                  <a:cubicBezTo>
                    <a:pt x="84" y="10"/>
                    <a:pt x="80" y="12"/>
                    <a:pt x="74" y="12"/>
                  </a:cubicBezTo>
                  <a:cubicBezTo>
                    <a:pt x="68" y="12"/>
                    <a:pt x="64" y="10"/>
                    <a:pt x="64" y="8"/>
                  </a:cubicBezTo>
                  <a:cubicBezTo>
                    <a:pt x="64" y="6"/>
                    <a:pt x="68" y="4"/>
                    <a:pt x="74" y="4"/>
                  </a:cubicBezTo>
                  <a:close/>
                  <a:moveTo>
                    <a:pt x="74" y="32"/>
                  </a:moveTo>
                  <a:cubicBezTo>
                    <a:pt x="68" y="32"/>
                    <a:pt x="64" y="30"/>
                    <a:pt x="64" y="28"/>
                  </a:cubicBezTo>
                  <a:cubicBezTo>
                    <a:pt x="64" y="24"/>
                    <a:pt x="64" y="24"/>
                    <a:pt x="64" y="24"/>
                  </a:cubicBezTo>
                  <a:cubicBezTo>
                    <a:pt x="67" y="25"/>
                    <a:pt x="70" y="26"/>
                    <a:pt x="74" y="26"/>
                  </a:cubicBezTo>
                  <a:cubicBezTo>
                    <a:pt x="78" y="26"/>
                    <a:pt x="81" y="25"/>
                    <a:pt x="84" y="24"/>
                  </a:cubicBezTo>
                  <a:cubicBezTo>
                    <a:pt x="84" y="28"/>
                    <a:pt x="84" y="28"/>
                    <a:pt x="84" y="28"/>
                  </a:cubicBezTo>
                  <a:cubicBezTo>
                    <a:pt x="84" y="30"/>
                    <a:pt x="80" y="32"/>
                    <a:pt x="74" y="32"/>
                  </a:cubicBez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800" b="0" i="0" u="none" strike="noStrike" kern="0" cap="none" spc="0" normalizeH="0" baseline="0" noProof="0">
                <a:ln>
                  <a:noFill/>
                </a:ln>
                <a:solidFill>
                  <a:srgbClr val="96968C"/>
                </a:solidFill>
                <a:effectLst/>
                <a:uLnTx/>
                <a:uFillTx/>
                <a:latin typeface="Graphik Semibold" panose="020B0703030202060203" pitchFamily="34" charset="0"/>
                <a:ea typeface="+mn-ea"/>
                <a:cs typeface="Arial" charset="0"/>
              </a:endParaRPr>
            </a:p>
          </p:txBody>
        </p:sp>
        <p:grpSp>
          <p:nvGrpSpPr>
            <p:cNvPr id="26" name="Group 67">
              <a:extLst>
                <a:ext uri="{FF2B5EF4-FFF2-40B4-BE49-F238E27FC236}">
                  <a16:creationId xmlns:a16="http://schemas.microsoft.com/office/drawing/2014/main" id="{972A5BDE-9D40-FA59-BA84-D1110E1041E8}"/>
                </a:ext>
              </a:extLst>
            </p:cNvPr>
            <p:cNvGrpSpPr>
              <a:grpSpLocks noChangeAspect="1"/>
            </p:cNvGrpSpPr>
            <p:nvPr/>
          </p:nvGrpSpPr>
          <p:grpSpPr bwMode="auto">
            <a:xfrm>
              <a:off x="863430" y="1684605"/>
              <a:ext cx="126246" cy="123349"/>
              <a:chOff x="1356" y="1721"/>
              <a:chExt cx="427" cy="426"/>
            </a:xfrm>
            <a:solidFill>
              <a:srgbClr val="FFFFFF"/>
            </a:solidFill>
          </p:grpSpPr>
          <p:sp>
            <p:nvSpPr>
              <p:cNvPr id="27" name="Freeform 68">
                <a:extLst>
                  <a:ext uri="{FF2B5EF4-FFF2-40B4-BE49-F238E27FC236}">
                    <a16:creationId xmlns:a16="http://schemas.microsoft.com/office/drawing/2014/main" id="{FDF97164-2EEB-64D3-5831-087FEB95B195}"/>
                  </a:ext>
                </a:extLst>
              </p:cNvPr>
              <p:cNvSpPr>
                <a:spLocks noEditPoints="1"/>
              </p:cNvSpPr>
              <p:nvPr/>
            </p:nvSpPr>
            <p:spPr bwMode="auto">
              <a:xfrm>
                <a:off x="1356" y="1721"/>
                <a:ext cx="427" cy="426"/>
              </a:xfrm>
              <a:custGeom>
                <a:avLst/>
                <a:gdLst>
                  <a:gd name="T0" fmla="*/ 126 w 288"/>
                  <a:gd name="T1" fmla="*/ 288 h 288"/>
                  <a:gd name="T2" fmla="*/ 120 w 288"/>
                  <a:gd name="T3" fmla="*/ 247 h 288"/>
                  <a:gd name="T4" fmla="*/ 67 w 288"/>
                  <a:gd name="T5" fmla="*/ 262 h 288"/>
                  <a:gd name="T6" fmla="*/ 25 w 288"/>
                  <a:gd name="T7" fmla="*/ 229 h 288"/>
                  <a:gd name="T8" fmla="*/ 25 w 288"/>
                  <a:gd name="T9" fmla="*/ 220 h 288"/>
                  <a:gd name="T10" fmla="*/ 40 w 288"/>
                  <a:gd name="T11" fmla="*/ 168 h 288"/>
                  <a:gd name="T12" fmla="*/ 0 w 288"/>
                  <a:gd name="T13" fmla="*/ 162 h 288"/>
                  <a:gd name="T14" fmla="*/ 6 w 288"/>
                  <a:gd name="T15" fmla="*/ 120 h 288"/>
                  <a:gd name="T16" fmla="*/ 49 w 288"/>
                  <a:gd name="T17" fmla="*/ 92 h 288"/>
                  <a:gd name="T18" fmla="*/ 23 w 288"/>
                  <a:gd name="T19" fmla="*/ 63 h 288"/>
                  <a:gd name="T20" fmla="*/ 59 w 288"/>
                  <a:gd name="T21" fmla="*/ 25 h 288"/>
                  <a:gd name="T22" fmla="*/ 92 w 288"/>
                  <a:gd name="T23" fmla="*/ 49 h 288"/>
                  <a:gd name="T24" fmla="*/ 120 w 288"/>
                  <a:gd name="T25" fmla="*/ 6 h 288"/>
                  <a:gd name="T26" fmla="*/ 162 w 288"/>
                  <a:gd name="T27" fmla="*/ 0 h 288"/>
                  <a:gd name="T28" fmla="*/ 168 w 288"/>
                  <a:gd name="T29" fmla="*/ 40 h 288"/>
                  <a:gd name="T30" fmla="*/ 220 w 288"/>
                  <a:gd name="T31" fmla="*/ 25 h 288"/>
                  <a:gd name="T32" fmla="*/ 263 w 288"/>
                  <a:gd name="T33" fmla="*/ 59 h 288"/>
                  <a:gd name="T34" fmla="*/ 263 w 288"/>
                  <a:gd name="T35" fmla="*/ 67 h 288"/>
                  <a:gd name="T36" fmla="*/ 248 w 288"/>
                  <a:gd name="T37" fmla="*/ 120 h 288"/>
                  <a:gd name="T38" fmla="*/ 288 w 288"/>
                  <a:gd name="T39" fmla="*/ 126 h 288"/>
                  <a:gd name="T40" fmla="*/ 282 w 288"/>
                  <a:gd name="T41" fmla="*/ 168 h 288"/>
                  <a:gd name="T42" fmla="*/ 238 w 288"/>
                  <a:gd name="T43" fmla="*/ 196 h 288"/>
                  <a:gd name="T44" fmla="*/ 263 w 288"/>
                  <a:gd name="T45" fmla="*/ 229 h 288"/>
                  <a:gd name="T46" fmla="*/ 220 w 288"/>
                  <a:gd name="T47" fmla="*/ 262 h 288"/>
                  <a:gd name="T48" fmla="*/ 168 w 288"/>
                  <a:gd name="T49" fmla="*/ 247 h 288"/>
                  <a:gd name="T50" fmla="*/ 162 w 288"/>
                  <a:gd name="T51" fmla="*/ 288 h 288"/>
                  <a:gd name="T52" fmla="*/ 156 w 288"/>
                  <a:gd name="T53" fmla="*/ 276 h 288"/>
                  <a:gd name="T54" fmla="*/ 160 w 288"/>
                  <a:gd name="T55" fmla="*/ 237 h 288"/>
                  <a:gd name="T56" fmla="*/ 201 w 288"/>
                  <a:gd name="T57" fmla="*/ 226 h 288"/>
                  <a:gd name="T58" fmla="*/ 250 w 288"/>
                  <a:gd name="T59" fmla="*/ 224 h 288"/>
                  <a:gd name="T60" fmla="*/ 226 w 288"/>
                  <a:gd name="T61" fmla="*/ 194 h 288"/>
                  <a:gd name="T62" fmla="*/ 243 w 288"/>
                  <a:gd name="T63" fmla="*/ 156 h 288"/>
                  <a:gd name="T64" fmla="*/ 276 w 288"/>
                  <a:gd name="T65" fmla="*/ 132 h 288"/>
                  <a:gd name="T66" fmla="*/ 237 w 288"/>
                  <a:gd name="T67" fmla="*/ 127 h 288"/>
                  <a:gd name="T68" fmla="*/ 227 w 288"/>
                  <a:gd name="T69" fmla="*/ 86 h 288"/>
                  <a:gd name="T70" fmla="*/ 224 w 288"/>
                  <a:gd name="T71" fmla="*/ 38 h 288"/>
                  <a:gd name="T72" fmla="*/ 194 w 288"/>
                  <a:gd name="T73" fmla="*/ 62 h 288"/>
                  <a:gd name="T74" fmla="*/ 156 w 288"/>
                  <a:gd name="T75" fmla="*/ 45 h 288"/>
                  <a:gd name="T76" fmla="*/ 132 w 288"/>
                  <a:gd name="T77" fmla="*/ 12 h 288"/>
                  <a:gd name="T78" fmla="*/ 127 w 288"/>
                  <a:gd name="T79" fmla="*/ 50 h 288"/>
                  <a:gd name="T80" fmla="*/ 87 w 288"/>
                  <a:gd name="T81" fmla="*/ 61 h 288"/>
                  <a:gd name="T82" fmla="*/ 38 w 288"/>
                  <a:gd name="T83" fmla="*/ 63 h 288"/>
                  <a:gd name="T84" fmla="*/ 62 w 288"/>
                  <a:gd name="T85" fmla="*/ 94 h 288"/>
                  <a:gd name="T86" fmla="*/ 45 w 288"/>
                  <a:gd name="T87" fmla="*/ 132 h 288"/>
                  <a:gd name="T88" fmla="*/ 12 w 288"/>
                  <a:gd name="T89" fmla="*/ 156 h 288"/>
                  <a:gd name="T90" fmla="*/ 51 w 288"/>
                  <a:gd name="T91" fmla="*/ 160 h 288"/>
                  <a:gd name="T92" fmla="*/ 61 w 288"/>
                  <a:gd name="T93" fmla="*/ 201 h 288"/>
                  <a:gd name="T94" fmla="*/ 63 w 288"/>
                  <a:gd name="T95" fmla="*/ 250 h 288"/>
                  <a:gd name="T96" fmla="*/ 94 w 288"/>
                  <a:gd name="T97" fmla="*/ 226 h 288"/>
                  <a:gd name="T98" fmla="*/ 132 w 288"/>
                  <a:gd name="T99" fmla="*/ 243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88" h="288">
                    <a:moveTo>
                      <a:pt x="162" y="288"/>
                    </a:moveTo>
                    <a:cubicBezTo>
                      <a:pt x="126" y="288"/>
                      <a:pt x="126" y="288"/>
                      <a:pt x="126" y="288"/>
                    </a:cubicBezTo>
                    <a:cubicBezTo>
                      <a:pt x="123" y="288"/>
                      <a:pt x="120" y="285"/>
                      <a:pt x="120" y="282"/>
                    </a:cubicBezTo>
                    <a:cubicBezTo>
                      <a:pt x="120" y="247"/>
                      <a:pt x="120" y="247"/>
                      <a:pt x="120" y="247"/>
                    </a:cubicBezTo>
                    <a:cubicBezTo>
                      <a:pt x="110" y="245"/>
                      <a:pt x="100" y="242"/>
                      <a:pt x="92" y="238"/>
                    </a:cubicBezTo>
                    <a:cubicBezTo>
                      <a:pt x="67" y="262"/>
                      <a:pt x="67" y="262"/>
                      <a:pt x="67" y="262"/>
                    </a:cubicBezTo>
                    <a:cubicBezTo>
                      <a:pt x="65" y="265"/>
                      <a:pt x="61" y="265"/>
                      <a:pt x="59" y="262"/>
                    </a:cubicBezTo>
                    <a:cubicBezTo>
                      <a:pt x="25" y="229"/>
                      <a:pt x="25" y="229"/>
                      <a:pt x="25" y="229"/>
                    </a:cubicBezTo>
                    <a:cubicBezTo>
                      <a:pt x="24" y="227"/>
                      <a:pt x="23" y="226"/>
                      <a:pt x="23" y="224"/>
                    </a:cubicBezTo>
                    <a:cubicBezTo>
                      <a:pt x="23" y="223"/>
                      <a:pt x="24" y="221"/>
                      <a:pt x="25" y="220"/>
                    </a:cubicBezTo>
                    <a:cubicBezTo>
                      <a:pt x="49" y="196"/>
                      <a:pt x="49" y="196"/>
                      <a:pt x="49" y="196"/>
                    </a:cubicBezTo>
                    <a:cubicBezTo>
                      <a:pt x="46" y="188"/>
                      <a:pt x="43" y="177"/>
                      <a:pt x="40" y="168"/>
                    </a:cubicBezTo>
                    <a:cubicBezTo>
                      <a:pt x="6" y="168"/>
                      <a:pt x="6" y="168"/>
                      <a:pt x="6" y="168"/>
                    </a:cubicBezTo>
                    <a:cubicBezTo>
                      <a:pt x="3" y="168"/>
                      <a:pt x="0" y="165"/>
                      <a:pt x="0" y="162"/>
                    </a:cubicBezTo>
                    <a:cubicBezTo>
                      <a:pt x="0" y="126"/>
                      <a:pt x="0" y="126"/>
                      <a:pt x="0" y="126"/>
                    </a:cubicBezTo>
                    <a:cubicBezTo>
                      <a:pt x="0" y="122"/>
                      <a:pt x="3" y="120"/>
                      <a:pt x="6" y="120"/>
                    </a:cubicBezTo>
                    <a:cubicBezTo>
                      <a:pt x="40" y="120"/>
                      <a:pt x="40" y="120"/>
                      <a:pt x="40" y="120"/>
                    </a:cubicBezTo>
                    <a:cubicBezTo>
                      <a:pt x="43" y="110"/>
                      <a:pt x="46" y="100"/>
                      <a:pt x="49" y="92"/>
                    </a:cubicBezTo>
                    <a:cubicBezTo>
                      <a:pt x="25" y="67"/>
                      <a:pt x="25" y="67"/>
                      <a:pt x="25" y="67"/>
                    </a:cubicBezTo>
                    <a:cubicBezTo>
                      <a:pt x="24" y="66"/>
                      <a:pt x="23" y="65"/>
                      <a:pt x="23" y="63"/>
                    </a:cubicBezTo>
                    <a:cubicBezTo>
                      <a:pt x="23" y="61"/>
                      <a:pt x="24" y="60"/>
                      <a:pt x="25" y="59"/>
                    </a:cubicBezTo>
                    <a:cubicBezTo>
                      <a:pt x="59" y="25"/>
                      <a:pt x="59" y="25"/>
                      <a:pt x="59" y="25"/>
                    </a:cubicBezTo>
                    <a:cubicBezTo>
                      <a:pt x="61" y="23"/>
                      <a:pt x="65" y="23"/>
                      <a:pt x="67" y="25"/>
                    </a:cubicBezTo>
                    <a:cubicBezTo>
                      <a:pt x="92" y="49"/>
                      <a:pt x="92" y="49"/>
                      <a:pt x="92" y="49"/>
                    </a:cubicBezTo>
                    <a:cubicBezTo>
                      <a:pt x="100" y="45"/>
                      <a:pt x="110" y="42"/>
                      <a:pt x="120" y="40"/>
                    </a:cubicBezTo>
                    <a:cubicBezTo>
                      <a:pt x="120" y="6"/>
                      <a:pt x="120" y="6"/>
                      <a:pt x="120" y="6"/>
                    </a:cubicBezTo>
                    <a:cubicBezTo>
                      <a:pt x="120" y="2"/>
                      <a:pt x="123" y="0"/>
                      <a:pt x="126" y="0"/>
                    </a:cubicBezTo>
                    <a:cubicBezTo>
                      <a:pt x="162" y="0"/>
                      <a:pt x="162" y="0"/>
                      <a:pt x="162" y="0"/>
                    </a:cubicBezTo>
                    <a:cubicBezTo>
                      <a:pt x="165" y="0"/>
                      <a:pt x="168" y="2"/>
                      <a:pt x="168" y="6"/>
                    </a:cubicBezTo>
                    <a:cubicBezTo>
                      <a:pt x="168" y="40"/>
                      <a:pt x="168" y="40"/>
                      <a:pt x="168" y="40"/>
                    </a:cubicBezTo>
                    <a:cubicBezTo>
                      <a:pt x="177" y="42"/>
                      <a:pt x="188" y="45"/>
                      <a:pt x="196" y="49"/>
                    </a:cubicBezTo>
                    <a:cubicBezTo>
                      <a:pt x="220" y="25"/>
                      <a:pt x="220" y="25"/>
                      <a:pt x="220" y="25"/>
                    </a:cubicBezTo>
                    <a:cubicBezTo>
                      <a:pt x="223" y="23"/>
                      <a:pt x="226" y="23"/>
                      <a:pt x="229" y="25"/>
                    </a:cubicBezTo>
                    <a:cubicBezTo>
                      <a:pt x="263" y="59"/>
                      <a:pt x="263" y="59"/>
                      <a:pt x="263" y="59"/>
                    </a:cubicBezTo>
                    <a:cubicBezTo>
                      <a:pt x="264" y="60"/>
                      <a:pt x="264" y="61"/>
                      <a:pt x="264" y="63"/>
                    </a:cubicBezTo>
                    <a:cubicBezTo>
                      <a:pt x="264" y="65"/>
                      <a:pt x="264" y="66"/>
                      <a:pt x="263" y="67"/>
                    </a:cubicBezTo>
                    <a:cubicBezTo>
                      <a:pt x="238" y="92"/>
                      <a:pt x="238" y="92"/>
                      <a:pt x="238" y="92"/>
                    </a:cubicBezTo>
                    <a:cubicBezTo>
                      <a:pt x="242" y="100"/>
                      <a:pt x="245" y="110"/>
                      <a:pt x="248" y="120"/>
                    </a:cubicBezTo>
                    <a:cubicBezTo>
                      <a:pt x="282" y="120"/>
                      <a:pt x="282" y="120"/>
                      <a:pt x="282" y="120"/>
                    </a:cubicBezTo>
                    <a:cubicBezTo>
                      <a:pt x="285" y="120"/>
                      <a:pt x="288" y="122"/>
                      <a:pt x="288" y="126"/>
                    </a:cubicBezTo>
                    <a:cubicBezTo>
                      <a:pt x="288" y="162"/>
                      <a:pt x="288" y="162"/>
                      <a:pt x="288" y="162"/>
                    </a:cubicBezTo>
                    <a:cubicBezTo>
                      <a:pt x="288" y="165"/>
                      <a:pt x="285" y="168"/>
                      <a:pt x="282" y="168"/>
                    </a:cubicBezTo>
                    <a:cubicBezTo>
                      <a:pt x="248" y="168"/>
                      <a:pt x="248" y="168"/>
                      <a:pt x="248" y="168"/>
                    </a:cubicBezTo>
                    <a:cubicBezTo>
                      <a:pt x="245" y="177"/>
                      <a:pt x="242" y="188"/>
                      <a:pt x="238" y="196"/>
                    </a:cubicBezTo>
                    <a:cubicBezTo>
                      <a:pt x="263" y="220"/>
                      <a:pt x="263" y="220"/>
                      <a:pt x="263" y="220"/>
                    </a:cubicBezTo>
                    <a:cubicBezTo>
                      <a:pt x="265" y="222"/>
                      <a:pt x="265" y="226"/>
                      <a:pt x="263" y="229"/>
                    </a:cubicBezTo>
                    <a:cubicBezTo>
                      <a:pt x="229" y="262"/>
                      <a:pt x="229" y="262"/>
                      <a:pt x="229" y="262"/>
                    </a:cubicBezTo>
                    <a:cubicBezTo>
                      <a:pt x="226" y="265"/>
                      <a:pt x="223" y="265"/>
                      <a:pt x="220" y="262"/>
                    </a:cubicBezTo>
                    <a:cubicBezTo>
                      <a:pt x="196" y="238"/>
                      <a:pt x="196" y="238"/>
                      <a:pt x="196" y="238"/>
                    </a:cubicBezTo>
                    <a:cubicBezTo>
                      <a:pt x="188" y="242"/>
                      <a:pt x="177" y="245"/>
                      <a:pt x="168" y="247"/>
                    </a:cubicBezTo>
                    <a:cubicBezTo>
                      <a:pt x="168" y="282"/>
                      <a:pt x="168" y="282"/>
                      <a:pt x="168" y="282"/>
                    </a:cubicBezTo>
                    <a:cubicBezTo>
                      <a:pt x="168" y="285"/>
                      <a:pt x="165" y="288"/>
                      <a:pt x="162" y="288"/>
                    </a:cubicBezTo>
                    <a:close/>
                    <a:moveTo>
                      <a:pt x="132" y="276"/>
                    </a:moveTo>
                    <a:cubicBezTo>
                      <a:pt x="156" y="276"/>
                      <a:pt x="156" y="276"/>
                      <a:pt x="156" y="276"/>
                    </a:cubicBezTo>
                    <a:cubicBezTo>
                      <a:pt x="156" y="243"/>
                      <a:pt x="156" y="243"/>
                      <a:pt x="156" y="243"/>
                    </a:cubicBezTo>
                    <a:cubicBezTo>
                      <a:pt x="156" y="240"/>
                      <a:pt x="158" y="238"/>
                      <a:pt x="160" y="237"/>
                    </a:cubicBezTo>
                    <a:cubicBezTo>
                      <a:pt x="167" y="235"/>
                      <a:pt x="185" y="231"/>
                      <a:pt x="194" y="226"/>
                    </a:cubicBezTo>
                    <a:cubicBezTo>
                      <a:pt x="196" y="224"/>
                      <a:pt x="199" y="224"/>
                      <a:pt x="201" y="226"/>
                    </a:cubicBezTo>
                    <a:cubicBezTo>
                      <a:pt x="224" y="250"/>
                      <a:pt x="224" y="250"/>
                      <a:pt x="224" y="250"/>
                    </a:cubicBezTo>
                    <a:cubicBezTo>
                      <a:pt x="250" y="224"/>
                      <a:pt x="250" y="224"/>
                      <a:pt x="250" y="224"/>
                    </a:cubicBezTo>
                    <a:cubicBezTo>
                      <a:pt x="227" y="201"/>
                      <a:pt x="227" y="201"/>
                      <a:pt x="227" y="201"/>
                    </a:cubicBezTo>
                    <a:cubicBezTo>
                      <a:pt x="225" y="199"/>
                      <a:pt x="224" y="196"/>
                      <a:pt x="226" y="194"/>
                    </a:cubicBezTo>
                    <a:cubicBezTo>
                      <a:pt x="231" y="185"/>
                      <a:pt x="235" y="167"/>
                      <a:pt x="237" y="160"/>
                    </a:cubicBezTo>
                    <a:cubicBezTo>
                      <a:pt x="238" y="158"/>
                      <a:pt x="240" y="156"/>
                      <a:pt x="243" y="156"/>
                    </a:cubicBezTo>
                    <a:cubicBezTo>
                      <a:pt x="276" y="156"/>
                      <a:pt x="276" y="156"/>
                      <a:pt x="276" y="156"/>
                    </a:cubicBezTo>
                    <a:cubicBezTo>
                      <a:pt x="276" y="132"/>
                      <a:pt x="276" y="132"/>
                      <a:pt x="276" y="132"/>
                    </a:cubicBezTo>
                    <a:cubicBezTo>
                      <a:pt x="243" y="132"/>
                      <a:pt x="243" y="132"/>
                      <a:pt x="243" y="132"/>
                    </a:cubicBezTo>
                    <a:cubicBezTo>
                      <a:pt x="240" y="132"/>
                      <a:pt x="238" y="130"/>
                      <a:pt x="237" y="127"/>
                    </a:cubicBezTo>
                    <a:cubicBezTo>
                      <a:pt x="235" y="120"/>
                      <a:pt x="231" y="103"/>
                      <a:pt x="226" y="94"/>
                    </a:cubicBezTo>
                    <a:cubicBezTo>
                      <a:pt x="224" y="91"/>
                      <a:pt x="225" y="88"/>
                      <a:pt x="227" y="86"/>
                    </a:cubicBezTo>
                    <a:cubicBezTo>
                      <a:pt x="250" y="63"/>
                      <a:pt x="250" y="63"/>
                      <a:pt x="250" y="63"/>
                    </a:cubicBezTo>
                    <a:cubicBezTo>
                      <a:pt x="224" y="38"/>
                      <a:pt x="224" y="38"/>
                      <a:pt x="224" y="38"/>
                    </a:cubicBezTo>
                    <a:cubicBezTo>
                      <a:pt x="201" y="61"/>
                      <a:pt x="201" y="61"/>
                      <a:pt x="201" y="61"/>
                    </a:cubicBezTo>
                    <a:cubicBezTo>
                      <a:pt x="199" y="63"/>
                      <a:pt x="196" y="63"/>
                      <a:pt x="194" y="62"/>
                    </a:cubicBezTo>
                    <a:cubicBezTo>
                      <a:pt x="186" y="57"/>
                      <a:pt x="171" y="53"/>
                      <a:pt x="160" y="50"/>
                    </a:cubicBezTo>
                    <a:cubicBezTo>
                      <a:pt x="158" y="50"/>
                      <a:pt x="156" y="47"/>
                      <a:pt x="156" y="45"/>
                    </a:cubicBezTo>
                    <a:cubicBezTo>
                      <a:pt x="156" y="12"/>
                      <a:pt x="156" y="12"/>
                      <a:pt x="156" y="12"/>
                    </a:cubicBezTo>
                    <a:cubicBezTo>
                      <a:pt x="132" y="12"/>
                      <a:pt x="132" y="12"/>
                      <a:pt x="132" y="12"/>
                    </a:cubicBezTo>
                    <a:cubicBezTo>
                      <a:pt x="132" y="45"/>
                      <a:pt x="132" y="45"/>
                      <a:pt x="132" y="45"/>
                    </a:cubicBezTo>
                    <a:cubicBezTo>
                      <a:pt x="132" y="47"/>
                      <a:pt x="130" y="50"/>
                      <a:pt x="127" y="50"/>
                    </a:cubicBezTo>
                    <a:cubicBezTo>
                      <a:pt x="117" y="53"/>
                      <a:pt x="102" y="57"/>
                      <a:pt x="94" y="62"/>
                    </a:cubicBezTo>
                    <a:cubicBezTo>
                      <a:pt x="92" y="63"/>
                      <a:pt x="89" y="63"/>
                      <a:pt x="87" y="61"/>
                    </a:cubicBezTo>
                    <a:cubicBezTo>
                      <a:pt x="63" y="38"/>
                      <a:pt x="63" y="38"/>
                      <a:pt x="63" y="38"/>
                    </a:cubicBezTo>
                    <a:cubicBezTo>
                      <a:pt x="38" y="63"/>
                      <a:pt x="38" y="63"/>
                      <a:pt x="38" y="63"/>
                    </a:cubicBezTo>
                    <a:cubicBezTo>
                      <a:pt x="61" y="86"/>
                      <a:pt x="61" y="86"/>
                      <a:pt x="61" y="86"/>
                    </a:cubicBezTo>
                    <a:cubicBezTo>
                      <a:pt x="63" y="88"/>
                      <a:pt x="63" y="91"/>
                      <a:pt x="62" y="94"/>
                    </a:cubicBezTo>
                    <a:cubicBezTo>
                      <a:pt x="57" y="103"/>
                      <a:pt x="52" y="120"/>
                      <a:pt x="51" y="127"/>
                    </a:cubicBezTo>
                    <a:cubicBezTo>
                      <a:pt x="50" y="130"/>
                      <a:pt x="48" y="132"/>
                      <a:pt x="45" y="132"/>
                    </a:cubicBezTo>
                    <a:cubicBezTo>
                      <a:pt x="12" y="132"/>
                      <a:pt x="12" y="132"/>
                      <a:pt x="12" y="132"/>
                    </a:cubicBezTo>
                    <a:cubicBezTo>
                      <a:pt x="12" y="156"/>
                      <a:pt x="12" y="156"/>
                      <a:pt x="12" y="156"/>
                    </a:cubicBezTo>
                    <a:cubicBezTo>
                      <a:pt x="45" y="156"/>
                      <a:pt x="45" y="156"/>
                      <a:pt x="45" y="156"/>
                    </a:cubicBezTo>
                    <a:cubicBezTo>
                      <a:pt x="48" y="156"/>
                      <a:pt x="50" y="158"/>
                      <a:pt x="51" y="160"/>
                    </a:cubicBezTo>
                    <a:cubicBezTo>
                      <a:pt x="52" y="167"/>
                      <a:pt x="57" y="185"/>
                      <a:pt x="62" y="194"/>
                    </a:cubicBezTo>
                    <a:cubicBezTo>
                      <a:pt x="63" y="196"/>
                      <a:pt x="63" y="199"/>
                      <a:pt x="61" y="201"/>
                    </a:cubicBezTo>
                    <a:cubicBezTo>
                      <a:pt x="38" y="224"/>
                      <a:pt x="38" y="224"/>
                      <a:pt x="38" y="224"/>
                    </a:cubicBezTo>
                    <a:cubicBezTo>
                      <a:pt x="63" y="250"/>
                      <a:pt x="63" y="250"/>
                      <a:pt x="63" y="250"/>
                    </a:cubicBezTo>
                    <a:cubicBezTo>
                      <a:pt x="87" y="226"/>
                      <a:pt x="87" y="226"/>
                      <a:pt x="87" y="226"/>
                    </a:cubicBezTo>
                    <a:cubicBezTo>
                      <a:pt x="88" y="224"/>
                      <a:pt x="92" y="224"/>
                      <a:pt x="94" y="226"/>
                    </a:cubicBezTo>
                    <a:cubicBezTo>
                      <a:pt x="103" y="231"/>
                      <a:pt x="121" y="235"/>
                      <a:pt x="127" y="237"/>
                    </a:cubicBezTo>
                    <a:cubicBezTo>
                      <a:pt x="130" y="238"/>
                      <a:pt x="132" y="240"/>
                      <a:pt x="132" y="243"/>
                    </a:cubicBezTo>
                    <a:lnTo>
                      <a:pt x="132" y="27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28" name="Freeform 69">
                <a:extLst>
                  <a:ext uri="{FF2B5EF4-FFF2-40B4-BE49-F238E27FC236}">
                    <a16:creationId xmlns:a16="http://schemas.microsoft.com/office/drawing/2014/main" id="{F4B486FD-8C0E-071C-3601-3E44A4867B32}"/>
                  </a:ext>
                </a:extLst>
              </p:cNvPr>
              <p:cNvSpPr>
                <a:spLocks noEditPoints="1"/>
              </p:cNvSpPr>
              <p:nvPr/>
            </p:nvSpPr>
            <p:spPr bwMode="auto">
              <a:xfrm>
                <a:off x="1454" y="1819"/>
                <a:ext cx="231" cy="230"/>
              </a:xfrm>
              <a:custGeom>
                <a:avLst/>
                <a:gdLst>
                  <a:gd name="T0" fmla="*/ 78 w 156"/>
                  <a:gd name="T1" fmla="*/ 156 h 156"/>
                  <a:gd name="T2" fmla="*/ 0 w 156"/>
                  <a:gd name="T3" fmla="*/ 78 h 156"/>
                  <a:gd name="T4" fmla="*/ 78 w 156"/>
                  <a:gd name="T5" fmla="*/ 0 h 156"/>
                  <a:gd name="T6" fmla="*/ 156 w 156"/>
                  <a:gd name="T7" fmla="*/ 78 h 156"/>
                  <a:gd name="T8" fmla="*/ 78 w 156"/>
                  <a:gd name="T9" fmla="*/ 156 h 156"/>
                  <a:gd name="T10" fmla="*/ 78 w 156"/>
                  <a:gd name="T11" fmla="*/ 12 h 156"/>
                  <a:gd name="T12" fmla="*/ 12 w 156"/>
                  <a:gd name="T13" fmla="*/ 78 h 156"/>
                  <a:gd name="T14" fmla="*/ 78 w 156"/>
                  <a:gd name="T15" fmla="*/ 144 h 156"/>
                  <a:gd name="T16" fmla="*/ 144 w 156"/>
                  <a:gd name="T17" fmla="*/ 78 h 156"/>
                  <a:gd name="T18" fmla="*/ 78 w 156"/>
                  <a:gd name="T19" fmla="*/ 12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6" h="156">
                    <a:moveTo>
                      <a:pt x="78" y="156"/>
                    </a:moveTo>
                    <a:cubicBezTo>
                      <a:pt x="35" y="156"/>
                      <a:pt x="0" y="121"/>
                      <a:pt x="0" y="78"/>
                    </a:cubicBezTo>
                    <a:cubicBezTo>
                      <a:pt x="0" y="35"/>
                      <a:pt x="35" y="0"/>
                      <a:pt x="78" y="0"/>
                    </a:cubicBezTo>
                    <a:cubicBezTo>
                      <a:pt x="121" y="0"/>
                      <a:pt x="156" y="35"/>
                      <a:pt x="156" y="78"/>
                    </a:cubicBezTo>
                    <a:cubicBezTo>
                      <a:pt x="156" y="121"/>
                      <a:pt x="121" y="156"/>
                      <a:pt x="78" y="156"/>
                    </a:cubicBezTo>
                    <a:close/>
                    <a:moveTo>
                      <a:pt x="78" y="12"/>
                    </a:moveTo>
                    <a:cubicBezTo>
                      <a:pt x="41" y="12"/>
                      <a:pt x="12" y="41"/>
                      <a:pt x="12" y="78"/>
                    </a:cubicBezTo>
                    <a:cubicBezTo>
                      <a:pt x="12" y="114"/>
                      <a:pt x="41" y="144"/>
                      <a:pt x="78" y="144"/>
                    </a:cubicBezTo>
                    <a:cubicBezTo>
                      <a:pt x="114" y="144"/>
                      <a:pt x="144" y="114"/>
                      <a:pt x="144" y="78"/>
                    </a:cubicBezTo>
                    <a:cubicBezTo>
                      <a:pt x="144" y="41"/>
                      <a:pt x="114" y="12"/>
                      <a:pt x="7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29" name="Freeform 70">
                <a:extLst>
                  <a:ext uri="{FF2B5EF4-FFF2-40B4-BE49-F238E27FC236}">
                    <a16:creationId xmlns:a16="http://schemas.microsoft.com/office/drawing/2014/main" id="{5C968EE2-64A2-CAB9-85B1-5DA5E1203B83}"/>
                  </a:ext>
                </a:extLst>
              </p:cNvPr>
              <p:cNvSpPr>
                <a:spLocks noEditPoints="1"/>
              </p:cNvSpPr>
              <p:nvPr/>
            </p:nvSpPr>
            <p:spPr bwMode="auto">
              <a:xfrm>
                <a:off x="1534" y="1872"/>
                <a:ext cx="98" cy="124"/>
              </a:xfrm>
              <a:custGeom>
                <a:avLst/>
                <a:gdLst>
                  <a:gd name="T0" fmla="*/ 6 w 66"/>
                  <a:gd name="T1" fmla="*/ 84 h 84"/>
                  <a:gd name="T2" fmla="*/ 3 w 66"/>
                  <a:gd name="T3" fmla="*/ 83 h 84"/>
                  <a:gd name="T4" fmla="*/ 0 w 66"/>
                  <a:gd name="T5" fmla="*/ 78 h 84"/>
                  <a:gd name="T6" fmla="*/ 0 w 66"/>
                  <a:gd name="T7" fmla="*/ 6 h 84"/>
                  <a:gd name="T8" fmla="*/ 3 w 66"/>
                  <a:gd name="T9" fmla="*/ 1 h 84"/>
                  <a:gd name="T10" fmla="*/ 9 w 66"/>
                  <a:gd name="T11" fmla="*/ 1 h 84"/>
                  <a:gd name="T12" fmla="*/ 63 w 66"/>
                  <a:gd name="T13" fmla="*/ 37 h 84"/>
                  <a:gd name="T14" fmla="*/ 66 w 66"/>
                  <a:gd name="T15" fmla="*/ 42 h 84"/>
                  <a:gd name="T16" fmla="*/ 63 w 66"/>
                  <a:gd name="T17" fmla="*/ 47 h 84"/>
                  <a:gd name="T18" fmla="*/ 9 w 66"/>
                  <a:gd name="T19" fmla="*/ 83 h 84"/>
                  <a:gd name="T20" fmla="*/ 6 w 66"/>
                  <a:gd name="T21" fmla="*/ 84 h 84"/>
                  <a:gd name="T22" fmla="*/ 12 w 66"/>
                  <a:gd name="T23" fmla="*/ 17 h 84"/>
                  <a:gd name="T24" fmla="*/ 12 w 66"/>
                  <a:gd name="T25" fmla="*/ 66 h 84"/>
                  <a:gd name="T26" fmla="*/ 49 w 66"/>
                  <a:gd name="T27" fmla="*/ 42 h 84"/>
                  <a:gd name="T28" fmla="*/ 12 w 66"/>
                  <a:gd name="T29" fmla="*/ 17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6" h="84">
                    <a:moveTo>
                      <a:pt x="6" y="84"/>
                    </a:moveTo>
                    <a:cubicBezTo>
                      <a:pt x="5" y="84"/>
                      <a:pt x="4" y="83"/>
                      <a:pt x="3" y="83"/>
                    </a:cubicBezTo>
                    <a:cubicBezTo>
                      <a:pt x="1" y="82"/>
                      <a:pt x="0" y="80"/>
                      <a:pt x="0" y="78"/>
                    </a:cubicBezTo>
                    <a:cubicBezTo>
                      <a:pt x="0" y="6"/>
                      <a:pt x="0" y="6"/>
                      <a:pt x="0" y="6"/>
                    </a:cubicBezTo>
                    <a:cubicBezTo>
                      <a:pt x="0" y="4"/>
                      <a:pt x="1" y="2"/>
                      <a:pt x="3" y="1"/>
                    </a:cubicBezTo>
                    <a:cubicBezTo>
                      <a:pt x="5" y="0"/>
                      <a:pt x="7" y="0"/>
                      <a:pt x="9" y="1"/>
                    </a:cubicBezTo>
                    <a:cubicBezTo>
                      <a:pt x="63" y="37"/>
                      <a:pt x="63" y="37"/>
                      <a:pt x="63" y="37"/>
                    </a:cubicBezTo>
                    <a:cubicBezTo>
                      <a:pt x="65" y="38"/>
                      <a:pt x="66" y="40"/>
                      <a:pt x="66" y="42"/>
                    </a:cubicBezTo>
                    <a:cubicBezTo>
                      <a:pt x="66" y="44"/>
                      <a:pt x="65" y="46"/>
                      <a:pt x="63" y="47"/>
                    </a:cubicBezTo>
                    <a:cubicBezTo>
                      <a:pt x="9" y="83"/>
                      <a:pt x="9" y="83"/>
                      <a:pt x="9" y="83"/>
                    </a:cubicBezTo>
                    <a:cubicBezTo>
                      <a:pt x="8" y="83"/>
                      <a:pt x="7" y="84"/>
                      <a:pt x="6" y="84"/>
                    </a:cubicBezTo>
                    <a:close/>
                    <a:moveTo>
                      <a:pt x="12" y="17"/>
                    </a:moveTo>
                    <a:cubicBezTo>
                      <a:pt x="12" y="66"/>
                      <a:pt x="12" y="66"/>
                      <a:pt x="12" y="66"/>
                    </a:cubicBezTo>
                    <a:cubicBezTo>
                      <a:pt x="49" y="42"/>
                      <a:pt x="49" y="42"/>
                      <a:pt x="49" y="42"/>
                    </a:cubicBezTo>
                    <a:lnTo>
                      <a:pt x="12" y="1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grpSp>
      </p:grpSp>
      <p:grpSp>
        <p:nvGrpSpPr>
          <p:cNvPr id="65" name="Group 64">
            <a:extLst>
              <a:ext uri="{FF2B5EF4-FFF2-40B4-BE49-F238E27FC236}">
                <a16:creationId xmlns:a16="http://schemas.microsoft.com/office/drawing/2014/main" id="{C85D9E30-25AE-E0F9-A684-3CF9388BD525}"/>
              </a:ext>
            </a:extLst>
          </p:cNvPr>
          <p:cNvGrpSpPr/>
          <p:nvPr/>
        </p:nvGrpSpPr>
        <p:grpSpPr>
          <a:xfrm>
            <a:off x="381000" y="4653344"/>
            <a:ext cx="2388481" cy="1581473"/>
            <a:chOff x="381001" y="1022926"/>
            <a:chExt cx="2388481" cy="1581473"/>
          </a:xfrm>
        </p:grpSpPr>
        <p:grpSp>
          <p:nvGrpSpPr>
            <p:cNvPr id="101" name="Group 100">
              <a:extLst>
                <a:ext uri="{FF2B5EF4-FFF2-40B4-BE49-F238E27FC236}">
                  <a16:creationId xmlns:a16="http://schemas.microsoft.com/office/drawing/2014/main" id="{BA0BA79B-0AB7-9CF6-386F-4ABB3E066D58}"/>
                </a:ext>
              </a:extLst>
            </p:cNvPr>
            <p:cNvGrpSpPr/>
            <p:nvPr/>
          </p:nvGrpSpPr>
          <p:grpSpPr>
            <a:xfrm>
              <a:off x="381001" y="1022926"/>
              <a:ext cx="2388481" cy="1581473"/>
              <a:chOff x="596766" y="1022926"/>
              <a:chExt cx="2388481" cy="1581473"/>
            </a:xfrm>
          </p:grpSpPr>
          <p:sp>
            <p:nvSpPr>
              <p:cNvPr id="120" name="Rectangle: Rounded Corners 119">
                <a:extLst>
                  <a:ext uri="{FF2B5EF4-FFF2-40B4-BE49-F238E27FC236}">
                    <a16:creationId xmlns:a16="http://schemas.microsoft.com/office/drawing/2014/main" id="{E873E641-1667-D518-E3AE-CF2E8CDA7C4C}"/>
                  </a:ext>
                </a:extLst>
              </p:cNvPr>
              <p:cNvSpPr/>
              <p:nvPr/>
            </p:nvSpPr>
            <p:spPr>
              <a:xfrm>
                <a:off x="596766" y="1022926"/>
                <a:ext cx="2388481" cy="1581473"/>
              </a:xfrm>
              <a:prstGeom prst="roundRect">
                <a:avLst>
                  <a:gd name="adj" fmla="val 8731"/>
                </a:avLst>
              </a:prstGeom>
              <a:solidFill>
                <a:srgbClr val="FFFFFF"/>
              </a:solidFill>
              <a:ln w="12700" cap="flat" cmpd="sng" algn="ctr">
                <a:solidFill>
                  <a:srgbClr val="96968C"/>
                </a:solidFill>
                <a:prstDash val="solid"/>
                <a:miter lim="800000"/>
              </a:ln>
              <a:effectLst/>
            </p:spPr>
            <p:txBody>
              <a:bodyPr tIns="0" bIns="9144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1" i="0" u="none" strike="noStrike" kern="0" cap="none" spc="0" normalizeH="0" baseline="0" noProof="0">
                    <a:ln>
                      <a:noFill/>
                    </a:ln>
                    <a:solidFill>
                      <a:srgbClr val="FFFFFF">
                        <a:lumMod val="65000"/>
                      </a:srgbClr>
                    </a:solidFill>
                    <a:effectLst/>
                    <a:uLnTx/>
                    <a:uFillTx/>
                    <a:latin typeface="Graphik Semibold" panose="020B0703030202060203" pitchFamily="34" charset="0"/>
                    <a:ea typeface="+mn-ea"/>
                    <a:cs typeface="+mn-cs"/>
                  </a:rPr>
                  <a:t>Arquitectura interoperable</a:t>
                </a:r>
              </a:p>
            </p:txBody>
          </p:sp>
          <p:pic>
            <p:nvPicPr>
              <p:cNvPr id="121" name="Graphic 120" descr="Esquema de piezas del puzzle">
                <a:extLst>
                  <a:ext uri="{FF2B5EF4-FFF2-40B4-BE49-F238E27FC236}">
                    <a16:creationId xmlns:a16="http://schemas.microsoft.com/office/drawing/2014/main" id="{6A0EDDAB-8781-320A-AA96-C8624400C6A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95164" y="1042277"/>
                <a:ext cx="193632" cy="193632"/>
              </a:xfrm>
              <a:prstGeom prst="rect">
                <a:avLst/>
              </a:prstGeom>
            </p:spPr>
          </p:pic>
        </p:grpSp>
        <p:sp>
          <p:nvSpPr>
            <p:cNvPr id="102" name="Rectangle: Rounded Corners 101">
              <a:extLst>
                <a:ext uri="{FF2B5EF4-FFF2-40B4-BE49-F238E27FC236}">
                  <a16:creationId xmlns:a16="http://schemas.microsoft.com/office/drawing/2014/main" id="{2BFDE471-50EF-9C63-6A4C-D1B953520F27}"/>
                </a:ext>
              </a:extLst>
            </p:cNvPr>
            <p:cNvSpPr/>
            <p:nvPr/>
          </p:nvSpPr>
          <p:spPr>
            <a:xfrm>
              <a:off x="743613" y="1245038"/>
              <a:ext cx="1841349" cy="176627"/>
            </a:xfrm>
            <a:prstGeom prst="roundRect">
              <a:avLst/>
            </a:prstGeom>
            <a:solidFill>
              <a:srgbClr val="FFFFFF">
                <a:lumMod val="75000"/>
              </a:srgbClr>
            </a:solidFill>
            <a:ln w="12700" cap="flat" cmpd="sng" algn="ctr">
              <a:noFill/>
              <a:prstDash val="solid"/>
              <a:miter lim="800000"/>
            </a:ln>
            <a:effectLst/>
          </p:spPr>
          <p:txBody>
            <a:bodyPr lIns="0" tIns="91440" rIns="0" bIns="91440" rtlCol="0" anchor="ctr"/>
            <a:lstStyle/>
            <a:p>
              <a:pPr algn="ctr"/>
              <a:r>
                <a:rPr lang="es" sz="800" b="1" kern="0">
                  <a:solidFill>
                    <a:srgbClr val="FFFFFF"/>
                  </a:solidFill>
                  <a:latin typeface="Graphik Semibold" panose="020B0703030202060203" pitchFamily="34" charset="0"/>
                </a:rPr>
                <a:t>Desacoplamiento</a:t>
              </a:r>
            </a:p>
          </p:txBody>
        </p:sp>
        <p:sp>
          <p:nvSpPr>
            <p:cNvPr id="103" name="Rectangle: Rounded Corners 102">
              <a:extLst>
                <a:ext uri="{FF2B5EF4-FFF2-40B4-BE49-F238E27FC236}">
                  <a16:creationId xmlns:a16="http://schemas.microsoft.com/office/drawing/2014/main" id="{E7634BA3-5966-2B79-4861-EBDC67189243}"/>
                </a:ext>
              </a:extLst>
            </p:cNvPr>
            <p:cNvSpPr/>
            <p:nvPr/>
          </p:nvSpPr>
          <p:spPr>
            <a:xfrm>
              <a:off x="743613" y="1443305"/>
              <a:ext cx="1841349" cy="176627"/>
            </a:xfrm>
            <a:prstGeom prst="roundRect">
              <a:avLst/>
            </a:prstGeom>
            <a:solidFill>
              <a:srgbClr val="FFFFFF">
                <a:lumMod val="75000"/>
              </a:srgbClr>
            </a:solidFill>
            <a:ln w="12700" cap="flat" cmpd="sng" algn="ctr">
              <a:noFill/>
              <a:prstDash val="solid"/>
              <a:miter lim="800000"/>
            </a:ln>
            <a:effectLst/>
          </p:spPr>
          <p:txBody>
            <a:bodyPr tIns="91440" bIns="91440" rtlCol="0" anchor="ctr"/>
            <a:lstStyle/>
            <a:p>
              <a:pPr algn="ctr"/>
              <a:r>
                <a:rPr lang="es" sz="800" b="1" kern="0">
                  <a:solidFill>
                    <a:srgbClr val="FFFFFF"/>
                  </a:solidFill>
                  <a:latin typeface="Graphik Semibold" panose="020B0703030202060203" pitchFamily="34" charset="0"/>
                </a:rPr>
                <a:t>Integración</a:t>
              </a:r>
            </a:p>
          </p:txBody>
        </p:sp>
        <p:sp>
          <p:nvSpPr>
            <p:cNvPr id="104" name="Rectangle: Rounded Corners 103">
              <a:extLst>
                <a:ext uri="{FF2B5EF4-FFF2-40B4-BE49-F238E27FC236}">
                  <a16:creationId xmlns:a16="http://schemas.microsoft.com/office/drawing/2014/main" id="{4ABAD211-ADCC-5CDC-1DE7-37C074F42ED9}"/>
                </a:ext>
              </a:extLst>
            </p:cNvPr>
            <p:cNvSpPr/>
            <p:nvPr/>
          </p:nvSpPr>
          <p:spPr>
            <a:xfrm>
              <a:off x="743613" y="1882322"/>
              <a:ext cx="1841349" cy="296889"/>
            </a:xfrm>
            <a:prstGeom prst="roundRect">
              <a:avLst/>
            </a:prstGeom>
            <a:solidFill>
              <a:srgbClr val="FFFFFF">
                <a:lumMod val="75000"/>
              </a:srgbClr>
            </a:solidFill>
            <a:ln w="12700" cap="flat" cmpd="sng" algn="ctr">
              <a:noFill/>
              <a:prstDash val="solid"/>
              <a:miter lim="800000"/>
            </a:ln>
            <a:effectLst/>
          </p:spPr>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1" i="0" u="none" strike="noStrike" kern="0" cap="none" spc="0" normalizeH="0" baseline="0" noProof="0">
                  <a:ln>
                    <a:noFill/>
                  </a:ln>
                  <a:solidFill>
                    <a:srgbClr val="FFFFFF"/>
                  </a:solidFill>
                  <a:effectLst/>
                  <a:uLnTx/>
                  <a:uFillTx/>
                  <a:latin typeface="Graphik Semibold" panose="020B0703030202060203" pitchFamily="34" charset="0"/>
                  <a:ea typeface="+mn-ea"/>
                  <a:cs typeface="+mn-cs"/>
                </a:rPr>
                <a:t>Coexistencia</a:t>
              </a:r>
            </a:p>
          </p:txBody>
        </p:sp>
        <p:sp>
          <p:nvSpPr>
            <p:cNvPr id="105" name="Rectangle: Rounded Corners 104">
              <a:extLst>
                <a:ext uri="{FF2B5EF4-FFF2-40B4-BE49-F238E27FC236}">
                  <a16:creationId xmlns:a16="http://schemas.microsoft.com/office/drawing/2014/main" id="{76019A0B-B55C-3654-EBE5-5F0840D8254D}"/>
                </a:ext>
              </a:extLst>
            </p:cNvPr>
            <p:cNvSpPr/>
            <p:nvPr/>
          </p:nvSpPr>
          <p:spPr>
            <a:xfrm>
              <a:off x="743613" y="1661714"/>
              <a:ext cx="1841349" cy="176627"/>
            </a:xfrm>
            <a:prstGeom prst="roundRect">
              <a:avLst/>
            </a:prstGeom>
            <a:solidFill>
              <a:srgbClr val="580090"/>
            </a:solidFill>
            <a:ln w="12700" cap="flat" cmpd="sng" algn="ctr">
              <a:noFill/>
              <a:prstDash val="solid"/>
              <a:miter lim="800000"/>
            </a:ln>
            <a:effectLst/>
          </p:spPr>
          <p:txBody>
            <a:bodyPr tIns="91440" bIns="91440" rtlCol="0" anchor="ctr"/>
            <a:lstStyle/>
            <a:p>
              <a:pPr algn="ctr"/>
              <a:r>
                <a:rPr lang="es" sz="800" b="1" kern="0" dirty="0">
                  <a:solidFill>
                    <a:srgbClr val="FFFFFF"/>
                  </a:solidFill>
                  <a:latin typeface="Graphik Semibold" panose="020B0703030202060203" pitchFamily="34" charset="0"/>
                </a:rPr>
                <a:t>Coreografía y Orquia</a:t>
              </a:r>
            </a:p>
          </p:txBody>
        </p:sp>
        <p:sp>
          <p:nvSpPr>
            <p:cNvPr id="106" name="Rectangle: Rounded Corners 105">
              <a:extLst>
                <a:ext uri="{FF2B5EF4-FFF2-40B4-BE49-F238E27FC236}">
                  <a16:creationId xmlns:a16="http://schemas.microsoft.com/office/drawing/2014/main" id="{614DE727-B58F-4E30-5295-F6FC5233A4C8}"/>
                </a:ext>
              </a:extLst>
            </p:cNvPr>
            <p:cNvSpPr/>
            <p:nvPr/>
          </p:nvSpPr>
          <p:spPr>
            <a:xfrm>
              <a:off x="743613" y="2223192"/>
              <a:ext cx="1841349" cy="312235"/>
            </a:xfrm>
            <a:prstGeom prst="roundRect">
              <a:avLst/>
            </a:prstGeom>
            <a:solidFill>
              <a:srgbClr val="FFFFFF">
                <a:lumMod val="75000"/>
              </a:srgbClr>
            </a:solidFill>
            <a:ln w="12700" cap="flat" cmpd="sng" algn="ctr">
              <a:noFill/>
              <a:prstDash val="solid"/>
              <a:miter lim="800000"/>
            </a:ln>
            <a:effectLst/>
          </p:spPr>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1" i="0" u="none" strike="noStrike" kern="0" cap="none" spc="0" normalizeH="0" baseline="0" noProof="0">
                  <a:ln>
                    <a:noFill/>
                  </a:ln>
                  <a:solidFill>
                    <a:srgbClr val="FFFFFF"/>
                  </a:solidFill>
                  <a:effectLst/>
                  <a:uLnTx/>
                  <a:uFillTx/>
                  <a:latin typeface="Graphik Semibold" panose="020B0703030202060203" pitchFamily="34" charset="0"/>
                  <a:ea typeface="+mn-ea"/>
                  <a:cs typeface="+mn-cs"/>
                </a:rPr>
                <a:t>Microservicios</a:t>
              </a:r>
            </a:p>
          </p:txBody>
        </p:sp>
        <p:sp>
          <p:nvSpPr>
            <p:cNvPr id="107" name="Rectangle: Rounded Corners 106">
              <a:extLst>
                <a:ext uri="{FF2B5EF4-FFF2-40B4-BE49-F238E27FC236}">
                  <a16:creationId xmlns:a16="http://schemas.microsoft.com/office/drawing/2014/main" id="{B3413C98-5145-2FE3-5B33-7AAEFB2D90DD}"/>
                </a:ext>
              </a:extLst>
            </p:cNvPr>
            <p:cNvSpPr/>
            <p:nvPr/>
          </p:nvSpPr>
          <p:spPr>
            <a:xfrm rot="16200000">
              <a:off x="-37801" y="1797017"/>
              <a:ext cx="1275043" cy="206945"/>
            </a:xfrm>
            <a:prstGeom prst="roundRect">
              <a:avLst/>
            </a:prstGeom>
            <a:solidFill>
              <a:srgbClr val="FFFFFF">
                <a:lumMod val="75000"/>
              </a:srgbClr>
            </a:solidFill>
            <a:ln w="12700" cap="flat" cmpd="sng" algn="ctr">
              <a:noFill/>
              <a:prstDash val="solid"/>
              <a:miter lim="800000"/>
            </a:ln>
            <a:effectLst/>
          </p:spPr>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1" i="0" u="none" strike="noStrike" kern="0" cap="none" spc="0" normalizeH="0" baseline="0" noProof="0">
                  <a:ln>
                    <a:noFill/>
                  </a:ln>
                  <a:solidFill>
                    <a:srgbClr val="FFFFFF"/>
                  </a:solidFill>
                  <a:effectLst/>
                  <a:uLnTx/>
                  <a:uFillTx/>
                  <a:latin typeface="Graphik Semibold" panose="020B0703030202060203" pitchFamily="34" charset="0"/>
                  <a:ea typeface="+mn-ea"/>
                  <a:cs typeface="+mn-cs"/>
                </a:rPr>
                <a:t>Servicios Empresariales Principales (Backbone)</a:t>
              </a:r>
            </a:p>
          </p:txBody>
        </p:sp>
        <p:grpSp>
          <p:nvGrpSpPr>
            <p:cNvPr id="108" name="Group 48">
              <a:extLst>
                <a:ext uri="{FF2B5EF4-FFF2-40B4-BE49-F238E27FC236}">
                  <a16:creationId xmlns:a16="http://schemas.microsoft.com/office/drawing/2014/main" id="{3F07D1D4-0286-661B-069A-59711EEE6BD6}"/>
                </a:ext>
              </a:extLst>
            </p:cNvPr>
            <p:cNvGrpSpPr>
              <a:grpSpLocks noChangeAspect="1"/>
            </p:cNvGrpSpPr>
            <p:nvPr/>
          </p:nvGrpSpPr>
          <p:grpSpPr bwMode="auto">
            <a:xfrm>
              <a:off x="867921" y="1302739"/>
              <a:ext cx="108414" cy="88314"/>
              <a:chOff x="3427" y="474"/>
              <a:chExt cx="428" cy="356"/>
            </a:xfrm>
            <a:solidFill>
              <a:srgbClr val="FFFFFF"/>
            </a:solidFill>
          </p:grpSpPr>
          <p:sp>
            <p:nvSpPr>
              <p:cNvPr id="116" name="Freeform 49">
                <a:extLst>
                  <a:ext uri="{FF2B5EF4-FFF2-40B4-BE49-F238E27FC236}">
                    <a16:creationId xmlns:a16="http://schemas.microsoft.com/office/drawing/2014/main" id="{4560B463-83F4-9198-F238-1FA9916F3127}"/>
                  </a:ext>
                </a:extLst>
              </p:cNvPr>
              <p:cNvSpPr>
                <a:spLocks/>
              </p:cNvSpPr>
              <p:nvPr/>
            </p:nvSpPr>
            <p:spPr bwMode="auto">
              <a:xfrm>
                <a:off x="3427" y="615"/>
                <a:ext cx="428" cy="108"/>
              </a:xfrm>
              <a:custGeom>
                <a:avLst/>
                <a:gdLst>
                  <a:gd name="T0" fmla="*/ 144 w 289"/>
                  <a:gd name="T1" fmla="*/ 73 h 73"/>
                  <a:gd name="T2" fmla="*/ 142 w 289"/>
                  <a:gd name="T3" fmla="*/ 73 h 73"/>
                  <a:gd name="T4" fmla="*/ 4 w 289"/>
                  <a:gd name="T5" fmla="*/ 13 h 73"/>
                  <a:gd name="T6" fmla="*/ 1 w 289"/>
                  <a:gd name="T7" fmla="*/ 5 h 73"/>
                  <a:gd name="T8" fmla="*/ 9 w 289"/>
                  <a:gd name="T9" fmla="*/ 2 h 73"/>
                  <a:gd name="T10" fmla="*/ 144 w 289"/>
                  <a:gd name="T11" fmla="*/ 61 h 73"/>
                  <a:gd name="T12" fmla="*/ 280 w 289"/>
                  <a:gd name="T13" fmla="*/ 2 h 73"/>
                  <a:gd name="T14" fmla="*/ 288 w 289"/>
                  <a:gd name="T15" fmla="*/ 5 h 73"/>
                  <a:gd name="T16" fmla="*/ 285 w 289"/>
                  <a:gd name="T17" fmla="*/ 13 h 73"/>
                  <a:gd name="T18" fmla="*/ 147 w 289"/>
                  <a:gd name="T19" fmla="*/ 73 h 73"/>
                  <a:gd name="T20" fmla="*/ 144 w 289"/>
                  <a:gd name="T21" fmla="*/ 73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9" h="73">
                    <a:moveTo>
                      <a:pt x="144" y="73"/>
                    </a:moveTo>
                    <a:cubicBezTo>
                      <a:pt x="144" y="73"/>
                      <a:pt x="143" y="73"/>
                      <a:pt x="142" y="73"/>
                    </a:cubicBezTo>
                    <a:cubicBezTo>
                      <a:pt x="4" y="13"/>
                      <a:pt x="4" y="13"/>
                      <a:pt x="4" y="13"/>
                    </a:cubicBezTo>
                    <a:cubicBezTo>
                      <a:pt x="1" y="11"/>
                      <a:pt x="0" y="8"/>
                      <a:pt x="1" y="5"/>
                    </a:cubicBezTo>
                    <a:cubicBezTo>
                      <a:pt x="2" y="2"/>
                      <a:pt x="6" y="0"/>
                      <a:pt x="9" y="2"/>
                    </a:cubicBezTo>
                    <a:cubicBezTo>
                      <a:pt x="144" y="61"/>
                      <a:pt x="144" y="61"/>
                      <a:pt x="144" y="61"/>
                    </a:cubicBezTo>
                    <a:cubicBezTo>
                      <a:pt x="280" y="2"/>
                      <a:pt x="280" y="2"/>
                      <a:pt x="280" y="2"/>
                    </a:cubicBezTo>
                    <a:cubicBezTo>
                      <a:pt x="283" y="0"/>
                      <a:pt x="287" y="2"/>
                      <a:pt x="288" y="5"/>
                    </a:cubicBezTo>
                    <a:cubicBezTo>
                      <a:pt x="289" y="8"/>
                      <a:pt x="288" y="11"/>
                      <a:pt x="285" y="13"/>
                    </a:cubicBezTo>
                    <a:cubicBezTo>
                      <a:pt x="147" y="73"/>
                      <a:pt x="147" y="73"/>
                      <a:pt x="147" y="73"/>
                    </a:cubicBezTo>
                    <a:cubicBezTo>
                      <a:pt x="146" y="73"/>
                      <a:pt x="145" y="73"/>
                      <a:pt x="144"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117" name="Freeform 50">
                <a:extLst>
                  <a:ext uri="{FF2B5EF4-FFF2-40B4-BE49-F238E27FC236}">
                    <a16:creationId xmlns:a16="http://schemas.microsoft.com/office/drawing/2014/main" id="{82003E0E-F690-389E-3A20-B2BCC6E67DEA}"/>
                  </a:ext>
                </a:extLst>
              </p:cNvPr>
              <p:cNvSpPr>
                <a:spLocks/>
              </p:cNvSpPr>
              <p:nvPr/>
            </p:nvSpPr>
            <p:spPr bwMode="auto">
              <a:xfrm>
                <a:off x="3427" y="668"/>
                <a:ext cx="428" cy="108"/>
              </a:xfrm>
              <a:custGeom>
                <a:avLst/>
                <a:gdLst>
                  <a:gd name="T0" fmla="*/ 144 w 289"/>
                  <a:gd name="T1" fmla="*/ 73 h 73"/>
                  <a:gd name="T2" fmla="*/ 142 w 289"/>
                  <a:gd name="T3" fmla="*/ 73 h 73"/>
                  <a:gd name="T4" fmla="*/ 4 w 289"/>
                  <a:gd name="T5" fmla="*/ 13 h 73"/>
                  <a:gd name="T6" fmla="*/ 1 w 289"/>
                  <a:gd name="T7" fmla="*/ 5 h 73"/>
                  <a:gd name="T8" fmla="*/ 9 w 289"/>
                  <a:gd name="T9" fmla="*/ 2 h 73"/>
                  <a:gd name="T10" fmla="*/ 144 w 289"/>
                  <a:gd name="T11" fmla="*/ 61 h 73"/>
                  <a:gd name="T12" fmla="*/ 280 w 289"/>
                  <a:gd name="T13" fmla="*/ 2 h 73"/>
                  <a:gd name="T14" fmla="*/ 288 w 289"/>
                  <a:gd name="T15" fmla="*/ 5 h 73"/>
                  <a:gd name="T16" fmla="*/ 285 w 289"/>
                  <a:gd name="T17" fmla="*/ 13 h 73"/>
                  <a:gd name="T18" fmla="*/ 147 w 289"/>
                  <a:gd name="T19" fmla="*/ 73 h 73"/>
                  <a:gd name="T20" fmla="*/ 144 w 289"/>
                  <a:gd name="T21" fmla="*/ 73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9" h="73">
                    <a:moveTo>
                      <a:pt x="144" y="73"/>
                    </a:moveTo>
                    <a:cubicBezTo>
                      <a:pt x="144" y="73"/>
                      <a:pt x="143" y="73"/>
                      <a:pt x="142" y="73"/>
                    </a:cubicBezTo>
                    <a:cubicBezTo>
                      <a:pt x="4" y="13"/>
                      <a:pt x="4" y="13"/>
                      <a:pt x="4" y="13"/>
                    </a:cubicBezTo>
                    <a:cubicBezTo>
                      <a:pt x="1" y="11"/>
                      <a:pt x="0" y="8"/>
                      <a:pt x="1" y="5"/>
                    </a:cubicBezTo>
                    <a:cubicBezTo>
                      <a:pt x="2" y="2"/>
                      <a:pt x="6" y="0"/>
                      <a:pt x="9" y="2"/>
                    </a:cubicBezTo>
                    <a:cubicBezTo>
                      <a:pt x="144" y="61"/>
                      <a:pt x="144" y="61"/>
                      <a:pt x="144" y="61"/>
                    </a:cubicBezTo>
                    <a:cubicBezTo>
                      <a:pt x="280" y="2"/>
                      <a:pt x="280" y="2"/>
                      <a:pt x="280" y="2"/>
                    </a:cubicBezTo>
                    <a:cubicBezTo>
                      <a:pt x="283" y="0"/>
                      <a:pt x="287" y="2"/>
                      <a:pt x="288" y="5"/>
                    </a:cubicBezTo>
                    <a:cubicBezTo>
                      <a:pt x="289" y="8"/>
                      <a:pt x="288" y="11"/>
                      <a:pt x="285" y="13"/>
                    </a:cubicBezTo>
                    <a:cubicBezTo>
                      <a:pt x="147" y="73"/>
                      <a:pt x="147" y="73"/>
                      <a:pt x="147" y="73"/>
                    </a:cubicBezTo>
                    <a:cubicBezTo>
                      <a:pt x="146" y="73"/>
                      <a:pt x="145" y="73"/>
                      <a:pt x="144"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118" name="Freeform 51">
                <a:extLst>
                  <a:ext uri="{FF2B5EF4-FFF2-40B4-BE49-F238E27FC236}">
                    <a16:creationId xmlns:a16="http://schemas.microsoft.com/office/drawing/2014/main" id="{4C5A30D3-403D-C4B5-FEA4-1D3C7EE5064B}"/>
                  </a:ext>
                </a:extLst>
              </p:cNvPr>
              <p:cNvSpPr>
                <a:spLocks/>
              </p:cNvSpPr>
              <p:nvPr/>
            </p:nvSpPr>
            <p:spPr bwMode="auto">
              <a:xfrm>
                <a:off x="3427" y="722"/>
                <a:ext cx="428" cy="108"/>
              </a:xfrm>
              <a:custGeom>
                <a:avLst/>
                <a:gdLst>
                  <a:gd name="T0" fmla="*/ 144 w 289"/>
                  <a:gd name="T1" fmla="*/ 73 h 73"/>
                  <a:gd name="T2" fmla="*/ 142 w 289"/>
                  <a:gd name="T3" fmla="*/ 73 h 73"/>
                  <a:gd name="T4" fmla="*/ 4 w 289"/>
                  <a:gd name="T5" fmla="*/ 13 h 73"/>
                  <a:gd name="T6" fmla="*/ 1 w 289"/>
                  <a:gd name="T7" fmla="*/ 5 h 73"/>
                  <a:gd name="T8" fmla="*/ 9 w 289"/>
                  <a:gd name="T9" fmla="*/ 2 h 73"/>
                  <a:gd name="T10" fmla="*/ 144 w 289"/>
                  <a:gd name="T11" fmla="*/ 61 h 73"/>
                  <a:gd name="T12" fmla="*/ 280 w 289"/>
                  <a:gd name="T13" fmla="*/ 2 h 73"/>
                  <a:gd name="T14" fmla="*/ 288 w 289"/>
                  <a:gd name="T15" fmla="*/ 5 h 73"/>
                  <a:gd name="T16" fmla="*/ 285 w 289"/>
                  <a:gd name="T17" fmla="*/ 13 h 73"/>
                  <a:gd name="T18" fmla="*/ 147 w 289"/>
                  <a:gd name="T19" fmla="*/ 73 h 73"/>
                  <a:gd name="T20" fmla="*/ 144 w 289"/>
                  <a:gd name="T21" fmla="*/ 73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9" h="73">
                    <a:moveTo>
                      <a:pt x="144" y="73"/>
                    </a:moveTo>
                    <a:cubicBezTo>
                      <a:pt x="144" y="73"/>
                      <a:pt x="143" y="73"/>
                      <a:pt x="142" y="73"/>
                    </a:cubicBezTo>
                    <a:cubicBezTo>
                      <a:pt x="4" y="13"/>
                      <a:pt x="4" y="13"/>
                      <a:pt x="4" y="13"/>
                    </a:cubicBezTo>
                    <a:cubicBezTo>
                      <a:pt x="1" y="11"/>
                      <a:pt x="0" y="8"/>
                      <a:pt x="1" y="5"/>
                    </a:cubicBezTo>
                    <a:cubicBezTo>
                      <a:pt x="2" y="2"/>
                      <a:pt x="6" y="0"/>
                      <a:pt x="9" y="2"/>
                    </a:cubicBezTo>
                    <a:cubicBezTo>
                      <a:pt x="144" y="61"/>
                      <a:pt x="144" y="61"/>
                      <a:pt x="144" y="61"/>
                    </a:cubicBezTo>
                    <a:cubicBezTo>
                      <a:pt x="280" y="2"/>
                      <a:pt x="280" y="2"/>
                      <a:pt x="280" y="2"/>
                    </a:cubicBezTo>
                    <a:cubicBezTo>
                      <a:pt x="283" y="0"/>
                      <a:pt x="287" y="2"/>
                      <a:pt x="288" y="5"/>
                    </a:cubicBezTo>
                    <a:cubicBezTo>
                      <a:pt x="289" y="8"/>
                      <a:pt x="288" y="11"/>
                      <a:pt x="285" y="13"/>
                    </a:cubicBezTo>
                    <a:cubicBezTo>
                      <a:pt x="147" y="73"/>
                      <a:pt x="147" y="73"/>
                      <a:pt x="147" y="73"/>
                    </a:cubicBezTo>
                    <a:cubicBezTo>
                      <a:pt x="146" y="73"/>
                      <a:pt x="145" y="73"/>
                      <a:pt x="144"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119" name="Freeform 52">
                <a:extLst>
                  <a:ext uri="{FF2B5EF4-FFF2-40B4-BE49-F238E27FC236}">
                    <a16:creationId xmlns:a16="http://schemas.microsoft.com/office/drawing/2014/main" id="{D10F88DA-9420-BD8D-6C09-70C0F586F1CA}"/>
                  </a:ext>
                </a:extLst>
              </p:cNvPr>
              <p:cNvSpPr>
                <a:spLocks noEditPoints="1"/>
              </p:cNvSpPr>
              <p:nvPr/>
            </p:nvSpPr>
            <p:spPr bwMode="auto">
              <a:xfrm>
                <a:off x="3427" y="474"/>
                <a:ext cx="426" cy="196"/>
              </a:xfrm>
              <a:custGeom>
                <a:avLst/>
                <a:gdLst>
                  <a:gd name="T0" fmla="*/ 144 w 288"/>
                  <a:gd name="T1" fmla="*/ 132 h 132"/>
                  <a:gd name="T2" fmla="*/ 142 w 288"/>
                  <a:gd name="T3" fmla="*/ 132 h 132"/>
                  <a:gd name="T4" fmla="*/ 4 w 288"/>
                  <a:gd name="T5" fmla="*/ 72 h 132"/>
                  <a:gd name="T6" fmla="*/ 0 w 288"/>
                  <a:gd name="T7" fmla="*/ 66 h 132"/>
                  <a:gd name="T8" fmla="*/ 4 w 288"/>
                  <a:gd name="T9" fmla="*/ 61 h 132"/>
                  <a:gd name="T10" fmla="*/ 142 w 288"/>
                  <a:gd name="T11" fmla="*/ 1 h 132"/>
                  <a:gd name="T12" fmla="*/ 147 w 288"/>
                  <a:gd name="T13" fmla="*/ 1 h 132"/>
                  <a:gd name="T14" fmla="*/ 285 w 288"/>
                  <a:gd name="T15" fmla="*/ 61 h 132"/>
                  <a:gd name="T16" fmla="*/ 288 w 288"/>
                  <a:gd name="T17" fmla="*/ 66 h 132"/>
                  <a:gd name="T18" fmla="*/ 285 w 288"/>
                  <a:gd name="T19" fmla="*/ 72 h 132"/>
                  <a:gd name="T20" fmla="*/ 147 w 288"/>
                  <a:gd name="T21" fmla="*/ 132 h 132"/>
                  <a:gd name="T22" fmla="*/ 144 w 288"/>
                  <a:gd name="T23" fmla="*/ 132 h 132"/>
                  <a:gd name="T24" fmla="*/ 21 w 288"/>
                  <a:gd name="T25" fmla="*/ 66 h 132"/>
                  <a:gd name="T26" fmla="*/ 144 w 288"/>
                  <a:gd name="T27" fmla="*/ 120 h 132"/>
                  <a:gd name="T28" fmla="*/ 267 w 288"/>
                  <a:gd name="T29" fmla="*/ 66 h 132"/>
                  <a:gd name="T30" fmla="*/ 144 w 288"/>
                  <a:gd name="T31" fmla="*/ 13 h 132"/>
                  <a:gd name="T32" fmla="*/ 21 w 288"/>
                  <a:gd name="T33" fmla="*/ 66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88" h="132">
                    <a:moveTo>
                      <a:pt x="144" y="132"/>
                    </a:moveTo>
                    <a:cubicBezTo>
                      <a:pt x="144" y="132"/>
                      <a:pt x="143" y="132"/>
                      <a:pt x="142" y="132"/>
                    </a:cubicBezTo>
                    <a:cubicBezTo>
                      <a:pt x="4" y="72"/>
                      <a:pt x="4" y="72"/>
                      <a:pt x="4" y="72"/>
                    </a:cubicBezTo>
                    <a:cubicBezTo>
                      <a:pt x="2" y="71"/>
                      <a:pt x="0" y="69"/>
                      <a:pt x="0" y="66"/>
                    </a:cubicBezTo>
                    <a:cubicBezTo>
                      <a:pt x="0" y="64"/>
                      <a:pt x="2" y="62"/>
                      <a:pt x="4" y="61"/>
                    </a:cubicBezTo>
                    <a:cubicBezTo>
                      <a:pt x="142" y="1"/>
                      <a:pt x="142" y="1"/>
                      <a:pt x="142" y="1"/>
                    </a:cubicBezTo>
                    <a:cubicBezTo>
                      <a:pt x="144" y="0"/>
                      <a:pt x="145" y="0"/>
                      <a:pt x="147" y="1"/>
                    </a:cubicBezTo>
                    <a:cubicBezTo>
                      <a:pt x="285" y="61"/>
                      <a:pt x="285" y="61"/>
                      <a:pt x="285" y="61"/>
                    </a:cubicBezTo>
                    <a:cubicBezTo>
                      <a:pt x="287" y="62"/>
                      <a:pt x="288" y="64"/>
                      <a:pt x="288" y="66"/>
                    </a:cubicBezTo>
                    <a:cubicBezTo>
                      <a:pt x="288" y="69"/>
                      <a:pt x="287" y="71"/>
                      <a:pt x="285" y="72"/>
                    </a:cubicBezTo>
                    <a:cubicBezTo>
                      <a:pt x="147" y="132"/>
                      <a:pt x="147" y="132"/>
                      <a:pt x="147" y="132"/>
                    </a:cubicBezTo>
                    <a:cubicBezTo>
                      <a:pt x="146" y="132"/>
                      <a:pt x="145" y="132"/>
                      <a:pt x="144" y="132"/>
                    </a:cubicBezTo>
                    <a:close/>
                    <a:moveTo>
                      <a:pt x="21" y="66"/>
                    </a:moveTo>
                    <a:cubicBezTo>
                      <a:pt x="144" y="120"/>
                      <a:pt x="144" y="120"/>
                      <a:pt x="144" y="120"/>
                    </a:cubicBezTo>
                    <a:cubicBezTo>
                      <a:pt x="267" y="66"/>
                      <a:pt x="267" y="66"/>
                      <a:pt x="267" y="66"/>
                    </a:cubicBezTo>
                    <a:cubicBezTo>
                      <a:pt x="144" y="13"/>
                      <a:pt x="144" y="13"/>
                      <a:pt x="144" y="13"/>
                    </a:cubicBezTo>
                    <a:lnTo>
                      <a:pt x="21" y="6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grpSp>
        <p:pic>
          <p:nvPicPr>
            <p:cNvPr id="109" name="Graphic 108" descr="Red">
              <a:extLst>
                <a:ext uri="{FF2B5EF4-FFF2-40B4-BE49-F238E27FC236}">
                  <a16:creationId xmlns:a16="http://schemas.microsoft.com/office/drawing/2014/main" id="{C00D6FDE-CF44-6BA8-89AF-7795A635E7A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64733" y="1471077"/>
              <a:ext cx="123639" cy="123639"/>
            </a:xfrm>
            <a:prstGeom prst="rect">
              <a:avLst/>
            </a:prstGeom>
          </p:spPr>
        </p:pic>
        <p:sp>
          <p:nvSpPr>
            <p:cNvPr id="110" name="Freeform 147">
              <a:extLst>
                <a:ext uri="{FF2B5EF4-FFF2-40B4-BE49-F238E27FC236}">
                  <a16:creationId xmlns:a16="http://schemas.microsoft.com/office/drawing/2014/main" id="{E6C719FB-EA53-B2E5-5753-A064946DD4AF}"/>
                </a:ext>
              </a:extLst>
            </p:cNvPr>
            <p:cNvSpPr>
              <a:spLocks noEditPoints="1"/>
            </p:cNvSpPr>
            <p:nvPr/>
          </p:nvSpPr>
          <p:spPr bwMode="auto">
            <a:xfrm>
              <a:off x="832652" y="2331389"/>
              <a:ext cx="198386" cy="105976"/>
            </a:xfrm>
            <a:custGeom>
              <a:avLst/>
              <a:gdLst>
                <a:gd name="T0" fmla="*/ 54 w 288"/>
                <a:gd name="T1" fmla="*/ 180 h 180"/>
                <a:gd name="T2" fmla="*/ 14 w 288"/>
                <a:gd name="T3" fmla="*/ 164 h 180"/>
                <a:gd name="T4" fmla="*/ 0 w 288"/>
                <a:gd name="T5" fmla="*/ 129 h 180"/>
                <a:gd name="T6" fmla="*/ 19 w 288"/>
                <a:gd name="T7" fmla="*/ 89 h 180"/>
                <a:gd name="T8" fmla="*/ 55 w 288"/>
                <a:gd name="T9" fmla="*/ 78 h 180"/>
                <a:gd name="T10" fmla="*/ 144 w 288"/>
                <a:gd name="T11" fmla="*/ 0 h 180"/>
                <a:gd name="T12" fmla="*/ 224 w 288"/>
                <a:gd name="T13" fmla="*/ 48 h 180"/>
                <a:gd name="T14" fmla="*/ 268 w 288"/>
                <a:gd name="T15" fmla="*/ 66 h 180"/>
                <a:gd name="T16" fmla="*/ 288 w 288"/>
                <a:gd name="T17" fmla="*/ 114 h 180"/>
                <a:gd name="T18" fmla="*/ 229 w 288"/>
                <a:gd name="T19" fmla="*/ 180 h 180"/>
                <a:gd name="T20" fmla="*/ 228 w 288"/>
                <a:gd name="T21" fmla="*/ 180 h 180"/>
                <a:gd name="T22" fmla="*/ 54 w 288"/>
                <a:gd name="T23" fmla="*/ 180 h 180"/>
                <a:gd name="T24" fmla="*/ 54 w 288"/>
                <a:gd name="T25" fmla="*/ 180 h 180"/>
                <a:gd name="T26" fmla="*/ 51 w 288"/>
                <a:gd name="T27" fmla="*/ 90 h 180"/>
                <a:gd name="T28" fmla="*/ 27 w 288"/>
                <a:gd name="T29" fmla="*/ 99 h 180"/>
                <a:gd name="T30" fmla="*/ 12 w 288"/>
                <a:gd name="T31" fmla="*/ 129 h 180"/>
                <a:gd name="T32" fmla="*/ 22 w 288"/>
                <a:gd name="T33" fmla="*/ 156 h 180"/>
                <a:gd name="T34" fmla="*/ 54 w 288"/>
                <a:gd name="T35" fmla="*/ 168 h 180"/>
                <a:gd name="T36" fmla="*/ 54 w 288"/>
                <a:gd name="T37" fmla="*/ 168 h 180"/>
                <a:gd name="T38" fmla="*/ 228 w 288"/>
                <a:gd name="T39" fmla="*/ 168 h 180"/>
                <a:gd name="T40" fmla="*/ 276 w 288"/>
                <a:gd name="T41" fmla="*/ 114 h 180"/>
                <a:gd name="T42" fmla="*/ 260 w 288"/>
                <a:gd name="T43" fmla="*/ 75 h 180"/>
                <a:gd name="T44" fmla="*/ 220 w 288"/>
                <a:gd name="T45" fmla="*/ 60 h 180"/>
                <a:gd name="T46" fmla="*/ 215 w 288"/>
                <a:gd name="T47" fmla="*/ 57 h 180"/>
                <a:gd name="T48" fmla="*/ 144 w 288"/>
                <a:gd name="T49" fmla="*/ 12 h 180"/>
                <a:gd name="T50" fmla="*/ 66 w 288"/>
                <a:gd name="T51" fmla="*/ 85 h 180"/>
                <a:gd name="T52" fmla="*/ 64 w 288"/>
                <a:gd name="T53" fmla="*/ 90 h 180"/>
                <a:gd name="T54" fmla="*/ 59 w 288"/>
                <a:gd name="T55" fmla="*/ 91 h 180"/>
                <a:gd name="T56" fmla="*/ 51 w 288"/>
                <a:gd name="T57" fmla="*/ 90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88" h="180">
                  <a:moveTo>
                    <a:pt x="54" y="180"/>
                  </a:moveTo>
                  <a:cubicBezTo>
                    <a:pt x="51" y="180"/>
                    <a:pt x="29" y="179"/>
                    <a:pt x="14" y="164"/>
                  </a:cubicBezTo>
                  <a:cubicBezTo>
                    <a:pt x="5" y="156"/>
                    <a:pt x="0" y="144"/>
                    <a:pt x="0" y="129"/>
                  </a:cubicBezTo>
                  <a:cubicBezTo>
                    <a:pt x="0" y="113"/>
                    <a:pt x="7" y="99"/>
                    <a:pt x="19" y="89"/>
                  </a:cubicBezTo>
                  <a:cubicBezTo>
                    <a:pt x="29" y="81"/>
                    <a:pt x="42" y="77"/>
                    <a:pt x="55" y="78"/>
                  </a:cubicBezTo>
                  <a:cubicBezTo>
                    <a:pt x="61" y="34"/>
                    <a:pt x="99" y="0"/>
                    <a:pt x="144" y="0"/>
                  </a:cubicBezTo>
                  <a:cubicBezTo>
                    <a:pt x="177" y="0"/>
                    <a:pt x="208" y="19"/>
                    <a:pt x="224" y="48"/>
                  </a:cubicBezTo>
                  <a:cubicBezTo>
                    <a:pt x="240" y="48"/>
                    <a:pt x="256" y="55"/>
                    <a:pt x="268" y="66"/>
                  </a:cubicBezTo>
                  <a:cubicBezTo>
                    <a:pt x="281" y="79"/>
                    <a:pt x="288" y="96"/>
                    <a:pt x="288" y="114"/>
                  </a:cubicBezTo>
                  <a:cubicBezTo>
                    <a:pt x="288" y="171"/>
                    <a:pt x="230" y="180"/>
                    <a:pt x="229" y="180"/>
                  </a:cubicBezTo>
                  <a:cubicBezTo>
                    <a:pt x="229" y="180"/>
                    <a:pt x="228" y="180"/>
                    <a:pt x="228" y="180"/>
                  </a:cubicBezTo>
                  <a:cubicBezTo>
                    <a:pt x="54" y="180"/>
                    <a:pt x="54" y="180"/>
                    <a:pt x="54" y="180"/>
                  </a:cubicBezTo>
                  <a:cubicBezTo>
                    <a:pt x="54" y="180"/>
                    <a:pt x="54" y="180"/>
                    <a:pt x="54" y="180"/>
                  </a:cubicBezTo>
                  <a:close/>
                  <a:moveTo>
                    <a:pt x="51" y="90"/>
                  </a:moveTo>
                  <a:cubicBezTo>
                    <a:pt x="42" y="90"/>
                    <a:pt x="34" y="93"/>
                    <a:pt x="27" y="99"/>
                  </a:cubicBezTo>
                  <a:cubicBezTo>
                    <a:pt x="17" y="106"/>
                    <a:pt x="12" y="117"/>
                    <a:pt x="12" y="129"/>
                  </a:cubicBezTo>
                  <a:cubicBezTo>
                    <a:pt x="12" y="140"/>
                    <a:pt x="16" y="149"/>
                    <a:pt x="22" y="156"/>
                  </a:cubicBezTo>
                  <a:cubicBezTo>
                    <a:pt x="34" y="168"/>
                    <a:pt x="53" y="168"/>
                    <a:pt x="54" y="168"/>
                  </a:cubicBezTo>
                  <a:cubicBezTo>
                    <a:pt x="54" y="168"/>
                    <a:pt x="54" y="168"/>
                    <a:pt x="54" y="168"/>
                  </a:cubicBezTo>
                  <a:cubicBezTo>
                    <a:pt x="228" y="168"/>
                    <a:pt x="228" y="168"/>
                    <a:pt x="228" y="168"/>
                  </a:cubicBezTo>
                  <a:cubicBezTo>
                    <a:pt x="233" y="167"/>
                    <a:pt x="276" y="159"/>
                    <a:pt x="276" y="114"/>
                  </a:cubicBezTo>
                  <a:cubicBezTo>
                    <a:pt x="276" y="99"/>
                    <a:pt x="270" y="85"/>
                    <a:pt x="260" y="75"/>
                  </a:cubicBezTo>
                  <a:cubicBezTo>
                    <a:pt x="249" y="65"/>
                    <a:pt x="235" y="59"/>
                    <a:pt x="220" y="60"/>
                  </a:cubicBezTo>
                  <a:cubicBezTo>
                    <a:pt x="218" y="60"/>
                    <a:pt x="216" y="59"/>
                    <a:pt x="215" y="57"/>
                  </a:cubicBezTo>
                  <a:cubicBezTo>
                    <a:pt x="202" y="29"/>
                    <a:pt x="174" y="12"/>
                    <a:pt x="144" y="12"/>
                  </a:cubicBezTo>
                  <a:cubicBezTo>
                    <a:pt x="103" y="12"/>
                    <a:pt x="69" y="44"/>
                    <a:pt x="66" y="85"/>
                  </a:cubicBezTo>
                  <a:cubicBezTo>
                    <a:pt x="66" y="87"/>
                    <a:pt x="66" y="88"/>
                    <a:pt x="64" y="90"/>
                  </a:cubicBezTo>
                  <a:cubicBezTo>
                    <a:pt x="63" y="91"/>
                    <a:pt x="61" y="91"/>
                    <a:pt x="59" y="91"/>
                  </a:cubicBezTo>
                  <a:cubicBezTo>
                    <a:pt x="57" y="90"/>
                    <a:pt x="54" y="90"/>
                    <a:pt x="51" y="90"/>
                  </a:cubicBez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111" name="Freeform 5">
              <a:extLst>
                <a:ext uri="{FF2B5EF4-FFF2-40B4-BE49-F238E27FC236}">
                  <a16:creationId xmlns:a16="http://schemas.microsoft.com/office/drawing/2014/main" id="{69741ABB-3C8C-07BB-25D0-4762754CA410}"/>
                </a:ext>
              </a:extLst>
            </p:cNvPr>
            <p:cNvSpPr>
              <a:spLocks noEditPoints="1"/>
            </p:cNvSpPr>
            <p:nvPr/>
          </p:nvSpPr>
          <p:spPr bwMode="auto">
            <a:xfrm>
              <a:off x="863430" y="1977778"/>
              <a:ext cx="126246" cy="123639"/>
            </a:xfrm>
            <a:custGeom>
              <a:avLst/>
              <a:gdLst>
                <a:gd name="T0" fmla="*/ 60 w 88"/>
                <a:gd name="T1" fmla="*/ 8 h 88"/>
                <a:gd name="T2" fmla="*/ 60 w 88"/>
                <a:gd name="T3" fmla="*/ 29 h 88"/>
                <a:gd name="T4" fmla="*/ 28 w 88"/>
                <a:gd name="T5" fmla="*/ 29 h 88"/>
                <a:gd name="T6" fmla="*/ 28 w 88"/>
                <a:gd name="T7" fmla="*/ 8 h 88"/>
                <a:gd name="T8" fmla="*/ 0 w 88"/>
                <a:gd name="T9" fmla="*/ 8 h 88"/>
                <a:gd name="T10" fmla="*/ 14 w 88"/>
                <a:gd name="T11" fmla="*/ 36 h 88"/>
                <a:gd name="T12" fmla="*/ 41 w 88"/>
                <a:gd name="T13" fmla="*/ 44 h 88"/>
                <a:gd name="T14" fmla="*/ 14 w 88"/>
                <a:gd name="T15" fmla="*/ 52 h 88"/>
                <a:gd name="T16" fmla="*/ 0 w 88"/>
                <a:gd name="T17" fmla="*/ 80 h 88"/>
                <a:gd name="T18" fmla="*/ 28 w 88"/>
                <a:gd name="T19" fmla="*/ 80 h 88"/>
                <a:gd name="T20" fmla="*/ 28 w 88"/>
                <a:gd name="T21" fmla="*/ 59 h 88"/>
                <a:gd name="T22" fmla="*/ 60 w 88"/>
                <a:gd name="T23" fmla="*/ 59 h 88"/>
                <a:gd name="T24" fmla="*/ 60 w 88"/>
                <a:gd name="T25" fmla="*/ 80 h 88"/>
                <a:gd name="T26" fmla="*/ 88 w 88"/>
                <a:gd name="T27" fmla="*/ 80 h 88"/>
                <a:gd name="T28" fmla="*/ 74 w 88"/>
                <a:gd name="T29" fmla="*/ 52 h 88"/>
                <a:gd name="T30" fmla="*/ 47 w 88"/>
                <a:gd name="T31" fmla="*/ 44 h 88"/>
                <a:gd name="T32" fmla="*/ 74 w 88"/>
                <a:gd name="T33" fmla="*/ 36 h 88"/>
                <a:gd name="T34" fmla="*/ 88 w 88"/>
                <a:gd name="T35" fmla="*/ 8 h 88"/>
                <a:gd name="T36" fmla="*/ 4 w 88"/>
                <a:gd name="T37" fmla="*/ 14 h 88"/>
                <a:gd name="T38" fmla="*/ 24 w 88"/>
                <a:gd name="T39" fmla="*/ 14 h 88"/>
                <a:gd name="T40" fmla="*/ 14 w 88"/>
                <a:gd name="T41" fmla="*/ 22 h 88"/>
                <a:gd name="T42" fmla="*/ 4 w 88"/>
                <a:gd name="T43" fmla="*/ 14 h 88"/>
                <a:gd name="T44" fmla="*/ 24 w 88"/>
                <a:gd name="T45" fmla="*/ 8 h 88"/>
                <a:gd name="T46" fmla="*/ 4 w 88"/>
                <a:gd name="T47" fmla="*/ 8 h 88"/>
                <a:gd name="T48" fmla="*/ 14 w 88"/>
                <a:gd name="T49" fmla="*/ 32 h 88"/>
                <a:gd name="T50" fmla="*/ 4 w 88"/>
                <a:gd name="T51" fmla="*/ 24 h 88"/>
                <a:gd name="T52" fmla="*/ 24 w 88"/>
                <a:gd name="T53" fmla="*/ 24 h 88"/>
                <a:gd name="T54" fmla="*/ 14 w 88"/>
                <a:gd name="T55" fmla="*/ 32 h 88"/>
                <a:gd name="T56" fmla="*/ 14 w 88"/>
                <a:gd name="T57" fmla="*/ 74 h 88"/>
                <a:gd name="T58" fmla="*/ 4 w 88"/>
                <a:gd name="T59" fmla="*/ 66 h 88"/>
                <a:gd name="T60" fmla="*/ 24 w 88"/>
                <a:gd name="T61" fmla="*/ 66 h 88"/>
                <a:gd name="T62" fmla="*/ 14 w 88"/>
                <a:gd name="T63" fmla="*/ 56 h 88"/>
                <a:gd name="T64" fmla="*/ 14 w 88"/>
                <a:gd name="T65" fmla="*/ 64 h 88"/>
                <a:gd name="T66" fmla="*/ 14 w 88"/>
                <a:gd name="T67" fmla="*/ 56 h 88"/>
                <a:gd name="T68" fmla="*/ 4 w 88"/>
                <a:gd name="T69" fmla="*/ 80 h 88"/>
                <a:gd name="T70" fmla="*/ 14 w 88"/>
                <a:gd name="T71" fmla="*/ 78 h 88"/>
                <a:gd name="T72" fmla="*/ 24 w 88"/>
                <a:gd name="T73" fmla="*/ 80 h 88"/>
                <a:gd name="T74" fmla="*/ 84 w 88"/>
                <a:gd name="T75" fmla="*/ 70 h 88"/>
                <a:gd name="T76" fmla="*/ 64 w 88"/>
                <a:gd name="T77" fmla="*/ 70 h 88"/>
                <a:gd name="T78" fmla="*/ 74 w 88"/>
                <a:gd name="T79" fmla="*/ 68 h 88"/>
                <a:gd name="T80" fmla="*/ 84 w 88"/>
                <a:gd name="T81" fmla="*/ 70 h 88"/>
                <a:gd name="T82" fmla="*/ 64 w 88"/>
                <a:gd name="T83" fmla="*/ 80 h 88"/>
                <a:gd name="T84" fmla="*/ 74 w 88"/>
                <a:gd name="T85" fmla="*/ 78 h 88"/>
                <a:gd name="T86" fmla="*/ 84 w 88"/>
                <a:gd name="T87" fmla="*/ 80 h 88"/>
                <a:gd name="T88" fmla="*/ 74 w 88"/>
                <a:gd name="T89" fmla="*/ 56 h 88"/>
                <a:gd name="T90" fmla="*/ 74 w 88"/>
                <a:gd name="T91" fmla="*/ 64 h 88"/>
                <a:gd name="T92" fmla="*/ 74 w 88"/>
                <a:gd name="T93" fmla="*/ 56 h 88"/>
                <a:gd name="T94" fmla="*/ 74 w 88"/>
                <a:gd name="T95" fmla="*/ 22 h 88"/>
                <a:gd name="T96" fmla="*/ 64 w 88"/>
                <a:gd name="T97" fmla="*/ 14 h 88"/>
                <a:gd name="T98" fmla="*/ 84 w 88"/>
                <a:gd name="T99" fmla="*/ 14 h 88"/>
                <a:gd name="T100" fmla="*/ 74 w 88"/>
                <a:gd name="T101" fmla="*/ 4 h 88"/>
                <a:gd name="T102" fmla="*/ 74 w 88"/>
                <a:gd name="T103" fmla="*/ 12 h 88"/>
                <a:gd name="T104" fmla="*/ 74 w 88"/>
                <a:gd name="T105" fmla="*/ 4 h 88"/>
                <a:gd name="T106" fmla="*/ 64 w 88"/>
                <a:gd name="T107" fmla="*/ 28 h 88"/>
                <a:gd name="T108" fmla="*/ 74 w 88"/>
                <a:gd name="T109" fmla="*/ 26 h 88"/>
                <a:gd name="T110" fmla="*/ 84 w 88"/>
                <a:gd name="T111" fmla="*/ 28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88" h="88">
                  <a:moveTo>
                    <a:pt x="74" y="0"/>
                  </a:moveTo>
                  <a:cubicBezTo>
                    <a:pt x="66" y="0"/>
                    <a:pt x="60" y="3"/>
                    <a:pt x="60" y="8"/>
                  </a:cubicBezTo>
                  <a:cubicBezTo>
                    <a:pt x="60" y="28"/>
                    <a:pt x="60" y="28"/>
                    <a:pt x="60" y="28"/>
                  </a:cubicBezTo>
                  <a:cubicBezTo>
                    <a:pt x="60" y="28"/>
                    <a:pt x="60" y="29"/>
                    <a:pt x="60" y="29"/>
                  </a:cubicBezTo>
                  <a:cubicBezTo>
                    <a:pt x="44" y="41"/>
                    <a:pt x="44" y="41"/>
                    <a:pt x="44" y="41"/>
                  </a:cubicBezTo>
                  <a:cubicBezTo>
                    <a:pt x="28" y="29"/>
                    <a:pt x="28" y="29"/>
                    <a:pt x="28" y="29"/>
                  </a:cubicBezTo>
                  <a:cubicBezTo>
                    <a:pt x="28" y="29"/>
                    <a:pt x="28" y="28"/>
                    <a:pt x="28" y="28"/>
                  </a:cubicBezTo>
                  <a:cubicBezTo>
                    <a:pt x="28" y="8"/>
                    <a:pt x="28" y="8"/>
                    <a:pt x="28" y="8"/>
                  </a:cubicBezTo>
                  <a:cubicBezTo>
                    <a:pt x="28" y="3"/>
                    <a:pt x="22" y="0"/>
                    <a:pt x="14" y="0"/>
                  </a:cubicBezTo>
                  <a:cubicBezTo>
                    <a:pt x="6" y="0"/>
                    <a:pt x="0" y="3"/>
                    <a:pt x="0" y="8"/>
                  </a:cubicBezTo>
                  <a:cubicBezTo>
                    <a:pt x="0" y="28"/>
                    <a:pt x="0" y="28"/>
                    <a:pt x="0" y="28"/>
                  </a:cubicBezTo>
                  <a:cubicBezTo>
                    <a:pt x="0" y="33"/>
                    <a:pt x="6" y="36"/>
                    <a:pt x="14" y="36"/>
                  </a:cubicBezTo>
                  <a:cubicBezTo>
                    <a:pt x="19" y="36"/>
                    <a:pt x="23" y="35"/>
                    <a:pt x="26" y="32"/>
                  </a:cubicBezTo>
                  <a:cubicBezTo>
                    <a:pt x="41" y="44"/>
                    <a:pt x="41" y="44"/>
                    <a:pt x="41" y="44"/>
                  </a:cubicBezTo>
                  <a:cubicBezTo>
                    <a:pt x="26" y="56"/>
                    <a:pt x="26" y="56"/>
                    <a:pt x="26" y="56"/>
                  </a:cubicBezTo>
                  <a:cubicBezTo>
                    <a:pt x="23" y="53"/>
                    <a:pt x="19" y="52"/>
                    <a:pt x="14" y="52"/>
                  </a:cubicBezTo>
                  <a:cubicBezTo>
                    <a:pt x="6" y="52"/>
                    <a:pt x="0" y="55"/>
                    <a:pt x="0" y="60"/>
                  </a:cubicBezTo>
                  <a:cubicBezTo>
                    <a:pt x="0" y="80"/>
                    <a:pt x="0" y="80"/>
                    <a:pt x="0" y="80"/>
                  </a:cubicBezTo>
                  <a:cubicBezTo>
                    <a:pt x="0" y="85"/>
                    <a:pt x="6" y="88"/>
                    <a:pt x="14" y="88"/>
                  </a:cubicBezTo>
                  <a:cubicBezTo>
                    <a:pt x="22" y="88"/>
                    <a:pt x="28" y="85"/>
                    <a:pt x="28" y="80"/>
                  </a:cubicBezTo>
                  <a:cubicBezTo>
                    <a:pt x="28" y="60"/>
                    <a:pt x="28" y="60"/>
                    <a:pt x="28" y="60"/>
                  </a:cubicBezTo>
                  <a:cubicBezTo>
                    <a:pt x="28" y="60"/>
                    <a:pt x="28" y="59"/>
                    <a:pt x="28" y="59"/>
                  </a:cubicBezTo>
                  <a:cubicBezTo>
                    <a:pt x="44" y="47"/>
                    <a:pt x="44" y="47"/>
                    <a:pt x="44" y="47"/>
                  </a:cubicBezTo>
                  <a:cubicBezTo>
                    <a:pt x="60" y="59"/>
                    <a:pt x="60" y="59"/>
                    <a:pt x="60" y="59"/>
                  </a:cubicBezTo>
                  <a:cubicBezTo>
                    <a:pt x="60" y="59"/>
                    <a:pt x="60" y="60"/>
                    <a:pt x="60" y="60"/>
                  </a:cubicBezTo>
                  <a:cubicBezTo>
                    <a:pt x="60" y="80"/>
                    <a:pt x="60" y="80"/>
                    <a:pt x="60" y="80"/>
                  </a:cubicBezTo>
                  <a:cubicBezTo>
                    <a:pt x="60" y="85"/>
                    <a:pt x="66" y="88"/>
                    <a:pt x="74" y="88"/>
                  </a:cubicBezTo>
                  <a:cubicBezTo>
                    <a:pt x="82" y="88"/>
                    <a:pt x="88" y="85"/>
                    <a:pt x="88" y="80"/>
                  </a:cubicBezTo>
                  <a:cubicBezTo>
                    <a:pt x="88" y="60"/>
                    <a:pt x="88" y="60"/>
                    <a:pt x="88" y="60"/>
                  </a:cubicBezTo>
                  <a:cubicBezTo>
                    <a:pt x="88" y="55"/>
                    <a:pt x="82" y="52"/>
                    <a:pt x="74" y="52"/>
                  </a:cubicBezTo>
                  <a:cubicBezTo>
                    <a:pt x="69" y="52"/>
                    <a:pt x="65" y="53"/>
                    <a:pt x="62" y="56"/>
                  </a:cubicBezTo>
                  <a:cubicBezTo>
                    <a:pt x="47" y="44"/>
                    <a:pt x="47" y="44"/>
                    <a:pt x="47" y="44"/>
                  </a:cubicBezTo>
                  <a:cubicBezTo>
                    <a:pt x="62" y="32"/>
                    <a:pt x="62" y="32"/>
                    <a:pt x="62" y="32"/>
                  </a:cubicBezTo>
                  <a:cubicBezTo>
                    <a:pt x="65" y="35"/>
                    <a:pt x="69" y="36"/>
                    <a:pt x="74" y="36"/>
                  </a:cubicBezTo>
                  <a:cubicBezTo>
                    <a:pt x="82" y="36"/>
                    <a:pt x="88" y="33"/>
                    <a:pt x="88" y="28"/>
                  </a:cubicBezTo>
                  <a:cubicBezTo>
                    <a:pt x="88" y="8"/>
                    <a:pt x="88" y="8"/>
                    <a:pt x="88" y="8"/>
                  </a:cubicBezTo>
                  <a:cubicBezTo>
                    <a:pt x="88" y="3"/>
                    <a:pt x="82" y="0"/>
                    <a:pt x="74" y="0"/>
                  </a:cubicBezTo>
                  <a:close/>
                  <a:moveTo>
                    <a:pt x="4" y="14"/>
                  </a:moveTo>
                  <a:cubicBezTo>
                    <a:pt x="7" y="15"/>
                    <a:pt x="10" y="16"/>
                    <a:pt x="14" y="16"/>
                  </a:cubicBezTo>
                  <a:cubicBezTo>
                    <a:pt x="18" y="16"/>
                    <a:pt x="21" y="15"/>
                    <a:pt x="24" y="14"/>
                  </a:cubicBezTo>
                  <a:cubicBezTo>
                    <a:pt x="24" y="18"/>
                    <a:pt x="24" y="18"/>
                    <a:pt x="24" y="18"/>
                  </a:cubicBezTo>
                  <a:cubicBezTo>
                    <a:pt x="24" y="20"/>
                    <a:pt x="20" y="22"/>
                    <a:pt x="14" y="22"/>
                  </a:cubicBezTo>
                  <a:cubicBezTo>
                    <a:pt x="8" y="22"/>
                    <a:pt x="4" y="20"/>
                    <a:pt x="4" y="18"/>
                  </a:cubicBezTo>
                  <a:lnTo>
                    <a:pt x="4" y="14"/>
                  </a:lnTo>
                  <a:close/>
                  <a:moveTo>
                    <a:pt x="14" y="4"/>
                  </a:moveTo>
                  <a:cubicBezTo>
                    <a:pt x="20" y="4"/>
                    <a:pt x="24" y="6"/>
                    <a:pt x="24" y="8"/>
                  </a:cubicBezTo>
                  <a:cubicBezTo>
                    <a:pt x="24" y="10"/>
                    <a:pt x="20" y="12"/>
                    <a:pt x="14" y="12"/>
                  </a:cubicBezTo>
                  <a:cubicBezTo>
                    <a:pt x="8" y="12"/>
                    <a:pt x="4" y="10"/>
                    <a:pt x="4" y="8"/>
                  </a:cubicBezTo>
                  <a:cubicBezTo>
                    <a:pt x="4" y="6"/>
                    <a:pt x="8" y="4"/>
                    <a:pt x="14" y="4"/>
                  </a:cubicBezTo>
                  <a:close/>
                  <a:moveTo>
                    <a:pt x="14" y="32"/>
                  </a:moveTo>
                  <a:cubicBezTo>
                    <a:pt x="8" y="32"/>
                    <a:pt x="4" y="30"/>
                    <a:pt x="4" y="28"/>
                  </a:cubicBezTo>
                  <a:cubicBezTo>
                    <a:pt x="4" y="24"/>
                    <a:pt x="4" y="24"/>
                    <a:pt x="4" y="24"/>
                  </a:cubicBezTo>
                  <a:cubicBezTo>
                    <a:pt x="7" y="25"/>
                    <a:pt x="10" y="26"/>
                    <a:pt x="14" y="26"/>
                  </a:cubicBezTo>
                  <a:cubicBezTo>
                    <a:pt x="18" y="26"/>
                    <a:pt x="21" y="25"/>
                    <a:pt x="24" y="24"/>
                  </a:cubicBezTo>
                  <a:cubicBezTo>
                    <a:pt x="24" y="28"/>
                    <a:pt x="24" y="28"/>
                    <a:pt x="24" y="28"/>
                  </a:cubicBezTo>
                  <a:cubicBezTo>
                    <a:pt x="24" y="30"/>
                    <a:pt x="20" y="32"/>
                    <a:pt x="14" y="32"/>
                  </a:cubicBezTo>
                  <a:close/>
                  <a:moveTo>
                    <a:pt x="24" y="70"/>
                  </a:moveTo>
                  <a:cubicBezTo>
                    <a:pt x="24" y="72"/>
                    <a:pt x="20" y="74"/>
                    <a:pt x="14" y="74"/>
                  </a:cubicBezTo>
                  <a:cubicBezTo>
                    <a:pt x="8" y="74"/>
                    <a:pt x="4" y="72"/>
                    <a:pt x="4" y="70"/>
                  </a:cubicBezTo>
                  <a:cubicBezTo>
                    <a:pt x="4" y="66"/>
                    <a:pt x="4" y="66"/>
                    <a:pt x="4" y="66"/>
                  </a:cubicBezTo>
                  <a:cubicBezTo>
                    <a:pt x="7" y="67"/>
                    <a:pt x="10" y="68"/>
                    <a:pt x="14" y="68"/>
                  </a:cubicBezTo>
                  <a:cubicBezTo>
                    <a:pt x="18" y="68"/>
                    <a:pt x="21" y="67"/>
                    <a:pt x="24" y="66"/>
                  </a:cubicBezTo>
                  <a:lnTo>
                    <a:pt x="24" y="70"/>
                  </a:lnTo>
                  <a:close/>
                  <a:moveTo>
                    <a:pt x="14" y="56"/>
                  </a:moveTo>
                  <a:cubicBezTo>
                    <a:pt x="20" y="56"/>
                    <a:pt x="24" y="58"/>
                    <a:pt x="24" y="60"/>
                  </a:cubicBezTo>
                  <a:cubicBezTo>
                    <a:pt x="24" y="62"/>
                    <a:pt x="20" y="64"/>
                    <a:pt x="14" y="64"/>
                  </a:cubicBezTo>
                  <a:cubicBezTo>
                    <a:pt x="8" y="64"/>
                    <a:pt x="4" y="62"/>
                    <a:pt x="4" y="60"/>
                  </a:cubicBezTo>
                  <a:cubicBezTo>
                    <a:pt x="4" y="58"/>
                    <a:pt x="8" y="56"/>
                    <a:pt x="14" y="56"/>
                  </a:cubicBezTo>
                  <a:close/>
                  <a:moveTo>
                    <a:pt x="14" y="84"/>
                  </a:moveTo>
                  <a:cubicBezTo>
                    <a:pt x="8" y="84"/>
                    <a:pt x="4" y="82"/>
                    <a:pt x="4" y="80"/>
                  </a:cubicBezTo>
                  <a:cubicBezTo>
                    <a:pt x="4" y="76"/>
                    <a:pt x="4" y="76"/>
                    <a:pt x="4" y="76"/>
                  </a:cubicBezTo>
                  <a:cubicBezTo>
                    <a:pt x="7" y="77"/>
                    <a:pt x="10" y="78"/>
                    <a:pt x="14" y="78"/>
                  </a:cubicBezTo>
                  <a:cubicBezTo>
                    <a:pt x="18" y="78"/>
                    <a:pt x="21" y="77"/>
                    <a:pt x="24" y="76"/>
                  </a:cubicBezTo>
                  <a:cubicBezTo>
                    <a:pt x="24" y="80"/>
                    <a:pt x="24" y="80"/>
                    <a:pt x="24" y="80"/>
                  </a:cubicBezTo>
                  <a:cubicBezTo>
                    <a:pt x="24" y="82"/>
                    <a:pt x="20" y="84"/>
                    <a:pt x="14" y="84"/>
                  </a:cubicBezTo>
                  <a:close/>
                  <a:moveTo>
                    <a:pt x="84" y="70"/>
                  </a:moveTo>
                  <a:cubicBezTo>
                    <a:pt x="84" y="72"/>
                    <a:pt x="80" y="74"/>
                    <a:pt x="74" y="74"/>
                  </a:cubicBezTo>
                  <a:cubicBezTo>
                    <a:pt x="68" y="74"/>
                    <a:pt x="64" y="72"/>
                    <a:pt x="64" y="70"/>
                  </a:cubicBezTo>
                  <a:cubicBezTo>
                    <a:pt x="64" y="66"/>
                    <a:pt x="64" y="66"/>
                    <a:pt x="64" y="66"/>
                  </a:cubicBezTo>
                  <a:cubicBezTo>
                    <a:pt x="67" y="67"/>
                    <a:pt x="70" y="68"/>
                    <a:pt x="74" y="68"/>
                  </a:cubicBezTo>
                  <a:cubicBezTo>
                    <a:pt x="78" y="68"/>
                    <a:pt x="81" y="67"/>
                    <a:pt x="84" y="66"/>
                  </a:cubicBezTo>
                  <a:lnTo>
                    <a:pt x="84" y="70"/>
                  </a:lnTo>
                  <a:close/>
                  <a:moveTo>
                    <a:pt x="74" y="84"/>
                  </a:moveTo>
                  <a:cubicBezTo>
                    <a:pt x="68" y="84"/>
                    <a:pt x="64" y="82"/>
                    <a:pt x="64" y="80"/>
                  </a:cubicBezTo>
                  <a:cubicBezTo>
                    <a:pt x="64" y="76"/>
                    <a:pt x="64" y="76"/>
                    <a:pt x="64" y="76"/>
                  </a:cubicBezTo>
                  <a:cubicBezTo>
                    <a:pt x="67" y="77"/>
                    <a:pt x="70" y="78"/>
                    <a:pt x="74" y="78"/>
                  </a:cubicBezTo>
                  <a:cubicBezTo>
                    <a:pt x="78" y="78"/>
                    <a:pt x="81" y="77"/>
                    <a:pt x="84" y="76"/>
                  </a:cubicBezTo>
                  <a:cubicBezTo>
                    <a:pt x="84" y="80"/>
                    <a:pt x="84" y="80"/>
                    <a:pt x="84" y="80"/>
                  </a:cubicBezTo>
                  <a:cubicBezTo>
                    <a:pt x="84" y="82"/>
                    <a:pt x="80" y="84"/>
                    <a:pt x="74" y="84"/>
                  </a:cubicBezTo>
                  <a:close/>
                  <a:moveTo>
                    <a:pt x="74" y="56"/>
                  </a:moveTo>
                  <a:cubicBezTo>
                    <a:pt x="80" y="56"/>
                    <a:pt x="84" y="58"/>
                    <a:pt x="84" y="60"/>
                  </a:cubicBezTo>
                  <a:cubicBezTo>
                    <a:pt x="84" y="62"/>
                    <a:pt x="80" y="64"/>
                    <a:pt x="74" y="64"/>
                  </a:cubicBezTo>
                  <a:cubicBezTo>
                    <a:pt x="68" y="64"/>
                    <a:pt x="64" y="62"/>
                    <a:pt x="64" y="60"/>
                  </a:cubicBezTo>
                  <a:cubicBezTo>
                    <a:pt x="64" y="58"/>
                    <a:pt x="68" y="56"/>
                    <a:pt x="74" y="56"/>
                  </a:cubicBezTo>
                  <a:close/>
                  <a:moveTo>
                    <a:pt x="84" y="18"/>
                  </a:moveTo>
                  <a:cubicBezTo>
                    <a:pt x="84" y="20"/>
                    <a:pt x="80" y="22"/>
                    <a:pt x="74" y="22"/>
                  </a:cubicBezTo>
                  <a:cubicBezTo>
                    <a:pt x="68" y="22"/>
                    <a:pt x="64" y="20"/>
                    <a:pt x="64" y="18"/>
                  </a:cubicBezTo>
                  <a:cubicBezTo>
                    <a:pt x="64" y="14"/>
                    <a:pt x="64" y="14"/>
                    <a:pt x="64" y="14"/>
                  </a:cubicBezTo>
                  <a:cubicBezTo>
                    <a:pt x="67" y="15"/>
                    <a:pt x="70" y="16"/>
                    <a:pt x="74" y="16"/>
                  </a:cubicBezTo>
                  <a:cubicBezTo>
                    <a:pt x="78" y="16"/>
                    <a:pt x="81" y="15"/>
                    <a:pt x="84" y="14"/>
                  </a:cubicBezTo>
                  <a:lnTo>
                    <a:pt x="84" y="18"/>
                  </a:lnTo>
                  <a:close/>
                  <a:moveTo>
                    <a:pt x="74" y="4"/>
                  </a:moveTo>
                  <a:cubicBezTo>
                    <a:pt x="80" y="4"/>
                    <a:pt x="84" y="6"/>
                    <a:pt x="84" y="8"/>
                  </a:cubicBezTo>
                  <a:cubicBezTo>
                    <a:pt x="84" y="10"/>
                    <a:pt x="80" y="12"/>
                    <a:pt x="74" y="12"/>
                  </a:cubicBezTo>
                  <a:cubicBezTo>
                    <a:pt x="68" y="12"/>
                    <a:pt x="64" y="10"/>
                    <a:pt x="64" y="8"/>
                  </a:cubicBezTo>
                  <a:cubicBezTo>
                    <a:pt x="64" y="6"/>
                    <a:pt x="68" y="4"/>
                    <a:pt x="74" y="4"/>
                  </a:cubicBezTo>
                  <a:close/>
                  <a:moveTo>
                    <a:pt x="74" y="32"/>
                  </a:moveTo>
                  <a:cubicBezTo>
                    <a:pt x="68" y="32"/>
                    <a:pt x="64" y="30"/>
                    <a:pt x="64" y="28"/>
                  </a:cubicBezTo>
                  <a:cubicBezTo>
                    <a:pt x="64" y="24"/>
                    <a:pt x="64" y="24"/>
                    <a:pt x="64" y="24"/>
                  </a:cubicBezTo>
                  <a:cubicBezTo>
                    <a:pt x="67" y="25"/>
                    <a:pt x="70" y="26"/>
                    <a:pt x="74" y="26"/>
                  </a:cubicBezTo>
                  <a:cubicBezTo>
                    <a:pt x="78" y="26"/>
                    <a:pt x="81" y="25"/>
                    <a:pt x="84" y="24"/>
                  </a:cubicBezTo>
                  <a:cubicBezTo>
                    <a:pt x="84" y="28"/>
                    <a:pt x="84" y="28"/>
                    <a:pt x="84" y="28"/>
                  </a:cubicBezTo>
                  <a:cubicBezTo>
                    <a:pt x="84" y="30"/>
                    <a:pt x="80" y="32"/>
                    <a:pt x="74" y="32"/>
                  </a:cubicBez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800" b="0" i="0" u="none" strike="noStrike" kern="0" cap="none" spc="0" normalizeH="0" baseline="0" noProof="0">
                <a:ln>
                  <a:noFill/>
                </a:ln>
                <a:solidFill>
                  <a:srgbClr val="96968C"/>
                </a:solidFill>
                <a:effectLst/>
                <a:uLnTx/>
                <a:uFillTx/>
                <a:latin typeface="Graphik Semibold" panose="020B0703030202060203" pitchFamily="34" charset="0"/>
                <a:ea typeface="+mn-ea"/>
                <a:cs typeface="Arial" charset="0"/>
              </a:endParaRPr>
            </a:p>
          </p:txBody>
        </p:sp>
        <p:grpSp>
          <p:nvGrpSpPr>
            <p:cNvPr id="112" name="Group 67">
              <a:extLst>
                <a:ext uri="{FF2B5EF4-FFF2-40B4-BE49-F238E27FC236}">
                  <a16:creationId xmlns:a16="http://schemas.microsoft.com/office/drawing/2014/main" id="{4C4E8081-F96A-A068-15DE-807B92A9E716}"/>
                </a:ext>
              </a:extLst>
            </p:cNvPr>
            <p:cNvGrpSpPr>
              <a:grpSpLocks noChangeAspect="1"/>
            </p:cNvGrpSpPr>
            <p:nvPr/>
          </p:nvGrpSpPr>
          <p:grpSpPr bwMode="auto">
            <a:xfrm>
              <a:off x="863430" y="1684605"/>
              <a:ext cx="126246" cy="123349"/>
              <a:chOff x="1356" y="1721"/>
              <a:chExt cx="427" cy="426"/>
            </a:xfrm>
            <a:solidFill>
              <a:srgbClr val="FFFFFF"/>
            </a:solidFill>
          </p:grpSpPr>
          <p:sp>
            <p:nvSpPr>
              <p:cNvPr id="113" name="Freeform 68">
                <a:extLst>
                  <a:ext uri="{FF2B5EF4-FFF2-40B4-BE49-F238E27FC236}">
                    <a16:creationId xmlns:a16="http://schemas.microsoft.com/office/drawing/2014/main" id="{59A15B4E-5389-D7BC-FF18-D01B2B138469}"/>
                  </a:ext>
                </a:extLst>
              </p:cNvPr>
              <p:cNvSpPr>
                <a:spLocks noEditPoints="1"/>
              </p:cNvSpPr>
              <p:nvPr/>
            </p:nvSpPr>
            <p:spPr bwMode="auto">
              <a:xfrm>
                <a:off x="1356" y="1721"/>
                <a:ext cx="427" cy="426"/>
              </a:xfrm>
              <a:custGeom>
                <a:avLst/>
                <a:gdLst>
                  <a:gd name="T0" fmla="*/ 126 w 288"/>
                  <a:gd name="T1" fmla="*/ 288 h 288"/>
                  <a:gd name="T2" fmla="*/ 120 w 288"/>
                  <a:gd name="T3" fmla="*/ 247 h 288"/>
                  <a:gd name="T4" fmla="*/ 67 w 288"/>
                  <a:gd name="T5" fmla="*/ 262 h 288"/>
                  <a:gd name="T6" fmla="*/ 25 w 288"/>
                  <a:gd name="T7" fmla="*/ 229 h 288"/>
                  <a:gd name="T8" fmla="*/ 25 w 288"/>
                  <a:gd name="T9" fmla="*/ 220 h 288"/>
                  <a:gd name="T10" fmla="*/ 40 w 288"/>
                  <a:gd name="T11" fmla="*/ 168 h 288"/>
                  <a:gd name="T12" fmla="*/ 0 w 288"/>
                  <a:gd name="T13" fmla="*/ 162 h 288"/>
                  <a:gd name="T14" fmla="*/ 6 w 288"/>
                  <a:gd name="T15" fmla="*/ 120 h 288"/>
                  <a:gd name="T16" fmla="*/ 49 w 288"/>
                  <a:gd name="T17" fmla="*/ 92 h 288"/>
                  <a:gd name="T18" fmla="*/ 23 w 288"/>
                  <a:gd name="T19" fmla="*/ 63 h 288"/>
                  <a:gd name="T20" fmla="*/ 59 w 288"/>
                  <a:gd name="T21" fmla="*/ 25 h 288"/>
                  <a:gd name="T22" fmla="*/ 92 w 288"/>
                  <a:gd name="T23" fmla="*/ 49 h 288"/>
                  <a:gd name="T24" fmla="*/ 120 w 288"/>
                  <a:gd name="T25" fmla="*/ 6 h 288"/>
                  <a:gd name="T26" fmla="*/ 162 w 288"/>
                  <a:gd name="T27" fmla="*/ 0 h 288"/>
                  <a:gd name="T28" fmla="*/ 168 w 288"/>
                  <a:gd name="T29" fmla="*/ 40 h 288"/>
                  <a:gd name="T30" fmla="*/ 220 w 288"/>
                  <a:gd name="T31" fmla="*/ 25 h 288"/>
                  <a:gd name="T32" fmla="*/ 263 w 288"/>
                  <a:gd name="T33" fmla="*/ 59 h 288"/>
                  <a:gd name="T34" fmla="*/ 263 w 288"/>
                  <a:gd name="T35" fmla="*/ 67 h 288"/>
                  <a:gd name="T36" fmla="*/ 248 w 288"/>
                  <a:gd name="T37" fmla="*/ 120 h 288"/>
                  <a:gd name="T38" fmla="*/ 288 w 288"/>
                  <a:gd name="T39" fmla="*/ 126 h 288"/>
                  <a:gd name="T40" fmla="*/ 282 w 288"/>
                  <a:gd name="T41" fmla="*/ 168 h 288"/>
                  <a:gd name="T42" fmla="*/ 238 w 288"/>
                  <a:gd name="T43" fmla="*/ 196 h 288"/>
                  <a:gd name="T44" fmla="*/ 263 w 288"/>
                  <a:gd name="T45" fmla="*/ 229 h 288"/>
                  <a:gd name="T46" fmla="*/ 220 w 288"/>
                  <a:gd name="T47" fmla="*/ 262 h 288"/>
                  <a:gd name="T48" fmla="*/ 168 w 288"/>
                  <a:gd name="T49" fmla="*/ 247 h 288"/>
                  <a:gd name="T50" fmla="*/ 162 w 288"/>
                  <a:gd name="T51" fmla="*/ 288 h 288"/>
                  <a:gd name="T52" fmla="*/ 156 w 288"/>
                  <a:gd name="T53" fmla="*/ 276 h 288"/>
                  <a:gd name="T54" fmla="*/ 160 w 288"/>
                  <a:gd name="T55" fmla="*/ 237 h 288"/>
                  <a:gd name="T56" fmla="*/ 201 w 288"/>
                  <a:gd name="T57" fmla="*/ 226 h 288"/>
                  <a:gd name="T58" fmla="*/ 250 w 288"/>
                  <a:gd name="T59" fmla="*/ 224 h 288"/>
                  <a:gd name="T60" fmla="*/ 226 w 288"/>
                  <a:gd name="T61" fmla="*/ 194 h 288"/>
                  <a:gd name="T62" fmla="*/ 243 w 288"/>
                  <a:gd name="T63" fmla="*/ 156 h 288"/>
                  <a:gd name="T64" fmla="*/ 276 w 288"/>
                  <a:gd name="T65" fmla="*/ 132 h 288"/>
                  <a:gd name="T66" fmla="*/ 237 w 288"/>
                  <a:gd name="T67" fmla="*/ 127 h 288"/>
                  <a:gd name="T68" fmla="*/ 227 w 288"/>
                  <a:gd name="T69" fmla="*/ 86 h 288"/>
                  <a:gd name="T70" fmla="*/ 224 w 288"/>
                  <a:gd name="T71" fmla="*/ 38 h 288"/>
                  <a:gd name="T72" fmla="*/ 194 w 288"/>
                  <a:gd name="T73" fmla="*/ 62 h 288"/>
                  <a:gd name="T74" fmla="*/ 156 w 288"/>
                  <a:gd name="T75" fmla="*/ 45 h 288"/>
                  <a:gd name="T76" fmla="*/ 132 w 288"/>
                  <a:gd name="T77" fmla="*/ 12 h 288"/>
                  <a:gd name="T78" fmla="*/ 127 w 288"/>
                  <a:gd name="T79" fmla="*/ 50 h 288"/>
                  <a:gd name="T80" fmla="*/ 87 w 288"/>
                  <a:gd name="T81" fmla="*/ 61 h 288"/>
                  <a:gd name="T82" fmla="*/ 38 w 288"/>
                  <a:gd name="T83" fmla="*/ 63 h 288"/>
                  <a:gd name="T84" fmla="*/ 62 w 288"/>
                  <a:gd name="T85" fmla="*/ 94 h 288"/>
                  <a:gd name="T86" fmla="*/ 45 w 288"/>
                  <a:gd name="T87" fmla="*/ 132 h 288"/>
                  <a:gd name="T88" fmla="*/ 12 w 288"/>
                  <a:gd name="T89" fmla="*/ 156 h 288"/>
                  <a:gd name="T90" fmla="*/ 51 w 288"/>
                  <a:gd name="T91" fmla="*/ 160 h 288"/>
                  <a:gd name="T92" fmla="*/ 61 w 288"/>
                  <a:gd name="T93" fmla="*/ 201 h 288"/>
                  <a:gd name="T94" fmla="*/ 63 w 288"/>
                  <a:gd name="T95" fmla="*/ 250 h 288"/>
                  <a:gd name="T96" fmla="*/ 94 w 288"/>
                  <a:gd name="T97" fmla="*/ 226 h 288"/>
                  <a:gd name="T98" fmla="*/ 132 w 288"/>
                  <a:gd name="T99" fmla="*/ 243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88" h="288">
                    <a:moveTo>
                      <a:pt x="162" y="288"/>
                    </a:moveTo>
                    <a:cubicBezTo>
                      <a:pt x="126" y="288"/>
                      <a:pt x="126" y="288"/>
                      <a:pt x="126" y="288"/>
                    </a:cubicBezTo>
                    <a:cubicBezTo>
                      <a:pt x="123" y="288"/>
                      <a:pt x="120" y="285"/>
                      <a:pt x="120" y="282"/>
                    </a:cubicBezTo>
                    <a:cubicBezTo>
                      <a:pt x="120" y="247"/>
                      <a:pt x="120" y="247"/>
                      <a:pt x="120" y="247"/>
                    </a:cubicBezTo>
                    <a:cubicBezTo>
                      <a:pt x="110" y="245"/>
                      <a:pt x="100" y="242"/>
                      <a:pt x="92" y="238"/>
                    </a:cubicBezTo>
                    <a:cubicBezTo>
                      <a:pt x="67" y="262"/>
                      <a:pt x="67" y="262"/>
                      <a:pt x="67" y="262"/>
                    </a:cubicBezTo>
                    <a:cubicBezTo>
                      <a:pt x="65" y="265"/>
                      <a:pt x="61" y="265"/>
                      <a:pt x="59" y="262"/>
                    </a:cubicBezTo>
                    <a:cubicBezTo>
                      <a:pt x="25" y="229"/>
                      <a:pt x="25" y="229"/>
                      <a:pt x="25" y="229"/>
                    </a:cubicBezTo>
                    <a:cubicBezTo>
                      <a:pt x="24" y="227"/>
                      <a:pt x="23" y="226"/>
                      <a:pt x="23" y="224"/>
                    </a:cubicBezTo>
                    <a:cubicBezTo>
                      <a:pt x="23" y="223"/>
                      <a:pt x="24" y="221"/>
                      <a:pt x="25" y="220"/>
                    </a:cubicBezTo>
                    <a:cubicBezTo>
                      <a:pt x="49" y="196"/>
                      <a:pt x="49" y="196"/>
                      <a:pt x="49" y="196"/>
                    </a:cubicBezTo>
                    <a:cubicBezTo>
                      <a:pt x="46" y="188"/>
                      <a:pt x="43" y="177"/>
                      <a:pt x="40" y="168"/>
                    </a:cubicBezTo>
                    <a:cubicBezTo>
                      <a:pt x="6" y="168"/>
                      <a:pt x="6" y="168"/>
                      <a:pt x="6" y="168"/>
                    </a:cubicBezTo>
                    <a:cubicBezTo>
                      <a:pt x="3" y="168"/>
                      <a:pt x="0" y="165"/>
                      <a:pt x="0" y="162"/>
                    </a:cubicBezTo>
                    <a:cubicBezTo>
                      <a:pt x="0" y="126"/>
                      <a:pt x="0" y="126"/>
                      <a:pt x="0" y="126"/>
                    </a:cubicBezTo>
                    <a:cubicBezTo>
                      <a:pt x="0" y="122"/>
                      <a:pt x="3" y="120"/>
                      <a:pt x="6" y="120"/>
                    </a:cubicBezTo>
                    <a:cubicBezTo>
                      <a:pt x="40" y="120"/>
                      <a:pt x="40" y="120"/>
                      <a:pt x="40" y="120"/>
                    </a:cubicBezTo>
                    <a:cubicBezTo>
                      <a:pt x="43" y="110"/>
                      <a:pt x="46" y="100"/>
                      <a:pt x="49" y="92"/>
                    </a:cubicBezTo>
                    <a:cubicBezTo>
                      <a:pt x="25" y="67"/>
                      <a:pt x="25" y="67"/>
                      <a:pt x="25" y="67"/>
                    </a:cubicBezTo>
                    <a:cubicBezTo>
                      <a:pt x="24" y="66"/>
                      <a:pt x="23" y="65"/>
                      <a:pt x="23" y="63"/>
                    </a:cubicBezTo>
                    <a:cubicBezTo>
                      <a:pt x="23" y="61"/>
                      <a:pt x="24" y="60"/>
                      <a:pt x="25" y="59"/>
                    </a:cubicBezTo>
                    <a:cubicBezTo>
                      <a:pt x="59" y="25"/>
                      <a:pt x="59" y="25"/>
                      <a:pt x="59" y="25"/>
                    </a:cubicBezTo>
                    <a:cubicBezTo>
                      <a:pt x="61" y="23"/>
                      <a:pt x="65" y="23"/>
                      <a:pt x="67" y="25"/>
                    </a:cubicBezTo>
                    <a:cubicBezTo>
                      <a:pt x="92" y="49"/>
                      <a:pt x="92" y="49"/>
                      <a:pt x="92" y="49"/>
                    </a:cubicBezTo>
                    <a:cubicBezTo>
                      <a:pt x="100" y="45"/>
                      <a:pt x="110" y="42"/>
                      <a:pt x="120" y="40"/>
                    </a:cubicBezTo>
                    <a:cubicBezTo>
                      <a:pt x="120" y="6"/>
                      <a:pt x="120" y="6"/>
                      <a:pt x="120" y="6"/>
                    </a:cubicBezTo>
                    <a:cubicBezTo>
                      <a:pt x="120" y="2"/>
                      <a:pt x="123" y="0"/>
                      <a:pt x="126" y="0"/>
                    </a:cubicBezTo>
                    <a:cubicBezTo>
                      <a:pt x="162" y="0"/>
                      <a:pt x="162" y="0"/>
                      <a:pt x="162" y="0"/>
                    </a:cubicBezTo>
                    <a:cubicBezTo>
                      <a:pt x="165" y="0"/>
                      <a:pt x="168" y="2"/>
                      <a:pt x="168" y="6"/>
                    </a:cubicBezTo>
                    <a:cubicBezTo>
                      <a:pt x="168" y="40"/>
                      <a:pt x="168" y="40"/>
                      <a:pt x="168" y="40"/>
                    </a:cubicBezTo>
                    <a:cubicBezTo>
                      <a:pt x="177" y="42"/>
                      <a:pt x="188" y="45"/>
                      <a:pt x="196" y="49"/>
                    </a:cubicBezTo>
                    <a:cubicBezTo>
                      <a:pt x="220" y="25"/>
                      <a:pt x="220" y="25"/>
                      <a:pt x="220" y="25"/>
                    </a:cubicBezTo>
                    <a:cubicBezTo>
                      <a:pt x="223" y="23"/>
                      <a:pt x="226" y="23"/>
                      <a:pt x="229" y="25"/>
                    </a:cubicBezTo>
                    <a:cubicBezTo>
                      <a:pt x="263" y="59"/>
                      <a:pt x="263" y="59"/>
                      <a:pt x="263" y="59"/>
                    </a:cubicBezTo>
                    <a:cubicBezTo>
                      <a:pt x="264" y="60"/>
                      <a:pt x="264" y="61"/>
                      <a:pt x="264" y="63"/>
                    </a:cubicBezTo>
                    <a:cubicBezTo>
                      <a:pt x="264" y="65"/>
                      <a:pt x="264" y="66"/>
                      <a:pt x="263" y="67"/>
                    </a:cubicBezTo>
                    <a:cubicBezTo>
                      <a:pt x="238" y="92"/>
                      <a:pt x="238" y="92"/>
                      <a:pt x="238" y="92"/>
                    </a:cubicBezTo>
                    <a:cubicBezTo>
                      <a:pt x="242" y="100"/>
                      <a:pt x="245" y="110"/>
                      <a:pt x="248" y="120"/>
                    </a:cubicBezTo>
                    <a:cubicBezTo>
                      <a:pt x="282" y="120"/>
                      <a:pt x="282" y="120"/>
                      <a:pt x="282" y="120"/>
                    </a:cubicBezTo>
                    <a:cubicBezTo>
                      <a:pt x="285" y="120"/>
                      <a:pt x="288" y="122"/>
                      <a:pt x="288" y="126"/>
                    </a:cubicBezTo>
                    <a:cubicBezTo>
                      <a:pt x="288" y="162"/>
                      <a:pt x="288" y="162"/>
                      <a:pt x="288" y="162"/>
                    </a:cubicBezTo>
                    <a:cubicBezTo>
                      <a:pt x="288" y="165"/>
                      <a:pt x="285" y="168"/>
                      <a:pt x="282" y="168"/>
                    </a:cubicBezTo>
                    <a:cubicBezTo>
                      <a:pt x="248" y="168"/>
                      <a:pt x="248" y="168"/>
                      <a:pt x="248" y="168"/>
                    </a:cubicBezTo>
                    <a:cubicBezTo>
                      <a:pt x="245" y="177"/>
                      <a:pt x="242" y="188"/>
                      <a:pt x="238" y="196"/>
                    </a:cubicBezTo>
                    <a:cubicBezTo>
                      <a:pt x="263" y="220"/>
                      <a:pt x="263" y="220"/>
                      <a:pt x="263" y="220"/>
                    </a:cubicBezTo>
                    <a:cubicBezTo>
                      <a:pt x="265" y="222"/>
                      <a:pt x="265" y="226"/>
                      <a:pt x="263" y="229"/>
                    </a:cubicBezTo>
                    <a:cubicBezTo>
                      <a:pt x="229" y="262"/>
                      <a:pt x="229" y="262"/>
                      <a:pt x="229" y="262"/>
                    </a:cubicBezTo>
                    <a:cubicBezTo>
                      <a:pt x="226" y="265"/>
                      <a:pt x="223" y="265"/>
                      <a:pt x="220" y="262"/>
                    </a:cubicBezTo>
                    <a:cubicBezTo>
                      <a:pt x="196" y="238"/>
                      <a:pt x="196" y="238"/>
                      <a:pt x="196" y="238"/>
                    </a:cubicBezTo>
                    <a:cubicBezTo>
                      <a:pt x="188" y="242"/>
                      <a:pt x="177" y="245"/>
                      <a:pt x="168" y="247"/>
                    </a:cubicBezTo>
                    <a:cubicBezTo>
                      <a:pt x="168" y="282"/>
                      <a:pt x="168" y="282"/>
                      <a:pt x="168" y="282"/>
                    </a:cubicBezTo>
                    <a:cubicBezTo>
                      <a:pt x="168" y="285"/>
                      <a:pt x="165" y="288"/>
                      <a:pt x="162" y="288"/>
                    </a:cubicBezTo>
                    <a:close/>
                    <a:moveTo>
                      <a:pt x="132" y="276"/>
                    </a:moveTo>
                    <a:cubicBezTo>
                      <a:pt x="156" y="276"/>
                      <a:pt x="156" y="276"/>
                      <a:pt x="156" y="276"/>
                    </a:cubicBezTo>
                    <a:cubicBezTo>
                      <a:pt x="156" y="243"/>
                      <a:pt x="156" y="243"/>
                      <a:pt x="156" y="243"/>
                    </a:cubicBezTo>
                    <a:cubicBezTo>
                      <a:pt x="156" y="240"/>
                      <a:pt x="158" y="238"/>
                      <a:pt x="160" y="237"/>
                    </a:cubicBezTo>
                    <a:cubicBezTo>
                      <a:pt x="167" y="235"/>
                      <a:pt x="185" y="231"/>
                      <a:pt x="194" y="226"/>
                    </a:cubicBezTo>
                    <a:cubicBezTo>
                      <a:pt x="196" y="224"/>
                      <a:pt x="199" y="224"/>
                      <a:pt x="201" y="226"/>
                    </a:cubicBezTo>
                    <a:cubicBezTo>
                      <a:pt x="224" y="250"/>
                      <a:pt x="224" y="250"/>
                      <a:pt x="224" y="250"/>
                    </a:cubicBezTo>
                    <a:cubicBezTo>
                      <a:pt x="250" y="224"/>
                      <a:pt x="250" y="224"/>
                      <a:pt x="250" y="224"/>
                    </a:cubicBezTo>
                    <a:cubicBezTo>
                      <a:pt x="227" y="201"/>
                      <a:pt x="227" y="201"/>
                      <a:pt x="227" y="201"/>
                    </a:cubicBezTo>
                    <a:cubicBezTo>
                      <a:pt x="225" y="199"/>
                      <a:pt x="224" y="196"/>
                      <a:pt x="226" y="194"/>
                    </a:cubicBezTo>
                    <a:cubicBezTo>
                      <a:pt x="231" y="185"/>
                      <a:pt x="235" y="167"/>
                      <a:pt x="237" y="160"/>
                    </a:cubicBezTo>
                    <a:cubicBezTo>
                      <a:pt x="238" y="158"/>
                      <a:pt x="240" y="156"/>
                      <a:pt x="243" y="156"/>
                    </a:cubicBezTo>
                    <a:cubicBezTo>
                      <a:pt x="276" y="156"/>
                      <a:pt x="276" y="156"/>
                      <a:pt x="276" y="156"/>
                    </a:cubicBezTo>
                    <a:cubicBezTo>
                      <a:pt x="276" y="132"/>
                      <a:pt x="276" y="132"/>
                      <a:pt x="276" y="132"/>
                    </a:cubicBezTo>
                    <a:cubicBezTo>
                      <a:pt x="243" y="132"/>
                      <a:pt x="243" y="132"/>
                      <a:pt x="243" y="132"/>
                    </a:cubicBezTo>
                    <a:cubicBezTo>
                      <a:pt x="240" y="132"/>
                      <a:pt x="238" y="130"/>
                      <a:pt x="237" y="127"/>
                    </a:cubicBezTo>
                    <a:cubicBezTo>
                      <a:pt x="235" y="120"/>
                      <a:pt x="231" y="103"/>
                      <a:pt x="226" y="94"/>
                    </a:cubicBezTo>
                    <a:cubicBezTo>
                      <a:pt x="224" y="91"/>
                      <a:pt x="225" y="88"/>
                      <a:pt x="227" y="86"/>
                    </a:cubicBezTo>
                    <a:cubicBezTo>
                      <a:pt x="250" y="63"/>
                      <a:pt x="250" y="63"/>
                      <a:pt x="250" y="63"/>
                    </a:cubicBezTo>
                    <a:cubicBezTo>
                      <a:pt x="224" y="38"/>
                      <a:pt x="224" y="38"/>
                      <a:pt x="224" y="38"/>
                    </a:cubicBezTo>
                    <a:cubicBezTo>
                      <a:pt x="201" y="61"/>
                      <a:pt x="201" y="61"/>
                      <a:pt x="201" y="61"/>
                    </a:cubicBezTo>
                    <a:cubicBezTo>
                      <a:pt x="199" y="63"/>
                      <a:pt x="196" y="63"/>
                      <a:pt x="194" y="62"/>
                    </a:cubicBezTo>
                    <a:cubicBezTo>
                      <a:pt x="186" y="57"/>
                      <a:pt x="171" y="53"/>
                      <a:pt x="160" y="50"/>
                    </a:cubicBezTo>
                    <a:cubicBezTo>
                      <a:pt x="158" y="50"/>
                      <a:pt x="156" y="47"/>
                      <a:pt x="156" y="45"/>
                    </a:cubicBezTo>
                    <a:cubicBezTo>
                      <a:pt x="156" y="12"/>
                      <a:pt x="156" y="12"/>
                      <a:pt x="156" y="12"/>
                    </a:cubicBezTo>
                    <a:cubicBezTo>
                      <a:pt x="132" y="12"/>
                      <a:pt x="132" y="12"/>
                      <a:pt x="132" y="12"/>
                    </a:cubicBezTo>
                    <a:cubicBezTo>
                      <a:pt x="132" y="45"/>
                      <a:pt x="132" y="45"/>
                      <a:pt x="132" y="45"/>
                    </a:cubicBezTo>
                    <a:cubicBezTo>
                      <a:pt x="132" y="47"/>
                      <a:pt x="130" y="50"/>
                      <a:pt x="127" y="50"/>
                    </a:cubicBezTo>
                    <a:cubicBezTo>
                      <a:pt x="117" y="53"/>
                      <a:pt x="102" y="57"/>
                      <a:pt x="94" y="62"/>
                    </a:cubicBezTo>
                    <a:cubicBezTo>
                      <a:pt x="92" y="63"/>
                      <a:pt x="89" y="63"/>
                      <a:pt x="87" y="61"/>
                    </a:cubicBezTo>
                    <a:cubicBezTo>
                      <a:pt x="63" y="38"/>
                      <a:pt x="63" y="38"/>
                      <a:pt x="63" y="38"/>
                    </a:cubicBezTo>
                    <a:cubicBezTo>
                      <a:pt x="38" y="63"/>
                      <a:pt x="38" y="63"/>
                      <a:pt x="38" y="63"/>
                    </a:cubicBezTo>
                    <a:cubicBezTo>
                      <a:pt x="61" y="86"/>
                      <a:pt x="61" y="86"/>
                      <a:pt x="61" y="86"/>
                    </a:cubicBezTo>
                    <a:cubicBezTo>
                      <a:pt x="63" y="88"/>
                      <a:pt x="63" y="91"/>
                      <a:pt x="62" y="94"/>
                    </a:cubicBezTo>
                    <a:cubicBezTo>
                      <a:pt x="57" y="103"/>
                      <a:pt x="52" y="120"/>
                      <a:pt x="51" y="127"/>
                    </a:cubicBezTo>
                    <a:cubicBezTo>
                      <a:pt x="50" y="130"/>
                      <a:pt x="48" y="132"/>
                      <a:pt x="45" y="132"/>
                    </a:cubicBezTo>
                    <a:cubicBezTo>
                      <a:pt x="12" y="132"/>
                      <a:pt x="12" y="132"/>
                      <a:pt x="12" y="132"/>
                    </a:cubicBezTo>
                    <a:cubicBezTo>
                      <a:pt x="12" y="156"/>
                      <a:pt x="12" y="156"/>
                      <a:pt x="12" y="156"/>
                    </a:cubicBezTo>
                    <a:cubicBezTo>
                      <a:pt x="45" y="156"/>
                      <a:pt x="45" y="156"/>
                      <a:pt x="45" y="156"/>
                    </a:cubicBezTo>
                    <a:cubicBezTo>
                      <a:pt x="48" y="156"/>
                      <a:pt x="50" y="158"/>
                      <a:pt x="51" y="160"/>
                    </a:cubicBezTo>
                    <a:cubicBezTo>
                      <a:pt x="52" y="167"/>
                      <a:pt x="57" y="185"/>
                      <a:pt x="62" y="194"/>
                    </a:cubicBezTo>
                    <a:cubicBezTo>
                      <a:pt x="63" y="196"/>
                      <a:pt x="63" y="199"/>
                      <a:pt x="61" y="201"/>
                    </a:cubicBezTo>
                    <a:cubicBezTo>
                      <a:pt x="38" y="224"/>
                      <a:pt x="38" y="224"/>
                      <a:pt x="38" y="224"/>
                    </a:cubicBezTo>
                    <a:cubicBezTo>
                      <a:pt x="63" y="250"/>
                      <a:pt x="63" y="250"/>
                      <a:pt x="63" y="250"/>
                    </a:cubicBezTo>
                    <a:cubicBezTo>
                      <a:pt x="87" y="226"/>
                      <a:pt x="87" y="226"/>
                      <a:pt x="87" y="226"/>
                    </a:cubicBezTo>
                    <a:cubicBezTo>
                      <a:pt x="88" y="224"/>
                      <a:pt x="92" y="224"/>
                      <a:pt x="94" y="226"/>
                    </a:cubicBezTo>
                    <a:cubicBezTo>
                      <a:pt x="103" y="231"/>
                      <a:pt x="121" y="235"/>
                      <a:pt x="127" y="237"/>
                    </a:cubicBezTo>
                    <a:cubicBezTo>
                      <a:pt x="130" y="238"/>
                      <a:pt x="132" y="240"/>
                      <a:pt x="132" y="243"/>
                    </a:cubicBezTo>
                    <a:lnTo>
                      <a:pt x="132" y="27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114" name="Freeform 69">
                <a:extLst>
                  <a:ext uri="{FF2B5EF4-FFF2-40B4-BE49-F238E27FC236}">
                    <a16:creationId xmlns:a16="http://schemas.microsoft.com/office/drawing/2014/main" id="{F7A0F179-8F3E-A6DF-B9E5-8FB60881316A}"/>
                  </a:ext>
                </a:extLst>
              </p:cNvPr>
              <p:cNvSpPr>
                <a:spLocks noEditPoints="1"/>
              </p:cNvSpPr>
              <p:nvPr/>
            </p:nvSpPr>
            <p:spPr bwMode="auto">
              <a:xfrm>
                <a:off x="1454" y="1819"/>
                <a:ext cx="231" cy="230"/>
              </a:xfrm>
              <a:custGeom>
                <a:avLst/>
                <a:gdLst>
                  <a:gd name="T0" fmla="*/ 78 w 156"/>
                  <a:gd name="T1" fmla="*/ 156 h 156"/>
                  <a:gd name="T2" fmla="*/ 0 w 156"/>
                  <a:gd name="T3" fmla="*/ 78 h 156"/>
                  <a:gd name="T4" fmla="*/ 78 w 156"/>
                  <a:gd name="T5" fmla="*/ 0 h 156"/>
                  <a:gd name="T6" fmla="*/ 156 w 156"/>
                  <a:gd name="T7" fmla="*/ 78 h 156"/>
                  <a:gd name="T8" fmla="*/ 78 w 156"/>
                  <a:gd name="T9" fmla="*/ 156 h 156"/>
                  <a:gd name="T10" fmla="*/ 78 w 156"/>
                  <a:gd name="T11" fmla="*/ 12 h 156"/>
                  <a:gd name="T12" fmla="*/ 12 w 156"/>
                  <a:gd name="T13" fmla="*/ 78 h 156"/>
                  <a:gd name="T14" fmla="*/ 78 w 156"/>
                  <a:gd name="T15" fmla="*/ 144 h 156"/>
                  <a:gd name="T16" fmla="*/ 144 w 156"/>
                  <a:gd name="T17" fmla="*/ 78 h 156"/>
                  <a:gd name="T18" fmla="*/ 78 w 156"/>
                  <a:gd name="T19" fmla="*/ 12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6" h="156">
                    <a:moveTo>
                      <a:pt x="78" y="156"/>
                    </a:moveTo>
                    <a:cubicBezTo>
                      <a:pt x="35" y="156"/>
                      <a:pt x="0" y="121"/>
                      <a:pt x="0" y="78"/>
                    </a:cubicBezTo>
                    <a:cubicBezTo>
                      <a:pt x="0" y="35"/>
                      <a:pt x="35" y="0"/>
                      <a:pt x="78" y="0"/>
                    </a:cubicBezTo>
                    <a:cubicBezTo>
                      <a:pt x="121" y="0"/>
                      <a:pt x="156" y="35"/>
                      <a:pt x="156" y="78"/>
                    </a:cubicBezTo>
                    <a:cubicBezTo>
                      <a:pt x="156" y="121"/>
                      <a:pt x="121" y="156"/>
                      <a:pt x="78" y="156"/>
                    </a:cubicBezTo>
                    <a:close/>
                    <a:moveTo>
                      <a:pt x="78" y="12"/>
                    </a:moveTo>
                    <a:cubicBezTo>
                      <a:pt x="41" y="12"/>
                      <a:pt x="12" y="41"/>
                      <a:pt x="12" y="78"/>
                    </a:cubicBezTo>
                    <a:cubicBezTo>
                      <a:pt x="12" y="114"/>
                      <a:pt x="41" y="144"/>
                      <a:pt x="78" y="144"/>
                    </a:cubicBezTo>
                    <a:cubicBezTo>
                      <a:pt x="114" y="144"/>
                      <a:pt x="144" y="114"/>
                      <a:pt x="144" y="78"/>
                    </a:cubicBezTo>
                    <a:cubicBezTo>
                      <a:pt x="144" y="41"/>
                      <a:pt x="114" y="12"/>
                      <a:pt x="7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115" name="Freeform 70">
                <a:extLst>
                  <a:ext uri="{FF2B5EF4-FFF2-40B4-BE49-F238E27FC236}">
                    <a16:creationId xmlns:a16="http://schemas.microsoft.com/office/drawing/2014/main" id="{170382BB-E739-CF62-2E9F-33157B70EEE8}"/>
                  </a:ext>
                </a:extLst>
              </p:cNvPr>
              <p:cNvSpPr>
                <a:spLocks noEditPoints="1"/>
              </p:cNvSpPr>
              <p:nvPr/>
            </p:nvSpPr>
            <p:spPr bwMode="auto">
              <a:xfrm>
                <a:off x="1534" y="1872"/>
                <a:ext cx="98" cy="124"/>
              </a:xfrm>
              <a:custGeom>
                <a:avLst/>
                <a:gdLst>
                  <a:gd name="T0" fmla="*/ 6 w 66"/>
                  <a:gd name="T1" fmla="*/ 84 h 84"/>
                  <a:gd name="T2" fmla="*/ 3 w 66"/>
                  <a:gd name="T3" fmla="*/ 83 h 84"/>
                  <a:gd name="T4" fmla="*/ 0 w 66"/>
                  <a:gd name="T5" fmla="*/ 78 h 84"/>
                  <a:gd name="T6" fmla="*/ 0 w 66"/>
                  <a:gd name="T7" fmla="*/ 6 h 84"/>
                  <a:gd name="T8" fmla="*/ 3 w 66"/>
                  <a:gd name="T9" fmla="*/ 1 h 84"/>
                  <a:gd name="T10" fmla="*/ 9 w 66"/>
                  <a:gd name="T11" fmla="*/ 1 h 84"/>
                  <a:gd name="T12" fmla="*/ 63 w 66"/>
                  <a:gd name="T13" fmla="*/ 37 h 84"/>
                  <a:gd name="T14" fmla="*/ 66 w 66"/>
                  <a:gd name="T15" fmla="*/ 42 h 84"/>
                  <a:gd name="T16" fmla="*/ 63 w 66"/>
                  <a:gd name="T17" fmla="*/ 47 h 84"/>
                  <a:gd name="T18" fmla="*/ 9 w 66"/>
                  <a:gd name="T19" fmla="*/ 83 h 84"/>
                  <a:gd name="T20" fmla="*/ 6 w 66"/>
                  <a:gd name="T21" fmla="*/ 84 h 84"/>
                  <a:gd name="T22" fmla="*/ 12 w 66"/>
                  <a:gd name="T23" fmla="*/ 17 h 84"/>
                  <a:gd name="T24" fmla="*/ 12 w 66"/>
                  <a:gd name="T25" fmla="*/ 66 h 84"/>
                  <a:gd name="T26" fmla="*/ 49 w 66"/>
                  <a:gd name="T27" fmla="*/ 42 h 84"/>
                  <a:gd name="T28" fmla="*/ 12 w 66"/>
                  <a:gd name="T29" fmla="*/ 17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6" h="84">
                    <a:moveTo>
                      <a:pt x="6" y="84"/>
                    </a:moveTo>
                    <a:cubicBezTo>
                      <a:pt x="5" y="84"/>
                      <a:pt x="4" y="83"/>
                      <a:pt x="3" y="83"/>
                    </a:cubicBezTo>
                    <a:cubicBezTo>
                      <a:pt x="1" y="82"/>
                      <a:pt x="0" y="80"/>
                      <a:pt x="0" y="78"/>
                    </a:cubicBezTo>
                    <a:cubicBezTo>
                      <a:pt x="0" y="6"/>
                      <a:pt x="0" y="6"/>
                      <a:pt x="0" y="6"/>
                    </a:cubicBezTo>
                    <a:cubicBezTo>
                      <a:pt x="0" y="4"/>
                      <a:pt x="1" y="2"/>
                      <a:pt x="3" y="1"/>
                    </a:cubicBezTo>
                    <a:cubicBezTo>
                      <a:pt x="5" y="0"/>
                      <a:pt x="7" y="0"/>
                      <a:pt x="9" y="1"/>
                    </a:cubicBezTo>
                    <a:cubicBezTo>
                      <a:pt x="63" y="37"/>
                      <a:pt x="63" y="37"/>
                      <a:pt x="63" y="37"/>
                    </a:cubicBezTo>
                    <a:cubicBezTo>
                      <a:pt x="65" y="38"/>
                      <a:pt x="66" y="40"/>
                      <a:pt x="66" y="42"/>
                    </a:cubicBezTo>
                    <a:cubicBezTo>
                      <a:pt x="66" y="44"/>
                      <a:pt x="65" y="46"/>
                      <a:pt x="63" y="47"/>
                    </a:cubicBezTo>
                    <a:cubicBezTo>
                      <a:pt x="9" y="83"/>
                      <a:pt x="9" y="83"/>
                      <a:pt x="9" y="83"/>
                    </a:cubicBezTo>
                    <a:cubicBezTo>
                      <a:pt x="8" y="83"/>
                      <a:pt x="7" y="84"/>
                      <a:pt x="6" y="84"/>
                    </a:cubicBezTo>
                    <a:close/>
                    <a:moveTo>
                      <a:pt x="12" y="17"/>
                    </a:moveTo>
                    <a:cubicBezTo>
                      <a:pt x="12" y="66"/>
                      <a:pt x="12" y="66"/>
                      <a:pt x="12" y="66"/>
                    </a:cubicBezTo>
                    <a:cubicBezTo>
                      <a:pt x="49" y="42"/>
                      <a:pt x="49" y="42"/>
                      <a:pt x="49" y="42"/>
                    </a:cubicBezTo>
                    <a:lnTo>
                      <a:pt x="12" y="1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grpSp>
      </p:grpSp>
    </p:spTree>
    <p:extLst>
      <p:ext uri="{BB962C8B-B14F-4D97-AF65-F5344CB8AC3E}">
        <p14:creationId xmlns:p14="http://schemas.microsoft.com/office/powerpoint/2010/main" val="22567780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0BF021-9F39-EAE1-F0D8-CBBA34ABD5A8}"/>
            </a:ext>
          </a:extLst>
        </p:cNvPr>
        <p:cNvGrpSpPr/>
        <p:nvPr/>
      </p:nvGrpSpPr>
      <p:grpSpPr>
        <a:xfrm>
          <a:off x="0" y="0"/>
          <a:ext cx="0" cy="0"/>
          <a:chOff x="0" y="0"/>
          <a:chExt cx="0" cy="0"/>
        </a:xfrm>
      </p:grpSpPr>
      <p:sp>
        <p:nvSpPr>
          <p:cNvPr id="16" name="Footer Placeholder 2">
            <a:extLst>
              <a:ext uri="{FF2B5EF4-FFF2-40B4-BE49-F238E27FC236}">
                <a16:creationId xmlns:a16="http://schemas.microsoft.com/office/drawing/2014/main" id="{184FA134-DD50-9429-F37A-E920404E3E93}"/>
              </a:ext>
            </a:extLst>
          </p:cNvPr>
          <p:cNvSpPr>
            <a:spLocks noGrp="1"/>
          </p:cNvSpPr>
          <p:nvPr>
            <p:ph type="ftr" sz="quarter" idx="3"/>
          </p:nvPr>
        </p:nvSpPr>
        <p:spPr>
          <a:xfrm>
            <a:off x="8908942" y="6617127"/>
            <a:ext cx="3175200" cy="132523"/>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alpha val="65000"/>
                  </a:srgbClr>
                </a:solidFill>
                <a:effectLst/>
                <a:uLnTx/>
                <a:uFillTx/>
                <a:latin typeface="Graphik"/>
                <a:ea typeface="+mn-ea"/>
                <a:cs typeface="+mn-cs"/>
              </a:rPr>
              <a:t>Copyright © 2025 Accenture. Todos los derechos reservados.</a:t>
            </a:r>
          </a:p>
        </p:txBody>
      </p:sp>
      <p:sp>
        <p:nvSpPr>
          <p:cNvPr id="66" name="Title 1">
            <a:extLst>
              <a:ext uri="{FF2B5EF4-FFF2-40B4-BE49-F238E27FC236}">
                <a16:creationId xmlns:a16="http://schemas.microsoft.com/office/drawing/2014/main" id="{FA94DCAB-110B-AC93-A562-5BC3D40ABF33}"/>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a:ln>
                  <a:noFill/>
                </a:ln>
                <a:solidFill>
                  <a:srgbClr val="7500C0"/>
                </a:solidFill>
                <a:effectLst/>
                <a:uLnTx/>
                <a:uFillTx/>
                <a:latin typeface="Graphik"/>
                <a:ea typeface="+mj-ea"/>
                <a:cs typeface="+mj-cs"/>
              </a:rPr>
              <a:t>Arquitectura interoperable</a:t>
            </a:r>
          </a:p>
        </p:txBody>
      </p:sp>
      <p:grpSp>
        <p:nvGrpSpPr>
          <p:cNvPr id="12" name="Group 11">
            <a:extLst>
              <a:ext uri="{FF2B5EF4-FFF2-40B4-BE49-F238E27FC236}">
                <a16:creationId xmlns:a16="http://schemas.microsoft.com/office/drawing/2014/main" id="{A7821558-2CBE-EF94-AC3B-A616B9F8244D}"/>
              </a:ext>
            </a:extLst>
          </p:cNvPr>
          <p:cNvGrpSpPr/>
          <p:nvPr/>
        </p:nvGrpSpPr>
        <p:grpSpPr>
          <a:xfrm>
            <a:off x="381001" y="1022926"/>
            <a:ext cx="2388481" cy="1581473"/>
            <a:chOff x="381001" y="1022926"/>
            <a:chExt cx="2388481" cy="1581473"/>
          </a:xfrm>
        </p:grpSpPr>
        <p:grpSp>
          <p:nvGrpSpPr>
            <p:cNvPr id="9" name="Group 8">
              <a:extLst>
                <a:ext uri="{FF2B5EF4-FFF2-40B4-BE49-F238E27FC236}">
                  <a16:creationId xmlns:a16="http://schemas.microsoft.com/office/drawing/2014/main" id="{14DAA628-77C9-6BCA-EAE9-92F8D05B6F27}"/>
                </a:ext>
              </a:extLst>
            </p:cNvPr>
            <p:cNvGrpSpPr/>
            <p:nvPr/>
          </p:nvGrpSpPr>
          <p:grpSpPr>
            <a:xfrm>
              <a:off x="381001" y="1022926"/>
              <a:ext cx="2388481" cy="1581473"/>
              <a:chOff x="596766" y="1022926"/>
              <a:chExt cx="2388481" cy="1581473"/>
            </a:xfrm>
          </p:grpSpPr>
          <p:sp>
            <p:nvSpPr>
              <p:cNvPr id="36" name="Rectangle: Rounded Corners 35">
                <a:extLst>
                  <a:ext uri="{FF2B5EF4-FFF2-40B4-BE49-F238E27FC236}">
                    <a16:creationId xmlns:a16="http://schemas.microsoft.com/office/drawing/2014/main" id="{9B560CF0-350B-BDDA-9A99-3D499467F317}"/>
                  </a:ext>
                </a:extLst>
              </p:cNvPr>
              <p:cNvSpPr/>
              <p:nvPr/>
            </p:nvSpPr>
            <p:spPr>
              <a:xfrm>
                <a:off x="596766" y="1022926"/>
                <a:ext cx="2388481" cy="1581473"/>
              </a:xfrm>
              <a:prstGeom prst="roundRect">
                <a:avLst>
                  <a:gd name="adj" fmla="val 8731"/>
                </a:avLst>
              </a:prstGeom>
              <a:solidFill>
                <a:srgbClr val="FFFFFF"/>
              </a:solidFill>
              <a:ln w="12700" cap="flat" cmpd="sng" algn="ctr">
                <a:solidFill>
                  <a:srgbClr val="96968C"/>
                </a:solidFill>
                <a:prstDash val="solid"/>
                <a:miter lim="800000"/>
              </a:ln>
              <a:effectLst/>
            </p:spPr>
            <p:txBody>
              <a:bodyPr tIns="0" bIns="9144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1" i="0" u="none" strike="noStrike" kern="0" cap="none" spc="0" normalizeH="0" baseline="0" noProof="0">
                    <a:ln>
                      <a:noFill/>
                    </a:ln>
                    <a:solidFill>
                      <a:srgbClr val="FFFFFF">
                        <a:lumMod val="65000"/>
                      </a:srgbClr>
                    </a:solidFill>
                    <a:effectLst/>
                    <a:uLnTx/>
                    <a:uFillTx/>
                    <a:latin typeface="Graphik Semibold" panose="020B0703030202060203" pitchFamily="34" charset="0"/>
                    <a:ea typeface="+mn-ea"/>
                    <a:cs typeface="+mn-cs"/>
                  </a:rPr>
                  <a:t>Arquitectura interoperable</a:t>
                </a:r>
              </a:p>
            </p:txBody>
          </p:sp>
          <p:pic>
            <p:nvPicPr>
              <p:cNvPr id="37" name="Graphic 36" descr="Esquema de piezas del puzzle">
                <a:extLst>
                  <a:ext uri="{FF2B5EF4-FFF2-40B4-BE49-F238E27FC236}">
                    <a16:creationId xmlns:a16="http://schemas.microsoft.com/office/drawing/2014/main" id="{B3BF03F7-5BAA-B2B4-9D16-5EEBDA84BC8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95164" y="1042277"/>
                <a:ext cx="193632" cy="193632"/>
              </a:xfrm>
              <a:prstGeom prst="rect">
                <a:avLst/>
              </a:prstGeom>
            </p:spPr>
          </p:pic>
        </p:grpSp>
        <p:sp>
          <p:nvSpPr>
            <p:cNvPr id="41" name="Rectangle: Rounded Corners 40">
              <a:extLst>
                <a:ext uri="{FF2B5EF4-FFF2-40B4-BE49-F238E27FC236}">
                  <a16:creationId xmlns:a16="http://schemas.microsoft.com/office/drawing/2014/main" id="{D05E7251-4767-13B2-6C0F-7AA1DACE89EB}"/>
                </a:ext>
              </a:extLst>
            </p:cNvPr>
            <p:cNvSpPr/>
            <p:nvPr/>
          </p:nvSpPr>
          <p:spPr>
            <a:xfrm>
              <a:off x="743613" y="1245038"/>
              <a:ext cx="1841349" cy="176627"/>
            </a:xfrm>
            <a:prstGeom prst="roundRect">
              <a:avLst/>
            </a:prstGeom>
            <a:solidFill>
              <a:srgbClr val="FFFFFF">
                <a:lumMod val="75000"/>
              </a:srgbClr>
            </a:solidFill>
            <a:ln w="12700" cap="flat" cmpd="sng" algn="ctr">
              <a:noFill/>
              <a:prstDash val="solid"/>
              <a:miter lim="800000"/>
            </a:ln>
            <a:effectLst/>
          </p:spPr>
          <p:txBody>
            <a:bodyPr tIns="91440" bIns="91440" rtlCol="0" anchor="ctr"/>
            <a:lstStyle/>
            <a:p>
              <a:pPr algn="ctr"/>
              <a:r>
                <a:rPr lang="es" sz="800" b="1" kern="0">
                  <a:solidFill>
                    <a:srgbClr val="FFFFFF"/>
                  </a:solidFill>
                  <a:latin typeface="Graphik Semibold" panose="020B0703030202060203" pitchFamily="34" charset="0"/>
                </a:rPr>
                <a:t>Desacoplamiento</a:t>
              </a:r>
            </a:p>
          </p:txBody>
        </p:sp>
        <p:sp>
          <p:nvSpPr>
            <p:cNvPr id="42" name="Rectangle: Rounded Corners 41">
              <a:extLst>
                <a:ext uri="{FF2B5EF4-FFF2-40B4-BE49-F238E27FC236}">
                  <a16:creationId xmlns:a16="http://schemas.microsoft.com/office/drawing/2014/main" id="{DB25D30E-BBC7-D53B-103E-19E4F7E7CC2E}"/>
                </a:ext>
              </a:extLst>
            </p:cNvPr>
            <p:cNvSpPr/>
            <p:nvPr/>
          </p:nvSpPr>
          <p:spPr>
            <a:xfrm>
              <a:off x="743613" y="1443305"/>
              <a:ext cx="1841349" cy="176627"/>
            </a:xfrm>
            <a:prstGeom prst="roundRect">
              <a:avLst/>
            </a:prstGeom>
            <a:solidFill>
              <a:srgbClr val="FFFFFF">
                <a:lumMod val="75000"/>
              </a:srgbClr>
            </a:solidFill>
            <a:ln w="12700" cap="flat" cmpd="sng" algn="ctr">
              <a:noFill/>
              <a:prstDash val="solid"/>
              <a:miter lim="800000"/>
            </a:ln>
            <a:effectLst/>
          </p:spPr>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1" i="0" u="none" strike="noStrike" kern="0" cap="none" spc="0" normalizeH="0" baseline="0" noProof="0">
                  <a:ln>
                    <a:noFill/>
                  </a:ln>
                  <a:solidFill>
                    <a:srgbClr val="FFFFFF"/>
                  </a:solidFill>
                  <a:effectLst/>
                  <a:uLnTx/>
                  <a:uFillTx/>
                  <a:latin typeface="Graphik Semibold" panose="020B0703030202060203" pitchFamily="34" charset="0"/>
                  <a:ea typeface="+mn-ea"/>
                  <a:cs typeface="+mn-cs"/>
                </a:rPr>
                <a:t>Integración</a:t>
              </a:r>
            </a:p>
          </p:txBody>
        </p:sp>
        <p:sp>
          <p:nvSpPr>
            <p:cNvPr id="43" name="Rectangle: Rounded Corners 42">
              <a:extLst>
                <a:ext uri="{FF2B5EF4-FFF2-40B4-BE49-F238E27FC236}">
                  <a16:creationId xmlns:a16="http://schemas.microsoft.com/office/drawing/2014/main" id="{BD3FA4B6-5C06-5F98-D662-5B9DBA9A1D35}"/>
                </a:ext>
              </a:extLst>
            </p:cNvPr>
            <p:cNvSpPr/>
            <p:nvPr/>
          </p:nvSpPr>
          <p:spPr>
            <a:xfrm>
              <a:off x="743613" y="1882322"/>
              <a:ext cx="1841349" cy="296889"/>
            </a:xfrm>
            <a:prstGeom prst="roundRect">
              <a:avLst/>
            </a:prstGeom>
            <a:solidFill>
              <a:srgbClr val="580090"/>
            </a:solidFill>
            <a:ln w="12700" cap="flat" cmpd="sng" algn="ctr">
              <a:noFill/>
              <a:prstDash val="solid"/>
              <a:miter lim="800000"/>
            </a:ln>
            <a:effectLst/>
          </p:spPr>
          <p:txBody>
            <a:bodyPr tIns="91440" bIns="91440" rtlCol="0" anchor="ctr"/>
            <a:lstStyle/>
            <a:p>
              <a:pPr algn="ctr"/>
              <a:r>
                <a:rPr lang="es" sz="800" b="1" kern="0">
                  <a:solidFill>
                    <a:srgbClr val="FFFFFF"/>
                  </a:solidFill>
                  <a:latin typeface="Graphik Semibold" panose="020B0703030202060203" pitchFamily="34" charset="0"/>
                </a:rPr>
                <a:t>Coexistencia</a:t>
              </a:r>
            </a:p>
          </p:txBody>
        </p:sp>
        <p:sp>
          <p:nvSpPr>
            <p:cNvPr id="44" name="Rectangle: Rounded Corners 43">
              <a:extLst>
                <a:ext uri="{FF2B5EF4-FFF2-40B4-BE49-F238E27FC236}">
                  <a16:creationId xmlns:a16="http://schemas.microsoft.com/office/drawing/2014/main" id="{10BFE1B9-14D7-DF9A-4A78-E219ECE7D586}"/>
                </a:ext>
              </a:extLst>
            </p:cNvPr>
            <p:cNvSpPr/>
            <p:nvPr/>
          </p:nvSpPr>
          <p:spPr>
            <a:xfrm>
              <a:off x="743613" y="1661714"/>
              <a:ext cx="1841349" cy="176627"/>
            </a:xfrm>
            <a:prstGeom prst="roundRect">
              <a:avLst/>
            </a:prstGeom>
            <a:solidFill>
              <a:srgbClr val="FFFFFF">
                <a:lumMod val="75000"/>
              </a:srgbClr>
            </a:solidFill>
            <a:ln w="12700" cap="flat" cmpd="sng" algn="ctr">
              <a:noFill/>
              <a:prstDash val="solid"/>
              <a:miter lim="800000"/>
            </a:ln>
            <a:effectLst/>
          </p:spPr>
          <p:txBody>
            <a:bodyPr lIns="0" tIns="91440" rIns="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1" i="0" u="none" strike="noStrike" kern="0" cap="none" spc="0" normalizeH="0" baseline="0" noProof="0" dirty="0">
                  <a:ln>
                    <a:noFill/>
                  </a:ln>
                  <a:solidFill>
                    <a:srgbClr val="FFFFFF"/>
                  </a:solidFill>
                  <a:effectLst/>
                  <a:uLnTx/>
                  <a:uFillTx/>
                  <a:latin typeface="Graphik Semibold" panose="020B0703030202060203" pitchFamily="34" charset="0"/>
                  <a:ea typeface="+mn-ea"/>
                  <a:cs typeface="+mn-cs"/>
                </a:rPr>
                <a:t>Coreografía y Orquia</a:t>
              </a:r>
            </a:p>
          </p:txBody>
        </p:sp>
        <p:sp>
          <p:nvSpPr>
            <p:cNvPr id="45" name="Rectangle: Rounded Corners 44">
              <a:extLst>
                <a:ext uri="{FF2B5EF4-FFF2-40B4-BE49-F238E27FC236}">
                  <a16:creationId xmlns:a16="http://schemas.microsoft.com/office/drawing/2014/main" id="{9D2090A0-807B-FA57-D415-0B30937B0856}"/>
                </a:ext>
              </a:extLst>
            </p:cNvPr>
            <p:cNvSpPr/>
            <p:nvPr/>
          </p:nvSpPr>
          <p:spPr>
            <a:xfrm>
              <a:off x="743613" y="2223192"/>
              <a:ext cx="1841349" cy="312235"/>
            </a:xfrm>
            <a:prstGeom prst="roundRect">
              <a:avLst/>
            </a:prstGeom>
            <a:solidFill>
              <a:srgbClr val="FFFFFF">
                <a:lumMod val="75000"/>
              </a:srgbClr>
            </a:solidFill>
            <a:ln w="12700" cap="flat" cmpd="sng" algn="ctr">
              <a:noFill/>
              <a:prstDash val="solid"/>
              <a:miter lim="800000"/>
            </a:ln>
            <a:effectLst/>
          </p:spPr>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1" i="0" u="none" strike="noStrike" kern="0" cap="none" spc="0" normalizeH="0" baseline="0" noProof="0">
                  <a:ln>
                    <a:noFill/>
                  </a:ln>
                  <a:solidFill>
                    <a:srgbClr val="FFFFFF"/>
                  </a:solidFill>
                  <a:effectLst/>
                  <a:uLnTx/>
                  <a:uFillTx/>
                  <a:latin typeface="Graphik Semibold" panose="020B0703030202060203" pitchFamily="34" charset="0"/>
                  <a:ea typeface="+mn-ea"/>
                  <a:cs typeface="+mn-cs"/>
                </a:rPr>
                <a:t>Microservicios</a:t>
              </a:r>
            </a:p>
          </p:txBody>
        </p:sp>
        <p:sp>
          <p:nvSpPr>
            <p:cNvPr id="46" name="Rectangle: Rounded Corners 45">
              <a:extLst>
                <a:ext uri="{FF2B5EF4-FFF2-40B4-BE49-F238E27FC236}">
                  <a16:creationId xmlns:a16="http://schemas.microsoft.com/office/drawing/2014/main" id="{658694E7-DC7C-1BC8-B99D-2275DC4B73DA}"/>
                </a:ext>
              </a:extLst>
            </p:cNvPr>
            <p:cNvSpPr/>
            <p:nvPr/>
          </p:nvSpPr>
          <p:spPr>
            <a:xfrm rot="16200000">
              <a:off x="-37801" y="1797017"/>
              <a:ext cx="1275043" cy="206945"/>
            </a:xfrm>
            <a:prstGeom prst="roundRect">
              <a:avLst/>
            </a:prstGeom>
            <a:solidFill>
              <a:srgbClr val="FFFFFF">
                <a:lumMod val="75000"/>
              </a:srgbClr>
            </a:solidFill>
            <a:ln w="12700" cap="flat" cmpd="sng" algn="ctr">
              <a:noFill/>
              <a:prstDash val="solid"/>
              <a:miter lim="800000"/>
            </a:ln>
            <a:effectLst/>
          </p:spPr>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1" i="0" u="none" strike="noStrike" kern="0" cap="none" spc="0" normalizeH="0" baseline="0" noProof="0">
                  <a:ln>
                    <a:noFill/>
                  </a:ln>
                  <a:solidFill>
                    <a:srgbClr val="FFFFFF"/>
                  </a:solidFill>
                  <a:effectLst/>
                  <a:uLnTx/>
                  <a:uFillTx/>
                  <a:latin typeface="Graphik Semibold" panose="020B0703030202060203" pitchFamily="34" charset="0"/>
                  <a:ea typeface="+mn-ea"/>
                  <a:cs typeface="+mn-cs"/>
                </a:rPr>
                <a:t>Servicios Empresariales Principales (Backbone)</a:t>
              </a:r>
            </a:p>
          </p:txBody>
        </p:sp>
        <p:grpSp>
          <p:nvGrpSpPr>
            <p:cNvPr id="47" name="Group 48">
              <a:extLst>
                <a:ext uri="{FF2B5EF4-FFF2-40B4-BE49-F238E27FC236}">
                  <a16:creationId xmlns:a16="http://schemas.microsoft.com/office/drawing/2014/main" id="{B1519755-A2EA-E5EC-5C99-11379860E62A}"/>
                </a:ext>
              </a:extLst>
            </p:cNvPr>
            <p:cNvGrpSpPr>
              <a:grpSpLocks noChangeAspect="1"/>
            </p:cNvGrpSpPr>
            <p:nvPr/>
          </p:nvGrpSpPr>
          <p:grpSpPr bwMode="auto">
            <a:xfrm>
              <a:off x="867921" y="1302739"/>
              <a:ext cx="108414" cy="88314"/>
              <a:chOff x="3427" y="474"/>
              <a:chExt cx="428" cy="356"/>
            </a:xfrm>
            <a:solidFill>
              <a:srgbClr val="FFFFFF"/>
            </a:solidFill>
          </p:grpSpPr>
          <p:sp>
            <p:nvSpPr>
              <p:cNvPr id="48" name="Freeform 49">
                <a:extLst>
                  <a:ext uri="{FF2B5EF4-FFF2-40B4-BE49-F238E27FC236}">
                    <a16:creationId xmlns:a16="http://schemas.microsoft.com/office/drawing/2014/main" id="{DA2F9E31-7CB5-9D25-6187-2DCE3D7A4A11}"/>
                  </a:ext>
                </a:extLst>
              </p:cNvPr>
              <p:cNvSpPr>
                <a:spLocks/>
              </p:cNvSpPr>
              <p:nvPr/>
            </p:nvSpPr>
            <p:spPr bwMode="auto">
              <a:xfrm>
                <a:off x="3427" y="615"/>
                <a:ext cx="428" cy="108"/>
              </a:xfrm>
              <a:custGeom>
                <a:avLst/>
                <a:gdLst>
                  <a:gd name="T0" fmla="*/ 144 w 289"/>
                  <a:gd name="T1" fmla="*/ 73 h 73"/>
                  <a:gd name="T2" fmla="*/ 142 w 289"/>
                  <a:gd name="T3" fmla="*/ 73 h 73"/>
                  <a:gd name="T4" fmla="*/ 4 w 289"/>
                  <a:gd name="T5" fmla="*/ 13 h 73"/>
                  <a:gd name="T6" fmla="*/ 1 w 289"/>
                  <a:gd name="T7" fmla="*/ 5 h 73"/>
                  <a:gd name="T8" fmla="*/ 9 w 289"/>
                  <a:gd name="T9" fmla="*/ 2 h 73"/>
                  <a:gd name="T10" fmla="*/ 144 w 289"/>
                  <a:gd name="T11" fmla="*/ 61 h 73"/>
                  <a:gd name="T12" fmla="*/ 280 w 289"/>
                  <a:gd name="T13" fmla="*/ 2 h 73"/>
                  <a:gd name="T14" fmla="*/ 288 w 289"/>
                  <a:gd name="T15" fmla="*/ 5 h 73"/>
                  <a:gd name="T16" fmla="*/ 285 w 289"/>
                  <a:gd name="T17" fmla="*/ 13 h 73"/>
                  <a:gd name="T18" fmla="*/ 147 w 289"/>
                  <a:gd name="T19" fmla="*/ 73 h 73"/>
                  <a:gd name="T20" fmla="*/ 144 w 289"/>
                  <a:gd name="T21" fmla="*/ 73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9" h="73">
                    <a:moveTo>
                      <a:pt x="144" y="73"/>
                    </a:moveTo>
                    <a:cubicBezTo>
                      <a:pt x="144" y="73"/>
                      <a:pt x="143" y="73"/>
                      <a:pt x="142" y="73"/>
                    </a:cubicBezTo>
                    <a:cubicBezTo>
                      <a:pt x="4" y="13"/>
                      <a:pt x="4" y="13"/>
                      <a:pt x="4" y="13"/>
                    </a:cubicBezTo>
                    <a:cubicBezTo>
                      <a:pt x="1" y="11"/>
                      <a:pt x="0" y="8"/>
                      <a:pt x="1" y="5"/>
                    </a:cubicBezTo>
                    <a:cubicBezTo>
                      <a:pt x="2" y="2"/>
                      <a:pt x="6" y="0"/>
                      <a:pt x="9" y="2"/>
                    </a:cubicBezTo>
                    <a:cubicBezTo>
                      <a:pt x="144" y="61"/>
                      <a:pt x="144" y="61"/>
                      <a:pt x="144" y="61"/>
                    </a:cubicBezTo>
                    <a:cubicBezTo>
                      <a:pt x="280" y="2"/>
                      <a:pt x="280" y="2"/>
                      <a:pt x="280" y="2"/>
                    </a:cubicBezTo>
                    <a:cubicBezTo>
                      <a:pt x="283" y="0"/>
                      <a:pt x="287" y="2"/>
                      <a:pt x="288" y="5"/>
                    </a:cubicBezTo>
                    <a:cubicBezTo>
                      <a:pt x="289" y="8"/>
                      <a:pt x="288" y="11"/>
                      <a:pt x="285" y="13"/>
                    </a:cubicBezTo>
                    <a:cubicBezTo>
                      <a:pt x="147" y="73"/>
                      <a:pt x="147" y="73"/>
                      <a:pt x="147" y="73"/>
                    </a:cubicBezTo>
                    <a:cubicBezTo>
                      <a:pt x="146" y="73"/>
                      <a:pt x="145" y="73"/>
                      <a:pt x="144"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49" name="Freeform 50">
                <a:extLst>
                  <a:ext uri="{FF2B5EF4-FFF2-40B4-BE49-F238E27FC236}">
                    <a16:creationId xmlns:a16="http://schemas.microsoft.com/office/drawing/2014/main" id="{72092F57-E337-B680-373E-EA377A275517}"/>
                  </a:ext>
                </a:extLst>
              </p:cNvPr>
              <p:cNvSpPr>
                <a:spLocks/>
              </p:cNvSpPr>
              <p:nvPr/>
            </p:nvSpPr>
            <p:spPr bwMode="auto">
              <a:xfrm>
                <a:off x="3427" y="668"/>
                <a:ext cx="428" cy="108"/>
              </a:xfrm>
              <a:custGeom>
                <a:avLst/>
                <a:gdLst>
                  <a:gd name="T0" fmla="*/ 144 w 289"/>
                  <a:gd name="T1" fmla="*/ 73 h 73"/>
                  <a:gd name="T2" fmla="*/ 142 w 289"/>
                  <a:gd name="T3" fmla="*/ 73 h 73"/>
                  <a:gd name="T4" fmla="*/ 4 w 289"/>
                  <a:gd name="T5" fmla="*/ 13 h 73"/>
                  <a:gd name="T6" fmla="*/ 1 w 289"/>
                  <a:gd name="T7" fmla="*/ 5 h 73"/>
                  <a:gd name="T8" fmla="*/ 9 w 289"/>
                  <a:gd name="T9" fmla="*/ 2 h 73"/>
                  <a:gd name="T10" fmla="*/ 144 w 289"/>
                  <a:gd name="T11" fmla="*/ 61 h 73"/>
                  <a:gd name="T12" fmla="*/ 280 w 289"/>
                  <a:gd name="T13" fmla="*/ 2 h 73"/>
                  <a:gd name="T14" fmla="*/ 288 w 289"/>
                  <a:gd name="T15" fmla="*/ 5 h 73"/>
                  <a:gd name="T16" fmla="*/ 285 w 289"/>
                  <a:gd name="T17" fmla="*/ 13 h 73"/>
                  <a:gd name="T18" fmla="*/ 147 w 289"/>
                  <a:gd name="T19" fmla="*/ 73 h 73"/>
                  <a:gd name="T20" fmla="*/ 144 w 289"/>
                  <a:gd name="T21" fmla="*/ 73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9" h="73">
                    <a:moveTo>
                      <a:pt x="144" y="73"/>
                    </a:moveTo>
                    <a:cubicBezTo>
                      <a:pt x="144" y="73"/>
                      <a:pt x="143" y="73"/>
                      <a:pt x="142" y="73"/>
                    </a:cubicBezTo>
                    <a:cubicBezTo>
                      <a:pt x="4" y="13"/>
                      <a:pt x="4" y="13"/>
                      <a:pt x="4" y="13"/>
                    </a:cubicBezTo>
                    <a:cubicBezTo>
                      <a:pt x="1" y="11"/>
                      <a:pt x="0" y="8"/>
                      <a:pt x="1" y="5"/>
                    </a:cubicBezTo>
                    <a:cubicBezTo>
                      <a:pt x="2" y="2"/>
                      <a:pt x="6" y="0"/>
                      <a:pt x="9" y="2"/>
                    </a:cubicBezTo>
                    <a:cubicBezTo>
                      <a:pt x="144" y="61"/>
                      <a:pt x="144" y="61"/>
                      <a:pt x="144" y="61"/>
                    </a:cubicBezTo>
                    <a:cubicBezTo>
                      <a:pt x="280" y="2"/>
                      <a:pt x="280" y="2"/>
                      <a:pt x="280" y="2"/>
                    </a:cubicBezTo>
                    <a:cubicBezTo>
                      <a:pt x="283" y="0"/>
                      <a:pt x="287" y="2"/>
                      <a:pt x="288" y="5"/>
                    </a:cubicBezTo>
                    <a:cubicBezTo>
                      <a:pt x="289" y="8"/>
                      <a:pt x="288" y="11"/>
                      <a:pt x="285" y="13"/>
                    </a:cubicBezTo>
                    <a:cubicBezTo>
                      <a:pt x="147" y="73"/>
                      <a:pt x="147" y="73"/>
                      <a:pt x="147" y="73"/>
                    </a:cubicBezTo>
                    <a:cubicBezTo>
                      <a:pt x="146" y="73"/>
                      <a:pt x="145" y="73"/>
                      <a:pt x="144"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50" name="Freeform 51">
                <a:extLst>
                  <a:ext uri="{FF2B5EF4-FFF2-40B4-BE49-F238E27FC236}">
                    <a16:creationId xmlns:a16="http://schemas.microsoft.com/office/drawing/2014/main" id="{3B09A9A9-4DBD-B7CD-8C33-95C1EF01D2C5}"/>
                  </a:ext>
                </a:extLst>
              </p:cNvPr>
              <p:cNvSpPr>
                <a:spLocks/>
              </p:cNvSpPr>
              <p:nvPr/>
            </p:nvSpPr>
            <p:spPr bwMode="auto">
              <a:xfrm>
                <a:off x="3427" y="722"/>
                <a:ext cx="428" cy="108"/>
              </a:xfrm>
              <a:custGeom>
                <a:avLst/>
                <a:gdLst>
                  <a:gd name="T0" fmla="*/ 144 w 289"/>
                  <a:gd name="T1" fmla="*/ 73 h 73"/>
                  <a:gd name="T2" fmla="*/ 142 w 289"/>
                  <a:gd name="T3" fmla="*/ 73 h 73"/>
                  <a:gd name="T4" fmla="*/ 4 w 289"/>
                  <a:gd name="T5" fmla="*/ 13 h 73"/>
                  <a:gd name="T6" fmla="*/ 1 w 289"/>
                  <a:gd name="T7" fmla="*/ 5 h 73"/>
                  <a:gd name="T8" fmla="*/ 9 w 289"/>
                  <a:gd name="T9" fmla="*/ 2 h 73"/>
                  <a:gd name="T10" fmla="*/ 144 w 289"/>
                  <a:gd name="T11" fmla="*/ 61 h 73"/>
                  <a:gd name="T12" fmla="*/ 280 w 289"/>
                  <a:gd name="T13" fmla="*/ 2 h 73"/>
                  <a:gd name="T14" fmla="*/ 288 w 289"/>
                  <a:gd name="T15" fmla="*/ 5 h 73"/>
                  <a:gd name="T16" fmla="*/ 285 w 289"/>
                  <a:gd name="T17" fmla="*/ 13 h 73"/>
                  <a:gd name="T18" fmla="*/ 147 w 289"/>
                  <a:gd name="T19" fmla="*/ 73 h 73"/>
                  <a:gd name="T20" fmla="*/ 144 w 289"/>
                  <a:gd name="T21" fmla="*/ 73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9" h="73">
                    <a:moveTo>
                      <a:pt x="144" y="73"/>
                    </a:moveTo>
                    <a:cubicBezTo>
                      <a:pt x="144" y="73"/>
                      <a:pt x="143" y="73"/>
                      <a:pt x="142" y="73"/>
                    </a:cubicBezTo>
                    <a:cubicBezTo>
                      <a:pt x="4" y="13"/>
                      <a:pt x="4" y="13"/>
                      <a:pt x="4" y="13"/>
                    </a:cubicBezTo>
                    <a:cubicBezTo>
                      <a:pt x="1" y="11"/>
                      <a:pt x="0" y="8"/>
                      <a:pt x="1" y="5"/>
                    </a:cubicBezTo>
                    <a:cubicBezTo>
                      <a:pt x="2" y="2"/>
                      <a:pt x="6" y="0"/>
                      <a:pt x="9" y="2"/>
                    </a:cubicBezTo>
                    <a:cubicBezTo>
                      <a:pt x="144" y="61"/>
                      <a:pt x="144" y="61"/>
                      <a:pt x="144" y="61"/>
                    </a:cubicBezTo>
                    <a:cubicBezTo>
                      <a:pt x="280" y="2"/>
                      <a:pt x="280" y="2"/>
                      <a:pt x="280" y="2"/>
                    </a:cubicBezTo>
                    <a:cubicBezTo>
                      <a:pt x="283" y="0"/>
                      <a:pt x="287" y="2"/>
                      <a:pt x="288" y="5"/>
                    </a:cubicBezTo>
                    <a:cubicBezTo>
                      <a:pt x="289" y="8"/>
                      <a:pt x="288" y="11"/>
                      <a:pt x="285" y="13"/>
                    </a:cubicBezTo>
                    <a:cubicBezTo>
                      <a:pt x="147" y="73"/>
                      <a:pt x="147" y="73"/>
                      <a:pt x="147" y="73"/>
                    </a:cubicBezTo>
                    <a:cubicBezTo>
                      <a:pt x="146" y="73"/>
                      <a:pt x="145" y="73"/>
                      <a:pt x="144"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51" name="Freeform 52">
                <a:extLst>
                  <a:ext uri="{FF2B5EF4-FFF2-40B4-BE49-F238E27FC236}">
                    <a16:creationId xmlns:a16="http://schemas.microsoft.com/office/drawing/2014/main" id="{DF5D5016-DB3C-D145-F947-EFFF9E26788E}"/>
                  </a:ext>
                </a:extLst>
              </p:cNvPr>
              <p:cNvSpPr>
                <a:spLocks noEditPoints="1"/>
              </p:cNvSpPr>
              <p:nvPr/>
            </p:nvSpPr>
            <p:spPr bwMode="auto">
              <a:xfrm>
                <a:off x="3427" y="474"/>
                <a:ext cx="426" cy="196"/>
              </a:xfrm>
              <a:custGeom>
                <a:avLst/>
                <a:gdLst>
                  <a:gd name="T0" fmla="*/ 144 w 288"/>
                  <a:gd name="T1" fmla="*/ 132 h 132"/>
                  <a:gd name="T2" fmla="*/ 142 w 288"/>
                  <a:gd name="T3" fmla="*/ 132 h 132"/>
                  <a:gd name="T4" fmla="*/ 4 w 288"/>
                  <a:gd name="T5" fmla="*/ 72 h 132"/>
                  <a:gd name="T6" fmla="*/ 0 w 288"/>
                  <a:gd name="T7" fmla="*/ 66 h 132"/>
                  <a:gd name="T8" fmla="*/ 4 w 288"/>
                  <a:gd name="T9" fmla="*/ 61 h 132"/>
                  <a:gd name="T10" fmla="*/ 142 w 288"/>
                  <a:gd name="T11" fmla="*/ 1 h 132"/>
                  <a:gd name="T12" fmla="*/ 147 w 288"/>
                  <a:gd name="T13" fmla="*/ 1 h 132"/>
                  <a:gd name="T14" fmla="*/ 285 w 288"/>
                  <a:gd name="T15" fmla="*/ 61 h 132"/>
                  <a:gd name="T16" fmla="*/ 288 w 288"/>
                  <a:gd name="T17" fmla="*/ 66 h 132"/>
                  <a:gd name="T18" fmla="*/ 285 w 288"/>
                  <a:gd name="T19" fmla="*/ 72 h 132"/>
                  <a:gd name="T20" fmla="*/ 147 w 288"/>
                  <a:gd name="T21" fmla="*/ 132 h 132"/>
                  <a:gd name="T22" fmla="*/ 144 w 288"/>
                  <a:gd name="T23" fmla="*/ 132 h 132"/>
                  <a:gd name="T24" fmla="*/ 21 w 288"/>
                  <a:gd name="T25" fmla="*/ 66 h 132"/>
                  <a:gd name="T26" fmla="*/ 144 w 288"/>
                  <a:gd name="T27" fmla="*/ 120 h 132"/>
                  <a:gd name="T28" fmla="*/ 267 w 288"/>
                  <a:gd name="T29" fmla="*/ 66 h 132"/>
                  <a:gd name="T30" fmla="*/ 144 w 288"/>
                  <a:gd name="T31" fmla="*/ 13 h 132"/>
                  <a:gd name="T32" fmla="*/ 21 w 288"/>
                  <a:gd name="T33" fmla="*/ 66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88" h="132">
                    <a:moveTo>
                      <a:pt x="144" y="132"/>
                    </a:moveTo>
                    <a:cubicBezTo>
                      <a:pt x="144" y="132"/>
                      <a:pt x="143" y="132"/>
                      <a:pt x="142" y="132"/>
                    </a:cubicBezTo>
                    <a:cubicBezTo>
                      <a:pt x="4" y="72"/>
                      <a:pt x="4" y="72"/>
                      <a:pt x="4" y="72"/>
                    </a:cubicBezTo>
                    <a:cubicBezTo>
                      <a:pt x="2" y="71"/>
                      <a:pt x="0" y="69"/>
                      <a:pt x="0" y="66"/>
                    </a:cubicBezTo>
                    <a:cubicBezTo>
                      <a:pt x="0" y="64"/>
                      <a:pt x="2" y="62"/>
                      <a:pt x="4" y="61"/>
                    </a:cubicBezTo>
                    <a:cubicBezTo>
                      <a:pt x="142" y="1"/>
                      <a:pt x="142" y="1"/>
                      <a:pt x="142" y="1"/>
                    </a:cubicBezTo>
                    <a:cubicBezTo>
                      <a:pt x="144" y="0"/>
                      <a:pt x="145" y="0"/>
                      <a:pt x="147" y="1"/>
                    </a:cubicBezTo>
                    <a:cubicBezTo>
                      <a:pt x="285" y="61"/>
                      <a:pt x="285" y="61"/>
                      <a:pt x="285" y="61"/>
                    </a:cubicBezTo>
                    <a:cubicBezTo>
                      <a:pt x="287" y="62"/>
                      <a:pt x="288" y="64"/>
                      <a:pt x="288" y="66"/>
                    </a:cubicBezTo>
                    <a:cubicBezTo>
                      <a:pt x="288" y="69"/>
                      <a:pt x="287" y="71"/>
                      <a:pt x="285" y="72"/>
                    </a:cubicBezTo>
                    <a:cubicBezTo>
                      <a:pt x="147" y="132"/>
                      <a:pt x="147" y="132"/>
                      <a:pt x="147" y="132"/>
                    </a:cubicBezTo>
                    <a:cubicBezTo>
                      <a:pt x="146" y="132"/>
                      <a:pt x="145" y="132"/>
                      <a:pt x="144" y="132"/>
                    </a:cubicBezTo>
                    <a:close/>
                    <a:moveTo>
                      <a:pt x="21" y="66"/>
                    </a:moveTo>
                    <a:cubicBezTo>
                      <a:pt x="144" y="120"/>
                      <a:pt x="144" y="120"/>
                      <a:pt x="144" y="120"/>
                    </a:cubicBezTo>
                    <a:cubicBezTo>
                      <a:pt x="267" y="66"/>
                      <a:pt x="267" y="66"/>
                      <a:pt x="267" y="66"/>
                    </a:cubicBezTo>
                    <a:cubicBezTo>
                      <a:pt x="144" y="13"/>
                      <a:pt x="144" y="13"/>
                      <a:pt x="144" y="13"/>
                    </a:cubicBezTo>
                    <a:lnTo>
                      <a:pt x="21" y="6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grpSp>
        <p:pic>
          <p:nvPicPr>
            <p:cNvPr id="52" name="Graphic 51" descr="Red">
              <a:extLst>
                <a:ext uri="{FF2B5EF4-FFF2-40B4-BE49-F238E27FC236}">
                  <a16:creationId xmlns:a16="http://schemas.microsoft.com/office/drawing/2014/main" id="{D964B0B4-6071-A1BB-F70A-BA5EFEBFEA8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64733" y="1471077"/>
              <a:ext cx="123639" cy="123639"/>
            </a:xfrm>
            <a:prstGeom prst="rect">
              <a:avLst/>
            </a:prstGeom>
          </p:spPr>
        </p:pic>
        <p:sp>
          <p:nvSpPr>
            <p:cNvPr id="53" name="Freeform 147">
              <a:extLst>
                <a:ext uri="{FF2B5EF4-FFF2-40B4-BE49-F238E27FC236}">
                  <a16:creationId xmlns:a16="http://schemas.microsoft.com/office/drawing/2014/main" id="{8FB68BB4-D0B7-D9F7-EFE8-B739D4D4E920}"/>
                </a:ext>
              </a:extLst>
            </p:cNvPr>
            <p:cNvSpPr>
              <a:spLocks noEditPoints="1"/>
            </p:cNvSpPr>
            <p:nvPr/>
          </p:nvSpPr>
          <p:spPr bwMode="auto">
            <a:xfrm>
              <a:off x="832652" y="2331389"/>
              <a:ext cx="198386" cy="105976"/>
            </a:xfrm>
            <a:custGeom>
              <a:avLst/>
              <a:gdLst>
                <a:gd name="T0" fmla="*/ 54 w 288"/>
                <a:gd name="T1" fmla="*/ 180 h 180"/>
                <a:gd name="T2" fmla="*/ 14 w 288"/>
                <a:gd name="T3" fmla="*/ 164 h 180"/>
                <a:gd name="T4" fmla="*/ 0 w 288"/>
                <a:gd name="T5" fmla="*/ 129 h 180"/>
                <a:gd name="T6" fmla="*/ 19 w 288"/>
                <a:gd name="T7" fmla="*/ 89 h 180"/>
                <a:gd name="T8" fmla="*/ 55 w 288"/>
                <a:gd name="T9" fmla="*/ 78 h 180"/>
                <a:gd name="T10" fmla="*/ 144 w 288"/>
                <a:gd name="T11" fmla="*/ 0 h 180"/>
                <a:gd name="T12" fmla="*/ 224 w 288"/>
                <a:gd name="T13" fmla="*/ 48 h 180"/>
                <a:gd name="T14" fmla="*/ 268 w 288"/>
                <a:gd name="T15" fmla="*/ 66 h 180"/>
                <a:gd name="T16" fmla="*/ 288 w 288"/>
                <a:gd name="T17" fmla="*/ 114 h 180"/>
                <a:gd name="T18" fmla="*/ 229 w 288"/>
                <a:gd name="T19" fmla="*/ 180 h 180"/>
                <a:gd name="T20" fmla="*/ 228 w 288"/>
                <a:gd name="T21" fmla="*/ 180 h 180"/>
                <a:gd name="T22" fmla="*/ 54 w 288"/>
                <a:gd name="T23" fmla="*/ 180 h 180"/>
                <a:gd name="T24" fmla="*/ 54 w 288"/>
                <a:gd name="T25" fmla="*/ 180 h 180"/>
                <a:gd name="T26" fmla="*/ 51 w 288"/>
                <a:gd name="T27" fmla="*/ 90 h 180"/>
                <a:gd name="T28" fmla="*/ 27 w 288"/>
                <a:gd name="T29" fmla="*/ 99 h 180"/>
                <a:gd name="T30" fmla="*/ 12 w 288"/>
                <a:gd name="T31" fmla="*/ 129 h 180"/>
                <a:gd name="T32" fmla="*/ 22 w 288"/>
                <a:gd name="T33" fmla="*/ 156 h 180"/>
                <a:gd name="T34" fmla="*/ 54 w 288"/>
                <a:gd name="T35" fmla="*/ 168 h 180"/>
                <a:gd name="T36" fmla="*/ 54 w 288"/>
                <a:gd name="T37" fmla="*/ 168 h 180"/>
                <a:gd name="T38" fmla="*/ 228 w 288"/>
                <a:gd name="T39" fmla="*/ 168 h 180"/>
                <a:gd name="T40" fmla="*/ 276 w 288"/>
                <a:gd name="T41" fmla="*/ 114 h 180"/>
                <a:gd name="T42" fmla="*/ 260 w 288"/>
                <a:gd name="T43" fmla="*/ 75 h 180"/>
                <a:gd name="T44" fmla="*/ 220 w 288"/>
                <a:gd name="T45" fmla="*/ 60 h 180"/>
                <a:gd name="T46" fmla="*/ 215 w 288"/>
                <a:gd name="T47" fmla="*/ 57 h 180"/>
                <a:gd name="T48" fmla="*/ 144 w 288"/>
                <a:gd name="T49" fmla="*/ 12 h 180"/>
                <a:gd name="T50" fmla="*/ 66 w 288"/>
                <a:gd name="T51" fmla="*/ 85 h 180"/>
                <a:gd name="T52" fmla="*/ 64 w 288"/>
                <a:gd name="T53" fmla="*/ 90 h 180"/>
                <a:gd name="T54" fmla="*/ 59 w 288"/>
                <a:gd name="T55" fmla="*/ 91 h 180"/>
                <a:gd name="T56" fmla="*/ 51 w 288"/>
                <a:gd name="T57" fmla="*/ 90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88" h="180">
                  <a:moveTo>
                    <a:pt x="54" y="180"/>
                  </a:moveTo>
                  <a:cubicBezTo>
                    <a:pt x="51" y="180"/>
                    <a:pt x="29" y="179"/>
                    <a:pt x="14" y="164"/>
                  </a:cubicBezTo>
                  <a:cubicBezTo>
                    <a:pt x="5" y="156"/>
                    <a:pt x="0" y="144"/>
                    <a:pt x="0" y="129"/>
                  </a:cubicBezTo>
                  <a:cubicBezTo>
                    <a:pt x="0" y="113"/>
                    <a:pt x="7" y="99"/>
                    <a:pt x="19" y="89"/>
                  </a:cubicBezTo>
                  <a:cubicBezTo>
                    <a:pt x="29" y="81"/>
                    <a:pt x="42" y="77"/>
                    <a:pt x="55" y="78"/>
                  </a:cubicBezTo>
                  <a:cubicBezTo>
                    <a:pt x="61" y="34"/>
                    <a:pt x="99" y="0"/>
                    <a:pt x="144" y="0"/>
                  </a:cubicBezTo>
                  <a:cubicBezTo>
                    <a:pt x="177" y="0"/>
                    <a:pt x="208" y="19"/>
                    <a:pt x="224" y="48"/>
                  </a:cubicBezTo>
                  <a:cubicBezTo>
                    <a:pt x="240" y="48"/>
                    <a:pt x="256" y="55"/>
                    <a:pt x="268" y="66"/>
                  </a:cubicBezTo>
                  <a:cubicBezTo>
                    <a:pt x="281" y="79"/>
                    <a:pt x="288" y="96"/>
                    <a:pt x="288" y="114"/>
                  </a:cubicBezTo>
                  <a:cubicBezTo>
                    <a:pt x="288" y="171"/>
                    <a:pt x="230" y="180"/>
                    <a:pt x="229" y="180"/>
                  </a:cubicBezTo>
                  <a:cubicBezTo>
                    <a:pt x="229" y="180"/>
                    <a:pt x="228" y="180"/>
                    <a:pt x="228" y="180"/>
                  </a:cubicBezTo>
                  <a:cubicBezTo>
                    <a:pt x="54" y="180"/>
                    <a:pt x="54" y="180"/>
                    <a:pt x="54" y="180"/>
                  </a:cubicBezTo>
                  <a:cubicBezTo>
                    <a:pt x="54" y="180"/>
                    <a:pt x="54" y="180"/>
                    <a:pt x="54" y="180"/>
                  </a:cubicBezTo>
                  <a:close/>
                  <a:moveTo>
                    <a:pt x="51" y="90"/>
                  </a:moveTo>
                  <a:cubicBezTo>
                    <a:pt x="42" y="90"/>
                    <a:pt x="34" y="93"/>
                    <a:pt x="27" y="99"/>
                  </a:cubicBezTo>
                  <a:cubicBezTo>
                    <a:pt x="17" y="106"/>
                    <a:pt x="12" y="117"/>
                    <a:pt x="12" y="129"/>
                  </a:cubicBezTo>
                  <a:cubicBezTo>
                    <a:pt x="12" y="140"/>
                    <a:pt x="16" y="149"/>
                    <a:pt x="22" y="156"/>
                  </a:cubicBezTo>
                  <a:cubicBezTo>
                    <a:pt x="34" y="168"/>
                    <a:pt x="53" y="168"/>
                    <a:pt x="54" y="168"/>
                  </a:cubicBezTo>
                  <a:cubicBezTo>
                    <a:pt x="54" y="168"/>
                    <a:pt x="54" y="168"/>
                    <a:pt x="54" y="168"/>
                  </a:cubicBezTo>
                  <a:cubicBezTo>
                    <a:pt x="228" y="168"/>
                    <a:pt x="228" y="168"/>
                    <a:pt x="228" y="168"/>
                  </a:cubicBezTo>
                  <a:cubicBezTo>
                    <a:pt x="233" y="167"/>
                    <a:pt x="276" y="159"/>
                    <a:pt x="276" y="114"/>
                  </a:cubicBezTo>
                  <a:cubicBezTo>
                    <a:pt x="276" y="99"/>
                    <a:pt x="270" y="85"/>
                    <a:pt x="260" y="75"/>
                  </a:cubicBezTo>
                  <a:cubicBezTo>
                    <a:pt x="249" y="65"/>
                    <a:pt x="235" y="59"/>
                    <a:pt x="220" y="60"/>
                  </a:cubicBezTo>
                  <a:cubicBezTo>
                    <a:pt x="218" y="60"/>
                    <a:pt x="216" y="59"/>
                    <a:pt x="215" y="57"/>
                  </a:cubicBezTo>
                  <a:cubicBezTo>
                    <a:pt x="202" y="29"/>
                    <a:pt x="174" y="12"/>
                    <a:pt x="144" y="12"/>
                  </a:cubicBezTo>
                  <a:cubicBezTo>
                    <a:pt x="103" y="12"/>
                    <a:pt x="69" y="44"/>
                    <a:pt x="66" y="85"/>
                  </a:cubicBezTo>
                  <a:cubicBezTo>
                    <a:pt x="66" y="87"/>
                    <a:pt x="66" y="88"/>
                    <a:pt x="64" y="90"/>
                  </a:cubicBezTo>
                  <a:cubicBezTo>
                    <a:pt x="63" y="91"/>
                    <a:pt x="61" y="91"/>
                    <a:pt x="59" y="91"/>
                  </a:cubicBezTo>
                  <a:cubicBezTo>
                    <a:pt x="57" y="90"/>
                    <a:pt x="54" y="90"/>
                    <a:pt x="51" y="90"/>
                  </a:cubicBez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54" name="Freeform 5">
              <a:extLst>
                <a:ext uri="{FF2B5EF4-FFF2-40B4-BE49-F238E27FC236}">
                  <a16:creationId xmlns:a16="http://schemas.microsoft.com/office/drawing/2014/main" id="{6AB8F436-CC7C-E001-3282-6A79A08DB18F}"/>
                </a:ext>
              </a:extLst>
            </p:cNvPr>
            <p:cNvSpPr>
              <a:spLocks noEditPoints="1"/>
            </p:cNvSpPr>
            <p:nvPr/>
          </p:nvSpPr>
          <p:spPr bwMode="auto">
            <a:xfrm>
              <a:off x="863430" y="1977778"/>
              <a:ext cx="126246" cy="123639"/>
            </a:xfrm>
            <a:custGeom>
              <a:avLst/>
              <a:gdLst>
                <a:gd name="T0" fmla="*/ 60 w 88"/>
                <a:gd name="T1" fmla="*/ 8 h 88"/>
                <a:gd name="T2" fmla="*/ 60 w 88"/>
                <a:gd name="T3" fmla="*/ 29 h 88"/>
                <a:gd name="T4" fmla="*/ 28 w 88"/>
                <a:gd name="T5" fmla="*/ 29 h 88"/>
                <a:gd name="T6" fmla="*/ 28 w 88"/>
                <a:gd name="T7" fmla="*/ 8 h 88"/>
                <a:gd name="T8" fmla="*/ 0 w 88"/>
                <a:gd name="T9" fmla="*/ 8 h 88"/>
                <a:gd name="T10" fmla="*/ 14 w 88"/>
                <a:gd name="T11" fmla="*/ 36 h 88"/>
                <a:gd name="T12" fmla="*/ 41 w 88"/>
                <a:gd name="T13" fmla="*/ 44 h 88"/>
                <a:gd name="T14" fmla="*/ 14 w 88"/>
                <a:gd name="T15" fmla="*/ 52 h 88"/>
                <a:gd name="T16" fmla="*/ 0 w 88"/>
                <a:gd name="T17" fmla="*/ 80 h 88"/>
                <a:gd name="T18" fmla="*/ 28 w 88"/>
                <a:gd name="T19" fmla="*/ 80 h 88"/>
                <a:gd name="T20" fmla="*/ 28 w 88"/>
                <a:gd name="T21" fmla="*/ 59 h 88"/>
                <a:gd name="T22" fmla="*/ 60 w 88"/>
                <a:gd name="T23" fmla="*/ 59 h 88"/>
                <a:gd name="T24" fmla="*/ 60 w 88"/>
                <a:gd name="T25" fmla="*/ 80 h 88"/>
                <a:gd name="T26" fmla="*/ 88 w 88"/>
                <a:gd name="T27" fmla="*/ 80 h 88"/>
                <a:gd name="T28" fmla="*/ 74 w 88"/>
                <a:gd name="T29" fmla="*/ 52 h 88"/>
                <a:gd name="T30" fmla="*/ 47 w 88"/>
                <a:gd name="T31" fmla="*/ 44 h 88"/>
                <a:gd name="T32" fmla="*/ 74 w 88"/>
                <a:gd name="T33" fmla="*/ 36 h 88"/>
                <a:gd name="T34" fmla="*/ 88 w 88"/>
                <a:gd name="T35" fmla="*/ 8 h 88"/>
                <a:gd name="T36" fmla="*/ 4 w 88"/>
                <a:gd name="T37" fmla="*/ 14 h 88"/>
                <a:gd name="T38" fmla="*/ 24 w 88"/>
                <a:gd name="T39" fmla="*/ 14 h 88"/>
                <a:gd name="T40" fmla="*/ 14 w 88"/>
                <a:gd name="T41" fmla="*/ 22 h 88"/>
                <a:gd name="T42" fmla="*/ 4 w 88"/>
                <a:gd name="T43" fmla="*/ 14 h 88"/>
                <a:gd name="T44" fmla="*/ 24 w 88"/>
                <a:gd name="T45" fmla="*/ 8 h 88"/>
                <a:gd name="T46" fmla="*/ 4 w 88"/>
                <a:gd name="T47" fmla="*/ 8 h 88"/>
                <a:gd name="T48" fmla="*/ 14 w 88"/>
                <a:gd name="T49" fmla="*/ 32 h 88"/>
                <a:gd name="T50" fmla="*/ 4 w 88"/>
                <a:gd name="T51" fmla="*/ 24 h 88"/>
                <a:gd name="T52" fmla="*/ 24 w 88"/>
                <a:gd name="T53" fmla="*/ 24 h 88"/>
                <a:gd name="T54" fmla="*/ 14 w 88"/>
                <a:gd name="T55" fmla="*/ 32 h 88"/>
                <a:gd name="T56" fmla="*/ 14 w 88"/>
                <a:gd name="T57" fmla="*/ 74 h 88"/>
                <a:gd name="T58" fmla="*/ 4 w 88"/>
                <a:gd name="T59" fmla="*/ 66 h 88"/>
                <a:gd name="T60" fmla="*/ 24 w 88"/>
                <a:gd name="T61" fmla="*/ 66 h 88"/>
                <a:gd name="T62" fmla="*/ 14 w 88"/>
                <a:gd name="T63" fmla="*/ 56 h 88"/>
                <a:gd name="T64" fmla="*/ 14 w 88"/>
                <a:gd name="T65" fmla="*/ 64 h 88"/>
                <a:gd name="T66" fmla="*/ 14 w 88"/>
                <a:gd name="T67" fmla="*/ 56 h 88"/>
                <a:gd name="T68" fmla="*/ 4 w 88"/>
                <a:gd name="T69" fmla="*/ 80 h 88"/>
                <a:gd name="T70" fmla="*/ 14 w 88"/>
                <a:gd name="T71" fmla="*/ 78 h 88"/>
                <a:gd name="T72" fmla="*/ 24 w 88"/>
                <a:gd name="T73" fmla="*/ 80 h 88"/>
                <a:gd name="T74" fmla="*/ 84 w 88"/>
                <a:gd name="T75" fmla="*/ 70 h 88"/>
                <a:gd name="T76" fmla="*/ 64 w 88"/>
                <a:gd name="T77" fmla="*/ 70 h 88"/>
                <a:gd name="T78" fmla="*/ 74 w 88"/>
                <a:gd name="T79" fmla="*/ 68 h 88"/>
                <a:gd name="T80" fmla="*/ 84 w 88"/>
                <a:gd name="T81" fmla="*/ 70 h 88"/>
                <a:gd name="T82" fmla="*/ 64 w 88"/>
                <a:gd name="T83" fmla="*/ 80 h 88"/>
                <a:gd name="T84" fmla="*/ 74 w 88"/>
                <a:gd name="T85" fmla="*/ 78 h 88"/>
                <a:gd name="T86" fmla="*/ 84 w 88"/>
                <a:gd name="T87" fmla="*/ 80 h 88"/>
                <a:gd name="T88" fmla="*/ 74 w 88"/>
                <a:gd name="T89" fmla="*/ 56 h 88"/>
                <a:gd name="T90" fmla="*/ 74 w 88"/>
                <a:gd name="T91" fmla="*/ 64 h 88"/>
                <a:gd name="T92" fmla="*/ 74 w 88"/>
                <a:gd name="T93" fmla="*/ 56 h 88"/>
                <a:gd name="T94" fmla="*/ 74 w 88"/>
                <a:gd name="T95" fmla="*/ 22 h 88"/>
                <a:gd name="T96" fmla="*/ 64 w 88"/>
                <a:gd name="T97" fmla="*/ 14 h 88"/>
                <a:gd name="T98" fmla="*/ 84 w 88"/>
                <a:gd name="T99" fmla="*/ 14 h 88"/>
                <a:gd name="T100" fmla="*/ 74 w 88"/>
                <a:gd name="T101" fmla="*/ 4 h 88"/>
                <a:gd name="T102" fmla="*/ 74 w 88"/>
                <a:gd name="T103" fmla="*/ 12 h 88"/>
                <a:gd name="T104" fmla="*/ 74 w 88"/>
                <a:gd name="T105" fmla="*/ 4 h 88"/>
                <a:gd name="T106" fmla="*/ 64 w 88"/>
                <a:gd name="T107" fmla="*/ 28 h 88"/>
                <a:gd name="T108" fmla="*/ 74 w 88"/>
                <a:gd name="T109" fmla="*/ 26 h 88"/>
                <a:gd name="T110" fmla="*/ 84 w 88"/>
                <a:gd name="T111" fmla="*/ 28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88" h="88">
                  <a:moveTo>
                    <a:pt x="74" y="0"/>
                  </a:moveTo>
                  <a:cubicBezTo>
                    <a:pt x="66" y="0"/>
                    <a:pt x="60" y="3"/>
                    <a:pt x="60" y="8"/>
                  </a:cubicBezTo>
                  <a:cubicBezTo>
                    <a:pt x="60" y="28"/>
                    <a:pt x="60" y="28"/>
                    <a:pt x="60" y="28"/>
                  </a:cubicBezTo>
                  <a:cubicBezTo>
                    <a:pt x="60" y="28"/>
                    <a:pt x="60" y="29"/>
                    <a:pt x="60" y="29"/>
                  </a:cubicBezTo>
                  <a:cubicBezTo>
                    <a:pt x="44" y="41"/>
                    <a:pt x="44" y="41"/>
                    <a:pt x="44" y="41"/>
                  </a:cubicBezTo>
                  <a:cubicBezTo>
                    <a:pt x="28" y="29"/>
                    <a:pt x="28" y="29"/>
                    <a:pt x="28" y="29"/>
                  </a:cubicBezTo>
                  <a:cubicBezTo>
                    <a:pt x="28" y="29"/>
                    <a:pt x="28" y="28"/>
                    <a:pt x="28" y="28"/>
                  </a:cubicBezTo>
                  <a:cubicBezTo>
                    <a:pt x="28" y="8"/>
                    <a:pt x="28" y="8"/>
                    <a:pt x="28" y="8"/>
                  </a:cubicBezTo>
                  <a:cubicBezTo>
                    <a:pt x="28" y="3"/>
                    <a:pt x="22" y="0"/>
                    <a:pt x="14" y="0"/>
                  </a:cubicBezTo>
                  <a:cubicBezTo>
                    <a:pt x="6" y="0"/>
                    <a:pt x="0" y="3"/>
                    <a:pt x="0" y="8"/>
                  </a:cubicBezTo>
                  <a:cubicBezTo>
                    <a:pt x="0" y="28"/>
                    <a:pt x="0" y="28"/>
                    <a:pt x="0" y="28"/>
                  </a:cubicBezTo>
                  <a:cubicBezTo>
                    <a:pt x="0" y="33"/>
                    <a:pt x="6" y="36"/>
                    <a:pt x="14" y="36"/>
                  </a:cubicBezTo>
                  <a:cubicBezTo>
                    <a:pt x="19" y="36"/>
                    <a:pt x="23" y="35"/>
                    <a:pt x="26" y="32"/>
                  </a:cubicBezTo>
                  <a:cubicBezTo>
                    <a:pt x="41" y="44"/>
                    <a:pt x="41" y="44"/>
                    <a:pt x="41" y="44"/>
                  </a:cubicBezTo>
                  <a:cubicBezTo>
                    <a:pt x="26" y="56"/>
                    <a:pt x="26" y="56"/>
                    <a:pt x="26" y="56"/>
                  </a:cubicBezTo>
                  <a:cubicBezTo>
                    <a:pt x="23" y="53"/>
                    <a:pt x="19" y="52"/>
                    <a:pt x="14" y="52"/>
                  </a:cubicBezTo>
                  <a:cubicBezTo>
                    <a:pt x="6" y="52"/>
                    <a:pt x="0" y="55"/>
                    <a:pt x="0" y="60"/>
                  </a:cubicBezTo>
                  <a:cubicBezTo>
                    <a:pt x="0" y="80"/>
                    <a:pt x="0" y="80"/>
                    <a:pt x="0" y="80"/>
                  </a:cubicBezTo>
                  <a:cubicBezTo>
                    <a:pt x="0" y="85"/>
                    <a:pt x="6" y="88"/>
                    <a:pt x="14" y="88"/>
                  </a:cubicBezTo>
                  <a:cubicBezTo>
                    <a:pt x="22" y="88"/>
                    <a:pt x="28" y="85"/>
                    <a:pt x="28" y="80"/>
                  </a:cubicBezTo>
                  <a:cubicBezTo>
                    <a:pt x="28" y="60"/>
                    <a:pt x="28" y="60"/>
                    <a:pt x="28" y="60"/>
                  </a:cubicBezTo>
                  <a:cubicBezTo>
                    <a:pt x="28" y="60"/>
                    <a:pt x="28" y="59"/>
                    <a:pt x="28" y="59"/>
                  </a:cubicBezTo>
                  <a:cubicBezTo>
                    <a:pt x="44" y="47"/>
                    <a:pt x="44" y="47"/>
                    <a:pt x="44" y="47"/>
                  </a:cubicBezTo>
                  <a:cubicBezTo>
                    <a:pt x="60" y="59"/>
                    <a:pt x="60" y="59"/>
                    <a:pt x="60" y="59"/>
                  </a:cubicBezTo>
                  <a:cubicBezTo>
                    <a:pt x="60" y="59"/>
                    <a:pt x="60" y="60"/>
                    <a:pt x="60" y="60"/>
                  </a:cubicBezTo>
                  <a:cubicBezTo>
                    <a:pt x="60" y="80"/>
                    <a:pt x="60" y="80"/>
                    <a:pt x="60" y="80"/>
                  </a:cubicBezTo>
                  <a:cubicBezTo>
                    <a:pt x="60" y="85"/>
                    <a:pt x="66" y="88"/>
                    <a:pt x="74" y="88"/>
                  </a:cubicBezTo>
                  <a:cubicBezTo>
                    <a:pt x="82" y="88"/>
                    <a:pt x="88" y="85"/>
                    <a:pt x="88" y="80"/>
                  </a:cubicBezTo>
                  <a:cubicBezTo>
                    <a:pt x="88" y="60"/>
                    <a:pt x="88" y="60"/>
                    <a:pt x="88" y="60"/>
                  </a:cubicBezTo>
                  <a:cubicBezTo>
                    <a:pt x="88" y="55"/>
                    <a:pt x="82" y="52"/>
                    <a:pt x="74" y="52"/>
                  </a:cubicBezTo>
                  <a:cubicBezTo>
                    <a:pt x="69" y="52"/>
                    <a:pt x="65" y="53"/>
                    <a:pt x="62" y="56"/>
                  </a:cubicBezTo>
                  <a:cubicBezTo>
                    <a:pt x="47" y="44"/>
                    <a:pt x="47" y="44"/>
                    <a:pt x="47" y="44"/>
                  </a:cubicBezTo>
                  <a:cubicBezTo>
                    <a:pt x="62" y="32"/>
                    <a:pt x="62" y="32"/>
                    <a:pt x="62" y="32"/>
                  </a:cubicBezTo>
                  <a:cubicBezTo>
                    <a:pt x="65" y="35"/>
                    <a:pt x="69" y="36"/>
                    <a:pt x="74" y="36"/>
                  </a:cubicBezTo>
                  <a:cubicBezTo>
                    <a:pt x="82" y="36"/>
                    <a:pt x="88" y="33"/>
                    <a:pt x="88" y="28"/>
                  </a:cubicBezTo>
                  <a:cubicBezTo>
                    <a:pt x="88" y="8"/>
                    <a:pt x="88" y="8"/>
                    <a:pt x="88" y="8"/>
                  </a:cubicBezTo>
                  <a:cubicBezTo>
                    <a:pt x="88" y="3"/>
                    <a:pt x="82" y="0"/>
                    <a:pt x="74" y="0"/>
                  </a:cubicBezTo>
                  <a:close/>
                  <a:moveTo>
                    <a:pt x="4" y="14"/>
                  </a:moveTo>
                  <a:cubicBezTo>
                    <a:pt x="7" y="15"/>
                    <a:pt x="10" y="16"/>
                    <a:pt x="14" y="16"/>
                  </a:cubicBezTo>
                  <a:cubicBezTo>
                    <a:pt x="18" y="16"/>
                    <a:pt x="21" y="15"/>
                    <a:pt x="24" y="14"/>
                  </a:cubicBezTo>
                  <a:cubicBezTo>
                    <a:pt x="24" y="18"/>
                    <a:pt x="24" y="18"/>
                    <a:pt x="24" y="18"/>
                  </a:cubicBezTo>
                  <a:cubicBezTo>
                    <a:pt x="24" y="20"/>
                    <a:pt x="20" y="22"/>
                    <a:pt x="14" y="22"/>
                  </a:cubicBezTo>
                  <a:cubicBezTo>
                    <a:pt x="8" y="22"/>
                    <a:pt x="4" y="20"/>
                    <a:pt x="4" y="18"/>
                  </a:cubicBezTo>
                  <a:lnTo>
                    <a:pt x="4" y="14"/>
                  </a:lnTo>
                  <a:close/>
                  <a:moveTo>
                    <a:pt x="14" y="4"/>
                  </a:moveTo>
                  <a:cubicBezTo>
                    <a:pt x="20" y="4"/>
                    <a:pt x="24" y="6"/>
                    <a:pt x="24" y="8"/>
                  </a:cubicBezTo>
                  <a:cubicBezTo>
                    <a:pt x="24" y="10"/>
                    <a:pt x="20" y="12"/>
                    <a:pt x="14" y="12"/>
                  </a:cubicBezTo>
                  <a:cubicBezTo>
                    <a:pt x="8" y="12"/>
                    <a:pt x="4" y="10"/>
                    <a:pt x="4" y="8"/>
                  </a:cubicBezTo>
                  <a:cubicBezTo>
                    <a:pt x="4" y="6"/>
                    <a:pt x="8" y="4"/>
                    <a:pt x="14" y="4"/>
                  </a:cubicBezTo>
                  <a:close/>
                  <a:moveTo>
                    <a:pt x="14" y="32"/>
                  </a:moveTo>
                  <a:cubicBezTo>
                    <a:pt x="8" y="32"/>
                    <a:pt x="4" y="30"/>
                    <a:pt x="4" y="28"/>
                  </a:cubicBezTo>
                  <a:cubicBezTo>
                    <a:pt x="4" y="24"/>
                    <a:pt x="4" y="24"/>
                    <a:pt x="4" y="24"/>
                  </a:cubicBezTo>
                  <a:cubicBezTo>
                    <a:pt x="7" y="25"/>
                    <a:pt x="10" y="26"/>
                    <a:pt x="14" y="26"/>
                  </a:cubicBezTo>
                  <a:cubicBezTo>
                    <a:pt x="18" y="26"/>
                    <a:pt x="21" y="25"/>
                    <a:pt x="24" y="24"/>
                  </a:cubicBezTo>
                  <a:cubicBezTo>
                    <a:pt x="24" y="28"/>
                    <a:pt x="24" y="28"/>
                    <a:pt x="24" y="28"/>
                  </a:cubicBezTo>
                  <a:cubicBezTo>
                    <a:pt x="24" y="30"/>
                    <a:pt x="20" y="32"/>
                    <a:pt x="14" y="32"/>
                  </a:cubicBezTo>
                  <a:close/>
                  <a:moveTo>
                    <a:pt x="24" y="70"/>
                  </a:moveTo>
                  <a:cubicBezTo>
                    <a:pt x="24" y="72"/>
                    <a:pt x="20" y="74"/>
                    <a:pt x="14" y="74"/>
                  </a:cubicBezTo>
                  <a:cubicBezTo>
                    <a:pt x="8" y="74"/>
                    <a:pt x="4" y="72"/>
                    <a:pt x="4" y="70"/>
                  </a:cubicBezTo>
                  <a:cubicBezTo>
                    <a:pt x="4" y="66"/>
                    <a:pt x="4" y="66"/>
                    <a:pt x="4" y="66"/>
                  </a:cubicBezTo>
                  <a:cubicBezTo>
                    <a:pt x="7" y="67"/>
                    <a:pt x="10" y="68"/>
                    <a:pt x="14" y="68"/>
                  </a:cubicBezTo>
                  <a:cubicBezTo>
                    <a:pt x="18" y="68"/>
                    <a:pt x="21" y="67"/>
                    <a:pt x="24" y="66"/>
                  </a:cubicBezTo>
                  <a:lnTo>
                    <a:pt x="24" y="70"/>
                  </a:lnTo>
                  <a:close/>
                  <a:moveTo>
                    <a:pt x="14" y="56"/>
                  </a:moveTo>
                  <a:cubicBezTo>
                    <a:pt x="20" y="56"/>
                    <a:pt x="24" y="58"/>
                    <a:pt x="24" y="60"/>
                  </a:cubicBezTo>
                  <a:cubicBezTo>
                    <a:pt x="24" y="62"/>
                    <a:pt x="20" y="64"/>
                    <a:pt x="14" y="64"/>
                  </a:cubicBezTo>
                  <a:cubicBezTo>
                    <a:pt x="8" y="64"/>
                    <a:pt x="4" y="62"/>
                    <a:pt x="4" y="60"/>
                  </a:cubicBezTo>
                  <a:cubicBezTo>
                    <a:pt x="4" y="58"/>
                    <a:pt x="8" y="56"/>
                    <a:pt x="14" y="56"/>
                  </a:cubicBezTo>
                  <a:close/>
                  <a:moveTo>
                    <a:pt x="14" y="84"/>
                  </a:moveTo>
                  <a:cubicBezTo>
                    <a:pt x="8" y="84"/>
                    <a:pt x="4" y="82"/>
                    <a:pt x="4" y="80"/>
                  </a:cubicBezTo>
                  <a:cubicBezTo>
                    <a:pt x="4" y="76"/>
                    <a:pt x="4" y="76"/>
                    <a:pt x="4" y="76"/>
                  </a:cubicBezTo>
                  <a:cubicBezTo>
                    <a:pt x="7" y="77"/>
                    <a:pt x="10" y="78"/>
                    <a:pt x="14" y="78"/>
                  </a:cubicBezTo>
                  <a:cubicBezTo>
                    <a:pt x="18" y="78"/>
                    <a:pt x="21" y="77"/>
                    <a:pt x="24" y="76"/>
                  </a:cubicBezTo>
                  <a:cubicBezTo>
                    <a:pt x="24" y="80"/>
                    <a:pt x="24" y="80"/>
                    <a:pt x="24" y="80"/>
                  </a:cubicBezTo>
                  <a:cubicBezTo>
                    <a:pt x="24" y="82"/>
                    <a:pt x="20" y="84"/>
                    <a:pt x="14" y="84"/>
                  </a:cubicBezTo>
                  <a:close/>
                  <a:moveTo>
                    <a:pt x="84" y="70"/>
                  </a:moveTo>
                  <a:cubicBezTo>
                    <a:pt x="84" y="72"/>
                    <a:pt x="80" y="74"/>
                    <a:pt x="74" y="74"/>
                  </a:cubicBezTo>
                  <a:cubicBezTo>
                    <a:pt x="68" y="74"/>
                    <a:pt x="64" y="72"/>
                    <a:pt x="64" y="70"/>
                  </a:cubicBezTo>
                  <a:cubicBezTo>
                    <a:pt x="64" y="66"/>
                    <a:pt x="64" y="66"/>
                    <a:pt x="64" y="66"/>
                  </a:cubicBezTo>
                  <a:cubicBezTo>
                    <a:pt x="67" y="67"/>
                    <a:pt x="70" y="68"/>
                    <a:pt x="74" y="68"/>
                  </a:cubicBezTo>
                  <a:cubicBezTo>
                    <a:pt x="78" y="68"/>
                    <a:pt x="81" y="67"/>
                    <a:pt x="84" y="66"/>
                  </a:cubicBezTo>
                  <a:lnTo>
                    <a:pt x="84" y="70"/>
                  </a:lnTo>
                  <a:close/>
                  <a:moveTo>
                    <a:pt x="74" y="84"/>
                  </a:moveTo>
                  <a:cubicBezTo>
                    <a:pt x="68" y="84"/>
                    <a:pt x="64" y="82"/>
                    <a:pt x="64" y="80"/>
                  </a:cubicBezTo>
                  <a:cubicBezTo>
                    <a:pt x="64" y="76"/>
                    <a:pt x="64" y="76"/>
                    <a:pt x="64" y="76"/>
                  </a:cubicBezTo>
                  <a:cubicBezTo>
                    <a:pt x="67" y="77"/>
                    <a:pt x="70" y="78"/>
                    <a:pt x="74" y="78"/>
                  </a:cubicBezTo>
                  <a:cubicBezTo>
                    <a:pt x="78" y="78"/>
                    <a:pt x="81" y="77"/>
                    <a:pt x="84" y="76"/>
                  </a:cubicBezTo>
                  <a:cubicBezTo>
                    <a:pt x="84" y="80"/>
                    <a:pt x="84" y="80"/>
                    <a:pt x="84" y="80"/>
                  </a:cubicBezTo>
                  <a:cubicBezTo>
                    <a:pt x="84" y="82"/>
                    <a:pt x="80" y="84"/>
                    <a:pt x="74" y="84"/>
                  </a:cubicBezTo>
                  <a:close/>
                  <a:moveTo>
                    <a:pt x="74" y="56"/>
                  </a:moveTo>
                  <a:cubicBezTo>
                    <a:pt x="80" y="56"/>
                    <a:pt x="84" y="58"/>
                    <a:pt x="84" y="60"/>
                  </a:cubicBezTo>
                  <a:cubicBezTo>
                    <a:pt x="84" y="62"/>
                    <a:pt x="80" y="64"/>
                    <a:pt x="74" y="64"/>
                  </a:cubicBezTo>
                  <a:cubicBezTo>
                    <a:pt x="68" y="64"/>
                    <a:pt x="64" y="62"/>
                    <a:pt x="64" y="60"/>
                  </a:cubicBezTo>
                  <a:cubicBezTo>
                    <a:pt x="64" y="58"/>
                    <a:pt x="68" y="56"/>
                    <a:pt x="74" y="56"/>
                  </a:cubicBezTo>
                  <a:close/>
                  <a:moveTo>
                    <a:pt x="84" y="18"/>
                  </a:moveTo>
                  <a:cubicBezTo>
                    <a:pt x="84" y="20"/>
                    <a:pt x="80" y="22"/>
                    <a:pt x="74" y="22"/>
                  </a:cubicBezTo>
                  <a:cubicBezTo>
                    <a:pt x="68" y="22"/>
                    <a:pt x="64" y="20"/>
                    <a:pt x="64" y="18"/>
                  </a:cubicBezTo>
                  <a:cubicBezTo>
                    <a:pt x="64" y="14"/>
                    <a:pt x="64" y="14"/>
                    <a:pt x="64" y="14"/>
                  </a:cubicBezTo>
                  <a:cubicBezTo>
                    <a:pt x="67" y="15"/>
                    <a:pt x="70" y="16"/>
                    <a:pt x="74" y="16"/>
                  </a:cubicBezTo>
                  <a:cubicBezTo>
                    <a:pt x="78" y="16"/>
                    <a:pt x="81" y="15"/>
                    <a:pt x="84" y="14"/>
                  </a:cubicBezTo>
                  <a:lnTo>
                    <a:pt x="84" y="18"/>
                  </a:lnTo>
                  <a:close/>
                  <a:moveTo>
                    <a:pt x="74" y="4"/>
                  </a:moveTo>
                  <a:cubicBezTo>
                    <a:pt x="80" y="4"/>
                    <a:pt x="84" y="6"/>
                    <a:pt x="84" y="8"/>
                  </a:cubicBezTo>
                  <a:cubicBezTo>
                    <a:pt x="84" y="10"/>
                    <a:pt x="80" y="12"/>
                    <a:pt x="74" y="12"/>
                  </a:cubicBezTo>
                  <a:cubicBezTo>
                    <a:pt x="68" y="12"/>
                    <a:pt x="64" y="10"/>
                    <a:pt x="64" y="8"/>
                  </a:cubicBezTo>
                  <a:cubicBezTo>
                    <a:pt x="64" y="6"/>
                    <a:pt x="68" y="4"/>
                    <a:pt x="74" y="4"/>
                  </a:cubicBezTo>
                  <a:close/>
                  <a:moveTo>
                    <a:pt x="74" y="32"/>
                  </a:moveTo>
                  <a:cubicBezTo>
                    <a:pt x="68" y="32"/>
                    <a:pt x="64" y="30"/>
                    <a:pt x="64" y="28"/>
                  </a:cubicBezTo>
                  <a:cubicBezTo>
                    <a:pt x="64" y="24"/>
                    <a:pt x="64" y="24"/>
                    <a:pt x="64" y="24"/>
                  </a:cubicBezTo>
                  <a:cubicBezTo>
                    <a:pt x="67" y="25"/>
                    <a:pt x="70" y="26"/>
                    <a:pt x="74" y="26"/>
                  </a:cubicBezTo>
                  <a:cubicBezTo>
                    <a:pt x="78" y="26"/>
                    <a:pt x="81" y="25"/>
                    <a:pt x="84" y="24"/>
                  </a:cubicBezTo>
                  <a:cubicBezTo>
                    <a:pt x="84" y="28"/>
                    <a:pt x="84" y="28"/>
                    <a:pt x="84" y="28"/>
                  </a:cubicBezTo>
                  <a:cubicBezTo>
                    <a:pt x="84" y="30"/>
                    <a:pt x="80" y="32"/>
                    <a:pt x="74" y="32"/>
                  </a:cubicBez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800" b="0" i="0" u="none" strike="noStrike" kern="0" cap="none" spc="0" normalizeH="0" baseline="0" noProof="0">
                <a:ln>
                  <a:noFill/>
                </a:ln>
                <a:solidFill>
                  <a:srgbClr val="96968C"/>
                </a:solidFill>
                <a:effectLst/>
                <a:uLnTx/>
                <a:uFillTx/>
                <a:latin typeface="Graphik Semibold" panose="020B0703030202060203" pitchFamily="34" charset="0"/>
                <a:ea typeface="+mn-ea"/>
                <a:cs typeface="Arial" charset="0"/>
              </a:endParaRPr>
            </a:p>
          </p:txBody>
        </p:sp>
        <p:grpSp>
          <p:nvGrpSpPr>
            <p:cNvPr id="55" name="Group 67">
              <a:extLst>
                <a:ext uri="{FF2B5EF4-FFF2-40B4-BE49-F238E27FC236}">
                  <a16:creationId xmlns:a16="http://schemas.microsoft.com/office/drawing/2014/main" id="{F91DF847-6B27-8D5E-EB46-1E8007E9CDC8}"/>
                </a:ext>
              </a:extLst>
            </p:cNvPr>
            <p:cNvGrpSpPr>
              <a:grpSpLocks noChangeAspect="1"/>
            </p:cNvGrpSpPr>
            <p:nvPr/>
          </p:nvGrpSpPr>
          <p:grpSpPr bwMode="auto">
            <a:xfrm>
              <a:off x="863430" y="1684605"/>
              <a:ext cx="126246" cy="123349"/>
              <a:chOff x="1356" y="1721"/>
              <a:chExt cx="427" cy="426"/>
            </a:xfrm>
            <a:solidFill>
              <a:srgbClr val="FFFFFF"/>
            </a:solidFill>
          </p:grpSpPr>
          <p:sp>
            <p:nvSpPr>
              <p:cNvPr id="56" name="Freeform 68">
                <a:extLst>
                  <a:ext uri="{FF2B5EF4-FFF2-40B4-BE49-F238E27FC236}">
                    <a16:creationId xmlns:a16="http://schemas.microsoft.com/office/drawing/2014/main" id="{D51F3864-3B2C-96A0-074D-1F15A4782F7E}"/>
                  </a:ext>
                </a:extLst>
              </p:cNvPr>
              <p:cNvSpPr>
                <a:spLocks noEditPoints="1"/>
              </p:cNvSpPr>
              <p:nvPr/>
            </p:nvSpPr>
            <p:spPr bwMode="auto">
              <a:xfrm>
                <a:off x="1356" y="1721"/>
                <a:ext cx="427" cy="426"/>
              </a:xfrm>
              <a:custGeom>
                <a:avLst/>
                <a:gdLst>
                  <a:gd name="T0" fmla="*/ 126 w 288"/>
                  <a:gd name="T1" fmla="*/ 288 h 288"/>
                  <a:gd name="T2" fmla="*/ 120 w 288"/>
                  <a:gd name="T3" fmla="*/ 247 h 288"/>
                  <a:gd name="T4" fmla="*/ 67 w 288"/>
                  <a:gd name="T5" fmla="*/ 262 h 288"/>
                  <a:gd name="T6" fmla="*/ 25 w 288"/>
                  <a:gd name="T7" fmla="*/ 229 h 288"/>
                  <a:gd name="T8" fmla="*/ 25 w 288"/>
                  <a:gd name="T9" fmla="*/ 220 h 288"/>
                  <a:gd name="T10" fmla="*/ 40 w 288"/>
                  <a:gd name="T11" fmla="*/ 168 h 288"/>
                  <a:gd name="T12" fmla="*/ 0 w 288"/>
                  <a:gd name="T13" fmla="*/ 162 h 288"/>
                  <a:gd name="T14" fmla="*/ 6 w 288"/>
                  <a:gd name="T15" fmla="*/ 120 h 288"/>
                  <a:gd name="T16" fmla="*/ 49 w 288"/>
                  <a:gd name="T17" fmla="*/ 92 h 288"/>
                  <a:gd name="T18" fmla="*/ 23 w 288"/>
                  <a:gd name="T19" fmla="*/ 63 h 288"/>
                  <a:gd name="T20" fmla="*/ 59 w 288"/>
                  <a:gd name="T21" fmla="*/ 25 h 288"/>
                  <a:gd name="T22" fmla="*/ 92 w 288"/>
                  <a:gd name="T23" fmla="*/ 49 h 288"/>
                  <a:gd name="T24" fmla="*/ 120 w 288"/>
                  <a:gd name="T25" fmla="*/ 6 h 288"/>
                  <a:gd name="T26" fmla="*/ 162 w 288"/>
                  <a:gd name="T27" fmla="*/ 0 h 288"/>
                  <a:gd name="T28" fmla="*/ 168 w 288"/>
                  <a:gd name="T29" fmla="*/ 40 h 288"/>
                  <a:gd name="T30" fmla="*/ 220 w 288"/>
                  <a:gd name="T31" fmla="*/ 25 h 288"/>
                  <a:gd name="T32" fmla="*/ 263 w 288"/>
                  <a:gd name="T33" fmla="*/ 59 h 288"/>
                  <a:gd name="T34" fmla="*/ 263 w 288"/>
                  <a:gd name="T35" fmla="*/ 67 h 288"/>
                  <a:gd name="T36" fmla="*/ 248 w 288"/>
                  <a:gd name="T37" fmla="*/ 120 h 288"/>
                  <a:gd name="T38" fmla="*/ 288 w 288"/>
                  <a:gd name="T39" fmla="*/ 126 h 288"/>
                  <a:gd name="T40" fmla="*/ 282 w 288"/>
                  <a:gd name="T41" fmla="*/ 168 h 288"/>
                  <a:gd name="T42" fmla="*/ 238 w 288"/>
                  <a:gd name="T43" fmla="*/ 196 h 288"/>
                  <a:gd name="T44" fmla="*/ 263 w 288"/>
                  <a:gd name="T45" fmla="*/ 229 h 288"/>
                  <a:gd name="T46" fmla="*/ 220 w 288"/>
                  <a:gd name="T47" fmla="*/ 262 h 288"/>
                  <a:gd name="T48" fmla="*/ 168 w 288"/>
                  <a:gd name="T49" fmla="*/ 247 h 288"/>
                  <a:gd name="T50" fmla="*/ 162 w 288"/>
                  <a:gd name="T51" fmla="*/ 288 h 288"/>
                  <a:gd name="T52" fmla="*/ 156 w 288"/>
                  <a:gd name="T53" fmla="*/ 276 h 288"/>
                  <a:gd name="T54" fmla="*/ 160 w 288"/>
                  <a:gd name="T55" fmla="*/ 237 h 288"/>
                  <a:gd name="T56" fmla="*/ 201 w 288"/>
                  <a:gd name="T57" fmla="*/ 226 h 288"/>
                  <a:gd name="T58" fmla="*/ 250 w 288"/>
                  <a:gd name="T59" fmla="*/ 224 h 288"/>
                  <a:gd name="T60" fmla="*/ 226 w 288"/>
                  <a:gd name="T61" fmla="*/ 194 h 288"/>
                  <a:gd name="T62" fmla="*/ 243 w 288"/>
                  <a:gd name="T63" fmla="*/ 156 h 288"/>
                  <a:gd name="T64" fmla="*/ 276 w 288"/>
                  <a:gd name="T65" fmla="*/ 132 h 288"/>
                  <a:gd name="T66" fmla="*/ 237 w 288"/>
                  <a:gd name="T67" fmla="*/ 127 h 288"/>
                  <a:gd name="T68" fmla="*/ 227 w 288"/>
                  <a:gd name="T69" fmla="*/ 86 h 288"/>
                  <a:gd name="T70" fmla="*/ 224 w 288"/>
                  <a:gd name="T71" fmla="*/ 38 h 288"/>
                  <a:gd name="T72" fmla="*/ 194 w 288"/>
                  <a:gd name="T73" fmla="*/ 62 h 288"/>
                  <a:gd name="T74" fmla="*/ 156 w 288"/>
                  <a:gd name="T75" fmla="*/ 45 h 288"/>
                  <a:gd name="T76" fmla="*/ 132 w 288"/>
                  <a:gd name="T77" fmla="*/ 12 h 288"/>
                  <a:gd name="T78" fmla="*/ 127 w 288"/>
                  <a:gd name="T79" fmla="*/ 50 h 288"/>
                  <a:gd name="T80" fmla="*/ 87 w 288"/>
                  <a:gd name="T81" fmla="*/ 61 h 288"/>
                  <a:gd name="T82" fmla="*/ 38 w 288"/>
                  <a:gd name="T83" fmla="*/ 63 h 288"/>
                  <a:gd name="T84" fmla="*/ 62 w 288"/>
                  <a:gd name="T85" fmla="*/ 94 h 288"/>
                  <a:gd name="T86" fmla="*/ 45 w 288"/>
                  <a:gd name="T87" fmla="*/ 132 h 288"/>
                  <a:gd name="T88" fmla="*/ 12 w 288"/>
                  <a:gd name="T89" fmla="*/ 156 h 288"/>
                  <a:gd name="T90" fmla="*/ 51 w 288"/>
                  <a:gd name="T91" fmla="*/ 160 h 288"/>
                  <a:gd name="T92" fmla="*/ 61 w 288"/>
                  <a:gd name="T93" fmla="*/ 201 h 288"/>
                  <a:gd name="T94" fmla="*/ 63 w 288"/>
                  <a:gd name="T95" fmla="*/ 250 h 288"/>
                  <a:gd name="T96" fmla="*/ 94 w 288"/>
                  <a:gd name="T97" fmla="*/ 226 h 288"/>
                  <a:gd name="T98" fmla="*/ 132 w 288"/>
                  <a:gd name="T99" fmla="*/ 243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88" h="288">
                    <a:moveTo>
                      <a:pt x="162" y="288"/>
                    </a:moveTo>
                    <a:cubicBezTo>
                      <a:pt x="126" y="288"/>
                      <a:pt x="126" y="288"/>
                      <a:pt x="126" y="288"/>
                    </a:cubicBezTo>
                    <a:cubicBezTo>
                      <a:pt x="123" y="288"/>
                      <a:pt x="120" y="285"/>
                      <a:pt x="120" y="282"/>
                    </a:cubicBezTo>
                    <a:cubicBezTo>
                      <a:pt x="120" y="247"/>
                      <a:pt x="120" y="247"/>
                      <a:pt x="120" y="247"/>
                    </a:cubicBezTo>
                    <a:cubicBezTo>
                      <a:pt x="110" y="245"/>
                      <a:pt x="100" y="242"/>
                      <a:pt x="92" y="238"/>
                    </a:cubicBezTo>
                    <a:cubicBezTo>
                      <a:pt x="67" y="262"/>
                      <a:pt x="67" y="262"/>
                      <a:pt x="67" y="262"/>
                    </a:cubicBezTo>
                    <a:cubicBezTo>
                      <a:pt x="65" y="265"/>
                      <a:pt x="61" y="265"/>
                      <a:pt x="59" y="262"/>
                    </a:cubicBezTo>
                    <a:cubicBezTo>
                      <a:pt x="25" y="229"/>
                      <a:pt x="25" y="229"/>
                      <a:pt x="25" y="229"/>
                    </a:cubicBezTo>
                    <a:cubicBezTo>
                      <a:pt x="24" y="227"/>
                      <a:pt x="23" y="226"/>
                      <a:pt x="23" y="224"/>
                    </a:cubicBezTo>
                    <a:cubicBezTo>
                      <a:pt x="23" y="223"/>
                      <a:pt x="24" y="221"/>
                      <a:pt x="25" y="220"/>
                    </a:cubicBezTo>
                    <a:cubicBezTo>
                      <a:pt x="49" y="196"/>
                      <a:pt x="49" y="196"/>
                      <a:pt x="49" y="196"/>
                    </a:cubicBezTo>
                    <a:cubicBezTo>
                      <a:pt x="46" y="188"/>
                      <a:pt x="43" y="177"/>
                      <a:pt x="40" y="168"/>
                    </a:cubicBezTo>
                    <a:cubicBezTo>
                      <a:pt x="6" y="168"/>
                      <a:pt x="6" y="168"/>
                      <a:pt x="6" y="168"/>
                    </a:cubicBezTo>
                    <a:cubicBezTo>
                      <a:pt x="3" y="168"/>
                      <a:pt x="0" y="165"/>
                      <a:pt x="0" y="162"/>
                    </a:cubicBezTo>
                    <a:cubicBezTo>
                      <a:pt x="0" y="126"/>
                      <a:pt x="0" y="126"/>
                      <a:pt x="0" y="126"/>
                    </a:cubicBezTo>
                    <a:cubicBezTo>
                      <a:pt x="0" y="122"/>
                      <a:pt x="3" y="120"/>
                      <a:pt x="6" y="120"/>
                    </a:cubicBezTo>
                    <a:cubicBezTo>
                      <a:pt x="40" y="120"/>
                      <a:pt x="40" y="120"/>
                      <a:pt x="40" y="120"/>
                    </a:cubicBezTo>
                    <a:cubicBezTo>
                      <a:pt x="43" y="110"/>
                      <a:pt x="46" y="100"/>
                      <a:pt x="49" y="92"/>
                    </a:cubicBezTo>
                    <a:cubicBezTo>
                      <a:pt x="25" y="67"/>
                      <a:pt x="25" y="67"/>
                      <a:pt x="25" y="67"/>
                    </a:cubicBezTo>
                    <a:cubicBezTo>
                      <a:pt x="24" y="66"/>
                      <a:pt x="23" y="65"/>
                      <a:pt x="23" y="63"/>
                    </a:cubicBezTo>
                    <a:cubicBezTo>
                      <a:pt x="23" y="61"/>
                      <a:pt x="24" y="60"/>
                      <a:pt x="25" y="59"/>
                    </a:cubicBezTo>
                    <a:cubicBezTo>
                      <a:pt x="59" y="25"/>
                      <a:pt x="59" y="25"/>
                      <a:pt x="59" y="25"/>
                    </a:cubicBezTo>
                    <a:cubicBezTo>
                      <a:pt x="61" y="23"/>
                      <a:pt x="65" y="23"/>
                      <a:pt x="67" y="25"/>
                    </a:cubicBezTo>
                    <a:cubicBezTo>
                      <a:pt x="92" y="49"/>
                      <a:pt x="92" y="49"/>
                      <a:pt x="92" y="49"/>
                    </a:cubicBezTo>
                    <a:cubicBezTo>
                      <a:pt x="100" y="45"/>
                      <a:pt x="110" y="42"/>
                      <a:pt x="120" y="40"/>
                    </a:cubicBezTo>
                    <a:cubicBezTo>
                      <a:pt x="120" y="6"/>
                      <a:pt x="120" y="6"/>
                      <a:pt x="120" y="6"/>
                    </a:cubicBezTo>
                    <a:cubicBezTo>
                      <a:pt x="120" y="2"/>
                      <a:pt x="123" y="0"/>
                      <a:pt x="126" y="0"/>
                    </a:cubicBezTo>
                    <a:cubicBezTo>
                      <a:pt x="162" y="0"/>
                      <a:pt x="162" y="0"/>
                      <a:pt x="162" y="0"/>
                    </a:cubicBezTo>
                    <a:cubicBezTo>
                      <a:pt x="165" y="0"/>
                      <a:pt x="168" y="2"/>
                      <a:pt x="168" y="6"/>
                    </a:cubicBezTo>
                    <a:cubicBezTo>
                      <a:pt x="168" y="40"/>
                      <a:pt x="168" y="40"/>
                      <a:pt x="168" y="40"/>
                    </a:cubicBezTo>
                    <a:cubicBezTo>
                      <a:pt x="177" y="42"/>
                      <a:pt x="188" y="45"/>
                      <a:pt x="196" y="49"/>
                    </a:cubicBezTo>
                    <a:cubicBezTo>
                      <a:pt x="220" y="25"/>
                      <a:pt x="220" y="25"/>
                      <a:pt x="220" y="25"/>
                    </a:cubicBezTo>
                    <a:cubicBezTo>
                      <a:pt x="223" y="23"/>
                      <a:pt x="226" y="23"/>
                      <a:pt x="229" y="25"/>
                    </a:cubicBezTo>
                    <a:cubicBezTo>
                      <a:pt x="263" y="59"/>
                      <a:pt x="263" y="59"/>
                      <a:pt x="263" y="59"/>
                    </a:cubicBezTo>
                    <a:cubicBezTo>
                      <a:pt x="264" y="60"/>
                      <a:pt x="264" y="61"/>
                      <a:pt x="264" y="63"/>
                    </a:cubicBezTo>
                    <a:cubicBezTo>
                      <a:pt x="264" y="65"/>
                      <a:pt x="264" y="66"/>
                      <a:pt x="263" y="67"/>
                    </a:cubicBezTo>
                    <a:cubicBezTo>
                      <a:pt x="238" y="92"/>
                      <a:pt x="238" y="92"/>
                      <a:pt x="238" y="92"/>
                    </a:cubicBezTo>
                    <a:cubicBezTo>
                      <a:pt x="242" y="100"/>
                      <a:pt x="245" y="110"/>
                      <a:pt x="248" y="120"/>
                    </a:cubicBezTo>
                    <a:cubicBezTo>
                      <a:pt x="282" y="120"/>
                      <a:pt x="282" y="120"/>
                      <a:pt x="282" y="120"/>
                    </a:cubicBezTo>
                    <a:cubicBezTo>
                      <a:pt x="285" y="120"/>
                      <a:pt x="288" y="122"/>
                      <a:pt x="288" y="126"/>
                    </a:cubicBezTo>
                    <a:cubicBezTo>
                      <a:pt x="288" y="162"/>
                      <a:pt x="288" y="162"/>
                      <a:pt x="288" y="162"/>
                    </a:cubicBezTo>
                    <a:cubicBezTo>
                      <a:pt x="288" y="165"/>
                      <a:pt x="285" y="168"/>
                      <a:pt x="282" y="168"/>
                    </a:cubicBezTo>
                    <a:cubicBezTo>
                      <a:pt x="248" y="168"/>
                      <a:pt x="248" y="168"/>
                      <a:pt x="248" y="168"/>
                    </a:cubicBezTo>
                    <a:cubicBezTo>
                      <a:pt x="245" y="177"/>
                      <a:pt x="242" y="188"/>
                      <a:pt x="238" y="196"/>
                    </a:cubicBezTo>
                    <a:cubicBezTo>
                      <a:pt x="263" y="220"/>
                      <a:pt x="263" y="220"/>
                      <a:pt x="263" y="220"/>
                    </a:cubicBezTo>
                    <a:cubicBezTo>
                      <a:pt x="265" y="222"/>
                      <a:pt x="265" y="226"/>
                      <a:pt x="263" y="229"/>
                    </a:cubicBezTo>
                    <a:cubicBezTo>
                      <a:pt x="229" y="262"/>
                      <a:pt x="229" y="262"/>
                      <a:pt x="229" y="262"/>
                    </a:cubicBezTo>
                    <a:cubicBezTo>
                      <a:pt x="226" y="265"/>
                      <a:pt x="223" y="265"/>
                      <a:pt x="220" y="262"/>
                    </a:cubicBezTo>
                    <a:cubicBezTo>
                      <a:pt x="196" y="238"/>
                      <a:pt x="196" y="238"/>
                      <a:pt x="196" y="238"/>
                    </a:cubicBezTo>
                    <a:cubicBezTo>
                      <a:pt x="188" y="242"/>
                      <a:pt x="177" y="245"/>
                      <a:pt x="168" y="247"/>
                    </a:cubicBezTo>
                    <a:cubicBezTo>
                      <a:pt x="168" y="282"/>
                      <a:pt x="168" y="282"/>
                      <a:pt x="168" y="282"/>
                    </a:cubicBezTo>
                    <a:cubicBezTo>
                      <a:pt x="168" y="285"/>
                      <a:pt x="165" y="288"/>
                      <a:pt x="162" y="288"/>
                    </a:cubicBezTo>
                    <a:close/>
                    <a:moveTo>
                      <a:pt x="132" y="276"/>
                    </a:moveTo>
                    <a:cubicBezTo>
                      <a:pt x="156" y="276"/>
                      <a:pt x="156" y="276"/>
                      <a:pt x="156" y="276"/>
                    </a:cubicBezTo>
                    <a:cubicBezTo>
                      <a:pt x="156" y="243"/>
                      <a:pt x="156" y="243"/>
                      <a:pt x="156" y="243"/>
                    </a:cubicBezTo>
                    <a:cubicBezTo>
                      <a:pt x="156" y="240"/>
                      <a:pt x="158" y="238"/>
                      <a:pt x="160" y="237"/>
                    </a:cubicBezTo>
                    <a:cubicBezTo>
                      <a:pt x="167" y="235"/>
                      <a:pt x="185" y="231"/>
                      <a:pt x="194" y="226"/>
                    </a:cubicBezTo>
                    <a:cubicBezTo>
                      <a:pt x="196" y="224"/>
                      <a:pt x="199" y="224"/>
                      <a:pt x="201" y="226"/>
                    </a:cubicBezTo>
                    <a:cubicBezTo>
                      <a:pt x="224" y="250"/>
                      <a:pt x="224" y="250"/>
                      <a:pt x="224" y="250"/>
                    </a:cubicBezTo>
                    <a:cubicBezTo>
                      <a:pt x="250" y="224"/>
                      <a:pt x="250" y="224"/>
                      <a:pt x="250" y="224"/>
                    </a:cubicBezTo>
                    <a:cubicBezTo>
                      <a:pt x="227" y="201"/>
                      <a:pt x="227" y="201"/>
                      <a:pt x="227" y="201"/>
                    </a:cubicBezTo>
                    <a:cubicBezTo>
                      <a:pt x="225" y="199"/>
                      <a:pt x="224" y="196"/>
                      <a:pt x="226" y="194"/>
                    </a:cubicBezTo>
                    <a:cubicBezTo>
                      <a:pt x="231" y="185"/>
                      <a:pt x="235" y="167"/>
                      <a:pt x="237" y="160"/>
                    </a:cubicBezTo>
                    <a:cubicBezTo>
                      <a:pt x="238" y="158"/>
                      <a:pt x="240" y="156"/>
                      <a:pt x="243" y="156"/>
                    </a:cubicBezTo>
                    <a:cubicBezTo>
                      <a:pt x="276" y="156"/>
                      <a:pt x="276" y="156"/>
                      <a:pt x="276" y="156"/>
                    </a:cubicBezTo>
                    <a:cubicBezTo>
                      <a:pt x="276" y="132"/>
                      <a:pt x="276" y="132"/>
                      <a:pt x="276" y="132"/>
                    </a:cubicBezTo>
                    <a:cubicBezTo>
                      <a:pt x="243" y="132"/>
                      <a:pt x="243" y="132"/>
                      <a:pt x="243" y="132"/>
                    </a:cubicBezTo>
                    <a:cubicBezTo>
                      <a:pt x="240" y="132"/>
                      <a:pt x="238" y="130"/>
                      <a:pt x="237" y="127"/>
                    </a:cubicBezTo>
                    <a:cubicBezTo>
                      <a:pt x="235" y="120"/>
                      <a:pt x="231" y="103"/>
                      <a:pt x="226" y="94"/>
                    </a:cubicBezTo>
                    <a:cubicBezTo>
                      <a:pt x="224" y="91"/>
                      <a:pt x="225" y="88"/>
                      <a:pt x="227" y="86"/>
                    </a:cubicBezTo>
                    <a:cubicBezTo>
                      <a:pt x="250" y="63"/>
                      <a:pt x="250" y="63"/>
                      <a:pt x="250" y="63"/>
                    </a:cubicBezTo>
                    <a:cubicBezTo>
                      <a:pt x="224" y="38"/>
                      <a:pt x="224" y="38"/>
                      <a:pt x="224" y="38"/>
                    </a:cubicBezTo>
                    <a:cubicBezTo>
                      <a:pt x="201" y="61"/>
                      <a:pt x="201" y="61"/>
                      <a:pt x="201" y="61"/>
                    </a:cubicBezTo>
                    <a:cubicBezTo>
                      <a:pt x="199" y="63"/>
                      <a:pt x="196" y="63"/>
                      <a:pt x="194" y="62"/>
                    </a:cubicBezTo>
                    <a:cubicBezTo>
                      <a:pt x="186" y="57"/>
                      <a:pt x="171" y="53"/>
                      <a:pt x="160" y="50"/>
                    </a:cubicBezTo>
                    <a:cubicBezTo>
                      <a:pt x="158" y="50"/>
                      <a:pt x="156" y="47"/>
                      <a:pt x="156" y="45"/>
                    </a:cubicBezTo>
                    <a:cubicBezTo>
                      <a:pt x="156" y="12"/>
                      <a:pt x="156" y="12"/>
                      <a:pt x="156" y="12"/>
                    </a:cubicBezTo>
                    <a:cubicBezTo>
                      <a:pt x="132" y="12"/>
                      <a:pt x="132" y="12"/>
                      <a:pt x="132" y="12"/>
                    </a:cubicBezTo>
                    <a:cubicBezTo>
                      <a:pt x="132" y="45"/>
                      <a:pt x="132" y="45"/>
                      <a:pt x="132" y="45"/>
                    </a:cubicBezTo>
                    <a:cubicBezTo>
                      <a:pt x="132" y="47"/>
                      <a:pt x="130" y="50"/>
                      <a:pt x="127" y="50"/>
                    </a:cubicBezTo>
                    <a:cubicBezTo>
                      <a:pt x="117" y="53"/>
                      <a:pt x="102" y="57"/>
                      <a:pt x="94" y="62"/>
                    </a:cubicBezTo>
                    <a:cubicBezTo>
                      <a:pt x="92" y="63"/>
                      <a:pt x="89" y="63"/>
                      <a:pt x="87" y="61"/>
                    </a:cubicBezTo>
                    <a:cubicBezTo>
                      <a:pt x="63" y="38"/>
                      <a:pt x="63" y="38"/>
                      <a:pt x="63" y="38"/>
                    </a:cubicBezTo>
                    <a:cubicBezTo>
                      <a:pt x="38" y="63"/>
                      <a:pt x="38" y="63"/>
                      <a:pt x="38" y="63"/>
                    </a:cubicBezTo>
                    <a:cubicBezTo>
                      <a:pt x="61" y="86"/>
                      <a:pt x="61" y="86"/>
                      <a:pt x="61" y="86"/>
                    </a:cubicBezTo>
                    <a:cubicBezTo>
                      <a:pt x="63" y="88"/>
                      <a:pt x="63" y="91"/>
                      <a:pt x="62" y="94"/>
                    </a:cubicBezTo>
                    <a:cubicBezTo>
                      <a:pt x="57" y="103"/>
                      <a:pt x="52" y="120"/>
                      <a:pt x="51" y="127"/>
                    </a:cubicBezTo>
                    <a:cubicBezTo>
                      <a:pt x="50" y="130"/>
                      <a:pt x="48" y="132"/>
                      <a:pt x="45" y="132"/>
                    </a:cubicBezTo>
                    <a:cubicBezTo>
                      <a:pt x="12" y="132"/>
                      <a:pt x="12" y="132"/>
                      <a:pt x="12" y="132"/>
                    </a:cubicBezTo>
                    <a:cubicBezTo>
                      <a:pt x="12" y="156"/>
                      <a:pt x="12" y="156"/>
                      <a:pt x="12" y="156"/>
                    </a:cubicBezTo>
                    <a:cubicBezTo>
                      <a:pt x="45" y="156"/>
                      <a:pt x="45" y="156"/>
                      <a:pt x="45" y="156"/>
                    </a:cubicBezTo>
                    <a:cubicBezTo>
                      <a:pt x="48" y="156"/>
                      <a:pt x="50" y="158"/>
                      <a:pt x="51" y="160"/>
                    </a:cubicBezTo>
                    <a:cubicBezTo>
                      <a:pt x="52" y="167"/>
                      <a:pt x="57" y="185"/>
                      <a:pt x="62" y="194"/>
                    </a:cubicBezTo>
                    <a:cubicBezTo>
                      <a:pt x="63" y="196"/>
                      <a:pt x="63" y="199"/>
                      <a:pt x="61" y="201"/>
                    </a:cubicBezTo>
                    <a:cubicBezTo>
                      <a:pt x="38" y="224"/>
                      <a:pt x="38" y="224"/>
                      <a:pt x="38" y="224"/>
                    </a:cubicBezTo>
                    <a:cubicBezTo>
                      <a:pt x="63" y="250"/>
                      <a:pt x="63" y="250"/>
                      <a:pt x="63" y="250"/>
                    </a:cubicBezTo>
                    <a:cubicBezTo>
                      <a:pt x="87" y="226"/>
                      <a:pt x="87" y="226"/>
                      <a:pt x="87" y="226"/>
                    </a:cubicBezTo>
                    <a:cubicBezTo>
                      <a:pt x="88" y="224"/>
                      <a:pt x="92" y="224"/>
                      <a:pt x="94" y="226"/>
                    </a:cubicBezTo>
                    <a:cubicBezTo>
                      <a:pt x="103" y="231"/>
                      <a:pt x="121" y="235"/>
                      <a:pt x="127" y="237"/>
                    </a:cubicBezTo>
                    <a:cubicBezTo>
                      <a:pt x="130" y="238"/>
                      <a:pt x="132" y="240"/>
                      <a:pt x="132" y="243"/>
                    </a:cubicBezTo>
                    <a:lnTo>
                      <a:pt x="132" y="27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57" name="Freeform 69">
                <a:extLst>
                  <a:ext uri="{FF2B5EF4-FFF2-40B4-BE49-F238E27FC236}">
                    <a16:creationId xmlns:a16="http://schemas.microsoft.com/office/drawing/2014/main" id="{18153F75-2224-D47F-0262-3E118A56BA99}"/>
                  </a:ext>
                </a:extLst>
              </p:cNvPr>
              <p:cNvSpPr>
                <a:spLocks noEditPoints="1"/>
              </p:cNvSpPr>
              <p:nvPr/>
            </p:nvSpPr>
            <p:spPr bwMode="auto">
              <a:xfrm>
                <a:off x="1454" y="1819"/>
                <a:ext cx="231" cy="230"/>
              </a:xfrm>
              <a:custGeom>
                <a:avLst/>
                <a:gdLst>
                  <a:gd name="T0" fmla="*/ 78 w 156"/>
                  <a:gd name="T1" fmla="*/ 156 h 156"/>
                  <a:gd name="T2" fmla="*/ 0 w 156"/>
                  <a:gd name="T3" fmla="*/ 78 h 156"/>
                  <a:gd name="T4" fmla="*/ 78 w 156"/>
                  <a:gd name="T5" fmla="*/ 0 h 156"/>
                  <a:gd name="T6" fmla="*/ 156 w 156"/>
                  <a:gd name="T7" fmla="*/ 78 h 156"/>
                  <a:gd name="T8" fmla="*/ 78 w 156"/>
                  <a:gd name="T9" fmla="*/ 156 h 156"/>
                  <a:gd name="T10" fmla="*/ 78 w 156"/>
                  <a:gd name="T11" fmla="*/ 12 h 156"/>
                  <a:gd name="T12" fmla="*/ 12 w 156"/>
                  <a:gd name="T13" fmla="*/ 78 h 156"/>
                  <a:gd name="T14" fmla="*/ 78 w 156"/>
                  <a:gd name="T15" fmla="*/ 144 h 156"/>
                  <a:gd name="T16" fmla="*/ 144 w 156"/>
                  <a:gd name="T17" fmla="*/ 78 h 156"/>
                  <a:gd name="T18" fmla="*/ 78 w 156"/>
                  <a:gd name="T19" fmla="*/ 12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6" h="156">
                    <a:moveTo>
                      <a:pt x="78" y="156"/>
                    </a:moveTo>
                    <a:cubicBezTo>
                      <a:pt x="35" y="156"/>
                      <a:pt x="0" y="121"/>
                      <a:pt x="0" y="78"/>
                    </a:cubicBezTo>
                    <a:cubicBezTo>
                      <a:pt x="0" y="35"/>
                      <a:pt x="35" y="0"/>
                      <a:pt x="78" y="0"/>
                    </a:cubicBezTo>
                    <a:cubicBezTo>
                      <a:pt x="121" y="0"/>
                      <a:pt x="156" y="35"/>
                      <a:pt x="156" y="78"/>
                    </a:cubicBezTo>
                    <a:cubicBezTo>
                      <a:pt x="156" y="121"/>
                      <a:pt x="121" y="156"/>
                      <a:pt x="78" y="156"/>
                    </a:cubicBezTo>
                    <a:close/>
                    <a:moveTo>
                      <a:pt x="78" y="12"/>
                    </a:moveTo>
                    <a:cubicBezTo>
                      <a:pt x="41" y="12"/>
                      <a:pt x="12" y="41"/>
                      <a:pt x="12" y="78"/>
                    </a:cubicBezTo>
                    <a:cubicBezTo>
                      <a:pt x="12" y="114"/>
                      <a:pt x="41" y="144"/>
                      <a:pt x="78" y="144"/>
                    </a:cubicBezTo>
                    <a:cubicBezTo>
                      <a:pt x="114" y="144"/>
                      <a:pt x="144" y="114"/>
                      <a:pt x="144" y="78"/>
                    </a:cubicBezTo>
                    <a:cubicBezTo>
                      <a:pt x="144" y="41"/>
                      <a:pt x="114" y="12"/>
                      <a:pt x="7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58" name="Freeform 70">
                <a:extLst>
                  <a:ext uri="{FF2B5EF4-FFF2-40B4-BE49-F238E27FC236}">
                    <a16:creationId xmlns:a16="http://schemas.microsoft.com/office/drawing/2014/main" id="{8F5DDCCE-575A-ED01-1C8B-83109CD3194B}"/>
                  </a:ext>
                </a:extLst>
              </p:cNvPr>
              <p:cNvSpPr>
                <a:spLocks noEditPoints="1"/>
              </p:cNvSpPr>
              <p:nvPr/>
            </p:nvSpPr>
            <p:spPr bwMode="auto">
              <a:xfrm>
                <a:off x="1534" y="1872"/>
                <a:ext cx="98" cy="124"/>
              </a:xfrm>
              <a:custGeom>
                <a:avLst/>
                <a:gdLst>
                  <a:gd name="T0" fmla="*/ 6 w 66"/>
                  <a:gd name="T1" fmla="*/ 84 h 84"/>
                  <a:gd name="T2" fmla="*/ 3 w 66"/>
                  <a:gd name="T3" fmla="*/ 83 h 84"/>
                  <a:gd name="T4" fmla="*/ 0 w 66"/>
                  <a:gd name="T5" fmla="*/ 78 h 84"/>
                  <a:gd name="T6" fmla="*/ 0 w 66"/>
                  <a:gd name="T7" fmla="*/ 6 h 84"/>
                  <a:gd name="T8" fmla="*/ 3 w 66"/>
                  <a:gd name="T9" fmla="*/ 1 h 84"/>
                  <a:gd name="T10" fmla="*/ 9 w 66"/>
                  <a:gd name="T11" fmla="*/ 1 h 84"/>
                  <a:gd name="T12" fmla="*/ 63 w 66"/>
                  <a:gd name="T13" fmla="*/ 37 h 84"/>
                  <a:gd name="T14" fmla="*/ 66 w 66"/>
                  <a:gd name="T15" fmla="*/ 42 h 84"/>
                  <a:gd name="T16" fmla="*/ 63 w 66"/>
                  <a:gd name="T17" fmla="*/ 47 h 84"/>
                  <a:gd name="T18" fmla="*/ 9 w 66"/>
                  <a:gd name="T19" fmla="*/ 83 h 84"/>
                  <a:gd name="T20" fmla="*/ 6 w 66"/>
                  <a:gd name="T21" fmla="*/ 84 h 84"/>
                  <a:gd name="T22" fmla="*/ 12 w 66"/>
                  <a:gd name="T23" fmla="*/ 17 h 84"/>
                  <a:gd name="T24" fmla="*/ 12 w 66"/>
                  <a:gd name="T25" fmla="*/ 66 h 84"/>
                  <a:gd name="T26" fmla="*/ 49 w 66"/>
                  <a:gd name="T27" fmla="*/ 42 h 84"/>
                  <a:gd name="T28" fmla="*/ 12 w 66"/>
                  <a:gd name="T29" fmla="*/ 17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6" h="84">
                    <a:moveTo>
                      <a:pt x="6" y="84"/>
                    </a:moveTo>
                    <a:cubicBezTo>
                      <a:pt x="5" y="84"/>
                      <a:pt x="4" y="83"/>
                      <a:pt x="3" y="83"/>
                    </a:cubicBezTo>
                    <a:cubicBezTo>
                      <a:pt x="1" y="82"/>
                      <a:pt x="0" y="80"/>
                      <a:pt x="0" y="78"/>
                    </a:cubicBezTo>
                    <a:cubicBezTo>
                      <a:pt x="0" y="6"/>
                      <a:pt x="0" y="6"/>
                      <a:pt x="0" y="6"/>
                    </a:cubicBezTo>
                    <a:cubicBezTo>
                      <a:pt x="0" y="4"/>
                      <a:pt x="1" y="2"/>
                      <a:pt x="3" y="1"/>
                    </a:cubicBezTo>
                    <a:cubicBezTo>
                      <a:pt x="5" y="0"/>
                      <a:pt x="7" y="0"/>
                      <a:pt x="9" y="1"/>
                    </a:cubicBezTo>
                    <a:cubicBezTo>
                      <a:pt x="63" y="37"/>
                      <a:pt x="63" y="37"/>
                      <a:pt x="63" y="37"/>
                    </a:cubicBezTo>
                    <a:cubicBezTo>
                      <a:pt x="65" y="38"/>
                      <a:pt x="66" y="40"/>
                      <a:pt x="66" y="42"/>
                    </a:cubicBezTo>
                    <a:cubicBezTo>
                      <a:pt x="66" y="44"/>
                      <a:pt x="65" y="46"/>
                      <a:pt x="63" y="47"/>
                    </a:cubicBezTo>
                    <a:cubicBezTo>
                      <a:pt x="9" y="83"/>
                      <a:pt x="9" y="83"/>
                      <a:pt x="9" y="83"/>
                    </a:cubicBezTo>
                    <a:cubicBezTo>
                      <a:pt x="8" y="83"/>
                      <a:pt x="7" y="84"/>
                      <a:pt x="6" y="84"/>
                    </a:cubicBezTo>
                    <a:close/>
                    <a:moveTo>
                      <a:pt x="12" y="17"/>
                    </a:moveTo>
                    <a:cubicBezTo>
                      <a:pt x="12" y="66"/>
                      <a:pt x="12" y="66"/>
                      <a:pt x="12" y="66"/>
                    </a:cubicBezTo>
                    <a:cubicBezTo>
                      <a:pt x="49" y="42"/>
                      <a:pt x="49" y="42"/>
                      <a:pt x="49" y="42"/>
                    </a:cubicBezTo>
                    <a:lnTo>
                      <a:pt x="12" y="1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grpSp>
      </p:grpSp>
      <p:grpSp>
        <p:nvGrpSpPr>
          <p:cNvPr id="13" name="Group 12">
            <a:extLst>
              <a:ext uri="{FF2B5EF4-FFF2-40B4-BE49-F238E27FC236}">
                <a16:creationId xmlns:a16="http://schemas.microsoft.com/office/drawing/2014/main" id="{C677F2AC-B57F-820E-8523-665C1757F549}"/>
              </a:ext>
            </a:extLst>
          </p:cNvPr>
          <p:cNvGrpSpPr/>
          <p:nvPr/>
        </p:nvGrpSpPr>
        <p:grpSpPr>
          <a:xfrm>
            <a:off x="381000" y="2838763"/>
            <a:ext cx="2388481" cy="1581473"/>
            <a:chOff x="381001" y="1022926"/>
            <a:chExt cx="2388481" cy="1581473"/>
          </a:xfrm>
        </p:grpSpPr>
        <p:grpSp>
          <p:nvGrpSpPr>
            <p:cNvPr id="14" name="Group 13">
              <a:extLst>
                <a:ext uri="{FF2B5EF4-FFF2-40B4-BE49-F238E27FC236}">
                  <a16:creationId xmlns:a16="http://schemas.microsoft.com/office/drawing/2014/main" id="{1CE519EA-AA26-6B71-508A-2ED2F2ED984C}"/>
                </a:ext>
              </a:extLst>
            </p:cNvPr>
            <p:cNvGrpSpPr/>
            <p:nvPr/>
          </p:nvGrpSpPr>
          <p:grpSpPr>
            <a:xfrm>
              <a:off x="381001" y="1022926"/>
              <a:ext cx="2388481" cy="1581473"/>
              <a:chOff x="596766" y="1022926"/>
              <a:chExt cx="2388481" cy="1581473"/>
            </a:xfrm>
          </p:grpSpPr>
          <p:sp>
            <p:nvSpPr>
              <p:cNvPr id="34" name="Rectangle: Rounded Corners 33">
                <a:extLst>
                  <a:ext uri="{FF2B5EF4-FFF2-40B4-BE49-F238E27FC236}">
                    <a16:creationId xmlns:a16="http://schemas.microsoft.com/office/drawing/2014/main" id="{1C5E35BA-9844-62E6-6EDA-1818DB070209}"/>
                  </a:ext>
                </a:extLst>
              </p:cNvPr>
              <p:cNvSpPr/>
              <p:nvPr/>
            </p:nvSpPr>
            <p:spPr>
              <a:xfrm>
                <a:off x="596766" y="1022926"/>
                <a:ext cx="2388481" cy="1581473"/>
              </a:xfrm>
              <a:prstGeom prst="roundRect">
                <a:avLst>
                  <a:gd name="adj" fmla="val 8731"/>
                </a:avLst>
              </a:prstGeom>
              <a:solidFill>
                <a:srgbClr val="FFFFFF"/>
              </a:solidFill>
              <a:ln w="12700" cap="flat" cmpd="sng" algn="ctr">
                <a:solidFill>
                  <a:srgbClr val="96968C"/>
                </a:solidFill>
                <a:prstDash val="solid"/>
                <a:miter lim="800000"/>
              </a:ln>
              <a:effectLst/>
            </p:spPr>
            <p:txBody>
              <a:bodyPr tIns="0" bIns="9144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1" i="0" u="none" strike="noStrike" kern="0" cap="none" spc="0" normalizeH="0" baseline="0" noProof="0">
                    <a:ln>
                      <a:noFill/>
                    </a:ln>
                    <a:solidFill>
                      <a:srgbClr val="FFFFFF">
                        <a:lumMod val="65000"/>
                      </a:srgbClr>
                    </a:solidFill>
                    <a:effectLst/>
                    <a:uLnTx/>
                    <a:uFillTx/>
                    <a:latin typeface="Graphik Semibold" panose="020B0703030202060203" pitchFamily="34" charset="0"/>
                    <a:ea typeface="+mn-ea"/>
                    <a:cs typeface="+mn-cs"/>
                  </a:rPr>
                  <a:t>Arquitectura interoperable</a:t>
                </a:r>
              </a:p>
            </p:txBody>
          </p:sp>
          <p:pic>
            <p:nvPicPr>
              <p:cNvPr id="35" name="Graphic 34" descr="Esquema de piezas del puzzle">
                <a:extLst>
                  <a:ext uri="{FF2B5EF4-FFF2-40B4-BE49-F238E27FC236}">
                    <a16:creationId xmlns:a16="http://schemas.microsoft.com/office/drawing/2014/main" id="{82EDBA50-25C6-70CB-9BFA-3588970DC83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95164" y="1042277"/>
                <a:ext cx="193632" cy="193632"/>
              </a:xfrm>
              <a:prstGeom prst="rect">
                <a:avLst/>
              </a:prstGeom>
            </p:spPr>
          </p:pic>
        </p:grpSp>
        <p:sp>
          <p:nvSpPr>
            <p:cNvPr id="15" name="Rectangle: Rounded Corners 14">
              <a:extLst>
                <a:ext uri="{FF2B5EF4-FFF2-40B4-BE49-F238E27FC236}">
                  <a16:creationId xmlns:a16="http://schemas.microsoft.com/office/drawing/2014/main" id="{57854E20-6FFA-8406-42CF-A9DB577B31CC}"/>
                </a:ext>
              </a:extLst>
            </p:cNvPr>
            <p:cNvSpPr/>
            <p:nvPr/>
          </p:nvSpPr>
          <p:spPr>
            <a:xfrm>
              <a:off x="743613" y="1245038"/>
              <a:ext cx="1841349" cy="176627"/>
            </a:xfrm>
            <a:prstGeom prst="roundRect">
              <a:avLst/>
            </a:prstGeom>
            <a:solidFill>
              <a:srgbClr val="FFFFFF">
                <a:lumMod val="75000"/>
              </a:srgbClr>
            </a:solidFill>
            <a:ln w="12700" cap="flat" cmpd="sng" algn="ctr">
              <a:noFill/>
              <a:prstDash val="solid"/>
              <a:miter lim="800000"/>
            </a:ln>
            <a:effectLst/>
          </p:spPr>
          <p:txBody>
            <a:bodyPr lIns="0" tIns="91440" rIns="0" bIns="91440" rtlCol="0" anchor="ctr"/>
            <a:lstStyle/>
            <a:p>
              <a:pPr algn="ctr"/>
              <a:r>
                <a:rPr lang="es" sz="800" b="1" kern="0">
                  <a:solidFill>
                    <a:srgbClr val="FFFFFF"/>
                  </a:solidFill>
                  <a:latin typeface="Graphik Semibold" panose="020B0703030202060203" pitchFamily="34" charset="0"/>
                </a:rPr>
                <a:t>Desacoplamiento</a:t>
              </a:r>
            </a:p>
          </p:txBody>
        </p:sp>
        <p:sp>
          <p:nvSpPr>
            <p:cNvPr id="17" name="Rectangle: Rounded Corners 16">
              <a:extLst>
                <a:ext uri="{FF2B5EF4-FFF2-40B4-BE49-F238E27FC236}">
                  <a16:creationId xmlns:a16="http://schemas.microsoft.com/office/drawing/2014/main" id="{E285E510-2B18-A661-0375-A7BC2990E827}"/>
                </a:ext>
              </a:extLst>
            </p:cNvPr>
            <p:cNvSpPr/>
            <p:nvPr/>
          </p:nvSpPr>
          <p:spPr>
            <a:xfrm>
              <a:off x="743613" y="1443305"/>
              <a:ext cx="1841349" cy="176627"/>
            </a:xfrm>
            <a:prstGeom prst="roundRect">
              <a:avLst/>
            </a:prstGeom>
            <a:solidFill>
              <a:srgbClr val="FFFFFF">
                <a:lumMod val="75000"/>
              </a:srgbClr>
            </a:solidFill>
            <a:ln w="12700" cap="flat" cmpd="sng" algn="ctr">
              <a:noFill/>
              <a:prstDash val="solid"/>
              <a:miter lim="800000"/>
            </a:ln>
            <a:effectLst/>
          </p:spPr>
          <p:txBody>
            <a:bodyPr lIns="0" tIns="91440" rIns="0" bIns="91440" rtlCol="0" anchor="ctr"/>
            <a:lstStyle/>
            <a:p>
              <a:pPr algn="ctr"/>
              <a:r>
                <a:rPr lang="es" sz="800" b="1" kern="0">
                  <a:solidFill>
                    <a:srgbClr val="FFFFFF"/>
                  </a:solidFill>
                  <a:latin typeface="Graphik Semibold" panose="020B0703030202060203" pitchFamily="34" charset="0"/>
                </a:rPr>
                <a:t>Integración</a:t>
              </a:r>
            </a:p>
          </p:txBody>
        </p:sp>
        <p:sp>
          <p:nvSpPr>
            <p:cNvPr id="18" name="Rectangle: Rounded Corners 17">
              <a:extLst>
                <a:ext uri="{FF2B5EF4-FFF2-40B4-BE49-F238E27FC236}">
                  <a16:creationId xmlns:a16="http://schemas.microsoft.com/office/drawing/2014/main" id="{679610F1-FB18-D8FD-61B3-7C576620BAB6}"/>
                </a:ext>
              </a:extLst>
            </p:cNvPr>
            <p:cNvSpPr/>
            <p:nvPr/>
          </p:nvSpPr>
          <p:spPr>
            <a:xfrm>
              <a:off x="743613" y="1882322"/>
              <a:ext cx="1841349" cy="296889"/>
            </a:xfrm>
            <a:prstGeom prst="roundRect">
              <a:avLst/>
            </a:prstGeom>
            <a:solidFill>
              <a:srgbClr val="FFFFFF">
                <a:lumMod val="75000"/>
              </a:srgbClr>
            </a:solidFill>
            <a:ln w="12700" cap="flat" cmpd="sng" algn="ctr">
              <a:noFill/>
              <a:prstDash val="solid"/>
              <a:miter lim="800000"/>
            </a:ln>
            <a:effectLst/>
          </p:spPr>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1" i="0" u="none" strike="noStrike" kern="0" cap="none" spc="0" normalizeH="0" baseline="0" noProof="0">
                  <a:ln>
                    <a:noFill/>
                  </a:ln>
                  <a:solidFill>
                    <a:srgbClr val="FFFFFF"/>
                  </a:solidFill>
                  <a:effectLst/>
                  <a:uLnTx/>
                  <a:uFillTx/>
                  <a:latin typeface="Graphik Semibold" panose="020B0703030202060203" pitchFamily="34" charset="0"/>
                  <a:ea typeface="+mn-ea"/>
                  <a:cs typeface="+mn-cs"/>
                </a:rPr>
                <a:t>Coexistencia</a:t>
              </a:r>
            </a:p>
          </p:txBody>
        </p:sp>
        <p:sp>
          <p:nvSpPr>
            <p:cNvPr id="19" name="Rectangle: Rounded Corners 18">
              <a:extLst>
                <a:ext uri="{FF2B5EF4-FFF2-40B4-BE49-F238E27FC236}">
                  <a16:creationId xmlns:a16="http://schemas.microsoft.com/office/drawing/2014/main" id="{3199FE28-57C8-F35B-9D9B-40E149905BEE}"/>
                </a:ext>
              </a:extLst>
            </p:cNvPr>
            <p:cNvSpPr/>
            <p:nvPr/>
          </p:nvSpPr>
          <p:spPr>
            <a:xfrm>
              <a:off x="743613" y="1661714"/>
              <a:ext cx="1841349" cy="176627"/>
            </a:xfrm>
            <a:prstGeom prst="roundRect">
              <a:avLst/>
            </a:prstGeom>
            <a:solidFill>
              <a:srgbClr val="FFFFFF">
                <a:lumMod val="75000"/>
              </a:srgbClr>
            </a:solidFill>
            <a:ln w="12700" cap="flat" cmpd="sng" algn="ctr">
              <a:noFill/>
              <a:prstDash val="solid"/>
              <a:miter lim="800000"/>
            </a:ln>
            <a:effectLst/>
          </p:spPr>
          <p:txBody>
            <a:bodyPr lIns="0" tIns="91440" rIns="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1" i="0" u="none" strike="noStrike" kern="0" cap="none" spc="0" normalizeH="0" baseline="0" noProof="0" dirty="0">
                  <a:ln>
                    <a:noFill/>
                  </a:ln>
                  <a:solidFill>
                    <a:srgbClr val="FFFFFF"/>
                  </a:solidFill>
                  <a:effectLst/>
                  <a:uLnTx/>
                  <a:uFillTx/>
                  <a:latin typeface="Graphik Semibold" panose="020B0703030202060203" pitchFamily="34" charset="0"/>
                  <a:ea typeface="+mn-ea"/>
                  <a:cs typeface="+mn-cs"/>
                </a:rPr>
                <a:t>Coreografía y Orquia</a:t>
              </a:r>
            </a:p>
          </p:txBody>
        </p:sp>
        <p:sp>
          <p:nvSpPr>
            <p:cNvPr id="20" name="Rectangle: Rounded Corners 19">
              <a:extLst>
                <a:ext uri="{FF2B5EF4-FFF2-40B4-BE49-F238E27FC236}">
                  <a16:creationId xmlns:a16="http://schemas.microsoft.com/office/drawing/2014/main" id="{511324C2-33CF-51B5-408A-B8BC7D1FD68D}"/>
                </a:ext>
              </a:extLst>
            </p:cNvPr>
            <p:cNvSpPr/>
            <p:nvPr/>
          </p:nvSpPr>
          <p:spPr>
            <a:xfrm>
              <a:off x="743613" y="2223192"/>
              <a:ext cx="1841349" cy="312235"/>
            </a:xfrm>
            <a:prstGeom prst="roundRect">
              <a:avLst/>
            </a:prstGeom>
            <a:solidFill>
              <a:srgbClr val="580090"/>
            </a:solidFill>
            <a:ln w="12700" cap="flat" cmpd="sng" algn="ctr">
              <a:noFill/>
              <a:prstDash val="solid"/>
              <a:miter lim="800000"/>
            </a:ln>
            <a:effectLst/>
          </p:spPr>
          <p:txBody>
            <a:bodyPr tIns="91440" bIns="91440" rtlCol="0" anchor="ctr"/>
            <a:lstStyle/>
            <a:p>
              <a:pPr algn="ctr"/>
              <a:r>
                <a:rPr lang="es" sz="800" b="1" kern="0">
                  <a:solidFill>
                    <a:srgbClr val="FFFFFF"/>
                  </a:solidFill>
                  <a:latin typeface="Graphik Semibold" panose="020B0703030202060203" pitchFamily="34" charset="0"/>
                </a:rPr>
                <a:t>Microservicios</a:t>
              </a:r>
            </a:p>
          </p:txBody>
        </p:sp>
        <p:sp>
          <p:nvSpPr>
            <p:cNvPr id="21" name="Rectangle: Rounded Corners 20">
              <a:extLst>
                <a:ext uri="{FF2B5EF4-FFF2-40B4-BE49-F238E27FC236}">
                  <a16:creationId xmlns:a16="http://schemas.microsoft.com/office/drawing/2014/main" id="{A1118B9D-C6A9-61E6-1F44-92F6731DDE02}"/>
                </a:ext>
              </a:extLst>
            </p:cNvPr>
            <p:cNvSpPr/>
            <p:nvPr/>
          </p:nvSpPr>
          <p:spPr>
            <a:xfrm rot="16200000">
              <a:off x="-37801" y="1797017"/>
              <a:ext cx="1275043" cy="206945"/>
            </a:xfrm>
            <a:prstGeom prst="roundRect">
              <a:avLst/>
            </a:prstGeom>
            <a:solidFill>
              <a:srgbClr val="FFFFFF">
                <a:lumMod val="75000"/>
              </a:srgbClr>
            </a:solidFill>
            <a:ln w="12700" cap="flat" cmpd="sng" algn="ctr">
              <a:noFill/>
              <a:prstDash val="solid"/>
              <a:miter lim="800000"/>
            </a:ln>
            <a:effectLst/>
          </p:spPr>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1" i="0" u="none" strike="noStrike" kern="0" cap="none" spc="0" normalizeH="0" baseline="0" noProof="0">
                  <a:ln>
                    <a:noFill/>
                  </a:ln>
                  <a:solidFill>
                    <a:srgbClr val="FFFFFF"/>
                  </a:solidFill>
                  <a:effectLst/>
                  <a:uLnTx/>
                  <a:uFillTx/>
                  <a:latin typeface="Graphik Semibold" panose="020B0703030202060203" pitchFamily="34" charset="0"/>
                  <a:ea typeface="+mn-ea"/>
                  <a:cs typeface="+mn-cs"/>
                </a:rPr>
                <a:t>Servicios Empresariales Principales (Backbone)</a:t>
              </a:r>
            </a:p>
          </p:txBody>
        </p:sp>
        <p:grpSp>
          <p:nvGrpSpPr>
            <p:cNvPr id="22" name="Group 48">
              <a:extLst>
                <a:ext uri="{FF2B5EF4-FFF2-40B4-BE49-F238E27FC236}">
                  <a16:creationId xmlns:a16="http://schemas.microsoft.com/office/drawing/2014/main" id="{1B3C4B56-33CA-66EB-D034-D2F13F4F05AA}"/>
                </a:ext>
              </a:extLst>
            </p:cNvPr>
            <p:cNvGrpSpPr>
              <a:grpSpLocks noChangeAspect="1"/>
            </p:cNvGrpSpPr>
            <p:nvPr/>
          </p:nvGrpSpPr>
          <p:grpSpPr bwMode="auto">
            <a:xfrm>
              <a:off x="867921" y="1302739"/>
              <a:ext cx="108414" cy="88314"/>
              <a:chOff x="3427" y="474"/>
              <a:chExt cx="428" cy="356"/>
            </a:xfrm>
            <a:solidFill>
              <a:srgbClr val="FFFFFF"/>
            </a:solidFill>
          </p:grpSpPr>
          <p:sp>
            <p:nvSpPr>
              <p:cNvPr id="30" name="Freeform 49">
                <a:extLst>
                  <a:ext uri="{FF2B5EF4-FFF2-40B4-BE49-F238E27FC236}">
                    <a16:creationId xmlns:a16="http://schemas.microsoft.com/office/drawing/2014/main" id="{B2FEBB2F-01E7-F2B9-0DD9-9C975E419297}"/>
                  </a:ext>
                </a:extLst>
              </p:cNvPr>
              <p:cNvSpPr>
                <a:spLocks/>
              </p:cNvSpPr>
              <p:nvPr/>
            </p:nvSpPr>
            <p:spPr bwMode="auto">
              <a:xfrm>
                <a:off x="3427" y="615"/>
                <a:ext cx="428" cy="108"/>
              </a:xfrm>
              <a:custGeom>
                <a:avLst/>
                <a:gdLst>
                  <a:gd name="T0" fmla="*/ 144 w 289"/>
                  <a:gd name="T1" fmla="*/ 73 h 73"/>
                  <a:gd name="T2" fmla="*/ 142 w 289"/>
                  <a:gd name="T3" fmla="*/ 73 h 73"/>
                  <a:gd name="T4" fmla="*/ 4 w 289"/>
                  <a:gd name="T5" fmla="*/ 13 h 73"/>
                  <a:gd name="T6" fmla="*/ 1 w 289"/>
                  <a:gd name="T7" fmla="*/ 5 h 73"/>
                  <a:gd name="T8" fmla="*/ 9 w 289"/>
                  <a:gd name="T9" fmla="*/ 2 h 73"/>
                  <a:gd name="T10" fmla="*/ 144 w 289"/>
                  <a:gd name="T11" fmla="*/ 61 h 73"/>
                  <a:gd name="T12" fmla="*/ 280 w 289"/>
                  <a:gd name="T13" fmla="*/ 2 h 73"/>
                  <a:gd name="T14" fmla="*/ 288 w 289"/>
                  <a:gd name="T15" fmla="*/ 5 h 73"/>
                  <a:gd name="T16" fmla="*/ 285 w 289"/>
                  <a:gd name="T17" fmla="*/ 13 h 73"/>
                  <a:gd name="T18" fmla="*/ 147 w 289"/>
                  <a:gd name="T19" fmla="*/ 73 h 73"/>
                  <a:gd name="T20" fmla="*/ 144 w 289"/>
                  <a:gd name="T21" fmla="*/ 73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9" h="73">
                    <a:moveTo>
                      <a:pt x="144" y="73"/>
                    </a:moveTo>
                    <a:cubicBezTo>
                      <a:pt x="144" y="73"/>
                      <a:pt x="143" y="73"/>
                      <a:pt x="142" y="73"/>
                    </a:cubicBezTo>
                    <a:cubicBezTo>
                      <a:pt x="4" y="13"/>
                      <a:pt x="4" y="13"/>
                      <a:pt x="4" y="13"/>
                    </a:cubicBezTo>
                    <a:cubicBezTo>
                      <a:pt x="1" y="11"/>
                      <a:pt x="0" y="8"/>
                      <a:pt x="1" y="5"/>
                    </a:cubicBezTo>
                    <a:cubicBezTo>
                      <a:pt x="2" y="2"/>
                      <a:pt x="6" y="0"/>
                      <a:pt x="9" y="2"/>
                    </a:cubicBezTo>
                    <a:cubicBezTo>
                      <a:pt x="144" y="61"/>
                      <a:pt x="144" y="61"/>
                      <a:pt x="144" y="61"/>
                    </a:cubicBezTo>
                    <a:cubicBezTo>
                      <a:pt x="280" y="2"/>
                      <a:pt x="280" y="2"/>
                      <a:pt x="280" y="2"/>
                    </a:cubicBezTo>
                    <a:cubicBezTo>
                      <a:pt x="283" y="0"/>
                      <a:pt x="287" y="2"/>
                      <a:pt x="288" y="5"/>
                    </a:cubicBezTo>
                    <a:cubicBezTo>
                      <a:pt x="289" y="8"/>
                      <a:pt x="288" y="11"/>
                      <a:pt x="285" y="13"/>
                    </a:cubicBezTo>
                    <a:cubicBezTo>
                      <a:pt x="147" y="73"/>
                      <a:pt x="147" y="73"/>
                      <a:pt x="147" y="73"/>
                    </a:cubicBezTo>
                    <a:cubicBezTo>
                      <a:pt x="146" y="73"/>
                      <a:pt x="145" y="73"/>
                      <a:pt x="144"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31" name="Freeform 50">
                <a:extLst>
                  <a:ext uri="{FF2B5EF4-FFF2-40B4-BE49-F238E27FC236}">
                    <a16:creationId xmlns:a16="http://schemas.microsoft.com/office/drawing/2014/main" id="{28EE2852-BC87-4130-A103-7934B371A172}"/>
                  </a:ext>
                </a:extLst>
              </p:cNvPr>
              <p:cNvSpPr>
                <a:spLocks/>
              </p:cNvSpPr>
              <p:nvPr/>
            </p:nvSpPr>
            <p:spPr bwMode="auto">
              <a:xfrm>
                <a:off x="3427" y="668"/>
                <a:ext cx="428" cy="108"/>
              </a:xfrm>
              <a:custGeom>
                <a:avLst/>
                <a:gdLst>
                  <a:gd name="T0" fmla="*/ 144 w 289"/>
                  <a:gd name="T1" fmla="*/ 73 h 73"/>
                  <a:gd name="T2" fmla="*/ 142 w 289"/>
                  <a:gd name="T3" fmla="*/ 73 h 73"/>
                  <a:gd name="T4" fmla="*/ 4 w 289"/>
                  <a:gd name="T5" fmla="*/ 13 h 73"/>
                  <a:gd name="T6" fmla="*/ 1 w 289"/>
                  <a:gd name="T7" fmla="*/ 5 h 73"/>
                  <a:gd name="T8" fmla="*/ 9 w 289"/>
                  <a:gd name="T9" fmla="*/ 2 h 73"/>
                  <a:gd name="T10" fmla="*/ 144 w 289"/>
                  <a:gd name="T11" fmla="*/ 61 h 73"/>
                  <a:gd name="T12" fmla="*/ 280 w 289"/>
                  <a:gd name="T13" fmla="*/ 2 h 73"/>
                  <a:gd name="T14" fmla="*/ 288 w 289"/>
                  <a:gd name="T15" fmla="*/ 5 h 73"/>
                  <a:gd name="T16" fmla="*/ 285 w 289"/>
                  <a:gd name="T17" fmla="*/ 13 h 73"/>
                  <a:gd name="T18" fmla="*/ 147 w 289"/>
                  <a:gd name="T19" fmla="*/ 73 h 73"/>
                  <a:gd name="T20" fmla="*/ 144 w 289"/>
                  <a:gd name="T21" fmla="*/ 73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9" h="73">
                    <a:moveTo>
                      <a:pt x="144" y="73"/>
                    </a:moveTo>
                    <a:cubicBezTo>
                      <a:pt x="144" y="73"/>
                      <a:pt x="143" y="73"/>
                      <a:pt x="142" y="73"/>
                    </a:cubicBezTo>
                    <a:cubicBezTo>
                      <a:pt x="4" y="13"/>
                      <a:pt x="4" y="13"/>
                      <a:pt x="4" y="13"/>
                    </a:cubicBezTo>
                    <a:cubicBezTo>
                      <a:pt x="1" y="11"/>
                      <a:pt x="0" y="8"/>
                      <a:pt x="1" y="5"/>
                    </a:cubicBezTo>
                    <a:cubicBezTo>
                      <a:pt x="2" y="2"/>
                      <a:pt x="6" y="0"/>
                      <a:pt x="9" y="2"/>
                    </a:cubicBezTo>
                    <a:cubicBezTo>
                      <a:pt x="144" y="61"/>
                      <a:pt x="144" y="61"/>
                      <a:pt x="144" y="61"/>
                    </a:cubicBezTo>
                    <a:cubicBezTo>
                      <a:pt x="280" y="2"/>
                      <a:pt x="280" y="2"/>
                      <a:pt x="280" y="2"/>
                    </a:cubicBezTo>
                    <a:cubicBezTo>
                      <a:pt x="283" y="0"/>
                      <a:pt x="287" y="2"/>
                      <a:pt x="288" y="5"/>
                    </a:cubicBezTo>
                    <a:cubicBezTo>
                      <a:pt x="289" y="8"/>
                      <a:pt x="288" y="11"/>
                      <a:pt x="285" y="13"/>
                    </a:cubicBezTo>
                    <a:cubicBezTo>
                      <a:pt x="147" y="73"/>
                      <a:pt x="147" y="73"/>
                      <a:pt x="147" y="73"/>
                    </a:cubicBezTo>
                    <a:cubicBezTo>
                      <a:pt x="146" y="73"/>
                      <a:pt x="145" y="73"/>
                      <a:pt x="144"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32" name="Freeform 51">
                <a:extLst>
                  <a:ext uri="{FF2B5EF4-FFF2-40B4-BE49-F238E27FC236}">
                    <a16:creationId xmlns:a16="http://schemas.microsoft.com/office/drawing/2014/main" id="{1DC2B608-3D2D-950D-6AD2-6F69A2A3DC3C}"/>
                  </a:ext>
                </a:extLst>
              </p:cNvPr>
              <p:cNvSpPr>
                <a:spLocks/>
              </p:cNvSpPr>
              <p:nvPr/>
            </p:nvSpPr>
            <p:spPr bwMode="auto">
              <a:xfrm>
                <a:off x="3427" y="722"/>
                <a:ext cx="428" cy="108"/>
              </a:xfrm>
              <a:custGeom>
                <a:avLst/>
                <a:gdLst>
                  <a:gd name="T0" fmla="*/ 144 w 289"/>
                  <a:gd name="T1" fmla="*/ 73 h 73"/>
                  <a:gd name="T2" fmla="*/ 142 w 289"/>
                  <a:gd name="T3" fmla="*/ 73 h 73"/>
                  <a:gd name="T4" fmla="*/ 4 w 289"/>
                  <a:gd name="T5" fmla="*/ 13 h 73"/>
                  <a:gd name="T6" fmla="*/ 1 w 289"/>
                  <a:gd name="T7" fmla="*/ 5 h 73"/>
                  <a:gd name="T8" fmla="*/ 9 w 289"/>
                  <a:gd name="T9" fmla="*/ 2 h 73"/>
                  <a:gd name="T10" fmla="*/ 144 w 289"/>
                  <a:gd name="T11" fmla="*/ 61 h 73"/>
                  <a:gd name="T12" fmla="*/ 280 w 289"/>
                  <a:gd name="T13" fmla="*/ 2 h 73"/>
                  <a:gd name="T14" fmla="*/ 288 w 289"/>
                  <a:gd name="T15" fmla="*/ 5 h 73"/>
                  <a:gd name="T16" fmla="*/ 285 w 289"/>
                  <a:gd name="T17" fmla="*/ 13 h 73"/>
                  <a:gd name="T18" fmla="*/ 147 w 289"/>
                  <a:gd name="T19" fmla="*/ 73 h 73"/>
                  <a:gd name="T20" fmla="*/ 144 w 289"/>
                  <a:gd name="T21" fmla="*/ 73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9" h="73">
                    <a:moveTo>
                      <a:pt x="144" y="73"/>
                    </a:moveTo>
                    <a:cubicBezTo>
                      <a:pt x="144" y="73"/>
                      <a:pt x="143" y="73"/>
                      <a:pt x="142" y="73"/>
                    </a:cubicBezTo>
                    <a:cubicBezTo>
                      <a:pt x="4" y="13"/>
                      <a:pt x="4" y="13"/>
                      <a:pt x="4" y="13"/>
                    </a:cubicBezTo>
                    <a:cubicBezTo>
                      <a:pt x="1" y="11"/>
                      <a:pt x="0" y="8"/>
                      <a:pt x="1" y="5"/>
                    </a:cubicBezTo>
                    <a:cubicBezTo>
                      <a:pt x="2" y="2"/>
                      <a:pt x="6" y="0"/>
                      <a:pt x="9" y="2"/>
                    </a:cubicBezTo>
                    <a:cubicBezTo>
                      <a:pt x="144" y="61"/>
                      <a:pt x="144" y="61"/>
                      <a:pt x="144" y="61"/>
                    </a:cubicBezTo>
                    <a:cubicBezTo>
                      <a:pt x="280" y="2"/>
                      <a:pt x="280" y="2"/>
                      <a:pt x="280" y="2"/>
                    </a:cubicBezTo>
                    <a:cubicBezTo>
                      <a:pt x="283" y="0"/>
                      <a:pt x="287" y="2"/>
                      <a:pt x="288" y="5"/>
                    </a:cubicBezTo>
                    <a:cubicBezTo>
                      <a:pt x="289" y="8"/>
                      <a:pt x="288" y="11"/>
                      <a:pt x="285" y="13"/>
                    </a:cubicBezTo>
                    <a:cubicBezTo>
                      <a:pt x="147" y="73"/>
                      <a:pt x="147" y="73"/>
                      <a:pt x="147" y="73"/>
                    </a:cubicBezTo>
                    <a:cubicBezTo>
                      <a:pt x="146" y="73"/>
                      <a:pt x="145" y="73"/>
                      <a:pt x="144"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33" name="Freeform 52">
                <a:extLst>
                  <a:ext uri="{FF2B5EF4-FFF2-40B4-BE49-F238E27FC236}">
                    <a16:creationId xmlns:a16="http://schemas.microsoft.com/office/drawing/2014/main" id="{7406101A-66B7-174B-C318-582898D59EB8}"/>
                  </a:ext>
                </a:extLst>
              </p:cNvPr>
              <p:cNvSpPr>
                <a:spLocks noEditPoints="1"/>
              </p:cNvSpPr>
              <p:nvPr/>
            </p:nvSpPr>
            <p:spPr bwMode="auto">
              <a:xfrm>
                <a:off x="3427" y="474"/>
                <a:ext cx="426" cy="196"/>
              </a:xfrm>
              <a:custGeom>
                <a:avLst/>
                <a:gdLst>
                  <a:gd name="T0" fmla="*/ 144 w 288"/>
                  <a:gd name="T1" fmla="*/ 132 h 132"/>
                  <a:gd name="T2" fmla="*/ 142 w 288"/>
                  <a:gd name="T3" fmla="*/ 132 h 132"/>
                  <a:gd name="T4" fmla="*/ 4 w 288"/>
                  <a:gd name="T5" fmla="*/ 72 h 132"/>
                  <a:gd name="T6" fmla="*/ 0 w 288"/>
                  <a:gd name="T7" fmla="*/ 66 h 132"/>
                  <a:gd name="T8" fmla="*/ 4 w 288"/>
                  <a:gd name="T9" fmla="*/ 61 h 132"/>
                  <a:gd name="T10" fmla="*/ 142 w 288"/>
                  <a:gd name="T11" fmla="*/ 1 h 132"/>
                  <a:gd name="T12" fmla="*/ 147 w 288"/>
                  <a:gd name="T13" fmla="*/ 1 h 132"/>
                  <a:gd name="T14" fmla="*/ 285 w 288"/>
                  <a:gd name="T15" fmla="*/ 61 h 132"/>
                  <a:gd name="T16" fmla="*/ 288 w 288"/>
                  <a:gd name="T17" fmla="*/ 66 h 132"/>
                  <a:gd name="T18" fmla="*/ 285 w 288"/>
                  <a:gd name="T19" fmla="*/ 72 h 132"/>
                  <a:gd name="T20" fmla="*/ 147 w 288"/>
                  <a:gd name="T21" fmla="*/ 132 h 132"/>
                  <a:gd name="T22" fmla="*/ 144 w 288"/>
                  <a:gd name="T23" fmla="*/ 132 h 132"/>
                  <a:gd name="T24" fmla="*/ 21 w 288"/>
                  <a:gd name="T25" fmla="*/ 66 h 132"/>
                  <a:gd name="T26" fmla="*/ 144 w 288"/>
                  <a:gd name="T27" fmla="*/ 120 h 132"/>
                  <a:gd name="T28" fmla="*/ 267 w 288"/>
                  <a:gd name="T29" fmla="*/ 66 h 132"/>
                  <a:gd name="T30" fmla="*/ 144 w 288"/>
                  <a:gd name="T31" fmla="*/ 13 h 132"/>
                  <a:gd name="T32" fmla="*/ 21 w 288"/>
                  <a:gd name="T33" fmla="*/ 66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88" h="132">
                    <a:moveTo>
                      <a:pt x="144" y="132"/>
                    </a:moveTo>
                    <a:cubicBezTo>
                      <a:pt x="144" y="132"/>
                      <a:pt x="143" y="132"/>
                      <a:pt x="142" y="132"/>
                    </a:cubicBezTo>
                    <a:cubicBezTo>
                      <a:pt x="4" y="72"/>
                      <a:pt x="4" y="72"/>
                      <a:pt x="4" y="72"/>
                    </a:cubicBezTo>
                    <a:cubicBezTo>
                      <a:pt x="2" y="71"/>
                      <a:pt x="0" y="69"/>
                      <a:pt x="0" y="66"/>
                    </a:cubicBezTo>
                    <a:cubicBezTo>
                      <a:pt x="0" y="64"/>
                      <a:pt x="2" y="62"/>
                      <a:pt x="4" y="61"/>
                    </a:cubicBezTo>
                    <a:cubicBezTo>
                      <a:pt x="142" y="1"/>
                      <a:pt x="142" y="1"/>
                      <a:pt x="142" y="1"/>
                    </a:cubicBezTo>
                    <a:cubicBezTo>
                      <a:pt x="144" y="0"/>
                      <a:pt x="145" y="0"/>
                      <a:pt x="147" y="1"/>
                    </a:cubicBezTo>
                    <a:cubicBezTo>
                      <a:pt x="285" y="61"/>
                      <a:pt x="285" y="61"/>
                      <a:pt x="285" y="61"/>
                    </a:cubicBezTo>
                    <a:cubicBezTo>
                      <a:pt x="287" y="62"/>
                      <a:pt x="288" y="64"/>
                      <a:pt x="288" y="66"/>
                    </a:cubicBezTo>
                    <a:cubicBezTo>
                      <a:pt x="288" y="69"/>
                      <a:pt x="287" y="71"/>
                      <a:pt x="285" y="72"/>
                    </a:cubicBezTo>
                    <a:cubicBezTo>
                      <a:pt x="147" y="132"/>
                      <a:pt x="147" y="132"/>
                      <a:pt x="147" y="132"/>
                    </a:cubicBezTo>
                    <a:cubicBezTo>
                      <a:pt x="146" y="132"/>
                      <a:pt x="145" y="132"/>
                      <a:pt x="144" y="132"/>
                    </a:cubicBezTo>
                    <a:close/>
                    <a:moveTo>
                      <a:pt x="21" y="66"/>
                    </a:moveTo>
                    <a:cubicBezTo>
                      <a:pt x="144" y="120"/>
                      <a:pt x="144" y="120"/>
                      <a:pt x="144" y="120"/>
                    </a:cubicBezTo>
                    <a:cubicBezTo>
                      <a:pt x="267" y="66"/>
                      <a:pt x="267" y="66"/>
                      <a:pt x="267" y="66"/>
                    </a:cubicBezTo>
                    <a:cubicBezTo>
                      <a:pt x="144" y="13"/>
                      <a:pt x="144" y="13"/>
                      <a:pt x="144" y="13"/>
                    </a:cubicBezTo>
                    <a:lnTo>
                      <a:pt x="21" y="6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grpSp>
        <p:pic>
          <p:nvPicPr>
            <p:cNvPr id="23" name="Graphic 22" descr="Red">
              <a:extLst>
                <a:ext uri="{FF2B5EF4-FFF2-40B4-BE49-F238E27FC236}">
                  <a16:creationId xmlns:a16="http://schemas.microsoft.com/office/drawing/2014/main" id="{8820CEF9-0995-5CEA-7C35-2551F462DE7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64733" y="1471077"/>
              <a:ext cx="123639" cy="123639"/>
            </a:xfrm>
            <a:prstGeom prst="rect">
              <a:avLst/>
            </a:prstGeom>
          </p:spPr>
        </p:pic>
        <p:sp>
          <p:nvSpPr>
            <p:cNvPr id="24" name="Freeform 147">
              <a:extLst>
                <a:ext uri="{FF2B5EF4-FFF2-40B4-BE49-F238E27FC236}">
                  <a16:creationId xmlns:a16="http://schemas.microsoft.com/office/drawing/2014/main" id="{4389EA00-E630-38F6-0A88-E708FD089AFC}"/>
                </a:ext>
              </a:extLst>
            </p:cNvPr>
            <p:cNvSpPr>
              <a:spLocks noEditPoints="1"/>
            </p:cNvSpPr>
            <p:nvPr/>
          </p:nvSpPr>
          <p:spPr bwMode="auto">
            <a:xfrm>
              <a:off x="832652" y="2331389"/>
              <a:ext cx="198386" cy="105976"/>
            </a:xfrm>
            <a:custGeom>
              <a:avLst/>
              <a:gdLst>
                <a:gd name="T0" fmla="*/ 54 w 288"/>
                <a:gd name="T1" fmla="*/ 180 h 180"/>
                <a:gd name="T2" fmla="*/ 14 w 288"/>
                <a:gd name="T3" fmla="*/ 164 h 180"/>
                <a:gd name="T4" fmla="*/ 0 w 288"/>
                <a:gd name="T5" fmla="*/ 129 h 180"/>
                <a:gd name="T6" fmla="*/ 19 w 288"/>
                <a:gd name="T7" fmla="*/ 89 h 180"/>
                <a:gd name="T8" fmla="*/ 55 w 288"/>
                <a:gd name="T9" fmla="*/ 78 h 180"/>
                <a:gd name="T10" fmla="*/ 144 w 288"/>
                <a:gd name="T11" fmla="*/ 0 h 180"/>
                <a:gd name="T12" fmla="*/ 224 w 288"/>
                <a:gd name="T13" fmla="*/ 48 h 180"/>
                <a:gd name="T14" fmla="*/ 268 w 288"/>
                <a:gd name="T15" fmla="*/ 66 h 180"/>
                <a:gd name="T16" fmla="*/ 288 w 288"/>
                <a:gd name="T17" fmla="*/ 114 h 180"/>
                <a:gd name="T18" fmla="*/ 229 w 288"/>
                <a:gd name="T19" fmla="*/ 180 h 180"/>
                <a:gd name="T20" fmla="*/ 228 w 288"/>
                <a:gd name="T21" fmla="*/ 180 h 180"/>
                <a:gd name="T22" fmla="*/ 54 w 288"/>
                <a:gd name="T23" fmla="*/ 180 h 180"/>
                <a:gd name="T24" fmla="*/ 54 w 288"/>
                <a:gd name="T25" fmla="*/ 180 h 180"/>
                <a:gd name="T26" fmla="*/ 51 w 288"/>
                <a:gd name="T27" fmla="*/ 90 h 180"/>
                <a:gd name="T28" fmla="*/ 27 w 288"/>
                <a:gd name="T29" fmla="*/ 99 h 180"/>
                <a:gd name="T30" fmla="*/ 12 w 288"/>
                <a:gd name="T31" fmla="*/ 129 h 180"/>
                <a:gd name="T32" fmla="*/ 22 w 288"/>
                <a:gd name="T33" fmla="*/ 156 h 180"/>
                <a:gd name="T34" fmla="*/ 54 w 288"/>
                <a:gd name="T35" fmla="*/ 168 h 180"/>
                <a:gd name="T36" fmla="*/ 54 w 288"/>
                <a:gd name="T37" fmla="*/ 168 h 180"/>
                <a:gd name="T38" fmla="*/ 228 w 288"/>
                <a:gd name="T39" fmla="*/ 168 h 180"/>
                <a:gd name="T40" fmla="*/ 276 w 288"/>
                <a:gd name="T41" fmla="*/ 114 h 180"/>
                <a:gd name="T42" fmla="*/ 260 w 288"/>
                <a:gd name="T43" fmla="*/ 75 h 180"/>
                <a:gd name="T44" fmla="*/ 220 w 288"/>
                <a:gd name="T45" fmla="*/ 60 h 180"/>
                <a:gd name="T46" fmla="*/ 215 w 288"/>
                <a:gd name="T47" fmla="*/ 57 h 180"/>
                <a:gd name="T48" fmla="*/ 144 w 288"/>
                <a:gd name="T49" fmla="*/ 12 h 180"/>
                <a:gd name="T50" fmla="*/ 66 w 288"/>
                <a:gd name="T51" fmla="*/ 85 h 180"/>
                <a:gd name="T52" fmla="*/ 64 w 288"/>
                <a:gd name="T53" fmla="*/ 90 h 180"/>
                <a:gd name="T54" fmla="*/ 59 w 288"/>
                <a:gd name="T55" fmla="*/ 91 h 180"/>
                <a:gd name="T56" fmla="*/ 51 w 288"/>
                <a:gd name="T57" fmla="*/ 90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88" h="180">
                  <a:moveTo>
                    <a:pt x="54" y="180"/>
                  </a:moveTo>
                  <a:cubicBezTo>
                    <a:pt x="51" y="180"/>
                    <a:pt x="29" y="179"/>
                    <a:pt x="14" y="164"/>
                  </a:cubicBezTo>
                  <a:cubicBezTo>
                    <a:pt x="5" y="156"/>
                    <a:pt x="0" y="144"/>
                    <a:pt x="0" y="129"/>
                  </a:cubicBezTo>
                  <a:cubicBezTo>
                    <a:pt x="0" y="113"/>
                    <a:pt x="7" y="99"/>
                    <a:pt x="19" y="89"/>
                  </a:cubicBezTo>
                  <a:cubicBezTo>
                    <a:pt x="29" y="81"/>
                    <a:pt x="42" y="77"/>
                    <a:pt x="55" y="78"/>
                  </a:cubicBezTo>
                  <a:cubicBezTo>
                    <a:pt x="61" y="34"/>
                    <a:pt x="99" y="0"/>
                    <a:pt x="144" y="0"/>
                  </a:cubicBezTo>
                  <a:cubicBezTo>
                    <a:pt x="177" y="0"/>
                    <a:pt x="208" y="19"/>
                    <a:pt x="224" y="48"/>
                  </a:cubicBezTo>
                  <a:cubicBezTo>
                    <a:pt x="240" y="48"/>
                    <a:pt x="256" y="55"/>
                    <a:pt x="268" y="66"/>
                  </a:cubicBezTo>
                  <a:cubicBezTo>
                    <a:pt x="281" y="79"/>
                    <a:pt x="288" y="96"/>
                    <a:pt x="288" y="114"/>
                  </a:cubicBezTo>
                  <a:cubicBezTo>
                    <a:pt x="288" y="171"/>
                    <a:pt x="230" y="180"/>
                    <a:pt x="229" y="180"/>
                  </a:cubicBezTo>
                  <a:cubicBezTo>
                    <a:pt x="229" y="180"/>
                    <a:pt x="228" y="180"/>
                    <a:pt x="228" y="180"/>
                  </a:cubicBezTo>
                  <a:cubicBezTo>
                    <a:pt x="54" y="180"/>
                    <a:pt x="54" y="180"/>
                    <a:pt x="54" y="180"/>
                  </a:cubicBezTo>
                  <a:cubicBezTo>
                    <a:pt x="54" y="180"/>
                    <a:pt x="54" y="180"/>
                    <a:pt x="54" y="180"/>
                  </a:cubicBezTo>
                  <a:close/>
                  <a:moveTo>
                    <a:pt x="51" y="90"/>
                  </a:moveTo>
                  <a:cubicBezTo>
                    <a:pt x="42" y="90"/>
                    <a:pt x="34" y="93"/>
                    <a:pt x="27" y="99"/>
                  </a:cubicBezTo>
                  <a:cubicBezTo>
                    <a:pt x="17" y="106"/>
                    <a:pt x="12" y="117"/>
                    <a:pt x="12" y="129"/>
                  </a:cubicBezTo>
                  <a:cubicBezTo>
                    <a:pt x="12" y="140"/>
                    <a:pt x="16" y="149"/>
                    <a:pt x="22" y="156"/>
                  </a:cubicBezTo>
                  <a:cubicBezTo>
                    <a:pt x="34" y="168"/>
                    <a:pt x="53" y="168"/>
                    <a:pt x="54" y="168"/>
                  </a:cubicBezTo>
                  <a:cubicBezTo>
                    <a:pt x="54" y="168"/>
                    <a:pt x="54" y="168"/>
                    <a:pt x="54" y="168"/>
                  </a:cubicBezTo>
                  <a:cubicBezTo>
                    <a:pt x="228" y="168"/>
                    <a:pt x="228" y="168"/>
                    <a:pt x="228" y="168"/>
                  </a:cubicBezTo>
                  <a:cubicBezTo>
                    <a:pt x="233" y="167"/>
                    <a:pt x="276" y="159"/>
                    <a:pt x="276" y="114"/>
                  </a:cubicBezTo>
                  <a:cubicBezTo>
                    <a:pt x="276" y="99"/>
                    <a:pt x="270" y="85"/>
                    <a:pt x="260" y="75"/>
                  </a:cubicBezTo>
                  <a:cubicBezTo>
                    <a:pt x="249" y="65"/>
                    <a:pt x="235" y="59"/>
                    <a:pt x="220" y="60"/>
                  </a:cubicBezTo>
                  <a:cubicBezTo>
                    <a:pt x="218" y="60"/>
                    <a:pt x="216" y="59"/>
                    <a:pt x="215" y="57"/>
                  </a:cubicBezTo>
                  <a:cubicBezTo>
                    <a:pt x="202" y="29"/>
                    <a:pt x="174" y="12"/>
                    <a:pt x="144" y="12"/>
                  </a:cubicBezTo>
                  <a:cubicBezTo>
                    <a:pt x="103" y="12"/>
                    <a:pt x="69" y="44"/>
                    <a:pt x="66" y="85"/>
                  </a:cubicBezTo>
                  <a:cubicBezTo>
                    <a:pt x="66" y="87"/>
                    <a:pt x="66" y="88"/>
                    <a:pt x="64" y="90"/>
                  </a:cubicBezTo>
                  <a:cubicBezTo>
                    <a:pt x="63" y="91"/>
                    <a:pt x="61" y="91"/>
                    <a:pt x="59" y="91"/>
                  </a:cubicBezTo>
                  <a:cubicBezTo>
                    <a:pt x="57" y="90"/>
                    <a:pt x="54" y="90"/>
                    <a:pt x="51" y="90"/>
                  </a:cubicBez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25" name="Freeform 5">
              <a:extLst>
                <a:ext uri="{FF2B5EF4-FFF2-40B4-BE49-F238E27FC236}">
                  <a16:creationId xmlns:a16="http://schemas.microsoft.com/office/drawing/2014/main" id="{B747D79A-7163-E246-9D1A-E7C807506E59}"/>
                </a:ext>
              </a:extLst>
            </p:cNvPr>
            <p:cNvSpPr>
              <a:spLocks noEditPoints="1"/>
            </p:cNvSpPr>
            <p:nvPr/>
          </p:nvSpPr>
          <p:spPr bwMode="auto">
            <a:xfrm>
              <a:off x="863430" y="1977778"/>
              <a:ext cx="126246" cy="123639"/>
            </a:xfrm>
            <a:custGeom>
              <a:avLst/>
              <a:gdLst>
                <a:gd name="T0" fmla="*/ 60 w 88"/>
                <a:gd name="T1" fmla="*/ 8 h 88"/>
                <a:gd name="T2" fmla="*/ 60 w 88"/>
                <a:gd name="T3" fmla="*/ 29 h 88"/>
                <a:gd name="T4" fmla="*/ 28 w 88"/>
                <a:gd name="T5" fmla="*/ 29 h 88"/>
                <a:gd name="T6" fmla="*/ 28 w 88"/>
                <a:gd name="T7" fmla="*/ 8 h 88"/>
                <a:gd name="T8" fmla="*/ 0 w 88"/>
                <a:gd name="T9" fmla="*/ 8 h 88"/>
                <a:gd name="T10" fmla="*/ 14 w 88"/>
                <a:gd name="T11" fmla="*/ 36 h 88"/>
                <a:gd name="T12" fmla="*/ 41 w 88"/>
                <a:gd name="T13" fmla="*/ 44 h 88"/>
                <a:gd name="T14" fmla="*/ 14 w 88"/>
                <a:gd name="T15" fmla="*/ 52 h 88"/>
                <a:gd name="T16" fmla="*/ 0 w 88"/>
                <a:gd name="T17" fmla="*/ 80 h 88"/>
                <a:gd name="T18" fmla="*/ 28 w 88"/>
                <a:gd name="T19" fmla="*/ 80 h 88"/>
                <a:gd name="T20" fmla="*/ 28 w 88"/>
                <a:gd name="T21" fmla="*/ 59 h 88"/>
                <a:gd name="T22" fmla="*/ 60 w 88"/>
                <a:gd name="T23" fmla="*/ 59 h 88"/>
                <a:gd name="T24" fmla="*/ 60 w 88"/>
                <a:gd name="T25" fmla="*/ 80 h 88"/>
                <a:gd name="T26" fmla="*/ 88 w 88"/>
                <a:gd name="T27" fmla="*/ 80 h 88"/>
                <a:gd name="T28" fmla="*/ 74 w 88"/>
                <a:gd name="T29" fmla="*/ 52 h 88"/>
                <a:gd name="T30" fmla="*/ 47 w 88"/>
                <a:gd name="T31" fmla="*/ 44 h 88"/>
                <a:gd name="T32" fmla="*/ 74 w 88"/>
                <a:gd name="T33" fmla="*/ 36 h 88"/>
                <a:gd name="T34" fmla="*/ 88 w 88"/>
                <a:gd name="T35" fmla="*/ 8 h 88"/>
                <a:gd name="T36" fmla="*/ 4 w 88"/>
                <a:gd name="T37" fmla="*/ 14 h 88"/>
                <a:gd name="T38" fmla="*/ 24 w 88"/>
                <a:gd name="T39" fmla="*/ 14 h 88"/>
                <a:gd name="T40" fmla="*/ 14 w 88"/>
                <a:gd name="T41" fmla="*/ 22 h 88"/>
                <a:gd name="T42" fmla="*/ 4 w 88"/>
                <a:gd name="T43" fmla="*/ 14 h 88"/>
                <a:gd name="T44" fmla="*/ 24 w 88"/>
                <a:gd name="T45" fmla="*/ 8 h 88"/>
                <a:gd name="T46" fmla="*/ 4 w 88"/>
                <a:gd name="T47" fmla="*/ 8 h 88"/>
                <a:gd name="T48" fmla="*/ 14 w 88"/>
                <a:gd name="T49" fmla="*/ 32 h 88"/>
                <a:gd name="T50" fmla="*/ 4 w 88"/>
                <a:gd name="T51" fmla="*/ 24 h 88"/>
                <a:gd name="T52" fmla="*/ 24 w 88"/>
                <a:gd name="T53" fmla="*/ 24 h 88"/>
                <a:gd name="T54" fmla="*/ 14 w 88"/>
                <a:gd name="T55" fmla="*/ 32 h 88"/>
                <a:gd name="T56" fmla="*/ 14 w 88"/>
                <a:gd name="T57" fmla="*/ 74 h 88"/>
                <a:gd name="T58" fmla="*/ 4 w 88"/>
                <a:gd name="T59" fmla="*/ 66 h 88"/>
                <a:gd name="T60" fmla="*/ 24 w 88"/>
                <a:gd name="T61" fmla="*/ 66 h 88"/>
                <a:gd name="T62" fmla="*/ 14 w 88"/>
                <a:gd name="T63" fmla="*/ 56 h 88"/>
                <a:gd name="T64" fmla="*/ 14 w 88"/>
                <a:gd name="T65" fmla="*/ 64 h 88"/>
                <a:gd name="T66" fmla="*/ 14 w 88"/>
                <a:gd name="T67" fmla="*/ 56 h 88"/>
                <a:gd name="T68" fmla="*/ 4 w 88"/>
                <a:gd name="T69" fmla="*/ 80 h 88"/>
                <a:gd name="T70" fmla="*/ 14 w 88"/>
                <a:gd name="T71" fmla="*/ 78 h 88"/>
                <a:gd name="T72" fmla="*/ 24 w 88"/>
                <a:gd name="T73" fmla="*/ 80 h 88"/>
                <a:gd name="T74" fmla="*/ 84 w 88"/>
                <a:gd name="T75" fmla="*/ 70 h 88"/>
                <a:gd name="T76" fmla="*/ 64 w 88"/>
                <a:gd name="T77" fmla="*/ 70 h 88"/>
                <a:gd name="T78" fmla="*/ 74 w 88"/>
                <a:gd name="T79" fmla="*/ 68 h 88"/>
                <a:gd name="T80" fmla="*/ 84 w 88"/>
                <a:gd name="T81" fmla="*/ 70 h 88"/>
                <a:gd name="T82" fmla="*/ 64 w 88"/>
                <a:gd name="T83" fmla="*/ 80 h 88"/>
                <a:gd name="T84" fmla="*/ 74 w 88"/>
                <a:gd name="T85" fmla="*/ 78 h 88"/>
                <a:gd name="T86" fmla="*/ 84 w 88"/>
                <a:gd name="T87" fmla="*/ 80 h 88"/>
                <a:gd name="T88" fmla="*/ 74 w 88"/>
                <a:gd name="T89" fmla="*/ 56 h 88"/>
                <a:gd name="T90" fmla="*/ 74 w 88"/>
                <a:gd name="T91" fmla="*/ 64 h 88"/>
                <a:gd name="T92" fmla="*/ 74 w 88"/>
                <a:gd name="T93" fmla="*/ 56 h 88"/>
                <a:gd name="T94" fmla="*/ 74 w 88"/>
                <a:gd name="T95" fmla="*/ 22 h 88"/>
                <a:gd name="T96" fmla="*/ 64 w 88"/>
                <a:gd name="T97" fmla="*/ 14 h 88"/>
                <a:gd name="T98" fmla="*/ 84 w 88"/>
                <a:gd name="T99" fmla="*/ 14 h 88"/>
                <a:gd name="T100" fmla="*/ 74 w 88"/>
                <a:gd name="T101" fmla="*/ 4 h 88"/>
                <a:gd name="T102" fmla="*/ 74 w 88"/>
                <a:gd name="T103" fmla="*/ 12 h 88"/>
                <a:gd name="T104" fmla="*/ 74 w 88"/>
                <a:gd name="T105" fmla="*/ 4 h 88"/>
                <a:gd name="T106" fmla="*/ 64 w 88"/>
                <a:gd name="T107" fmla="*/ 28 h 88"/>
                <a:gd name="T108" fmla="*/ 74 w 88"/>
                <a:gd name="T109" fmla="*/ 26 h 88"/>
                <a:gd name="T110" fmla="*/ 84 w 88"/>
                <a:gd name="T111" fmla="*/ 28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88" h="88">
                  <a:moveTo>
                    <a:pt x="74" y="0"/>
                  </a:moveTo>
                  <a:cubicBezTo>
                    <a:pt x="66" y="0"/>
                    <a:pt x="60" y="3"/>
                    <a:pt x="60" y="8"/>
                  </a:cubicBezTo>
                  <a:cubicBezTo>
                    <a:pt x="60" y="28"/>
                    <a:pt x="60" y="28"/>
                    <a:pt x="60" y="28"/>
                  </a:cubicBezTo>
                  <a:cubicBezTo>
                    <a:pt x="60" y="28"/>
                    <a:pt x="60" y="29"/>
                    <a:pt x="60" y="29"/>
                  </a:cubicBezTo>
                  <a:cubicBezTo>
                    <a:pt x="44" y="41"/>
                    <a:pt x="44" y="41"/>
                    <a:pt x="44" y="41"/>
                  </a:cubicBezTo>
                  <a:cubicBezTo>
                    <a:pt x="28" y="29"/>
                    <a:pt x="28" y="29"/>
                    <a:pt x="28" y="29"/>
                  </a:cubicBezTo>
                  <a:cubicBezTo>
                    <a:pt x="28" y="29"/>
                    <a:pt x="28" y="28"/>
                    <a:pt x="28" y="28"/>
                  </a:cubicBezTo>
                  <a:cubicBezTo>
                    <a:pt x="28" y="8"/>
                    <a:pt x="28" y="8"/>
                    <a:pt x="28" y="8"/>
                  </a:cubicBezTo>
                  <a:cubicBezTo>
                    <a:pt x="28" y="3"/>
                    <a:pt x="22" y="0"/>
                    <a:pt x="14" y="0"/>
                  </a:cubicBezTo>
                  <a:cubicBezTo>
                    <a:pt x="6" y="0"/>
                    <a:pt x="0" y="3"/>
                    <a:pt x="0" y="8"/>
                  </a:cubicBezTo>
                  <a:cubicBezTo>
                    <a:pt x="0" y="28"/>
                    <a:pt x="0" y="28"/>
                    <a:pt x="0" y="28"/>
                  </a:cubicBezTo>
                  <a:cubicBezTo>
                    <a:pt x="0" y="33"/>
                    <a:pt x="6" y="36"/>
                    <a:pt x="14" y="36"/>
                  </a:cubicBezTo>
                  <a:cubicBezTo>
                    <a:pt x="19" y="36"/>
                    <a:pt x="23" y="35"/>
                    <a:pt x="26" y="32"/>
                  </a:cubicBezTo>
                  <a:cubicBezTo>
                    <a:pt x="41" y="44"/>
                    <a:pt x="41" y="44"/>
                    <a:pt x="41" y="44"/>
                  </a:cubicBezTo>
                  <a:cubicBezTo>
                    <a:pt x="26" y="56"/>
                    <a:pt x="26" y="56"/>
                    <a:pt x="26" y="56"/>
                  </a:cubicBezTo>
                  <a:cubicBezTo>
                    <a:pt x="23" y="53"/>
                    <a:pt x="19" y="52"/>
                    <a:pt x="14" y="52"/>
                  </a:cubicBezTo>
                  <a:cubicBezTo>
                    <a:pt x="6" y="52"/>
                    <a:pt x="0" y="55"/>
                    <a:pt x="0" y="60"/>
                  </a:cubicBezTo>
                  <a:cubicBezTo>
                    <a:pt x="0" y="80"/>
                    <a:pt x="0" y="80"/>
                    <a:pt x="0" y="80"/>
                  </a:cubicBezTo>
                  <a:cubicBezTo>
                    <a:pt x="0" y="85"/>
                    <a:pt x="6" y="88"/>
                    <a:pt x="14" y="88"/>
                  </a:cubicBezTo>
                  <a:cubicBezTo>
                    <a:pt x="22" y="88"/>
                    <a:pt x="28" y="85"/>
                    <a:pt x="28" y="80"/>
                  </a:cubicBezTo>
                  <a:cubicBezTo>
                    <a:pt x="28" y="60"/>
                    <a:pt x="28" y="60"/>
                    <a:pt x="28" y="60"/>
                  </a:cubicBezTo>
                  <a:cubicBezTo>
                    <a:pt x="28" y="60"/>
                    <a:pt x="28" y="59"/>
                    <a:pt x="28" y="59"/>
                  </a:cubicBezTo>
                  <a:cubicBezTo>
                    <a:pt x="44" y="47"/>
                    <a:pt x="44" y="47"/>
                    <a:pt x="44" y="47"/>
                  </a:cubicBezTo>
                  <a:cubicBezTo>
                    <a:pt x="60" y="59"/>
                    <a:pt x="60" y="59"/>
                    <a:pt x="60" y="59"/>
                  </a:cubicBezTo>
                  <a:cubicBezTo>
                    <a:pt x="60" y="59"/>
                    <a:pt x="60" y="60"/>
                    <a:pt x="60" y="60"/>
                  </a:cubicBezTo>
                  <a:cubicBezTo>
                    <a:pt x="60" y="80"/>
                    <a:pt x="60" y="80"/>
                    <a:pt x="60" y="80"/>
                  </a:cubicBezTo>
                  <a:cubicBezTo>
                    <a:pt x="60" y="85"/>
                    <a:pt x="66" y="88"/>
                    <a:pt x="74" y="88"/>
                  </a:cubicBezTo>
                  <a:cubicBezTo>
                    <a:pt x="82" y="88"/>
                    <a:pt x="88" y="85"/>
                    <a:pt x="88" y="80"/>
                  </a:cubicBezTo>
                  <a:cubicBezTo>
                    <a:pt x="88" y="60"/>
                    <a:pt x="88" y="60"/>
                    <a:pt x="88" y="60"/>
                  </a:cubicBezTo>
                  <a:cubicBezTo>
                    <a:pt x="88" y="55"/>
                    <a:pt x="82" y="52"/>
                    <a:pt x="74" y="52"/>
                  </a:cubicBezTo>
                  <a:cubicBezTo>
                    <a:pt x="69" y="52"/>
                    <a:pt x="65" y="53"/>
                    <a:pt x="62" y="56"/>
                  </a:cubicBezTo>
                  <a:cubicBezTo>
                    <a:pt x="47" y="44"/>
                    <a:pt x="47" y="44"/>
                    <a:pt x="47" y="44"/>
                  </a:cubicBezTo>
                  <a:cubicBezTo>
                    <a:pt x="62" y="32"/>
                    <a:pt x="62" y="32"/>
                    <a:pt x="62" y="32"/>
                  </a:cubicBezTo>
                  <a:cubicBezTo>
                    <a:pt x="65" y="35"/>
                    <a:pt x="69" y="36"/>
                    <a:pt x="74" y="36"/>
                  </a:cubicBezTo>
                  <a:cubicBezTo>
                    <a:pt x="82" y="36"/>
                    <a:pt x="88" y="33"/>
                    <a:pt x="88" y="28"/>
                  </a:cubicBezTo>
                  <a:cubicBezTo>
                    <a:pt x="88" y="8"/>
                    <a:pt x="88" y="8"/>
                    <a:pt x="88" y="8"/>
                  </a:cubicBezTo>
                  <a:cubicBezTo>
                    <a:pt x="88" y="3"/>
                    <a:pt x="82" y="0"/>
                    <a:pt x="74" y="0"/>
                  </a:cubicBezTo>
                  <a:close/>
                  <a:moveTo>
                    <a:pt x="4" y="14"/>
                  </a:moveTo>
                  <a:cubicBezTo>
                    <a:pt x="7" y="15"/>
                    <a:pt x="10" y="16"/>
                    <a:pt x="14" y="16"/>
                  </a:cubicBezTo>
                  <a:cubicBezTo>
                    <a:pt x="18" y="16"/>
                    <a:pt x="21" y="15"/>
                    <a:pt x="24" y="14"/>
                  </a:cubicBezTo>
                  <a:cubicBezTo>
                    <a:pt x="24" y="18"/>
                    <a:pt x="24" y="18"/>
                    <a:pt x="24" y="18"/>
                  </a:cubicBezTo>
                  <a:cubicBezTo>
                    <a:pt x="24" y="20"/>
                    <a:pt x="20" y="22"/>
                    <a:pt x="14" y="22"/>
                  </a:cubicBezTo>
                  <a:cubicBezTo>
                    <a:pt x="8" y="22"/>
                    <a:pt x="4" y="20"/>
                    <a:pt x="4" y="18"/>
                  </a:cubicBezTo>
                  <a:lnTo>
                    <a:pt x="4" y="14"/>
                  </a:lnTo>
                  <a:close/>
                  <a:moveTo>
                    <a:pt x="14" y="4"/>
                  </a:moveTo>
                  <a:cubicBezTo>
                    <a:pt x="20" y="4"/>
                    <a:pt x="24" y="6"/>
                    <a:pt x="24" y="8"/>
                  </a:cubicBezTo>
                  <a:cubicBezTo>
                    <a:pt x="24" y="10"/>
                    <a:pt x="20" y="12"/>
                    <a:pt x="14" y="12"/>
                  </a:cubicBezTo>
                  <a:cubicBezTo>
                    <a:pt x="8" y="12"/>
                    <a:pt x="4" y="10"/>
                    <a:pt x="4" y="8"/>
                  </a:cubicBezTo>
                  <a:cubicBezTo>
                    <a:pt x="4" y="6"/>
                    <a:pt x="8" y="4"/>
                    <a:pt x="14" y="4"/>
                  </a:cubicBezTo>
                  <a:close/>
                  <a:moveTo>
                    <a:pt x="14" y="32"/>
                  </a:moveTo>
                  <a:cubicBezTo>
                    <a:pt x="8" y="32"/>
                    <a:pt x="4" y="30"/>
                    <a:pt x="4" y="28"/>
                  </a:cubicBezTo>
                  <a:cubicBezTo>
                    <a:pt x="4" y="24"/>
                    <a:pt x="4" y="24"/>
                    <a:pt x="4" y="24"/>
                  </a:cubicBezTo>
                  <a:cubicBezTo>
                    <a:pt x="7" y="25"/>
                    <a:pt x="10" y="26"/>
                    <a:pt x="14" y="26"/>
                  </a:cubicBezTo>
                  <a:cubicBezTo>
                    <a:pt x="18" y="26"/>
                    <a:pt x="21" y="25"/>
                    <a:pt x="24" y="24"/>
                  </a:cubicBezTo>
                  <a:cubicBezTo>
                    <a:pt x="24" y="28"/>
                    <a:pt x="24" y="28"/>
                    <a:pt x="24" y="28"/>
                  </a:cubicBezTo>
                  <a:cubicBezTo>
                    <a:pt x="24" y="30"/>
                    <a:pt x="20" y="32"/>
                    <a:pt x="14" y="32"/>
                  </a:cubicBezTo>
                  <a:close/>
                  <a:moveTo>
                    <a:pt x="24" y="70"/>
                  </a:moveTo>
                  <a:cubicBezTo>
                    <a:pt x="24" y="72"/>
                    <a:pt x="20" y="74"/>
                    <a:pt x="14" y="74"/>
                  </a:cubicBezTo>
                  <a:cubicBezTo>
                    <a:pt x="8" y="74"/>
                    <a:pt x="4" y="72"/>
                    <a:pt x="4" y="70"/>
                  </a:cubicBezTo>
                  <a:cubicBezTo>
                    <a:pt x="4" y="66"/>
                    <a:pt x="4" y="66"/>
                    <a:pt x="4" y="66"/>
                  </a:cubicBezTo>
                  <a:cubicBezTo>
                    <a:pt x="7" y="67"/>
                    <a:pt x="10" y="68"/>
                    <a:pt x="14" y="68"/>
                  </a:cubicBezTo>
                  <a:cubicBezTo>
                    <a:pt x="18" y="68"/>
                    <a:pt x="21" y="67"/>
                    <a:pt x="24" y="66"/>
                  </a:cubicBezTo>
                  <a:lnTo>
                    <a:pt x="24" y="70"/>
                  </a:lnTo>
                  <a:close/>
                  <a:moveTo>
                    <a:pt x="14" y="56"/>
                  </a:moveTo>
                  <a:cubicBezTo>
                    <a:pt x="20" y="56"/>
                    <a:pt x="24" y="58"/>
                    <a:pt x="24" y="60"/>
                  </a:cubicBezTo>
                  <a:cubicBezTo>
                    <a:pt x="24" y="62"/>
                    <a:pt x="20" y="64"/>
                    <a:pt x="14" y="64"/>
                  </a:cubicBezTo>
                  <a:cubicBezTo>
                    <a:pt x="8" y="64"/>
                    <a:pt x="4" y="62"/>
                    <a:pt x="4" y="60"/>
                  </a:cubicBezTo>
                  <a:cubicBezTo>
                    <a:pt x="4" y="58"/>
                    <a:pt x="8" y="56"/>
                    <a:pt x="14" y="56"/>
                  </a:cubicBezTo>
                  <a:close/>
                  <a:moveTo>
                    <a:pt x="14" y="84"/>
                  </a:moveTo>
                  <a:cubicBezTo>
                    <a:pt x="8" y="84"/>
                    <a:pt x="4" y="82"/>
                    <a:pt x="4" y="80"/>
                  </a:cubicBezTo>
                  <a:cubicBezTo>
                    <a:pt x="4" y="76"/>
                    <a:pt x="4" y="76"/>
                    <a:pt x="4" y="76"/>
                  </a:cubicBezTo>
                  <a:cubicBezTo>
                    <a:pt x="7" y="77"/>
                    <a:pt x="10" y="78"/>
                    <a:pt x="14" y="78"/>
                  </a:cubicBezTo>
                  <a:cubicBezTo>
                    <a:pt x="18" y="78"/>
                    <a:pt x="21" y="77"/>
                    <a:pt x="24" y="76"/>
                  </a:cubicBezTo>
                  <a:cubicBezTo>
                    <a:pt x="24" y="80"/>
                    <a:pt x="24" y="80"/>
                    <a:pt x="24" y="80"/>
                  </a:cubicBezTo>
                  <a:cubicBezTo>
                    <a:pt x="24" y="82"/>
                    <a:pt x="20" y="84"/>
                    <a:pt x="14" y="84"/>
                  </a:cubicBezTo>
                  <a:close/>
                  <a:moveTo>
                    <a:pt x="84" y="70"/>
                  </a:moveTo>
                  <a:cubicBezTo>
                    <a:pt x="84" y="72"/>
                    <a:pt x="80" y="74"/>
                    <a:pt x="74" y="74"/>
                  </a:cubicBezTo>
                  <a:cubicBezTo>
                    <a:pt x="68" y="74"/>
                    <a:pt x="64" y="72"/>
                    <a:pt x="64" y="70"/>
                  </a:cubicBezTo>
                  <a:cubicBezTo>
                    <a:pt x="64" y="66"/>
                    <a:pt x="64" y="66"/>
                    <a:pt x="64" y="66"/>
                  </a:cubicBezTo>
                  <a:cubicBezTo>
                    <a:pt x="67" y="67"/>
                    <a:pt x="70" y="68"/>
                    <a:pt x="74" y="68"/>
                  </a:cubicBezTo>
                  <a:cubicBezTo>
                    <a:pt x="78" y="68"/>
                    <a:pt x="81" y="67"/>
                    <a:pt x="84" y="66"/>
                  </a:cubicBezTo>
                  <a:lnTo>
                    <a:pt x="84" y="70"/>
                  </a:lnTo>
                  <a:close/>
                  <a:moveTo>
                    <a:pt x="74" y="84"/>
                  </a:moveTo>
                  <a:cubicBezTo>
                    <a:pt x="68" y="84"/>
                    <a:pt x="64" y="82"/>
                    <a:pt x="64" y="80"/>
                  </a:cubicBezTo>
                  <a:cubicBezTo>
                    <a:pt x="64" y="76"/>
                    <a:pt x="64" y="76"/>
                    <a:pt x="64" y="76"/>
                  </a:cubicBezTo>
                  <a:cubicBezTo>
                    <a:pt x="67" y="77"/>
                    <a:pt x="70" y="78"/>
                    <a:pt x="74" y="78"/>
                  </a:cubicBezTo>
                  <a:cubicBezTo>
                    <a:pt x="78" y="78"/>
                    <a:pt x="81" y="77"/>
                    <a:pt x="84" y="76"/>
                  </a:cubicBezTo>
                  <a:cubicBezTo>
                    <a:pt x="84" y="80"/>
                    <a:pt x="84" y="80"/>
                    <a:pt x="84" y="80"/>
                  </a:cubicBezTo>
                  <a:cubicBezTo>
                    <a:pt x="84" y="82"/>
                    <a:pt x="80" y="84"/>
                    <a:pt x="74" y="84"/>
                  </a:cubicBezTo>
                  <a:close/>
                  <a:moveTo>
                    <a:pt x="74" y="56"/>
                  </a:moveTo>
                  <a:cubicBezTo>
                    <a:pt x="80" y="56"/>
                    <a:pt x="84" y="58"/>
                    <a:pt x="84" y="60"/>
                  </a:cubicBezTo>
                  <a:cubicBezTo>
                    <a:pt x="84" y="62"/>
                    <a:pt x="80" y="64"/>
                    <a:pt x="74" y="64"/>
                  </a:cubicBezTo>
                  <a:cubicBezTo>
                    <a:pt x="68" y="64"/>
                    <a:pt x="64" y="62"/>
                    <a:pt x="64" y="60"/>
                  </a:cubicBezTo>
                  <a:cubicBezTo>
                    <a:pt x="64" y="58"/>
                    <a:pt x="68" y="56"/>
                    <a:pt x="74" y="56"/>
                  </a:cubicBezTo>
                  <a:close/>
                  <a:moveTo>
                    <a:pt x="84" y="18"/>
                  </a:moveTo>
                  <a:cubicBezTo>
                    <a:pt x="84" y="20"/>
                    <a:pt x="80" y="22"/>
                    <a:pt x="74" y="22"/>
                  </a:cubicBezTo>
                  <a:cubicBezTo>
                    <a:pt x="68" y="22"/>
                    <a:pt x="64" y="20"/>
                    <a:pt x="64" y="18"/>
                  </a:cubicBezTo>
                  <a:cubicBezTo>
                    <a:pt x="64" y="14"/>
                    <a:pt x="64" y="14"/>
                    <a:pt x="64" y="14"/>
                  </a:cubicBezTo>
                  <a:cubicBezTo>
                    <a:pt x="67" y="15"/>
                    <a:pt x="70" y="16"/>
                    <a:pt x="74" y="16"/>
                  </a:cubicBezTo>
                  <a:cubicBezTo>
                    <a:pt x="78" y="16"/>
                    <a:pt x="81" y="15"/>
                    <a:pt x="84" y="14"/>
                  </a:cubicBezTo>
                  <a:lnTo>
                    <a:pt x="84" y="18"/>
                  </a:lnTo>
                  <a:close/>
                  <a:moveTo>
                    <a:pt x="74" y="4"/>
                  </a:moveTo>
                  <a:cubicBezTo>
                    <a:pt x="80" y="4"/>
                    <a:pt x="84" y="6"/>
                    <a:pt x="84" y="8"/>
                  </a:cubicBezTo>
                  <a:cubicBezTo>
                    <a:pt x="84" y="10"/>
                    <a:pt x="80" y="12"/>
                    <a:pt x="74" y="12"/>
                  </a:cubicBezTo>
                  <a:cubicBezTo>
                    <a:pt x="68" y="12"/>
                    <a:pt x="64" y="10"/>
                    <a:pt x="64" y="8"/>
                  </a:cubicBezTo>
                  <a:cubicBezTo>
                    <a:pt x="64" y="6"/>
                    <a:pt x="68" y="4"/>
                    <a:pt x="74" y="4"/>
                  </a:cubicBezTo>
                  <a:close/>
                  <a:moveTo>
                    <a:pt x="74" y="32"/>
                  </a:moveTo>
                  <a:cubicBezTo>
                    <a:pt x="68" y="32"/>
                    <a:pt x="64" y="30"/>
                    <a:pt x="64" y="28"/>
                  </a:cubicBezTo>
                  <a:cubicBezTo>
                    <a:pt x="64" y="24"/>
                    <a:pt x="64" y="24"/>
                    <a:pt x="64" y="24"/>
                  </a:cubicBezTo>
                  <a:cubicBezTo>
                    <a:pt x="67" y="25"/>
                    <a:pt x="70" y="26"/>
                    <a:pt x="74" y="26"/>
                  </a:cubicBezTo>
                  <a:cubicBezTo>
                    <a:pt x="78" y="26"/>
                    <a:pt x="81" y="25"/>
                    <a:pt x="84" y="24"/>
                  </a:cubicBezTo>
                  <a:cubicBezTo>
                    <a:pt x="84" y="28"/>
                    <a:pt x="84" y="28"/>
                    <a:pt x="84" y="28"/>
                  </a:cubicBezTo>
                  <a:cubicBezTo>
                    <a:pt x="84" y="30"/>
                    <a:pt x="80" y="32"/>
                    <a:pt x="74" y="32"/>
                  </a:cubicBez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800" b="0" i="0" u="none" strike="noStrike" kern="0" cap="none" spc="0" normalizeH="0" baseline="0" noProof="0">
                <a:ln>
                  <a:noFill/>
                </a:ln>
                <a:solidFill>
                  <a:srgbClr val="96968C"/>
                </a:solidFill>
                <a:effectLst/>
                <a:uLnTx/>
                <a:uFillTx/>
                <a:latin typeface="Graphik Semibold" panose="020B0703030202060203" pitchFamily="34" charset="0"/>
                <a:ea typeface="+mn-ea"/>
                <a:cs typeface="Arial" charset="0"/>
              </a:endParaRPr>
            </a:p>
          </p:txBody>
        </p:sp>
        <p:grpSp>
          <p:nvGrpSpPr>
            <p:cNvPr id="26" name="Group 67">
              <a:extLst>
                <a:ext uri="{FF2B5EF4-FFF2-40B4-BE49-F238E27FC236}">
                  <a16:creationId xmlns:a16="http://schemas.microsoft.com/office/drawing/2014/main" id="{7D56EEBD-184F-C1E4-C5F8-7AA5B28F4F3C}"/>
                </a:ext>
              </a:extLst>
            </p:cNvPr>
            <p:cNvGrpSpPr>
              <a:grpSpLocks noChangeAspect="1"/>
            </p:cNvGrpSpPr>
            <p:nvPr/>
          </p:nvGrpSpPr>
          <p:grpSpPr bwMode="auto">
            <a:xfrm>
              <a:off x="863430" y="1684605"/>
              <a:ext cx="126246" cy="123349"/>
              <a:chOff x="1356" y="1721"/>
              <a:chExt cx="427" cy="426"/>
            </a:xfrm>
            <a:solidFill>
              <a:srgbClr val="FFFFFF"/>
            </a:solidFill>
          </p:grpSpPr>
          <p:sp>
            <p:nvSpPr>
              <p:cNvPr id="27" name="Freeform 68">
                <a:extLst>
                  <a:ext uri="{FF2B5EF4-FFF2-40B4-BE49-F238E27FC236}">
                    <a16:creationId xmlns:a16="http://schemas.microsoft.com/office/drawing/2014/main" id="{D0CDDC53-E810-FA29-1847-228DA4C5B42A}"/>
                  </a:ext>
                </a:extLst>
              </p:cNvPr>
              <p:cNvSpPr>
                <a:spLocks noEditPoints="1"/>
              </p:cNvSpPr>
              <p:nvPr/>
            </p:nvSpPr>
            <p:spPr bwMode="auto">
              <a:xfrm>
                <a:off x="1356" y="1721"/>
                <a:ext cx="427" cy="426"/>
              </a:xfrm>
              <a:custGeom>
                <a:avLst/>
                <a:gdLst>
                  <a:gd name="T0" fmla="*/ 126 w 288"/>
                  <a:gd name="T1" fmla="*/ 288 h 288"/>
                  <a:gd name="T2" fmla="*/ 120 w 288"/>
                  <a:gd name="T3" fmla="*/ 247 h 288"/>
                  <a:gd name="T4" fmla="*/ 67 w 288"/>
                  <a:gd name="T5" fmla="*/ 262 h 288"/>
                  <a:gd name="T6" fmla="*/ 25 w 288"/>
                  <a:gd name="T7" fmla="*/ 229 h 288"/>
                  <a:gd name="T8" fmla="*/ 25 w 288"/>
                  <a:gd name="T9" fmla="*/ 220 h 288"/>
                  <a:gd name="T10" fmla="*/ 40 w 288"/>
                  <a:gd name="T11" fmla="*/ 168 h 288"/>
                  <a:gd name="T12" fmla="*/ 0 w 288"/>
                  <a:gd name="T13" fmla="*/ 162 h 288"/>
                  <a:gd name="T14" fmla="*/ 6 w 288"/>
                  <a:gd name="T15" fmla="*/ 120 h 288"/>
                  <a:gd name="T16" fmla="*/ 49 w 288"/>
                  <a:gd name="T17" fmla="*/ 92 h 288"/>
                  <a:gd name="T18" fmla="*/ 23 w 288"/>
                  <a:gd name="T19" fmla="*/ 63 h 288"/>
                  <a:gd name="T20" fmla="*/ 59 w 288"/>
                  <a:gd name="T21" fmla="*/ 25 h 288"/>
                  <a:gd name="T22" fmla="*/ 92 w 288"/>
                  <a:gd name="T23" fmla="*/ 49 h 288"/>
                  <a:gd name="T24" fmla="*/ 120 w 288"/>
                  <a:gd name="T25" fmla="*/ 6 h 288"/>
                  <a:gd name="T26" fmla="*/ 162 w 288"/>
                  <a:gd name="T27" fmla="*/ 0 h 288"/>
                  <a:gd name="T28" fmla="*/ 168 w 288"/>
                  <a:gd name="T29" fmla="*/ 40 h 288"/>
                  <a:gd name="T30" fmla="*/ 220 w 288"/>
                  <a:gd name="T31" fmla="*/ 25 h 288"/>
                  <a:gd name="T32" fmla="*/ 263 w 288"/>
                  <a:gd name="T33" fmla="*/ 59 h 288"/>
                  <a:gd name="T34" fmla="*/ 263 w 288"/>
                  <a:gd name="T35" fmla="*/ 67 h 288"/>
                  <a:gd name="T36" fmla="*/ 248 w 288"/>
                  <a:gd name="T37" fmla="*/ 120 h 288"/>
                  <a:gd name="T38" fmla="*/ 288 w 288"/>
                  <a:gd name="T39" fmla="*/ 126 h 288"/>
                  <a:gd name="T40" fmla="*/ 282 w 288"/>
                  <a:gd name="T41" fmla="*/ 168 h 288"/>
                  <a:gd name="T42" fmla="*/ 238 w 288"/>
                  <a:gd name="T43" fmla="*/ 196 h 288"/>
                  <a:gd name="T44" fmla="*/ 263 w 288"/>
                  <a:gd name="T45" fmla="*/ 229 h 288"/>
                  <a:gd name="T46" fmla="*/ 220 w 288"/>
                  <a:gd name="T47" fmla="*/ 262 h 288"/>
                  <a:gd name="T48" fmla="*/ 168 w 288"/>
                  <a:gd name="T49" fmla="*/ 247 h 288"/>
                  <a:gd name="T50" fmla="*/ 162 w 288"/>
                  <a:gd name="T51" fmla="*/ 288 h 288"/>
                  <a:gd name="T52" fmla="*/ 156 w 288"/>
                  <a:gd name="T53" fmla="*/ 276 h 288"/>
                  <a:gd name="T54" fmla="*/ 160 w 288"/>
                  <a:gd name="T55" fmla="*/ 237 h 288"/>
                  <a:gd name="T56" fmla="*/ 201 w 288"/>
                  <a:gd name="T57" fmla="*/ 226 h 288"/>
                  <a:gd name="T58" fmla="*/ 250 w 288"/>
                  <a:gd name="T59" fmla="*/ 224 h 288"/>
                  <a:gd name="T60" fmla="*/ 226 w 288"/>
                  <a:gd name="T61" fmla="*/ 194 h 288"/>
                  <a:gd name="T62" fmla="*/ 243 w 288"/>
                  <a:gd name="T63" fmla="*/ 156 h 288"/>
                  <a:gd name="T64" fmla="*/ 276 w 288"/>
                  <a:gd name="T65" fmla="*/ 132 h 288"/>
                  <a:gd name="T66" fmla="*/ 237 w 288"/>
                  <a:gd name="T67" fmla="*/ 127 h 288"/>
                  <a:gd name="T68" fmla="*/ 227 w 288"/>
                  <a:gd name="T69" fmla="*/ 86 h 288"/>
                  <a:gd name="T70" fmla="*/ 224 w 288"/>
                  <a:gd name="T71" fmla="*/ 38 h 288"/>
                  <a:gd name="T72" fmla="*/ 194 w 288"/>
                  <a:gd name="T73" fmla="*/ 62 h 288"/>
                  <a:gd name="T74" fmla="*/ 156 w 288"/>
                  <a:gd name="T75" fmla="*/ 45 h 288"/>
                  <a:gd name="T76" fmla="*/ 132 w 288"/>
                  <a:gd name="T77" fmla="*/ 12 h 288"/>
                  <a:gd name="T78" fmla="*/ 127 w 288"/>
                  <a:gd name="T79" fmla="*/ 50 h 288"/>
                  <a:gd name="T80" fmla="*/ 87 w 288"/>
                  <a:gd name="T81" fmla="*/ 61 h 288"/>
                  <a:gd name="T82" fmla="*/ 38 w 288"/>
                  <a:gd name="T83" fmla="*/ 63 h 288"/>
                  <a:gd name="T84" fmla="*/ 62 w 288"/>
                  <a:gd name="T85" fmla="*/ 94 h 288"/>
                  <a:gd name="T86" fmla="*/ 45 w 288"/>
                  <a:gd name="T87" fmla="*/ 132 h 288"/>
                  <a:gd name="T88" fmla="*/ 12 w 288"/>
                  <a:gd name="T89" fmla="*/ 156 h 288"/>
                  <a:gd name="T90" fmla="*/ 51 w 288"/>
                  <a:gd name="T91" fmla="*/ 160 h 288"/>
                  <a:gd name="T92" fmla="*/ 61 w 288"/>
                  <a:gd name="T93" fmla="*/ 201 h 288"/>
                  <a:gd name="T94" fmla="*/ 63 w 288"/>
                  <a:gd name="T95" fmla="*/ 250 h 288"/>
                  <a:gd name="T96" fmla="*/ 94 w 288"/>
                  <a:gd name="T97" fmla="*/ 226 h 288"/>
                  <a:gd name="T98" fmla="*/ 132 w 288"/>
                  <a:gd name="T99" fmla="*/ 243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88" h="288">
                    <a:moveTo>
                      <a:pt x="162" y="288"/>
                    </a:moveTo>
                    <a:cubicBezTo>
                      <a:pt x="126" y="288"/>
                      <a:pt x="126" y="288"/>
                      <a:pt x="126" y="288"/>
                    </a:cubicBezTo>
                    <a:cubicBezTo>
                      <a:pt x="123" y="288"/>
                      <a:pt x="120" y="285"/>
                      <a:pt x="120" y="282"/>
                    </a:cubicBezTo>
                    <a:cubicBezTo>
                      <a:pt x="120" y="247"/>
                      <a:pt x="120" y="247"/>
                      <a:pt x="120" y="247"/>
                    </a:cubicBezTo>
                    <a:cubicBezTo>
                      <a:pt x="110" y="245"/>
                      <a:pt x="100" y="242"/>
                      <a:pt x="92" y="238"/>
                    </a:cubicBezTo>
                    <a:cubicBezTo>
                      <a:pt x="67" y="262"/>
                      <a:pt x="67" y="262"/>
                      <a:pt x="67" y="262"/>
                    </a:cubicBezTo>
                    <a:cubicBezTo>
                      <a:pt x="65" y="265"/>
                      <a:pt x="61" y="265"/>
                      <a:pt x="59" y="262"/>
                    </a:cubicBezTo>
                    <a:cubicBezTo>
                      <a:pt x="25" y="229"/>
                      <a:pt x="25" y="229"/>
                      <a:pt x="25" y="229"/>
                    </a:cubicBezTo>
                    <a:cubicBezTo>
                      <a:pt x="24" y="227"/>
                      <a:pt x="23" y="226"/>
                      <a:pt x="23" y="224"/>
                    </a:cubicBezTo>
                    <a:cubicBezTo>
                      <a:pt x="23" y="223"/>
                      <a:pt x="24" y="221"/>
                      <a:pt x="25" y="220"/>
                    </a:cubicBezTo>
                    <a:cubicBezTo>
                      <a:pt x="49" y="196"/>
                      <a:pt x="49" y="196"/>
                      <a:pt x="49" y="196"/>
                    </a:cubicBezTo>
                    <a:cubicBezTo>
                      <a:pt x="46" y="188"/>
                      <a:pt x="43" y="177"/>
                      <a:pt x="40" y="168"/>
                    </a:cubicBezTo>
                    <a:cubicBezTo>
                      <a:pt x="6" y="168"/>
                      <a:pt x="6" y="168"/>
                      <a:pt x="6" y="168"/>
                    </a:cubicBezTo>
                    <a:cubicBezTo>
                      <a:pt x="3" y="168"/>
                      <a:pt x="0" y="165"/>
                      <a:pt x="0" y="162"/>
                    </a:cubicBezTo>
                    <a:cubicBezTo>
                      <a:pt x="0" y="126"/>
                      <a:pt x="0" y="126"/>
                      <a:pt x="0" y="126"/>
                    </a:cubicBezTo>
                    <a:cubicBezTo>
                      <a:pt x="0" y="122"/>
                      <a:pt x="3" y="120"/>
                      <a:pt x="6" y="120"/>
                    </a:cubicBezTo>
                    <a:cubicBezTo>
                      <a:pt x="40" y="120"/>
                      <a:pt x="40" y="120"/>
                      <a:pt x="40" y="120"/>
                    </a:cubicBezTo>
                    <a:cubicBezTo>
                      <a:pt x="43" y="110"/>
                      <a:pt x="46" y="100"/>
                      <a:pt x="49" y="92"/>
                    </a:cubicBezTo>
                    <a:cubicBezTo>
                      <a:pt x="25" y="67"/>
                      <a:pt x="25" y="67"/>
                      <a:pt x="25" y="67"/>
                    </a:cubicBezTo>
                    <a:cubicBezTo>
                      <a:pt x="24" y="66"/>
                      <a:pt x="23" y="65"/>
                      <a:pt x="23" y="63"/>
                    </a:cubicBezTo>
                    <a:cubicBezTo>
                      <a:pt x="23" y="61"/>
                      <a:pt x="24" y="60"/>
                      <a:pt x="25" y="59"/>
                    </a:cubicBezTo>
                    <a:cubicBezTo>
                      <a:pt x="59" y="25"/>
                      <a:pt x="59" y="25"/>
                      <a:pt x="59" y="25"/>
                    </a:cubicBezTo>
                    <a:cubicBezTo>
                      <a:pt x="61" y="23"/>
                      <a:pt x="65" y="23"/>
                      <a:pt x="67" y="25"/>
                    </a:cubicBezTo>
                    <a:cubicBezTo>
                      <a:pt x="92" y="49"/>
                      <a:pt x="92" y="49"/>
                      <a:pt x="92" y="49"/>
                    </a:cubicBezTo>
                    <a:cubicBezTo>
                      <a:pt x="100" y="45"/>
                      <a:pt x="110" y="42"/>
                      <a:pt x="120" y="40"/>
                    </a:cubicBezTo>
                    <a:cubicBezTo>
                      <a:pt x="120" y="6"/>
                      <a:pt x="120" y="6"/>
                      <a:pt x="120" y="6"/>
                    </a:cubicBezTo>
                    <a:cubicBezTo>
                      <a:pt x="120" y="2"/>
                      <a:pt x="123" y="0"/>
                      <a:pt x="126" y="0"/>
                    </a:cubicBezTo>
                    <a:cubicBezTo>
                      <a:pt x="162" y="0"/>
                      <a:pt x="162" y="0"/>
                      <a:pt x="162" y="0"/>
                    </a:cubicBezTo>
                    <a:cubicBezTo>
                      <a:pt x="165" y="0"/>
                      <a:pt x="168" y="2"/>
                      <a:pt x="168" y="6"/>
                    </a:cubicBezTo>
                    <a:cubicBezTo>
                      <a:pt x="168" y="40"/>
                      <a:pt x="168" y="40"/>
                      <a:pt x="168" y="40"/>
                    </a:cubicBezTo>
                    <a:cubicBezTo>
                      <a:pt x="177" y="42"/>
                      <a:pt x="188" y="45"/>
                      <a:pt x="196" y="49"/>
                    </a:cubicBezTo>
                    <a:cubicBezTo>
                      <a:pt x="220" y="25"/>
                      <a:pt x="220" y="25"/>
                      <a:pt x="220" y="25"/>
                    </a:cubicBezTo>
                    <a:cubicBezTo>
                      <a:pt x="223" y="23"/>
                      <a:pt x="226" y="23"/>
                      <a:pt x="229" y="25"/>
                    </a:cubicBezTo>
                    <a:cubicBezTo>
                      <a:pt x="263" y="59"/>
                      <a:pt x="263" y="59"/>
                      <a:pt x="263" y="59"/>
                    </a:cubicBezTo>
                    <a:cubicBezTo>
                      <a:pt x="264" y="60"/>
                      <a:pt x="264" y="61"/>
                      <a:pt x="264" y="63"/>
                    </a:cubicBezTo>
                    <a:cubicBezTo>
                      <a:pt x="264" y="65"/>
                      <a:pt x="264" y="66"/>
                      <a:pt x="263" y="67"/>
                    </a:cubicBezTo>
                    <a:cubicBezTo>
                      <a:pt x="238" y="92"/>
                      <a:pt x="238" y="92"/>
                      <a:pt x="238" y="92"/>
                    </a:cubicBezTo>
                    <a:cubicBezTo>
                      <a:pt x="242" y="100"/>
                      <a:pt x="245" y="110"/>
                      <a:pt x="248" y="120"/>
                    </a:cubicBezTo>
                    <a:cubicBezTo>
                      <a:pt x="282" y="120"/>
                      <a:pt x="282" y="120"/>
                      <a:pt x="282" y="120"/>
                    </a:cubicBezTo>
                    <a:cubicBezTo>
                      <a:pt x="285" y="120"/>
                      <a:pt x="288" y="122"/>
                      <a:pt x="288" y="126"/>
                    </a:cubicBezTo>
                    <a:cubicBezTo>
                      <a:pt x="288" y="162"/>
                      <a:pt x="288" y="162"/>
                      <a:pt x="288" y="162"/>
                    </a:cubicBezTo>
                    <a:cubicBezTo>
                      <a:pt x="288" y="165"/>
                      <a:pt x="285" y="168"/>
                      <a:pt x="282" y="168"/>
                    </a:cubicBezTo>
                    <a:cubicBezTo>
                      <a:pt x="248" y="168"/>
                      <a:pt x="248" y="168"/>
                      <a:pt x="248" y="168"/>
                    </a:cubicBezTo>
                    <a:cubicBezTo>
                      <a:pt x="245" y="177"/>
                      <a:pt x="242" y="188"/>
                      <a:pt x="238" y="196"/>
                    </a:cubicBezTo>
                    <a:cubicBezTo>
                      <a:pt x="263" y="220"/>
                      <a:pt x="263" y="220"/>
                      <a:pt x="263" y="220"/>
                    </a:cubicBezTo>
                    <a:cubicBezTo>
                      <a:pt x="265" y="222"/>
                      <a:pt x="265" y="226"/>
                      <a:pt x="263" y="229"/>
                    </a:cubicBezTo>
                    <a:cubicBezTo>
                      <a:pt x="229" y="262"/>
                      <a:pt x="229" y="262"/>
                      <a:pt x="229" y="262"/>
                    </a:cubicBezTo>
                    <a:cubicBezTo>
                      <a:pt x="226" y="265"/>
                      <a:pt x="223" y="265"/>
                      <a:pt x="220" y="262"/>
                    </a:cubicBezTo>
                    <a:cubicBezTo>
                      <a:pt x="196" y="238"/>
                      <a:pt x="196" y="238"/>
                      <a:pt x="196" y="238"/>
                    </a:cubicBezTo>
                    <a:cubicBezTo>
                      <a:pt x="188" y="242"/>
                      <a:pt x="177" y="245"/>
                      <a:pt x="168" y="247"/>
                    </a:cubicBezTo>
                    <a:cubicBezTo>
                      <a:pt x="168" y="282"/>
                      <a:pt x="168" y="282"/>
                      <a:pt x="168" y="282"/>
                    </a:cubicBezTo>
                    <a:cubicBezTo>
                      <a:pt x="168" y="285"/>
                      <a:pt x="165" y="288"/>
                      <a:pt x="162" y="288"/>
                    </a:cubicBezTo>
                    <a:close/>
                    <a:moveTo>
                      <a:pt x="132" y="276"/>
                    </a:moveTo>
                    <a:cubicBezTo>
                      <a:pt x="156" y="276"/>
                      <a:pt x="156" y="276"/>
                      <a:pt x="156" y="276"/>
                    </a:cubicBezTo>
                    <a:cubicBezTo>
                      <a:pt x="156" y="243"/>
                      <a:pt x="156" y="243"/>
                      <a:pt x="156" y="243"/>
                    </a:cubicBezTo>
                    <a:cubicBezTo>
                      <a:pt x="156" y="240"/>
                      <a:pt x="158" y="238"/>
                      <a:pt x="160" y="237"/>
                    </a:cubicBezTo>
                    <a:cubicBezTo>
                      <a:pt x="167" y="235"/>
                      <a:pt x="185" y="231"/>
                      <a:pt x="194" y="226"/>
                    </a:cubicBezTo>
                    <a:cubicBezTo>
                      <a:pt x="196" y="224"/>
                      <a:pt x="199" y="224"/>
                      <a:pt x="201" y="226"/>
                    </a:cubicBezTo>
                    <a:cubicBezTo>
                      <a:pt x="224" y="250"/>
                      <a:pt x="224" y="250"/>
                      <a:pt x="224" y="250"/>
                    </a:cubicBezTo>
                    <a:cubicBezTo>
                      <a:pt x="250" y="224"/>
                      <a:pt x="250" y="224"/>
                      <a:pt x="250" y="224"/>
                    </a:cubicBezTo>
                    <a:cubicBezTo>
                      <a:pt x="227" y="201"/>
                      <a:pt x="227" y="201"/>
                      <a:pt x="227" y="201"/>
                    </a:cubicBezTo>
                    <a:cubicBezTo>
                      <a:pt x="225" y="199"/>
                      <a:pt x="224" y="196"/>
                      <a:pt x="226" y="194"/>
                    </a:cubicBezTo>
                    <a:cubicBezTo>
                      <a:pt x="231" y="185"/>
                      <a:pt x="235" y="167"/>
                      <a:pt x="237" y="160"/>
                    </a:cubicBezTo>
                    <a:cubicBezTo>
                      <a:pt x="238" y="158"/>
                      <a:pt x="240" y="156"/>
                      <a:pt x="243" y="156"/>
                    </a:cubicBezTo>
                    <a:cubicBezTo>
                      <a:pt x="276" y="156"/>
                      <a:pt x="276" y="156"/>
                      <a:pt x="276" y="156"/>
                    </a:cubicBezTo>
                    <a:cubicBezTo>
                      <a:pt x="276" y="132"/>
                      <a:pt x="276" y="132"/>
                      <a:pt x="276" y="132"/>
                    </a:cubicBezTo>
                    <a:cubicBezTo>
                      <a:pt x="243" y="132"/>
                      <a:pt x="243" y="132"/>
                      <a:pt x="243" y="132"/>
                    </a:cubicBezTo>
                    <a:cubicBezTo>
                      <a:pt x="240" y="132"/>
                      <a:pt x="238" y="130"/>
                      <a:pt x="237" y="127"/>
                    </a:cubicBezTo>
                    <a:cubicBezTo>
                      <a:pt x="235" y="120"/>
                      <a:pt x="231" y="103"/>
                      <a:pt x="226" y="94"/>
                    </a:cubicBezTo>
                    <a:cubicBezTo>
                      <a:pt x="224" y="91"/>
                      <a:pt x="225" y="88"/>
                      <a:pt x="227" y="86"/>
                    </a:cubicBezTo>
                    <a:cubicBezTo>
                      <a:pt x="250" y="63"/>
                      <a:pt x="250" y="63"/>
                      <a:pt x="250" y="63"/>
                    </a:cubicBezTo>
                    <a:cubicBezTo>
                      <a:pt x="224" y="38"/>
                      <a:pt x="224" y="38"/>
                      <a:pt x="224" y="38"/>
                    </a:cubicBezTo>
                    <a:cubicBezTo>
                      <a:pt x="201" y="61"/>
                      <a:pt x="201" y="61"/>
                      <a:pt x="201" y="61"/>
                    </a:cubicBezTo>
                    <a:cubicBezTo>
                      <a:pt x="199" y="63"/>
                      <a:pt x="196" y="63"/>
                      <a:pt x="194" y="62"/>
                    </a:cubicBezTo>
                    <a:cubicBezTo>
                      <a:pt x="186" y="57"/>
                      <a:pt x="171" y="53"/>
                      <a:pt x="160" y="50"/>
                    </a:cubicBezTo>
                    <a:cubicBezTo>
                      <a:pt x="158" y="50"/>
                      <a:pt x="156" y="47"/>
                      <a:pt x="156" y="45"/>
                    </a:cubicBezTo>
                    <a:cubicBezTo>
                      <a:pt x="156" y="12"/>
                      <a:pt x="156" y="12"/>
                      <a:pt x="156" y="12"/>
                    </a:cubicBezTo>
                    <a:cubicBezTo>
                      <a:pt x="132" y="12"/>
                      <a:pt x="132" y="12"/>
                      <a:pt x="132" y="12"/>
                    </a:cubicBezTo>
                    <a:cubicBezTo>
                      <a:pt x="132" y="45"/>
                      <a:pt x="132" y="45"/>
                      <a:pt x="132" y="45"/>
                    </a:cubicBezTo>
                    <a:cubicBezTo>
                      <a:pt x="132" y="47"/>
                      <a:pt x="130" y="50"/>
                      <a:pt x="127" y="50"/>
                    </a:cubicBezTo>
                    <a:cubicBezTo>
                      <a:pt x="117" y="53"/>
                      <a:pt x="102" y="57"/>
                      <a:pt x="94" y="62"/>
                    </a:cubicBezTo>
                    <a:cubicBezTo>
                      <a:pt x="92" y="63"/>
                      <a:pt x="89" y="63"/>
                      <a:pt x="87" y="61"/>
                    </a:cubicBezTo>
                    <a:cubicBezTo>
                      <a:pt x="63" y="38"/>
                      <a:pt x="63" y="38"/>
                      <a:pt x="63" y="38"/>
                    </a:cubicBezTo>
                    <a:cubicBezTo>
                      <a:pt x="38" y="63"/>
                      <a:pt x="38" y="63"/>
                      <a:pt x="38" y="63"/>
                    </a:cubicBezTo>
                    <a:cubicBezTo>
                      <a:pt x="61" y="86"/>
                      <a:pt x="61" y="86"/>
                      <a:pt x="61" y="86"/>
                    </a:cubicBezTo>
                    <a:cubicBezTo>
                      <a:pt x="63" y="88"/>
                      <a:pt x="63" y="91"/>
                      <a:pt x="62" y="94"/>
                    </a:cubicBezTo>
                    <a:cubicBezTo>
                      <a:pt x="57" y="103"/>
                      <a:pt x="52" y="120"/>
                      <a:pt x="51" y="127"/>
                    </a:cubicBezTo>
                    <a:cubicBezTo>
                      <a:pt x="50" y="130"/>
                      <a:pt x="48" y="132"/>
                      <a:pt x="45" y="132"/>
                    </a:cubicBezTo>
                    <a:cubicBezTo>
                      <a:pt x="12" y="132"/>
                      <a:pt x="12" y="132"/>
                      <a:pt x="12" y="132"/>
                    </a:cubicBezTo>
                    <a:cubicBezTo>
                      <a:pt x="12" y="156"/>
                      <a:pt x="12" y="156"/>
                      <a:pt x="12" y="156"/>
                    </a:cubicBezTo>
                    <a:cubicBezTo>
                      <a:pt x="45" y="156"/>
                      <a:pt x="45" y="156"/>
                      <a:pt x="45" y="156"/>
                    </a:cubicBezTo>
                    <a:cubicBezTo>
                      <a:pt x="48" y="156"/>
                      <a:pt x="50" y="158"/>
                      <a:pt x="51" y="160"/>
                    </a:cubicBezTo>
                    <a:cubicBezTo>
                      <a:pt x="52" y="167"/>
                      <a:pt x="57" y="185"/>
                      <a:pt x="62" y="194"/>
                    </a:cubicBezTo>
                    <a:cubicBezTo>
                      <a:pt x="63" y="196"/>
                      <a:pt x="63" y="199"/>
                      <a:pt x="61" y="201"/>
                    </a:cubicBezTo>
                    <a:cubicBezTo>
                      <a:pt x="38" y="224"/>
                      <a:pt x="38" y="224"/>
                      <a:pt x="38" y="224"/>
                    </a:cubicBezTo>
                    <a:cubicBezTo>
                      <a:pt x="63" y="250"/>
                      <a:pt x="63" y="250"/>
                      <a:pt x="63" y="250"/>
                    </a:cubicBezTo>
                    <a:cubicBezTo>
                      <a:pt x="87" y="226"/>
                      <a:pt x="87" y="226"/>
                      <a:pt x="87" y="226"/>
                    </a:cubicBezTo>
                    <a:cubicBezTo>
                      <a:pt x="88" y="224"/>
                      <a:pt x="92" y="224"/>
                      <a:pt x="94" y="226"/>
                    </a:cubicBezTo>
                    <a:cubicBezTo>
                      <a:pt x="103" y="231"/>
                      <a:pt x="121" y="235"/>
                      <a:pt x="127" y="237"/>
                    </a:cubicBezTo>
                    <a:cubicBezTo>
                      <a:pt x="130" y="238"/>
                      <a:pt x="132" y="240"/>
                      <a:pt x="132" y="243"/>
                    </a:cubicBezTo>
                    <a:lnTo>
                      <a:pt x="132" y="27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28" name="Freeform 69">
                <a:extLst>
                  <a:ext uri="{FF2B5EF4-FFF2-40B4-BE49-F238E27FC236}">
                    <a16:creationId xmlns:a16="http://schemas.microsoft.com/office/drawing/2014/main" id="{9E0DA207-C748-6B3E-566E-4C4D35C75B5A}"/>
                  </a:ext>
                </a:extLst>
              </p:cNvPr>
              <p:cNvSpPr>
                <a:spLocks noEditPoints="1"/>
              </p:cNvSpPr>
              <p:nvPr/>
            </p:nvSpPr>
            <p:spPr bwMode="auto">
              <a:xfrm>
                <a:off x="1454" y="1819"/>
                <a:ext cx="231" cy="230"/>
              </a:xfrm>
              <a:custGeom>
                <a:avLst/>
                <a:gdLst>
                  <a:gd name="T0" fmla="*/ 78 w 156"/>
                  <a:gd name="T1" fmla="*/ 156 h 156"/>
                  <a:gd name="T2" fmla="*/ 0 w 156"/>
                  <a:gd name="T3" fmla="*/ 78 h 156"/>
                  <a:gd name="T4" fmla="*/ 78 w 156"/>
                  <a:gd name="T5" fmla="*/ 0 h 156"/>
                  <a:gd name="T6" fmla="*/ 156 w 156"/>
                  <a:gd name="T7" fmla="*/ 78 h 156"/>
                  <a:gd name="T8" fmla="*/ 78 w 156"/>
                  <a:gd name="T9" fmla="*/ 156 h 156"/>
                  <a:gd name="T10" fmla="*/ 78 w 156"/>
                  <a:gd name="T11" fmla="*/ 12 h 156"/>
                  <a:gd name="T12" fmla="*/ 12 w 156"/>
                  <a:gd name="T13" fmla="*/ 78 h 156"/>
                  <a:gd name="T14" fmla="*/ 78 w 156"/>
                  <a:gd name="T15" fmla="*/ 144 h 156"/>
                  <a:gd name="T16" fmla="*/ 144 w 156"/>
                  <a:gd name="T17" fmla="*/ 78 h 156"/>
                  <a:gd name="T18" fmla="*/ 78 w 156"/>
                  <a:gd name="T19" fmla="*/ 12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6" h="156">
                    <a:moveTo>
                      <a:pt x="78" y="156"/>
                    </a:moveTo>
                    <a:cubicBezTo>
                      <a:pt x="35" y="156"/>
                      <a:pt x="0" y="121"/>
                      <a:pt x="0" y="78"/>
                    </a:cubicBezTo>
                    <a:cubicBezTo>
                      <a:pt x="0" y="35"/>
                      <a:pt x="35" y="0"/>
                      <a:pt x="78" y="0"/>
                    </a:cubicBezTo>
                    <a:cubicBezTo>
                      <a:pt x="121" y="0"/>
                      <a:pt x="156" y="35"/>
                      <a:pt x="156" y="78"/>
                    </a:cubicBezTo>
                    <a:cubicBezTo>
                      <a:pt x="156" y="121"/>
                      <a:pt x="121" y="156"/>
                      <a:pt x="78" y="156"/>
                    </a:cubicBezTo>
                    <a:close/>
                    <a:moveTo>
                      <a:pt x="78" y="12"/>
                    </a:moveTo>
                    <a:cubicBezTo>
                      <a:pt x="41" y="12"/>
                      <a:pt x="12" y="41"/>
                      <a:pt x="12" y="78"/>
                    </a:cubicBezTo>
                    <a:cubicBezTo>
                      <a:pt x="12" y="114"/>
                      <a:pt x="41" y="144"/>
                      <a:pt x="78" y="144"/>
                    </a:cubicBezTo>
                    <a:cubicBezTo>
                      <a:pt x="114" y="144"/>
                      <a:pt x="144" y="114"/>
                      <a:pt x="144" y="78"/>
                    </a:cubicBezTo>
                    <a:cubicBezTo>
                      <a:pt x="144" y="41"/>
                      <a:pt x="114" y="12"/>
                      <a:pt x="7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29" name="Freeform 70">
                <a:extLst>
                  <a:ext uri="{FF2B5EF4-FFF2-40B4-BE49-F238E27FC236}">
                    <a16:creationId xmlns:a16="http://schemas.microsoft.com/office/drawing/2014/main" id="{EDE37036-1465-A07E-3C5E-DB3C717A8D62}"/>
                  </a:ext>
                </a:extLst>
              </p:cNvPr>
              <p:cNvSpPr>
                <a:spLocks noEditPoints="1"/>
              </p:cNvSpPr>
              <p:nvPr/>
            </p:nvSpPr>
            <p:spPr bwMode="auto">
              <a:xfrm>
                <a:off x="1534" y="1872"/>
                <a:ext cx="98" cy="124"/>
              </a:xfrm>
              <a:custGeom>
                <a:avLst/>
                <a:gdLst>
                  <a:gd name="T0" fmla="*/ 6 w 66"/>
                  <a:gd name="T1" fmla="*/ 84 h 84"/>
                  <a:gd name="T2" fmla="*/ 3 w 66"/>
                  <a:gd name="T3" fmla="*/ 83 h 84"/>
                  <a:gd name="T4" fmla="*/ 0 w 66"/>
                  <a:gd name="T5" fmla="*/ 78 h 84"/>
                  <a:gd name="T6" fmla="*/ 0 w 66"/>
                  <a:gd name="T7" fmla="*/ 6 h 84"/>
                  <a:gd name="T8" fmla="*/ 3 w 66"/>
                  <a:gd name="T9" fmla="*/ 1 h 84"/>
                  <a:gd name="T10" fmla="*/ 9 w 66"/>
                  <a:gd name="T11" fmla="*/ 1 h 84"/>
                  <a:gd name="T12" fmla="*/ 63 w 66"/>
                  <a:gd name="T13" fmla="*/ 37 h 84"/>
                  <a:gd name="T14" fmla="*/ 66 w 66"/>
                  <a:gd name="T15" fmla="*/ 42 h 84"/>
                  <a:gd name="T16" fmla="*/ 63 w 66"/>
                  <a:gd name="T17" fmla="*/ 47 h 84"/>
                  <a:gd name="T18" fmla="*/ 9 w 66"/>
                  <a:gd name="T19" fmla="*/ 83 h 84"/>
                  <a:gd name="T20" fmla="*/ 6 w 66"/>
                  <a:gd name="T21" fmla="*/ 84 h 84"/>
                  <a:gd name="T22" fmla="*/ 12 w 66"/>
                  <a:gd name="T23" fmla="*/ 17 h 84"/>
                  <a:gd name="T24" fmla="*/ 12 w 66"/>
                  <a:gd name="T25" fmla="*/ 66 h 84"/>
                  <a:gd name="T26" fmla="*/ 49 w 66"/>
                  <a:gd name="T27" fmla="*/ 42 h 84"/>
                  <a:gd name="T28" fmla="*/ 12 w 66"/>
                  <a:gd name="T29" fmla="*/ 17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6" h="84">
                    <a:moveTo>
                      <a:pt x="6" y="84"/>
                    </a:moveTo>
                    <a:cubicBezTo>
                      <a:pt x="5" y="84"/>
                      <a:pt x="4" y="83"/>
                      <a:pt x="3" y="83"/>
                    </a:cubicBezTo>
                    <a:cubicBezTo>
                      <a:pt x="1" y="82"/>
                      <a:pt x="0" y="80"/>
                      <a:pt x="0" y="78"/>
                    </a:cubicBezTo>
                    <a:cubicBezTo>
                      <a:pt x="0" y="6"/>
                      <a:pt x="0" y="6"/>
                      <a:pt x="0" y="6"/>
                    </a:cubicBezTo>
                    <a:cubicBezTo>
                      <a:pt x="0" y="4"/>
                      <a:pt x="1" y="2"/>
                      <a:pt x="3" y="1"/>
                    </a:cubicBezTo>
                    <a:cubicBezTo>
                      <a:pt x="5" y="0"/>
                      <a:pt x="7" y="0"/>
                      <a:pt x="9" y="1"/>
                    </a:cubicBezTo>
                    <a:cubicBezTo>
                      <a:pt x="63" y="37"/>
                      <a:pt x="63" y="37"/>
                      <a:pt x="63" y="37"/>
                    </a:cubicBezTo>
                    <a:cubicBezTo>
                      <a:pt x="65" y="38"/>
                      <a:pt x="66" y="40"/>
                      <a:pt x="66" y="42"/>
                    </a:cubicBezTo>
                    <a:cubicBezTo>
                      <a:pt x="66" y="44"/>
                      <a:pt x="65" y="46"/>
                      <a:pt x="63" y="47"/>
                    </a:cubicBezTo>
                    <a:cubicBezTo>
                      <a:pt x="9" y="83"/>
                      <a:pt x="9" y="83"/>
                      <a:pt x="9" y="83"/>
                    </a:cubicBezTo>
                    <a:cubicBezTo>
                      <a:pt x="8" y="83"/>
                      <a:pt x="7" y="84"/>
                      <a:pt x="6" y="84"/>
                    </a:cubicBezTo>
                    <a:close/>
                    <a:moveTo>
                      <a:pt x="12" y="17"/>
                    </a:moveTo>
                    <a:cubicBezTo>
                      <a:pt x="12" y="66"/>
                      <a:pt x="12" y="66"/>
                      <a:pt x="12" y="66"/>
                    </a:cubicBezTo>
                    <a:cubicBezTo>
                      <a:pt x="49" y="42"/>
                      <a:pt x="49" y="42"/>
                      <a:pt x="49" y="42"/>
                    </a:cubicBezTo>
                    <a:lnTo>
                      <a:pt x="12" y="1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grpSp>
      </p:grpSp>
      <p:grpSp>
        <p:nvGrpSpPr>
          <p:cNvPr id="65" name="Group 64">
            <a:extLst>
              <a:ext uri="{FF2B5EF4-FFF2-40B4-BE49-F238E27FC236}">
                <a16:creationId xmlns:a16="http://schemas.microsoft.com/office/drawing/2014/main" id="{2DAA7D3B-6B67-0903-9DDE-B19D612EE409}"/>
              </a:ext>
            </a:extLst>
          </p:cNvPr>
          <p:cNvGrpSpPr/>
          <p:nvPr/>
        </p:nvGrpSpPr>
        <p:grpSpPr>
          <a:xfrm>
            <a:off x="381000" y="4653344"/>
            <a:ext cx="2388481" cy="1581473"/>
            <a:chOff x="381001" y="1022926"/>
            <a:chExt cx="2388481" cy="1581473"/>
          </a:xfrm>
        </p:grpSpPr>
        <p:grpSp>
          <p:nvGrpSpPr>
            <p:cNvPr id="101" name="Group 100">
              <a:extLst>
                <a:ext uri="{FF2B5EF4-FFF2-40B4-BE49-F238E27FC236}">
                  <a16:creationId xmlns:a16="http://schemas.microsoft.com/office/drawing/2014/main" id="{4C57B5F4-0245-32E2-EAF4-20DBFAC0B1DA}"/>
                </a:ext>
              </a:extLst>
            </p:cNvPr>
            <p:cNvGrpSpPr/>
            <p:nvPr/>
          </p:nvGrpSpPr>
          <p:grpSpPr>
            <a:xfrm>
              <a:off x="381001" y="1022926"/>
              <a:ext cx="2388481" cy="1581473"/>
              <a:chOff x="596766" y="1022926"/>
              <a:chExt cx="2388481" cy="1581473"/>
            </a:xfrm>
          </p:grpSpPr>
          <p:sp>
            <p:nvSpPr>
              <p:cNvPr id="120" name="Rectangle: Rounded Corners 119">
                <a:extLst>
                  <a:ext uri="{FF2B5EF4-FFF2-40B4-BE49-F238E27FC236}">
                    <a16:creationId xmlns:a16="http://schemas.microsoft.com/office/drawing/2014/main" id="{2289D3E5-6F77-4120-2B19-3BF3813E5390}"/>
                  </a:ext>
                </a:extLst>
              </p:cNvPr>
              <p:cNvSpPr/>
              <p:nvPr/>
            </p:nvSpPr>
            <p:spPr>
              <a:xfrm>
                <a:off x="596766" y="1022926"/>
                <a:ext cx="2388481" cy="1581473"/>
              </a:xfrm>
              <a:prstGeom prst="roundRect">
                <a:avLst>
                  <a:gd name="adj" fmla="val 8731"/>
                </a:avLst>
              </a:prstGeom>
              <a:solidFill>
                <a:srgbClr val="FFFFFF"/>
              </a:solidFill>
              <a:ln w="12700" cap="flat" cmpd="sng" algn="ctr">
                <a:solidFill>
                  <a:srgbClr val="96968C"/>
                </a:solidFill>
                <a:prstDash val="solid"/>
                <a:miter lim="800000"/>
              </a:ln>
              <a:effectLst/>
            </p:spPr>
            <p:txBody>
              <a:bodyPr tIns="0" bIns="9144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1" i="0" u="none" strike="noStrike" kern="0" cap="none" spc="0" normalizeH="0" baseline="0" noProof="0">
                    <a:ln>
                      <a:noFill/>
                    </a:ln>
                    <a:solidFill>
                      <a:srgbClr val="FFFFFF">
                        <a:lumMod val="65000"/>
                      </a:srgbClr>
                    </a:solidFill>
                    <a:effectLst/>
                    <a:uLnTx/>
                    <a:uFillTx/>
                    <a:latin typeface="Graphik Semibold" panose="020B0703030202060203" pitchFamily="34" charset="0"/>
                    <a:ea typeface="+mn-ea"/>
                    <a:cs typeface="+mn-cs"/>
                  </a:rPr>
                  <a:t>Arquitectura interoperable</a:t>
                </a:r>
              </a:p>
            </p:txBody>
          </p:sp>
          <p:pic>
            <p:nvPicPr>
              <p:cNvPr id="121" name="Graphic 120" descr="Esquema de piezas del puzzle">
                <a:extLst>
                  <a:ext uri="{FF2B5EF4-FFF2-40B4-BE49-F238E27FC236}">
                    <a16:creationId xmlns:a16="http://schemas.microsoft.com/office/drawing/2014/main" id="{1AF34DF9-D88F-B0CD-058C-9599C445704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95164" y="1042277"/>
                <a:ext cx="193632" cy="193632"/>
              </a:xfrm>
              <a:prstGeom prst="rect">
                <a:avLst/>
              </a:prstGeom>
            </p:spPr>
          </p:pic>
        </p:grpSp>
        <p:sp>
          <p:nvSpPr>
            <p:cNvPr id="102" name="Rectangle: Rounded Corners 101">
              <a:extLst>
                <a:ext uri="{FF2B5EF4-FFF2-40B4-BE49-F238E27FC236}">
                  <a16:creationId xmlns:a16="http://schemas.microsoft.com/office/drawing/2014/main" id="{06D65C1D-65B7-1CEC-58A8-9EE9BFC95966}"/>
                </a:ext>
              </a:extLst>
            </p:cNvPr>
            <p:cNvSpPr/>
            <p:nvPr/>
          </p:nvSpPr>
          <p:spPr>
            <a:xfrm>
              <a:off x="743613" y="1245038"/>
              <a:ext cx="1841349" cy="176627"/>
            </a:xfrm>
            <a:prstGeom prst="roundRect">
              <a:avLst/>
            </a:prstGeom>
            <a:solidFill>
              <a:srgbClr val="FFFFFF">
                <a:lumMod val="75000"/>
              </a:srgbClr>
            </a:solidFill>
            <a:ln w="12700" cap="flat" cmpd="sng" algn="ctr">
              <a:noFill/>
              <a:prstDash val="solid"/>
              <a:miter lim="800000"/>
            </a:ln>
            <a:effectLst/>
          </p:spPr>
          <p:txBody>
            <a:bodyPr lIns="0" tIns="91440" rIns="0" bIns="91440" rtlCol="0" anchor="ctr"/>
            <a:lstStyle/>
            <a:p>
              <a:pPr algn="ctr"/>
              <a:r>
                <a:rPr lang="es" sz="800" b="1" kern="0">
                  <a:solidFill>
                    <a:srgbClr val="FFFFFF"/>
                  </a:solidFill>
                  <a:latin typeface="Graphik Semibold" panose="020B0703030202060203" pitchFamily="34" charset="0"/>
                </a:rPr>
                <a:t>Desacoplamiento</a:t>
              </a:r>
            </a:p>
          </p:txBody>
        </p:sp>
        <p:sp>
          <p:nvSpPr>
            <p:cNvPr id="103" name="Rectangle: Rounded Corners 102">
              <a:extLst>
                <a:ext uri="{FF2B5EF4-FFF2-40B4-BE49-F238E27FC236}">
                  <a16:creationId xmlns:a16="http://schemas.microsoft.com/office/drawing/2014/main" id="{7A6EEB2E-C087-C1EC-2E77-9EB3AFF47BAE}"/>
                </a:ext>
              </a:extLst>
            </p:cNvPr>
            <p:cNvSpPr/>
            <p:nvPr/>
          </p:nvSpPr>
          <p:spPr>
            <a:xfrm>
              <a:off x="743613" y="1443305"/>
              <a:ext cx="1841349" cy="176627"/>
            </a:xfrm>
            <a:prstGeom prst="roundRect">
              <a:avLst/>
            </a:prstGeom>
            <a:solidFill>
              <a:srgbClr val="FFFFFF">
                <a:lumMod val="75000"/>
              </a:srgbClr>
            </a:solidFill>
            <a:ln w="12700" cap="flat" cmpd="sng" algn="ctr">
              <a:noFill/>
              <a:prstDash val="solid"/>
              <a:miter lim="800000"/>
            </a:ln>
            <a:effectLst/>
          </p:spPr>
          <p:txBody>
            <a:bodyPr tIns="91440" bIns="91440" rtlCol="0" anchor="ctr"/>
            <a:lstStyle/>
            <a:p>
              <a:pPr algn="ctr"/>
              <a:r>
                <a:rPr lang="es" sz="800" b="1" kern="0">
                  <a:solidFill>
                    <a:srgbClr val="FFFFFF"/>
                  </a:solidFill>
                  <a:latin typeface="Graphik Semibold" panose="020B0703030202060203" pitchFamily="34" charset="0"/>
                </a:rPr>
                <a:t>Integración</a:t>
              </a:r>
            </a:p>
          </p:txBody>
        </p:sp>
        <p:sp>
          <p:nvSpPr>
            <p:cNvPr id="104" name="Rectangle: Rounded Corners 103">
              <a:extLst>
                <a:ext uri="{FF2B5EF4-FFF2-40B4-BE49-F238E27FC236}">
                  <a16:creationId xmlns:a16="http://schemas.microsoft.com/office/drawing/2014/main" id="{2D991DFE-9C91-14BA-C645-3F39EC0247DF}"/>
                </a:ext>
              </a:extLst>
            </p:cNvPr>
            <p:cNvSpPr/>
            <p:nvPr/>
          </p:nvSpPr>
          <p:spPr>
            <a:xfrm>
              <a:off x="743613" y="1882322"/>
              <a:ext cx="1841349" cy="296889"/>
            </a:xfrm>
            <a:prstGeom prst="roundRect">
              <a:avLst/>
            </a:prstGeom>
            <a:solidFill>
              <a:srgbClr val="FFFFFF">
                <a:lumMod val="75000"/>
              </a:srgbClr>
            </a:solidFill>
            <a:ln w="12700" cap="flat" cmpd="sng" algn="ctr">
              <a:noFill/>
              <a:prstDash val="solid"/>
              <a:miter lim="800000"/>
            </a:ln>
            <a:effectLst/>
          </p:spPr>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1" i="0" u="none" strike="noStrike" kern="0" cap="none" spc="0" normalizeH="0" baseline="0" noProof="0">
                  <a:ln>
                    <a:noFill/>
                  </a:ln>
                  <a:solidFill>
                    <a:srgbClr val="FFFFFF"/>
                  </a:solidFill>
                  <a:effectLst/>
                  <a:uLnTx/>
                  <a:uFillTx/>
                  <a:latin typeface="Graphik Semibold" panose="020B0703030202060203" pitchFamily="34" charset="0"/>
                  <a:ea typeface="+mn-ea"/>
                  <a:cs typeface="+mn-cs"/>
                </a:rPr>
                <a:t>Coexistencia</a:t>
              </a:r>
            </a:p>
          </p:txBody>
        </p:sp>
        <p:sp>
          <p:nvSpPr>
            <p:cNvPr id="105" name="Rectangle: Rounded Corners 104">
              <a:extLst>
                <a:ext uri="{FF2B5EF4-FFF2-40B4-BE49-F238E27FC236}">
                  <a16:creationId xmlns:a16="http://schemas.microsoft.com/office/drawing/2014/main" id="{3BA4B79B-C6ED-FC39-F2AB-643BD1339030}"/>
                </a:ext>
              </a:extLst>
            </p:cNvPr>
            <p:cNvSpPr/>
            <p:nvPr/>
          </p:nvSpPr>
          <p:spPr>
            <a:xfrm>
              <a:off x="743613" y="1661714"/>
              <a:ext cx="1841349" cy="176627"/>
            </a:xfrm>
            <a:prstGeom prst="roundRect">
              <a:avLst/>
            </a:prstGeom>
            <a:solidFill>
              <a:srgbClr val="FFFFFF">
                <a:lumMod val="75000"/>
              </a:srgbClr>
            </a:solidFill>
            <a:ln w="12700" cap="flat" cmpd="sng" algn="ctr">
              <a:noFill/>
              <a:prstDash val="solid"/>
              <a:miter lim="800000"/>
            </a:ln>
            <a:effectLst/>
          </p:spPr>
          <p:txBody>
            <a:bodyPr tIns="91440" bIns="91440" rtlCol="0" anchor="ctr"/>
            <a:lstStyle/>
            <a:p>
              <a:pPr algn="ctr"/>
              <a:r>
                <a:rPr lang="es" sz="800" b="1" kern="0" dirty="0">
                  <a:solidFill>
                    <a:srgbClr val="FFFFFF"/>
                  </a:solidFill>
                  <a:latin typeface="Graphik Semibold" panose="020B0703030202060203" pitchFamily="34" charset="0"/>
                </a:rPr>
                <a:t>Coreografía y Orquia</a:t>
              </a:r>
            </a:p>
          </p:txBody>
        </p:sp>
        <p:sp>
          <p:nvSpPr>
            <p:cNvPr id="106" name="Rectangle: Rounded Corners 105">
              <a:extLst>
                <a:ext uri="{FF2B5EF4-FFF2-40B4-BE49-F238E27FC236}">
                  <a16:creationId xmlns:a16="http://schemas.microsoft.com/office/drawing/2014/main" id="{B88601BE-1BD9-F764-9179-8A62EB7F2579}"/>
                </a:ext>
              </a:extLst>
            </p:cNvPr>
            <p:cNvSpPr/>
            <p:nvPr/>
          </p:nvSpPr>
          <p:spPr>
            <a:xfrm>
              <a:off x="743613" y="2223192"/>
              <a:ext cx="1841349" cy="312235"/>
            </a:xfrm>
            <a:prstGeom prst="roundRect">
              <a:avLst/>
            </a:prstGeom>
            <a:solidFill>
              <a:srgbClr val="FFFFFF">
                <a:lumMod val="75000"/>
              </a:srgbClr>
            </a:solidFill>
            <a:ln w="12700" cap="flat" cmpd="sng" algn="ctr">
              <a:noFill/>
              <a:prstDash val="solid"/>
              <a:miter lim="800000"/>
            </a:ln>
            <a:effectLst/>
          </p:spPr>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1" i="0" u="none" strike="noStrike" kern="0" cap="none" spc="0" normalizeH="0" baseline="0" noProof="0">
                  <a:ln>
                    <a:noFill/>
                  </a:ln>
                  <a:solidFill>
                    <a:srgbClr val="FFFFFF"/>
                  </a:solidFill>
                  <a:effectLst/>
                  <a:uLnTx/>
                  <a:uFillTx/>
                  <a:latin typeface="Graphik Semibold" panose="020B0703030202060203" pitchFamily="34" charset="0"/>
                  <a:ea typeface="+mn-ea"/>
                  <a:cs typeface="+mn-cs"/>
                </a:rPr>
                <a:t>Microservicios</a:t>
              </a:r>
            </a:p>
          </p:txBody>
        </p:sp>
        <p:sp>
          <p:nvSpPr>
            <p:cNvPr id="107" name="Rectangle: Rounded Corners 106">
              <a:extLst>
                <a:ext uri="{FF2B5EF4-FFF2-40B4-BE49-F238E27FC236}">
                  <a16:creationId xmlns:a16="http://schemas.microsoft.com/office/drawing/2014/main" id="{2BCF0355-EFF5-147E-AC1B-22531751695F}"/>
                </a:ext>
              </a:extLst>
            </p:cNvPr>
            <p:cNvSpPr/>
            <p:nvPr/>
          </p:nvSpPr>
          <p:spPr>
            <a:xfrm rot="16200000">
              <a:off x="-37801" y="1797017"/>
              <a:ext cx="1275043" cy="206945"/>
            </a:xfrm>
            <a:prstGeom prst="roundRect">
              <a:avLst/>
            </a:prstGeom>
            <a:solidFill>
              <a:srgbClr val="580090"/>
            </a:solidFill>
            <a:ln w="12700" cap="flat" cmpd="sng" algn="ctr">
              <a:noFill/>
              <a:prstDash val="solid"/>
              <a:miter lim="800000"/>
            </a:ln>
            <a:effectLst/>
          </p:spPr>
          <p:txBody>
            <a:bodyPr tIns="91440" bIns="91440" rtlCol="0" anchor="ctr"/>
            <a:lstStyle/>
            <a:p>
              <a:pPr algn="ctr"/>
              <a:r>
                <a:rPr lang="es" sz="700" b="1" kern="0">
                  <a:solidFill>
                    <a:srgbClr val="FFFFFF"/>
                  </a:solidFill>
                  <a:latin typeface="Graphik Semibold" panose="020B0703030202060203" pitchFamily="34" charset="0"/>
                </a:rPr>
                <a:t>Servicios Empresariales Principales (Backbone)</a:t>
              </a:r>
            </a:p>
          </p:txBody>
        </p:sp>
        <p:grpSp>
          <p:nvGrpSpPr>
            <p:cNvPr id="108" name="Group 48">
              <a:extLst>
                <a:ext uri="{FF2B5EF4-FFF2-40B4-BE49-F238E27FC236}">
                  <a16:creationId xmlns:a16="http://schemas.microsoft.com/office/drawing/2014/main" id="{2A0BD252-3153-E24D-CCB0-8F3949426999}"/>
                </a:ext>
              </a:extLst>
            </p:cNvPr>
            <p:cNvGrpSpPr>
              <a:grpSpLocks noChangeAspect="1"/>
            </p:cNvGrpSpPr>
            <p:nvPr/>
          </p:nvGrpSpPr>
          <p:grpSpPr bwMode="auto">
            <a:xfrm>
              <a:off x="867921" y="1302739"/>
              <a:ext cx="108414" cy="88314"/>
              <a:chOff x="3427" y="474"/>
              <a:chExt cx="428" cy="356"/>
            </a:xfrm>
            <a:solidFill>
              <a:srgbClr val="FFFFFF"/>
            </a:solidFill>
          </p:grpSpPr>
          <p:sp>
            <p:nvSpPr>
              <p:cNvPr id="116" name="Freeform 49">
                <a:extLst>
                  <a:ext uri="{FF2B5EF4-FFF2-40B4-BE49-F238E27FC236}">
                    <a16:creationId xmlns:a16="http://schemas.microsoft.com/office/drawing/2014/main" id="{8F16BDBD-64BA-8A0A-33B6-CE718F304B38}"/>
                  </a:ext>
                </a:extLst>
              </p:cNvPr>
              <p:cNvSpPr>
                <a:spLocks/>
              </p:cNvSpPr>
              <p:nvPr/>
            </p:nvSpPr>
            <p:spPr bwMode="auto">
              <a:xfrm>
                <a:off x="3427" y="615"/>
                <a:ext cx="428" cy="108"/>
              </a:xfrm>
              <a:custGeom>
                <a:avLst/>
                <a:gdLst>
                  <a:gd name="T0" fmla="*/ 144 w 289"/>
                  <a:gd name="T1" fmla="*/ 73 h 73"/>
                  <a:gd name="T2" fmla="*/ 142 w 289"/>
                  <a:gd name="T3" fmla="*/ 73 h 73"/>
                  <a:gd name="T4" fmla="*/ 4 w 289"/>
                  <a:gd name="T5" fmla="*/ 13 h 73"/>
                  <a:gd name="T6" fmla="*/ 1 w 289"/>
                  <a:gd name="T7" fmla="*/ 5 h 73"/>
                  <a:gd name="T8" fmla="*/ 9 w 289"/>
                  <a:gd name="T9" fmla="*/ 2 h 73"/>
                  <a:gd name="T10" fmla="*/ 144 w 289"/>
                  <a:gd name="T11" fmla="*/ 61 h 73"/>
                  <a:gd name="T12" fmla="*/ 280 w 289"/>
                  <a:gd name="T13" fmla="*/ 2 h 73"/>
                  <a:gd name="T14" fmla="*/ 288 w 289"/>
                  <a:gd name="T15" fmla="*/ 5 h 73"/>
                  <a:gd name="T16" fmla="*/ 285 w 289"/>
                  <a:gd name="T17" fmla="*/ 13 h 73"/>
                  <a:gd name="T18" fmla="*/ 147 w 289"/>
                  <a:gd name="T19" fmla="*/ 73 h 73"/>
                  <a:gd name="T20" fmla="*/ 144 w 289"/>
                  <a:gd name="T21" fmla="*/ 73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9" h="73">
                    <a:moveTo>
                      <a:pt x="144" y="73"/>
                    </a:moveTo>
                    <a:cubicBezTo>
                      <a:pt x="144" y="73"/>
                      <a:pt x="143" y="73"/>
                      <a:pt x="142" y="73"/>
                    </a:cubicBezTo>
                    <a:cubicBezTo>
                      <a:pt x="4" y="13"/>
                      <a:pt x="4" y="13"/>
                      <a:pt x="4" y="13"/>
                    </a:cubicBezTo>
                    <a:cubicBezTo>
                      <a:pt x="1" y="11"/>
                      <a:pt x="0" y="8"/>
                      <a:pt x="1" y="5"/>
                    </a:cubicBezTo>
                    <a:cubicBezTo>
                      <a:pt x="2" y="2"/>
                      <a:pt x="6" y="0"/>
                      <a:pt x="9" y="2"/>
                    </a:cubicBezTo>
                    <a:cubicBezTo>
                      <a:pt x="144" y="61"/>
                      <a:pt x="144" y="61"/>
                      <a:pt x="144" y="61"/>
                    </a:cubicBezTo>
                    <a:cubicBezTo>
                      <a:pt x="280" y="2"/>
                      <a:pt x="280" y="2"/>
                      <a:pt x="280" y="2"/>
                    </a:cubicBezTo>
                    <a:cubicBezTo>
                      <a:pt x="283" y="0"/>
                      <a:pt x="287" y="2"/>
                      <a:pt x="288" y="5"/>
                    </a:cubicBezTo>
                    <a:cubicBezTo>
                      <a:pt x="289" y="8"/>
                      <a:pt x="288" y="11"/>
                      <a:pt x="285" y="13"/>
                    </a:cubicBezTo>
                    <a:cubicBezTo>
                      <a:pt x="147" y="73"/>
                      <a:pt x="147" y="73"/>
                      <a:pt x="147" y="73"/>
                    </a:cubicBezTo>
                    <a:cubicBezTo>
                      <a:pt x="146" y="73"/>
                      <a:pt x="145" y="73"/>
                      <a:pt x="144"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117" name="Freeform 50">
                <a:extLst>
                  <a:ext uri="{FF2B5EF4-FFF2-40B4-BE49-F238E27FC236}">
                    <a16:creationId xmlns:a16="http://schemas.microsoft.com/office/drawing/2014/main" id="{50971C48-1AAF-AFAB-77FA-91A38D11609D}"/>
                  </a:ext>
                </a:extLst>
              </p:cNvPr>
              <p:cNvSpPr>
                <a:spLocks/>
              </p:cNvSpPr>
              <p:nvPr/>
            </p:nvSpPr>
            <p:spPr bwMode="auto">
              <a:xfrm>
                <a:off x="3427" y="668"/>
                <a:ext cx="428" cy="108"/>
              </a:xfrm>
              <a:custGeom>
                <a:avLst/>
                <a:gdLst>
                  <a:gd name="T0" fmla="*/ 144 w 289"/>
                  <a:gd name="T1" fmla="*/ 73 h 73"/>
                  <a:gd name="T2" fmla="*/ 142 w 289"/>
                  <a:gd name="T3" fmla="*/ 73 h 73"/>
                  <a:gd name="T4" fmla="*/ 4 w 289"/>
                  <a:gd name="T5" fmla="*/ 13 h 73"/>
                  <a:gd name="T6" fmla="*/ 1 w 289"/>
                  <a:gd name="T7" fmla="*/ 5 h 73"/>
                  <a:gd name="T8" fmla="*/ 9 w 289"/>
                  <a:gd name="T9" fmla="*/ 2 h 73"/>
                  <a:gd name="T10" fmla="*/ 144 w 289"/>
                  <a:gd name="T11" fmla="*/ 61 h 73"/>
                  <a:gd name="T12" fmla="*/ 280 w 289"/>
                  <a:gd name="T13" fmla="*/ 2 h 73"/>
                  <a:gd name="T14" fmla="*/ 288 w 289"/>
                  <a:gd name="T15" fmla="*/ 5 h 73"/>
                  <a:gd name="T16" fmla="*/ 285 w 289"/>
                  <a:gd name="T17" fmla="*/ 13 h 73"/>
                  <a:gd name="T18" fmla="*/ 147 w 289"/>
                  <a:gd name="T19" fmla="*/ 73 h 73"/>
                  <a:gd name="T20" fmla="*/ 144 w 289"/>
                  <a:gd name="T21" fmla="*/ 73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9" h="73">
                    <a:moveTo>
                      <a:pt x="144" y="73"/>
                    </a:moveTo>
                    <a:cubicBezTo>
                      <a:pt x="144" y="73"/>
                      <a:pt x="143" y="73"/>
                      <a:pt x="142" y="73"/>
                    </a:cubicBezTo>
                    <a:cubicBezTo>
                      <a:pt x="4" y="13"/>
                      <a:pt x="4" y="13"/>
                      <a:pt x="4" y="13"/>
                    </a:cubicBezTo>
                    <a:cubicBezTo>
                      <a:pt x="1" y="11"/>
                      <a:pt x="0" y="8"/>
                      <a:pt x="1" y="5"/>
                    </a:cubicBezTo>
                    <a:cubicBezTo>
                      <a:pt x="2" y="2"/>
                      <a:pt x="6" y="0"/>
                      <a:pt x="9" y="2"/>
                    </a:cubicBezTo>
                    <a:cubicBezTo>
                      <a:pt x="144" y="61"/>
                      <a:pt x="144" y="61"/>
                      <a:pt x="144" y="61"/>
                    </a:cubicBezTo>
                    <a:cubicBezTo>
                      <a:pt x="280" y="2"/>
                      <a:pt x="280" y="2"/>
                      <a:pt x="280" y="2"/>
                    </a:cubicBezTo>
                    <a:cubicBezTo>
                      <a:pt x="283" y="0"/>
                      <a:pt x="287" y="2"/>
                      <a:pt x="288" y="5"/>
                    </a:cubicBezTo>
                    <a:cubicBezTo>
                      <a:pt x="289" y="8"/>
                      <a:pt x="288" y="11"/>
                      <a:pt x="285" y="13"/>
                    </a:cubicBezTo>
                    <a:cubicBezTo>
                      <a:pt x="147" y="73"/>
                      <a:pt x="147" y="73"/>
                      <a:pt x="147" y="73"/>
                    </a:cubicBezTo>
                    <a:cubicBezTo>
                      <a:pt x="146" y="73"/>
                      <a:pt x="145" y="73"/>
                      <a:pt x="144"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118" name="Freeform 51">
                <a:extLst>
                  <a:ext uri="{FF2B5EF4-FFF2-40B4-BE49-F238E27FC236}">
                    <a16:creationId xmlns:a16="http://schemas.microsoft.com/office/drawing/2014/main" id="{49D0A371-36BA-E25F-9833-93BBE8B0FF68}"/>
                  </a:ext>
                </a:extLst>
              </p:cNvPr>
              <p:cNvSpPr>
                <a:spLocks/>
              </p:cNvSpPr>
              <p:nvPr/>
            </p:nvSpPr>
            <p:spPr bwMode="auto">
              <a:xfrm>
                <a:off x="3427" y="722"/>
                <a:ext cx="428" cy="108"/>
              </a:xfrm>
              <a:custGeom>
                <a:avLst/>
                <a:gdLst>
                  <a:gd name="T0" fmla="*/ 144 w 289"/>
                  <a:gd name="T1" fmla="*/ 73 h 73"/>
                  <a:gd name="T2" fmla="*/ 142 w 289"/>
                  <a:gd name="T3" fmla="*/ 73 h 73"/>
                  <a:gd name="T4" fmla="*/ 4 w 289"/>
                  <a:gd name="T5" fmla="*/ 13 h 73"/>
                  <a:gd name="T6" fmla="*/ 1 w 289"/>
                  <a:gd name="T7" fmla="*/ 5 h 73"/>
                  <a:gd name="T8" fmla="*/ 9 w 289"/>
                  <a:gd name="T9" fmla="*/ 2 h 73"/>
                  <a:gd name="T10" fmla="*/ 144 w 289"/>
                  <a:gd name="T11" fmla="*/ 61 h 73"/>
                  <a:gd name="T12" fmla="*/ 280 w 289"/>
                  <a:gd name="T13" fmla="*/ 2 h 73"/>
                  <a:gd name="T14" fmla="*/ 288 w 289"/>
                  <a:gd name="T15" fmla="*/ 5 h 73"/>
                  <a:gd name="T16" fmla="*/ 285 w 289"/>
                  <a:gd name="T17" fmla="*/ 13 h 73"/>
                  <a:gd name="T18" fmla="*/ 147 w 289"/>
                  <a:gd name="T19" fmla="*/ 73 h 73"/>
                  <a:gd name="T20" fmla="*/ 144 w 289"/>
                  <a:gd name="T21" fmla="*/ 73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9" h="73">
                    <a:moveTo>
                      <a:pt x="144" y="73"/>
                    </a:moveTo>
                    <a:cubicBezTo>
                      <a:pt x="144" y="73"/>
                      <a:pt x="143" y="73"/>
                      <a:pt x="142" y="73"/>
                    </a:cubicBezTo>
                    <a:cubicBezTo>
                      <a:pt x="4" y="13"/>
                      <a:pt x="4" y="13"/>
                      <a:pt x="4" y="13"/>
                    </a:cubicBezTo>
                    <a:cubicBezTo>
                      <a:pt x="1" y="11"/>
                      <a:pt x="0" y="8"/>
                      <a:pt x="1" y="5"/>
                    </a:cubicBezTo>
                    <a:cubicBezTo>
                      <a:pt x="2" y="2"/>
                      <a:pt x="6" y="0"/>
                      <a:pt x="9" y="2"/>
                    </a:cubicBezTo>
                    <a:cubicBezTo>
                      <a:pt x="144" y="61"/>
                      <a:pt x="144" y="61"/>
                      <a:pt x="144" y="61"/>
                    </a:cubicBezTo>
                    <a:cubicBezTo>
                      <a:pt x="280" y="2"/>
                      <a:pt x="280" y="2"/>
                      <a:pt x="280" y="2"/>
                    </a:cubicBezTo>
                    <a:cubicBezTo>
                      <a:pt x="283" y="0"/>
                      <a:pt x="287" y="2"/>
                      <a:pt x="288" y="5"/>
                    </a:cubicBezTo>
                    <a:cubicBezTo>
                      <a:pt x="289" y="8"/>
                      <a:pt x="288" y="11"/>
                      <a:pt x="285" y="13"/>
                    </a:cubicBezTo>
                    <a:cubicBezTo>
                      <a:pt x="147" y="73"/>
                      <a:pt x="147" y="73"/>
                      <a:pt x="147" y="73"/>
                    </a:cubicBezTo>
                    <a:cubicBezTo>
                      <a:pt x="146" y="73"/>
                      <a:pt x="145" y="73"/>
                      <a:pt x="144"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119" name="Freeform 52">
                <a:extLst>
                  <a:ext uri="{FF2B5EF4-FFF2-40B4-BE49-F238E27FC236}">
                    <a16:creationId xmlns:a16="http://schemas.microsoft.com/office/drawing/2014/main" id="{0D30073F-3F66-CE58-40DB-FA8615296A1B}"/>
                  </a:ext>
                </a:extLst>
              </p:cNvPr>
              <p:cNvSpPr>
                <a:spLocks noEditPoints="1"/>
              </p:cNvSpPr>
              <p:nvPr/>
            </p:nvSpPr>
            <p:spPr bwMode="auto">
              <a:xfrm>
                <a:off x="3427" y="474"/>
                <a:ext cx="426" cy="196"/>
              </a:xfrm>
              <a:custGeom>
                <a:avLst/>
                <a:gdLst>
                  <a:gd name="T0" fmla="*/ 144 w 288"/>
                  <a:gd name="T1" fmla="*/ 132 h 132"/>
                  <a:gd name="T2" fmla="*/ 142 w 288"/>
                  <a:gd name="T3" fmla="*/ 132 h 132"/>
                  <a:gd name="T4" fmla="*/ 4 w 288"/>
                  <a:gd name="T5" fmla="*/ 72 h 132"/>
                  <a:gd name="T6" fmla="*/ 0 w 288"/>
                  <a:gd name="T7" fmla="*/ 66 h 132"/>
                  <a:gd name="T8" fmla="*/ 4 w 288"/>
                  <a:gd name="T9" fmla="*/ 61 h 132"/>
                  <a:gd name="T10" fmla="*/ 142 w 288"/>
                  <a:gd name="T11" fmla="*/ 1 h 132"/>
                  <a:gd name="T12" fmla="*/ 147 w 288"/>
                  <a:gd name="T13" fmla="*/ 1 h 132"/>
                  <a:gd name="T14" fmla="*/ 285 w 288"/>
                  <a:gd name="T15" fmla="*/ 61 h 132"/>
                  <a:gd name="T16" fmla="*/ 288 w 288"/>
                  <a:gd name="T17" fmla="*/ 66 h 132"/>
                  <a:gd name="T18" fmla="*/ 285 w 288"/>
                  <a:gd name="T19" fmla="*/ 72 h 132"/>
                  <a:gd name="T20" fmla="*/ 147 w 288"/>
                  <a:gd name="T21" fmla="*/ 132 h 132"/>
                  <a:gd name="T22" fmla="*/ 144 w 288"/>
                  <a:gd name="T23" fmla="*/ 132 h 132"/>
                  <a:gd name="T24" fmla="*/ 21 w 288"/>
                  <a:gd name="T25" fmla="*/ 66 h 132"/>
                  <a:gd name="T26" fmla="*/ 144 w 288"/>
                  <a:gd name="T27" fmla="*/ 120 h 132"/>
                  <a:gd name="T28" fmla="*/ 267 w 288"/>
                  <a:gd name="T29" fmla="*/ 66 h 132"/>
                  <a:gd name="T30" fmla="*/ 144 w 288"/>
                  <a:gd name="T31" fmla="*/ 13 h 132"/>
                  <a:gd name="T32" fmla="*/ 21 w 288"/>
                  <a:gd name="T33" fmla="*/ 66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88" h="132">
                    <a:moveTo>
                      <a:pt x="144" y="132"/>
                    </a:moveTo>
                    <a:cubicBezTo>
                      <a:pt x="144" y="132"/>
                      <a:pt x="143" y="132"/>
                      <a:pt x="142" y="132"/>
                    </a:cubicBezTo>
                    <a:cubicBezTo>
                      <a:pt x="4" y="72"/>
                      <a:pt x="4" y="72"/>
                      <a:pt x="4" y="72"/>
                    </a:cubicBezTo>
                    <a:cubicBezTo>
                      <a:pt x="2" y="71"/>
                      <a:pt x="0" y="69"/>
                      <a:pt x="0" y="66"/>
                    </a:cubicBezTo>
                    <a:cubicBezTo>
                      <a:pt x="0" y="64"/>
                      <a:pt x="2" y="62"/>
                      <a:pt x="4" y="61"/>
                    </a:cubicBezTo>
                    <a:cubicBezTo>
                      <a:pt x="142" y="1"/>
                      <a:pt x="142" y="1"/>
                      <a:pt x="142" y="1"/>
                    </a:cubicBezTo>
                    <a:cubicBezTo>
                      <a:pt x="144" y="0"/>
                      <a:pt x="145" y="0"/>
                      <a:pt x="147" y="1"/>
                    </a:cubicBezTo>
                    <a:cubicBezTo>
                      <a:pt x="285" y="61"/>
                      <a:pt x="285" y="61"/>
                      <a:pt x="285" y="61"/>
                    </a:cubicBezTo>
                    <a:cubicBezTo>
                      <a:pt x="287" y="62"/>
                      <a:pt x="288" y="64"/>
                      <a:pt x="288" y="66"/>
                    </a:cubicBezTo>
                    <a:cubicBezTo>
                      <a:pt x="288" y="69"/>
                      <a:pt x="287" y="71"/>
                      <a:pt x="285" y="72"/>
                    </a:cubicBezTo>
                    <a:cubicBezTo>
                      <a:pt x="147" y="132"/>
                      <a:pt x="147" y="132"/>
                      <a:pt x="147" y="132"/>
                    </a:cubicBezTo>
                    <a:cubicBezTo>
                      <a:pt x="146" y="132"/>
                      <a:pt x="145" y="132"/>
                      <a:pt x="144" y="132"/>
                    </a:cubicBezTo>
                    <a:close/>
                    <a:moveTo>
                      <a:pt x="21" y="66"/>
                    </a:moveTo>
                    <a:cubicBezTo>
                      <a:pt x="144" y="120"/>
                      <a:pt x="144" y="120"/>
                      <a:pt x="144" y="120"/>
                    </a:cubicBezTo>
                    <a:cubicBezTo>
                      <a:pt x="267" y="66"/>
                      <a:pt x="267" y="66"/>
                      <a:pt x="267" y="66"/>
                    </a:cubicBezTo>
                    <a:cubicBezTo>
                      <a:pt x="144" y="13"/>
                      <a:pt x="144" y="13"/>
                      <a:pt x="144" y="13"/>
                    </a:cubicBezTo>
                    <a:lnTo>
                      <a:pt x="21" y="6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grpSp>
        <p:pic>
          <p:nvPicPr>
            <p:cNvPr id="109" name="Graphic 108" descr="Red">
              <a:extLst>
                <a:ext uri="{FF2B5EF4-FFF2-40B4-BE49-F238E27FC236}">
                  <a16:creationId xmlns:a16="http://schemas.microsoft.com/office/drawing/2014/main" id="{9A2748A7-5DE0-D76D-021F-153CAC3CDFC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64733" y="1471077"/>
              <a:ext cx="123639" cy="123639"/>
            </a:xfrm>
            <a:prstGeom prst="rect">
              <a:avLst/>
            </a:prstGeom>
          </p:spPr>
        </p:pic>
        <p:sp>
          <p:nvSpPr>
            <p:cNvPr id="110" name="Freeform 147">
              <a:extLst>
                <a:ext uri="{FF2B5EF4-FFF2-40B4-BE49-F238E27FC236}">
                  <a16:creationId xmlns:a16="http://schemas.microsoft.com/office/drawing/2014/main" id="{F817A8D0-E4C4-F475-CE09-494CD8B731FB}"/>
                </a:ext>
              </a:extLst>
            </p:cNvPr>
            <p:cNvSpPr>
              <a:spLocks noEditPoints="1"/>
            </p:cNvSpPr>
            <p:nvPr/>
          </p:nvSpPr>
          <p:spPr bwMode="auto">
            <a:xfrm>
              <a:off x="832652" y="2331389"/>
              <a:ext cx="198386" cy="105976"/>
            </a:xfrm>
            <a:custGeom>
              <a:avLst/>
              <a:gdLst>
                <a:gd name="T0" fmla="*/ 54 w 288"/>
                <a:gd name="T1" fmla="*/ 180 h 180"/>
                <a:gd name="T2" fmla="*/ 14 w 288"/>
                <a:gd name="T3" fmla="*/ 164 h 180"/>
                <a:gd name="T4" fmla="*/ 0 w 288"/>
                <a:gd name="T5" fmla="*/ 129 h 180"/>
                <a:gd name="T6" fmla="*/ 19 w 288"/>
                <a:gd name="T7" fmla="*/ 89 h 180"/>
                <a:gd name="T8" fmla="*/ 55 w 288"/>
                <a:gd name="T9" fmla="*/ 78 h 180"/>
                <a:gd name="T10" fmla="*/ 144 w 288"/>
                <a:gd name="T11" fmla="*/ 0 h 180"/>
                <a:gd name="T12" fmla="*/ 224 w 288"/>
                <a:gd name="T13" fmla="*/ 48 h 180"/>
                <a:gd name="T14" fmla="*/ 268 w 288"/>
                <a:gd name="T15" fmla="*/ 66 h 180"/>
                <a:gd name="T16" fmla="*/ 288 w 288"/>
                <a:gd name="T17" fmla="*/ 114 h 180"/>
                <a:gd name="T18" fmla="*/ 229 w 288"/>
                <a:gd name="T19" fmla="*/ 180 h 180"/>
                <a:gd name="T20" fmla="*/ 228 w 288"/>
                <a:gd name="T21" fmla="*/ 180 h 180"/>
                <a:gd name="T22" fmla="*/ 54 w 288"/>
                <a:gd name="T23" fmla="*/ 180 h 180"/>
                <a:gd name="T24" fmla="*/ 54 w 288"/>
                <a:gd name="T25" fmla="*/ 180 h 180"/>
                <a:gd name="T26" fmla="*/ 51 w 288"/>
                <a:gd name="T27" fmla="*/ 90 h 180"/>
                <a:gd name="T28" fmla="*/ 27 w 288"/>
                <a:gd name="T29" fmla="*/ 99 h 180"/>
                <a:gd name="T30" fmla="*/ 12 w 288"/>
                <a:gd name="T31" fmla="*/ 129 h 180"/>
                <a:gd name="T32" fmla="*/ 22 w 288"/>
                <a:gd name="T33" fmla="*/ 156 h 180"/>
                <a:gd name="T34" fmla="*/ 54 w 288"/>
                <a:gd name="T35" fmla="*/ 168 h 180"/>
                <a:gd name="T36" fmla="*/ 54 w 288"/>
                <a:gd name="T37" fmla="*/ 168 h 180"/>
                <a:gd name="T38" fmla="*/ 228 w 288"/>
                <a:gd name="T39" fmla="*/ 168 h 180"/>
                <a:gd name="T40" fmla="*/ 276 w 288"/>
                <a:gd name="T41" fmla="*/ 114 h 180"/>
                <a:gd name="T42" fmla="*/ 260 w 288"/>
                <a:gd name="T43" fmla="*/ 75 h 180"/>
                <a:gd name="T44" fmla="*/ 220 w 288"/>
                <a:gd name="T45" fmla="*/ 60 h 180"/>
                <a:gd name="T46" fmla="*/ 215 w 288"/>
                <a:gd name="T47" fmla="*/ 57 h 180"/>
                <a:gd name="T48" fmla="*/ 144 w 288"/>
                <a:gd name="T49" fmla="*/ 12 h 180"/>
                <a:gd name="T50" fmla="*/ 66 w 288"/>
                <a:gd name="T51" fmla="*/ 85 h 180"/>
                <a:gd name="T52" fmla="*/ 64 w 288"/>
                <a:gd name="T53" fmla="*/ 90 h 180"/>
                <a:gd name="T54" fmla="*/ 59 w 288"/>
                <a:gd name="T55" fmla="*/ 91 h 180"/>
                <a:gd name="T56" fmla="*/ 51 w 288"/>
                <a:gd name="T57" fmla="*/ 90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88" h="180">
                  <a:moveTo>
                    <a:pt x="54" y="180"/>
                  </a:moveTo>
                  <a:cubicBezTo>
                    <a:pt x="51" y="180"/>
                    <a:pt x="29" y="179"/>
                    <a:pt x="14" y="164"/>
                  </a:cubicBezTo>
                  <a:cubicBezTo>
                    <a:pt x="5" y="156"/>
                    <a:pt x="0" y="144"/>
                    <a:pt x="0" y="129"/>
                  </a:cubicBezTo>
                  <a:cubicBezTo>
                    <a:pt x="0" y="113"/>
                    <a:pt x="7" y="99"/>
                    <a:pt x="19" y="89"/>
                  </a:cubicBezTo>
                  <a:cubicBezTo>
                    <a:pt x="29" y="81"/>
                    <a:pt x="42" y="77"/>
                    <a:pt x="55" y="78"/>
                  </a:cubicBezTo>
                  <a:cubicBezTo>
                    <a:pt x="61" y="34"/>
                    <a:pt x="99" y="0"/>
                    <a:pt x="144" y="0"/>
                  </a:cubicBezTo>
                  <a:cubicBezTo>
                    <a:pt x="177" y="0"/>
                    <a:pt x="208" y="19"/>
                    <a:pt x="224" y="48"/>
                  </a:cubicBezTo>
                  <a:cubicBezTo>
                    <a:pt x="240" y="48"/>
                    <a:pt x="256" y="55"/>
                    <a:pt x="268" y="66"/>
                  </a:cubicBezTo>
                  <a:cubicBezTo>
                    <a:pt x="281" y="79"/>
                    <a:pt x="288" y="96"/>
                    <a:pt x="288" y="114"/>
                  </a:cubicBezTo>
                  <a:cubicBezTo>
                    <a:pt x="288" y="171"/>
                    <a:pt x="230" y="180"/>
                    <a:pt x="229" y="180"/>
                  </a:cubicBezTo>
                  <a:cubicBezTo>
                    <a:pt x="229" y="180"/>
                    <a:pt x="228" y="180"/>
                    <a:pt x="228" y="180"/>
                  </a:cubicBezTo>
                  <a:cubicBezTo>
                    <a:pt x="54" y="180"/>
                    <a:pt x="54" y="180"/>
                    <a:pt x="54" y="180"/>
                  </a:cubicBezTo>
                  <a:cubicBezTo>
                    <a:pt x="54" y="180"/>
                    <a:pt x="54" y="180"/>
                    <a:pt x="54" y="180"/>
                  </a:cubicBezTo>
                  <a:close/>
                  <a:moveTo>
                    <a:pt x="51" y="90"/>
                  </a:moveTo>
                  <a:cubicBezTo>
                    <a:pt x="42" y="90"/>
                    <a:pt x="34" y="93"/>
                    <a:pt x="27" y="99"/>
                  </a:cubicBezTo>
                  <a:cubicBezTo>
                    <a:pt x="17" y="106"/>
                    <a:pt x="12" y="117"/>
                    <a:pt x="12" y="129"/>
                  </a:cubicBezTo>
                  <a:cubicBezTo>
                    <a:pt x="12" y="140"/>
                    <a:pt x="16" y="149"/>
                    <a:pt x="22" y="156"/>
                  </a:cubicBezTo>
                  <a:cubicBezTo>
                    <a:pt x="34" y="168"/>
                    <a:pt x="53" y="168"/>
                    <a:pt x="54" y="168"/>
                  </a:cubicBezTo>
                  <a:cubicBezTo>
                    <a:pt x="54" y="168"/>
                    <a:pt x="54" y="168"/>
                    <a:pt x="54" y="168"/>
                  </a:cubicBezTo>
                  <a:cubicBezTo>
                    <a:pt x="228" y="168"/>
                    <a:pt x="228" y="168"/>
                    <a:pt x="228" y="168"/>
                  </a:cubicBezTo>
                  <a:cubicBezTo>
                    <a:pt x="233" y="167"/>
                    <a:pt x="276" y="159"/>
                    <a:pt x="276" y="114"/>
                  </a:cubicBezTo>
                  <a:cubicBezTo>
                    <a:pt x="276" y="99"/>
                    <a:pt x="270" y="85"/>
                    <a:pt x="260" y="75"/>
                  </a:cubicBezTo>
                  <a:cubicBezTo>
                    <a:pt x="249" y="65"/>
                    <a:pt x="235" y="59"/>
                    <a:pt x="220" y="60"/>
                  </a:cubicBezTo>
                  <a:cubicBezTo>
                    <a:pt x="218" y="60"/>
                    <a:pt x="216" y="59"/>
                    <a:pt x="215" y="57"/>
                  </a:cubicBezTo>
                  <a:cubicBezTo>
                    <a:pt x="202" y="29"/>
                    <a:pt x="174" y="12"/>
                    <a:pt x="144" y="12"/>
                  </a:cubicBezTo>
                  <a:cubicBezTo>
                    <a:pt x="103" y="12"/>
                    <a:pt x="69" y="44"/>
                    <a:pt x="66" y="85"/>
                  </a:cubicBezTo>
                  <a:cubicBezTo>
                    <a:pt x="66" y="87"/>
                    <a:pt x="66" y="88"/>
                    <a:pt x="64" y="90"/>
                  </a:cubicBezTo>
                  <a:cubicBezTo>
                    <a:pt x="63" y="91"/>
                    <a:pt x="61" y="91"/>
                    <a:pt x="59" y="91"/>
                  </a:cubicBezTo>
                  <a:cubicBezTo>
                    <a:pt x="57" y="90"/>
                    <a:pt x="54" y="90"/>
                    <a:pt x="51" y="90"/>
                  </a:cubicBez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111" name="Freeform 5">
              <a:extLst>
                <a:ext uri="{FF2B5EF4-FFF2-40B4-BE49-F238E27FC236}">
                  <a16:creationId xmlns:a16="http://schemas.microsoft.com/office/drawing/2014/main" id="{D2621AC5-CABB-7F74-85BD-AA8B8EC6FBAA}"/>
                </a:ext>
              </a:extLst>
            </p:cNvPr>
            <p:cNvSpPr>
              <a:spLocks noEditPoints="1"/>
            </p:cNvSpPr>
            <p:nvPr/>
          </p:nvSpPr>
          <p:spPr bwMode="auto">
            <a:xfrm>
              <a:off x="863430" y="1977778"/>
              <a:ext cx="126246" cy="123639"/>
            </a:xfrm>
            <a:custGeom>
              <a:avLst/>
              <a:gdLst>
                <a:gd name="T0" fmla="*/ 60 w 88"/>
                <a:gd name="T1" fmla="*/ 8 h 88"/>
                <a:gd name="T2" fmla="*/ 60 w 88"/>
                <a:gd name="T3" fmla="*/ 29 h 88"/>
                <a:gd name="T4" fmla="*/ 28 w 88"/>
                <a:gd name="T5" fmla="*/ 29 h 88"/>
                <a:gd name="T6" fmla="*/ 28 w 88"/>
                <a:gd name="T7" fmla="*/ 8 h 88"/>
                <a:gd name="T8" fmla="*/ 0 w 88"/>
                <a:gd name="T9" fmla="*/ 8 h 88"/>
                <a:gd name="T10" fmla="*/ 14 w 88"/>
                <a:gd name="T11" fmla="*/ 36 h 88"/>
                <a:gd name="T12" fmla="*/ 41 w 88"/>
                <a:gd name="T13" fmla="*/ 44 h 88"/>
                <a:gd name="T14" fmla="*/ 14 w 88"/>
                <a:gd name="T15" fmla="*/ 52 h 88"/>
                <a:gd name="T16" fmla="*/ 0 w 88"/>
                <a:gd name="T17" fmla="*/ 80 h 88"/>
                <a:gd name="T18" fmla="*/ 28 w 88"/>
                <a:gd name="T19" fmla="*/ 80 h 88"/>
                <a:gd name="T20" fmla="*/ 28 w 88"/>
                <a:gd name="T21" fmla="*/ 59 h 88"/>
                <a:gd name="T22" fmla="*/ 60 w 88"/>
                <a:gd name="T23" fmla="*/ 59 h 88"/>
                <a:gd name="T24" fmla="*/ 60 w 88"/>
                <a:gd name="T25" fmla="*/ 80 h 88"/>
                <a:gd name="T26" fmla="*/ 88 w 88"/>
                <a:gd name="T27" fmla="*/ 80 h 88"/>
                <a:gd name="T28" fmla="*/ 74 w 88"/>
                <a:gd name="T29" fmla="*/ 52 h 88"/>
                <a:gd name="T30" fmla="*/ 47 w 88"/>
                <a:gd name="T31" fmla="*/ 44 h 88"/>
                <a:gd name="T32" fmla="*/ 74 w 88"/>
                <a:gd name="T33" fmla="*/ 36 h 88"/>
                <a:gd name="T34" fmla="*/ 88 w 88"/>
                <a:gd name="T35" fmla="*/ 8 h 88"/>
                <a:gd name="T36" fmla="*/ 4 w 88"/>
                <a:gd name="T37" fmla="*/ 14 h 88"/>
                <a:gd name="T38" fmla="*/ 24 w 88"/>
                <a:gd name="T39" fmla="*/ 14 h 88"/>
                <a:gd name="T40" fmla="*/ 14 w 88"/>
                <a:gd name="T41" fmla="*/ 22 h 88"/>
                <a:gd name="T42" fmla="*/ 4 w 88"/>
                <a:gd name="T43" fmla="*/ 14 h 88"/>
                <a:gd name="T44" fmla="*/ 24 w 88"/>
                <a:gd name="T45" fmla="*/ 8 h 88"/>
                <a:gd name="T46" fmla="*/ 4 w 88"/>
                <a:gd name="T47" fmla="*/ 8 h 88"/>
                <a:gd name="T48" fmla="*/ 14 w 88"/>
                <a:gd name="T49" fmla="*/ 32 h 88"/>
                <a:gd name="T50" fmla="*/ 4 w 88"/>
                <a:gd name="T51" fmla="*/ 24 h 88"/>
                <a:gd name="T52" fmla="*/ 24 w 88"/>
                <a:gd name="T53" fmla="*/ 24 h 88"/>
                <a:gd name="T54" fmla="*/ 14 w 88"/>
                <a:gd name="T55" fmla="*/ 32 h 88"/>
                <a:gd name="T56" fmla="*/ 14 w 88"/>
                <a:gd name="T57" fmla="*/ 74 h 88"/>
                <a:gd name="T58" fmla="*/ 4 w 88"/>
                <a:gd name="T59" fmla="*/ 66 h 88"/>
                <a:gd name="T60" fmla="*/ 24 w 88"/>
                <a:gd name="T61" fmla="*/ 66 h 88"/>
                <a:gd name="T62" fmla="*/ 14 w 88"/>
                <a:gd name="T63" fmla="*/ 56 h 88"/>
                <a:gd name="T64" fmla="*/ 14 w 88"/>
                <a:gd name="T65" fmla="*/ 64 h 88"/>
                <a:gd name="T66" fmla="*/ 14 w 88"/>
                <a:gd name="T67" fmla="*/ 56 h 88"/>
                <a:gd name="T68" fmla="*/ 4 w 88"/>
                <a:gd name="T69" fmla="*/ 80 h 88"/>
                <a:gd name="T70" fmla="*/ 14 w 88"/>
                <a:gd name="T71" fmla="*/ 78 h 88"/>
                <a:gd name="T72" fmla="*/ 24 w 88"/>
                <a:gd name="T73" fmla="*/ 80 h 88"/>
                <a:gd name="T74" fmla="*/ 84 w 88"/>
                <a:gd name="T75" fmla="*/ 70 h 88"/>
                <a:gd name="T76" fmla="*/ 64 w 88"/>
                <a:gd name="T77" fmla="*/ 70 h 88"/>
                <a:gd name="T78" fmla="*/ 74 w 88"/>
                <a:gd name="T79" fmla="*/ 68 h 88"/>
                <a:gd name="T80" fmla="*/ 84 w 88"/>
                <a:gd name="T81" fmla="*/ 70 h 88"/>
                <a:gd name="T82" fmla="*/ 64 w 88"/>
                <a:gd name="T83" fmla="*/ 80 h 88"/>
                <a:gd name="T84" fmla="*/ 74 w 88"/>
                <a:gd name="T85" fmla="*/ 78 h 88"/>
                <a:gd name="T86" fmla="*/ 84 w 88"/>
                <a:gd name="T87" fmla="*/ 80 h 88"/>
                <a:gd name="T88" fmla="*/ 74 w 88"/>
                <a:gd name="T89" fmla="*/ 56 h 88"/>
                <a:gd name="T90" fmla="*/ 74 w 88"/>
                <a:gd name="T91" fmla="*/ 64 h 88"/>
                <a:gd name="T92" fmla="*/ 74 w 88"/>
                <a:gd name="T93" fmla="*/ 56 h 88"/>
                <a:gd name="T94" fmla="*/ 74 w 88"/>
                <a:gd name="T95" fmla="*/ 22 h 88"/>
                <a:gd name="T96" fmla="*/ 64 w 88"/>
                <a:gd name="T97" fmla="*/ 14 h 88"/>
                <a:gd name="T98" fmla="*/ 84 w 88"/>
                <a:gd name="T99" fmla="*/ 14 h 88"/>
                <a:gd name="T100" fmla="*/ 74 w 88"/>
                <a:gd name="T101" fmla="*/ 4 h 88"/>
                <a:gd name="T102" fmla="*/ 74 w 88"/>
                <a:gd name="T103" fmla="*/ 12 h 88"/>
                <a:gd name="T104" fmla="*/ 74 w 88"/>
                <a:gd name="T105" fmla="*/ 4 h 88"/>
                <a:gd name="T106" fmla="*/ 64 w 88"/>
                <a:gd name="T107" fmla="*/ 28 h 88"/>
                <a:gd name="T108" fmla="*/ 74 w 88"/>
                <a:gd name="T109" fmla="*/ 26 h 88"/>
                <a:gd name="T110" fmla="*/ 84 w 88"/>
                <a:gd name="T111" fmla="*/ 28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88" h="88">
                  <a:moveTo>
                    <a:pt x="74" y="0"/>
                  </a:moveTo>
                  <a:cubicBezTo>
                    <a:pt x="66" y="0"/>
                    <a:pt x="60" y="3"/>
                    <a:pt x="60" y="8"/>
                  </a:cubicBezTo>
                  <a:cubicBezTo>
                    <a:pt x="60" y="28"/>
                    <a:pt x="60" y="28"/>
                    <a:pt x="60" y="28"/>
                  </a:cubicBezTo>
                  <a:cubicBezTo>
                    <a:pt x="60" y="28"/>
                    <a:pt x="60" y="29"/>
                    <a:pt x="60" y="29"/>
                  </a:cubicBezTo>
                  <a:cubicBezTo>
                    <a:pt x="44" y="41"/>
                    <a:pt x="44" y="41"/>
                    <a:pt x="44" y="41"/>
                  </a:cubicBezTo>
                  <a:cubicBezTo>
                    <a:pt x="28" y="29"/>
                    <a:pt x="28" y="29"/>
                    <a:pt x="28" y="29"/>
                  </a:cubicBezTo>
                  <a:cubicBezTo>
                    <a:pt x="28" y="29"/>
                    <a:pt x="28" y="28"/>
                    <a:pt x="28" y="28"/>
                  </a:cubicBezTo>
                  <a:cubicBezTo>
                    <a:pt x="28" y="8"/>
                    <a:pt x="28" y="8"/>
                    <a:pt x="28" y="8"/>
                  </a:cubicBezTo>
                  <a:cubicBezTo>
                    <a:pt x="28" y="3"/>
                    <a:pt x="22" y="0"/>
                    <a:pt x="14" y="0"/>
                  </a:cubicBezTo>
                  <a:cubicBezTo>
                    <a:pt x="6" y="0"/>
                    <a:pt x="0" y="3"/>
                    <a:pt x="0" y="8"/>
                  </a:cubicBezTo>
                  <a:cubicBezTo>
                    <a:pt x="0" y="28"/>
                    <a:pt x="0" y="28"/>
                    <a:pt x="0" y="28"/>
                  </a:cubicBezTo>
                  <a:cubicBezTo>
                    <a:pt x="0" y="33"/>
                    <a:pt x="6" y="36"/>
                    <a:pt x="14" y="36"/>
                  </a:cubicBezTo>
                  <a:cubicBezTo>
                    <a:pt x="19" y="36"/>
                    <a:pt x="23" y="35"/>
                    <a:pt x="26" y="32"/>
                  </a:cubicBezTo>
                  <a:cubicBezTo>
                    <a:pt x="41" y="44"/>
                    <a:pt x="41" y="44"/>
                    <a:pt x="41" y="44"/>
                  </a:cubicBezTo>
                  <a:cubicBezTo>
                    <a:pt x="26" y="56"/>
                    <a:pt x="26" y="56"/>
                    <a:pt x="26" y="56"/>
                  </a:cubicBezTo>
                  <a:cubicBezTo>
                    <a:pt x="23" y="53"/>
                    <a:pt x="19" y="52"/>
                    <a:pt x="14" y="52"/>
                  </a:cubicBezTo>
                  <a:cubicBezTo>
                    <a:pt x="6" y="52"/>
                    <a:pt x="0" y="55"/>
                    <a:pt x="0" y="60"/>
                  </a:cubicBezTo>
                  <a:cubicBezTo>
                    <a:pt x="0" y="80"/>
                    <a:pt x="0" y="80"/>
                    <a:pt x="0" y="80"/>
                  </a:cubicBezTo>
                  <a:cubicBezTo>
                    <a:pt x="0" y="85"/>
                    <a:pt x="6" y="88"/>
                    <a:pt x="14" y="88"/>
                  </a:cubicBezTo>
                  <a:cubicBezTo>
                    <a:pt x="22" y="88"/>
                    <a:pt x="28" y="85"/>
                    <a:pt x="28" y="80"/>
                  </a:cubicBezTo>
                  <a:cubicBezTo>
                    <a:pt x="28" y="60"/>
                    <a:pt x="28" y="60"/>
                    <a:pt x="28" y="60"/>
                  </a:cubicBezTo>
                  <a:cubicBezTo>
                    <a:pt x="28" y="60"/>
                    <a:pt x="28" y="59"/>
                    <a:pt x="28" y="59"/>
                  </a:cubicBezTo>
                  <a:cubicBezTo>
                    <a:pt x="44" y="47"/>
                    <a:pt x="44" y="47"/>
                    <a:pt x="44" y="47"/>
                  </a:cubicBezTo>
                  <a:cubicBezTo>
                    <a:pt x="60" y="59"/>
                    <a:pt x="60" y="59"/>
                    <a:pt x="60" y="59"/>
                  </a:cubicBezTo>
                  <a:cubicBezTo>
                    <a:pt x="60" y="59"/>
                    <a:pt x="60" y="60"/>
                    <a:pt x="60" y="60"/>
                  </a:cubicBezTo>
                  <a:cubicBezTo>
                    <a:pt x="60" y="80"/>
                    <a:pt x="60" y="80"/>
                    <a:pt x="60" y="80"/>
                  </a:cubicBezTo>
                  <a:cubicBezTo>
                    <a:pt x="60" y="85"/>
                    <a:pt x="66" y="88"/>
                    <a:pt x="74" y="88"/>
                  </a:cubicBezTo>
                  <a:cubicBezTo>
                    <a:pt x="82" y="88"/>
                    <a:pt x="88" y="85"/>
                    <a:pt x="88" y="80"/>
                  </a:cubicBezTo>
                  <a:cubicBezTo>
                    <a:pt x="88" y="60"/>
                    <a:pt x="88" y="60"/>
                    <a:pt x="88" y="60"/>
                  </a:cubicBezTo>
                  <a:cubicBezTo>
                    <a:pt x="88" y="55"/>
                    <a:pt x="82" y="52"/>
                    <a:pt x="74" y="52"/>
                  </a:cubicBezTo>
                  <a:cubicBezTo>
                    <a:pt x="69" y="52"/>
                    <a:pt x="65" y="53"/>
                    <a:pt x="62" y="56"/>
                  </a:cubicBezTo>
                  <a:cubicBezTo>
                    <a:pt x="47" y="44"/>
                    <a:pt x="47" y="44"/>
                    <a:pt x="47" y="44"/>
                  </a:cubicBezTo>
                  <a:cubicBezTo>
                    <a:pt x="62" y="32"/>
                    <a:pt x="62" y="32"/>
                    <a:pt x="62" y="32"/>
                  </a:cubicBezTo>
                  <a:cubicBezTo>
                    <a:pt x="65" y="35"/>
                    <a:pt x="69" y="36"/>
                    <a:pt x="74" y="36"/>
                  </a:cubicBezTo>
                  <a:cubicBezTo>
                    <a:pt x="82" y="36"/>
                    <a:pt x="88" y="33"/>
                    <a:pt x="88" y="28"/>
                  </a:cubicBezTo>
                  <a:cubicBezTo>
                    <a:pt x="88" y="8"/>
                    <a:pt x="88" y="8"/>
                    <a:pt x="88" y="8"/>
                  </a:cubicBezTo>
                  <a:cubicBezTo>
                    <a:pt x="88" y="3"/>
                    <a:pt x="82" y="0"/>
                    <a:pt x="74" y="0"/>
                  </a:cubicBezTo>
                  <a:close/>
                  <a:moveTo>
                    <a:pt x="4" y="14"/>
                  </a:moveTo>
                  <a:cubicBezTo>
                    <a:pt x="7" y="15"/>
                    <a:pt x="10" y="16"/>
                    <a:pt x="14" y="16"/>
                  </a:cubicBezTo>
                  <a:cubicBezTo>
                    <a:pt x="18" y="16"/>
                    <a:pt x="21" y="15"/>
                    <a:pt x="24" y="14"/>
                  </a:cubicBezTo>
                  <a:cubicBezTo>
                    <a:pt x="24" y="18"/>
                    <a:pt x="24" y="18"/>
                    <a:pt x="24" y="18"/>
                  </a:cubicBezTo>
                  <a:cubicBezTo>
                    <a:pt x="24" y="20"/>
                    <a:pt x="20" y="22"/>
                    <a:pt x="14" y="22"/>
                  </a:cubicBezTo>
                  <a:cubicBezTo>
                    <a:pt x="8" y="22"/>
                    <a:pt x="4" y="20"/>
                    <a:pt x="4" y="18"/>
                  </a:cubicBezTo>
                  <a:lnTo>
                    <a:pt x="4" y="14"/>
                  </a:lnTo>
                  <a:close/>
                  <a:moveTo>
                    <a:pt x="14" y="4"/>
                  </a:moveTo>
                  <a:cubicBezTo>
                    <a:pt x="20" y="4"/>
                    <a:pt x="24" y="6"/>
                    <a:pt x="24" y="8"/>
                  </a:cubicBezTo>
                  <a:cubicBezTo>
                    <a:pt x="24" y="10"/>
                    <a:pt x="20" y="12"/>
                    <a:pt x="14" y="12"/>
                  </a:cubicBezTo>
                  <a:cubicBezTo>
                    <a:pt x="8" y="12"/>
                    <a:pt x="4" y="10"/>
                    <a:pt x="4" y="8"/>
                  </a:cubicBezTo>
                  <a:cubicBezTo>
                    <a:pt x="4" y="6"/>
                    <a:pt x="8" y="4"/>
                    <a:pt x="14" y="4"/>
                  </a:cubicBezTo>
                  <a:close/>
                  <a:moveTo>
                    <a:pt x="14" y="32"/>
                  </a:moveTo>
                  <a:cubicBezTo>
                    <a:pt x="8" y="32"/>
                    <a:pt x="4" y="30"/>
                    <a:pt x="4" y="28"/>
                  </a:cubicBezTo>
                  <a:cubicBezTo>
                    <a:pt x="4" y="24"/>
                    <a:pt x="4" y="24"/>
                    <a:pt x="4" y="24"/>
                  </a:cubicBezTo>
                  <a:cubicBezTo>
                    <a:pt x="7" y="25"/>
                    <a:pt x="10" y="26"/>
                    <a:pt x="14" y="26"/>
                  </a:cubicBezTo>
                  <a:cubicBezTo>
                    <a:pt x="18" y="26"/>
                    <a:pt x="21" y="25"/>
                    <a:pt x="24" y="24"/>
                  </a:cubicBezTo>
                  <a:cubicBezTo>
                    <a:pt x="24" y="28"/>
                    <a:pt x="24" y="28"/>
                    <a:pt x="24" y="28"/>
                  </a:cubicBezTo>
                  <a:cubicBezTo>
                    <a:pt x="24" y="30"/>
                    <a:pt x="20" y="32"/>
                    <a:pt x="14" y="32"/>
                  </a:cubicBezTo>
                  <a:close/>
                  <a:moveTo>
                    <a:pt x="24" y="70"/>
                  </a:moveTo>
                  <a:cubicBezTo>
                    <a:pt x="24" y="72"/>
                    <a:pt x="20" y="74"/>
                    <a:pt x="14" y="74"/>
                  </a:cubicBezTo>
                  <a:cubicBezTo>
                    <a:pt x="8" y="74"/>
                    <a:pt x="4" y="72"/>
                    <a:pt x="4" y="70"/>
                  </a:cubicBezTo>
                  <a:cubicBezTo>
                    <a:pt x="4" y="66"/>
                    <a:pt x="4" y="66"/>
                    <a:pt x="4" y="66"/>
                  </a:cubicBezTo>
                  <a:cubicBezTo>
                    <a:pt x="7" y="67"/>
                    <a:pt x="10" y="68"/>
                    <a:pt x="14" y="68"/>
                  </a:cubicBezTo>
                  <a:cubicBezTo>
                    <a:pt x="18" y="68"/>
                    <a:pt x="21" y="67"/>
                    <a:pt x="24" y="66"/>
                  </a:cubicBezTo>
                  <a:lnTo>
                    <a:pt x="24" y="70"/>
                  </a:lnTo>
                  <a:close/>
                  <a:moveTo>
                    <a:pt x="14" y="56"/>
                  </a:moveTo>
                  <a:cubicBezTo>
                    <a:pt x="20" y="56"/>
                    <a:pt x="24" y="58"/>
                    <a:pt x="24" y="60"/>
                  </a:cubicBezTo>
                  <a:cubicBezTo>
                    <a:pt x="24" y="62"/>
                    <a:pt x="20" y="64"/>
                    <a:pt x="14" y="64"/>
                  </a:cubicBezTo>
                  <a:cubicBezTo>
                    <a:pt x="8" y="64"/>
                    <a:pt x="4" y="62"/>
                    <a:pt x="4" y="60"/>
                  </a:cubicBezTo>
                  <a:cubicBezTo>
                    <a:pt x="4" y="58"/>
                    <a:pt x="8" y="56"/>
                    <a:pt x="14" y="56"/>
                  </a:cubicBezTo>
                  <a:close/>
                  <a:moveTo>
                    <a:pt x="14" y="84"/>
                  </a:moveTo>
                  <a:cubicBezTo>
                    <a:pt x="8" y="84"/>
                    <a:pt x="4" y="82"/>
                    <a:pt x="4" y="80"/>
                  </a:cubicBezTo>
                  <a:cubicBezTo>
                    <a:pt x="4" y="76"/>
                    <a:pt x="4" y="76"/>
                    <a:pt x="4" y="76"/>
                  </a:cubicBezTo>
                  <a:cubicBezTo>
                    <a:pt x="7" y="77"/>
                    <a:pt x="10" y="78"/>
                    <a:pt x="14" y="78"/>
                  </a:cubicBezTo>
                  <a:cubicBezTo>
                    <a:pt x="18" y="78"/>
                    <a:pt x="21" y="77"/>
                    <a:pt x="24" y="76"/>
                  </a:cubicBezTo>
                  <a:cubicBezTo>
                    <a:pt x="24" y="80"/>
                    <a:pt x="24" y="80"/>
                    <a:pt x="24" y="80"/>
                  </a:cubicBezTo>
                  <a:cubicBezTo>
                    <a:pt x="24" y="82"/>
                    <a:pt x="20" y="84"/>
                    <a:pt x="14" y="84"/>
                  </a:cubicBezTo>
                  <a:close/>
                  <a:moveTo>
                    <a:pt x="84" y="70"/>
                  </a:moveTo>
                  <a:cubicBezTo>
                    <a:pt x="84" y="72"/>
                    <a:pt x="80" y="74"/>
                    <a:pt x="74" y="74"/>
                  </a:cubicBezTo>
                  <a:cubicBezTo>
                    <a:pt x="68" y="74"/>
                    <a:pt x="64" y="72"/>
                    <a:pt x="64" y="70"/>
                  </a:cubicBezTo>
                  <a:cubicBezTo>
                    <a:pt x="64" y="66"/>
                    <a:pt x="64" y="66"/>
                    <a:pt x="64" y="66"/>
                  </a:cubicBezTo>
                  <a:cubicBezTo>
                    <a:pt x="67" y="67"/>
                    <a:pt x="70" y="68"/>
                    <a:pt x="74" y="68"/>
                  </a:cubicBezTo>
                  <a:cubicBezTo>
                    <a:pt x="78" y="68"/>
                    <a:pt x="81" y="67"/>
                    <a:pt x="84" y="66"/>
                  </a:cubicBezTo>
                  <a:lnTo>
                    <a:pt x="84" y="70"/>
                  </a:lnTo>
                  <a:close/>
                  <a:moveTo>
                    <a:pt x="74" y="84"/>
                  </a:moveTo>
                  <a:cubicBezTo>
                    <a:pt x="68" y="84"/>
                    <a:pt x="64" y="82"/>
                    <a:pt x="64" y="80"/>
                  </a:cubicBezTo>
                  <a:cubicBezTo>
                    <a:pt x="64" y="76"/>
                    <a:pt x="64" y="76"/>
                    <a:pt x="64" y="76"/>
                  </a:cubicBezTo>
                  <a:cubicBezTo>
                    <a:pt x="67" y="77"/>
                    <a:pt x="70" y="78"/>
                    <a:pt x="74" y="78"/>
                  </a:cubicBezTo>
                  <a:cubicBezTo>
                    <a:pt x="78" y="78"/>
                    <a:pt x="81" y="77"/>
                    <a:pt x="84" y="76"/>
                  </a:cubicBezTo>
                  <a:cubicBezTo>
                    <a:pt x="84" y="80"/>
                    <a:pt x="84" y="80"/>
                    <a:pt x="84" y="80"/>
                  </a:cubicBezTo>
                  <a:cubicBezTo>
                    <a:pt x="84" y="82"/>
                    <a:pt x="80" y="84"/>
                    <a:pt x="74" y="84"/>
                  </a:cubicBezTo>
                  <a:close/>
                  <a:moveTo>
                    <a:pt x="74" y="56"/>
                  </a:moveTo>
                  <a:cubicBezTo>
                    <a:pt x="80" y="56"/>
                    <a:pt x="84" y="58"/>
                    <a:pt x="84" y="60"/>
                  </a:cubicBezTo>
                  <a:cubicBezTo>
                    <a:pt x="84" y="62"/>
                    <a:pt x="80" y="64"/>
                    <a:pt x="74" y="64"/>
                  </a:cubicBezTo>
                  <a:cubicBezTo>
                    <a:pt x="68" y="64"/>
                    <a:pt x="64" y="62"/>
                    <a:pt x="64" y="60"/>
                  </a:cubicBezTo>
                  <a:cubicBezTo>
                    <a:pt x="64" y="58"/>
                    <a:pt x="68" y="56"/>
                    <a:pt x="74" y="56"/>
                  </a:cubicBezTo>
                  <a:close/>
                  <a:moveTo>
                    <a:pt x="84" y="18"/>
                  </a:moveTo>
                  <a:cubicBezTo>
                    <a:pt x="84" y="20"/>
                    <a:pt x="80" y="22"/>
                    <a:pt x="74" y="22"/>
                  </a:cubicBezTo>
                  <a:cubicBezTo>
                    <a:pt x="68" y="22"/>
                    <a:pt x="64" y="20"/>
                    <a:pt x="64" y="18"/>
                  </a:cubicBezTo>
                  <a:cubicBezTo>
                    <a:pt x="64" y="14"/>
                    <a:pt x="64" y="14"/>
                    <a:pt x="64" y="14"/>
                  </a:cubicBezTo>
                  <a:cubicBezTo>
                    <a:pt x="67" y="15"/>
                    <a:pt x="70" y="16"/>
                    <a:pt x="74" y="16"/>
                  </a:cubicBezTo>
                  <a:cubicBezTo>
                    <a:pt x="78" y="16"/>
                    <a:pt x="81" y="15"/>
                    <a:pt x="84" y="14"/>
                  </a:cubicBezTo>
                  <a:lnTo>
                    <a:pt x="84" y="18"/>
                  </a:lnTo>
                  <a:close/>
                  <a:moveTo>
                    <a:pt x="74" y="4"/>
                  </a:moveTo>
                  <a:cubicBezTo>
                    <a:pt x="80" y="4"/>
                    <a:pt x="84" y="6"/>
                    <a:pt x="84" y="8"/>
                  </a:cubicBezTo>
                  <a:cubicBezTo>
                    <a:pt x="84" y="10"/>
                    <a:pt x="80" y="12"/>
                    <a:pt x="74" y="12"/>
                  </a:cubicBezTo>
                  <a:cubicBezTo>
                    <a:pt x="68" y="12"/>
                    <a:pt x="64" y="10"/>
                    <a:pt x="64" y="8"/>
                  </a:cubicBezTo>
                  <a:cubicBezTo>
                    <a:pt x="64" y="6"/>
                    <a:pt x="68" y="4"/>
                    <a:pt x="74" y="4"/>
                  </a:cubicBezTo>
                  <a:close/>
                  <a:moveTo>
                    <a:pt x="74" y="32"/>
                  </a:moveTo>
                  <a:cubicBezTo>
                    <a:pt x="68" y="32"/>
                    <a:pt x="64" y="30"/>
                    <a:pt x="64" y="28"/>
                  </a:cubicBezTo>
                  <a:cubicBezTo>
                    <a:pt x="64" y="24"/>
                    <a:pt x="64" y="24"/>
                    <a:pt x="64" y="24"/>
                  </a:cubicBezTo>
                  <a:cubicBezTo>
                    <a:pt x="67" y="25"/>
                    <a:pt x="70" y="26"/>
                    <a:pt x="74" y="26"/>
                  </a:cubicBezTo>
                  <a:cubicBezTo>
                    <a:pt x="78" y="26"/>
                    <a:pt x="81" y="25"/>
                    <a:pt x="84" y="24"/>
                  </a:cubicBezTo>
                  <a:cubicBezTo>
                    <a:pt x="84" y="28"/>
                    <a:pt x="84" y="28"/>
                    <a:pt x="84" y="28"/>
                  </a:cubicBezTo>
                  <a:cubicBezTo>
                    <a:pt x="84" y="30"/>
                    <a:pt x="80" y="32"/>
                    <a:pt x="74" y="32"/>
                  </a:cubicBez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800" b="0" i="0" u="none" strike="noStrike" kern="0" cap="none" spc="0" normalizeH="0" baseline="0" noProof="0">
                <a:ln>
                  <a:noFill/>
                </a:ln>
                <a:solidFill>
                  <a:srgbClr val="96968C"/>
                </a:solidFill>
                <a:effectLst/>
                <a:uLnTx/>
                <a:uFillTx/>
                <a:latin typeface="Graphik Semibold" panose="020B0703030202060203" pitchFamily="34" charset="0"/>
                <a:ea typeface="+mn-ea"/>
                <a:cs typeface="Arial" charset="0"/>
              </a:endParaRPr>
            </a:p>
          </p:txBody>
        </p:sp>
        <p:grpSp>
          <p:nvGrpSpPr>
            <p:cNvPr id="112" name="Group 67">
              <a:extLst>
                <a:ext uri="{FF2B5EF4-FFF2-40B4-BE49-F238E27FC236}">
                  <a16:creationId xmlns:a16="http://schemas.microsoft.com/office/drawing/2014/main" id="{1BA47B8F-C098-4A0D-D8EC-4C493AA111F6}"/>
                </a:ext>
              </a:extLst>
            </p:cNvPr>
            <p:cNvGrpSpPr>
              <a:grpSpLocks noChangeAspect="1"/>
            </p:cNvGrpSpPr>
            <p:nvPr/>
          </p:nvGrpSpPr>
          <p:grpSpPr bwMode="auto">
            <a:xfrm>
              <a:off x="863430" y="1684605"/>
              <a:ext cx="126246" cy="123349"/>
              <a:chOff x="1356" y="1721"/>
              <a:chExt cx="427" cy="426"/>
            </a:xfrm>
            <a:solidFill>
              <a:srgbClr val="FFFFFF"/>
            </a:solidFill>
          </p:grpSpPr>
          <p:sp>
            <p:nvSpPr>
              <p:cNvPr id="113" name="Freeform 68">
                <a:extLst>
                  <a:ext uri="{FF2B5EF4-FFF2-40B4-BE49-F238E27FC236}">
                    <a16:creationId xmlns:a16="http://schemas.microsoft.com/office/drawing/2014/main" id="{C919F29F-8126-FF25-BBE3-AB5480BC81B4}"/>
                  </a:ext>
                </a:extLst>
              </p:cNvPr>
              <p:cNvSpPr>
                <a:spLocks noEditPoints="1"/>
              </p:cNvSpPr>
              <p:nvPr/>
            </p:nvSpPr>
            <p:spPr bwMode="auto">
              <a:xfrm>
                <a:off x="1356" y="1721"/>
                <a:ext cx="427" cy="426"/>
              </a:xfrm>
              <a:custGeom>
                <a:avLst/>
                <a:gdLst>
                  <a:gd name="T0" fmla="*/ 126 w 288"/>
                  <a:gd name="T1" fmla="*/ 288 h 288"/>
                  <a:gd name="T2" fmla="*/ 120 w 288"/>
                  <a:gd name="T3" fmla="*/ 247 h 288"/>
                  <a:gd name="T4" fmla="*/ 67 w 288"/>
                  <a:gd name="T5" fmla="*/ 262 h 288"/>
                  <a:gd name="T6" fmla="*/ 25 w 288"/>
                  <a:gd name="T7" fmla="*/ 229 h 288"/>
                  <a:gd name="T8" fmla="*/ 25 w 288"/>
                  <a:gd name="T9" fmla="*/ 220 h 288"/>
                  <a:gd name="T10" fmla="*/ 40 w 288"/>
                  <a:gd name="T11" fmla="*/ 168 h 288"/>
                  <a:gd name="T12" fmla="*/ 0 w 288"/>
                  <a:gd name="T13" fmla="*/ 162 h 288"/>
                  <a:gd name="T14" fmla="*/ 6 w 288"/>
                  <a:gd name="T15" fmla="*/ 120 h 288"/>
                  <a:gd name="T16" fmla="*/ 49 w 288"/>
                  <a:gd name="T17" fmla="*/ 92 h 288"/>
                  <a:gd name="T18" fmla="*/ 23 w 288"/>
                  <a:gd name="T19" fmla="*/ 63 h 288"/>
                  <a:gd name="T20" fmla="*/ 59 w 288"/>
                  <a:gd name="T21" fmla="*/ 25 h 288"/>
                  <a:gd name="T22" fmla="*/ 92 w 288"/>
                  <a:gd name="T23" fmla="*/ 49 h 288"/>
                  <a:gd name="T24" fmla="*/ 120 w 288"/>
                  <a:gd name="T25" fmla="*/ 6 h 288"/>
                  <a:gd name="T26" fmla="*/ 162 w 288"/>
                  <a:gd name="T27" fmla="*/ 0 h 288"/>
                  <a:gd name="T28" fmla="*/ 168 w 288"/>
                  <a:gd name="T29" fmla="*/ 40 h 288"/>
                  <a:gd name="T30" fmla="*/ 220 w 288"/>
                  <a:gd name="T31" fmla="*/ 25 h 288"/>
                  <a:gd name="T32" fmla="*/ 263 w 288"/>
                  <a:gd name="T33" fmla="*/ 59 h 288"/>
                  <a:gd name="T34" fmla="*/ 263 w 288"/>
                  <a:gd name="T35" fmla="*/ 67 h 288"/>
                  <a:gd name="T36" fmla="*/ 248 w 288"/>
                  <a:gd name="T37" fmla="*/ 120 h 288"/>
                  <a:gd name="T38" fmla="*/ 288 w 288"/>
                  <a:gd name="T39" fmla="*/ 126 h 288"/>
                  <a:gd name="T40" fmla="*/ 282 w 288"/>
                  <a:gd name="T41" fmla="*/ 168 h 288"/>
                  <a:gd name="T42" fmla="*/ 238 w 288"/>
                  <a:gd name="T43" fmla="*/ 196 h 288"/>
                  <a:gd name="T44" fmla="*/ 263 w 288"/>
                  <a:gd name="T45" fmla="*/ 229 h 288"/>
                  <a:gd name="T46" fmla="*/ 220 w 288"/>
                  <a:gd name="T47" fmla="*/ 262 h 288"/>
                  <a:gd name="T48" fmla="*/ 168 w 288"/>
                  <a:gd name="T49" fmla="*/ 247 h 288"/>
                  <a:gd name="T50" fmla="*/ 162 w 288"/>
                  <a:gd name="T51" fmla="*/ 288 h 288"/>
                  <a:gd name="T52" fmla="*/ 156 w 288"/>
                  <a:gd name="T53" fmla="*/ 276 h 288"/>
                  <a:gd name="T54" fmla="*/ 160 w 288"/>
                  <a:gd name="T55" fmla="*/ 237 h 288"/>
                  <a:gd name="T56" fmla="*/ 201 w 288"/>
                  <a:gd name="T57" fmla="*/ 226 h 288"/>
                  <a:gd name="T58" fmla="*/ 250 w 288"/>
                  <a:gd name="T59" fmla="*/ 224 h 288"/>
                  <a:gd name="T60" fmla="*/ 226 w 288"/>
                  <a:gd name="T61" fmla="*/ 194 h 288"/>
                  <a:gd name="T62" fmla="*/ 243 w 288"/>
                  <a:gd name="T63" fmla="*/ 156 h 288"/>
                  <a:gd name="T64" fmla="*/ 276 w 288"/>
                  <a:gd name="T65" fmla="*/ 132 h 288"/>
                  <a:gd name="T66" fmla="*/ 237 w 288"/>
                  <a:gd name="T67" fmla="*/ 127 h 288"/>
                  <a:gd name="T68" fmla="*/ 227 w 288"/>
                  <a:gd name="T69" fmla="*/ 86 h 288"/>
                  <a:gd name="T70" fmla="*/ 224 w 288"/>
                  <a:gd name="T71" fmla="*/ 38 h 288"/>
                  <a:gd name="T72" fmla="*/ 194 w 288"/>
                  <a:gd name="T73" fmla="*/ 62 h 288"/>
                  <a:gd name="T74" fmla="*/ 156 w 288"/>
                  <a:gd name="T75" fmla="*/ 45 h 288"/>
                  <a:gd name="T76" fmla="*/ 132 w 288"/>
                  <a:gd name="T77" fmla="*/ 12 h 288"/>
                  <a:gd name="T78" fmla="*/ 127 w 288"/>
                  <a:gd name="T79" fmla="*/ 50 h 288"/>
                  <a:gd name="T80" fmla="*/ 87 w 288"/>
                  <a:gd name="T81" fmla="*/ 61 h 288"/>
                  <a:gd name="T82" fmla="*/ 38 w 288"/>
                  <a:gd name="T83" fmla="*/ 63 h 288"/>
                  <a:gd name="T84" fmla="*/ 62 w 288"/>
                  <a:gd name="T85" fmla="*/ 94 h 288"/>
                  <a:gd name="T86" fmla="*/ 45 w 288"/>
                  <a:gd name="T87" fmla="*/ 132 h 288"/>
                  <a:gd name="T88" fmla="*/ 12 w 288"/>
                  <a:gd name="T89" fmla="*/ 156 h 288"/>
                  <a:gd name="T90" fmla="*/ 51 w 288"/>
                  <a:gd name="T91" fmla="*/ 160 h 288"/>
                  <a:gd name="T92" fmla="*/ 61 w 288"/>
                  <a:gd name="T93" fmla="*/ 201 h 288"/>
                  <a:gd name="T94" fmla="*/ 63 w 288"/>
                  <a:gd name="T95" fmla="*/ 250 h 288"/>
                  <a:gd name="T96" fmla="*/ 94 w 288"/>
                  <a:gd name="T97" fmla="*/ 226 h 288"/>
                  <a:gd name="T98" fmla="*/ 132 w 288"/>
                  <a:gd name="T99" fmla="*/ 243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88" h="288">
                    <a:moveTo>
                      <a:pt x="162" y="288"/>
                    </a:moveTo>
                    <a:cubicBezTo>
                      <a:pt x="126" y="288"/>
                      <a:pt x="126" y="288"/>
                      <a:pt x="126" y="288"/>
                    </a:cubicBezTo>
                    <a:cubicBezTo>
                      <a:pt x="123" y="288"/>
                      <a:pt x="120" y="285"/>
                      <a:pt x="120" y="282"/>
                    </a:cubicBezTo>
                    <a:cubicBezTo>
                      <a:pt x="120" y="247"/>
                      <a:pt x="120" y="247"/>
                      <a:pt x="120" y="247"/>
                    </a:cubicBezTo>
                    <a:cubicBezTo>
                      <a:pt x="110" y="245"/>
                      <a:pt x="100" y="242"/>
                      <a:pt x="92" y="238"/>
                    </a:cubicBezTo>
                    <a:cubicBezTo>
                      <a:pt x="67" y="262"/>
                      <a:pt x="67" y="262"/>
                      <a:pt x="67" y="262"/>
                    </a:cubicBezTo>
                    <a:cubicBezTo>
                      <a:pt x="65" y="265"/>
                      <a:pt x="61" y="265"/>
                      <a:pt x="59" y="262"/>
                    </a:cubicBezTo>
                    <a:cubicBezTo>
                      <a:pt x="25" y="229"/>
                      <a:pt x="25" y="229"/>
                      <a:pt x="25" y="229"/>
                    </a:cubicBezTo>
                    <a:cubicBezTo>
                      <a:pt x="24" y="227"/>
                      <a:pt x="23" y="226"/>
                      <a:pt x="23" y="224"/>
                    </a:cubicBezTo>
                    <a:cubicBezTo>
                      <a:pt x="23" y="223"/>
                      <a:pt x="24" y="221"/>
                      <a:pt x="25" y="220"/>
                    </a:cubicBezTo>
                    <a:cubicBezTo>
                      <a:pt x="49" y="196"/>
                      <a:pt x="49" y="196"/>
                      <a:pt x="49" y="196"/>
                    </a:cubicBezTo>
                    <a:cubicBezTo>
                      <a:pt x="46" y="188"/>
                      <a:pt x="43" y="177"/>
                      <a:pt x="40" y="168"/>
                    </a:cubicBezTo>
                    <a:cubicBezTo>
                      <a:pt x="6" y="168"/>
                      <a:pt x="6" y="168"/>
                      <a:pt x="6" y="168"/>
                    </a:cubicBezTo>
                    <a:cubicBezTo>
                      <a:pt x="3" y="168"/>
                      <a:pt x="0" y="165"/>
                      <a:pt x="0" y="162"/>
                    </a:cubicBezTo>
                    <a:cubicBezTo>
                      <a:pt x="0" y="126"/>
                      <a:pt x="0" y="126"/>
                      <a:pt x="0" y="126"/>
                    </a:cubicBezTo>
                    <a:cubicBezTo>
                      <a:pt x="0" y="122"/>
                      <a:pt x="3" y="120"/>
                      <a:pt x="6" y="120"/>
                    </a:cubicBezTo>
                    <a:cubicBezTo>
                      <a:pt x="40" y="120"/>
                      <a:pt x="40" y="120"/>
                      <a:pt x="40" y="120"/>
                    </a:cubicBezTo>
                    <a:cubicBezTo>
                      <a:pt x="43" y="110"/>
                      <a:pt x="46" y="100"/>
                      <a:pt x="49" y="92"/>
                    </a:cubicBezTo>
                    <a:cubicBezTo>
                      <a:pt x="25" y="67"/>
                      <a:pt x="25" y="67"/>
                      <a:pt x="25" y="67"/>
                    </a:cubicBezTo>
                    <a:cubicBezTo>
                      <a:pt x="24" y="66"/>
                      <a:pt x="23" y="65"/>
                      <a:pt x="23" y="63"/>
                    </a:cubicBezTo>
                    <a:cubicBezTo>
                      <a:pt x="23" y="61"/>
                      <a:pt x="24" y="60"/>
                      <a:pt x="25" y="59"/>
                    </a:cubicBezTo>
                    <a:cubicBezTo>
                      <a:pt x="59" y="25"/>
                      <a:pt x="59" y="25"/>
                      <a:pt x="59" y="25"/>
                    </a:cubicBezTo>
                    <a:cubicBezTo>
                      <a:pt x="61" y="23"/>
                      <a:pt x="65" y="23"/>
                      <a:pt x="67" y="25"/>
                    </a:cubicBezTo>
                    <a:cubicBezTo>
                      <a:pt x="92" y="49"/>
                      <a:pt x="92" y="49"/>
                      <a:pt x="92" y="49"/>
                    </a:cubicBezTo>
                    <a:cubicBezTo>
                      <a:pt x="100" y="45"/>
                      <a:pt x="110" y="42"/>
                      <a:pt x="120" y="40"/>
                    </a:cubicBezTo>
                    <a:cubicBezTo>
                      <a:pt x="120" y="6"/>
                      <a:pt x="120" y="6"/>
                      <a:pt x="120" y="6"/>
                    </a:cubicBezTo>
                    <a:cubicBezTo>
                      <a:pt x="120" y="2"/>
                      <a:pt x="123" y="0"/>
                      <a:pt x="126" y="0"/>
                    </a:cubicBezTo>
                    <a:cubicBezTo>
                      <a:pt x="162" y="0"/>
                      <a:pt x="162" y="0"/>
                      <a:pt x="162" y="0"/>
                    </a:cubicBezTo>
                    <a:cubicBezTo>
                      <a:pt x="165" y="0"/>
                      <a:pt x="168" y="2"/>
                      <a:pt x="168" y="6"/>
                    </a:cubicBezTo>
                    <a:cubicBezTo>
                      <a:pt x="168" y="40"/>
                      <a:pt x="168" y="40"/>
                      <a:pt x="168" y="40"/>
                    </a:cubicBezTo>
                    <a:cubicBezTo>
                      <a:pt x="177" y="42"/>
                      <a:pt x="188" y="45"/>
                      <a:pt x="196" y="49"/>
                    </a:cubicBezTo>
                    <a:cubicBezTo>
                      <a:pt x="220" y="25"/>
                      <a:pt x="220" y="25"/>
                      <a:pt x="220" y="25"/>
                    </a:cubicBezTo>
                    <a:cubicBezTo>
                      <a:pt x="223" y="23"/>
                      <a:pt x="226" y="23"/>
                      <a:pt x="229" y="25"/>
                    </a:cubicBezTo>
                    <a:cubicBezTo>
                      <a:pt x="263" y="59"/>
                      <a:pt x="263" y="59"/>
                      <a:pt x="263" y="59"/>
                    </a:cubicBezTo>
                    <a:cubicBezTo>
                      <a:pt x="264" y="60"/>
                      <a:pt x="264" y="61"/>
                      <a:pt x="264" y="63"/>
                    </a:cubicBezTo>
                    <a:cubicBezTo>
                      <a:pt x="264" y="65"/>
                      <a:pt x="264" y="66"/>
                      <a:pt x="263" y="67"/>
                    </a:cubicBezTo>
                    <a:cubicBezTo>
                      <a:pt x="238" y="92"/>
                      <a:pt x="238" y="92"/>
                      <a:pt x="238" y="92"/>
                    </a:cubicBezTo>
                    <a:cubicBezTo>
                      <a:pt x="242" y="100"/>
                      <a:pt x="245" y="110"/>
                      <a:pt x="248" y="120"/>
                    </a:cubicBezTo>
                    <a:cubicBezTo>
                      <a:pt x="282" y="120"/>
                      <a:pt x="282" y="120"/>
                      <a:pt x="282" y="120"/>
                    </a:cubicBezTo>
                    <a:cubicBezTo>
                      <a:pt x="285" y="120"/>
                      <a:pt x="288" y="122"/>
                      <a:pt x="288" y="126"/>
                    </a:cubicBezTo>
                    <a:cubicBezTo>
                      <a:pt x="288" y="162"/>
                      <a:pt x="288" y="162"/>
                      <a:pt x="288" y="162"/>
                    </a:cubicBezTo>
                    <a:cubicBezTo>
                      <a:pt x="288" y="165"/>
                      <a:pt x="285" y="168"/>
                      <a:pt x="282" y="168"/>
                    </a:cubicBezTo>
                    <a:cubicBezTo>
                      <a:pt x="248" y="168"/>
                      <a:pt x="248" y="168"/>
                      <a:pt x="248" y="168"/>
                    </a:cubicBezTo>
                    <a:cubicBezTo>
                      <a:pt x="245" y="177"/>
                      <a:pt x="242" y="188"/>
                      <a:pt x="238" y="196"/>
                    </a:cubicBezTo>
                    <a:cubicBezTo>
                      <a:pt x="263" y="220"/>
                      <a:pt x="263" y="220"/>
                      <a:pt x="263" y="220"/>
                    </a:cubicBezTo>
                    <a:cubicBezTo>
                      <a:pt x="265" y="222"/>
                      <a:pt x="265" y="226"/>
                      <a:pt x="263" y="229"/>
                    </a:cubicBezTo>
                    <a:cubicBezTo>
                      <a:pt x="229" y="262"/>
                      <a:pt x="229" y="262"/>
                      <a:pt x="229" y="262"/>
                    </a:cubicBezTo>
                    <a:cubicBezTo>
                      <a:pt x="226" y="265"/>
                      <a:pt x="223" y="265"/>
                      <a:pt x="220" y="262"/>
                    </a:cubicBezTo>
                    <a:cubicBezTo>
                      <a:pt x="196" y="238"/>
                      <a:pt x="196" y="238"/>
                      <a:pt x="196" y="238"/>
                    </a:cubicBezTo>
                    <a:cubicBezTo>
                      <a:pt x="188" y="242"/>
                      <a:pt x="177" y="245"/>
                      <a:pt x="168" y="247"/>
                    </a:cubicBezTo>
                    <a:cubicBezTo>
                      <a:pt x="168" y="282"/>
                      <a:pt x="168" y="282"/>
                      <a:pt x="168" y="282"/>
                    </a:cubicBezTo>
                    <a:cubicBezTo>
                      <a:pt x="168" y="285"/>
                      <a:pt x="165" y="288"/>
                      <a:pt x="162" y="288"/>
                    </a:cubicBezTo>
                    <a:close/>
                    <a:moveTo>
                      <a:pt x="132" y="276"/>
                    </a:moveTo>
                    <a:cubicBezTo>
                      <a:pt x="156" y="276"/>
                      <a:pt x="156" y="276"/>
                      <a:pt x="156" y="276"/>
                    </a:cubicBezTo>
                    <a:cubicBezTo>
                      <a:pt x="156" y="243"/>
                      <a:pt x="156" y="243"/>
                      <a:pt x="156" y="243"/>
                    </a:cubicBezTo>
                    <a:cubicBezTo>
                      <a:pt x="156" y="240"/>
                      <a:pt x="158" y="238"/>
                      <a:pt x="160" y="237"/>
                    </a:cubicBezTo>
                    <a:cubicBezTo>
                      <a:pt x="167" y="235"/>
                      <a:pt x="185" y="231"/>
                      <a:pt x="194" y="226"/>
                    </a:cubicBezTo>
                    <a:cubicBezTo>
                      <a:pt x="196" y="224"/>
                      <a:pt x="199" y="224"/>
                      <a:pt x="201" y="226"/>
                    </a:cubicBezTo>
                    <a:cubicBezTo>
                      <a:pt x="224" y="250"/>
                      <a:pt x="224" y="250"/>
                      <a:pt x="224" y="250"/>
                    </a:cubicBezTo>
                    <a:cubicBezTo>
                      <a:pt x="250" y="224"/>
                      <a:pt x="250" y="224"/>
                      <a:pt x="250" y="224"/>
                    </a:cubicBezTo>
                    <a:cubicBezTo>
                      <a:pt x="227" y="201"/>
                      <a:pt x="227" y="201"/>
                      <a:pt x="227" y="201"/>
                    </a:cubicBezTo>
                    <a:cubicBezTo>
                      <a:pt x="225" y="199"/>
                      <a:pt x="224" y="196"/>
                      <a:pt x="226" y="194"/>
                    </a:cubicBezTo>
                    <a:cubicBezTo>
                      <a:pt x="231" y="185"/>
                      <a:pt x="235" y="167"/>
                      <a:pt x="237" y="160"/>
                    </a:cubicBezTo>
                    <a:cubicBezTo>
                      <a:pt x="238" y="158"/>
                      <a:pt x="240" y="156"/>
                      <a:pt x="243" y="156"/>
                    </a:cubicBezTo>
                    <a:cubicBezTo>
                      <a:pt x="276" y="156"/>
                      <a:pt x="276" y="156"/>
                      <a:pt x="276" y="156"/>
                    </a:cubicBezTo>
                    <a:cubicBezTo>
                      <a:pt x="276" y="132"/>
                      <a:pt x="276" y="132"/>
                      <a:pt x="276" y="132"/>
                    </a:cubicBezTo>
                    <a:cubicBezTo>
                      <a:pt x="243" y="132"/>
                      <a:pt x="243" y="132"/>
                      <a:pt x="243" y="132"/>
                    </a:cubicBezTo>
                    <a:cubicBezTo>
                      <a:pt x="240" y="132"/>
                      <a:pt x="238" y="130"/>
                      <a:pt x="237" y="127"/>
                    </a:cubicBezTo>
                    <a:cubicBezTo>
                      <a:pt x="235" y="120"/>
                      <a:pt x="231" y="103"/>
                      <a:pt x="226" y="94"/>
                    </a:cubicBezTo>
                    <a:cubicBezTo>
                      <a:pt x="224" y="91"/>
                      <a:pt x="225" y="88"/>
                      <a:pt x="227" y="86"/>
                    </a:cubicBezTo>
                    <a:cubicBezTo>
                      <a:pt x="250" y="63"/>
                      <a:pt x="250" y="63"/>
                      <a:pt x="250" y="63"/>
                    </a:cubicBezTo>
                    <a:cubicBezTo>
                      <a:pt x="224" y="38"/>
                      <a:pt x="224" y="38"/>
                      <a:pt x="224" y="38"/>
                    </a:cubicBezTo>
                    <a:cubicBezTo>
                      <a:pt x="201" y="61"/>
                      <a:pt x="201" y="61"/>
                      <a:pt x="201" y="61"/>
                    </a:cubicBezTo>
                    <a:cubicBezTo>
                      <a:pt x="199" y="63"/>
                      <a:pt x="196" y="63"/>
                      <a:pt x="194" y="62"/>
                    </a:cubicBezTo>
                    <a:cubicBezTo>
                      <a:pt x="186" y="57"/>
                      <a:pt x="171" y="53"/>
                      <a:pt x="160" y="50"/>
                    </a:cubicBezTo>
                    <a:cubicBezTo>
                      <a:pt x="158" y="50"/>
                      <a:pt x="156" y="47"/>
                      <a:pt x="156" y="45"/>
                    </a:cubicBezTo>
                    <a:cubicBezTo>
                      <a:pt x="156" y="12"/>
                      <a:pt x="156" y="12"/>
                      <a:pt x="156" y="12"/>
                    </a:cubicBezTo>
                    <a:cubicBezTo>
                      <a:pt x="132" y="12"/>
                      <a:pt x="132" y="12"/>
                      <a:pt x="132" y="12"/>
                    </a:cubicBezTo>
                    <a:cubicBezTo>
                      <a:pt x="132" y="45"/>
                      <a:pt x="132" y="45"/>
                      <a:pt x="132" y="45"/>
                    </a:cubicBezTo>
                    <a:cubicBezTo>
                      <a:pt x="132" y="47"/>
                      <a:pt x="130" y="50"/>
                      <a:pt x="127" y="50"/>
                    </a:cubicBezTo>
                    <a:cubicBezTo>
                      <a:pt x="117" y="53"/>
                      <a:pt x="102" y="57"/>
                      <a:pt x="94" y="62"/>
                    </a:cubicBezTo>
                    <a:cubicBezTo>
                      <a:pt x="92" y="63"/>
                      <a:pt x="89" y="63"/>
                      <a:pt x="87" y="61"/>
                    </a:cubicBezTo>
                    <a:cubicBezTo>
                      <a:pt x="63" y="38"/>
                      <a:pt x="63" y="38"/>
                      <a:pt x="63" y="38"/>
                    </a:cubicBezTo>
                    <a:cubicBezTo>
                      <a:pt x="38" y="63"/>
                      <a:pt x="38" y="63"/>
                      <a:pt x="38" y="63"/>
                    </a:cubicBezTo>
                    <a:cubicBezTo>
                      <a:pt x="61" y="86"/>
                      <a:pt x="61" y="86"/>
                      <a:pt x="61" y="86"/>
                    </a:cubicBezTo>
                    <a:cubicBezTo>
                      <a:pt x="63" y="88"/>
                      <a:pt x="63" y="91"/>
                      <a:pt x="62" y="94"/>
                    </a:cubicBezTo>
                    <a:cubicBezTo>
                      <a:pt x="57" y="103"/>
                      <a:pt x="52" y="120"/>
                      <a:pt x="51" y="127"/>
                    </a:cubicBezTo>
                    <a:cubicBezTo>
                      <a:pt x="50" y="130"/>
                      <a:pt x="48" y="132"/>
                      <a:pt x="45" y="132"/>
                    </a:cubicBezTo>
                    <a:cubicBezTo>
                      <a:pt x="12" y="132"/>
                      <a:pt x="12" y="132"/>
                      <a:pt x="12" y="132"/>
                    </a:cubicBezTo>
                    <a:cubicBezTo>
                      <a:pt x="12" y="156"/>
                      <a:pt x="12" y="156"/>
                      <a:pt x="12" y="156"/>
                    </a:cubicBezTo>
                    <a:cubicBezTo>
                      <a:pt x="45" y="156"/>
                      <a:pt x="45" y="156"/>
                      <a:pt x="45" y="156"/>
                    </a:cubicBezTo>
                    <a:cubicBezTo>
                      <a:pt x="48" y="156"/>
                      <a:pt x="50" y="158"/>
                      <a:pt x="51" y="160"/>
                    </a:cubicBezTo>
                    <a:cubicBezTo>
                      <a:pt x="52" y="167"/>
                      <a:pt x="57" y="185"/>
                      <a:pt x="62" y="194"/>
                    </a:cubicBezTo>
                    <a:cubicBezTo>
                      <a:pt x="63" y="196"/>
                      <a:pt x="63" y="199"/>
                      <a:pt x="61" y="201"/>
                    </a:cubicBezTo>
                    <a:cubicBezTo>
                      <a:pt x="38" y="224"/>
                      <a:pt x="38" y="224"/>
                      <a:pt x="38" y="224"/>
                    </a:cubicBezTo>
                    <a:cubicBezTo>
                      <a:pt x="63" y="250"/>
                      <a:pt x="63" y="250"/>
                      <a:pt x="63" y="250"/>
                    </a:cubicBezTo>
                    <a:cubicBezTo>
                      <a:pt x="87" y="226"/>
                      <a:pt x="87" y="226"/>
                      <a:pt x="87" y="226"/>
                    </a:cubicBezTo>
                    <a:cubicBezTo>
                      <a:pt x="88" y="224"/>
                      <a:pt x="92" y="224"/>
                      <a:pt x="94" y="226"/>
                    </a:cubicBezTo>
                    <a:cubicBezTo>
                      <a:pt x="103" y="231"/>
                      <a:pt x="121" y="235"/>
                      <a:pt x="127" y="237"/>
                    </a:cubicBezTo>
                    <a:cubicBezTo>
                      <a:pt x="130" y="238"/>
                      <a:pt x="132" y="240"/>
                      <a:pt x="132" y="243"/>
                    </a:cubicBezTo>
                    <a:lnTo>
                      <a:pt x="132" y="27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114" name="Freeform 69">
                <a:extLst>
                  <a:ext uri="{FF2B5EF4-FFF2-40B4-BE49-F238E27FC236}">
                    <a16:creationId xmlns:a16="http://schemas.microsoft.com/office/drawing/2014/main" id="{FFD4FCDA-36A3-D6C8-B6B3-2F86D7503D15}"/>
                  </a:ext>
                </a:extLst>
              </p:cNvPr>
              <p:cNvSpPr>
                <a:spLocks noEditPoints="1"/>
              </p:cNvSpPr>
              <p:nvPr/>
            </p:nvSpPr>
            <p:spPr bwMode="auto">
              <a:xfrm>
                <a:off x="1454" y="1819"/>
                <a:ext cx="231" cy="230"/>
              </a:xfrm>
              <a:custGeom>
                <a:avLst/>
                <a:gdLst>
                  <a:gd name="T0" fmla="*/ 78 w 156"/>
                  <a:gd name="T1" fmla="*/ 156 h 156"/>
                  <a:gd name="T2" fmla="*/ 0 w 156"/>
                  <a:gd name="T3" fmla="*/ 78 h 156"/>
                  <a:gd name="T4" fmla="*/ 78 w 156"/>
                  <a:gd name="T5" fmla="*/ 0 h 156"/>
                  <a:gd name="T6" fmla="*/ 156 w 156"/>
                  <a:gd name="T7" fmla="*/ 78 h 156"/>
                  <a:gd name="T8" fmla="*/ 78 w 156"/>
                  <a:gd name="T9" fmla="*/ 156 h 156"/>
                  <a:gd name="T10" fmla="*/ 78 w 156"/>
                  <a:gd name="T11" fmla="*/ 12 h 156"/>
                  <a:gd name="T12" fmla="*/ 12 w 156"/>
                  <a:gd name="T13" fmla="*/ 78 h 156"/>
                  <a:gd name="T14" fmla="*/ 78 w 156"/>
                  <a:gd name="T15" fmla="*/ 144 h 156"/>
                  <a:gd name="T16" fmla="*/ 144 w 156"/>
                  <a:gd name="T17" fmla="*/ 78 h 156"/>
                  <a:gd name="T18" fmla="*/ 78 w 156"/>
                  <a:gd name="T19" fmla="*/ 12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6" h="156">
                    <a:moveTo>
                      <a:pt x="78" y="156"/>
                    </a:moveTo>
                    <a:cubicBezTo>
                      <a:pt x="35" y="156"/>
                      <a:pt x="0" y="121"/>
                      <a:pt x="0" y="78"/>
                    </a:cubicBezTo>
                    <a:cubicBezTo>
                      <a:pt x="0" y="35"/>
                      <a:pt x="35" y="0"/>
                      <a:pt x="78" y="0"/>
                    </a:cubicBezTo>
                    <a:cubicBezTo>
                      <a:pt x="121" y="0"/>
                      <a:pt x="156" y="35"/>
                      <a:pt x="156" y="78"/>
                    </a:cubicBezTo>
                    <a:cubicBezTo>
                      <a:pt x="156" y="121"/>
                      <a:pt x="121" y="156"/>
                      <a:pt x="78" y="156"/>
                    </a:cubicBezTo>
                    <a:close/>
                    <a:moveTo>
                      <a:pt x="78" y="12"/>
                    </a:moveTo>
                    <a:cubicBezTo>
                      <a:pt x="41" y="12"/>
                      <a:pt x="12" y="41"/>
                      <a:pt x="12" y="78"/>
                    </a:cubicBezTo>
                    <a:cubicBezTo>
                      <a:pt x="12" y="114"/>
                      <a:pt x="41" y="144"/>
                      <a:pt x="78" y="144"/>
                    </a:cubicBezTo>
                    <a:cubicBezTo>
                      <a:pt x="114" y="144"/>
                      <a:pt x="144" y="114"/>
                      <a:pt x="144" y="78"/>
                    </a:cubicBezTo>
                    <a:cubicBezTo>
                      <a:pt x="144" y="41"/>
                      <a:pt x="114" y="12"/>
                      <a:pt x="7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115" name="Freeform 70">
                <a:extLst>
                  <a:ext uri="{FF2B5EF4-FFF2-40B4-BE49-F238E27FC236}">
                    <a16:creationId xmlns:a16="http://schemas.microsoft.com/office/drawing/2014/main" id="{3D020E5A-FBB7-4EF9-30D6-CAD5F0A271FE}"/>
                  </a:ext>
                </a:extLst>
              </p:cNvPr>
              <p:cNvSpPr>
                <a:spLocks noEditPoints="1"/>
              </p:cNvSpPr>
              <p:nvPr/>
            </p:nvSpPr>
            <p:spPr bwMode="auto">
              <a:xfrm>
                <a:off x="1534" y="1872"/>
                <a:ext cx="98" cy="124"/>
              </a:xfrm>
              <a:custGeom>
                <a:avLst/>
                <a:gdLst>
                  <a:gd name="T0" fmla="*/ 6 w 66"/>
                  <a:gd name="T1" fmla="*/ 84 h 84"/>
                  <a:gd name="T2" fmla="*/ 3 w 66"/>
                  <a:gd name="T3" fmla="*/ 83 h 84"/>
                  <a:gd name="T4" fmla="*/ 0 w 66"/>
                  <a:gd name="T5" fmla="*/ 78 h 84"/>
                  <a:gd name="T6" fmla="*/ 0 w 66"/>
                  <a:gd name="T7" fmla="*/ 6 h 84"/>
                  <a:gd name="T8" fmla="*/ 3 w 66"/>
                  <a:gd name="T9" fmla="*/ 1 h 84"/>
                  <a:gd name="T10" fmla="*/ 9 w 66"/>
                  <a:gd name="T11" fmla="*/ 1 h 84"/>
                  <a:gd name="T12" fmla="*/ 63 w 66"/>
                  <a:gd name="T13" fmla="*/ 37 h 84"/>
                  <a:gd name="T14" fmla="*/ 66 w 66"/>
                  <a:gd name="T15" fmla="*/ 42 h 84"/>
                  <a:gd name="T16" fmla="*/ 63 w 66"/>
                  <a:gd name="T17" fmla="*/ 47 h 84"/>
                  <a:gd name="T18" fmla="*/ 9 w 66"/>
                  <a:gd name="T19" fmla="*/ 83 h 84"/>
                  <a:gd name="T20" fmla="*/ 6 w 66"/>
                  <a:gd name="T21" fmla="*/ 84 h 84"/>
                  <a:gd name="T22" fmla="*/ 12 w 66"/>
                  <a:gd name="T23" fmla="*/ 17 h 84"/>
                  <a:gd name="T24" fmla="*/ 12 w 66"/>
                  <a:gd name="T25" fmla="*/ 66 h 84"/>
                  <a:gd name="T26" fmla="*/ 49 w 66"/>
                  <a:gd name="T27" fmla="*/ 42 h 84"/>
                  <a:gd name="T28" fmla="*/ 12 w 66"/>
                  <a:gd name="T29" fmla="*/ 17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6" h="84">
                    <a:moveTo>
                      <a:pt x="6" y="84"/>
                    </a:moveTo>
                    <a:cubicBezTo>
                      <a:pt x="5" y="84"/>
                      <a:pt x="4" y="83"/>
                      <a:pt x="3" y="83"/>
                    </a:cubicBezTo>
                    <a:cubicBezTo>
                      <a:pt x="1" y="82"/>
                      <a:pt x="0" y="80"/>
                      <a:pt x="0" y="78"/>
                    </a:cubicBezTo>
                    <a:cubicBezTo>
                      <a:pt x="0" y="6"/>
                      <a:pt x="0" y="6"/>
                      <a:pt x="0" y="6"/>
                    </a:cubicBezTo>
                    <a:cubicBezTo>
                      <a:pt x="0" y="4"/>
                      <a:pt x="1" y="2"/>
                      <a:pt x="3" y="1"/>
                    </a:cubicBezTo>
                    <a:cubicBezTo>
                      <a:pt x="5" y="0"/>
                      <a:pt x="7" y="0"/>
                      <a:pt x="9" y="1"/>
                    </a:cubicBezTo>
                    <a:cubicBezTo>
                      <a:pt x="63" y="37"/>
                      <a:pt x="63" y="37"/>
                      <a:pt x="63" y="37"/>
                    </a:cubicBezTo>
                    <a:cubicBezTo>
                      <a:pt x="65" y="38"/>
                      <a:pt x="66" y="40"/>
                      <a:pt x="66" y="42"/>
                    </a:cubicBezTo>
                    <a:cubicBezTo>
                      <a:pt x="66" y="44"/>
                      <a:pt x="65" y="46"/>
                      <a:pt x="63" y="47"/>
                    </a:cubicBezTo>
                    <a:cubicBezTo>
                      <a:pt x="9" y="83"/>
                      <a:pt x="9" y="83"/>
                      <a:pt x="9" y="83"/>
                    </a:cubicBezTo>
                    <a:cubicBezTo>
                      <a:pt x="8" y="83"/>
                      <a:pt x="7" y="84"/>
                      <a:pt x="6" y="84"/>
                    </a:cubicBezTo>
                    <a:close/>
                    <a:moveTo>
                      <a:pt x="12" y="17"/>
                    </a:moveTo>
                    <a:cubicBezTo>
                      <a:pt x="12" y="66"/>
                      <a:pt x="12" y="66"/>
                      <a:pt x="12" y="66"/>
                    </a:cubicBezTo>
                    <a:cubicBezTo>
                      <a:pt x="49" y="42"/>
                      <a:pt x="49" y="42"/>
                      <a:pt x="49" y="42"/>
                    </a:cubicBezTo>
                    <a:lnTo>
                      <a:pt x="12" y="1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grpSp>
      </p:grpSp>
      <p:sp>
        <p:nvSpPr>
          <p:cNvPr id="3" name="TextBox 2">
            <a:extLst>
              <a:ext uri="{FF2B5EF4-FFF2-40B4-BE49-F238E27FC236}">
                <a16:creationId xmlns:a16="http://schemas.microsoft.com/office/drawing/2014/main" id="{585C7D05-8F2E-E56E-4F3B-5263FC933E5C}"/>
              </a:ext>
            </a:extLst>
          </p:cNvPr>
          <p:cNvSpPr txBox="1"/>
          <p:nvPr/>
        </p:nvSpPr>
        <p:spPr>
          <a:xfrm>
            <a:off x="2942263" y="1022926"/>
            <a:ext cx="8637495" cy="160043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1400" b="1" i="0" u="none" strike="noStrike" kern="1200" cap="none" spc="0" normalizeH="0" baseline="0" noProof="0" dirty="0">
                <a:ln>
                  <a:noFill/>
                </a:ln>
                <a:solidFill>
                  <a:srgbClr val="7500C0"/>
                </a:solidFill>
                <a:effectLst/>
                <a:uLnTx/>
                <a:uFillTx/>
                <a:latin typeface="Graphik Semibold" panose="020B0703030202060203" pitchFamily="34" charset="0"/>
                <a:ea typeface="+mn-ea"/>
                <a:cs typeface="+mn-cs"/>
              </a:rPr>
              <a:t>Coexistencia: </a:t>
            </a:r>
            <a:r>
              <a:rPr kumimoji="0" lang="es" sz="1400" b="0" i="0" u="none" strike="noStrike" kern="1200" cap="none" spc="0" normalizeH="0" baseline="0" noProof="0" dirty="0">
                <a:ln>
                  <a:noFill/>
                </a:ln>
                <a:solidFill>
                  <a:srgbClr val="000000"/>
                </a:solidFill>
                <a:effectLst/>
                <a:uLnTx/>
                <a:uFillTx/>
                <a:latin typeface="Graphik Light" panose="020B0403030202060203" pitchFamily="34" charset="0"/>
                <a:ea typeface="+mn-ea"/>
                <a:cs typeface="+mn-cs"/>
              </a:rPr>
              <a:t>Principal facilitador de la interoperabilidad requerida al modernizar núcleos antiguos heredados. Esta fachada permite que aplicaciones antiguas sean interoperables con dominios o aplicaciones empresariales completamente nuevas.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1400" b="0" i="0" u="none" strike="noStrike" kern="1200" cap="none" spc="0" normalizeH="0" baseline="0" noProof="0" dirty="0">
                <a:ln>
                  <a:noFill/>
                </a:ln>
                <a:solidFill>
                  <a:srgbClr val="000000"/>
                </a:solidFill>
                <a:effectLst/>
                <a:uLnTx/>
                <a:uFillTx/>
                <a:latin typeface="Graphik Light" panose="020B0403030202060203" pitchFamily="34" charset="0"/>
                <a:ea typeface="+mn-ea"/>
                <a:cs typeface="+mn-cs"/>
              </a:rPr>
              <a:t>Los programas de modernización de la banca central tardan mucho y están sujetos a cambios; la flexibilidad llegará mediante la implementación de una capa de coexistencia que facilitará las interoperaciones entre las plataformas nuevas y antiguas (por ejemplo, mantener identificadores de clientes antiguos vs nuevos, números de cuenta o incluso transacciones, etc.) .</a:t>
            </a:r>
          </a:p>
        </p:txBody>
      </p:sp>
      <p:sp>
        <p:nvSpPr>
          <p:cNvPr id="5" name="TextBox 4">
            <a:extLst>
              <a:ext uri="{FF2B5EF4-FFF2-40B4-BE49-F238E27FC236}">
                <a16:creationId xmlns:a16="http://schemas.microsoft.com/office/drawing/2014/main" id="{2F750EF6-47A0-8CBF-1DB9-5458F99C5451}"/>
              </a:ext>
            </a:extLst>
          </p:cNvPr>
          <p:cNvSpPr txBox="1"/>
          <p:nvPr/>
        </p:nvSpPr>
        <p:spPr>
          <a:xfrm>
            <a:off x="2942263" y="2838763"/>
            <a:ext cx="8637495" cy="138499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1400" b="1" i="0" u="none" strike="noStrike" kern="1200" cap="none" spc="0" normalizeH="0" baseline="0" noProof="0">
                <a:ln>
                  <a:noFill/>
                </a:ln>
                <a:solidFill>
                  <a:srgbClr val="7500C0"/>
                </a:solidFill>
                <a:effectLst/>
                <a:uLnTx/>
                <a:uFillTx/>
                <a:latin typeface="Graphik Semibold" panose="020B0703030202060203" pitchFamily="34" charset="0"/>
                <a:ea typeface="+mn-ea"/>
                <a:cs typeface="+mn-cs"/>
              </a:rPr>
              <a:t>Microservicios: </a:t>
            </a:r>
            <a:r>
              <a:rPr kumimoji="0" lang="es" sz="14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Servicios síncronos y asíncronos que integran lógica de negocio y aceleradores técnicos necesarios para soportar procesos de coexistencia y que contendrán servicios empresariales granulares que no son proporcionados ni por los sistemas heredados existentes ni por ninguna de las plataformas seleccionadas.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14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Esta capa puede entenderse como una capa de extensibilidad para complementar cualquier tipo de función faltante necesaria para permitir la interoperabilidad de las distintas aplicaciones del ecosistema. </a:t>
            </a:r>
          </a:p>
        </p:txBody>
      </p:sp>
      <p:sp>
        <p:nvSpPr>
          <p:cNvPr id="7" name="TextBox 6">
            <a:extLst>
              <a:ext uri="{FF2B5EF4-FFF2-40B4-BE49-F238E27FC236}">
                <a16:creationId xmlns:a16="http://schemas.microsoft.com/office/drawing/2014/main" id="{EE64D269-6C68-0F35-E43A-DB9AEACF0023}"/>
              </a:ext>
            </a:extLst>
          </p:cNvPr>
          <p:cNvSpPr txBox="1"/>
          <p:nvPr/>
        </p:nvSpPr>
        <p:spPr>
          <a:xfrm>
            <a:off x="2942263" y="4653344"/>
            <a:ext cx="8637495" cy="160043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1400" b="1" i="0" u="none" strike="noStrike" kern="1200" cap="none" spc="0" normalizeH="0" baseline="0" noProof="0" dirty="0">
                <a:ln>
                  <a:noFill/>
                </a:ln>
                <a:solidFill>
                  <a:srgbClr val="7500C0"/>
                </a:solidFill>
                <a:effectLst/>
                <a:uLnTx/>
                <a:uFillTx/>
                <a:latin typeface="Graphik Semibold" panose="020B0703030202060203" pitchFamily="34" charset="0"/>
                <a:ea typeface="+mn-ea"/>
                <a:cs typeface="+mn-cs"/>
              </a:rPr>
              <a:t>Servicios Empresariales Centrales: </a:t>
            </a:r>
            <a:r>
              <a:rPr kumimoji="0" lang="es" sz="1400" b="0" i="0" u="none" strike="noStrike" kern="1200" cap="none" spc="0" normalizeH="0" baseline="0" noProof="0" dirty="0">
                <a:ln>
                  <a:noFill/>
                </a:ln>
                <a:solidFill>
                  <a:srgbClr val="000000"/>
                </a:solidFill>
                <a:effectLst/>
                <a:uLnTx/>
                <a:uFillTx/>
                <a:latin typeface="Graphik Light" panose="020B0403030202060203" pitchFamily="34" charset="0"/>
                <a:ea typeface="+mn-ea"/>
                <a:cs typeface="+mn-cs"/>
              </a:rPr>
              <a:t>Principal facilitador de la interoperabilidad necesaria al modernizar núcleos antiguos heredados. Esta fachada permite que aplicaciones antiguas sean interoperables con dominios o aplicaciones empresariales completamente nuevas. </a:t>
            </a:r>
            <a:endParaRPr kumimoji="0" lang="en-US" sz="1400" b="0" i="0" u="none" strike="noStrike" kern="1200" cap="none" spc="0" normalizeH="0" baseline="0" noProof="0" dirty="0">
              <a:ln>
                <a:noFill/>
              </a:ln>
              <a:solidFill>
                <a:srgbClr val="000000"/>
              </a:solidFill>
              <a:effectLst/>
              <a:uLnTx/>
              <a:uFillTx/>
              <a:latin typeface="Graphik Light" panose="020B0403030202060203"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1400" b="0" i="0" u="none" strike="noStrike" kern="1200" cap="none" spc="0" normalizeH="0" baseline="0" noProof="0" dirty="0">
                <a:ln>
                  <a:noFill/>
                </a:ln>
                <a:solidFill>
                  <a:srgbClr val="000000"/>
                </a:solidFill>
                <a:effectLst/>
                <a:uLnTx/>
                <a:uFillTx/>
                <a:latin typeface="Graphik Light" panose="020B0403030202060203" pitchFamily="34" charset="0"/>
                <a:ea typeface="+mn-ea"/>
                <a:cs typeface="+mn-cs"/>
              </a:rPr>
              <a:t>Los programas de modernización de la banca central tardan mucho y están sujetos a cambios; la flexibilidad llegará mediante la implementación de una capa de coexistencia que facilitará las interoperaciones entre las plataformas nuevas y antiguas (por ejemplo, mantener identificadores de clientes antiguos vs nuevos, números de cuenta o incluso transacciones, etc.) .</a:t>
            </a:r>
          </a:p>
        </p:txBody>
      </p:sp>
    </p:spTree>
    <p:extLst>
      <p:ext uri="{BB962C8B-B14F-4D97-AF65-F5344CB8AC3E}">
        <p14:creationId xmlns:p14="http://schemas.microsoft.com/office/powerpoint/2010/main" val="34589405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4910F7-7FE6-7634-34DD-345330F40B87}"/>
            </a:ext>
          </a:extLst>
        </p:cNvPr>
        <p:cNvGrpSpPr/>
        <p:nvPr/>
      </p:nvGrpSpPr>
      <p:grpSpPr>
        <a:xfrm>
          <a:off x="0" y="0"/>
          <a:ext cx="0" cy="0"/>
          <a:chOff x="0" y="0"/>
          <a:chExt cx="0" cy="0"/>
        </a:xfrm>
      </p:grpSpPr>
      <p:sp>
        <p:nvSpPr>
          <p:cNvPr id="16" name="Footer Placeholder 2">
            <a:extLst>
              <a:ext uri="{FF2B5EF4-FFF2-40B4-BE49-F238E27FC236}">
                <a16:creationId xmlns:a16="http://schemas.microsoft.com/office/drawing/2014/main" id="{401008BD-F1EA-1AF9-6876-B0AFE178704B}"/>
              </a:ext>
            </a:extLst>
          </p:cNvPr>
          <p:cNvSpPr>
            <a:spLocks noGrp="1"/>
          </p:cNvSpPr>
          <p:nvPr>
            <p:ph type="ftr" sz="quarter" idx="3"/>
          </p:nvPr>
        </p:nvSpPr>
        <p:spPr>
          <a:xfrm>
            <a:off x="8908942" y="6617127"/>
            <a:ext cx="3175200" cy="132523"/>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dirty="0">
                <a:ln>
                  <a:noFill/>
                </a:ln>
                <a:solidFill>
                  <a:srgbClr val="000000">
                    <a:alpha val="65000"/>
                  </a:srgbClr>
                </a:solidFill>
                <a:effectLst/>
                <a:uLnTx/>
                <a:uFillTx/>
                <a:latin typeface="Graphik"/>
                <a:ea typeface="+mn-ea"/>
                <a:cs typeface="+mn-cs"/>
              </a:rPr>
              <a:t>Copyright © 2025 Accenture. Todos los derechos reservados.</a:t>
            </a:r>
          </a:p>
        </p:txBody>
      </p:sp>
      <p:sp>
        <p:nvSpPr>
          <p:cNvPr id="65" name="Content Placeholder 34">
            <a:extLst>
              <a:ext uri="{FF2B5EF4-FFF2-40B4-BE49-F238E27FC236}">
                <a16:creationId xmlns:a16="http://schemas.microsoft.com/office/drawing/2014/main" id="{1BEE959C-49D0-E6FE-1811-CAC9B7C53BB4}"/>
              </a:ext>
            </a:extLst>
          </p:cNvPr>
          <p:cNvSpPr txBox="1">
            <a:spLocks/>
          </p:cNvSpPr>
          <p:nvPr/>
        </p:nvSpPr>
        <p:spPr>
          <a:xfrm>
            <a:off x="324090" y="641993"/>
            <a:ext cx="11430000" cy="246221"/>
          </a:xfrm>
          <a:prstGeom prst="rect">
            <a:avLst/>
          </a:prstGeom>
        </p:spPr>
        <p:txBody>
          <a:bodyPr/>
          <a:lstStyle>
            <a:lvl1pPr marL="228600" indent="-228600" algn="l" defTabSz="228600" rtl="0" eaLnBrk="1" latinLnBrk="0" hangingPunct="1">
              <a:lnSpc>
                <a:spcPct val="100000"/>
              </a:lnSpc>
              <a:spcBef>
                <a:spcPts val="0"/>
              </a:spcBef>
              <a:spcAft>
                <a:spcPts val="600"/>
              </a:spcAft>
              <a:buFont typeface="Arial"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Arial"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Arial"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Arial"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Arial"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Arial" panose="020B0604020202020204" pitchFamily="34" charset="0"/>
              <a:buNone/>
              <a:defRPr sz="800" kern="1200">
                <a:solidFill>
                  <a:schemeClr val="tx2"/>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s" sz="1600" b="1" i="0" u="none" strike="noStrike" kern="1200" cap="none" spc="0" normalizeH="0" baseline="0" noProof="0">
                <a:ln>
                  <a:noFill/>
                </a:ln>
                <a:solidFill>
                  <a:srgbClr val="7500C0"/>
                </a:solidFill>
                <a:effectLst/>
                <a:uLnTx/>
                <a:uFillTx/>
                <a:latin typeface="Graphik" panose="020B0503030202060203" pitchFamily="34" charset="0"/>
                <a:ea typeface="+mn-ea"/>
                <a:cs typeface="+mn-cs"/>
              </a:rPr>
              <a:t>Mucho más que integración.</a:t>
            </a:r>
          </a:p>
        </p:txBody>
      </p:sp>
      <p:sp>
        <p:nvSpPr>
          <p:cNvPr id="66" name="Title 1">
            <a:extLst>
              <a:ext uri="{FF2B5EF4-FFF2-40B4-BE49-F238E27FC236}">
                <a16:creationId xmlns:a16="http://schemas.microsoft.com/office/drawing/2014/main" id="{CC278DA2-8227-C511-7E32-B9A35B8851FA}"/>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a:ln>
                  <a:noFill/>
                </a:ln>
                <a:solidFill>
                  <a:srgbClr val="7500C0"/>
                </a:solidFill>
                <a:effectLst/>
                <a:uLnTx/>
                <a:uFillTx/>
                <a:latin typeface="Graphik"/>
                <a:ea typeface="+mj-ea"/>
                <a:cs typeface="+mj-cs"/>
              </a:rPr>
              <a:t>La Arquitectura </a:t>
            </a:r>
            <a:r>
              <a:rPr lang="es" sz="2400">
                <a:solidFill>
                  <a:srgbClr val="7500C0"/>
                </a:solidFill>
                <a:latin typeface="Graphik"/>
              </a:rPr>
              <a:t>I</a:t>
            </a:r>
            <a:r>
              <a:rPr kumimoji="0" lang="es" sz="2400" b="1" i="0" u="none" strike="noStrike" kern="1200" cap="none" spc="0" normalizeH="0" baseline="0" noProof="0">
                <a:ln>
                  <a:noFill/>
                </a:ln>
                <a:solidFill>
                  <a:srgbClr val="7500C0"/>
                </a:solidFill>
                <a:effectLst/>
                <a:uLnTx/>
                <a:uFillTx/>
                <a:latin typeface="Graphik"/>
                <a:ea typeface="+mj-ea"/>
                <a:cs typeface="+mj-cs"/>
              </a:rPr>
              <a:t>nteroperable es más que una Arquitectura de Integración</a:t>
            </a:r>
          </a:p>
        </p:txBody>
      </p:sp>
      <p:pic>
        <p:nvPicPr>
          <p:cNvPr id="3" name="Picture 2">
            <a:extLst>
              <a:ext uri="{FF2B5EF4-FFF2-40B4-BE49-F238E27FC236}">
                <a16:creationId xmlns:a16="http://schemas.microsoft.com/office/drawing/2014/main" id="{B8C13D21-BD95-B352-9414-52D80E33A09F}"/>
              </a:ext>
            </a:extLst>
          </p:cNvPr>
          <p:cNvPicPr>
            <a:picLocks noChangeAspect="1"/>
          </p:cNvPicPr>
          <p:nvPr/>
        </p:nvPicPr>
        <p:blipFill>
          <a:blip r:embed="rId3"/>
          <a:stretch>
            <a:fillRect/>
          </a:stretch>
        </p:blipFill>
        <p:spPr>
          <a:xfrm>
            <a:off x="252666" y="2305408"/>
            <a:ext cx="7205711" cy="4317410"/>
          </a:xfrm>
          <a:prstGeom prst="rect">
            <a:avLst/>
          </a:prstGeom>
        </p:spPr>
      </p:pic>
      <p:sp>
        <p:nvSpPr>
          <p:cNvPr id="4" name="Oval 3">
            <a:extLst>
              <a:ext uri="{FF2B5EF4-FFF2-40B4-BE49-F238E27FC236}">
                <a16:creationId xmlns:a16="http://schemas.microsoft.com/office/drawing/2014/main" id="{E71E2DA5-769D-23FF-CE88-53ADBC4D5086}"/>
              </a:ext>
            </a:extLst>
          </p:cNvPr>
          <p:cNvSpPr/>
          <p:nvPr/>
        </p:nvSpPr>
        <p:spPr>
          <a:xfrm>
            <a:off x="3277056" y="2358011"/>
            <a:ext cx="288000" cy="288000"/>
          </a:xfrm>
          <a:prstGeom prst="ellipse">
            <a:avLst/>
          </a:prstGeom>
          <a:solidFill>
            <a:schemeClr val="accent3">
              <a:lumMod val="60000"/>
              <a:lumOff val="4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400" b="1" i="0" u="none" strike="noStrike" kern="1200" cap="none" spc="0" normalizeH="0" baseline="0" noProof="0">
                <a:ln>
                  <a:noFill/>
                </a:ln>
                <a:solidFill>
                  <a:srgbClr val="FFFFFF"/>
                </a:solidFill>
                <a:effectLst/>
                <a:uLnTx/>
                <a:uFillTx/>
                <a:latin typeface="Graphik"/>
                <a:ea typeface="+mn-ea"/>
                <a:cs typeface="+mn-cs"/>
              </a:rPr>
              <a:t>1</a:t>
            </a:r>
          </a:p>
        </p:txBody>
      </p:sp>
      <p:sp>
        <p:nvSpPr>
          <p:cNvPr id="5" name="Oval 4">
            <a:extLst>
              <a:ext uri="{FF2B5EF4-FFF2-40B4-BE49-F238E27FC236}">
                <a16:creationId xmlns:a16="http://schemas.microsoft.com/office/drawing/2014/main" id="{07269EE4-0FE8-C632-BBB4-AEF5945112CB}"/>
              </a:ext>
            </a:extLst>
          </p:cNvPr>
          <p:cNvSpPr/>
          <p:nvPr/>
        </p:nvSpPr>
        <p:spPr>
          <a:xfrm>
            <a:off x="1507712" y="4302684"/>
            <a:ext cx="288000" cy="288000"/>
          </a:xfrm>
          <a:prstGeom prst="ellipse">
            <a:avLst/>
          </a:prstGeom>
          <a:solidFill>
            <a:schemeClr val="accent3">
              <a:lumMod val="60000"/>
              <a:lumOff val="4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400" b="1" i="0" u="none" strike="noStrike" kern="1200" cap="none" spc="0" normalizeH="0" baseline="0" noProof="0">
                <a:ln>
                  <a:noFill/>
                </a:ln>
                <a:solidFill>
                  <a:srgbClr val="FFFFFF"/>
                </a:solidFill>
                <a:effectLst/>
                <a:uLnTx/>
                <a:uFillTx/>
                <a:latin typeface="Graphik"/>
                <a:ea typeface="+mn-ea"/>
                <a:cs typeface="+mn-cs"/>
              </a:rPr>
              <a:t>3</a:t>
            </a:r>
          </a:p>
        </p:txBody>
      </p:sp>
      <p:sp>
        <p:nvSpPr>
          <p:cNvPr id="6" name="Oval 5">
            <a:extLst>
              <a:ext uri="{FF2B5EF4-FFF2-40B4-BE49-F238E27FC236}">
                <a16:creationId xmlns:a16="http://schemas.microsoft.com/office/drawing/2014/main" id="{5F6C1771-A6B2-283A-C740-1B74E9CD84C5}"/>
              </a:ext>
            </a:extLst>
          </p:cNvPr>
          <p:cNvSpPr/>
          <p:nvPr/>
        </p:nvSpPr>
        <p:spPr>
          <a:xfrm>
            <a:off x="3054399" y="3890086"/>
            <a:ext cx="288000" cy="288000"/>
          </a:xfrm>
          <a:prstGeom prst="ellipse">
            <a:avLst/>
          </a:prstGeom>
          <a:solidFill>
            <a:schemeClr val="accent3">
              <a:lumMod val="60000"/>
              <a:lumOff val="4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400" b="1" i="0" u="none" strike="noStrike" kern="1200" cap="none" spc="0" normalizeH="0" baseline="0" noProof="0">
                <a:ln>
                  <a:noFill/>
                </a:ln>
                <a:solidFill>
                  <a:srgbClr val="FFFFFF"/>
                </a:solidFill>
                <a:effectLst/>
                <a:uLnTx/>
                <a:uFillTx/>
                <a:latin typeface="Graphik"/>
                <a:ea typeface="+mn-ea"/>
                <a:cs typeface="+mn-cs"/>
              </a:rPr>
              <a:t>4</a:t>
            </a:r>
          </a:p>
        </p:txBody>
      </p:sp>
      <p:sp>
        <p:nvSpPr>
          <p:cNvPr id="7" name="Oval 6">
            <a:extLst>
              <a:ext uri="{FF2B5EF4-FFF2-40B4-BE49-F238E27FC236}">
                <a16:creationId xmlns:a16="http://schemas.microsoft.com/office/drawing/2014/main" id="{D7A32D64-80FA-045E-976C-80B926C95067}"/>
              </a:ext>
            </a:extLst>
          </p:cNvPr>
          <p:cNvSpPr/>
          <p:nvPr/>
        </p:nvSpPr>
        <p:spPr>
          <a:xfrm>
            <a:off x="1507712" y="3141000"/>
            <a:ext cx="288000" cy="288000"/>
          </a:xfrm>
          <a:prstGeom prst="ellipse">
            <a:avLst/>
          </a:prstGeom>
          <a:solidFill>
            <a:schemeClr val="accent3">
              <a:lumMod val="60000"/>
              <a:lumOff val="4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400" b="1" i="0" u="none" strike="noStrike" kern="1200" cap="none" spc="0" normalizeH="0" baseline="0" noProof="0">
                <a:ln>
                  <a:noFill/>
                </a:ln>
                <a:solidFill>
                  <a:srgbClr val="FFFFFF"/>
                </a:solidFill>
                <a:effectLst/>
                <a:uLnTx/>
                <a:uFillTx/>
                <a:latin typeface="Graphik"/>
                <a:ea typeface="+mn-ea"/>
                <a:cs typeface="+mn-cs"/>
              </a:rPr>
              <a:t>2</a:t>
            </a:r>
          </a:p>
        </p:txBody>
      </p:sp>
      <p:sp>
        <p:nvSpPr>
          <p:cNvPr id="8" name="Oval 7">
            <a:extLst>
              <a:ext uri="{FF2B5EF4-FFF2-40B4-BE49-F238E27FC236}">
                <a16:creationId xmlns:a16="http://schemas.microsoft.com/office/drawing/2014/main" id="{A39A17BA-80CA-D8BE-1FD3-020FF6237B44}"/>
              </a:ext>
            </a:extLst>
          </p:cNvPr>
          <p:cNvSpPr/>
          <p:nvPr/>
        </p:nvSpPr>
        <p:spPr>
          <a:xfrm>
            <a:off x="1507712" y="5464368"/>
            <a:ext cx="288000" cy="288000"/>
          </a:xfrm>
          <a:prstGeom prst="ellipse">
            <a:avLst/>
          </a:prstGeom>
          <a:solidFill>
            <a:schemeClr val="accent3">
              <a:lumMod val="60000"/>
              <a:lumOff val="4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400" b="1" i="0" u="none" strike="noStrike" kern="1200" cap="none" spc="0" normalizeH="0" baseline="0" noProof="0">
                <a:ln>
                  <a:noFill/>
                </a:ln>
                <a:solidFill>
                  <a:srgbClr val="FFFFFF"/>
                </a:solidFill>
                <a:effectLst/>
                <a:uLnTx/>
                <a:uFillTx/>
                <a:latin typeface="Graphik"/>
                <a:ea typeface="+mn-ea"/>
                <a:cs typeface="+mn-cs"/>
              </a:rPr>
              <a:t>2</a:t>
            </a:r>
          </a:p>
        </p:txBody>
      </p:sp>
      <p:sp>
        <p:nvSpPr>
          <p:cNvPr id="9" name="Oval 8">
            <a:extLst>
              <a:ext uri="{FF2B5EF4-FFF2-40B4-BE49-F238E27FC236}">
                <a16:creationId xmlns:a16="http://schemas.microsoft.com/office/drawing/2014/main" id="{F63A9619-4500-F90B-EBBA-C19D8549D665}"/>
              </a:ext>
            </a:extLst>
          </p:cNvPr>
          <p:cNvSpPr/>
          <p:nvPr/>
        </p:nvSpPr>
        <p:spPr>
          <a:xfrm>
            <a:off x="6414244" y="3522862"/>
            <a:ext cx="288000" cy="288000"/>
          </a:xfrm>
          <a:prstGeom prst="ellipse">
            <a:avLst/>
          </a:prstGeom>
          <a:solidFill>
            <a:schemeClr val="accent3">
              <a:lumMod val="60000"/>
              <a:lumOff val="4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400" b="1" i="0" u="none" strike="noStrike" kern="1200" cap="none" spc="0" normalizeH="0" baseline="0" noProof="0">
                <a:ln>
                  <a:noFill/>
                </a:ln>
                <a:solidFill>
                  <a:srgbClr val="FFFFFF"/>
                </a:solidFill>
                <a:effectLst/>
                <a:uLnTx/>
                <a:uFillTx/>
                <a:latin typeface="Graphik"/>
                <a:ea typeface="+mn-ea"/>
                <a:cs typeface="+mn-cs"/>
              </a:rPr>
              <a:t>2</a:t>
            </a:r>
          </a:p>
        </p:txBody>
      </p:sp>
      <p:sp>
        <p:nvSpPr>
          <p:cNvPr id="36" name="TextBox 35">
            <a:extLst>
              <a:ext uri="{FF2B5EF4-FFF2-40B4-BE49-F238E27FC236}">
                <a16:creationId xmlns:a16="http://schemas.microsoft.com/office/drawing/2014/main" id="{2D8EEAFC-6304-DD3B-2B29-9D9B88EF56D7}"/>
              </a:ext>
            </a:extLst>
          </p:cNvPr>
          <p:cNvSpPr txBox="1"/>
          <p:nvPr/>
        </p:nvSpPr>
        <p:spPr>
          <a:xfrm>
            <a:off x="376715" y="963175"/>
            <a:ext cx="8532227" cy="1354217"/>
          </a:xfrm>
          <a:prstGeom prst="rect">
            <a:avLst/>
          </a:prstGeom>
          <a:noFill/>
        </p:spPr>
        <p:txBody>
          <a:bodyPr wrap="square" lIns="0">
            <a:spAutoFit/>
          </a:bodyPr>
          <a:lstStyle/>
          <a:p>
            <a:pPr marL="177800" marR="0" lvl="0" indent="-177800" algn="just" defTabSz="914400" rtl="0" eaLnBrk="1" fontAlgn="auto" latinLnBrk="0" hangingPunct="1">
              <a:lnSpc>
                <a:spcPct val="100000"/>
              </a:lnSpc>
              <a:spcBef>
                <a:spcPts val="200"/>
              </a:spcBef>
              <a:spcAft>
                <a:spcPts val="200"/>
              </a:spcAft>
              <a:buClrTx/>
              <a:buSzTx/>
              <a:buFont typeface="Arial" panose="020B0604020202020204" pitchFamily="34" charset="0"/>
              <a:buChar char="•"/>
              <a:tabLst/>
              <a:defRPr/>
            </a:pPr>
            <a:r>
              <a:rPr kumimoji="0" lang="es" sz="1200" b="0" i="0" u="none" strike="noStrike" kern="1200" cap="none" spc="0" normalizeH="0" baseline="0" noProof="0" dirty="0">
                <a:ln>
                  <a:noFill/>
                </a:ln>
                <a:solidFill>
                  <a:srgbClr val="000000"/>
                </a:solidFill>
                <a:effectLst/>
                <a:uLnTx/>
                <a:uFillTx/>
                <a:latin typeface="Graphik Light" panose="020B0403030202060203" pitchFamily="34" charset="77"/>
                <a:ea typeface="+mn-ea"/>
                <a:cs typeface="+mn-cs"/>
              </a:rPr>
              <a:t>La arquitectura interoperable se crea a lo largo de diferentes capas</a:t>
            </a:r>
          </a:p>
          <a:p>
            <a:pPr marL="177800" marR="0" lvl="0" indent="-177800" algn="just" defTabSz="914400" rtl="0" eaLnBrk="1" fontAlgn="auto" latinLnBrk="0" hangingPunct="1">
              <a:lnSpc>
                <a:spcPct val="100000"/>
              </a:lnSpc>
              <a:spcBef>
                <a:spcPts val="200"/>
              </a:spcBef>
              <a:spcAft>
                <a:spcPts val="200"/>
              </a:spcAft>
              <a:buClrTx/>
              <a:buSzTx/>
              <a:buFont typeface="Arial" panose="020B0604020202020204" pitchFamily="34" charset="0"/>
              <a:buChar char="•"/>
              <a:tabLst/>
              <a:defRPr/>
            </a:pPr>
            <a:r>
              <a:rPr kumimoji="0" lang="es" sz="1200" b="0" i="0" u="none" strike="noStrike" kern="1200" cap="none" spc="0" normalizeH="0" baseline="0" noProof="0" dirty="0">
                <a:ln>
                  <a:noFill/>
                </a:ln>
                <a:solidFill>
                  <a:srgbClr val="000000"/>
                </a:solidFill>
                <a:effectLst/>
                <a:uLnTx/>
                <a:uFillTx/>
                <a:latin typeface="Graphik Light" panose="020B0403030202060203" pitchFamily="34" charset="77"/>
                <a:ea typeface="+mn-ea"/>
                <a:cs typeface="+mn-cs"/>
              </a:rPr>
              <a:t>Cubre la interacción del cliente mediante la integración y finalización con servicios empresariales y orquestación con diferentes procesadores (permitiendo la coexistencia) y sistemas heredados</a:t>
            </a:r>
          </a:p>
          <a:p>
            <a:pPr marL="177800" marR="0" lvl="0" indent="-177800" algn="just" defTabSz="914400" rtl="0" eaLnBrk="1" fontAlgn="auto" latinLnBrk="0" hangingPunct="1">
              <a:lnSpc>
                <a:spcPct val="100000"/>
              </a:lnSpc>
              <a:spcBef>
                <a:spcPts val="200"/>
              </a:spcBef>
              <a:spcAft>
                <a:spcPts val="200"/>
              </a:spcAft>
              <a:buClrTx/>
              <a:buSzTx/>
              <a:buFont typeface="Arial" panose="020B0604020202020204" pitchFamily="34" charset="0"/>
              <a:buChar char="•"/>
              <a:tabLst/>
              <a:defRPr/>
            </a:pPr>
            <a:r>
              <a:rPr kumimoji="0" lang="es" sz="1200" b="0" i="0" u="none" strike="noStrike" kern="1200" cap="none" spc="0" normalizeH="0" baseline="0" noProof="0" dirty="0">
                <a:ln>
                  <a:noFill/>
                </a:ln>
                <a:solidFill>
                  <a:srgbClr val="000000"/>
                </a:solidFill>
                <a:effectLst/>
                <a:uLnTx/>
                <a:uFillTx/>
                <a:latin typeface="Graphik Light" panose="020B0403030202060203" pitchFamily="34" charset="77"/>
                <a:ea typeface="+mn-ea"/>
                <a:cs typeface="+mn-cs"/>
              </a:rPr>
              <a:t>Desagrega las aplicaciones antiguas en capacidades y dominios, haciéndolas independientes entre sí, simplificando la lógica </a:t>
            </a:r>
          </a:p>
          <a:p>
            <a:pPr marL="177800" marR="0" lvl="0" indent="-177800" algn="just" defTabSz="914400" rtl="0" eaLnBrk="1" fontAlgn="auto" latinLnBrk="0" hangingPunct="1">
              <a:lnSpc>
                <a:spcPct val="100000"/>
              </a:lnSpc>
              <a:spcBef>
                <a:spcPts val="200"/>
              </a:spcBef>
              <a:spcAft>
                <a:spcPts val="200"/>
              </a:spcAft>
              <a:buClrTx/>
              <a:buSzTx/>
              <a:buFont typeface="Arial" panose="020B0604020202020204" pitchFamily="34" charset="0"/>
              <a:buChar char="•"/>
              <a:tabLst/>
              <a:defRPr/>
            </a:pPr>
            <a:r>
              <a:rPr kumimoji="0" lang="es" sz="1200" b="0" i="0" u="none" strike="noStrike" kern="1200" cap="none" spc="0" normalizeH="0" baseline="0" noProof="0" dirty="0">
                <a:ln>
                  <a:noFill/>
                </a:ln>
                <a:solidFill>
                  <a:srgbClr val="000000"/>
                </a:solidFill>
                <a:effectLst/>
                <a:uLnTx/>
                <a:uFillTx/>
                <a:latin typeface="Graphik Light" panose="020B0403030202060203" pitchFamily="34" charset="77"/>
                <a:ea typeface="+mn-ea"/>
                <a:cs typeface="+mn-cs"/>
              </a:rPr>
              <a:t>Maximiza el código abierto para desacoplarse del bloqueo del proveedor</a:t>
            </a:r>
          </a:p>
        </p:txBody>
      </p:sp>
      <p:sp>
        <p:nvSpPr>
          <p:cNvPr id="38" name="TextBox 37">
            <a:extLst>
              <a:ext uri="{FF2B5EF4-FFF2-40B4-BE49-F238E27FC236}">
                <a16:creationId xmlns:a16="http://schemas.microsoft.com/office/drawing/2014/main" id="{4A7E2CCD-95A1-8C32-B869-4A688076ECB9}"/>
              </a:ext>
            </a:extLst>
          </p:cNvPr>
          <p:cNvSpPr txBox="1"/>
          <p:nvPr/>
        </p:nvSpPr>
        <p:spPr>
          <a:xfrm>
            <a:off x="7370859" y="2994252"/>
            <a:ext cx="4713283" cy="3642023"/>
          </a:xfrm>
          <a:prstGeom prst="rect">
            <a:avLst/>
          </a:prstGeom>
          <a:noFill/>
        </p:spPr>
        <p:txBody>
          <a:bodyPr wrap="square">
            <a:spAutoFit/>
          </a:bodyPr>
          <a:lstStyle/>
          <a:p>
            <a:pPr marL="342900" marR="0" lvl="0" indent="-254000" algn="l" defTabSz="914400" rtl="0" eaLnBrk="1" fontAlgn="auto" latinLnBrk="0" hangingPunct="1">
              <a:lnSpc>
                <a:spcPct val="100000"/>
              </a:lnSpc>
              <a:spcBef>
                <a:spcPts val="200"/>
              </a:spcBef>
              <a:spcAft>
                <a:spcPts val="600"/>
              </a:spcAft>
              <a:buClr>
                <a:srgbClr val="7500C0">
                  <a:lumMod val="60000"/>
                  <a:lumOff val="40000"/>
                </a:srgbClr>
              </a:buClr>
              <a:buSzTx/>
              <a:buFont typeface="+mj-lt"/>
              <a:buAutoNum type="arabicPeriod"/>
              <a:tabLst/>
              <a:defRPr/>
            </a:pPr>
            <a:r>
              <a:rPr kumimoji="0" lang="es" sz="1200" b="0" i="0" u="none" strike="noStrike" kern="1200" cap="none" spc="0" normalizeH="0" baseline="0" noProof="0" dirty="0">
                <a:ln>
                  <a:noFill/>
                </a:ln>
                <a:solidFill>
                  <a:srgbClr val="000000"/>
                </a:solidFill>
                <a:effectLst/>
                <a:uLnTx/>
                <a:uFillTx/>
                <a:latin typeface="Graphik Light" panose="020B0403030202060203" pitchFamily="34" charset="77"/>
                <a:ea typeface="+mn-ea"/>
                <a:cs typeface="+mn-cs"/>
              </a:rPr>
              <a:t>Micro frontends que pueden integrarse en la composición de funcionalidades independientes o en parte de un proceso de canal único o multicanal</a:t>
            </a:r>
          </a:p>
          <a:p>
            <a:pPr marL="342900" marR="0" lvl="0" indent="-254000" algn="l" defTabSz="914400" rtl="0" eaLnBrk="1" fontAlgn="auto" latinLnBrk="0" hangingPunct="1">
              <a:lnSpc>
                <a:spcPct val="100000"/>
              </a:lnSpc>
              <a:spcBef>
                <a:spcPts val="200"/>
              </a:spcBef>
              <a:spcAft>
                <a:spcPts val="600"/>
              </a:spcAft>
              <a:buClr>
                <a:srgbClr val="7500C0">
                  <a:lumMod val="60000"/>
                  <a:lumOff val="40000"/>
                </a:srgbClr>
              </a:buClr>
              <a:buSzTx/>
              <a:buFont typeface="+mj-lt"/>
              <a:buAutoNum type="arabicPeriod"/>
              <a:tabLst/>
              <a:defRPr/>
            </a:pPr>
            <a:r>
              <a:rPr kumimoji="0" lang="es" sz="1200" b="0" i="0" u="none" strike="noStrike" kern="1200" cap="none" spc="0" normalizeH="0" baseline="0" noProof="0" dirty="0">
                <a:ln>
                  <a:noFill/>
                </a:ln>
                <a:solidFill>
                  <a:srgbClr val="000000"/>
                </a:solidFill>
                <a:effectLst/>
                <a:uLnTx/>
                <a:uFillTx/>
                <a:latin typeface="Graphik Light" panose="020B0403030202060203" pitchFamily="34" charset="77"/>
                <a:ea typeface="+mn-ea"/>
                <a:cs typeface="+mn-cs"/>
              </a:rPr>
              <a:t>Integración y desacoplamiento para aislar la complejidad y lograrla consistencia y compatibilidad entre diferentes plataformas, asegurando al mismo tiempo los flujos de datos   </a:t>
            </a:r>
          </a:p>
          <a:p>
            <a:pPr marL="342900" marR="0" lvl="0" indent="-254000" algn="l" defTabSz="914400" rtl="0" eaLnBrk="1" fontAlgn="auto" latinLnBrk="0" hangingPunct="1">
              <a:lnSpc>
                <a:spcPct val="100000"/>
              </a:lnSpc>
              <a:spcBef>
                <a:spcPts val="200"/>
              </a:spcBef>
              <a:spcAft>
                <a:spcPts val="600"/>
              </a:spcAft>
              <a:buClr>
                <a:srgbClr val="7500C0">
                  <a:lumMod val="60000"/>
                  <a:lumOff val="40000"/>
                </a:srgbClr>
              </a:buClr>
              <a:buSzTx/>
              <a:buFont typeface="+mj-lt"/>
              <a:buAutoNum type="arabicPeriod"/>
              <a:tabLst/>
              <a:defRPr/>
            </a:pPr>
            <a:r>
              <a:rPr kumimoji="0" lang="es" sz="1200" b="0" i="0" u="none" strike="noStrike" kern="1200" cap="none" spc="0" normalizeH="0" baseline="0" noProof="0" dirty="0">
                <a:ln>
                  <a:noFill/>
                </a:ln>
                <a:solidFill>
                  <a:srgbClr val="000000"/>
                </a:solidFill>
                <a:effectLst/>
                <a:uLnTx/>
                <a:uFillTx/>
                <a:latin typeface="Graphik Light" panose="020B0403030202060203" pitchFamily="34" charset="77"/>
                <a:ea typeface="+mn-ea"/>
                <a:cs typeface="+mn-cs"/>
              </a:rPr>
              <a:t>Coreografía o gestor de eventos que permite que cada componente soporte de forma independiente una operación empresarial dependiendo de un orquestador central</a:t>
            </a:r>
          </a:p>
          <a:p>
            <a:pPr marL="342900" marR="0" lvl="0" indent="-254000" algn="l" defTabSz="914400" rtl="0" eaLnBrk="1" fontAlgn="auto" latinLnBrk="0" hangingPunct="1">
              <a:lnSpc>
                <a:spcPct val="100000"/>
              </a:lnSpc>
              <a:spcBef>
                <a:spcPts val="200"/>
              </a:spcBef>
              <a:spcAft>
                <a:spcPts val="600"/>
              </a:spcAft>
              <a:buClr>
                <a:srgbClr val="7500C0">
                  <a:lumMod val="60000"/>
                  <a:lumOff val="40000"/>
                </a:srgbClr>
              </a:buClr>
              <a:buSzTx/>
              <a:buFont typeface="+mj-lt"/>
              <a:buAutoNum type="arabicPeriod"/>
              <a:tabLst/>
              <a:defRPr/>
            </a:pPr>
            <a:r>
              <a:rPr kumimoji="0" lang="es" sz="1200" b="0" i="0" u="none" strike="noStrike" kern="1200" cap="none" spc="0" normalizeH="0" baseline="0" noProof="0" dirty="0">
                <a:ln>
                  <a:noFill/>
                </a:ln>
                <a:solidFill>
                  <a:srgbClr val="000000"/>
                </a:solidFill>
                <a:effectLst/>
                <a:uLnTx/>
                <a:uFillTx/>
                <a:latin typeface="Graphik Light" panose="020B0403030202060203" pitchFamily="34" charset="77"/>
                <a:ea typeface="+mn-ea"/>
                <a:cs typeface="+mn-cs"/>
              </a:rPr>
              <a:t>Microservicios alineados con capacidades empresariales que proporcionan características granulares bajo estructuras de datos estándar siguiendo los estándares BIAN.</a:t>
            </a:r>
          </a:p>
          <a:p>
            <a:pPr marL="342900" marR="0" lvl="0" indent="-254000" algn="l" defTabSz="914400" rtl="0" eaLnBrk="1" fontAlgn="auto" latinLnBrk="0" hangingPunct="1">
              <a:lnSpc>
                <a:spcPct val="100000"/>
              </a:lnSpc>
              <a:spcBef>
                <a:spcPts val="200"/>
              </a:spcBef>
              <a:spcAft>
                <a:spcPts val="600"/>
              </a:spcAft>
              <a:buClr>
                <a:srgbClr val="7500C0">
                  <a:lumMod val="60000"/>
                  <a:lumOff val="40000"/>
                </a:srgbClr>
              </a:buClr>
              <a:buSzTx/>
              <a:buFont typeface="+mj-lt"/>
              <a:buAutoNum type="arabicPeriod"/>
              <a:tabLst/>
              <a:defRPr/>
            </a:pPr>
            <a:r>
              <a:rPr kumimoji="0" lang="es" sz="1200" b="0" i="0" u="none" strike="noStrike" kern="1200" cap="none" spc="0" normalizeH="0" baseline="0" noProof="0" dirty="0">
                <a:ln>
                  <a:noFill/>
                </a:ln>
                <a:solidFill>
                  <a:srgbClr val="000000"/>
                </a:solidFill>
                <a:effectLst/>
                <a:uLnTx/>
                <a:uFillTx/>
                <a:latin typeface="Graphik Light" panose="020B0403030202060203" pitchFamily="34" charset="77"/>
                <a:ea typeface="+mn-ea"/>
                <a:cs typeface="+mn-cs"/>
              </a:rPr>
              <a:t>Capacidades de coexistencia e integración que permiten cruzar servicios y funciones comunes </a:t>
            </a:r>
          </a:p>
        </p:txBody>
      </p:sp>
      <p:sp>
        <p:nvSpPr>
          <p:cNvPr id="39" name="Oval 38">
            <a:extLst>
              <a:ext uri="{FF2B5EF4-FFF2-40B4-BE49-F238E27FC236}">
                <a16:creationId xmlns:a16="http://schemas.microsoft.com/office/drawing/2014/main" id="{97E780E6-08DE-C74C-2D70-C6E192BB9811}"/>
              </a:ext>
            </a:extLst>
          </p:cNvPr>
          <p:cNvSpPr/>
          <p:nvPr/>
        </p:nvSpPr>
        <p:spPr>
          <a:xfrm>
            <a:off x="4937280" y="3953996"/>
            <a:ext cx="288000" cy="288000"/>
          </a:xfrm>
          <a:prstGeom prst="ellipse">
            <a:avLst/>
          </a:prstGeom>
          <a:solidFill>
            <a:schemeClr val="accent3">
              <a:lumMod val="60000"/>
              <a:lumOff val="4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400" b="1" i="0" u="none" strike="noStrike" kern="1200" cap="none" spc="0" normalizeH="0" baseline="0" noProof="0">
                <a:ln>
                  <a:noFill/>
                </a:ln>
                <a:solidFill>
                  <a:srgbClr val="FFFFFF"/>
                </a:solidFill>
                <a:effectLst/>
                <a:uLnTx/>
                <a:uFillTx/>
                <a:latin typeface="Graphik"/>
                <a:ea typeface="+mn-ea"/>
                <a:cs typeface="+mn-cs"/>
              </a:rPr>
              <a:t>5</a:t>
            </a:r>
          </a:p>
        </p:txBody>
      </p:sp>
      <p:pic>
        <p:nvPicPr>
          <p:cNvPr id="59" name="Picture 58">
            <a:extLst>
              <a:ext uri="{FF2B5EF4-FFF2-40B4-BE49-F238E27FC236}">
                <a16:creationId xmlns:a16="http://schemas.microsoft.com/office/drawing/2014/main" id="{9C47091C-2598-B383-6C62-E78CB0A2C903}"/>
              </a:ext>
            </a:extLst>
          </p:cNvPr>
          <p:cNvPicPr>
            <a:picLocks noChangeAspect="1"/>
          </p:cNvPicPr>
          <p:nvPr/>
        </p:nvPicPr>
        <p:blipFill>
          <a:blip r:embed="rId4"/>
          <a:stretch>
            <a:fillRect/>
          </a:stretch>
        </p:blipFill>
        <p:spPr>
          <a:xfrm>
            <a:off x="8972879" y="945550"/>
            <a:ext cx="2843282" cy="2071265"/>
          </a:xfrm>
          <a:prstGeom prst="rect">
            <a:avLst/>
          </a:prstGeom>
        </p:spPr>
      </p:pic>
    </p:spTree>
    <p:extLst>
      <p:ext uri="{BB962C8B-B14F-4D97-AF65-F5344CB8AC3E}">
        <p14:creationId xmlns:p14="http://schemas.microsoft.com/office/powerpoint/2010/main" val="6550682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0FCE66-F1F1-A549-24D2-06E451C7EAF7}"/>
            </a:ext>
          </a:extLst>
        </p:cNvPr>
        <p:cNvGrpSpPr/>
        <p:nvPr/>
      </p:nvGrpSpPr>
      <p:grpSpPr>
        <a:xfrm>
          <a:off x="0" y="0"/>
          <a:ext cx="0" cy="0"/>
          <a:chOff x="0" y="0"/>
          <a:chExt cx="0" cy="0"/>
        </a:xfrm>
      </p:grpSpPr>
      <p:sp>
        <p:nvSpPr>
          <p:cNvPr id="16" name="Footer Placeholder 2">
            <a:extLst>
              <a:ext uri="{FF2B5EF4-FFF2-40B4-BE49-F238E27FC236}">
                <a16:creationId xmlns:a16="http://schemas.microsoft.com/office/drawing/2014/main" id="{6CC9D78B-D072-6303-55B5-FFC390E27666}"/>
              </a:ext>
            </a:extLst>
          </p:cNvPr>
          <p:cNvSpPr>
            <a:spLocks noGrp="1"/>
          </p:cNvSpPr>
          <p:nvPr>
            <p:ph type="ftr" sz="quarter" idx="3"/>
          </p:nvPr>
        </p:nvSpPr>
        <p:spPr>
          <a:xfrm>
            <a:off x="8908942" y="6617127"/>
            <a:ext cx="3175200" cy="132523"/>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alpha val="65000"/>
                  </a:srgbClr>
                </a:solidFill>
                <a:effectLst/>
                <a:uLnTx/>
                <a:uFillTx/>
                <a:latin typeface="Graphik"/>
                <a:ea typeface="+mn-ea"/>
                <a:cs typeface="+mn-cs"/>
              </a:rPr>
              <a:t>Copyright © 2025 Accenture. Todos los derechos reservados.</a:t>
            </a:r>
          </a:p>
        </p:txBody>
      </p:sp>
      <p:sp>
        <p:nvSpPr>
          <p:cNvPr id="65" name="Content Placeholder 34">
            <a:extLst>
              <a:ext uri="{FF2B5EF4-FFF2-40B4-BE49-F238E27FC236}">
                <a16:creationId xmlns:a16="http://schemas.microsoft.com/office/drawing/2014/main" id="{D38959B3-9BFF-098B-0B50-391D968B630C}"/>
              </a:ext>
            </a:extLst>
          </p:cNvPr>
          <p:cNvSpPr txBox="1">
            <a:spLocks/>
          </p:cNvSpPr>
          <p:nvPr/>
        </p:nvSpPr>
        <p:spPr>
          <a:xfrm>
            <a:off x="324090" y="641993"/>
            <a:ext cx="11430000" cy="246221"/>
          </a:xfrm>
          <a:prstGeom prst="rect">
            <a:avLst/>
          </a:prstGeom>
        </p:spPr>
        <p:txBody>
          <a:bodyPr/>
          <a:lstStyle>
            <a:lvl1pPr marL="228600" indent="-228600" algn="l" defTabSz="228600" rtl="0" eaLnBrk="1" latinLnBrk="0" hangingPunct="1">
              <a:lnSpc>
                <a:spcPct val="100000"/>
              </a:lnSpc>
              <a:spcBef>
                <a:spcPts val="0"/>
              </a:spcBef>
              <a:spcAft>
                <a:spcPts val="600"/>
              </a:spcAft>
              <a:buFont typeface="Arial"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Arial"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Arial"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Arial"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Arial"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Arial" panose="020B0604020202020204" pitchFamily="34" charset="0"/>
              <a:buNone/>
              <a:defRPr sz="800" kern="1200">
                <a:solidFill>
                  <a:schemeClr val="tx2"/>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s" sz="1600" b="1" i="0" u="none" strike="noStrike" kern="1200" cap="none" spc="0" normalizeH="0" baseline="0" noProof="0">
                <a:ln>
                  <a:noFill/>
                </a:ln>
                <a:solidFill>
                  <a:srgbClr val="7500C0"/>
                </a:solidFill>
                <a:effectLst/>
                <a:uLnTx/>
                <a:uFillTx/>
                <a:latin typeface="Graphik" panose="020B0503030202060203" pitchFamily="34" charset="0"/>
                <a:ea typeface="+mn-ea"/>
                <a:cs typeface="+mn-cs"/>
              </a:rPr>
              <a:t>Modernización de la Arquitectura Tecnológica</a:t>
            </a:r>
          </a:p>
        </p:txBody>
      </p:sp>
      <p:sp>
        <p:nvSpPr>
          <p:cNvPr id="66" name="Title 1">
            <a:extLst>
              <a:ext uri="{FF2B5EF4-FFF2-40B4-BE49-F238E27FC236}">
                <a16:creationId xmlns:a16="http://schemas.microsoft.com/office/drawing/2014/main" id="{6A35B2DE-33EC-3244-1B15-1AEE43548AB7}"/>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a:ln>
                  <a:noFill/>
                </a:ln>
                <a:solidFill>
                  <a:srgbClr val="7500C0"/>
                </a:solidFill>
                <a:effectLst/>
                <a:uLnTx/>
                <a:uFillTx/>
                <a:latin typeface="Graphik"/>
                <a:ea typeface="+mj-ea"/>
                <a:cs typeface="+mj-cs"/>
              </a:rPr>
              <a:t>Modernización del </a:t>
            </a:r>
            <a:r>
              <a:rPr lang="es" sz="2400">
                <a:solidFill>
                  <a:srgbClr val="7500C0"/>
                </a:solidFill>
                <a:latin typeface="Graphik"/>
              </a:rPr>
              <a:t>l</a:t>
            </a:r>
            <a:r>
              <a:rPr kumimoji="0" lang="es" sz="2400" b="1" i="0" u="none" strike="noStrike" kern="1200" cap="none" spc="0" normalizeH="0" baseline="0" noProof="0">
                <a:ln>
                  <a:noFill/>
                </a:ln>
                <a:solidFill>
                  <a:srgbClr val="7500C0"/>
                </a:solidFill>
                <a:effectLst/>
                <a:uLnTx/>
                <a:uFillTx/>
                <a:latin typeface="Graphik"/>
                <a:ea typeface="+mj-ea"/>
                <a:cs typeface="+mj-cs"/>
              </a:rPr>
              <a:t>egado y </a:t>
            </a:r>
            <a:r>
              <a:rPr lang="es" sz="2400">
                <a:solidFill>
                  <a:srgbClr val="7500C0"/>
                </a:solidFill>
                <a:latin typeface="Graphik"/>
              </a:rPr>
              <a:t>b</a:t>
            </a:r>
            <a:r>
              <a:rPr kumimoji="0" lang="es" sz="2400" b="1" i="0" u="none" strike="noStrike" kern="1200" cap="none" spc="0" normalizeH="0" baseline="0" noProof="0">
                <a:ln>
                  <a:noFill/>
                </a:ln>
                <a:solidFill>
                  <a:srgbClr val="7500C0"/>
                </a:solidFill>
                <a:effectLst/>
                <a:uLnTx/>
                <a:uFillTx/>
                <a:latin typeface="Graphik"/>
                <a:ea typeface="+mj-ea"/>
                <a:cs typeface="+mj-cs"/>
              </a:rPr>
              <a:t>anco del futuro</a:t>
            </a:r>
          </a:p>
        </p:txBody>
      </p:sp>
      <p:pic>
        <p:nvPicPr>
          <p:cNvPr id="10" name="Picture 9">
            <a:extLst>
              <a:ext uri="{FF2B5EF4-FFF2-40B4-BE49-F238E27FC236}">
                <a16:creationId xmlns:a16="http://schemas.microsoft.com/office/drawing/2014/main" id="{A05F7DC3-770D-8C02-C4D4-FAAF50847E75}"/>
              </a:ext>
            </a:extLst>
          </p:cNvPr>
          <p:cNvPicPr>
            <a:picLocks noChangeAspect="1"/>
          </p:cNvPicPr>
          <p:nvPr/>
        </p:nvPicPr>
        <p:blipFill>
          <a:blip r:embed="rId3"/>
          <a:stretch>
            <a:fillRect/>
          </a:stretch>
        </p:blipFill>
        <p:spPr>
          <a:xfrm>
            <a:off x="3223301" y="2829617"/>
            <a:ext cx="5537703" cy="2685998"/>
          </a:xfrm>
          <a:prstGeom prst="rect">
            <a:avLst/>
          </a:prstGeom>
        </p:spPr>
      </p:pic>
      <p:sp>
        <p:nvSpPr>
          <p:cNvPr id="11" name="Text Placeholder 28">
            <a:extLst>
              <a:ext uri="{FF2B5EF4-FFF2-40B4-BE49-F238E27FC236}">
                <a16:creationId xmlns:a16="http://schemas.microsoft.com/office/drawing/2014/main" id="{83935CCD-A91B-4E1F-A307-87D5DE320DCC}"/>
              </a:ext>
            </a:extLst>
          </p:cNvPr>
          <p:cNvSpPr txBox="1">
            <a:spLocks/>
          </p:cNvSpPr>
          <p:nvPr/>
        </p:nvSpPr>
        <p:spPr>
          <a:xfrm>
            <a:off x="381000" y="1019207"/>
            <a:ext cx="11430000" cy="1400383"/>
          </a:xfrm>
          <a:prstGeom prst="rect">
            <a:avLst/>
          </a:prstGeom>
        </p:spPr>
        <p:txBody>
          <a:bodyPr/>
          <a:lstStyle>
            <a:lvl1pPr marL="228600" indent="-228600" algn="l" defTabSz="228600" rtl="0" eaLnBrk="1" latinLnBrk="0" hangingPunct="1">
              <a:lnSpc>
                <a:spcPct val="100000"/>
              </a:lnSpc>
              <a:spcBef>
                <a:spcPts val="0"/>
              </a:spcBef>
              <a:spcAft>
                <a:spcPts val="600"/>
              </a:spcAft>
              <a:buFont typeface="Graphik"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Graphik"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Graphik"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Graphik"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Graphik"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Graphik"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Graphik"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Graphik" panose="020B0604020202020204" pitchFamily="34" charset="0"/>
              <a:buNone/>
              <a:defRPr sz="800" kern="1200">
                <a:solidFill>
                  <a:schemeClr val="tx2"/>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600"/>
              </a:spcAft>
              <a:buClrTx/>
              <a:buSzTx/>
              <a:buNone/>
              <a:tabLst/>
              <a:defRPr/>
            </a:pPr>
            <a:r>
              <a:rPr kumimoji="0" lang="es" sz="1200" b="0" i="0" u="none" strike="noStrike" kern="1200" cap="none" spc="0" normalizeH="0" baseline="0" noProof="0">
                <a:ln>
                  <a:noFill/>
                </a:ln>
                <a:solidFill>
                  <a:srgbClr val="000000"/>
                </a:solidFill>
                <a:effectLst/>
                <a:uLnTx/>
                <a:uFillTx/>
                <a:latin typeface="Graphik"/>
                <a:ea typeface="+mn-ea"/>
                <a:cs typeface="+mn-cs"/>
              </a:rPr>
              <a:t>El desacoplamiento de los sistemas heredados y la integración habilitada son clave para la interoperabilidad:</a:t>
            </a:r>
          </a:p>
          <a:p>
            <a:pPr marL="230188" marR="0" lvl="0" indent="-230188"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1200" b="0" i="0" u="none" strike="noStrike" kern="1200" cap="none" spc="0" normalizeH="0" baseline="0" noProof="0">
                <a:ln>
                  <a:noFill/>
                </a:ln>
                <a:solidFill>
                  <a:srgbClr val="000000"/>
                </a:solidFill>
                <a:effectLst/>
                <a:uLnTx/>
                <a:uFillTx/>
                <a:latin typeface="Graphik"/>
                <a:ea typeface="+mn-ea"/>
                <a:cs typeface="+mn-cs"/>
              </a:rPr>
              <a:t>La arquitectura debe acoplarse de forma flexible para apoyar la asignación de diferentes capacidades empresariales a los procesos empresariales</a:t>
            </a:r>
          </a:p>
          <a:p>
            <a:pPr marL="230188" marR="0" lvl="0" indent="-230188"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1200" b="0" i="0" u="none" strike="noStrike" kern="1200" cap="none" spc="0" normalizeH="0" baseline="0" noProof="0">
                <a:ln>
                  <a:noFill/>
                </a:ln>
                <a:solidFill>
                  <a:srgbClr val="000000"/>
                </a:solidFill>
                <a:effectLst/>
                <a:uLnTx/>
                <a:uFillTx/>
                <a:latin typeface="Graphik"/>
                <a:ea typeface="+mn-ea"/>
                <a:cs typeface="+mn-cs"/>
              </a:rPr>
              <a:t>El principio de desacoplamiento permite el aislamiento de integraciones entre componentes principales</a:t>
            </a:r>
          </a:p>
          <a:p>
            <a:pPr marL="230188" marR="0" lvl="0" indent="-230188"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1200" b="0" i="0" u="none" strike="noStrike" kern="1200" cap="none" spc="0" normalizeH="0" baseline="0" noProof="0">
                <a:ln>
                  <a:noFill/>
                </a:ln>
                <a:solidFill>
                  <a:srgbClr val="000000"/>
                </a:solidFill>
                <a:effectLst/>
                <a:uLnTx/>
                <a:uFillTx/>
                <a:latin typeface="Graphik"/>
                <a:ea typeface="+mn-ea"/>
                <a:cs typeface="+mn-cs"/>
              </a:rPr>
              <a:t>Las integraciones online se gestionan a través de dos tipos de integraciones: APIs REST y Eventos, que se publican en los diferentes registros habilitados por la arquitectura. Cualquier integración online se realizará mediante los mecanismos mencionados anteriormente</a:t>
            </a:r>
          </a:p>
        </p:txBody>
      </p:sp>
      <p:grpSp>
        <p:nvGrpSpPr>
          <p:cNvPr id="12" name="Group 11">
            <a:extLst>
              <a:ext uri="{FF2B5EF4-FFF2-40B4-BE49-F238E27FC236}">
                <a16:creationId xmlns:a16="http://schemas.microsoft.com/office/drawing/2014/main" id="{673DE77F-1309-F625-6631-54D69B5CAD8D}"/>
              </a:ext>
            </a:extLst>
          </p:cNvPr>
          <p:cNvGrpSpPr/>
          <p:nvPr/>
        </p:nvGrpSpPr>
        <p:grpSpPr>
          <a:xfrm>
            <a:off x="4162087" y="2786743"/>
            <a:ext cx="3989030" cy="2239919"/>
            <a:chOff x="3767729" y="3238849"/>
            <a:chExt cx="3991321" cy="2241202"/>
          </a:xfrm>
        </p:grpSpPr>
        <p:sp>
          <p:nvSpPr>
            <p:cNvPr id="13" name="Oval 12">
              <a:extLst>
                <a:ext uri="{FF2B5EF4-FFF2-40B4-BE49-F238E27FC236}">
                  <a16:creationId xmlns:a16="http://schemas.microsoft.com/office/drawing/2014/main" id="{B5106C1A-4B91-D8AC-9801-12CD8EAB170A}"/>
                </a:ext>
              </a:extLst>
            </p:cNvPr>
            <p:cNvSpPr/>
            <p:nvPr/>
          </p:nvSpPr>
          <p:spPr>
            <a:xfrm>
              <a:off x="3867420" y="3238849"/>
              <a:ext cx="288000" cy="288000"/>
            </a:xfrm>
            <a:prstGeom prst="ellipse">
              <a:avLst/>
            </a:prstGeom>
            <a:solidFill>
              <a:schemeClr val="accent3">
                <a:lumMod val="60000"/>
                <a:lumOff val="40000"/>
              </a:schemeClr>
            </a:solidFill>
            <a:ln>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3854" rtl="0" eaLnBrk="1" fontAlgn="auto" latinLnBrk="0" hangingPunct="1">
                <a:lnSpc>
                  <a:spcPct val="100000"/>
                </a:lnSpc>
                <a:spcBef>
                  <a:spcPts val="0"/>
                </a:spcBef>
                <a:spcAft>
                  <a:spcPts val="0"/>
                </a:spcAft>
                <a:buClrTx/>
                <a:buSzTx/>
                <a:buFontTx/>
                <a:buNone/>
                <a:tabLst/>
                <a:defRPr/>
              </a:pPr>
              <a:r>
                <a:rPr kumimoji="0" lang="es" sz="1399" b="1" i="0" u="none" strike="noStrike" kern="1200" cap="none" spc="0" normalizeH="0" baseline="0" noProof="0">
                  <a:ln>
                    <a:noFill/>
                  </a:ln>
                  <a:solidFill>
                    <a:srgbClr val="FFFFFF"/>
                  </a:solidFill>
                  <a:effectLst/>
                  <a:uLnTx/>
                  <a:uFillTx/>
                  <a:latin typeface="Graphik"/>
                  <a:ea typeface="+mn-ea"/>
                  <a:cs typeface="+mn-cs"/>
                </a:rPr>
                <a:t>A</a:t>
              </a:r>
            </a:p>
          </p:txBody>
        </p:sp>
        <p:sp>
          <p:nvSpPr>
            <p:cNvPr id="14" name="Oval 13">
              <a:extLst>
                <a:ext uri="{FF2B5EF4-FFF2-40B4-BE49-F238E27FC236}">
                  <a16:creationId xmlns:a16="http://schemas.microsoft.com/office/drawing/2014/main" id="{71300FE1-FF13-F123-6C12-577A14F486BF}"/>
                </a:ext>
              </a:extLst>
            </p:cNvPr>
            <p:cNvSpPr/>
            <p:nvPr/>
          </p:nvSpPr>
          <p:spPr>
            <a:xfrm>
              <a:off x="3872032" y="3610597"/>
              <a:ext cx="288000" cy="288000"/>
            </a:xfrm>
            <a:prstGeom prst="ellipse">
              <a:avLst/>
            </a:prstGeom>
            <a:solidFill>
              <a:schemeClr val="accent3">
                <a:lumMod val="60000"/>
                <a:lumOff val="40000"/>
              </a:schemeClr>
            </a:solidFill>
            <a:ln>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3854" rtl="0" eaLnBrk="1" fontAlgn="auto" latinLnBrk="0" hangingPunct="1">
                <a:lnSpc>
                  <a:spcPct val="100000"/>
                </a:lnSpc>
                <a:spcBef>
                  <a:spcPts val="0"/>
                </a:spcBef>
                <a:spcAft>
                  <a:spcPts val="0"/>
                </a:spcAft>
                <a:buClrTx/>
                <a:buSzTx/>
                <a:buFontTx/>
                <a:buNone/>
                <a:tabLst/>
                <a:defRPr/>
              </a:pPr>
              <a:r>
                <a:rPr kumimoji="0" lang="es" sz="1399" b="1" i="0" u="none" strike="noStrike" kern="1200" cap="none" spc="0" normalizeH="0" baseline="0" noProof="0">
                  <a:ln>
                    <a:noFill/>
                  </a:ln>
                  <a:solidFill>
                    <a:srgbClr val="FFFFFF"/>
                  </a:solidFill>
                  <a:effectLst/>
                  <a:uLnTx/>
                  <a:uFillTx/>
                  <a:latin typeface="Graphik"/>
                  <a:ea typeface="+mn-ea"/>
                  <a:cs typeface="+mn-cs"/>
                </a:rPr>
                <a:t>B</a:t>
              </a:r>
            </a:p>
          </p:txBody>
        </p:sp>
        <p:sp>
          <p:nvSpPr>
            <p:cNvPr id="17" name="Oval 16">
              <a:extLst>
                <a:ext uri="{FF2B5EF4-FFF2-40B4-BE49-F238E27FC236}">
                  <a16:creationId xmlns:a16="http://schemas.microsoft.com/office/drawing/2014/main" id="{51F0E1E2-ED5D-1983-B6EA-9C9A30FF584C}"/>
                </a:ext>
              </a:extLst>
            </p:cNvPr>
            <p:cNvSpPr/>
            <p:nvPr/>
          </p:nvSpPr>
          <p:spPr>
            <a:xfrm>
              <a:off x="6698669" y="3610597"/>
              <a:ext cx="288000" cy="288000"/>
            </a:xfrm>
            <a:prstGeom prst="ellipse">
              <a:avLst/>
            </a:prstGeom>
            <a:solidFill>
              <a:schemeClr val="accent3">
                <a:lumMod val="60000"/>
                <a:lumOff val="40000"/>
              </a:schemeClr>
            </a:solidFill>
            <a:ln>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3854" rtl="0" eaLnBrk="1" fontAlgn="auto" latinLnBrk="0" hangingPunct="1">
                <a:lnSpc>
                  <a:spcPct val="100000"/>
                </a:lnSpc>
                <a:spcBef>
                  <a:spcPts val="0"/>
                </a:spcBef>
                <a:spcAft>
                  <a:spcPts val="0"/>
                </a:spcAft>
                <a:buClrTx/>
                <a:buSzTx/>
                <a:buFontTx/>
                <a:buNone/>
                <a:tabLst/>
                <a:defRPr/>
              </a:pPr>
              <a:r>
                <a:rPr kumimoji="0" lang="es" sz="1399" b="1" i="0" u="none" strike="noStrike" kern="1200" cap="none" spc="0" normalizeH="0" baseline="0" noProof="0">
                  <a:ln>
                    <a:noFill/>
                  </a:ln>
                  <a:solidFill>
                    <a:srgbClr val="FFFFFF"/>
                  </a:solidFill>
                  <a:effectLst/>
                  <a:uLnTx/>
                  <a:uFillTx/>
                  <a:latin typeface="Graphik"/>
                  <a:ea typeface="+mn-ea"/>
                  <a:cs typeface="+mn-cs"/>
                </a:rPr>
                <a:t>C</a:t>
              </a:r>
            </a:p>
          </p:txBody>
        </p:sp>
        <p:sp>
          <p:nvSpPr>
            <p:cNvPr id="18" name="Oval 17">
              <a:extLst>
                <a:ext uri="{FF2B5EF4-FFF2-40B4-BE49-F238E27FC236}">
                  <a16:creationId xmlns:a16="http://schemas.microsoft.com/office/drawing/2014/main" id="{35BC0225-DA38-2A8B-324E-3E8CCE2E5EEE}"/>
                </a:ext>
              </a:extLst>
            </p:cNvPr>
            <p:cNvSpPr/>
            <p:nvPr/>
          </p:nvSpPr>
          <p:spPr>
            <a:xfrm>
              <a:off x="7471050" y="3815364"/>
              <a:ext cx="288000" cy="288000"/>
            </a:xfrm>
            <a:prstGeom prst="ellipse">
              <a:avLst/>
            </a:prstGeom>
            <a:solidFill>
              <a:schemeClr val="accent3">
                <a:lumMod val="60000"/>
                <a:lumOff val="40000"/>
              </a:schemeClr>
            </a:solidFill>
            <a:ln>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3854" rtl="0" eaLnBrk="1" fontAlgn="auto" latinLnBrk="0" hangingPunct="1">
                <a:lnSpc>
                  <a:spcPct val="100000"/>
                </a:lnSpc>
                <a:spcBef>
                  <a:spcPts val="0"/>
                </a:spcBef>
                <a:spcAft>
                  <a:spcPts val="0"/>
                </a:spcAft>
                <a:buClrTx/>
                <a:buSzTx/>
                <a:buFontTx/>
                <a:buNone/>
                <a:tabLst/>
                <a:defRPr/>
              </a:pPr>
              <a:r>
                <a:rPr kumimoji="0" lang="es" sz="1399" b="1" i="0" u="none" strike="noStrike" kern="1200" cap="none" spc="0" normalizeH="0" baseline="0" noProof="0">
                  <a:ln>
                    <a:noFill/>
                  </a:ln>
                  <a:solidFill>
                    <a:srgbClr val="FFFFFF"/>
                  </a:solidFill>
                  <a:effectLst/>
                  <a:uLnTx/>
                  <a:uFillTx/>
                  <a:latin typeface="Graphik"/>
                  <a:ea typeface="+mn-ea"/>
                  <a:cs typeface="+mn-cs"/>
                </a:rPr>
                <a:t>D</a:t>
              </a:r>
            </a:p>
          </p:txBody>
        </p:sp>
        <p:sp>
          <p:nvSpPr>
            <p:cNvPr id="19" name="Oval 18">
              <a:extLst>
                <a:ext uri="{FF2B5EF4-FFF2-40B4-BE49-F238E27FC236}">
                  <a16:creationId xmlns:a16="http://schemas.microsoft.com/office/drawing/2014/main" id="{EE1AB38C-2C55-57C2-A99E-2FBECA21EEB8}"/>
                </a:ext>
              </a:extLst>
            </p:cNvPr>
            <p:cNvSpPr/>
            <p:nvPr/>
          </p:nvSpPr>
          <p:spPr>
            <a:xfrm>
              <a:off x="3767729" y="5192051"/>
              <a:ext cx="288000" cy="288000"/>
            </a:xfrm>
            <a:prstGeom prst="ellipse">
              <a:avLst/>
            </a:prstGeom>
            <a:solidFill>
              <a:schemeClr val="accent3">
                <a:lumMod val="60000"/>
                <a:lumOff val="40000"/>
              </a:schemeClr>
            </a:solidFill>
            <a:ln>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3854" rtl="0" eaLnBrk="1" fontAlgn="auto" latinLnBrk="0" hangingPunct="1">
                <a:lnSpc>
                  <a:spcPct val="100000"/>
                </a:lnSpc>
                <a:spcBef>
                  <a:spcPts val="0"/>
                </a:spcBef>
                <a:spcAft>
                  <a:spcPts val="0"/>
                </a:spcAft>
                <a:buClrTx/>
                <a:buSzTx/>
                <a:buFontTx/>
                <a:buNone/>
                <a:tabLst/>
                <a:defRPr/>
              </a:pPr>
              <a:r>
                <a:rPr kumimoji="0" lang="es" sz="1399" b="1" i="0" u="none" strike="noStrike" kern="1200" cap="none" spc="0" normalizeH="0" baseline="0" noProof="0">
                  <a:ln>
                    <a:noFill/>
                  </a:ln>
                  <a:solidFill>
                    <a:srgbClr val="FFFFFF"/>
                  </a:solidFill>
                  <a:effectLst/>
                  <a:uLnTx/>
                  <a:uFillTx/>
                  <a:latin typeface="Graphik"/>
                  <a:ea typeface="+mn-ea"/>
                  <a:cs typeface="+mn-cs"/>
                </a:rPr>
                <a:t>E</a:t>
              </a:r>
            </a:p>
          </p:txBody>
        </p:sp>
      </p:grpSp>
      <p:sp>
        <p:nvSpPr>
          <p:cNvPr id="20" name="TextBox 19">
            <a:extLst>
              <a:ext uri="{FF2B5EF4-FFF2-40B4-BE49-F238E27FC236}">
                <a16:creationId xmlns:a16="http://schemas.microsoft.com/office/drawing/2014/main" id="{1B91E949-6290-1FF4-6E89-9D86A15D975F}"/>
              </a:ext>
            </a:extLst>
          </p:cNvPr>
          <p:cNvSpPr txBox="1"/>
          <p:nvPr/>
        </p:nvSpPr>
        <p:spPr>
          <a:xfrm>
            <a:off x="471448" y="2598727"/>
            <a:ext cx="2524324" cy="1631216"/>
          </a:xfrm>
          <a:prstGeom prst="rect">
            <a:avLst/>
          </a:prstGeom>
          <a:noFill/>
        </p:spPr>
        <p:txBody>
          <a:bodyPr wrap="square" lIns="0">
            <a:spAutoFit/>
          </a:bodyPr>
          <a:lstStyle/>
          <a:p>
            <a:pPr marL="0" marR="0" lvl="0" indent="0" algn="l" defTabSz="913854" rtl="0" eaLnBrk="1" fontAlgn="auto" latinLnBrk="0" hangingPunct="1">
              <a:lnSpc>
                <a:spcPct val="100000"/>
              </a:lnSpc>
              <a:spcBef>
                <a:spcPts val="600"/>
              </a:spcBef>
              <a:spcAft>
                <a:spcPts val="600"/>
              </a:spcAft>
              <a:buClrTx/>
              <a:buSzTx/>
              <a:buFontTx/>
              <a:buNone/>
              <a:tabLst/>
              <a:defRPr/>
            </a:pPr>
            <a:r>
              <a:rPr kumimoji="0" lang="es" sz="1000" b="1" i="0" u="none" strike="noStrike" kern="1200" cap="none" spc="0" normalizeH="0" baseline="0" noProof="0" dirty="0">
                <a:ln>
                  <a:noFill/>
                </a:ln>
                <a:solidFill>
                  <a:srgbClr val="7500C0"/>
                </a:solidFill>
                <a:effectLst/>
                <a:uLnTx/>
                <a:uFillTx/>
                <a:latin typeface="Graphik Light" panose="020B0403030202060203" pitchFamily="34" charset="0"/>
                <a:ea typeface="+mn-ea"/>
                <a:cs typeface="+mn-cs"/>
              </a:rPr>
              <a:t>El desacoplamiento </a:t>
            </a:r>
            <a:r>
              <a:rPr kumimoji="0" lang="es" sz="1000" b="0" i="0" u="none" strike="noStrike" kern="1200" cap="none" spc="0" normalizeH="0" baseline="0" noProof="0" dirty="0">
                <a:ln>
                  <a:noFill/>
                </a:ln>
                <a:solidFill>
                  <a:srgbClr val="000000"/>
                </a:solidFill>
                <a:effectLst/>
                <a:uLnTx/>
                <a:uFillTx/>
                <a:latin typeface="Graphik Light" panose="020B0403030202060203" pitchFamily="34" charset="0"/>
                <a:ea typeface="+mn-ea"/>
                <a:cs typeface="+mn-cs"/>
              </a:rPr>
              <a:t>con aplicaciones y sistemas que lo consumen se logra a través de diferentes componentes, mediante pasarela y </a:t>
            </a:r>
            <a:r>
              <a:rPr kumimoji="0" lang="es" sz="1000" b="1" i="0" u="none" strike="noStrike" kern="1200" cap="none" spc="0" normalizeH="0" baseline="0" noProof="0" dirty="0">
                <a:ln>
                  <a:noFill/>
                </a:ln>
                <a:solidFill>
                  <a:srgbClr val="7500C0"/>
                </a:solidFill>
                <a:effectLst/>
                <a:uLnTx/>
                <a:uFillTx/>
                <a:latin typeface="Graphik Light" panose="020B0403030202060203" pitchFamily="34" charset="0"/>
                <a:ea typeface="+mn-ea"/>
                <a:cs typeface="+mn-cs"/>
              </a:rPr>
              <a:t>registros para API Rest y Eventos. </a:t>
            </a:r>
            <a:r>
              <a:rPr kumimoji="0" lang="es" sz="1000" b="0" i="0" u="none" strike="noStrike" kern="1200" cap="none" spc="0" normalizeH="0" baseline="0" noProof="0" dirty="0">
                <a:ln>
                  <a:noFill/>
                </a:ln>
                <a:solidFill>
                  <a:srgbClr val="000000"/>
                </a:solidFill>
                <a:effectLst/>
                <a:uLnTx/>
                <a:uFillTx/>
                <a:latin typeface="Graphik Light" panose="020B0403030202060203" pitchFamily="34" charset="0"/>
                <a:ea typeface="+mn-ea"/>
                <a:cs typeface="+mn-cs"/>
              </a:rPr>
              <a:t>El desacoplamiento con sistemas heredados se logra mediante componentes proxy instrumentales aprovechando los mecanismos de integración prescritos por la arquitectura interoperable.</a:t>
            </a:r>
            <a:endParaRPr kumimoji="0" lang="en-US" sz="1000" b="0" i="0" u="none" strike="sngStrike" kern="1200" cap="none" spc="0" normalizeH="0" baseline="0" noProof="0" dirty="0">
              <a:ln>
                <a:noFill/>
              </a:ln>
              <a:solidFill>
                <a:srgbClr val="000000"/>
              </a:solidFill>
              <a:effectLst/>
              <a:uLnTx/>
              <a:uFillTx/>
              <a:latin typeface="Graphik Light" panose="020B0403030202060203" pitchFamily="34" charset="0"/>
              <a:ea typeface="+mn-ea"/>
              <a:cs typeface="+mn-cs"/>
            </a:endParaRPr>
          </a:p>
        </p:txBody>
      </p:sp>
      <p:cxnSp>
        <p:nvCxnSpPr>
          <p:cNvPr id="21" name="Connector: Elbow 20">
            <a:extLst>
              <a:ext uri="{FF2B5EF4-FFF2-40B4-BE49-F238E27FC236}">
                <a16:creationId xmlns:a16="http://schemas.microsoft.com/office/drawing/2014/main" id="{E384BF30-56DC-71D7-511B-B9FB5B1D4EAC}"/>
              </a:ext>
            </a:extLst>
          </p:cNvPr>
          <p:cNvCxnSpPr>
            <a:cxnSpLocks/>
            <a:endCxn id="20" idx="0"/>
          </p:cNvCxnSpPr>
          <p:nvPr/>
        </p:nvCxnSpPr>
        <p:spPr>
          <a:xfrm rot="10800000">
            <a:off x="1733611" y="2598728"/>
            <a:ext cx="2528111" cy="200475"/>
          </a:xfrm>
          <a:prstGeom prst="bentConnector4">
            <a:avLst>
              <a:gd name="adj1" fmla="val 25037"/>
              <a:gd name="adj2" fmla="val 190232"/>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D1DD1912-8258-C45C-1E21-F550A2103375}"/>
              </a:ext>
            </a:extLst>
          </p:cNvPr>
          <p:cNvSpPr txBox="1"/>
          <p:nvPr/>
        </p:nvSpPr>
        <p:spPr>
          <a:xfrm>
            <a:off x="386872" y="4882744"/>
            <a:ext cx="2524324" cy="1169551"/>
          </a:xfrm>
          <a:prstGeom prst="rect">
            <a:avLst/>
          </a:prstGeom>
          <a:noFill/>
        </p:spPr>
        <p:txBody>
          <a:bodyPr wrap="square" lIns="0">
            <a:spAutoFit/>
          </a:bodyPr>
          <a:lstStyle/>
          <a:p>
            <a:pPr marL="0" marR="0" lvl="0" indent="0" algn="l" defTabSz="913854" rtl="0" eaLnBrk="1" fontAlgn="auto" latinLnBrk="0" hangingPunct="1">
              <a:lnSpc>
                <a:spcPct val="100000"/>
              </a:lnSpc>
              <a:spcBef>
                <a:spcPts val="600"/>
              </a:spcBef>
              <a:spcAft>
                <a:spcPts val="199"/>
              </a:spcAft>
              <a:buClrTx/>
              <a:buSzTx/>
              <a:buFontTx/>
              <a:buNone/>
              <a:tabLst/>
              <a:defRPr/>
            </a:pPr>
            <a:r>
              <a:rPr kumimoji="0" lang="es" sz="1000" b="1" i="0" u="none" strike="noStrike" kern="1200" cap="none" spc="0" normalizeH="0" baseline="0" noProof="0">
                <a:ln>
                  <a:noFill/>
                </a:ln>
                <a:solidFill>
                  <a:srgbClr val="7500C0"/>
                </a:solidFill>
                <a:effectLst/>
                <a:uLnTx/>
                <a:uFillTx/>
                <a:latin typeface="Graphik Light" panose="020B0403030202060203" pitchFamily="34" charset="0"/>
                <a:ea typeface="+mn-ea"/>
                <a:cs typeface="+mn-cs"/>
              </a:rPr>
              <a:t>Registro API REST</a:t>
            </a:r>
            <a:r>
              <a:rPr lang="es" sz="1000">
                <a:solidFill>
                  <a:srgbClr val="000000"/>
                </a:solidFill>
                <a:latin typeface="Graphik Light" panose="020B0403030202060203" pitchFamily="34" charset="0"/>
              </a:rPr>
              <a:t>, los servicios </a:t>
            </a:r>
            <a:r>
              <a:rPr kumimoji="0" lang="es" sz="10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de API son gestionados por un único registro a través de un inventario de todas las APIs registradas en la arquitectura, lo que permite proporcionar un mejor control. Las APIs pueden usar patrones síncronos o asíncronos.</a:t>
            </a:r>
          </a:p>
        </p:txBody>
      </p:sp>
      <p:cxnSp>
        <p:nvCxnSpPr>
          <p:cNvPr id="23" name="Connector: Elbow 22">
            <a:extLst>
              <a:ext uri="{FF2B5EF4-FFF2-40B4-BE49-F238E27FC236}">
                <a16:creationId xmlns:a16="http://schemas.microsoft.com/office/drawing/2014/main" id="{8EBC76C1-4CA2-7E0C-7CAD-6D6170DD5B40}"/>
              </a:ext>
            </a:extLst>
          </p:cNvPr>
          <p:cNvCxnSpPr>
            <a:cxnSpLocks/>
            <a:stCxn id="14" idx="2"/>
            <a:endCxn id="22" idx="3"/>
          </p:cNvCxnSpPr>
          <p:nvPr/>
        </p:nvCxnSpPr>
        <p:spPr>
          <a:xfrm rot="10800000" flipV="1">
            <a:off x="2911196" y="3302196"/>
            <a:ext cx="1355134" cy="2165324"/>
          </a:xfrm>
          <a:prstGeom prst="bentConnector3">
            <a:avLst>
              <a:gd name="adj1" fmla="val 50000"/>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32A1E05E-92DB-7CFA-C258-EF608074CD04}"/>
              </a:ext>
            </a:extLst>
          </p:cNvPr>
          <p:cNvSpPr txBox="1"/>
          <p:nvPr/>
        </p:nvSpPr>
        <p:spPr>
          <a:xfrm>
            <a:off x="8898240" y="2566585"/>
            <a:ext cx="2966634" cy="2195473"/>
          </a:xfrm>
          <a:prstGeom prst="rect">
            <a:avLst/>
          </a:prstGeom>
          <a:noFill/>
        </p:spPr>
        <p:txBody>
          <a:bodyPr wrap="square" lIns="0">
            <a:spAutoFit/>
          </a:bodyPr>
          <a:lstStyle/>
          <a:p>
            <a:pPr marL="0" marR="0" lvl="0" indent="0" algn="l" defTabSz="913854" rtl="0" eaLnBrk="1" fontAlgn="auto" latinLnBrk="0" hangingPunct="1">
              <a:lnSpc>
                <a:spcPct val="100000"/>
              </a:lnSpc>
              <a:spcBef>
                <a:spcPts val="199"/>
              </a:spcBef>
              <a:spcAft>
                <a:spcPts val="199"/>
              </a:spcAft>
              <a:buClrTx/>
              <a:buSzTx/>
              <a:buFontTx/>
              <a:buNone/>
              <a:tabLst/>
              <a:defRPr/>
            </a:pPr>
            <a:r>
              <a:rPr kumimoji="0" lang="es" sz="1000" b="1" i="0" u="none" strike="noStrike" kern="1200" cap="none" spc="0" normalizeH="0" baseline="0" noProof="0" dirty="0">
                <a:ln>
                  <a:noFill/>
                </a:ln>
                <a:solidFill>
                  <a:srgbClr val="7500C0"/>
                </a:solidFill>
                <a:effectLst/>
                <a:uLnTx/>
                <a:uFillTx/>
                <a:latin typeface="Graphik Light" panose="020B0403030202060203" pitchFamily="34" charset="0"/>
                <a:ea typeface="+mn-ea"/>
                <a:cs typeface="+mn-cs"/>
              </a:rPr>
              <a:t>Las integraciones basadas en eventos </a:t>
            </a:r>
            <a:r>
              <a:rPr kumimoji="0" lang="es" sz="1000" b="0" i="0" u="none" strike="noStrike" kern="1200" cap="none" spc="0" normalizeH="0" baseline="0" noProof="0" dirty="0">
                <a:ln>
                  <a:noFill/>
                </a:ln>
                <a:solidFill>
                  <a:srgbClr val="000000"/>
                </a:solidFill>
                <a:effectLst/>
                <a:uLnTx/>
                <a:uFillTx/>
                <a:latin typeface="Graphik Light" panose="020B0403030202060203" pitchFamily="34" charset="0"/>
                <a:ea typeface="+mn-ea"/>
                <a:cs typeface="+mn-cs"/>
              </a:rPr>
              <a:t>son la opción preferida para lograr  integraciones en </a:t>
            </a:r>
            <a:r>
              <a:rPr kumimoji="0" lang="es" sz="1000" b="1" i="0" u="none" strike="noStrike" kern="1200" cap="none" spc="0" normalizeH="0" baseline="0" noProof="0" dirty="0">
                <a:ln>
                  <a:noFill/>
                </a:ln>
                <a:solidFill>
                  <a:srgbClr val="7500C0"/>
                </a:solidFill>
                <a:effectLst/>
                <a:uLnTx/>
                <a:uFillTx/>
                <a:latin typeface="Graphik Light" panose="020B0403030202060203" pitchFamily="34" charset="0"/>
                <a:ea typeface="+mn-ea"/>
                <a:cs typeface="+mn-cs"/>
              </a:rPr>
              <a:t>tiempo </a:t>
            </a:r>
            <a:r>
              <a:rPr lang="es" sz="1000" b="1" dirty="0">
                <a:solidFill>
                  <a:srgbClr val="7500C0"/>
                </a:solidFill>
                <a:latin typeface="Graphik Light" panose="020B0403030202060203" pitchFamily="34" charset="0"/>
              </a:rPr>
              <a:t>real </a:t>
            </a:r>
            <a:r>
              <a:rPr lang="es" sz="1000" dirty="0">
                <a:solidFill>
                  <a:srgbClr val="000000"/>
                </a:solidFill>
                <a:latin typeface="Graphik Light" panose="020B0403030202060203" pitchFamily="34" charset="0"/>
              </a:rPr>
              <a:t>y </a:t>
            </a:r>
            <a:r>
              <a:rPr lang="es" sz="1000" b="1" dirty="0">
                <a:solidFill>
                  <a:srgbClr val="7500C0"/>
                </a:solidFill>
                <a:latin typeface="Graphik Light" panose="020B0403030202060203" pitchFamily="34" charset="0"/>
              </a:rPr>
              <a:t>sin estado </a:t>
            </a:r>
            <a:r>
              <a:rPr kumimoji="0" lang="es" sz="1000" b="0" i="0" u="none" strike="noStrike" kern="1200" cap="none" spc="0" normalizeH="0" baseline="0" noProof="0" dirty="0">
                <a:ln>
                  <a:noFill/>
                </a:ln>
                <a:solidFill>
                  <a:srgbClr val="000000"/>
                </a:solidFill>
                <a:effectLst/>
                <a:uLnTx/>
                <a:uFillTx/>
                <a:latin typeface="Graphik Light" panose="020B0403030202060203" pitchFamily="34" charset="0"/>
                <a:ea typeface="+mn-ea"/>
                <a:cs typeface="+mn-cs"/>
              </a:rPr>
              <a:t>orientadas a eventos en una arquitectura interoperable. Los eventos se identifican y listan en el registro de eventos para suscripción mediante otros componentes:</a:t>
            </a:r>
          </a:p>
          <a:p>
            <a:pPr marL="171347" marR="0" lvl="1" indent="-171347" algn="l" defTabSz="913854" rtl="0" eaLnBrk="1" fontAlgn="auto" latinLnBrk="0" hangingPunct="1">
              <a:lnSpc>
                <a:spcPct val="100000"/>
              </a:lnSpc>
              <a:spcBef>
                <a:spcPts val="199"/>
              </a:spcBef>
              <a:spcAft>
                <a:spcPts val="199"/>
              </a:spcAft>
              <a:buClrTx/>
              <a:buSzTx/>
              <a:buFont typeface="Arial" panose="020B0604020202020204" pitchFamily="34" charset="0"/>
              <a:buChar char="•"/>
              <a:tabLst/>
              <a:defRPr/>
            </a:pPr>
            <a:r>
              <a:rPr kumimoji="0" lang="es" sz="1000" b="1" i="0" u="none" strike="noStrike" kern="1200" cap="none" spc="0" normalizeH="0" baseline="0" noProof="0" dirty="0">
                <a:ln>
                  <a:noFill/>
                </a:ln>
                <a:solidFill>
                  <a:srgbClr val="7500C0"/>
                </a:solidFill>
                <a:effectLst/>
                <a:uLnTx/>
                <a:uFillTx/>
                <a:latin typeface="Graphik Light" panose="020B0403030202060203" pitchFamily="34" charset="0"/>
                <a:ea typeface="+mn-ea"/>
                <a:cs typeface="+mn-cs"/>
              </a:rPr>
              <a:t>Eventos puntuales </a:t>
            </a:r>
            <a:r>
              <a:rPr kumimoji="0" lang="es" sz="1000" b="0" i="0" u="none" strike="noStrike" kern="1200" cap="none" spc="0" normalizeH="0" baseline="0" noProof="0" dirty="0">
                <a:ln>
                  <a:noFill/>
                </a:ln>
                <a:solidFill>
                  <a:srgbClr val="000000"/>
                </a:solidFill>
                <a:effectLst/>
                <a:uLnTx/>
                <a:uFillTx/>
                <a:latin typeface="Graphik Light" panose="020B0403030202060203" pitchFamily="34" charset="0"/>
                <a:ea typeface="+mn-ea"/>
                <a:cs typeface="+mn-cs"/>
              </a:rPr>
              <a:t>generados por servicios construidos en la arquitectura interoperable (stream-in), o generados por un tercero (stream-out)</a:t>
            </a:r>
          </a:p>
          <a:p>
            <a:pPr marL="171347" marR="0" lvl="1" indent="-171347" algn="l" defTabSz="913854" rtl="0" eaLnBrk="1" fontAlgn="auto" latinLnBrk="0" hangingPunct="1">
              <a:lnSpc>
                <a:spcPct val="100000"/>
              </a:lnSpc>
              <a:spcBef>
                <a:spcPts val="199"/>
              </a:spcBef>
              <a:spcAft>
                <a:spcPts val="199"/>
              </a:spcAft>
              <a:buClrTx/>
              <a:buSzTx/>
              <a:buFont typeface="Arial" panose="020B0604020202020204" pitchFamily="34" charset="0"/>
              <a:buChar char="•"/>
              <a:tabLst/>
              <a:defRPr/>
            </a:pPr>
            <a:r>
              <a:rPr kumimoji="0" lang="es" sz="1000" b="1" i="0" u="none" strike="noStrike" kern="1200" cap="none" spc="0" normalizeH="0" baseline="0" noProof="0" dirty="0">
                <a:ln>
                  <a:noFill/>
                </a:ln>
                <a:solidFill>
                  <a:srgbClr val="7500C0"/>
                </a:solidFill>
                <a:effectLst/>
                <a:uLnTx/>
                <a:uFillTx/>
                <a:latin typeface="Graphik Light" panose="020B0403030202060203" pitchFamily="34" charset="0"/>
                <a:ea typeface="+mn-ea"/>
                <a:cs typeface="+mn-cs"/>
              </a:rPr>
              <a:t>Eventos </a:t>
            </a:r>
            <a:r>
              <a:rPr lang="es" sz="1000" b="1" dirty="0">
                <a:solidFill>
                  <a:srgbClr val="7500C0"/>
                </a:solidFill>
                <a:latin typeface="Graphik Light" panose="020B0403030202060203" pitchFamily="34" charset="0"/>
              </a:rPr>
              <a:t>programados</a:t>
            </a:r>
            <a:r>
              <a:rPr kumimoji="0" lang="es" sz="1000" b="0" i="0" u="none" strike="noStrike" kern="1200" cap="none" spc="0" normalizeH="0" baseline="0" noProof="0" dirty="0">
                <a:ln>
                  <a:noFill/>
                </a:ln>
                <a:solidFill>
                  <a:srgbClr val="000000"/>
                </a:solidFill>
                <a:effectLst/>
                <a:uLnTx/>
                <a:uFillTx/>
                <a:latin typeface="Graphik Light" panose="020B0403030202060203" pitchFamily="34" charset="0"/>
                <a:ea typeface="+mn-ea"/>
                <a:cs typeface="+mn-cs"/>
              </a:rPr>
              <a:t> que serán generados por los servicios compuestos con el apoyo de un mecanismo específico de planificador</a:t>
            </a:r>
          </a:p>
        </p:txBody>
      </p:sp>
      <p:cxnSp>
        <p:nvCxnSpPr>
          <p:cNvPr id="25" name="Connector: Elbow 24">
            <a:extLst>
              <a:ext uri="{FF2B5EF4-FFF2-40B4-BE49-F238E27FC236}">
                <a16:creationId xmlns:a16="http://schemas.microsoft.com/office/drawing/2014/main" id="{8CF93C1A-35A4-50BB-8D0B-D7381C59CA21}"/>
              </a:ext>
            </a:extLst>
          </p:cNvPr>
          <p:cNvCxnSpPr>
            <a:cxnSpLocks/>
            <a:stCxn id="17" idx="6"/>
            <a:endCxn id="24" idx="0"/>
          </p:cNvCxnSpPr>
          <p:nvPr/>
        </p:nvCxnSpPr>
        <p:spPr>
          <a:xfrm flipV="1">
            <a:off x="7379180" y="2566585"/>
            <a:ext cx="3002377" cy="735611"/>
          </a:xfrm>
          <a:prstGeom prst="bentConnector4">
            <a:avLst>
              <a:gd name="adj1" fmla="val 25298"/>
              <a:gd name="adj2" fmla="val 123509"/>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6390F7F6-DAF8-95FC-6616-B9962D453740}"/>
              </a:ext>
            </a:extLst>
          </p:cNvPr>
          <p:cNvSpPr txBox="1"/>
          <p:nvPr/>
        </p:nvSpPr>
        <p:spPr>
          <a:xfrm>
            <a:off x="8898240" y="4912625"/>
            <a:ext cx="2966634" cy="1692771"/>
          </a:xfrm>
          <a:prstGeom prst="rect">
            <a:avLst/>
          </a:prstGeom>
          <a:noFill/>
        </p:spPr>
        <p:txBody>
          <a:bodyPr wrap="square" lIns="0" tIns="0" rIns="0" bIns="0">
            <a:spAutoFit/>
          </a:bodyPr>
          <a:lstStyle/>
          <a:p>
            <a:pPr marL="0" marR="0" lvl="0" indent="0" algn="l" defTabSz="913854" rtl="0" eaLnBrk="1" fontAlgn="auto" latinLnBrk="0" hangingPunct="1">
              <a:lnSpc>
                <a:spcPct val="100000"/>
              </a:lnSpc>
              <a:spcBef>
                <a:spcPts val="0"/>
              </a:spcBef>
              <a:spcAft>
                <a:spcPts val="0"/>
              </a:spcAft>
              <a:buClrTx/>
              <a:buSzTx/>
              <a:buFontTx/>
              <a:buNone/>
              <a:tabLst/>
              <a:defRPr/>
            </a:pPr>
            <a:r>
              <a:rPr kumimoji="0" lang="es" sz="1000" b="1" i="0" u="none" strike="noStrike" kern="1200" cap="none" spc="0" normalizeH="0" baseline="0" noProof="0">
                <a:ln>
                  <a:noFill/>
                </a:ln>
                <a:solidFill>
                  <a:srgbClr val="7500C0"/>
                </a:solidFill>
                <a:effectLst/>
                <a:uLnTx/>
                <a:uFillTx/>
                <a:latin typeface="Graphik Light" panose="020B0403030202060203" pitchFamily="34" charset="0"/>
                <a:ea typeface="+mn-ea"/>
                <a:cs typeface="+mn-cs"/>
              </a:rPr>
              <a:t>Gestión de Identidad y Acceso</a:t>
            </a:r>
            <a:r>
              <a:rPr kumimoji="0" lang="es" sz="10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 centrada en la gestión de identidades de usuarios y el control del acceso a recursos. Incluye prácticas como autenticación fuerte, aprovisionamiento de usuarios y control de acceso basado en roles, incluyendo </a:t>
            </a:r>
            <a:r>
              <a:rPr kumimoji="0" lang="es" sz="1000" b="1" i="0" u="none" strike="noStrike" kern="1200" cap="none" spc="0" normalizeH="0" baseline="0" noProof="0">
                <a:ln>
                  <a:noFill/>
                </a:ln>
                <a:solidFill>
                  <a:srgbClr val="7500C0"/>
                </a:solidFill>
                <a:effectLst/>
                <a:uLnTx/>
                <a:uFillTx/>
                <a:latin typeface="Graphik Light" panose="020B0403030202060203" pitchFamily="34" charset="0"/>
                <a:ea typeface="+mn-ea"/>
                <a:cs typeface="+mn-cs"/>
              </a:rPr>
              <a:t>la monitorización de identidad y accesos </a:t>
            </a:r>
            <a:r>
              <a:rPr kumimoji="0" lang="es" sz="10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para inspeccionar identidades de usuarios y prevenir accesos no autorizados, así como </a:t>
            </a:r>
            <a:r>
              <a:rPr kumimoji="0" lang="es" sz="1000" b="1" i="0" u="none" strike="noStrike" kern="1200" cap="none" spc="0" normalizeH="0" baseline="0" noProof="0">
                <a:ln>
                  <a:noFill/>
                </a:ln>
                <a:solidFill>
                  <a:srgbClr val="7500C0"/>
                </a:solidFill>
                <a:effectLst/>
                <a:uLnTx/>
                <a:uFillTx/>
                <a:latin typeface="Graphik Light" panose="020B0403030202060203" pitchFamily="34" charset="0"/>
                <a:ea typeface="+mn-ea"/>
                <a:cs typeface="+mn-cs"/>
              </a:rPr>
              <a:t>monitorización de la actividad de usuarios (UAM) </a:t>
            </a:r>
            <a:r>
              <a:rPr kumimoji="0" lang="es" sz="10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que analiza comportamientos de los usuarios para identificar posibles riesgos de seguridad.</a:t>
            </a:r>
          </a:p>
        </p:txBody>
      </p:sp>
      <p:cxnSp>
        <p:nvCxnSpPr>
          <p:cNvPr id="27" name="Connector: Elbow 26">
            <a:extLst>
              <a:ext uri="{FF2B5EF4-FFF2-40B4-BE49-F238E27FC236}">
                <a16:creationId xmlns:a16="http://schemas.microsoft.com/office/drawing/2014/main" id="{AE00B4DE-5744-ED15-6C94-91382DC2F3AF}"/>
              </a:ext>
            </a:extLst>
          </p:cNvPr>
          <p:cNvCxnSpPr>
            <a:cxnSpLocks/>
            <a:stCxn id="18" idx="6"/>
            <a:endCxn id="26" idx="1"/>
          </p:cNvCxnSpPr>
          <p:nvPr/>
        </p:nvCxnSpPr>
        <p:spPr>
          <a:xfrm>
            <a:off x="8151117" y="3506846"/>
            <a:ext cx="747123" cy="2252165"/>
          </a:xfrm>
          <a:prstGeom prst="bentConnector3">
            <a:avLst>
              <a:gd name="adj1" fmla="val 50000"/>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6AF1014E-6D92-21A9-1286-4ED0B77D1411}"/>
              </a:ext>
            </a:extLst>
          </p:cNvPr>
          <p:cNvSpPr txBox="1"/>
          <p:nvPr/>
        </p:nvSpPr>
        <p:spPr>
          <a:xfrm>
            <a:off x="3912014" y="5909053"/>
            <a:ext cx="4158560" cy="707886"/>
          </a:xfrm>
          <a:prstGeom prst="rect">
            <a:avLst/>
          </a:prstGeom>
          <a:noFill/>
        </p:spPr>
        <p:txBody>
          <a:bodyPr wrap="square">
            <a:spAutoFit/>
          </a:bodyPr>
          <a:lstStyle/>
          <a:p>
            <a:pPr marL="0" marR="0" lvl="0" indent="0" algn="l" defTabSz="913854" rtl="0" eaLnBrk="1" fontAlgn="auto" latinLnBrk="0" hangingPunct="1">
              <a:lnSpc>
                <a:spcPct val="100000"/>
              </a:lnSpc>
              <a:spcBef>
                <a:spcPts val="199"/>
              </a:spcBef>
              <a:spcAft>
                <a:spcPts val="199"/>
              </a:spcAft>
              <a:buClrTx/>
              <a:buSzTx/>
              <a:buFontTx/>
              <a:buNone/>
              <a:tabLst/>
              <a:defRPr/>
            </a:pPr>
            <a:r>
              <a:rPr kumimoji="0" lang="es" sz="10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La capa de integración debe ser flexible para gestionar cualquier tipo de mensajería y formato, incluyendo mecanismos ETL, </a:t>
            </a:r>
            <a:r>
              <a:rPr kumimoji="0" lang="es" sz="1000" b="1" i="0" u="none" strike="noStrike" kern="1200" cap="none" spc="0" normalizeH="0" baseline="0" noProof="0">
                <a:ln>
                  <a:noFill/>
                </a:ln>
                <a:solidFill>
                  <a:srgbClr val="7500C0"/>
                </a:solidFill>
                <a:effectLst/>
                <a:uLnTx/>
                <a:uFillTx/>
                <a:latin typeface="Graphik Light" panose="020B0403030202060203" pitchFamily="34" charset="0"/>
                <a:ea typeface="+mn-ea"/>
                <a:cs typeface="+mn-cs"/>
              </a:rPr>
              <a:t>plataformas de intercambio </a:t>
            </a:r>
            <a:r>
              <a:rPr lang="es" sz="1000" b="1">
                <a:solidFill>
                  <a:srgbClr val="7500C0"/>
                </a:solidFill>
                <a:latin typeface="Graphik Light" panose="020B0403030202060203" pitchFamily="34" charset="0"/>
              </a:rPr>
              <a:t>de archivos </a:t>
            </a:r>
            <a:r>
              <a:rPr kumimoji="0" lang="es" sz="10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y </a:t>
            </a:r>
            <a:r>
              <a:rPr kumimoji="0" lang="es" sz="1000" b="1" i="0" u="none" strike="noStrike" kern="1200" cap="none" spc="0" normalizeH="0" baseline="0" noProof="0">
                <a:ln>
                  <a:noFill/>
                </a:ln>
                <a:solidFill>
                  <a:srgbClr val="7500C0"/>
                </a:solidFill>
                <a:effectLst/>
                <a:uLnTx/>
                <a:uFillTx/>
                <a:latin typeface="Graphik Light" panose="020B0403030202060203" pitchFamily="34" charset="0"/>
                <a:ea typeface="+mn-ea"/>
                <a:cs typeface="+mn-cs"/>
              </a:rPr>
              <a:t>persistencia de datos</a:t>
            </a:r>
            <a:r>
              <a:rPr kumimoji="0" lang="es" sz="10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 para la interoperabilidad con legados o aplicaciones de terceros.</a:t>
            </a:r>
          </a:p>
        </p:txBody>
      </p:sp>
      <p:cxnSp>
        <p:nvCxnSpPr>
          <p:cNvPr id="29" name="Connector: Elbow 28">
            <a:extLst>
              <a:ext uri="{FF2B5EF4-FFF2-40B4-BE49-F238E27FC236}">
                <a16:creationId xmlns:a16="http://schemas.microsoft.com/office/drawing/2014/main" id="{A004AB6C-F5FE-9539-C71F-5C29260DAB59}"/>
              </a:ext>
            </a:extLst>
          </p:cNvPr>
          <p:cNvCxnSpPr>
            <a:cxnSpLocks/>
            <a:stCxn id="19" idx="4"/>
            <a:endCxn id="28" idx="0"/>
          </p:cNvCxnSpPr>
          <p:nvPr/>
        </p:nvCxnSpPr>
        <p:spPr>
          <a:xfrm rot="16200000" flipH="1">
            <a:off x="4707454" y="4625212"/>
            <a:ext cx="882391" cy="1685289"/>
          </a:xfrm>
          <a:prstGeom prst="bentConnector3">
            <a:avLst>
              <a:gd name="adj1" fmla="val 50000"/>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176507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CF5A75-B37E-8D40-4016-998FC80F1840}"/>
            </a:ext>
          </a:extLst>
        </p:cNvPr>
        <p:cNvGrpSpPr/>
        <p:nvPr/>
      </p:nvGrpSpPr>
      <p:grpSpPr>
        <a:xfrm>
          <a:off x="0" y="0"/>
          <a:ext cx="0" cy="0"/>
          <a:chOff x="0" y="0"/>
          <a:chExt cx="0" cy="0"/>
        </a:xfrm>
      </p:grpSpPr>
      <p:pic>
        <p:nvPicPr>
          <p:cNvPr id="16" name="Picture Placeholder 15">
            <a:extLst>
              <a:ext uri="{FF2B5EF4-FFF2-40B4-BE49-F238E27FC236}">
                <a16:creationId xmlns:a16="http://schemas.microsoft.com/office/drawing/2014/main" id="{E40919DF-5A2C-EA3D-66EA-2DB83C393584}"/>
              </a:ext>
            </a:extLst>
          </p:cNvPr>
          <p:cNvPicPr>
            <a:picLocks noGrp="1" noChangeAspect="1"/>
          </p:cNvPicPr>
          <p:nvPr>
            <p:ph type="pic" sz="quarter" idx="4294967295"/>
          </p:nvPr>
        </p:nvPicPr>
        <p:blipFill>
          <a:blip r:embed="rId2">
            <a:extLst>
              <a:ext uri="{28A0092B-C50C-407E-A947-70E740481C1C}">
                <a14:useLocalDpi xmlns:a14="http://schemas.microsoft.com/office/drawing/2010/main" val="0"/>
              </a:ext>
            </a:extLst>
          </a:blip>
          <a:srcRect l="20062" r="20062"/>
          <a:stretch/>
        </p:blipFill>
        <p:spPr>
          <a:xfrm>
            <a:off x="6096000" y="0"/>
            <a:ext cx="6096000" cy="6858000"/>
          </a:xfrm>
          <a:prstGeom prst="rect">
            <a:avLst/>
          </a:prstGeom>
        </p:spPr>
      </p:pic>
      <p:sp>
        <p:nvSpPr>
          <p:cNvPr id="17" name="TextBox 16">
            <a:extLst>
              <a:ext uri="{FF2B5EF4-FFF2-40B4-BE49-F238E27FC236}">
                <a16:creationId xmlns:a16="http://schemas.microsoft.com/office/drawing/2014/main" id="{DB76613C-3850-A612-F1CB-42D34E182EBF}"/>
              </a:ext>
            </a:extLst>
          </p:cNvPr>
          <p:cNvSpPr txBox="1"/>
          <p:nvPr/>
        </p:nvSpPr>
        <p:spPr>
          <a:xfrm>
            <a:off x="7054753" y="6447723"/>
            <a:ext cx="4551903" cy="203203"/>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r>
              <a:rPr kumimoji="0" lang="es" sz="8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 Copyright © 2025 Accenture. Todos los derechos reservados.</a:t>
            </a:r>
          </a:p>
        </p:txBody>
      </p:sp>
      <p:sp>
        <p:nvSpPr>
          <p:cNvPr id="18" name="TextBox 17">
            <a:extLst>
              <a:ext uri="{FF2B5EF4-FFF2-40B4-BE49-F238E27FC236}">
                <a16:creationId xmlns:a16="http://schemas.microsoft.com/office/drawing/2014/main" id="{893DCFA3-59E6-24EC-41B7-6717CA70BC45}"/>
              </a:ext>
            </a:extLst>
          </p:cNvPr>
          <p:cNvSpPr txBox="1"/>
          <p:nvPr/>
        </p:nvSpPr>
        <p:spPr>
          <a:xfrm>
            <a:off x="11621120" y="6459129"/>
            <a:ext cx="505097" cy="20005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F90F471-3972-4120-B8B3-0237DE626C35}" type="slidenum">
              <a:rPr kumimoji="0" lang="en-US" sz="700" b="0" i="0" u="none" strike="noStrike" kern="1200" cap="none" spc="0" normalizeH="0" baseline="0" noProof="0" smtClean="0">
                <a:ln>
                  <a:noFill/>
                </a:ln>
                <a:solidFill>
                  <a:srgbClr val="000000"/>
                </a:solidFill>
                <a:effectLst/>
                <a:uLnTx/>
                <a:uFillTx/>
                <a:latin typeface="Graphik Light" panose="020B0403030202060203" pitchFamily="34"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11</a:t>
            </a:fld>
            <a:endParaRPr kumimoji="0" lang="en-US" sz="7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endParaRPr>
          </a:p>
        </p:txBody>
      </p:sp>
      <p:sp>
        <p:nvSpPr>
          <p:cNvPr id="14" name="Text Placeholder 8">
            <a:extLst>
              <a:ext uri="{FF2B5EF4-FFF2-40B4-BE49-F238E27FC236}">
                <a16:creationId xmlns:a16="http://schemas.microsoft.com/office/drawing/2014/main" id="{41B61ED9-6CCE-B54E-5B6F-ECB3204132B8}"/>
              </a:ext>
            </a:extLst>
          </p:cNvPr>
          <p:cNvSpPr txBox="1">
            <a:spLocks/>
          </p:cNvSpPr>
          <p:nvPr/>
        </p:nvSpPr>
        <p:spPr>
          <a:xfrm>
            <a:off x="381000" y="2199546"/>
            <a:ext cx="2641600" cy="772253"/>
          </a:xfrm>
          <a:prstGeom prst="rect">
            <a:avLst/>
          </a:prstGeom>
        </p:spPr>
        <p:txBody>
          <a:bodyPr vert="horz" lIns="0" tIns="0" rIns="0" bIns="0" rtlCol="0">
            <a:noAutofit/>
          </a:bodyPr>
          <a:lstStyle>
            <a:lvl1pPr marL="0" indent="0" algn="l" defTabSz="228600" rtl="0" eaLnBrk="1" latinLnBrk="0" hangingPunct="1">
              <a:lnSpc>
                <a:spcPct val="100000"/>
              </a:lnSpc>
              <a:spcBef>
                <a:spcPts val="0"/>
              </a:spcBef>
              <a:spcAft>
                <a:spcPts val="600"/>
              </a:spcAft>
              <a:buFont typeface="Arial" panose="020B0604020202020204" pitchFamily="34" charset="0"/>
              <a:buNone/>
              <a:defRPr lang="en-US" sz="7200" b="0" i="0" kern="1200" spc="-150" dirty="0">
                <a:solidFill>
                  <a:schemeClr val="accent2"/>
                </a:solidFill>
                <a:latin typeface="Graphik Light" panose="020B0403030202060203" pitchFamily="34" charset="0"/>
                <a:ea typeface="+mn-ea"/>
                <a:cs typeface="+mn-cs"/>
              </a:defRPr>
            </a:lvl1pPr>
            <a:lvl2pPr marL="457200" indent="-228600" algn="l" defTabSz="228600" rtl="0" eaLnBrk="1" latinLnBrk="0" hangingPunct="1">
              <a:lnSpc>
                <a:spcPct val="100000"/>
              </a:lnSpc>
              <a:spcBef>
                <a:spcPts val="0"/>
              </a:spcBef>
              <a:spcAft>
                <a:spcPts val="600"/>
              </a:spcAft>
              <a:buClrTx/>
              <a:buFont typeface="Arial"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Arial"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Arial"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Arial"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Arial" panose="020B0604020202020204" pitchFamily="34" charset="0"/>
              <a:buNone/>
              <a:defRPr sz="800" kern="1200">
                <a:solidFill>
                  <a:schemeClr val="tx2"/>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s" sz="7200" b="0" i="0" u="none" strike="noStrike" kern="1200" cap="none" spc="-150" normalizeH="0" baseline="0" noProof="0">
                <a:ln>
                  <a:noFill/>
                </a:ln>
                <a:solidFill>
                  <a:srgbClr val="7500C0"/>
                </a:solidFill>
                <a:effectLst/>
                <a:uLnTx/>
                <a:uFillTx/>
                <a:latin typeface="Graphik Light" panose="020B0403030202060203" pitchFamily="34" charset="0"/>
                <a:ea typeface="+mn-ea"/>
                <a:cs typeface="+mn-cs"/>
              </a:rPr>
              <a:t>03. </a:t>
            </a:r>
          </a:p>
        </p:txBody>
      </p:sp>
      <p:sp>
        <p:nvSpPr>
          <p:cNvPr id="15" name="Title 7">
            <a:extLst>
              <a:ext uri="{FF2B5EF4-FFF2-40B4-BE49-F238E27FC236}">
                <a16:creationId xmlns:a16="http://schemas.microsoft.com/office/drawing/2014/main" id="{56CB5FF7-1C3B-1835-11C1-0E0926B91A45}"/>
              </a:ext>
            </a:extLst>
          </p:cNvPr>
          <p:cNvSpPr txBox="1">
            <a:spLocks/>
          </p:cNvSpPr>
          <p:nvPr/>
        </p:nvSpPr>
        <p:spPr>
          <a:xfrm>
            <a:off x="380999" y="3201006"/>
            <a:ext cx="5597013" cy="582441"/>
          </a:xfrm>
          <a:prstGeom prst="rect">
            <a:avLst/>
          </a:prstGeom>
        </p:spPr>
        <p:txBody>
          <a:bodyPr vert="horz" lIns="0" tIns="61200" rIns="0" bIns="0" rtlCol="0" anchor="t">
            <a:noAutofit/>
          </a:bodyPr>
          <a:lstStyle>
            <a:lvl1pPr algn="l" defTabSz="914400" rtl="0" eaLnBrk="1" latinLnBrk="0" hangingPunct="1">
              <a:lnSpc>
                <a:spcPct val="80000"/>
              </a:lnSpc>
              <a:spcBef>
                <a:spcPct val="0"/>
              </a:spcBef>
              <a:buNone/>
              <a:defRPr sz="3200" b="0" kern="1200">
                <a:solidFill>
                  <a:schemeClr val="bg1"/>
                </a:solidFill>
                <a:latin typeface="Graphik Medium" panose="020B0603030202060203" pitchFamily="34" charset="0"/>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3200" b="0" i="0" u="none" strike="noStrike" kern="1200" cap="none" spc="0" normalizeH="0" baseline="0" noProof="0">
                <a:ln>
                  <a:noFill/>
                </a:ln>
                <a:solidFill>
                  <a:srgbClr val="000000"/>
                </a:solidFill>
                <a:effectLst/>
                <a:uLnTx/>
                <a:uFillTx/>
                <a:latin typeface="Graphik Medium" panose="020B0603030202060203" pitchFamily="34" charset="0"/>
                <a:ea typeface="+mj-ea"/>
                <a:cs typeface="+mj-cs"/>
              </a:rPr>
              <a:t>Modelo de Capacidad de Interoperabilidad</a:t>
            </a:r>
            <a:endParaRPr kumimoji="0" lang="en-IN" sz="3200" b="0" i="0" u="none" strike="noStrike" kern="1200" cap="none" spc="0" normalizeH="0" baseline="0" noProof="0">
              <a:ln>
                <a:noFill/>
              </a:ln>
              <a:solidFill>
                <a:srgbClr val="000000"/>
              </a:solidFill>
              <a:effectLst/>
              <a:uLnTx/>
              <a:uFillTx/>
              <a:latin typeface="Graphik Medium" panose="020B0603030202060203" pitchFamily="34" charset="0"/>
              <a:ea typeface="+mj-ea"/>
              <a:cs typeface="+mj-cs"/>
            </a:endParaRPr>
          </a:p>
        </p:txBody>
      </p:sp>
    </p:spTree>
    <p:extLst>
      <p:ext uri="{BB962C8B-B14F-4D97-AF65-F5344CB8AC3E}">
        <p14:creationId xmlns:p14="http://schemas.microsoft.com/office/powerpoint/2010/main" val="19090605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FF9623-AC4E-AF2E-55BC-71AE2C08D302}"/>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046BF84E-3050-91AD-EDC0-877BCD7105BF}"/>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alpha val="65000"/>
                  </a:srgbClr>
                </a:solidFill>
                <a:effectLst/>
                <a:uLnTx/>
                <a:uFillTx/>
                <a:latin typeface="Graphik"/>
                <a:ea typeface="+mn-ea"/>
                <a:cs typeface="+mn-cs"/>
              </a:rPr>
              <a:t>Copyright © 2026 Accenture. Todos los derechos reservados.</a:t>
            </a:r>
          </a:p>
        </p:txBody>
      </p:sp>
      <p:sp>
        <p:nvSpPr>
          <p:cNvPr id="4" name="Slide Number Placeholder 3">
            <a:extLst>
              <a:ext uri="{FF2B5EF4-FFF2-40B4-BE49-F238E27FC236}">
                <a16:creationId xmlns:a16="http://schemas.microsoft.com/office/drawing/2014/main" id="{F2CD85E0-84AD-1FD8-A3E5-C18A07D1E35E}"/>
              </a:ext>
            </a:extLst>
          </p:cNvPr>
          <p:cNvSpPr>
            <a:spLocks noGrp="1"/>
          </p:cNvSpPr>
          <p:nvPr>
            <p:ph type="sldNum" sz="quarter" idx="429496729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Graphik"/>
                <a:ea typeface="+mn-ea"/>
                <a:cs typeface="+mn-cs"/>
              </a:rPr>
              <a:t> </a:t>
            </a:r>
          </a:p>
        </p:txBody>
      </p:sp>
      <p:sp>
        <p:nvSpPr>
          <p:cNvPr id="23" name="Title 1">
            <a:extLst>
              <a:ext uri="{FF2B5EF4-FFF2-40B4-BE49-F238E27FC236}">
                <a16:creationId xmlns:a16="http://schemas.microsoft.com/office/drawing/2014/main" id="{80C01CC5-C373-5FA3-6707-A7F26820CE7A}"/>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a:ln>
                  <a:noFill/>
                </a:ln>
                <a:solidFill>
                  <a:srgbClr val="7500C0"/>
                </a:solidFill>
                <a:effectLst/>
                <a:uLnTx/>
                <a:uFillTx/>
                <a:latin typeface="Graphik"/>
                <a:ea typeface="+mj-ea"/>
                <a:cs typeface="+mj-cs"/>
              </a:rPr>
              <a:t>Arquitectura de Interoperabilidad </a:t>
            </a:r>
            <a:r>
              <a:rPr kumimoji="0" lang="es" sz="2400" b="1" i="0" u="none" strike="noStrike" kern="1200" cap="none" spc="0" normalizeH="0" baseline="0" noProof="0">
                <a:ln>
                  <a:noFill/>
                </a:ln>
                <a:solidFill>
                  <a:srgbClr val="000000"/>
                </a:solidFill>
                <a:effectLst/>
                <a:uLnTx/>
                <a:uFillTx/>
                <a:latin typeface="Graphik"/>
                <a:ea typeface="+mj-ea"/>
                <a:cs typeface="+mj-cs"/>
              </a:rPr>
              <a:t>| </a:t>
            </a:r>
            <a:r>
              <a:rPr kumimoji="0" lang="es" sz="2000" b="1" i="0" u="none" strike="noStrike" kern="1200" cap="none" spc="0" normalizeH="0" baseline="0" noProof="0">
                <a:ln>
                  <a:noFill/>
                </a:ln>
                <a:solidFill>
                  <a:srgbClr val="000000"/>
                </a:solidFill>
                <a:effectLst/>
                <a:uLnTx/>
                <a:uFillTx/>
                <a:latin typeface="Graphik"/>
                <a:ea typeface="+mj-ea"/>
                <a:cs typeface="+mj-cs"/>
              </a:rPr>
              <a:t>Kernel y Plataforma vs Dominio</a:t>
            </a:r>
            <a:endParaRPr kumimoji="0" lang="es" sz="2400" b="1" i="0" u="none" strike="noStrike" kern="1200" cap="none" spc="0" normalizeH="0" baseline="0" noProof="0">
              <a:ln>
                <a:noFill/>
              </a:ln>
              <a:solidFill>
                <a:srgbClr val="000000"/>
              </a:solidFill>
              <a:effectLst/>
              <a:uLnTx/>
              <a:uFillTx/>
              <a:latin typeface="Graphik"/>
              <a:ea typeface="+mj-ea"/>
              <a:cs typeface="+mj-cs"/>
            </a:endParaRPr>
          </a:p>
        </p:txBody>
      </p:sp>
      <p:sp>
        <p:nvSpPr>
          <p:cNvPr id="7" name="TextBox 6">
            <a:extLst>
              <a:ext uri="{FF2B5EF4-FFF2-40B4-BE49-F238E27FC236}">
                <a16:creationId xmlns:a16="http://schemas.microsoft.com/office/drawing/2014/main" id="{8F1B6623-9D40-8EF4-D00A-5C63512A29D8}"/>
              </a:ext>
            </a:extLst>
          </p:cNvPr>
          <p:cNvSpPr txBox="1"/>
          <p:nvPr>
            <p:extLst>
              <p:ext uri="{1162E1C5-73C7-4A58-AE30-91384D911F3F}">
                <p184:classification xmlns:p184="http://schemas.microsoft.com/office/powerpoint/2018/4/main" val="hdr"/>
              </p:ext>
            </p:extLst>
          </p:nvPr>
        </p:nvSpPr>
        <p:spPr>
          <a:xfrm>
            <a:off x="379000" y="78170"/>
            <a:ext cx="11432000" cy="154830"/>
          </a:xfrm>
          <a:prstGeom prst="rect">
            <a:avLst/>
          </a:prstGeom>
        </p:spPr>
        <p:txBody>
          <a:bodyPr horzOverflow="overflow"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000" b="0" i="0" u="none" strike="noStrike" kern="1200" cap="none" spc="0" normalizeH="0" baseline="0" noProof="0">
                <a:ln>
                  <a:noFill/>
                </a:ln>
                <a:solidFill>
                  <a:srgbClr val="000000"/>
                </a:solidFill>
                <a:effectLst/>
                <a:uLnTx/>
                <a:uFillTx/>
                <a:latin typeface="Graphik (Body)"/>
                <a:ea typeface="+mn-ea"/>
                <a:cs typeface="Calibri" panose="020F0502020204030204" pitchFamily="34" charset="0"/>
              </a:rPr>
              <a:t>*** Confidencial - Solo para uso interno de la empresa ***</a:t>
            </a:r>
          </a:p>
        </p:txBody>
      </p:sp>
      <p:sp>
        <p:nvSpPr>
          <p:cNvPr id="100" name="Banner"/>
          <p:cNvSpPr/>
          <p:nvPr/>
        </p:nvSpPr>
        <p:spPr>
          <a:xfrm>
            <a:off x="380000" y="852000"/>
            <a:ext cx="11432000" cy="560000"/>
          </a:xfrm>
          <a:prstGeom prst="roundRect">
            <a:avLst>
              <a:gd name="adj" fmla="val 8000"/>
            </a:avLst>
          </a:prstGeom>
          <a:solidFill>
            <a:srgbClr val="F1E9F8"/>
          </a:solidFill>
          <a:ln w="9525">
            <a:solidFill>
              <a:srgbClr val="7500C0"/>
            </a:solidFill>
          </a:ln>
        </p:spPr>
        <p:txBody>
          <a:bodyPr lIns="0" tIns="0" rIns="0" bIns="0" anchor="ctr"/>
          <a:lstStyle/>
          <a:p>
            <a:endParaRPr/>
          </a:p>
        </p:txBody>
      </p:sp>
      <p:sp>
        <p:nvSpPr>
          <p:cNvPr id="101" name="BannerTxt"/>
          <p:cNvSpPr txBox="1"/>
          <p:nvPr/>
        </p:nvSpPr>
        <p:spPr>
          <a:xfrm>
            <a:off x="580000" y="852000"/>
            <a:ext cx="11032000" cy="560000"/>
          </a:xfrm>
          <a:prstGeom prst="rect">
            <a:avLst/>
          </a:prstGeom>
          <a:noFill/>
        </p:spPr>
        <p:txBody>
          <a:bodyPr lIns="110000" tIns="60000" rIns="110000" bIns="60000" rtlCol="0" anchor="ctr">
            <a:normAutofit/>
          </a:bodyPr>
          <a:lstStyle/>
          <a:p>
            <a:pPr marL="0" indent="0" algn="ctr">
              <a:lnSpc>
                <a:spcPct val="104000"/>
              </a:lnSpc>
              <a:spcAft>
                <a:spcPts val="0"/>
              </a:spcAft>
              <a:buNone/>
            </a:pPr>
            <a:r>
              <a:rPr lang="es" sz="1500" b="1" i="0">
                <a:solidFill>
                  <a:srgbClr val="7500C0"/>
                </a:solidFill>
                <a:latin typeface="Graphik"/>
              </a:rPr>
              <a:t>En una línea</a:t>
            </a:r>
            <a:r>
              <a:rPr lang="es" sz="1500" b="0" i="0">
                <a:solidFill>
                  <a:srgbClr val="1A1A1A"/>
                </a:solidFill>
                <a:latin typeface="Graphik"/>
              </a:rPr>
              <a:t>, Kernel &amp; Platform es el </a:t>
            </a:r>
            <a:r>
              <a:rPr lang="es" sz="1500" b="1" i="0">
                <a:solidFill>
                  <a:srgbClr val="7500C0"/>
                </a:solidFill>
                <a:latin typeface="Graphik"/>
              </a:rPr>
              <a:t>edificio</a:t>
            </a:r>
            <a:r>
              <a:rPr lang="es" sz="1500" b="0" i="0">
                <a:solidFill>
                  <a:srgbClr val="1A1A1A"/>
                </a:solidFill>
                <a:latin typeface="Graphik"/>
              </a:rPr>
              <a:t>.  Las capacidades de dominio son las </a:t>
            </a:r>
            <a:r>
              <a:rPr lang="es" sz="1500" b="1" i="0">
                <a:solidFill>
                  <a:srgbClr val="156082"/>
                </a:solidFill>
                <a:latin typeface="Graphik"/>
              </a:rPr>
              <a:t>oficinas</a:t>
            </a:r>
            <a:r>
              <a:rPr lang="es" sz="1500" b="0" i="0">
                <a:solidFill>
                  <a:srgbClr val="1A1A1A"/>
                </a:solidFill>
                <a:latin typeface="Graphik"/>
              </a:rPr>
              <a:t> que instalas dentro de ella.</a:t>
            </a:r>
          </a:p>
        </p:txBody>
      </p:sp>
      <p:sp>
        <p:nvSpPr>
          <p:cNvPr id="102" name="Card"/>
          <p:cNvSpPr/>
          <p:nvPr/>
        </p:nvSpPr>
        <p:spPr>
          <a:xfrm>
            <a:off x="380000" y="1560000"/>
            <a:ext cx="5556000" cy="4556604"/>
          </a:xfrm>
          <a:prstGeom prst="roundRect">
            <a:avLst>
              <a:gd name="adj" fmla="val 3500"/>
            </a:avLst>
          </a:prstGeom>
          <a:solidFill>
            <a:srgbClr val="FFFFFF"/>
          </a:solidFill>
          <a:ln w="15875">
            <a:solidFill>
              <a:srgbClr val="7500C0"/>
            </a:solidFill>
          </a:ln>
        </p:spPr>
        <p:txBody>
          <a:bodyPr lIns="0" tIns="0" rIns="0" bIns="0" anchor="ctr"/>
          <a:lstStyle/>
          <a:p>
            <a:endParaRPr/>
          </a:p>
        </p:txBody>
      </p:sp>
      <p:sp>
        <p:nvSpPr>
          <p:cNvPr id="107" name="Chips"/>
          <p:cNvSpPr txBox="1"/>
          <p:nvPr/>
        </p:nvSpPr>
        <p:spPr>
          <a:xfrm>
            <a:off x="380000" y="2250000"/>
            <a:ext cx="5556000" cy="340000"/>
          </a:xfrm>
          <a:prstGeom prst="rect">
            <a:avLst/>
          </a:prstGeom>
          <a:noFill/>
        </p:spPr>
        <p:txBody>
          <a:bodyPr lIns="110000" tIns="60000" rIns="110000" bIns="60000" rtlCol="0" anchor="ctr">
            <a:normAutofit fontScale="92500"/>
          </a:bodyPr>
          <a:lstStyle/>
          <a:p>
            <a:pPr marL="0" indent="0" algn="ctr">
              <a:lnSpc>
                <a:spcPct val="100000"/>
              </a:lnSpc>
              <a:spcAft>
                <a:spcPts val="0"/>
              </a:spcAft>
              <a:buNone/>
            </a:pPr>
            <a:r>
              <a:rPr lang="es" sz="1000" b="1" i="0" dirty="0">
                <a:solidFill>
                  <a:srgbClr val="7500C0"/>
                </a:solidFill>
                <a:latin typeface="Graphik"/>
              </a:rPr>
              <a:t>Seguridad ·  Observabilidad ·  Infraestructura ·  API Management ·  Servicios de Gateway</a:t>
            </a:r>
          </a:p>
        </p:txBody>
      </p:sp>
      <p:sp>
        <p:nvSpPr>
          <p:cNvPr id="108" name="MetBox"/>
          <p:cNvSpPr/>
          <p:nvPr/>
        </p:nvSpPr>
        <p:spPr>
          <a:xfrm>
            <a:off x="530000" y="2650000"/>
            <a:ext cx="5256000" cy="1180000"/>
          </a:xfrm>
          <a:prstGeom prst="roundRect">
            <a:avLst>
              <a:gd name="adj" fmla="val 6000"/>
            </a:avLst>
          </a:prstGeom>
          <a:solidFill>
            <a:srgbClr val="F1E9F8"/>
          </a:solidFill>
          <a:ln>
            <a:noFill/>
          </a:ln>
        </p:spPr>
        <p:txBody>
          <a:bodyPr lIns="0" tIns="0" rIns="0" bIns="0" anchor="ctr"/>
          <a:lstStyle/>
          <a:p>
            <a:endParaRPr/>
          </a:p>
        </p:txBody>
      </p:sp>
      <p:sp>
        <p:nvSpPr>
          <p:cNvPr id="109" name="MetTxt"/>
          <p:cNvSpPr txBox="1"/>
          <p:nvPr/>
        </p:nvSpPr>
        <p:spPr>
          <a:xfrm>
            <a:off x="530000" y="2650000"/>
            <a:ext cx="5256000" cy="1180000"/>
          </a:xfrm>
          <a:prstGeom prst="rect">
            <a:avLst/>
          </a:prstGeom>
          <a:noFill/>
        </p:spPr>
        <p:txBody>
          <a:bodyPr lIns="170000" tIns="90000" rIns="170000" bIns="90000" rtlCol="0" anchor="ctr">
            <a:normAutofit/>
          </a:bodyPr>
          <a:lstStyle/>
          <a:p>
            <a:pPr marL="0" indent="0" algn="l">
              <a:lnSpc>
                <a:spcPct val="108000"/>
              </a:lnSpc>
              <a:spcAft>
                <a:spcPts val="0"/>
              </a:spcAft>
              <a:buNone/>
            </a:pPr>
            <a:r>
              <a:rPr lang="es" sz="1150" b="0" i="1">
                <a:solidFill>
                  <a:srgbClr val="3A2050"/>
                </a:solidFill>
                <a:latin typeface="Graphik"/>
              </a:rPr>
              <a:t>Como la estructura de un centro comercial, electricidad, fontanería, alarmas de incendios, CCTV y mostrador de seguridad: construido antes de que abra cualquier tienda. Todas las tiendas las usan, ninguna ofrece las suyas propias — y sin ellas nada puede abrirse legalmente.</a:t>
            </a:r>
          </a:p>
        </p:txBody>
      </p:sp>
      <p:sp>
        <p:nvSpPr>
          <p:cNvPr id="110" name="Chars"/>
          <p:cNvSpPr txBox="1"/>
          <p:nvPr/>
        </p:nvSpPr>
        <p:spPr>
          <a:xfrm>
            <a:off x="440000" y="3982294"/>
            <a:ext cx="5436000" cy="2250000"/>
          </a:xfrm>
          <a:prstGeom prst="rect">
            <a:avLst/>
          </a:prstGeom>
          <a:noFill/>
        </p:spPr>
        <p:txBody>
          <a:bodyPr lIns="110000" tIns="40000" rIns="110000" bIns="40000" rtlCol="0" anchor="t">
            <a:normAutofit fontScale="92500"/>
          </a:bodyPr>
          <a:lstStyle/>
          <a:p>
            <a:pPr marL="280000" indent="-280000">
              <a:lnSpc>
                <a:spcPct val="106000"/>
              </a:lnSpc>
              <a:spcAft>
                <a:spcPts val="720"/>
              </a:spcAft>
            </a:pPr>
            <a:r>
              <a:rPr lang="es" sz="1200" b="1" i="0">
                <a:solidFill>
                  <a:srgbClr val="7500C0"/>
                </a:solidFill>
                <a:latin typeface="Graphik" panose="020B0503030202060203" pitchFamily="34" charset="0"/>
              </a:rPr>
              <a:t>▸ Nadie lo pide directamente.  </a:t>
            </a:r>
            <a:r>
              <a:rPr lang="es" sz="1200" b="0" i="0">
                <a:solidFill>
                  <a:srgbClr val="1A1A1A"/>
                </a:solidFill>
                <a:latin typeface="Graphik" panose="020B0503030202060203" pitchFamily="34" charset="0"/>
              </a:rPr>
              <a:t>Ningún patrocinador solicita "observabilidad</a:t>
            </a:r>
            <a:r>
              <a:rPr lang="es" sz="1200">
                <a:solidFill>
                  <a:srgbClr val="1A1A1A"/>
                </a:solidFill>
                <a:latin typeface="Graphik" panose="020B0503030202060203" pitchFamily="34" charset="0"/>
              </a:rPr>
              <a:t>“ —</a:t>
            </a:r>
            <a:r>
              <a:rPr lang="es" sz="1200" b="0" i="0">
                <a:solidFill>
                  <a:srgbClr val="1A1A1A"/>
                </a:solidFill>
                <a:latin typeface="Graphik" panose="020B0503030202060203" pitchFamily="34" charset="0"/>
              </a:rPr>
              <a:t> piden un proceso hipotecario que no puede vivir sin ella.</a:t>
            </a:r>
          </a:p>
          <a:p>
            <a:pPr marL="280000" indent="-280000" algn="l">
              <a:lnSpc>
                <a:spcPct val="106000"/>
              </a:lnSpc>
              <a:spcAft>
                <a:spcPts val="720"/>
              </a:spcAft>
              <a:buNone/>
            </a:pPr>
            <a:r>
              <a:rPr lang="es" sz="1200" b="1" i="0">
                <a:solidFill>
                  <a:srgbClr val="7500C0"/>
                </a:solidFill>
                <a:latin typeface="Graphik" panose="020B0503030202060203" pitchFamily="34" charset="0"/>
              </a:rPr>
              <a:t>▸ Construido una vez, centralizado, </a:t>
            </a:r>
            <a:r>
              <a:rPr lang="es" sz="1200" b="1">
                <a:solidFill>
                  <a:srgbClr val="7500C0"/>
                </a:solidFill>
                <a:latin typeface="Graphik" panose="020B0503030202060203" pitchFamily="34" charset="0"/>
              </a:rPr>
              <a:t>anticipado</a:t>
            </a:r>
            <a:r>
              <a:rPr lang="es" sz="1200" b="1" i="0">
                <a:solidFill>
                  <a:srgbClr val="7500C0"/>
                </a:solidFill>
                <a:latin typeface="Graphik" panose="020B0503030202060203" pitchFamily="34" charset="0"/>
              </a:rPr>
              <a:t>.  </a:t>
            </a:r>
            <a:r>
              <a:rPr lang="es" sz="1200" b="0" i="0">
                <a:solidFill>
                  <a:srgbClr val="1A1A1A"/>
                </a:solidFill>
                <a:latin typeface="Graphik" panose="020B0503030202060203" pitchFamily="34" charset="0"/>
              </a:rPr>
              <a:t>Un coste fijo que posee el equipo de plataforma, no algo que cada equipo de producto repita.</a:t>
            </a:r>
          </a:p>
          <a:p>
            <a:pPr marL="280000" indent="-280000" algn="l">
              <a:lnSpc>
                <a:spcPct val="106000"/>
              </a:lnSpc>
              <a:spcAft>
                <a:spcPts val="720"/>
              </a:spcAft>
              <a:buNone/>
            </a:pPr>
            <a:r>
              <a:rPr lang="es" sz="1200" b="1" i="0">
                <a:solidFill>
                  <a:srgbClr val="7500C0"/>
                </a:solidFill>
                <a:latin typeface="Graphik" panose="020B0503030202060203" pitchFamily="34" charset="0"/>
              </a:rPr>
              <a:t>▸ Es binario.  </a:t>
            </a:r>
            <a:r>
              <a:rPr lang="es" sz="1200" b="0" i="0">
                <a:solidFill>
                  <a:srgbClr val="1A1A1A"/>
                </a:solidFill>
                <a:latin typeface="Graphik" panose="020B0503030202060203" pitchFamily="34" charset="0"/>
              </a:rPr>
              <a:t>O tienes una base certificada en seguridad y monitorización, o no. No hay ni la mitad de una alarma de incendios.</a:t>
            </a:r>
          </a:p>
          <a:p>
            <a:pPr marL="280000" indent="0" algn="l">
              <a:lnSpc>
                <a:spcPct val="106000"/>
              </a:lnSpc>
              <a:spcAft>
                <a:spcPts val="0"/>
              </a:spcAft>
              <a:buNone/>
            </a:pPr>
            <a:r>
              <a:rPr lang="es" sz="1200" b="1" i="0">
                <a:solidFill>
                  <a:srgbClr val="7500C0"/>
                </a:solidFill>
                <a:latin typeface="Graphik" panose="020B0503030202060203" pitchFamily="34" charset="0"/>
              </a:rPr>
              <a:t>→ Constrúyelo una vez. Es la base sobre la que se sostiene todo lo demás.</a:t>
            </a:r>
          </a:p>
        </p:txBody>
      </p:sp>
      <p:sp>
        <p:nvSpPr>
          <p:cNvPr id="111" name="Card"/>
          <p:cNvSpPr/>
          <p:nvPr/>
        </p:nvSpPr>
        <p:spPr>
          <a:xfrm>
            <a:off x="6256000" y="1560000"/>
            <a:ext cx="5556000" cy="4556604"/>
          </a:xfrm>
          <a:prstGeom prst="roundRect">
            <a:avLst>
              <a:gd name="adj" fmla="val 3500"/>
            </a:avLst>
          </a:prstGeom>
          <a:solidFill>
            <a:srgbClr val="FFFFFF"/>
          </a:solidFill>
          <a:ln w="15875">
            <a:solidFill>
              <a:srgbClr val="156082"/>
            </a:solidFill>
          </a:ln>
        </p:spPr>
        <p:txBody>
          <a:bodyPr lIns="0" tIns="0" rIns="0" bIns="0" anchor="ctr"/>
          <a:lstStyle/>
          <a:p>
            <a:endParaRPr/>
          </a:p>
        </p:txBody>
      </p:sp>
      <p:sp>
        <p:nvSpPr>
          <p:cNvPr id="115" name="Chips"/>
          <p:cNvSpPr txBox="1"/>
          <p:nvPr/>
        </p:nvSpPr>
        <p:spPr>
          <a:xfrm>
            <a:off x="6256000" y="2250000"/>
            <a:ext cx="5556000" cy="340000"/>
          </a:xfrm>
          <a:prstGeom prst="rect">
            <a:avLst/>
          </a:prstGeom>
          <a:noFill/>
        </p:spPr>
        <p:txBody>
          <a:bodyPr lIns="110000" tIns="60000" rIns="110000" bIns="60000" rtlCol="0" anchor="ctr">
            <a:normAutofit fontScale="92500" lnSpcReduction="20000"/>
          </a:bodyPr>
          <a:lstStyle/>
          <a:p>
            <a:pPr marL="0" indent="0" algn="ctr">
              <a:lnSpc>
                <a:spcPct val="100000"/>
              </a:lnSpc>
              <a:spcAft>
                <a:spcPts val="0"/>
              </a:spcAft>
              <a:buNone/>
            </a:pPr>
            <a:r>
              <a:rPr lang="es" sz="1000" b="1" i="0">
                <a:solidFill>
                  <a:srgbClr val="156082"/>
                </a:solidFill>
                <a:latin typeface="Graphik"/>
              </a:rPr>
              <a:t>Orquestación ·  Eventos ·  Transacciones ·  Entrega de datos ·  Omnicanal ·  Servicios Empresariales Comunes</a:t>
            </a:r>
          </a:p>
        </p:txBody>
      </p:sp>
      <p:sp>
        <p:nvSpPr>
          <p:cNvPr id="10" name="Card">
            <a:extLst>
              <a:ext uri="{FF2B5EF4-FFF2-40B4-BE49-F238E27FC236}">
                <a16:creationId xmlns:a16="http://schemas.microsoft.com/office/drawing/2014/main" id="{637B4621-D18C-EA37-FCB1-006F2E22A33B}"/>
              </a:ext>
            </a:extLst>
          </p:cNvPr>
          <p:cNvSpPr/>
          <p:nvPr/>
        </p:nvSpPr>
        <p:spPr>
          <a:xfrm>
            <a:off x="379000" y="1560000"/>
            <a:ext cx="5556000" cy="605132"/>
          </a:xfrm>
          <a:prstGeom prst="roundRect">
            <a:avLst>
              <a:gd name="adj" fmla="val 25613"/>
            </a:avLst>
          </a:prstGeom>
          <a:solidFill>
            <a:srgbClr val="7500C0"/>
          </a:solidFill>
          <a:ln w="15875">
            <a:solidFill>
              <a:srgbClr val="7500C0"/>
            </a:solidFill>
          </a:ln>
        </p:spPr>
        <p:txBody>
          <a:bodyPr lIns="0" tIns="0" rIns="0" bIns="0" anchor="ctr"/>
          <a:lstStyle/>
          <a:p>
            <a:endParaRPr/>
          </a:p>
        </p:txBody>
      </p:sp>
      <p:sp>
        <p:nvSpPr>
          <p:cNvPr id="116" name="MetBox"/>
          <p:cNvSpPr/>
          <p:nvPr/>
        </p:nvSpPr>
        <p:spPr>
          <a:xfrm>
            <a:off x="6406000" y="2650000"/>
            <a:ext cx="5256000" cy="1180000"/>
          </a:xfrm>
          <a:prstGeom prst="roundRect">
            <a:avLst>
              <a:gd name="adj" fmla="val 6000"/>
            </a:avLst>
          </a:prstGeom>
          <a:solidFill>
            <a:srgbClr val="E7F0F3"/>
          </a:solidFill>
          <a:ln>
            <a:noFill/>
          </a:ln>
        </p:spPr>
        <p:txBody>
          <a:bodyPr lIns="0" tIns="0" rIns="0" bIns="0" anchor="ctr"/>
          <a:lstStyle/>
          <a:p>
            <a:endParaRPr/>
          </a:p>
        </p:txBody>
      </p:sp>
      <p:sp>
        <p:nvSpPr>
          <p:cNvPr id="117" name="MetTxt"/>
          <p:cNvSpPr txBox="1"/>
          <p:nvPr/>
        </p:nvSpPr>
        <p:spPr>
          <a:xfrm>
            <a:off x="6406000" y="2650000"/>
            <a:ext cx="5256000" cy="1180000"/>
          </a:xfrm>
          <a:prstGeom prst="rect">
            <a:avLst/>
          </a:prstGeom>
          <a:noFill/>
        </p:spPr>
        <p:txBody>
          <a:bodyPr lIns="170000" tIns="90000" rIns="170000" bIns="90000" rtlCol="0" anchor="ctr">
            <a:normAutofit/>
          </a:bodyPr>
          <a:lstStyle/>
          <a:p>
            <a:pPr marL="0" indent="0" algn="l">
              <a:lnSpc>
                <a:spcPct val="108000"/>
              </a:lnSpc>
              <a:spcAft>
                <a:spcPts val="0"/>
              </a:spcAft>
              <a:buNone/>
            </a:pPr>
            <a:r>
              <a:rPr lang="es" sz="1150" b="0" i="1" dirty="0">
                <a:solidFill>
                  <a:srgbClr val="0E3B4A"/>
                </a:solidFill>
                <a:latin typeface="Graphik"/>
              </a:rPr>
              <a:t>Estas son las tiendas. Cada uno realiza trabajos que puedes nombrar y valorar: "coordinar seis servicios en un solo desembolso de préstamos", "mantener un saldo hipotecario consistente entre mainframe y el nuevo núcleo", "reanudar la incorporación desde móvil tras empezar en la sucursal."</a:t>
            </a:r>
          </a:p>
        </p:txBody>
      </p:sp>
      <p:sp>
        <p:nvSpPr>
          <p:cNvPr id="118" name="Chars"/>
          <p:cNvSpPr txBox="1"/>
          <p:nvPr/>
        </p:nvSpPr>
        <p:spPr>
          <a:xfrm>
            <a:off x="6316000" y="3982294"/>
            <a:ext cx="5436000" cy="2250000"/>
          </a:xfrm>
          <a:prstGeom prst="rect">
            <a:avLst/>
          </a:prstGeom>
          <a:noFill/>
        </p:spPr>
        <p:txBody>
          <a:bodyPr lIns="110000" tIns="40000" rIns="110000" bIns="40000" rtlCol="0" anchor="t">
            <a:normAutofit/>
          </a:bodyPr>
          <a:lstStyle/>
          <a:p>
            <a:pPr marL="280000" indent="-280000" algn="l">
              <a:lnSpc>
                <a:spcPct val="106000"/>
              </a:lnSpc>
              <a:spcAft>
                <a:spcPts val="720"/>
              </a:spcAft>
              <a:buNone/>
            </a:pPr>
            <a:r>
              <a:rPr lang="es" sz="1100" b="1" i="0" dirty="0">
                <a:solidFill>
                  <a:srgbClr val="156082"/>
                </a:solidFill>
                <a:latin typeface="Graphik"/>
              </a:rPr>
              <a:t>▸ Un caso de negocio atrae cada uno.  </a:t>
            </a:r>
            <a:r>
              <a:rPr lang="es" sz="1100" b="0" i="0" dirty="0">
                <a:solidFill>
                  <a:srgbClr val="1A1A1A"/>
                </a:solidFill>
                <a:latin typeface="Graphik"/>
              </a:rPr>
              <a:t>Construyes streaming de eventos cuando un journey lo necesita — no por principio.</a:t>
            </a:r>
          </a:p>
          <a:p>
            <a:pPr marL="280000" indent="-280000" algn="l">
              <a:lnSpc>
                <a:spcPct val="106000"/>
              </a:lnSpc>
              <a:spcAft>
                <a:spcPts val="720"/>
              </a:spcAft>
              <a:buNone/>
            </a:pPr>
            <a:r>
              <a:rPr lang="es" sz="1100" b="1" i="0" dirty="0">
                <a:solidFill>
                  <a:srgbClr val="156082"/>
                </a:solidFill>
                <a:latin typeface="Graphik"/>
              </a:rPr>
              <a:t>▸ Construido de forma incremental y parcial.  </a:t>
            </a:r>
            <a:r>
              <a:rPr lang="es" sz="1100" b="0" i="0" dirty="0">
                <a:solidFill>
                  <a:srgbClr val="1A1A1A"/>
                </a:solidFill>
                <a:latin typeface="Graphik"/>
              </a:rPr>
              <a:t>Consistencia basada en </a:t>
            </a:r>
            <a:r>
              <a:rPr lang="es" sz="1100" dirty="0">
                <a:solidFill>
                  <a:srgbClr val="1A1A1A"/>
                </a:solidFill>
                <a:latin typeface="Graphik"/>
              </a:rPr>
              <a:t>Saga</a:t>
            </a:r>
            <a:r>
              <a:rPr lang="es" sz="1100" b="0" i="0" dirty="0">
                <a:solidFill>
                  <a:srgbClr val="1A1A1A"/>
                </a:solidFill>
                <a:latin typeface="Graphik"/>
              </a:rPr>
              <a:t> para los pagos este año, préstamos el año que viene. Eso es normal y correcto.</a:t>
            </a:r>
          </a:p>
          <a:p>
            <a:pPr marL="280000" indent="-280000" algn="l">
              <a:lnSpc>
                <a:spcPct val="106000"/>
              </a:lnSpc>
              <a:spcAft>
                <a:spcPts val="720"/>
              </a:spcAft>
              <a:buNone/>
            </a:pPr>
            <a:r>
              <a:rPr lang="es" sz="1100" b="1" i="0" dirty="0">
                <a:solidFill>
                  <a:srgbClr val="156082"/>
                </a:solidFill>
                <a:latin typeface="Graphik"/>
              </a:rPr>
              <a:t>▸ Opcional en secuencia, no en sustancia.  </a:t>
            </a:r>
            <a:r>
              <a:rPr lang="es" sz="1100" b="0" i="0" dirty="0">
                <a:solidFill>
                  <a:srgbClr val="1A1A1A"/>
                </a:solidFill>
                <a:latin typeface="Graphik"/>
              </a:rPr>
              <a:t>Algunos bancos nunca necesitan un procesamiento complejo de eventos; casi ninguno puede saltarse la consistencia de las transacciones.</a:t>
            </a:r>
          </a:p>
          <a:p>
            <a:pPr marL="280000" indent="0" algn="l">
              <a:lnSpc>
                <a:spcPct val="106000"/>
              </a:lnSpc>
              <a:spcAft>
                <a:spcPts val="0"/>
              </a:spcAft>
              <a:buNone/>
            </a:pPr>
            <a:r>
              <a:rPr lang="es" sz="1100" b="1" i="0" dirty="0">
                <a:solidFill>
                  <a:srgbClr val="156082"/>
                </a:solidFill>
                <a:latin typeface="Graphik"/>
              </a:rPr>
              <a:t>→ Añadir cada uno cuando llegue el caso de negocio e ir creciendo con el tiempo.</a:t>
            </a:r>
          </a:p>
        </p:txBody>
      </p:sp>
      <p:sp>
        <p:nvSpPr>
          <p:cNvPr id="104" name="HdrFix"/>
          <p:cNvSpPr/>
          <p:nvPr/>
        </p:nvSpPr>
        <p:spPr>
          <a:xfrm>
            <a:off x="380000" y="2060000"/>
            <a:ext cx="5556000" cy="120000"/>
          </a:xfrm>
          <a:prstGeom prst="rect">
            <a:avLst/>
          </a:prstGeom>
          <a:solidFill>
            <a:srgbClr val="7500C0"/>
          </a:solidFill>
          <a:ln>
            <a:noFill/>
          </a:ln>
        </p:spPr>
        <p:txBody>
          <a:bodyPr lIns="0" tIns="0" rIns="0" bIns="0" anchor="ctr"/>
          <a:lstStyle/>
          <a:p>
            <a:endParaRPr/>
          </a:p>
        </p:txBody>
      </p:sp>
      <p:sp>
        <p:nvSpPr>
          <p:cNvPr id="105" name="HdrTxt"/>
          <p:cNvSpPr txBox="1"/>
          <p:nvPr/>
        </p:nvSpPr>
        <p:spPr>
          <a:xfrm>
            <a:off x="740000" y="1560000"/>
            <a:ext cx="5196000" cy="620000"/>
          </a:xfrm>
          <a:prstGeom prst="rect">
            <a:avLst/>
          </a:prstGeom>
          <a:noFill/>
        </p:spPr>
        <p:txBody>
          <a:bodyPr lIns="110000" tIns="60000" rIns="110000" bIns="60000" rtlCol="0" anchor="ctr">
            <a:normAutofit/>
          </a:bodyPr>
          <a:lstStyle/>
          <a:p>
            <a:pPr marL="0" indent="0" algn="l">
              <a:lnSpc>
                <a:spcPct val="100000"/>
              </a:lnSpc>
              <a:spcAft>
                <a:spcPts val="100"/>
              </a:spcAft>
              <a:buNone/>
            </a:pPr>
            <a:r>
              <a:rPr lang="es" sz="1500" b="1" i="0">
                <a:solidFill>
                  <a:srgbClr val="FFFFFF"/>
                </a:solidFill>
                <a:latin typeface="Graphik"/>
              </a:rPr>
              <a:t>Kernel y Plataforma</a:t>
            </a:r>
          </a:p>
          <a:p>
            <a:pPr marL="0" indent="0" algn="l">
              <a:lnSpc>
                <a:spcPct val="100000"/>
              </a:lnSpc>
              <a:spcAft>
                <a:spcPts val="0"/>
              </a:spcAft>
              <a:buNone/>
            </a:pPr>
            <a:r>
              <a:rPr lang="es" sz="1050" b="0" i="1">
                <a:solidFill>
                  <a:srgbClr val="EAD9F7"/>
                </a:solidFill>
                <a:latin typeface="Graphik"/>
              </a:rPr>
              <a:t>El edificio — siempre encendido, compartido por todos</a:t>
            </a:r>
          </a:p>
        </p:txBody>
      </p:sp>
      <p:sp>
        <p:nvSpPr>
          <p:cNvPr id="106" name="K badge"/>
          <p:cNvSpPr/>
          <p:nvPr/>
        </p:nvSpPr>
        <p:spPr>
          <a:xfrm>
            <a:off x="470000" y="1720000"/>
            <a:ext cx="300000" cy="300000"/>
          </a:xfrm>
          <a:prstGeom prst="ellipse">
            <a:avLst/>
          </a:prstGeom>
          <a:solidFill>
            <a:srgbClr val="C00000"/>
          </a:solidFill>
          <a:ln w="19050">
            <a:solidFill>
              <a:srgbClr val="FFFFFF"/>
            </a:solidFill>
          </a:ln>
        </p:spPr>
        <p:txBody>
          <a:bodyPr lIns="0" tIns="0" rIns="0" bIns="0" anchor="ctr"/>
          <a:lstStyle/>
          <a:p>
            <a:pPr algn="ctr"/>
            <a:r>
              <a:rPr lang="es" sz="1400" b="1">
                <a:solidFill>
                  <a:srgbClr val="FFFFFF"/>
                </a:solidFill>
                <a:latin typeface="Graphik"/>
              </a:rPr>
              <a:t>K</a:t>
            </a:r>
          </a:p>
        </p:txBody>
      </p:sp>
      <p:sp>
        <p:nvSpPr>
          <p:cNvPr id="12" name="Card">
            <a:extLst>
              <a:ext uri="{FF2B5EF4-FFF2-40B4-BE49-F238E27FC236}">
                <a16:creationId xmlns:a16="http://schemas.microsoft.com/office/drawing/2014/main" id="{A8B59E5C-45B0-0F9D-6045-E2B48FEFC93E}"/>
              </a:ext>
            </a:extLst>
          </p:cNvPr>
          <p:cNvSpPr/>
          <p:nvPr/>
        </p:nvSpPr>
        <p:spPr>
          <a:xfrm>
            <a:off x="6255000" y="1560000"/>
            <a:ext cx="5556000" cy="605132"/>
          </a:xfrm>
          <a:prstGeom prst="roundRect">
            <a:avLst>
              <a:gd name="adj" fmla="val 26068"/>
            </a:avLst>
          </a:prstGeom>
          <a:solidFill>
            <a:srgbClr val="156082"/>
          </a:solidFill>
          <a:ln w="15875">
            <a:solidFill>
              <a:srgbClr val="156082"/>
            </a:solidFill>
          </a:ln>
        </p:spPr>
        <p:txBody>
          <a:bodyPr lIns="0" tIns="0" rIns="0" bIns="0" anchor="ctr"/>
          <a:lstStyle/>
          <a:p>
            <a:endParaRPr/>
          </a:p>
        </p:txBody>
      </p:sp>
      <p:sp>
        <p:nvSpPr>
          <p:cNvPr id="113" name="HdrFix"/>
          <p:cNvSpPr/>
          <p:nvPr/>
        </p:nvSpPr>
        <p:spPr>
          <a:xfrm>
            <a:off x="6256000" y="2060000"/>
            <a:ext cx="5556000" cy="120000"/>
          </a:xfrm>
          <a:prstGeom prst="rect">
            <a:avLst/>
          </a:prstGeom>
          <a:solidFill>
            <a:srgbClr val="156082"/>
          </a:solidFill>
          <a:ln>
            <a:noFill/>
          </a:ln>
        </p:spPr>
        <p:txBody>
          <a:bodyPr lIns="0" tIns="0" rIns="0" bIns="0" anchor="ctr"/>
          <a:lstStyle/>
          <a:p>
            <a:endParaRPr/>
          </a:p>
        </p:txBody>
      </p:sp>
      <p:sp>
        <p:nvSpPr>
          <p:cNvPr id="114" name="HdrTxt"/>
          <p:cNvSpPr txBox="1"/>
          <p:nvPr/>
        </p:nvSpPr>
        <p:spPr>
          <a:xfrm>
            <a:off x="6406000" y="1545132"/>
            <a:ext cx="5405000" cy="620000"/>
          </a:xfrm>
          <a:prstGeom prst="rect">
            <a:avLst/>
          </a:prstGeom>
          <a:noFill/>
        </p:spPr>
        <p:txBody>
          <a:bodyPr lIns="110000" tIns="60000" rIns="110000" bIns="60000" rtlCol="0" anchor="ctr">
            <a:normAutofit/>
          </a:bodyPr>
          <a:lstStyle/>
          <a:p>
            <a:pPr marL="0" indent="0" algn="l">
              <a:lnSpc>
                <a:spcPct val="100000"/>
              </a:lnSpc>
              <a:spcAft>
                <a:spcPts val="100"/>
              </a:spcAft>
              <a:buNone/>
            </a:pPr>
            <a:r>
              <a:rPr lang="es" sz="1500" b="1" i="0">
                <a:solidFill>
                  <a:srgbClr val="FFFFFF"/>
                </a:solidFill>
                <a:latin typeface="Graphik"/>
              </a:rPr>
              <a:t>Capacidades del dominio</a:t>
            </a:r>
          </a:p>
          <a:p>
            <a:pPr marL="0" indent="0" algn="l">
              <a:lnSpc>
                <a:spcPct val="100000"/>
              </a:lnSpc>
              <a:spcAft>
                <a:spcPts val="0"/>
              </a:spcAft>
              <a:buNone/>
            </a:pPr>
            <a:r>
              <a:rPr lang="es" sz="1050" b="0" i="1">
                <a:solidFill>
                  <a:srgbClr val="CFE3EA"/>
                </a:solidFill>
                <a:latin typeface="Graphik"/>
              </a:rPr>
              <a:t>Las tiendas — obras con nombre, añadidas cuando era necesario</a:t>
            </a:r>
          </a:p>
        </p:txBody>
      </p:sp>
    </p:spTree>
    <p:extLst>
      <p:ext uri="{BB962C8B-B14F-4D97-AF65-F5344CB8AC3E}">
        <p14:creationId xmlns:p14="http://schemas.microsoft.com/office/powerpoint/2010/main" val="39835464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3A8D74AC-2277-4F46-791F-D1E85CA77147}"/>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alpha val="65000"/>
                  </a:srgbClr>
                </a:solidFill>
                <a:effectLst/>
                <a:uLnTx/>
                <a:uFillTx/>
                <a:latin typeface="Graphik"/>
                <a:ea typeface="+mn-ea"/>
                <a:cs typeface="+mn-cs"/>
              </a:rPr>
              <a:t>Copyright © 2026 Accenture. Todos los derechos reservados.</a:t>
            </a:r>
          </a:p>
        </p:txBody>
      </p:sp>
      <p:sp>
        <p:nvSpPr>
          <p:cNvPr id="4" name="Slide Number Placeholder 3">
            <a:extLst>
              <a:ext uri="{FF2B5EF4-FFF2-40B4-BE49-F238E27FC236}">
                <a16:creationId xmlns:a16="http://schemas.microsoft.com/office/drawing/2014/main" id="{0207964D-8E46-FDF2-1A6B-862C7F07B769}"/>
              </a:ext>
            </a:extLst>
          </p:cNvPr>
          <p:cNvSpPr>
            <a:spLocks noGrp="1"/>
          </p:cNvSpPr>
          <p:nvPr>
            <p:ph type="sldNum" sz="quarter" idx="429496729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Graphik"/>
                <a:ea typeface="+mn-ea"/>
                <a:cs typeface="+mn-cs"/>
              </a:rPr>
              <a:t> </a:t>
            </a:r>
          </a:p>
        </p:txBody>
      </p:sp>
      <p:sp>
        <p:nvSpPr>
          <p:cNvPr id="23" name="Title 1">
            <a:extLst>
              <a:ext uri="{FF2B5EF4-FFF2-40B4-BE49-F238E27FC236}">
                <a16:creationId xmlns:a16="http://schemas.microsoft.com/office/drawing/2014/main" id="{68425746-EAF5-AE0A-FFFC-004556DAE8C0}"/>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a:ln>
                  <a:noFill/>
                </a:ln>
                <a:solidFill>
                  <a:srgbClr val="7500C0"/>
                </a:solidFill>
                <a:effectLst/>
                <a:uLnTx/>
                <a:uFillTx/>
                <a:latin typeface="Graphik"/>
                <a:ea typeface="+mj-ea"/>
                <a:cs typeface="+mj-cs"/>
              </a:rPr>
              <a:t>Arquitectura de Interoperabilidad </a:t>
            </a:r>
            <a:r>
              <a:rPr kumimoji="0" lang="es" sz="2400" b="1" i="0" u="none" strike="noStrike" kern="1200" cap="none" spc="0" normalizeH="0" baseline="0" noProof="0">
                <a:ln>
                  <a:noFill/>
                </a:ln>
                <a:solidFill>
                  <a:srgbClr val="000000"/>
                </a:solidFill>
                <a:effectLst/>
                <a:uLnTx/>
                <a:uFillTx/>
                <a:latin typeface="Graphik"/>
                <a:ea typeface="+mj-ea"/>
                <a:cs typeface="+mj-cs"/>
              </a:rPr>
              <a:t>| </a:t>
            </a:r>
            <a:r>
              <a:rPr kumimoji="0" lang="es" sz="2000" b="1" i="0" u="none" strike="noStrike" kern="1200" cap="none" spc="0" normalizeH="0" baseline="0" noProof="0">
                <a:ln>
                  <a:noFill/>
                </a:ln>
                <a:solidFill>
                  <a:srgbClr val="000000"/>
                </a:solidFill>
                <a:effectLst/>
                <a:uLnTx/>
                <a:uFillTx/>
                <a:latin typeface="Graphik"/>
                <a:ea typeface="+mj-ea"/>
                <a:cs typeface="+mj-cs"/>
              </a:rPr>
              <a:t>Mapa de capacidades Nivel 0</a:t>
            </a:r>
            <a:endParaRPr kumimoji="0" lang="es" sz="2400" b="1" i="0" u="none" strike="noStrike" kern="1200" cap="none" spc="0" normalizeH="0" baseline="0" noProof="0">
              <a:ln>
                <a:noFill/>
              </a:ln>
              <a:solidFill>
                <a:srgbClr val="000000"/>
              </a:solidFill>
              <a:effectLst/>
              <a:uLnTx/>
              <a:uFillTx/>
              <a:latin typeface="Graphik"/>
              <a:ea typeface="+mj-ea"/>
              <a:cs typeface="+mj-cs"/>
            </a:endParaRPr>
          </a:p>
        </p:txBody>
      </p:sp>
      <p:sp>
        <p:nvSpPr>
          <p:cNvPr id="25" name="Rectangle 24">
            <a:extLst>
              <a:ext uri="{FF2B5EF4-FFF2-40B4-BE49-F238E27FC236}">
                <a16:creationId xmlns:a16="http://schemas.microsoft.com/office/drawing/2014/main" id="{CFDF9771-8CBA-EB08-DE3B-8AF337FFD430}"/>
              </a:ext>
            </a:extLst>
          </p:cNvPr>
          <p:cNvSpPr/>
          <p:nvPr/>
        </p:nvSpPr>
        <p:spPr>
          <a:xfrm>
            <a:off x="699575" y="944591"/>
            <a:ext cx="1080000" cy="5222888"/>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Seguridad</a:t>
            </a:r>
          </a:p>
        </p:txBody>
      </p:sp>
      <p:sp>
        <p:nvSpPr>
          <p:cNvPr id="26" name="Rectangle 25">
            <a:extLst>
              <a:ext uri="{FF2B5EF4-FFF2-40B4-BE49-F238E27FC236}">
                <a16:creationId xmlns:a16="http://schemas.microsoft.com/office/drawing/2014/main" id="{326727DF-6F03-BC04-4A78-F43393023CF0}"/>
              </a:ext>
            </a:extLst>
          </p:cNvPr>
          <p:cNvSpPr/>
          <p:nvPr/>
        </p:nvSpPr>
        <p:spPr>
          <a:xfrm>
            <a:off x="1907612" y="944590"/>
            <a:ext cx="1080000" cy="5230769"/>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Observabilidad</a:t>
            </a:r>
          </a:p>
        </p:txBody>
      </p:sp>
      <p:sp>
        <p:nvSpPr>
          <p:cNvPr id="27" name="Rectangle 26">
            <a:extLst>
              <a:ext uri="{FF2B5EF4-FFF2-40B4-BE49-F238E27FC236}">
                <a16:creationId xmlns:a16="http://schemas.microsoft.com/office/drawing/2014/main" id="{B8329EC3-7002-5766-1217-CE4C85857BB1}"/>
              </a:ext>
            </a:extLst>
          </p:cNvPr>
          <p:cNvSpPr/>
          <p:nvPr/>
        </p:nvSpPr>
        <p:spPr>
          <a:xfrm>
            <a:off x="10221552" y="944591"/>
            <a:ext cx="1080000" cy="5230768"/>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Infraestructura</a:t>
            </a:r>
          </a:p>
        </p:txBody>
      </p:sp>
      <p:sp>
        <p:nvSpPr>
          <p:cNvPr id="28" name="Rectangle 27">
            <a:extLst>
              <a:ext uri="{FF2B5EF4-FFF2-40B4-BE49-F238E27FC236}">
                <a16:creationId xmlns:a16="http://schemas.microsoft.com/office/drawing/2014/main" id="{397E75AD-DE87-3765-530C-C37F7C229DF0}"/>
              </a:ext>
            </a:extLst>
          </p:cNvPr>
          <p:cNvSpPr/>
          <p:nvPr/>
        </p:nvSpPr>
        <p:spPr>
          <a:xfrm>
            <a:off x="3169828" y="944591"/>
            <a:ext cx="5681779" cy="1077165"/>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dirty="0">
                <a:ln>
                  <a:noFill/>
                </a:ln>
                <a:solidFill>
                  <a:srgbClr val="000000"/>
                </a:solidFill>
                <a:effectLst/>
                <a:uLnTx/>
                <a:uFillTx/>
                <a:latin typeface="Graphik"/>
                <a:ea typeface="+mn-ea"/>
                <a:cs typeface="+mn-cs"/>
              </a:rPr>
              <a:t>Servicios de Gateway</a:t>
            </a:r>
          </a:p>
        </p:txBody>
      </p:sp>
      <p:sp>
        <p:nvSpPr>
          <p:cNvPr id="29" name="Rectangle 28">
            <a:extLst>
              <a:ext uri="{FF2B5EF4-FFF2-40B4-BE49-F238E27FC236}">
                <a16:creationId xmlns:a16="http://schemas.microsoft.com/office/drawing/2014/main" id="{07032E24-4EBC-4359-B6FA-4AE01DEFC30C}"/>
              </a:ext>
            </a:extLst>
          </p:cNvPr>
          <p:cNvSpPr/>
          <p:nvPr/>
        </p:nvSpPr>
        <p:spPr>
          <a:xfrm>
            <a:off x="3161292" y="2773838"/>
            <a:ext cx="5681779" cy="540000"/>
          </a:xfrm>
          <a:prstGeom prst="rect">
            <a:avLst/>
          </a:prstGeom>
          <a:solidFill>
            <a:schemeClr val="bg2"/>
          </a:solidFill>
          <a:ln w="38100">
            <a:solidFill>
              <a:srgbClr val="156082"/>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Omnicanal y componentes de caché</a:t>
            </a:r>
          </a:p>
        </p:txBody>
      </p:sp>
      <p:sp>
        <p:nvSpPr>
          <p:cNvPr id="30" name="Rectangle 29">
            <a:extLst>
              <a:ext uri="{FF2B5EF4-FFF2-40B4-BE49-F238E27FC236}">
                <a16:creationId xmlns:a16="http://schemas.microsoft.com/office/drawing/2014/main" id="{6D739B0F-062A-9D0D-688E-C5956D05F86F}"/>
              </a:ext>
            </a:extLst>
          </p:cNvPr>
          <p:cNvSpPr/>
          <p:nvPr/>
        </p:nvSpPr>
        <p:spPr>
          <a:xfrm>
            <a:off x="3167494" y="5132461"/>
            <a:ext cx="5681779" cy="1042899"/>
          </a:xfrm>
          <a:prstGeom prst="rect">
            <a:avLst/>
          </a:prstGeom>
          <a:solidFill>
            <a:schemeClr val="bg2"/>
          </a:solidFill>
          <a:ln w="38100">
            <a:solidFill>
              <a:srgbClr val="156082"/>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Entrega de datos</a:t>
            </a:r>
          </a:p>
        </p:txBody>
      </p:sp>
      <p:sp>
        <p:nvSpPr>
          <p:cNvPr id="31" name="Rectangle 30">
            <a:extLst>
              <a:ext uri="{FF2B5EF4-FFF2-40B4-BE49-F238E27FC236}">
                <a16:creationId xmlns:a16="http://schemas.microsoft.com/office/drawing/2014/main" id="{B626ACA0-B499-3614-76D1-A4644845A15A}"/>
              </a:ext>
            </a:extLst>
          </p:cNvPr>
          <p:cNvSpPr/>
          <p:nvPr/>
        </p:nvSpPr>
        <p:spPr>
          <a:xfrm>
            <a:off x="3169828" y="3419879"/>
            <a:ext cx="5681779" cy="960502"/>
          </a:xfrm>
          <a:prstGeom prst="rect">
            <a:avLst/>
          </a:prstGeom>
          <a:solidFill>
            <a:schemeClr val="bg2"/>
          </a:solidFill>
          <a:ln w="38100">
            <a:solidFill>
              <a:srgbClr val="156082"/>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Transacciones distribuidas</a:t>
            </a:r>
          </a:p>
        </p:txBody>
      </p:sp>
      <p:sp>
        <p:nvSpPr>
          <p:cNvPr id="32" name="Rectangle 31">
            <a:extLst>
              <a:ext uri="{FF2B5EF4-FFF2-40B4-BE49-F238E27FC236}">
                <a16:creationId xmlns:a16="http://schemas.microsoft.com/office/drawing/2014/main" id="{851C038D-02DD-A1C2-B094-4AEE3C4CA255}"/>
              </a:ext>
            </a:extLst>
          </p:cNvPr>
          <p:cNvSpPr/>
          <p:nvPr/>
        </p:nvSpPr>
        <p:spPr>
          <a:xfrm>
            <a:off x="9005587" y="944591"/>
            <a:ext cx="1080000" cy="5230768"/>
          </a:xfrm>
          <a:prstGeom prst="rect">
            <a:avLst/>
          </a:prstGeom>
          <a:solidFill>
            <a:schemeClr val="bg2"/>
          </a:solidFill>
          <a:ln w="38100">
            <a:solidFill>
              <a:srgbClr val="156082"/>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Procesamiento de eventos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&amp; Componentes Reactivos</a:t>
            </a:r>
          </a:p>
        </p:txBody>
      </p:sp>
      <p:sp>
        <p:nvSpPr>
          <p:cNvPr id="33" name="Rectangle 32">
            <a:extLst>
              <a:ext uri="{FF2B5EF4-FFF2-40B4-BE49-F238E27FC236}">
                <a16:creationId xmlns:a16="http://schemas.microsoft.com/office/drawing/2014/main" id="{1EB03432-3045-B4A7-2427-3D2D522CCEE0}"/>
              </a:ext>
            </a:extLst>
          </p:cNvPr>
          <p:cNvSpPr/>
          <p:nvPr/>
        </p:nvSpPr>
        <p:spPr>
          <a:xfrm>
            <a:off x="3166592" y="2127797"/>
            <a:ext cx="5681779" cy="540000"/>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dirty="0">
                <a:ln>
                  <a:noFill/>
                </a:ln>
                <a:solidFill>
                  <a:srgbClr val="000000"/>
                </a:solidFill>
                <a:effectLst/>
                <a:uLnTx/>
                <a:uFillTx/>
                <a:latin typeface="Graphik"/>
                <a:ea typeface="+mn-ea"/>
                <a:cs typeface="+mn-cs"/>
              </a:rPr>
              <a:t>API Management</a:t>
            </a:r>
          </a:p>
        </p:txBody>
      </p:sp>
      <p:sp>
        <p:nvSpPr>
          <p:cNvPr id="34" name="Oval 33">
            <a:extLst>
              <a:ext uri="{FF2B5EF4-FFF2-40B4-BE49-F238E27FC236}">
                <a16:creationId xmlns:a16="http://schemas.microsoft.com/office/drawing/2014/main" id="{A2CB8B61-1F8F-67B2-D843-9A628C1AB852}"/>
              </a:ext>
            </a:extLst>
          </p:cNvPr>
          <p:cNvSpPr/>
          <p:nvPr/>
        </p:nvSpPr>
        <p:spPr>
          <a:xfrm>
            <a:off x="751436" y="1147797"/>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K</a:t>
            </a:r>
          </a:p>
        </p:txBody>
      </p:sp>
      <p:sp>
        <p:nvSpPr>
          <p:cNvPr id="35" name="Oval 34">
            <a:extLst>
              <a:ext uri="{FF2B5EF4-FFF2-40B4-BE49-F238E27FC236}">
                <a16:creationId xmlns:a16="http://schemas.microsoft.com/office/drawing/2014/main" id="{4E88CC31-C2D8-C7C3-E374-245980F7F53F}"/>
              </a:ext>
            </a:extLst>
          </p:cNvPr>
          <p:cNvSpPr/>
          <p:nvPr/>
        </p:nvSpPr>
        <p:spPr>
          <a:xfrm>
            <a:off x="1946299" y="1147797"/>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K</a:t>
            </a:r>
          </a:p>
        </p:txBody>
      </p:sp>
      <p:sp>
        <p:nvSpPr>
          <p:cNvPr id="37" name="Oval 36">
            <a:extLst>
              <a:ext uri="{FF2B5EF4-FFF2-40B4-BE49-F238E27FC236}">
                <a16:creationId xmlns:a16="http://schemas.microsoft.com/office/drawing/2014/main" id="{A99BFA2C-2E45-962D-69CE-6004D2B03A40}"/>
              </a:ext>
            </a:extLst>
          </p:cNvPr>
          <p:cNvSpPr/>
          <p:nvPr/>
        </p:nvSpPr>
        <p:spPr>
          <a:xfrm>
            <a:off x="10248103" y="1147797"/>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K</a:t>
            </a:r>
          </a:p>
        </p:txBody>
      </p:sp>
      <p:sp>
        <p:nvSpPr>
          <p:cNvPr id="38" name="Oval 37">
            <a:extLst>
              <a:ext uri="{FF2B5EF4-FFF2-40B4-BE49-F238E27FC236}">
                <a16:creationId xmlns:a16="http://schemas.microsoft.com/office/drawing/2014/main" id="{854C8E03-D227-4330-5D5C-9549616F5A99}"/>
              </a:ext>
            </a:extLst>
          </p:cNvPr>
          <p:cNvSpPr/>
          <p:nvPr/>
        </p:nvSpPr>
        <p:spPr>
          <a:xfrm>
            <a:off x="5306545" y="2158233"/>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K</a:t>
            </a:r>
          </a:p>
        </p:txBody>
      </p:sp>
      <p:sp>
        <p:nvSpPr>
          <p:cNvPr id="39" name="Rectangle 38">
            <a:extLst>
              <a:ext uri="{FF2B5EF4-FFF2-40B4-BE49-F238E27FC236}">
                <a16:creationId xmlns:a16="http://schemas.microsoft.com/office/drawing/2014/main" id="{5828082A-0A90-A83F-BAC2-997225584921}"/>
              </a:ext>
            </a:extLst>
          </p:cNvPr>
          <p:cNvSpPr/>
          <p:nvPr/>
        </p:nvSpPr>
        <p:spPr>
          <a:xfrm>
            <a:off x="3160153" y="4486422"/>
            <a:ext cx="5681779" cy="540000"/>
          </a:xfrm>
          <a:prstGeom prst="rect">
            <a:avLst/>
          </a:prstGeom>
          <a:solidFill>
            <a:schemeClr val="bg2"/>
          </a:solidFill>
          <a:ln w="38100">
            <a:solidFill>
              <a:srgbClr val="156082"/>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Servicios Empresariales Comunes</a:t>
            </a:r>
          </a:p>
        </p:txBody>
      </p:sp>
      <p:grpSp>
        <p:nvGrpSpPr>
          <p:cNvPr id="10" name="Group 9">
            <a:extLst>
              <a:ext uri="{FF2B5EF4-FFF2-40B4-BE49-F238E27FC236}">
                <a16:creationId xmlns:a16="http://schemas.microsoft.com/office/drawing/2014/main" id="{9ADEBD79-E68C-3605-B739-14CC7B8C9933}"/>
              </a:ext>
            </a:extLst>
          </p:cNvPr>
          <p:cNvGrpSpPr/>
          <p:nvPr/>
        </p:nvGrpSpPr>
        <p:grpSpPr>
          <a:xfrm>
            <a:off x="4475293" y="6283462"/>
            <a:ext cx="3241414" cy="180000"/>
            <a:chOff x="3701850" y="6283462"/>
            <a:chExt cx="3241414" cy="180000"/>
          </a:xfrm>
        </p:grpSpPr>
        <p:grpSp>
          <p:nvGrpSpPr>
            <p:cNvPr id="2" name="Group 1">
              <a:extLst>
                <a:ext uri="{FF2B5EF4-FFF2-40B4-BE49-F238E27FC236}">
                  <a16:creationId xmlns:a16="http://schemas.microsoft.com/office/drawing/2014/main" id="{4635A679-91B1-9924-7D56-044B595E2BE9}"/>
                </a:ext>
              </a:extLst>
            </p:cNvPr>
            <p:cNvGrpSpPr/>
            <p:nvPr/>
          </p:nvGrpSpPr>
          <p:grpSpPr>
            <a:xfrm>
              <a:off x="5366382" y="6283462"/>
              <a:ext cx="1576882" cy="180000"/>
              <a:chOff x="9283672" y="6207566"/>
              <a:chExt cx="1576882" cy="180000"/>
            </a:xfrm>
          </p:grpSpPr>
          <p:sp>
            <p:nvSpPr>
              <p:cNvPr id="6" name="Oval 5">
                <a:extLst>
                  <a:ext uri="{FF2B5EF4-FFF2-40B4-BE49-F238E27FC236}">
                    <a16:creationId xmlns:a16="http://schemas.microsoft.com/office/drawing/2014/main" id="{B25D7EE6-2931-8EDB-5810-D807DAD789C5}"/>
                  </a:ext>
                </a:extLst>
              </p:cNvPr>
              <p:cNvSpPr/>
              <p:nvPr/>
            </p:nvSpPr>
            <p:spPr>
              <a:xfrm>
                <a:off x="9283672" y="6207566"/>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K</a:t>
                </a:r>
                <a:endParaRPr kumimoji="0" lang="en-ES" sz="1100" b="1" i="0" u="none" strike="noStrike" kern="1200" cap="none" spc="0" normalizeH="0" baseline="0" noProof="0">
                  <a:ln>
                    <a:noFill/>
                  </a:ln>
                  <a:solidFill>
                    <a:srgbClr val="FFFFFF"/>
                  </a:solidFill>
                  <a:effectLst/>
                  <a:uLnTx/>
                  <a:uFillTx/>
                  <a:latin typeface="Graphik"/>
                  <a:ea typeface="+mn-ea"/>
                  <a:cs typeface="+mn-cs"/>
                </a:endParaRPr>
              </a:p>
            </p:txBody>
          </p:sp>
          <p:sp>
            <p:nvSpPr>
              <p:cNvPr id="8" name="Rectangle 7">
                <a:extLst>
                  <a:ext uri="{FF2B5EF4-FFF2-40B4-BE49-F238E27FC236}">
                    <a16:creationId xmlns:a16="http://schemas.microsoft.com/office/drawing/2014/main" id="{70D0727D-E3A6-A5A5-CA73-4F0A2F5D98F6}"/>
                  </a:ext>
                </a:extLst>
              </p:cNvPr>
              <p:cNvSpPr/>
              <p:nvPr/>
            </p:nvSpPr>
            <p:spPr>
              <a:xfrm>
                <a:off x="9526720" y="6230887"/>
                <a:ext cx="1333834" cy="13335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Kernel y componentes de plataforma</a:t>
                </a:r>
              </a:p>
            </p:txBody>
          </p:sp>
        </p:grpSp>
        <p:grpSp>
          <p:nvGrpSpPr>
            <p:cNvPr id="41" name="Group 40">
              <a:extLst>
                <a:ext uri="{FF2B5EF4-FFF2-40B4-BE49-F238E27FC236}">
                  <a16:creationId xmlns:a16="http://schemas.microsoft.com/office/drawing/2014/main" id="{79FA365B-0F31-880D-17F4-C38788A2E195}"/>
                </a:ext>
              </a:extLst>
            </p:cNvPr>
            <p:cNvGrpSpPr/>
            <p:nvPr/>
          </p:nvGrpSpPr>
          <p:grpSpPr>
            <a:xfrm>
              <a:off x="3701850" y="6283462"/>
              <a:ext cx="1576882" cy="180000"/>
              <a:chOff x="9283672" y="6207566"/>
              <a:chExt cx="1576882" cy="180000"/>
            </a:xfrm>
          </p:grpSpPr>
          <p:sp>
            <p:nvSpPr>
              <p:cNvPr id="42" name="Rectangle 41">
                <a:extLst>
                  <a:ext uri="{FF2B5EF4-FFF2-40B4-BE49-F238E27FC236}">
                    <a16:creationId xmlns:a16="http://schemas.microsoft.com/office/drawing/2014/main" id="{1450ECB1-9DB4-2AEB-3F82-94E78101F090}"/>
                  </a:ext>
                </a:extLst>
              </p:cNvPr>
              <p:cNvSpPr/>
              <p:nvPr/>
            </p:nvSpPr>
            <p:spPr>
              <a:xfrm>
                <a:off x="9283672" y="6207566"/>
                <a:ext cx="180000" cy="180000"/>
              </a:xfrm>
              <a:prstGeom prst="rect">
                <a:avLst/>
              </a:prstGeom>
              <a:solidFill>
                <a:srgbClr val="E6E6DC"/>
              </a:solidFill>
              <a:ln>
                <a:solidFill>
                  <a:srgbClr val="15608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ES" sz="1100" b="1" i="0" u="none" strike="noStrike" kern="1200" cap="none" spc="0" normalizeH="0" baseline="0" noProof="0">
                  <a:ln>
                    <a:noFill/>
                  </a:ln>
                  <a:solidFill>
                    <a:srgbClr val="FFFFFF"/>
                  </a:solidFill>
                  <a:effectLst/>
                  <a:uLnTx/>
                  <a:uFillTx/>
                  <a:latin typeface="Graphik"/>
                  <a:ea typeface="+mn-ea"/>
                  <a:cs typeface="+mn-cs"/>
                </a:endParaRPr>
              </a:p>
            </p:txBody>
          </p:sp>
          <p:sp>
            <p:nvSpPr>
              <p:cNvPr id="43" name="Rectangle 42">
                <a:extLst>
                  <a:ext uri="{FF2B5EF4-FFF2-40B4-BE49-F238E27FC236}">
                    <a16:creationId xmlns:a16="http://schemas.microsoft.com/office/drawing/2014/main" id="{D94902BD-45BD-4F63-A070-A81A4B44E9C1}"/>
                  </a:ext>
                </a:extLst>
              </p:cNvPr>
              <p:cNvSpPr/>
              <p:nvPr/>
            </p:nvSpPr>
            <p:spPr>
              <a:xfrm>
                <a:off x="9526720" y="6230887"/>
                <a:ext cx="1333834" cy="13335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Componentes de dominio</a:t>
                </a:r>
              </a:p>
            </p:txBody>
          </p:sp>
        </p:grpSp>
      </p:grpSp>
      <p:sp>
        <p:nvSpPr>
          <p:cNvPr id="9" name="TextBox 8">
            <a:extLst>
              <a:ext uri="{FF2B5EF4-FFF2-40B4-BE49-F238E27FC236}">
                <a16:creationId xmlns:a16="http://schemas.microsoft.com/office/drawing/2014/main" id="{B0FEE892-6CA4-BED1-56DB-7BBA97A57FCD}"/>
              </a:ext>
            </a:extLst>
          </p:cNvPr>
          <p:cNvSpPr txBox="1"/>
          <p:nvPr>
            <p:extLst>
              <p:ext uri="{1162E1C5-73C7-4A58-AE30-91384D911F3F}">
                <p184:classification xmlns:p184="http://schemas.microsoft.com/office/powerpoint/2018/4/main" val="hdr"/>
              </p:ext>
            </p:extLst>
          </p:nvPr>
        </p:nvSpPr>
        <p:spPr>
          <a:xfrm>
            <a:off x="379000" y="78170"/>
            <a:ext cx="11432000" cy="154830"/>
          </a:xfrm>
          <a:prstGeom prst="rect">
            <a:avLst/>
          </a:prstGeom>
        </p:spPr>
        <p:txBody>
          <a:bodyPr horzOverflow="overflow"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000" b="0" i="0" u="none" strike="noStrike" kern="1200" cap="none" spc="0" normalizeH="0" baseline="0" noProof="0">
                <a:ln>
                  <a:noFill/>
                </a:ln>
                <a:solidFill>
                  <a:srgbClr val="000000"/>
                </a:solidFill>
                <a:effectLst/>
                <a:uLnTx/>
                <a:uFillTx/>
                <a:latin typeface="Graphik (Body)"/>
                <a:ea typeface="+mn-ea"/>
                <a:cs typeface="Calibri" panose="020F0502020204030204" pitchFamily="34" charset="0"/>
              </a:rPr>
              <a:t>*** Confidencial - Solo para uso interno de la empresa ***</a:t>
            </a:r>
          </a:p>
        </p:txBody>
      </p:sp>
      <p:sp>
        <p:nvSpPr>
          <p:cNvPr id="14" name="Oval 13">
            <a:extLst>
              <a:ext uri="{FF2B5EF4-FFF2-40B4-BE49-F238E27FC236}">
                <a16:creationId xmlns:a16="http://schemas.microsoft.com/office/drawing/2014/main" id="{64D95C56-9E79-4ED2-D4BB-ED3D3E283C8C}"/>
              </a:ext>
            </a:extLst>
          </p:cNvPr>
          <p:cNvSpPr/>
          <p:nvPr/>
        </p:nvSpPr>
        <p:spPr>
          <a:xfrm>
            <a:off x="5200332" y="978921"/>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K</a:t>
            </a:r>
          </a:p>
        </p:txBody>
      </p:sp>
    </p:spTree>
    <p:extLst>
      <p:ext uri="{BB962C8B-B14F-4D97-AF65-F5344CB8AC3E}">
        <p14:creationId xmlns:p14="http://schemas.microsoft.com/office/powerpoint/2010/main" val="33501617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3A8D74AC-2277-4F46-791F-D1E85CA77147}"/>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dirty="0">
                <a:ln>
                  <a:noFill/>
                </a:ln>
                <a:solidFill>
                  <a:srgbClr val="000000">
                    <a:alpha val="65000"/>
                  </a:srgbClr>
                </a:solidFill>
                <a:effectLst/>
                <a:uLnTx/>
                <a:uFillTx/>
                <a:latin typeface="Graphik"/>
                <a:ea typeface="+mn-ea"/>
                <a:cs typeface="+mn-cs"/>
              </a:rPr>
              <a:t>Copyright © 2026 Accenture. Todos los derechos reservados.</a:t>
            </a:r>
          </a:p>
        </p:txBody>
      </p:sp>
      <p:sp>
        <p:nvSpPr>
          <p:cNvPr id="4" name="Slide Number Placeholder 3">
            <a:extLst>
              <a:ext uri="{FF2B5EF4-FFF2-40B4-BE49-F238E27FC236}">
                <a16:creationId xmlns:a16="http://schemas.microsoft.com/office/drawing/2014/main" id="{0207964D-8E46-FDF2-1A6B-862C7F07B769}"/>
              </a:ext>
            </a:extLst>
          </p:cNvPr>
          <p:cNvSpPr>
            <a:spLocks noGrp="1"/>
          </p:cNvSpPr>
          <p:nvPr>
            <p:ph type="sldNum" sz="quarter" idx="429496729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Graphik"/>
                <a:ea typeface="+mn-ea"/>
                <a:cs typeface="+mn-cs"/>
              </a:rPr>
              <a:t> </a:t>
            </a:r>
          </a:p>
        </p:txBody>
      </p:sp>
      <p:sp>
        <p:nvSpPr>
          <p:cNvPr id="23" name="Title 1">
            <a:extLst>
              <a:ext uri="{FF2B5EF4-FFF2-40B4-BE49-F238E27FC236}">
                <a16:creationId xmlns:a16="http://schemas.microsoft.com/office/drawing/2014/main" id="{68425746-EAF5-AE0A-FFFC-004556DAE8C0}"/>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a:ln>
                  <a:noFill/>
                </a:ln>
                <a:solidFill>
                  <a:srgbClr val="7500C0"/>
                </a:solidFill>
                <a:effectLst/>
                <a:uLnTx/>
                <a:uFillTx/>
                <a:latin typeface="Graphik"/>
                <a:ea typeface="+mj-ea"/>
                <a:cs typeface="+mj-cs"/>
              </a:rPr>
              <a:t>Arquitectura de Interoperabilidad </a:t>
            </a:r>
            <a:r>
              <a:rPr kumimoji="0" lang="es" sz="2400" b="1" i="0" u="none" strike="noStrike" kern="1200" cap="none" spc="0" normalizeH="0" baseline="0" noProof="0">
                <a:ln>
                  <a:noFill/>
                </a:ln>
                <a:solidFill>
                  <a:srgbClr val="000000"/>
                </a:solidFill>
                <a:effectLst/>
                <a:uLnTx/>
                <a:uFillTx/>
                <a:latin typeface="Graphik"/>
                <a:ea typeface="+mj-ea"/>
                <a:cs typeface="+mj-cs"/>
              </a:rPr>
              <a:t>| </a:t>
            </a:r>
            <a:r>
              <a:rPr kumimoji="0" lang="es" sz="2200" b="1" i="0" u="none" strike="noStrike" kern="1200" cap="none" spc="0" normalizeH="0" baseline="0" noProof="0">
                <a:ln>
                  <a:noFill/>
                </a:ln>
                <a:solidFill>
                  <a:srgbClr val="000000"/>
                </a:solidFill>
                <a:effectLst/>
                <a:uLnTx/>
                <a:uFillTx/>
                <a:latin typeface="Graphik"/>
                <a:ea typeface="+mj-ea"/>
                <a:cs typeface="+mj-cs"/>
              </a:rPr>
              <a:t>Capacidades de Nivel 0 </a:t>
            </a:r>
            <a:r>
              <a:rPr kumimoji="0" lang="es" sz="1700" b="1" i="0" u="none" strike="noStrike" kern="1200" cap="none" spc="0" normalizeH="0" baseline="0" noProof="0">
                <a:ln>
                  <a:noFill/>
                </a:ln>
                <a:solidFill>
                  <a:srgbClr val="000000"/>
                </a:solidFill>
                <a:effectLst/>
                <a:uLnTx/>
                <a:uFillTx/>
                <a:latin typeface="Graphik"/>
                <a:ea typeface="+mj-ea"/>
                <a:cs typeface="+mj-cs"/>
              </a:rPr>
              <a:t>(Descripción y propósito)</a:t>
            </a:r>
          </a:p>
        </p:txBody>
      </p:sp>
      <p:sp>
        <p:nvSpPr>
          <p:cNvPr id="100" name="Section Kernel &amp; Platform Capabilities"/>
          <p:cNvSpPr txBox="1"/>
          <p:nvPr/>
        </p:nvSpPr>
        <p:spPr>
          <a:xfrm>
            <a:off x="380000" y="815000"/>
            <a:ext cx="11432000" cy="230000"/>
          </a:xfrm>
          <a:prstGeom prst="rect">
            <a:avLst/>
          </a:prstGeom>
        </p:spPr>
        <p:txBody>
          <a:bodyPr lIns="0" tIns="0" rIns="0" bIns="0" anchor="ctr"/>
          <a:lstStyle/>
          <a:p>
            <a:pPr algn="l"/>
            <a:r>
              <a:rPr lang="es" sz="1200" b="1">
                <a:solidFill>
                  <a:srgbClr val="000000"/>
                </a:solidFill>
                <a:latin typeface="Graphik"/>
              </a:rPr>
              <a:t>Kernel y Capacidades de Plataforma</a:t>
            </a:r>
            <a:r>
              <a:rPr lang="es" sz="1050" b="1">
                <a:solidFill>
                  <a:srgbClr val="C00000"/>
                </a:solidFill>
                <a:latin typeface="Graphik"/>
              </a:rPr>
              <a:t>  (K = Kernel y Componentes de Plataforma)</a:t>
            </a:r>
          </a:p>
        </p:txBody>
      </p:sp>
      <p:sp>
        <p:nvSpPr>
          <p:cNvPr id="101" name="Card API Management"/>
          <p:cNvSpPr/>
          <p:nvPr/>
        </p:nvSpPr>
        <p:spPr>
          <a:xfrm>
            <a:off x="380000" y="1080000"/>
            <a:ext cx="2788920" cy="1188720"/>
          </a:xfrm>
          <a:prstGeom prst="roundRect">
            <a:avLst>
              <a:gd name="adj" fmla="val 4000"/>
            </a:avLst>
          </a:prstGeom>
          <a:solidFill>
            <a:schemeClr val="bg2"/>
          </a:solidFill>
          <a:ln w="9525">
            <a:solidFill>
              <a:srgbClr val="7500C0"/>
            </a:solidFill>
          </a:ln>
        </p:spPr>
        <p:txBody>
          <a:bodyPr lIns="90000" tIns="54000" rIns="90000" bIns="54000" rtlCol="0" anchor="t">
            <a:noAutofit/>
          </a:bodyPr>
          <a:lstStyle/>
          <a:p>
            <a:pPr marL="0" marR="300000" algn="l">
              <a:lnSpc>
                <a:spcPct val="98000"/>
              </a:lnSpc>
              <a:spcAft>
                <a:spcPts val="200"/>
              </a:spcAft>
            </a:pPr>
            <a:r>
              <a:rPr lang="es" sz="700" b="1" dirty="0">
                <a:solidFill>
                  <a:srgbClr val="7500C0"/>
                </a:solidFill>
                <a:latin typeface="Graphik"/>
              </a:rPr>
              <a:t>API Management</a:t>
            </a:r>
          </a:p>
          <a:p>
            <a:pPr marL="0" algn="l">
              <a:lnSpc>
                <a:spcPct val="96000"/>
              </a:lnSpc>
              <a:spcAft>
                <a:spcPts val="300"/>
              </a:spcAft>
            </a:pPr>
            <a:r>
              <a:rPr lang="es" sz="700" dirty="0">
                <a:solidFill>
                  <a:srgbClr val="1A1A1A"/>
                </a:solidFill>
                <a:latin typeface="Graphik"/>
              </a:rPr>
              <a:t>Diseñar, publicar, versionar, asegurar, medir y retirar los contratos de servicios síncronos del banco, además del portal para desarrolladores, el catálogo y el sandbox.</a:t>
            </a:r>
          </a:p>
          <a:p>
            <a:pPr marL="0" algn="l"/>
            <a:r>
              <a:rPr lang="es" sz="700" b="1" dirty="0">
                <a:solidFill>
                  <a:srgbClr val="7500C0"/>
                </a:solidFill>
                <a:latin typeface="Graphik"/>
              </a:rPr>
              <a:t>Propósito  </a:t>
            </a:r>
            <a:r>
              <a:rPr lang="es" sz="700" i="1" dirty="0">
                <a:solidFill>
                  <a:srgbClr val="404040"/>
                </a:solidFill>
                <a:latin typeface="Graphik"/>
              </a:rPr>
              <a:t>El principal instrumento de desacoplamiento: un contrato API estable permite que canales y núcleos se re-platformen de forma independiente, convirtiendo una llamada al sistema en una llamada de capacidad bancaria.</a:t>
            </a:r>
          </a:p>
        </p:txBody>
      </p:sp>
      <p:sp>
        <p:nvSpPr>
          <p:cNvPr id="601" name="K 101"/>
          <p:cNvSpPr/>
          <p:nvPr/>
        </p:nvSpPr>
        <p:spPr>
          <a:xfrm>
            <a:off x="2964622" y="1121728"/>
            <a:ext cx="180000" cy="180000"/>
          </a:xfrm>
          <a:prstGeom prst="ellipse">
            <a:avLst/>
          </a:prstGeom>
          <a:solidFill>
            <a:srgbClr val="C00000"/>
          </a:solidFill>
          <a:ln>
            <a:noFill/>
          </a:ln>
        </p:spPr>
        <p:txBody>
          <a:bodyPr lIns="0" tIns="0" rIns="0" bIns="0" rtlCol="0" anchor="ctr"/>
          <a:lstStyle/>
          <a:p>
            <a:pPr algn="ctr"/>
            <a:r>
              <a:rPr lang="es" sz="700" b="1">
                <a:solidFill>
                  <a:srgbClr val="FFFFFF"/>
                </a:solidFill>
                <a:latin typeface="Graphik"/>
              </a:rPr>
              <a:t>K</a:t>
            </a:r>
          </a:p>
        </p:txBody>
      </p:sp>
      <p:sp>
        <p:nvSpPr>
          <p:cNvPr id="102" name="Card Gateway Services"/>
          <p:cNvSpPr/>
          <p:nvPr/>
        </p:nvSpPr>
        <p:spPr>
          <a:xfrm>
            <a:off x="3262080" y="1080000"/>
            <a:ext cx="2788920" cy="1188720"/>
          </a:xfrm>
          <a:prstGeom prst="roundRect">
            <a:avLst>
              <a:gd name="adj" fmla="val 4000"/>
            </a:avLst>
          </a:prstGeom>
          <a:solidFill>
            <a:schemeClr val="bg2"/>
          </a:solidFill>
          <a:ln w="9525">
            <a:solidFill>
              <a:srgbClr val="7500C0"/>
            </a:solidFill>
          </a:ln>
        </p:spPr>
        <p:txBody>
          <a:bodyPr lIns="90000" tIns="54000" rIns="90000" bIns="54000" rtlCol="0" anchor="t">
            <a:noAutofit/>
          </a:bodyPr>
          <a:lstStyle/>
          <a:p>
            <a:pPr marL="0" marR="300000" algn="l">
              <a:lnSpc>
                <a:spcPct val="98000"/>
              </a:lnSpc>
              <a:spcAft>
                <a:spcPts val="200"/>
              </a:spcAft>
            </a:pPr>
            <a:r>
              <a:rPr lang="es" sz="700" b="1" dirty="0">
                <a:solidFill>
                  <a:srgbClr val="7500C0"/>
                </a:solidFill>
                <a:latin typeface="Graphik"/>
              </a:rPr>
              <a:t>Servicios de Gateway</a:t>
            </a:r>
          </a:p>
          <a:p>
            <a:pPr marL="0" algn="l">
              <a:lnSpc>
                <a:spcPct val="96000"/>
              </a:lnSpc>
              <a:spcAft>
                <a:spcPts val="300"/>
              </a:spcAft>
            </a:pPr>
            <a:r>
              <a:rPr lang="es" sz="700" dirty="0">
                <a:solidFill>
                  <a:srgbClr val="1A1A1A"/>
                </a:solidFill>
                <a:latin typeface="Graphik"/>
              </a:rPr>
              <a:t>Controlado la entrada y salida a través del límite de confianza en tres modalidades — API, archivo y evento, entrada y salida — </a:t>
            </a:r>
            <a:r>
              <a:rPr lang="es-ES" sz="700" dirty="0">
                <a:solidFill>
                  <a:srgbClr val="1A1A1A"/>
                </a:solidFill>
                <a:latin typeface="Graphik"/>
              </a:rPr>
              <a:t>además de los puntos de conexión con Open </a:t>
            </a:r>
            <a:r>
              <a:rPr lang="es-ES" sz="700" dirty="0" err="1">
                <a:solidFill>
                  <a:srgbClr val="1A1A1A"/>
                </a:solidFill>
                <a:latin typeface="Graphik"/>
              </a:rPr>
              <a:t>Banking</a:t>
            </a:r>
            <a:r>
              <a:rPr lang="es-ES" sz="700" dirty="0">
                <a:solidFill>
                  <a:srgbClr val="1A1A1A"/>
                </a:solidFill>
                <a:latin typeface="Graphik"/>
              </a:rPr>
              <a:t> y socios</a:t>
            </a:r>
            <a:r>
              <a:rPr lang="es" sz="700" dirty="0">
                <a:solidFill>
                  <a:srgbClr val="1A1A1A"/>
                </a:solidFill>
                <a:latin typeface="Graphik"/>
              </a:rPr>
              <a:t>.</a:t>
            </a:r>
          </a:p>
          <a:p>
            <a:pPr marL="0" algn="l"/>
            <a:r>
              <a:rPr lang="es" sz="700" b="1" dirty="0">
                <a:solidFill>
                  <a:srgbClr val="7500C0"/>
                </a:solidFill>
                <a:latin typeface="Graphik"/>
              </a:rPr>
              <a:t>Propósito  </a:t>
            </a:r>
            <a:r>
              <a:rPr lang="es" sz="700" i="1" dirty="0">
                <a:solidFill>
                  <a:srgbClr val="404040"/>
                </a:solidFill>
                <a:latin typeface="Graphik"/>
              </a:rPr>
              <a:t>Convierte la participación en el ecosistema en un ejercicio de configuración, no en un proyecto. Las pasarelas API entrantes suelen estar maduras; Los gateways de archivos salientes y eventos son la brecha común en rutas críticas.</a:t>
            </a:r>
          </a:p>
        </p:txBody>
      </p:sp>
      <p:sp>
        <p:nvSpPr>
          <p:cNvPr id="602" name="K 102"/>
          <p:cNvSpPr/>
          <p:nvPr/>
        </p:nvSpPr>
        <p:spPr>
          <a:xfrm>
            <a:off x="5836250" y="1121728"/>
            <a:ext cx="180000" cy="180000"/>
          </a:xfrm>
          <a:prstGeom prst="ellipse">
            <a:avLst/>
          </a:prstGeom>
          <a:solidFill>
            <a:srgbClr val="C00000"/>
          </a:solidFill>
          <a:ln>
            <a:noFill/>
          </a:ln>
        </p:spPr>
        <p:txBody>
          <a:bodyPr lIns="0" tIns="0" rIns="0" bIns="0" rtlCol="0" anchor="ctr"/>
          <a:lstStyle/>
          <a:p>
            <a:pPr algn="ctr"/>
            <a:r>
              <a:rPr lang="es" sz="700" b="1">
                <a:solidFill>
                  <a:srgbClr val="FFFFFF"/>
                </a:solidFill>
                <a:latin typeface="Graphik"/>
              </a:rPr>
              <a:t>K</a:t>
            </a:r>
          </a:p>
        </p:txBody>
      </p:sp>
      <p:sp>
        <p:nvSpPr>
          <p:cNvPr id="103" name="Card Security"/>
          <p:cNvSpPr/>
          <p:nvPr/>
        </p:nvSpPr>
        <p:spPr>
          <a:xfrm>
            <a:off x="6142580" y="1080000"/>
            <a:ext cx="2788920" cy="1188720"/>
          </a:xfrm>
          <a:prstGeom prst="roundRect">
            <a:avLst>
              <a:gd name="adj" fmla="val 4000"/>
            </a:avLst>
          </a:prstGeom>
          <a:solidFill>
            <a:schemeClr val="bg2"/>
          </a:solidFill>
          <a:ln w="9525">
            <a:solidFill>
              <a:srgbClr val="7500C0"/>
            </a:solidFill>
          </a:ln>
        </p:spPr>
        <p:txBody>
          <a:bodyPr lIns="90000" tIns="54000" rIns="90000" bIns="54000" rtlCol="0" anchor="t">
            <a:noAutofit/>
          </a:bodyPr>
          <a:lstStyle/>
          <a:p>
            <a:pPr marL="0" marR="300000" algn="l">
              <a:lnSpc>
                <a:spcPct val="98000"/>
              </a:lnSpc>
              <a:spcAft>
                <a:spcPts val="200"/>
              </a:spcAft>
            </a:pPr>
            <a:r>
              <a:rPr lang="es" sz="700" b="1" dirty="0">
                <a:solidFill>
                  <a:srgbClr val="7500C0"/>
                </a:solidFill>
                <a:latin typeface="Graphik"/>
              </a:rPr>
              <a:t>Seguridad</a:t>
            </a:r>
          </a:p>
          <a:p>
            <a:pPr marL="0" algn="l">
              <a:lnSpc>
                <a:spcPct val="96000"/>
              </a:lnSpc>
              <a:spcAft>
                <a:spcPts val="300"/>
              </a:spcAft>
            </a:pPr>
            <a:r>
              <a:rPr lang="es" sz="700" dirty="0">
                <a:solidFill>
                  <a:srgbClr val="1A1A1A"/>
                </a:solidFill>
                <a:latin typeface="Graphik"/>
              </a:rPr>
              <a:t>Protección de extremo a extremo de la capa de interoperabilidad: IAM, criptografía y HSM, gestión de certificados y secretos, registro de auditorías, protección contra amenazas, seguridad en contenedores y streaming.</a:t>
            </a:r>
          </a:p>
          <a:p>
            <a:pPr marL="0" algn="l"/>
            <a:r>
              <a:rPr lang="es" sz="700" b="1" dirty="0">
                <a:solidFill>
                  <a:srgbClr val="7500C0"/>
                </a:solidFill>
                <a:latin typeface="Graphik"/>
              </a:rPr>
              <a:t>La Seguridad por Propósito  </a:t>
            </a:r>
            <a:r>
              <a:rPr lang="es" sz="700" i="1" dirty="0">
                <a:solidFill>
                  <a:srgbClr val="404040"/>
                </a:solidFill>
                <a:latin typeface="Graphik"/>
              </a:rPr>
              <a:t>se hereda de la plataforma, no se recodifica por servicio, por lo que la superficie de ataque y el coste de remediación no crecen más rápido que la funcionalidad.</a:t>
            </a:r>
          </a:p>
        </p:txBody>
      </p:sp>
      <p:sp>
        <p:nvSpPr>
          <p:cNvPr id="603" name="K 103"/>
          <p:cNvSpPr/>
          <p:nvPr/>
        </p:nvSpPr>
        <p:spPr>
          <a:xfrm>
            <a:off x="8707290" y="1121728"/>
            <a:ext cx="180000" cy="180000"/>
          </a:xfrm>
          <a:prstGeom prst="ellipse">
            <a:avLst/>
          </a:prstGeom>
          <a:solidFill>
            <a:srgbClr val="C00000"/>
          </a:solidFill>
          <a:ln>
            <a:noFill/>
          </a:ln>
        </p:spPr>
        <p:txBody>
          <a:bodyPr lIns="0" tIns="0" rIns="0" bIns="0" rtlCol="0" anchor="ctr"/>
          <a:lstStyle/>
          <a:p>
            <a:pPr algn="ctr"/>
            <a:r>
              <a:rPr lang="es" sz="700" b="1">
                <a:solidFill>
                  <a:srgbClr val="FFFFFF"/>
                </a:solidFill>
                <a:latin typeface="Graphik"/>
              </a:rPr>
              <a:t>K</a:t>
            </a:r>
          </a:p>
        </p:txBody>
      </p:sp>
      <p:sp>
        <p:nvSpPr>
          <p:cNvPr id="104" name="Card Observability"/>
          <p:cNvSpPr/>
          <p:nvPr/>
        </p:nvSpPr>
        <p:spPr>
          <a:xfrm>
            <a:off x="9023080" y="1080000"/>
            <a:ext cx="2788920" cy="1188720"/>
          </a:xfrm>
          <a:prstGeom prst="roundRect">
            <a:avLst>
              <a:gd name="adj" fmla="val 4000"/>
            </a:avLst>
          </a:prstGeom>
          <a:solidFill>
            <a:schemeClr val="bg2"/>
          </a:solidFill>
          <a:ln w="9525">
            <a:solidFill>
              <a:srgbClr val="7500C0"/>
            </a:solidFill>
          </a:ln>
        </p:spPr>
        <p:txBody>
          <a:bodyPr lIns="90000" tIns="54000" rIns="90000" bIns="54000" rtlCol="0" anchor="t">
            <a:noAutofit/>
          </a:bodyPr>
          <a:lstStyle/>
          <a:p>
            <a:pPr marL="0" marR="300000" algn="l">
              <a:lnSpc>
                <a:spcPct val="98000"/>
              </a:lnSpc>
              <a:spcAft>
                <a:spcPts val="200"/>
              </a:spcAft>
            </a:pPr>
            <a:r>
              <a:rPr lang="es" sz="700" b="1">
                <a:solidFill>
                  <a:srgbClr val="7500C0"/>
                </a:solidFill>
                <a:latin typeface="Graphik"/>
              </a:rPr>
              <a:t>Observabilidad</a:t>
            </a:r>
          </a:p>
          <a:p>
            <a:pPr marL="0" algn="l">
              <a:lnSpc>
                <a:spcPct val="96000"/>
              </a:lnSpc>
              <a:spcAft>
                <a:spcPts val="300"/>
              </a:spcAft>
            </a:pPr>
            <a:r>
              <a:rPr lang="es" sz="700">
                <a:solidFill>
                  <a:srgbClr val="1A1A1A"/>
                </a:solidFill>
                <a:latin typeface="Graphik"/>
              </a:rPr>
              <a:t>Evidencia en todo el entorno: agregación de registros, rastreo distribuido, API y monitorización del estado, alertas, métricas y paneles técnicos y empresariales.</a:t>
            </a:r>
          </a:p>
          <a:p>
            <a:pPr marL="0" algn="l"/>
            <a:r>
              <a:rPr lang="es" sz="700" b="1">
                <a:solidFill>
                  <a:srgbClr val="7500C0"/>
                </a:solidFill>
                <a:latin typeface="Graphik"/>
              </a:rPr>
              <a:t>Propósito  </a:t>
            </a:r>
            <a:r>
              <a:rPr lang="es" sz="700" i="1">
                <a:solidFill>
                  <a:srgbClr val="404040"/>
                </a:solidFill>
                <a:latin typeface="Graphik"/>
              </a:rPr>
              <a:t>Restaura la verdad de extremo a extremo de una transacción que ningún sistema único tiene ahora y convierte la telemetría en una visión de riesgo y rendimiento a nivel de servicio empresarial.</a:t>
            </a:r>
          </a:p>
        </p:txBody>
      </p:sp>
      <p:sp>
        <p:nvSpPr>
          <p:cNvPr id="604" name="K 104"/>
          <p:cNvSpPr/>
          <p:nvPr/>
        </p:nvSpPr>
        <p:spPr>
          <a:xfrm>
            <a:off x="11585798" y="1121728"/>
            <a:ext cx="180000" cy="180000"/>
          </a:xfrm>
          <a:prstGeom prst="ellipse">
            <a:avLst/>
          </a:prstGeom>
          <a:solidFill>
            <a:srgbClr val="C00000"/>
          </a:solidFill>
          <a:ln>
            <a:noFill/>
          </a:ln>
        </p:spPr>
        <p:txBody>
          <a:bodyPr lIns="0" tIns="0" rIns="0" bIns="0" rtlCol="0" anchor="ctr"/>
          <a:lstStyle/>
          <a:p>
            <a:pPr algn="ctr"/>
            <a:r>
              <a:rPr lang="es" sz="700" b="1">
                <a:solidFill>
                  <a:srgbClr val="FFFFFF"/>
                </a:solidFill>
                <a:latin typeface="Graphik"/>
              </a:rPr>
              <a:t>K</a:t>
            </a:r>
          </a:p>
        </p:txBody>
      </p:sp>
      <p:sp>
        <p:nvSpPr>
          <p:cNvPr id="105" name="Card Infrastructure (Tech Stack)"/>
          <p:cNvSpPr/>
          <p:nvPr/>
        </p:nvSpPr>
        <p:spPr>
          <a:xfrm>
            <a:off x="3260500" y="2310553"/>
            <a:ext cx="2788920" cy="1188720"/>
          </a:xfrm>
          <a:prstGeom prst="roundRect">
            <a:avLst>
              <a:gd name="adj" fmla="val 4000"/>
            </a:avLst>
          </a:prstGeom>
          <a:solidFill>
            <a:schemeClr val="bg2"/>
          </a:solidFill>
          <a:ln w="9525">
            <a:solidFill>
              <a:srgbClr val="7500C0"/>
            </a:solidFill>
          </a:ln>
        </p:spPr>
        <p:txBody>
          <a:bodyPr lIns="90000" tIns="54000" rIns="90000" bIns="54000" rtlCol="0" anchor="t">
            <a:noAutofit/>
          </a:bodyPr>
          <a:lstStyle/>
          <a:p>
            <a:pPr marL="0" marR="300000" algn="l">
              <a:lnSpc>
                <a:spcPct val="98000"/>
              </a:lnSpc>
              <a:spcAft>
                <a:spcPts val="200"/>
              </a:spcAft>
            </a:pPr>
            <a:r>
              <a:rPr lang="es" sz="700" b="1" dirty="0">
                <a:solidFill>
                  <a:srgbClr val="7500C0"/>
                </a:solidFill>
                <a:latin typeface="Graphik"/>
              </a:rPr>
              <a:t>Infraestructura (Pila Tecnológica)</a:t>
            </a:r>
          </a:p>
          <a:p>
            <a:pPr marL="0" algn="l">
              <a:lnSpc>
                <a:spcPct val="96000"/>
              </a:lnSpc>
              <a:spcAft>
                <a:spcPts val="300"/>
              </a:spcAft>
            </a:pPr>
            <a:r>
              <a:rPr lang="es" sz="700" dirty="0">
                <a:solidFill>
                  <a:srgbClr val="1A1A1A"/>
                </a:solidFill>
                <a:latin typeface="Graphik"/>
              </a:rPr>
              <a:t>La base de ejecución: marco de microservicios, plataforma de contenedores y service mesh, descubrimiento, caché, automatización de configuración, despliegue y resiliencia (incluyendo ingeniería del caos).</a:t>
            </a:r>
          </a:p>
          <a:p>
            <a:pPr marL="0" algn="l"/>
            <a:r>
              <a:rPr lang="es" sz="700" b="1" dirty="0">
                <a:solidFill>
                  <a:srgbClr val="7500C0"/>
                </a:solidFill>
                <a:latin typeface="Graphik"/>
              </a:rPr>
              <a:t>Propósito  </a:t>
            </a:r>
            <a:r>
              <a:rPr lang="es" sz="700" i="1" dirty="0">
                <a:solidFill>
                  <a:srgbClr val="404040"/>
                </a:solidFill>
                <a:latin typeface="Graphik"/>
              </a:rPr>
              <a:t>Determina el coste marginal de añadir un componente. Una pila curada y gobernada proporciona agilidad en el despliegue y escala elástica, manteniendo miles de servicios gobernables por un pequeño equipo.</a:t>
            </a:r>
          </a:p>
        </p:txBody>
      </p:sp>
      <p:sp>
        <p:nvSpPr>
          <p:cNvPr id="106" name="Section Domain Capabilities"/>
          <p:cNvSpPr txBox="1"/>
          <p:nvPr/>
        </p:nvSpPr>
        <p:spPr>
          <a:xfrm>
            <a:off x="380000" y="3476846"/>
            <a:ext cx="11432000" cy="230000"/>
          </a:xfrm>
          <a:prstGeom prst="rect">
            <a:avLst/>
          </a:prstGeom>
        </p:spPr>
        <p:txBody>
          <a:bodyPr lIns="0" tIns="0" rIns="0" bIns="0" anchor="ctr"/>
          <a:lstStyle/>
          <a:p>
            <a:pPr algn="l"/>
            <a:r>
              <a:rPr lang="es" sz="1200" b="1">
                <a:solidFill>
                  <a:srgbClr val="000000"/>
                </a:solidFill>
                <a:latin typeface="Graphik"/>
              </a:rPr>
              <a:t>Capacidades del dominio</a:t>
            </a:r>
          </a:p>
        </p:txBody>
      </p:sp>
      <p:sp>
        <p:nvSpPr>
          <p:cNvPr id="107" name="Card Service Orchestration"/>
          <p:cNvSpPr/>
          <p:nvPr/>
        </p:nvSpPr>
        <p:spPr>
          <a:xfrm>
            <a:off x="380000" y="3692396"/>
            <a:ext cx="2790500" cy="1343000"/>
          </a:xfrm>
          <a:prstGeom prst="roundRect">
            <a:avLst>
              <a:gd name="adj" fmla="val 4000"/>
            </a:avLst>
          </a:prstGeom>
          <a:solidFill>
            <a:schemeClr val="bg2"/>
          </a:solidFill>
          <a:ln w="9525">
            <a:solidFill>
              <a:srgbClr val="7500C0"/>
            </a:solidFill>
          </a:ln>
        </p:spPr>
        <p:txBody>
          <a:bodyPr lIns="90000" tIns="54000" rIns="90000" bIns="54000" rtlCol="0" anchor="t">
            <a:noAutofit/>
          </a:bodyPr>
          <a:lstStyle/>
          <a:p>
            <a:pPr marL="0" marR="0" algn="l">
              <a:lnSpc>
                <a:spcPct val="98000"/>
              </a:lnSpc>
              <a:spcAft>
                <a:spcPts val="200"/>
              </a:spcAft>
            </a:pPr>
            <a:r>
              <a:rPr lang="es" sz="700" b="1" dirty="0">
                <a:solidFill>
                  <a:srgbClr val="7500C0"/>
                </a:solidFill>
                <a:latin typeface="Graphik"/>
              </a:rPr>
              <a:t>Orquestación de Servicio</a:t>
            </a:r>
          </a:p>
          <a:p>
            <a:pPr marL="0" algn="l">
              <a:lnSpc>
                <a:spcPct val="96000"/>
              </a:lnSpc>
              <a:spcAft>
                <a:spcPts val="300"/>
              </a:spcAft>
            </a:pPr>
            <a:r>
              <a:rPr lang="es" sz="700" dirty="0">
                <a:solidFill>
                  <a:srgbClr val="1A1A1A"/>
                </a:solidFill>
                <a:latin typeface="Graphik"/>
              </a:rPr>
              <a:t>Composición de servicios de grano fino en servicios empresariales complejos a través de plataformas heterogéneas, sincronización o asincrónico — marco de integración, orquestador, adaptadores heredados, gestión de contexto.</a:t>
            </a:r>
          </a:p>
          <a:p>
            <a:pPr marL="0" algn="l"/>
            <a:r>
              <a:rPr lang="es" sz="700" b="1" dirty="0">
                <a:solidFill>
                  <a:srgbClr val="7500C0"/>
                </a:solidFill>
                <a:latin typeface="Graphik"/>
              </a:rPr>
              <a:t>Propósito  </a:t>
            </a:r>
            <a:r>
              <a:rPr lang="es" sz="700" i="1" dirty="0">
                <a:solidFill>
                  <a:srgbClr val="404040"/>
                </a:solidFill>
                <a:latin typeface="Graphik"/>
              </a:rPr>
              <a:t>Hace que la mejor coexistencia sea ejecutable: un servicio abarca el núcleo de próxima generación, el procesador SaaS y el mainframe de forma invisible. Normalmente la mayor ganancia de productividad y la condición previa para retirar middleware heredado.</a:t>
            </a:r>
          </a:p>
        </p:txBody>
      </p:sp>
      <p:sp>
        <p:nvSpPr>
          <p:cNvPr id="108" name="Card Process Orchestration"/>
          <p:cNvSpPr/>
          <p:nvPr/>
        </p:nvSpPr>
        <p:spPr>
          <a:xfrm>
            <a:off x="3260500" y="3692396"/>
            <a:ext cx="2790500" cy="1343000"/>
          </a:xfrm>
          <a:prstGeom prst="roundRect">
            <a:avLst>
              <a:gd name="adj" fmla="val 4000"/>
            </a:avLst>
          </a:prstGeom>
          <a:solidFill>
            <a:schemeClr val="bg2"/>
          </a:solidFill>
          <a:ln w="9525">
            <a:solidFill>
              <a:srgbClr val="7500C0"/>
            </a:solidFill>
          </a:ln>
        </p:spPr>
        <p:txBody>
          <a:bodyPr lIns="90000" tIns="54000" rIns="90000" bIns="54000" rtlCol="0" anchor="t">
            <a:normAutofit/>
          </a:bodyPr>
          <a:lstStyle/>
          <a:p>
            <a:pPr marL="0" marR="0" algn="l">
              <a:lnSpc>
                <a:spcPct val="98000"/>
              </a:lnSpc>
              <a:spcAft>
                <a:spcPts val="200"/>
              </a:spcAft>
            </a:pPr>
            <a:r>
              <a:rPr lang="es" sz="700" b="1" dirty="0">
                <a:solidFill>
                  <a:srgbClr val="7500C0"/>
                </a:solidFill>
                <a:latin typeface="Graphik"/>
              </a:rPr>
              <a:t>Orquestación de procesos</a:t>
            </a:r>
          </a:p>
          <a:p>
            <a:pPr marL="0" algn="l">
              <a:lnSpc>
                <a:spcPct val="96000"/>
              </a:lnSpc>
              <a:spcAft>
                <a:spcPts val="300"/>
              </a:spcAft>
            </a:pPr>
            <a:r>
              <a:rPr lang="es" sz="700" dirty="0">
                <a:solidFill>
                  <a:srgbClr val="1A1A1A"/>
                </a:solidFill>
                <a:latin typeface="Graphik"/>
              </a:rPr>
              <a:t>Flujos humanos y de sistema de larga duración — flujo de trabajo, aprobaciones, listas de tareas, gestión de estados y reglas — en motores de flujo de trabajo ligeros en lugar de BPM empresarial pesado.</a:t>
            </a:r>
          </a:p>
          <a:p>
            <a:pPr marL="0" algn="l"/>
            <a:r>
              <a:rPr lang="es" sz="700" b="1" dirty="0">
                <a:solidFill>
                  <a:srgbClr val="7500C0"/>
                </a:solidFill>
                <a:latin typeface="Graphik"/>
              </a:rPr>
              <a:t>Propósito  </a:t>
            </a:r>
            <a:r>
              <a:rPr lang="es" sz="700" i="1" dirty="0">
                <a:solidFill>
                  <a:srgbClr val="404040"/>
                </a:solidFill>
                <a:latin typeface="Graphik"/>
              </a:rPr>
              <a:t>Separa el flujo técnico de milisegundos del flujo de negocio de varios días, haciendo que los journeys, los controles de cuatro ojos y la gestión de excepciones sean portátiles entre productos y canales.</a:t>
            </a:r>
          </a:p>
        </p:txBody>
      </p:sp>
      <p:sp>
        <p:nvSpPr>
          <p:cNvPr id="109" name="Card Distributed Transactions"/>
          <p:cNvSpPr/>
          <p:nvPr/>
        </p:nvSpPr>
        <p:spPr>
          <a:xfrm>
            <a:off x="6141000" y="3682494"/>
            <a:ext cx="2790500" cy="1343000"/>
          </a:xfrm>
          <a:prstGeom prst="roundRect">
            <a:avLst>
              <a:gd name="adj" fmla="val 4000"/>
            </a:avLst>
          </a:prstGeom>
          <a:solidFill>
            <a:schemeClr val="bg2"/>
          </a:solidFill>
          <a:ln w="9525">
            <a:solidFill>
              <a:srgbClr val="7500C0"/>
            </a:solidFill>
          </a:ln>
        </p:spPr>
        <p:txBody>
          <a:bodyPr lIns="90000" tIns="54000" rIns="90000" bIns="54000" rtlCol="0" anchor="t">
            <a:normAutofit/>
          </a:bodyPr>
          <a:lstStyle/>
          <a:p>
            <a:pPr marL="0" marR="0" algn="l">
              <a:lnSpc>
                <a:spcPct val="98000"/>
              </a:lnSpc>
              <a:spcAft>
                <a:spcPts val="200"/>
              </a:spcAft>
            </a:pPr>
            <a:r>
              <a:rPr lang="es" sz="700" b="1">
                <a:solidFill>
                  <a:srgbClr val="7500C0"/>
                </a:solidFill>
                <a:latin typeface="Graphik"/>
              </a:rPr>
              <a:t>Transacciones distribuidas</a:t>
            </a:r>
          </a:p>
          <a:p>
            <a:pPr marL="0" algn="l">
              <a:lnSpc>
                <a:spcPct val="96000"/>
              </a:lnSpc>
              <a:spcAft>
                <a:spcPts val="300"/>
              </a:spcAft>
            </a:pPr>
            <a:r>
              <a:rPr lang="es" sz="700">
                <a:solidFill>
                  <a:srgbClr val="1A1A1A"/>
                </a:solidFill>
                <a:latin typeface="Graphik"/>
              </a:rPr>
              <a:t>Atomicidad y consistencia entre servicios y almacenes de datos: 2PC cuando sea posible, Saga/compensación cuando no; Coordinador, Bandeja de Salida/Entrada, Tienda y Reenvío, Administración Online.</a:t>
            </a:r>
          </a:p>
          <a:p>
            <a:pPr marL="0" algn="l"/>
            <a:r>
              <a:rPr lang="es" sz="700" b="1">
                <a:solidFill>
                  <a:srgbClr val="7500C0"/>
                </a:solidFill>
                <a:latin typeface="Graphik"/>
              </a:rPr>
              <a:t>Propósito  </a:t>
            </a:r>
            <a:r>
              <a:rPr lang="es" sz="700" i="1">
                <a:solidFill>
                  <a:srgbClr val="404040"/>
                </a:solidFill>
                <a:latin typeface="Graphik"/>
              </a:rPr>
              <a:t>: No negociable para la banca. Proporciona el marco y las herramientas para reintentar, revertir e informar; Almacenar y reenviar añade continuidad cuando un host está caído y para acciones con fecha futura.</a:t>
            </a:r>
          </a:p>
        </p:txBody>
      </p:sp>
      <p:sp>
        <p:nvSpPr>
          <p:cNvPr id="110" name="Card Event Processing &amp; Reactive Components"/>
          <p:cNvSpPr/>
          <p:nvPr/>
        </p:nvSpPr>
        <p:spPr>
          <a:xfrm>
            <a:off x="9021500" y="3682494"/>
            <a:ext cx="2790500" cy="1343000"/>
          </a:xfrm>
          <a:prstGeom prst="roundRect">
            <a:avLst>
              <a:gd name="adj" fmla="val 4000"/>
            </a:avLst>
          </a:prstGeom>
          <a:solidFill>
            <a:schemeClr val="bg2"/>
          </a:solidFill>
          <a:ln w="9525">
            <a:solidFill>
              <a:srgbClr val="7500C0"/>
            </a:solidFill>
          </a:ln>
        </p:spPr>
        <p:txBody>
          <a:bodyPr lIns="90000" tIns="54000" rIns="90000" bIns="54000" rtlCol="0" anchor="t">
            <a:normAutofit/>
          </a:bodyPr>
          <a:lstStyle/>
          <a:p>
            <a:pPr marL="0" marR="0" algn="l">
              <a:lnSpc>
                <a:spcPct val="98000"/>
              </a:lnSpc>
              <a:spcAft>
                <a:spcPts val="200"/>
              </a:spcAft>
            </a:pPr>
            <a:r>
              <a:rPr lang="es" sz="700" b="1">
                <a:solidFill>
                  <a:srgbClr val="7500C0"/>
                </a:solidFill>
                <a:latin typeface="Graphik"/>
              </a:rPr>
              <a:t>Procesamiento de eventos y componentes reactivos</a:t>
            </a:r>
          </a:p>
          <a:p>
            <a:pPr marL="0" algn="l">
              <a:lnSpc>
                <a:spcPct val="96000"/>
              </a:lnSpc>
              <a:spcAft>
                <a:spcPts val="300"/>
              </a:spcAft>
            </a:pPr>
            <a:r>
              <a:rPr lang="es" sz="700">
                <a:solidFill>
                  <a:srgbClr val="1A1A1A"/>
                </a:solidFill>
                <a:latin typeface="Graphik"/>
              </a:rPr>
              <a:t>La columna vertebral asíncrona: mensajería y transmisión de eventos, registros de eventos y eventos canónicos, entrega garantizada, malla de eventos, búsqueda de eventos, CEP, CQRS.</a:t>
            </a:r>
          </a:p>
          <a:p>
            <a:pPr marL="0" algn="l"/>
            <a:r>
              <a:rPr lang="es" sz="700" b="1">
                <a:solidFill>
                  <a:srgbClr val="7500C0"/>
                </a:solidFill>
                <a:latin typeface="Graphik"/>
              </a:rPr>
              <a:t>Propósito  </a:t>
            </a:r>
            <a:r>
              <a:rPr lang="es" sz="700" i="1">
                <a:solidFill>
                  <a:srgbClr val="404040"/>
                </a:solidFill>
                <a:latin typeface="Graphik"/>
              </a:rPr>
              <a:t>Permite que los sistemas interoperen sin conocerse entre sí — el desacoplamiento más profundo. Mayor inversión en reutilización; CQRS/CDC es la palanca inicial más barata para descargar el mainframe sin cambiar el núcleo.</a:t>
            </a:r>
          </a:p>
        </p:txBody>
      </p:sp>
      <p:sp>
        <p:nvSpPr>
          <p:cNvPr id="111" name="Card Omnichannel &amp; Caching Components"/>
          <p:cNvSpPr/>
          <p:nvPr/>
        </p:nvSpPr>
        <p:spPr>
          <a:xfrm>
            <a:off x="380000" y="5096796"/>
            <a:ext cx="2790500" cy="1343000"/>
          </a:xfrm>
          <a:prstGeom prst="roundRect">
            <a:avLst>
              <a:gd name="adj" fmla="val 4000"/>
            </a:avLst>
          </a:prstGeom>
          <a:solidFill>
            <a:schemeClr val="bg2"/>
          </a:solidFill>
          <a:ln w="9525">
            <a:solidFill>
              <a:srgbClr val="7500C0"/>
            </a:solidFill>
          </a:ln>
        </p:spPr>
        <p:txBody>
          <a:bodyPr lIns="90000" tIns="54000" rIns="90000" bIns="54000" rtlCol="0" anchor="t">
            <a:normAutofit/>
          </a:bodyPr>
          <a:lstStyle/>
          <a:p>
            <a:pPr marL="0" marR="0" algn="l">
              <a:lnSpc>
                <a:spcPct val="98000"/>
              </a:lnSpc>
              <a:spcAft>
                <a:spcPts val="200"/>
              </a:spcAft>
            </a:pPr>
            <a:r>
              <a:rPr lang="es" sz="700" b="1" dirty="0">
                <a:solidFill>
                  <a:srgbClr val="7500C0"/>
                </a:solidFill>
                <a:latin typeface="Graphik"/>
              </a:rPr>
              <a:t>Omnicanal y componentes de caché</a:t>
            </a:r>
          </a:p>
          <a:p>
            <a:pPr marL="0" algn="l">
              <a:lnSpc>
                <a:spcPct val="96000"/>
              </a:lnSpc>
              <a:spcAft>
                <a:spcPts val="300"/>
              </a:spcAft>
            </a:pPr>
            <a:r>
              <a:rPr lang="es" sz="700" dirty="0">
                <a:solidFill>
                  <a:srgbClr val="1A1A1A"/>
                </a:solidFill>
                <a:latin typeface="Graphik"/>
              </a:rPr>
              <a:t>Gestión y acceso a datos omnicanal, caché de transacciones, replicación de sesiones y estado de sesión entre dominios, caché y componentes CDN.</a:t>
            </a:r>
          </a:p>
          <a:p>
            <a:pPr marL="0" algn="l"/>
            <a:r>
              <a:rPr lang="es" sz="700" b="1" dirty="0">
                <a:solidFill>
                  <a:srgbClr val="7500C0"/>
                </a:solidFill>
                <a:latin typeface="Graphik"/>
              </a:rPr>
              <a:t>Propósito  </a:t>
            </a:r>
            <a:r>
              <a:rPr lang="es" sz="700" i="1" dirty="0">
                <a:solidFill>
                  <a:srgbClr val="404040"/>
                </a:solidFill>
                <a:latin typeface="Graphik"/>
              </a:rPr>
              <a:t>Mantiene el contexto multicanal para que el journey se reanude en otro canal y se sirva con una latencia que el núcleo no puede cumplir — reduciendo el abandono y añadiendo continuidad cuando un backend está caído.</a:t>
            </a:r>
          </a:p>
        </p:txBody>
      </p:sp>
      <p:sp>
        <p:nvSpPr>
          <p:cNvPr id="112" name="Card Data Delivery"/>
          <p:cNvSpPr/>
          <p:nvPr/>
        </p:nvSpPr>
        <p:spPr>
          <a:xfrm>
            <a:off x="3260500" y="5096796"/>
            <a:ext cx="2790500" cy="1343000"/>
          </a:xfrm>
          <a:prstGeom prst="roundRect">
            <a:avLst>
              <a:gd name="adj" fmla="val 4000"/>
            </a:avLst>
          </a:prstGeom>
          <a:solidFill>
            <a:schemeClr val="bg2"/>
          </a:solidFill>
          <a:ln w="9525">
            <a:solidFill>
              <a:srgbClr val="7500C0"/>
            </a:solidFill>
          </a:ln>
        </p:spPr>
        <p:txBody>
          <a:bodyPr lIns="90000" tIns="54000" rIns="90000" bIns="54000" rtlCol="0" anchor="t">
            <a:normAutofit/>
          </a:bodyPr>
          <a:lstStyle/>
          <a:p>
            <a:pPr marL="0" marR="0" algn="l">
              <a:lnSpc>
                <a:spcPct val="98000"/>
              </a:lnSpc>
              <a:spcAft>
                <a:spcPts val="200"/>
              </a:spcAft>
            </a:pPr>
            <a:r>
              <a:rPr lang="es" sz="700" b="1">
                <a:solidFill>
                  <a:srgbClr val="7500C0"/>
                </a:solidFill>
                <a:latin typeface="Graphik"/>
              </a:rPr>
              <a:t>Entrega de datos</a:t>
            </a:r>
          </a:p>
          <a:p>
            <a:pPr marL="0" algn="l">
              <a:lnSpc>
                <a:spcPct val="96000"/>
              </a:lnSpc>
              <a:spcAft>
                <a:spcPts val="300"/>
              </a:spcAft>
            </a:pPr>
            <a:r>
              <a:rPr lang="es" sz="700">
                <a:solidFill>
                  <a:srgbClr val="1A1A1A"/>
                </a:solidFill>
                <a:latin typeface="Graphik"/>
              </a:rPr>
              <a:t>Catálogo y modelado de datos (catálogo, metadatos, linaje, calidad, gobernanza) además de canalizaciones y entrega de datos (lote/stream, CDC, virtualización, ODS, multivelocidad).</a:t>
            </a:r>
          </a:p>
          <a:p>
            <a:pPr marL="0" algn="l"/>
            <a:r>
              <a:rPr lang="es" sz="700" b="1">
                <a:solidFill>
                  <a:srgbClr val="7500C0"/>
                </a:solidFill>
                <a:latin typeface="Graphik"/>
              </a:rPr>
              <a:t>Propósito  </a:t>
            </a:r>
            <a:r>
              <a:rPr lang="es" sz="700" i="1">
                <a:solidFill>
                  <a:srgbClr val="404040"/>
                </a:solidFill>
                <a:latin typeface="Graphik"/>
              </a:rPr>
              <a:t>Proporciona una vista agregada multinúcleo estandarizada en tiempo real para que los consumidores usen "los datos del banco", no "los datos del núcleo", eliminando así el acceso directo a aplicaciones y el bloqueo de un solo núcleo.</a:t>
            </a:r>
          </a:p>
        </p:txBody>
      </p:sp>
      <p:sp>
        <p:nvSpPr>
          <p:cNvPr id="113" name="Card Operations"/>
          <p:cNvSpPr/>
          <p:nvPr/>
        </p:nvSpPr>
        <p:spPr>
          <a:xfrm>
            <a:off x="380000" y="2310553"/>
            <a:ext cx="2790500" cy="1188720"/>
          </a:xfrm>
          <a:prstGeom prst="roundRect">
            <a:avLst>
              <a:gd name="adj" fmla="val 4000"/>
            </a:avLst>
          </a:prstGeom>
          <a:solidFill>
            <a:schemeClr val="bg2"/>
          </a:solidFill>
          <a:ln w="9525">
            <a:solidFill>
              <a:srgbClr val="7500C0"/>
            </a:solidFill>
          </a:ln>
        </p:spPr>
        <p:txBody>
          <a:bodyPr lIns="90000" tIns="54000" rIns="90000" bIns="54000" rtlCol="0" anchor="t">
            <a:noAutofit/>
          </a:bodyPr>
          <a:lstStyle/>
          <a:p>
            <a:pPr marL="0" marR="0" algn="l">
              <a:lnSpc>
                <a:spcPct val="98000"/>
              </a:lnSpc>
              <a:spcAft>
                <a:spcPts val="200"/>
              </a:spcAft>
            </a:pPr>
            <a:r>
              <a:rPr lang="es" sz="700" b="1" dirty="0">
                <a:solidFill>
                  <a:srgbClr val="7500C0"/>
                </a:solidFill>
                <a:latin typeface="Graphik"/>
              </a:rPr>
              <a:t>Operaciones</a:t>
            </a:r>
          </a:p>
          <a:p>
            <a:pPr marL="0" algn="l">
              <a:lnSpc>
                <a:spcPct val="96000"/>
              </a:lnSpc>
              <a:spcAft>
                <a:spcPts val="300"/>
              </a:spcAft>
            </a:pPr>
            <a:r>
              <a:rPr lang="es-ES" sz="700" dirty="0"/>
              <a:t>Primitivas de tiempo de ejecución transversales</a:t>
            </a:r>
            <a:r>
              <a:rPr lang="es" sz="700" dirty="0">
                <a:solidFill>
                  <a:srgbClr val="1A1A1A"/>
                </a:solidFill>
                <a:latin typeface="Graphik"/>
              </a:rPr>
              <a:t>: operaciones de folio, feature flags, servicios UUID/correlación distribuidos y las consolas de administración de la capa.</a:t>
            </a:r>
          </a:p>
          <a:p>
            <a:pPr marL="0" algn="l"/>
            <a:r>
              <a:rPr lang="es" sz="700" b="1" dirty="0">
                <a:solidFill>
                  <a:srgbClr val="7500C0"/>
                </a:solidFill>
                <a:latin typeface="Graphik"/>
              </a:rPr>
              <a:t>Propósito  </a:t>
            </a:r>
            <a:r>
              <a:rPr lang="es" sz="700" i="1" dirty="0">
                <a:solidFill>
                  <a:srgbClr val="404040"/>
                </a:solidFill>
                <a:latin typeface="Graphik"/>
              </a:rPr>
              <a:t>Capacidad pequeña, apalancamiento desproporcionado — features flag y UUIDs distribuidos hacen posible una migración incremental y reversible: enruta un porcentaje del tráfico, rastrearlo, revertir sin liberación.</a:t>
            </a:r>
          </a:p>
        </p:txBody>
      </p:sp>
      <p:sp>
        <p:nvSpPr>
          <p:cNvPr id="114" name="Card Common Business Services"/>
          <p:cNvSpPr/>
          <p:nvPr/>
        </p:nvSpPr>
        <p:spPr>
          <a:xfrm>
            <a:off x="6141000" y="5096796"/>
            <a:ext cx="2790500" cy="1343000"/>
          </a:xfrm>
          <a:prstGeom prst="roundRect">
            <a:avLst>
              <a:gd name="adj" fmla="val 4000"/>
            </a:avLst>
          </a:prstGeom>
          <a:solidFill>
            <a:schemeClr val="bg2"/>
          </a:solidFill>
          <a:ln w="9525">
            <a:solidFill>
              <a:srgbClr val="7500C0"/>
            </a:solidFill>
          </a:ln>
        </p:spPr>
        <p:txBody>
          <a:bodyPr lIns="90000" tIns="54000" rIns="90000" bIns="54000" rtlCol="0" anchor="t">
            <a:noAutofit/>
          </a:bodyPr>
          <a:lstStyle/>
          <a:p>
            <a:pPr marL="0" marR="0" algn="l">
              <a:lnSpc>
                <a:spcPct val="98000"/>
              </a:lnSpc>
              <a:spcAft>
                <a:spcPts val="200"/>
              </a:spcAft>
            </a:pPr>
            <a:r>
              <a:rPr lang="es" sz="700" b="1" dirty="0">
                <a:solidFill>
                  <a:srgbClr val="7500C0"/>
                </a:solidFill>
                <a:latin typeface="Graphik"/>
              </a:rPr>
              <a:t>Servicios Empresariales Comunes</a:t>
            </a:r>
          </a:p>
          <a:p>
            <a:pPr marL="0" algn="l">
              <a:lnSpc>
                <a:spcPct val="96000"/>
              </a:lnSpc>
              <a:spcAft>
                <a:spcPts val="300"/>
              </a:spcAft>
            </a:pPr>
            <a:r>
              <a:rPr lang="es" sz="700" dirty="0">
                <a:solidFill>
                  <a:srgbClr val="1A1A1A"/>
                </a:solidFill>
                <a:latin typeface="Graphik"/>
              </a:rPr>
              <a:t>Servicios empresariales horizontales estandarizados y reutilizables — datos de clientes, catálogo de productos, tarifas/precios, límites, divisas, contabilidad, documentos, pagos, puntuación de riesgos, aprobaciones.</a:t>
            </a:r>
          </a:p>
          <a:p>
            <a:pPr marL="0" algn="l"/>
            <a:r>
              <a:rPr lang="es" sz="700" b="1" dirty="0">
                <a:solidFill>
                  <a:srgbClr val="7500C0"/>
                </a:solidFill>
                <a:latin typeface="Graphik"/>
              </a:rPr>
              <a:t>Propósito  </a:t>
            </a:r>
            <a:r>
              <a:rPr lang="es" sz="700" i="1" dirty="0">
                <a:solidFill>
                  <a:srgbClr val="404040"/>
                </a:solidFill>
                <a:latin typeface="Graphik"/>
              </a:rPr>
              <a:t>Convierte la interoperabilidad en coexistencia estructural: convertir funciones entre productos en servicios compartidos reduce el riesgo de reemplazo de núcleos y impide reimplementar la misma lógica por producto.</a:t>
            </a:r>
          </a:p>
        </p:txBody>
      </p:sp>
      <p:sp>
        <p:nvSpPr>
          <p:cNvPr id="6" name="K 103">
            <a:extLst>
              <a:ext uri="{FF2B5EF4-FFF2-40B4-BE49-F238E27FC236}">
                <a16:creationId xmlns:a16="http://schemas.microsoft.com/office/drawing/2014/main" id="{FB341AF8-16A4-FF9C-78B5-A4CD3B5AC7BE}"/>
              </a:ext>
            </a:extLst>
          </p:cNvPr>
          <p:cNvSpPr/>
          <p:nvPr/>
        </p:nvSpPr>
        <p:spPr>
          <a:xfrm>
            <a:off x="2964622" y="2352891"/>
            <a:ext cx="180000" cy="180000"/>
          </a:xfrm>
          <a:prstGeom prst="ellipse">
            <a:avLst/>
          </a:prstGeom>
          <a:solidFill>
            <a:srgbClr val="C00000"/>
          </a:solidFill>
          <a:ln>
            <a:noFill/>
          </a:ln>
        </p:spPr>
        <p:txBody>
          <a:bodyPr lIns="0" tIns="0" rIns="0" bIns="0" rtlCol="0" anchor="ctr"/>
          <a:lstStyle/>
          <a:p>
            <a:pPr algn="ctr"/>
            <a:r>
              <a:rPr lang="es" sz="700" b="1">
                <a:solidFill>
                  <a:srgbClr val="FFFFFF"/>
                </a:solidFill>
                <a:latin typeface="Graphik"/>
              </a:rPr>
              <a:t>K</a:t>
            </a:r>
          </a:p>
        </p:txBody>
      </p:sp>
      <p:sp>
        <p:nvSpPr>
          <p:cNvPr id="9" name="K 103">
            <a:extLst>
              <a:ext uri="{FF2B5EF4-FFF2-40B4-BE49-F238E27FC236}">
                <a16:creationId xmlns:a16="http://schemas.microsoft.com/office/drawing/2014/main" id="{9EC9F281-3ABC-2465-0517-6946FB46C289}"/>
              </a:ext>
            </a:extLst>
          </p:cNvPr>
          <p:cNvSpPr/>
          <p:nvPr/>
        </p:nvSpPr>
        <p:spPr>
          <a:xfrm>
            <a:off x="5836250" y="2352891"/>
            <a:ext cx="180000" cy="180000"/>
          </a:xfrm>
          <a:prstGeom prst="ellipse">
            <a:avLst/>
          </a:prstGeom>
          <a:solidFill>
            <a:srgbClr val="C00000"/>
          </a:solidFill>
          <a:ln>
            <a:noFill/>
          </a:ln>
        </p:spPr>
        <p:txBody>
          <a:bodyPr lIns="0" tIns="0" rIns="0" bIns="0" rtlCol="0" anchor="ctr"/>
          <a:lstStyle/>
          <a:p>
            <a:pPr algn="ctr"/>
            <a:r>
              <a:rPr lang="es" sz="700" b="1">
                <a:solidFill>
                  <a:srgbClr val="FFFFFF"/>
                </a:solidFill>
                <a:latin typeface="Graphik"/>
              </a:rPr>
              <a:t>K</a:t>
            </a:r>
          </a:p>
        </p:txBody>
      </p:sp>
      <p:sp>
        <p:nvSpPr>
          <p:cNvPr id="5" name="TextBox 4">
            <a:extLst>
              <a:ext uri="{FF2B5EF4-FFF2-40B4-BE49-F238E27FC236}">
                <a16:creationId xmlns:a16="http://schemas.microsoft.com/office/drawing/2014/main" id="{D1438A92-E251-4AEB-F268-663AFC1C891D}"/>
              </a:ext>
            </a:extLst>
          </p:cNvPr>
          <p:cNvSpPr txBox="1"/>
          <p:nvPr>
            <p:extLst>
              <p:ext uri="{1162E1C5-73C7-4A58-AE30-91384D911F3F}">
                <p184:classification xmlns:p184="http://schemas.microsoft.com/office/powerpoint/2018/4/main" val="hdr"/>
              </p:ext>
            </p:extLst>
          </p:nvPr>
        </p:nvSpPr>
        <p:spPr>
          <a:xfrm>
            <a:off x="379000" y="78170"/>
            <a:ext cx="11432000" cy="154830"/>
          </a:xfrm>
          <a:prstGeom prst="rect">
            <a:avLst/>
          </a:prstGeom>
        </p:spPr>
        <p:txBody>
          <a:bodyPr horzOverflow="overflow"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000" b="0" i="0" u="none" strike="noStrike" kern="1200" cap="none" spc="0" normalizeH="0" baseline="0" noProof="0">
                <a:ln>
                  <a:noFill/>
                </a:ln>
                <a:solidFill>
                  <a:srgbClr val="000000"/>
                </a:solidFill>
                <a:effectLst/>
                <a:uLnTx/>
                <a:uFillTx/>
                <a:latin typeface="Graphik (Body)"/>
                <a:ea typeface="+mn-ea"/>
                <a:cs typeface="Calibri" panose="020F0502020204030204" pitchFamily="34" charset="0"/>
              </a:rPr>
              <a:t>*** Confidencial - Solo para uso interno de la empresa ***</a:t>
            </a:r>
          </a:p>
        </p:txBody>
      </p:sp>
    </p:spTree>
    <p:extLst>
      <p:ext uri="{BB962C8B-B14F-4D97-AF65-F5344CB8AC3E}">
        <p14:creationId xmlns:p14="http://schemas.microsoft.com/office/powerpoint/2010/main" val="33501617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BEB98F-D643-E505-B397-39441E3009A3}"/>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CB0098E1-D70D-0F5E-4CBF-1197AC4207FA}"/>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alpha val="65000"/>
                  </a:srgbClr>
                </a:solidFill>
                <a:effectLst/>
                <a:uLnTx/>
                <a:uFillTx/>
                <a:latin typeface="Graphik"/>
                <a:ea typeface="+mn-ea"/>
                <a:cs typeface="+mn-cs"/>
              </a:rPr>
              <a:t>Copyright © 2026 Accenture. Todos los derechos reservados.</a:t>
            </a:r>
          </a:p>
        </p:txBody>
      </p:sp>
      <p:sp>
        <p:nvSpPr>
          <p:cNvPr id="4" name="Slide Number Placeholder 3">
            <a:extLst>
              <a:ext uri="{FF2B5EF4-FFF2-40B4-BE49-F238E27FC236}">
                <a16:creationId xmlns:a16="http://schemas.microsoft.com/office/drawing/2014/main" id="{30FC5D81-7ED7-3966-F0AF-36DCB461A925}"/>
              </a:ext>
            </a:extLst>
          </p:cNvPr>
          <p:cNvSpPr>
            <a:spLocks noGrp="1"/>
          </p:cNvSpPr>
          <p:nvPr>
            <p:ph type="sldNum" sz="quarter" idx="429496729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Graphik"/>
                <a:ea typeface="+mn-ea"/>
                <a:cs typeface="+mn-cs"/>
              </a:rPr>
              <a:t> </a:t>
            </a:r>
          </a:p>
        </p:txBody>
      </p:sp>
      <p:sp>
        <p:nvSpPr>
          <p:cNvPr id="23" name="Title 1">
            <a:extLst>
              <a:ext uri="{FF2B5EF4-FFF2-40B4-BE49-F238E27FC236}">
                <a16:creationId xmlns:a16="http://schemas.microsoft.com/office/drawing/2014/main" id="{721367F5-B95A-3B63-E9EC-7C0BCE1EE9AD}"/>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a:ln>
                  <a:noFill/>
                </a:ln>
                <a:solidFill>
                  <a:srgbClr val="7500C0"/>
                </a:solidFill>
                <a:effectLst/>
                <a:uLnTx/>
                <a:uFillTx/>
                <a:latin typeface="Graphik"/>
                <a:ea typeface="+mj-ea"/>
                <a:cs typeface="+mj-cs"/>
              </a:rPr>
              <a:t>Arquitectura de Interoperabilidad </a:t>
            </a:r>
            <a:r>
              <a:rPr kumimoji="0" lang="es" sz="2400" b="1" i="0" u="none" strike="noStrike" kern="1200" cap="none" spc="0" normalizeH="0" baseline="0" noProof="0">
                <a:ln>
                  <a:noFill/>
                </a:ln>
                <a:solidFill>
                  <a:srgbClr val="000000"/>
                </a:solidFill>
                <a:effectLst/>
                <a:uLnTx/>
                <a:uFillTx/>
                <a:latin typeface="Graphik"/>
                <a:ea typeface="+mj-ea"/>
                <a:cs typeface="+mj-cs"/>
              </a:rPr>
              <a:t>| </a:t>
            </a:r>
            <a:r>
              <a:rPr kumimoji="0" lang="es" sz="2000" b="1" i="0" u="none" strike="noStrike" kern="1200" cap="none" spc="0" normalizeH="0" baseline="0" noProof="0">
                <a:ln>
                  <a:noFill/>
                </a:ln>
                <a:solidFill>
                  <a:srgbClr val="000000"/>
                </a:solidFill>
                <a:effectLst/>
                <a:uLnTx/>
                <a:uFillTx/>
                <a:latin typeface="Graphik"/>
                <a:ea typeface="+mj-ea"/>
                <a:cs typeface="+mj-cs"/>
              </a:rPr>
              <a:t>Mapa de capacidades Nivel 0</a:t>
            </a:r>
            <a:endParaRPr kumimoji="0" lang="es" sz="2400" b="1" i="0" u="none" strike="noStrike" kern="1200" cap="none" spc="0" normalizeH="0" baseline="0" noProof="0">
              <a:ln>
                <a:noFill/>
              </a:ln>
              <a:solidFill>
                <a:srgbClr val="000000"/>
              </a:solidFill>
              <a:effectLst/>
              <a:uLnTx/>
              <a:uFillTx/>
              <a:latin typeface="Graphik"/>
              <a:ea typeface="+mj-ea"/>
              <a:cs typeface="+mj-cs"/>
            </a:endParaRPr>
          </a:p>
        </p:txBody>
      </p:sp>
      <p:sp>
        <p:nvSpPr>
          <p:cNvPr id="25" name="Rectangle 24">
            <a:extLst>
              <a:ext uri="{FF2B5EF4-FFF2-40B4-BE49-F238E27FC236}">
                <a16:creationId xmlns:a16="http://schemas.microsoft.com/office/drawing/2014/main" id="{913C497A-B0E7-49E0-0CBC-F450A87AAC5F}"/>
              </a:ext>
            </a:extLst>
          </p:cNvPr>
          <p:cNvSpPr/>
          <p:nvPr/>
        </p:nvSpPr>
        <p:spPr>
          <a:xfrm>
            <a:off x="699575" y="944591"/>
            <a:ext cx="1080000" cy="5222888"/>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Seguridad</a:t>
            </a:r>
          </a:p>
        </p:txBody>
      </p:sp>
      <p:sp>
        <p:nvSpPr>
          <p:cNvPr id="26" name="Rectangle 25">
            <a:extLst>
              <a:ext uri="{FF2B5EF4-FFF2-40B4-BE49-F238E27FC236}">
                <a16:creationId xmlns:a16="http://schemas.microsoft.com/office/drawing/2014/main" id="{CA4C529A-539C-A69A-B103-750E4051FD68}"/>
              </a:ext>
            </a:extLst>
          </p:cNvPr>
          <p:cNvSpPr/>
          <p:nvPr/>
        </p:nvSpPr>
        <p:spPr>
          <a:xfrm>
            <a:off x="1897863" y="961183"/>
            <a:ext cx="1080000" cy="5230769"/>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Observabilidad</a:t>
            </a:r>
          </a:p>
        </p:txBody>
      </p:sp>
      <p:sp>
        <p:nvSpPr>
          <p:cNvPr id="27" name="Rectangle 26">
            <a:extLst>
              <a:ext uri="{FF2B5EF4-FFF2-40B4-BE49-F238E27FC236}">
                <a16:creationId xmlns:a16="http://schemas.microsoft.com/office/drawing/2014/main" id="{F7DEF7FE-351C-4EE3-C78E-00739904D584}"/>
              </a:ext>
            </a:extLst>
          </p:cNvPr>
          <p:cNvSpPr/>
          <p:nvPr/>
        </p:nvSpPr>
        <p:spPr>
          <a:xfrm>
            <a:off x="10221552" y="944591"/>
            <a:ext cx="1080000" cy="5230768"/>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Infraestructura</a:t>
            </a:r>
          </a:p>
        </p:txBody>
      </p:sp>
      <p:sp>
        <p:nvSpPr>
          <p:cNvPr id="28" name="Rectangle 27">
            <a:extLst>
              <a:ext uri="{FF2B5EF4-FFF2-40B4-BE49-F238E27FC236}">
                <a16:creationId xmlns:a16="http://schemas.microsoft.com/office/drawing/2014/main" id="{9BA047CD-5906-0F12-281F-CF9240792CA0}"/>
              </a:ext>
            </a:extLst>
          </p:cNvPr>
          <p:cNvSpPr/>
          <p:nvPr/>
        </p:nvSpPr>
        <p:spPr>
          <a:xfrm>
            <a:off x="3169828" y="944591"/>
            <a:ext cx="5681779" cy="1077165"/>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dirty="0">
                <a:ln>
                  <a:noFill/>
                </a:ln>
                <a:solidFill>
                  <a:srgbClr val="000000"/>
                </a:solidFill>
                <a:effectLst/>
                <a:uLnTx/>
                <a:uFillTx/>
                <a:latin typeface="Graphik"/>
                <a:ea typeface="+mn-ea"/>
                <a:cs typeface="+mn-cs"/>
              </a:rPr>
              <a:t>Servicios de Gateway</a:t>
            </a:r>
          </a:p>
        </p:txBody>
      </p:sp>
      <p:sp>
        <p:nvSpPr>
          <p:cNvPr id="29" name="Rectangle 28">
            <a:extLst>
              <a:ext uri="{FF2B5EF4-FFF2-40B4-BE49-F238E27FC236}">
                <a16:creationId xmlns:a16="http://schemas.microsoft.com/office/drawing/2014/main" id="{340CA33A-5B94-8D9C-20FC-027A05294F68}"/>
              </a:ext>
            </a:extLst>
          </p:cNvPr>
          <p:cNvSpPr/>
          <p:nvPr/>
        </p:nvSpPr>
        <p:spPr>
          <a:xfrm>
            <a:off x="3161292" y="2773838"/>
            <a:ext cx="5681779" cy="540000"/>
          </a:xfrm>
          <a:prstGeom prst="rect">
            <a:avLst/>
          </a:prstGeom>
          <a:solidFill>
            <a:schemeClr val="bg2"/>
          </a:solidFill>
          <a:ln w="38100">
            <a:solidFill>
              <a:srgbClr val="156082"/>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dirty="0">
                <a:ln>
                  <a:noFill/>
                </a:ln>
                <a:solidFill>
                  <a:srgbClr val="000000"/>
                </a:solidFill>
                <a:effectLst/>
                <a:uLnTx/>
                <a:uFillTx/>
                <a:latin typeface="Graphik"/>
                <a:ea typeface="+mn-ea"/>
                <a:cs typeface="+mn-cs"/>
              </a:rPr>
              <a:t>Omnicanal y componentes de caché</a:t>
            </a:r>
          </a:p>
        </p:txBody>
      </p:sp>
      <p:sp>
        <p:nvSpPr>
          <p:cNvPr id="30" name="Rectangle 29">
            <a:extLst>
              <a:ext uri="{FF2B5EF4-FFF2-40B4-BE49-F238E27FC236}">
                <a16:creationId xmlns:a16="http://schemas.microsoft.com/office/drawing/2014/main" id="{CB95C51B-525C-5CEE-A78E-67397BF51BA5}"/>
              </a:ext>
            </a:extLst>
          </p:cNvPr>
          <p:cNvSpPr/>
          <p:nvPr/>
        </p:nvSpPr>
        <p:spPr>
          <a:xfrm>
            <a:off x="3167494" y="5132461"/>
            <a:ext cx="5681779" cy="1042899"/>
          </a:xfrm>
          <a:prstGeom prst="rect">
            <a:avLst/>
          </a:prstGeom>
          <a:solidFill>
            <a:schemeClr val="bg2"/>
          </a:solidFill>
          <a:ln w="38100">
            <a:solidFill>
              <a:srgbClr val="156082"/>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Entrega de datos</a:t>
            </a:r>
          </a:p>
        </p:txBody>
      </p:sp>
      <p:sp>
        <p:nvSpPr>
          <p:cNvPr id="31" name="Rectangle 30">
            <a:extLst>
              <a:ext uri="{FF2B5EF4-FFF2-40B4-BE49-F238E27FC236}">
                <a16:creationId xmlns:a16="http://schemas.microsoft.com/office/drawing/2014/main" id="{F36347D7-0532-6AFB-0295-3FF98C4E8BCD}"/>
              </a:ext>
            </a:extLst>
          </p:cNvPr>
          <p:cNvSpPr/>
          <p:nvPr/>
        </p:nvSpPr>
        <p:spPr>
          <a:xfrm>
            <a:off x="3166592" y="3442991"/>
            <a:ext cx="5681779" cy="960502"/>
          </a:xfrm>
          <a:prstGeom prst="rect">
            <a:avLst/>
          </a:prstGeom>
          <a:solidFill>
            <a:schemeClr val="bg2"/>
          </a:solidFill>
          <a:ln w="38100">
            <a:solidFill>
              <a:srgbClr val="156082"/>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Transacciones distribuidas</a:t>
            </a:r>
          </a:p>
        </p:txBody>
      </p:sp>
      <p:sp>
        <p:nvSpPr>
          <p:cNvPr id="32" name="Rectangle 31">
            <a:extLst>
              <a:ext uri="{FF2B5EF4-FFF2-40B4-BE49-F238E27FC236}">
                <a16:creationId xmlns:a16="http://schemas.microsoft.com/office/drawing/2014/main" id="{F94ECCCA-A8DF-8D57-2A13-90E37F52EE61}"/>
              </a:ext>
            </a:extLst>
          </p:cNvPr>
          <p:cNvSpPr/>
          <p:nvPr/>
        </p:nvSpPr>
        <p:spPr>
          <a:xfrm>
            <a:off x="9005587" y="944591"/>
            <a:ext cx="1080000" cy="5230768"/>
          </a:xfrm>
          <a:prstGeom prst="rect">
            <a:avLst/>
          </a:prstGeom>
          <a:solidFill>
            <a:schemeClr val="bg2"/>
          </a:solidFill>
          <a:ln w="38100">
            <a:solidFill>
              <a:srgbClr val="156082"/>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Procesamiento de eventos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&amp; Componentes Reactivos</a:t>
            </a:r>
          </a:p>
        </p:txBody>
      </p:sp>
      <p:sp>
        <p:nvSpPr>
          <p:cNvPr id="33" name="Rectangle 32">
            <a:extLst>
              <a:ext uri="{FF2B5EF4-FFF2-40B4-BE49-F238E27FC236}">
                <a16:creationId xmlns:a16="http://schemas.microsoft.com/office/drawing/2014/main" id="{946BA9E7-7AF1-6A04-6E69-E667C50FE043}"/>
              </a:ext>
            </a:extLst>
          </p:cNvPr>
          <p:cNvSpPr/>
          <p:nvPr/>
        </p:nvSpPr>
        <p:spPr>
          <a:xfrm>
            <a:off x="3166592" y="2127797"/>
            <a:ext cx="5681779" cy="540000"/>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dirty="0">
                <a:ln>
                  <a:noFill/>
                </a:ln>
                <a:solidFill>
                  <a:srgbClr val="000000"/>
                </a:solidFill>
                <a:effectLst/>
                <a:uLnTx/>
                <a:uFillTx/>
                <a:latin typeface="Graphik"/>
                <a:ea typeface="+mn-ea"/>
                <a:cs typeface="+mn-cs"/>
              </a:rPr>
              <a:t>API Management</a:t>
            </a:r>
          </a:p>
        </p:txBody>
      </p:sp>
      <p:sp>
        <p:nvSpPr>
          <p:cNvPr id="34" name="Oval 33">
            <a:extLst>
              <a:ext uri="{FF2B5EF4-FFF2-40B4-BE49-F238E27FC236}">
                <a16:creationId xmlns:a16="http://schemas.microsoft.com/office/drawing/2014/main" id="{874C461D-4265-656E-E53D-34088ABB90E5}"/>
              </a:ext>
            </a:extLst>
          </p:cNvPr>
          <p:cNvSpPr/>
          <p:nvPr/>
        </p:nvSpPr>
        <p:spPr>
          <a:xfrm>
            <a:off x="751436" y="1147797"/>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K</a:t>
            </a:r>
          </a:p>
        </p:txBody>
      </p:sp>
      <p:sp>
        <p:nvSpPr>
          <p:cNvPr id="35" name="Oval 34">
            <a:extLst>
              <a:ext uri="{FF2B5EF4-FFF2-40B4-BE49-F238E27FC236}">
                <a16:creationId xmlns:a16="http://schemas.microsoft.com/office/drawing/2014/main" id="{C9B9EA20-852C-4590-B313-02E661064F1C}"/>
              </a:ext>
            </a:extLst>
          </p:cNvPr>
          <p:cNvSpPr/>
          <p:nvPr/>
        </p:nvSpPr>
        <p:spPr>
          <a:xfrm>
            <a:off x="1946299" y="1147797"/>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K</a:t>
            </a:r>
          </a:p>
        </p:txBody>
      </p:sp>
      <p:sp>
        <p:nvSpPr>
          <p:cNvPr id="36" name="Oval 35">
            <a:extLst>
              <a:ext uri="{FF2B5EF4-FFF2-40B4-BE49-F238E27FC236}">
                <a16:creationId xmlns:a16="http://schemas.microsoft.com/office/drawing/2014/main" id="{05C95DBF-C5BC-145D-B0EB-22C74629C197}"/>
              </a:ext>
            </a:extLst>
          </p:cNvPr>
          <p:cNvSpPr/>
          <p:nvPr/>
        </p:nvSpPr>
        <p:spPr>
          <a:xfrm>
            <a:off x="5200332" y="978921"/>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K</a:t>
            </a:r>
          </a:p>
        </p:txBody>
      </p:sp>
      <p:sp>
        <p:nvSpPr>
          <p:cNvPr id="37" name="Oval 36">
            <a:extLst>
              <a:ext uri="{FF2B5EF4-FFF2-40B4-BE49-F238E27FC236}">
                <a16:creationId xmlns:a16="http://schemas.microsoft.com/office/drawing/2014/main" id="{0836421E-9CFD-E658-B950-92C7C8F7D8A0}"/>
              </a:ext>
            </a:extLst>
          </p:cNvPr>
          <p:cNvSpPr/>
          <p:nvPr/>
        </p:nvSpPr>
        <p:spPr>
          <a:xfrm>
            <a:off x="10248103" y="1147797"/>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K</a:t>
            </a:r>
          </a:p>
        </p:txBody>
      </p:sp>
      <p:sp>
        <p:nvSpPr>
          <p:cNvPr id="38" name="Oval 37">
            <a:extLst>
              <a:ext uri="{FF2B5EF4-FFF2-40B4-BE49-F238E27FC236}">
                <a16:creationId xmlns:a16="http://schemas.microsoft.com/office/drawing/2014/main" id="{10461C46-1EB4-D396-7EFE-231615035607}"/>
              </a:ext>
            </a:extLst>
          </p:cNvPr>
          <p:cNvSpPr/>
          <p:nvPr/>
        </p:nvSpPr>
        <p:spPr>
          <a:xfrm>
            <a:off x="5306545" y="2158233"/>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K</a:t>
            </a:r>
          </a:p>
        </p:txBody>
      </p:sp>
      <p:sp>
        <p:nvSpPr>
          <p:cNvPr id="39" name="Rectangle 38">
            <a:extLst>
              <a:ext uri="{FF2B5EF4-FFF2-40B4-BE49-F238E27FC236}">
                <a16:creationId xmlns:a16="http://schemas.microsoft.com/office/drawing/2014/main" id="{AAEB0676-C8FC-7E44-2811-BC3FCF8C53BD}"/>
              </a:ext>
            </a:extLst>
          </p:cNvPr>
          <p:cNvSpPr/>
          <p:nvPr/>
        </p:nvSpPr>
        <p:spPr>
          <a:xfrm>
            <a:off x="3160153" y="4486422"/>
            <a:ext cx="5681779" cy="540000"/>
          </a:xfrm>
          <a:prstGeom prst="rect">
            <a:avLst/>
          </a:prstGeom>
          <a:solidFill>
            <a:schemeClr val="bg2"/>
          </a:solidFill>
          <a:ln w="38100">
            <a:solidFill>
              <a:srgbClr val="156082"/>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Servicios Empresariales Comunes</a:t>
            </a:r>
          </a:p>
        </p:txBody>
      </p:sp>
      <p:grpSp>
        <p:nvGrpSpPr>
          <p:cNvPr id="10" name="Group 9">
            <a:extLst>
              <a:ext uri="{FF2B5EF4-FFF2-40B4-BE49-F238E27FC236}">
                <a16:creationId xmlns:a16="http://schemas.microsoft.com/office/drawing/2014/main" id="{B3A3F12B-0403-9650-918D-B388117AD3BE}"/>
              </a:ext>
            </a:extLst>
          </p:cNvPr>
          <p:cNvGrpSpPr/>
          <p:nvPr/>
        </p:nvGrpSpPr>
        <p:grpSpPr>
          <a:xfrm>
            <a:off x="4475293" y="6283462"/>
            <a:ext cx="3241414" cy="180000"/>
            <a:chOff x="3701850" y="6283462"/>
            <a:chExt cx="3241414" cy="180000"/>
          </a:xfrm>
        </p:grpSpPr>
        <p:grpSp>
          <p:nvGrpSpPr>
            <p:cNvPr id="2" name="Group 1">
              <a:extLst>
                <a:ext uri="{FF2B5EF4-FFF2-40B4-BE49-F238E27FC236}">
                  <a16:creationId xmlns:a16="http://schemas.microsoft.com/office/drawing/2014/main" id="{EDC30666-9B0B-BC32-4795-3F11538F7244}"/>
                </a:ext>
              </a:extLst>
            </p:cNvPr>
            <p:cNvGrpSpPr/>
            <p:nvPr/>
          </p:nvGrpSpPr>
          <p:grpSpPr>
            <a:xfrm>
              <a:off x="5366382" y="6283462"/>
              <a:ext cx="1576882" cy="180000"/>
              <a:chOff x="9283672" y="6207566"/>
              <a:chExt cx="1576882" cy="180000"/>
            </a:xfrm>
          </p:grpSpPr>
          <p:sp>
            <p:nvSpPr>
              <p:cNvPr id="6" name="Oval 5">
                <a:extLst>
                  <a:ext uri="{FF2B5EF4-FFF2-40B4-BE49-F238E27FC236}">
                    <a16:creationId xmlns:a16="http://schemas.microsoft.com/office/drawing/2014/main" id="{969B9B0A-3415-C5BC-C02A-6FA49CE4CF00}"/>
                  </a:ext>
                </a:extLst>
              </p:cNvPr>
              <p:cNvSpPr/>
              <p:nvPr/>
            </p:nvSpPr>
            <p:spPr>
              <a:xfrm>
                <a:off x="9283672" y="6207566"/>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K</a:t>
                </a:r>
                <a:endParaRPr kumimoji="0" lang="en-ES" sz="1100" b="1" i="0" u="none" strike="noStrike" kern="1200" cap="none" spc="0" normalizeH="0" baseline="0" noProof="0">
                  <a:ln>
                    <a:noFill/>
                  </a:ln>
                  <a:solidFill>
                    <a:srgbClr val="FFFFFF"/>
                  </a:solidFill>
                  <a:effectLst/>
                  <a:uLnTx/>
                  <a:uFillTx/>
                  <a:latin typeface="Graphik"/>
                  <a:ea typeface="+mn-ea"/>
                  <a:cs typeface="+mn-cs"/>
                </a:endParaRPr>
              </a:p>
            </p:txBody>
          </p:sp>
          <p:sp>
            <p:nvSpPr>
              <p:cNvPr id="8" name="Rectangle 7">
                <a:extLst>
                  <a:ext uri="{FF2B5EF4-FFF2-40B4-BE49-F238E27FC236}">
                    <a16:creationId xmlns:a16="http://schemas.microsoft.com/office/drawing/2014/main" id="{CA2BC914-DA75-7F8E-FED9-0E3263E99222}"/>
                  </a:ext>
                </a:extLst>
              </p:cNvPr>
              <p:cNvSpPr/>
              <p:nvPr/>
            </p:nvSpPr>
            <p:spPr>
              <a:xfrm>
                <a:off x="9526720" y="6230887"/>
                <a:ext cx="1333834" cy="13335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Kernel y componentes de plataforma</a:t>
                </a:r>
              </a:p>
            </p:txBody>
          </p:sp>
        </p:grpSp>
        <p:grpSp>
          <p:nvGrpSpPr>
            <p:cNvPr id="41" name="Group 40">
              <a:extLst>
                <a:ext uri="{FF2B5EF4-FFF2-40B4-BE49-F238E27FC236}">
                  <a16:creationId xmlns:a16="http://schemas.microsoft.com/office/drawing/2014/main" id="{786A7A20-FDBE-1470-5AFD-A81466D730E0}"/>
                </a:ext>
              </a:extLst>
            </p:cNvPr>
            <p:cNvGrpSpPr/>
            <p:nvPr/>
          </p:nvGrpSpPr>
          <p:grpSpPr>
            <a:xfrm>
              <a:off x="3701850" y="6283462"/>
              <a:ext cx="1576882" cy="180000"/>
              <a:chOff x="9283672" y="6207566"/>
              <a:chExt cx="1576882" cy="180000"/>
            </a:xfrm>
          </p:grpSpPr>
          <p:sp>
            <p:nvSpPr>
              <p:cNvPr id="42" name="Rectangle 41">
                <a:extLst>
                  <a:ext uri="{FF2B5EF4-FFF2-40B4-BE49-F238E27FC236}">
                    <a16:creationId xmlns:a16="http://schemas.microsoft.com/office/drawing/2014/main" id="{A888B3F7-DEFA-4279-7354-ECC34CE8F648}"/>
                  </a:ext>
                </a:extLst>
              </p:cNvPr>
              <p:cNvSpPr/>
              <p:nvPr/>
            </p:nvSpPr>
            <p:spPr>
              <a:xfrm>
                <a:off x="9283672" y="6207566"/>
                <a:ext cx="180000" cy="180000"/>
              </a:xfrm>
              <a:prstGeom prst="rect">
                <a:avLst/>
              </a:prstGeom>
              <a:solidFill>
                <a:srgbClr val="E6E6DC"/>
              </a:solidFill>
              <a:ln>
                <a:solidFill>
                  <a:srgbClr val="15608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ES" sz="1100" b="1" i="0" u="none" strike="noStrike" kern="1200" cap="none" spc="0" normalizeH="0" baseline="0" noProof="0">
                  <a:ln>
                    <a:noFill/>
                  </a:ln>
                  <a:solidFill>
                    <a:srgbClr val="FFFFFF"/>
                  </a:solidFill>
                  <a:effectLst/>
                  <a:uLnTx/>
                  <a:uFillTx/>
                  <a:latin typeface="Graphik"/>
                  <a:ea typeface="+mn-ea"/>
                  <a:cs typeface="+mn-cs"/>
                </a:endParaRPr>
              </a:p>
            </p:txBody>
          </p:sp>
          <p:sp>
            <p:nvSpPr>
              <p:cNvPr id="43" name="Rectangle 42">
                <a:extLst>
                  <a:ext uri="{FF2B5EF4-FFF2-40B4-BE49-F238E27FC236}">
                    <a16:creationId xmlns:a16="http://schemas.microsoft.com/office/drawing/2014/main" id="{6843DFE3-052B-062E-CC7C-5C7C3295823B}"/>
                  </a:ext>
                </a:extLst>
              </p:cNvPr>
              <p:cNvSpPr/>
              <p:nvPr/>
            </p:nvSpPr>
            <p:spPr>
              <a:xfrm>
                <a:off x="9526720" y="6230887"/>
                <a:ext cx="1333834" cy="13335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Componentes de dominio</a:t>
                </a:r>
              </a:p>
            </p:txBody>
          </p:sp>
        </p:grpSp>
      </p:grpSp>
      <p:sp>
        <p:nvSpPr>
          <p:cNvPr id="9" name="TextBox 8">
            <a:extLst>
              <a:ext uri="{FF2B5EF4-FFF2-40B4-BE49-F238E27FC236}">
                <a16:creationId xmlns:a16="http://schemas.microsoft.com/office/drawing/2014/main" id="{253A097E-B29B-0263-6B7C-4C7F05372093}"/>
              </a:ext>
            </a:extLst>
          </p:cNvPr>
          <p:cNvSpPr txBox="1"/>
          <p:nvPr>
            <p:extLst>
              <p:ext uri="{1162E1C5-73C7-4A58-AE30-91384D911F3F}">
                <p184:classification xmlns:p184="http://schemas.microsoft.com/office/powerpoint/2018/4/main" val="hdr"/>
              </p:ext>
            </p:extLst>
          </p:nvPr>
        </p:nvSpPr>
        <p:spPr>
          <a:xfrm>
            <a:off x="379000" y="78170"/>
            <a:ext cx="11432000" cy="154830"/>
          </a:xfrm>
          <a:prstGeom prst="rect">
            <a:avLst/>
          </a:prstGeom>
        </p:spPr>
        <p:txBody>
          <a:bodyPr horzOverflow="overflow"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000" b="0" i="0" u="none" strike="noStrike" kern="1200" cap="none" spc="0" normalizeH="0" baseline="0" noProof="0" dirty="0">
                <a:ln>
                  <a:noFill/>
                </a:ln>
                <a:solidFill>
                  <a:srgbClr val="000000"/>
                </a:solidFill>
                <a:effectLst/>
                <a:uLnTx/>
                <a:uFillTx/>
                <a:latin typeface="Graphik (Body)"/>
                <a:ea typeface="+mn-ea"/>
                <a:cs typeface="Calibri" panose="020F0502020204030204" pitchFamily="34" charset="0"/>
              </a:rPr>
              <a:t>*** Confidencial - Solo para uso interno de la empresa ***</a:t>
            </a:r>
          </a:p>
        </p:txBody>
      </p:sp>
      <p:pic>
        <p:nvPicPr>
          <p:cNvPr id="7" name="Picture 6" descr="Imágenes del botón de atrás – Navega por 625.558 fotos de stock, vectores y vídeos |  Adobe Stock">
            <a:hlinkClick r:id="rId2" action="ppaction://hlinksldjump"/>
            <a:extLst>
              <a:ext uri="{FF2B5EF4-FFF2-40B4-BE49-F238E27FC236}">
                <a16:creationId xmlns:a16="http://schemas.microsoft.com/office/drawing/2014/main" id="{F924C1F2-FE2E-2D8B-6904-542A9546F6DF}"/>
              </a:ext>
            </a:extLst>
          </p:cNvPr>
          <p:cNvPicPr>
            <a:picLocks noChangeAspect="1" noChangeArrowheads="1"/>
          </p:cNvPicPr>
          <p:nvPr/>
        </p:nvPicPr>
        <p:blipFill rotWithShape="1">
          <a:blip r:embed="rId3" cstate="hqprint">
            <a:duotone>
              <a:schemeClr val="accent2">
                <a:shade val="45000"/>
                <a:satMod val="135000"/>
              </a:schemeClr>
              <a:prstClr val="white"/>
            </a:duotone>
            <a:extLst>
              <a:ext uri="{BEBA8EAE-BF5A-486C-A8C5-ECC9F3942E4B}">
                <a14:imgProps xmlns:a14="http://schemas.microsoft.com/office/drawing/2010/main">
                  <a14:imgLayer r:embed="rId4">
                    <a14:imgEffect>
                      <a14:backgroundRemoval t="10000" b="90000" l="10000" r="90000">
                        <a14:foregroundMark x1="24259" y1="46667" x2="24259" y2="46667"/>
                        <a14:foregroundMark x1="25000" y1="53611" x2="25000" y2="53611"/>
                        <a14:foregroundMark x1="32778" y1="49167" x2="32778" y2="49167"/>
                        <a14:foregroundMark x1="73889" y1="51389" x2="73889" y2="51389"/>
                      </a14:backgroundRemoval>
                    </a14:imgEffect>
                  </a14:imgLayer>
                </a14:imgProps>
              </a:ext>
              <a:ext uri="{28A0092B-C50C-407E-A947-70E740481C1C}">
                <a14:useLocalDpi xmlns:a14="http://schemas.microsoft.com/office/drawing/2010/main"/>
              </a:ext>
            </a:extLst>
          </a:blip>
          <a:srcRect l="8527" t="26395" r="7584" b="26395"/>
          <a:stretch/>
        </p:blipFill>
        <p:spPr bwMode="auto">
          <a:xfrm>
            <a:off x="11306376" y="11050"/>
            <a:ext cx="839056" cy="314796"/>
          </a:xfrm>
          <a:prstGeom prst="rect">
            <a:avLst/>
          </a:prstGeom>
          <a:solidFill>
            <a:schemeClr val="bg1"/>
          </a:solidFill>
        </p:spPr>
      </p:pic>
      <p:sp>
        <p:nvSpPr>
          <p:cNvPr id="59" name="Rectangle 58">
            <a:extLst>
              <a:ext uri="{FF2B5EF4-FFF2-40B4-BE49-F238E27FC236}">
                <a16:creationId xmlns:a16="http://schemas.microsoft.com/office/drawing/2014/main" id="{94225A38-F335-E3FC-2F01-EBEAA3D47CA0}"/>
              </a:ext>
            </a:extLst>
          </p:cNvPr>
          <p:cNvSpPr/>
          <p:nvPr/>
        </p:nvSpPr>
        <p:spPr>
          <a:xfrm>
            <a:off x="2288754" y="6345994"/>
            <a:ext cx="1080000" cy="401540"/>
          </a:xfrm>
          <a:prstGeom prst="rect">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tIns="91440" bIns="91440" rtlCol="0" anchor="ctr"/>
          <a:lstStyle/>
          <a:p>
            <a:pPr algn="ctr"/>
            <a:r>
              <a:rPr lang="en-US" sz="800" dirty="0" err="1"/>
              <a:t>Aplicaciones</a:t>
            </a:r>
            <a:r>
              <a:rPr lang="en-US" sz="800" dirty="0"/>
              <a:t> </a:t>
            </a:r>
            <a:r>
              <a:rPr lang="en-US" sz="800" dirty="0" err="1"/>
              <a:t>Interoperables</a:t>
            </a:r>
            <a:endParaRPr lang="es" sz="800" dirty="0"/>
          </a:p>
        </p:txBody>
      </p:sp>
      <p:sp>
        <p:nvSpPr>
          <p:cNvPr id="15" name="Rectangle 14">
            <a:extLst>
              <a:ext uri="{FF2B5EF4-FFF2-40B4-BE49-F238E27FC236}">
                <a16:creationId xmlns:a16="http://schemas.microsoft.com/office/drawing/2014/main" id="{C60E84CA-54FB-56D1-34E6-54FA7E23A742}"/>
              </a:ext>
            </a:extLst>
          </p:cNvPr>
          <p:cNvSpPr/>
          <p:nvPr/>
        </p:nvSpPr>
        <p:spPr>
          <a:xfrm>
            <a:off x="2236867" y="-64657"/>
            <a:ext cx="7630615" cy="523220"/>
          </a:xfrm>
          <a:prstGeom prst="rect">
            <a:avLst/>
          </a:prstGeom>
          <a:noFill/>
        </p:spPr>
        <p:txBody>
          <a:bodyPr wrap="none" lIns="91440" tIns="45720" rIns="91440" bIns="45720">
            <a:spAutoFit/>
          </a:bodyPr>
          <a:lstStyle/>
          <a:p>
            <a:pPr algn="ctr"/>
            <a:r>
              <a:rPr lang="en-US" sz="2800" b="1" dirty="0" err="1">
                <a:ln w="9525">
                  <a:solidFill>
                    <a:schemeClr val="bg1"/>
                  </a:solidFill>
                  <a:prstDash val="solid"/>
                </a:ln>
                <a:solidFill>
                  <a:srgbClr val="FF0000"/>
                </a:solidFill>
                <a:effectLst>
                  <a:outerShdw blurRad="12700" dist="38100" dir="2700000" algn="tl" rotWithShape="0">
                    <a:schemeClr val="bg1">
                      <a:lumMod val="50000"/>
                    </a:schemeClr>
                  </a:outerShdw>
                </a:effectLst>
              </a:rPr>
              <a:t>Identificar</a:t>
            </a:r>
            <a:r>
              <a:rPr lang="en-US" sz="2800" b="1" dirty="0">
                <a:ln w="9525">
                  <a:solidFill>
                    <a:schemeClr val="bg1"/>
                  </a:solidFill>
                  <a:prstDash val="solid"/>
                </a:ln>
                <a:solidFill>
                  <a:srgbClr val="FF0000"/>
                </a:solidFill>
                <a:effectLst>
                  <a:outerShdw blurRad="12700" dist="38100" dir="2700000" algn="tl" rotWithShape="0">
                    <a:schemeClr val="bg1">
                      <a:lumMod val="50000"/>
                    </a:schemeClr>
                  </a:outerShdw>
                </a:effectLst>
              </a:rPr>
              <a:t> Anexo 5 APP </a:t>
            </a:r>
            <a:r>
              <a:rPr lang="en-US" sz="2800" b="1" dirty="0" err="1">
                <a:ln w="9525">
                  <a:solidFill>
                    <a:schemeClr val="bg1"/>
                  </a:solidFill>
                  <a:prstDash val="solid"/>
                </a:ln>
                <a:solidFill>
                  <a:srgbClr val="FF0000"/>
                </a:solidFill>
                <a:effectLst>
                  <a:outerShdw blurRad="12700" dist="38100" dir="2700000" algn="tl" rotWithShape="0">
                    <a:schemeClr val="bg1">
                      <a:lumMod val="50000"/>
                    </a:schemeClr>
                  </a:outerShdw>
                </a:effectLst>
              </a:rPr>
              <a:t>interoperabilidad</a:t>
            </a:r>
            <a:endParaRPr lang="en-US" sz="2800" b="1" cap="none" spc="0" dirty="0">
              <a:ln w="9525">
                <a:solidFill>
                  <a:schemeClr val="bg1"/>
                </a:solidFill>
                <a:prstDash val="solid"/>
              </a:ln>
              <a:solidFill>
                <a:srgbClr val="FF0000"/>
              </a:solidFill>
              <a:effectLst>
                <a:outerShdw blurRad="12700" dist="38100" dir="2700000" algn="tl" rotWithShape="0">
                  <a:schemeClr val="bg1">
                    <a:lumMod val="50000"/>
                  </a:schemeClr>
                </a:outerShdw>
              </a:effectLst>
            </a:endParaRPr>
          </a:p>
        </p:txBody>
      </p:sp>
    </p:spTree>
    <p:extLst>
      <p:ext uri="{BB962C8B-B14F-4D97-AF65-F5344CB8AC3E}">
        <p14:creationId xmlns:p14="http://schemas.microsoft.com/office/powerpoint/2010/main" val="9531113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8E53B4-0188-B927-8FCA-B52518F01B60}"/>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84B02E79-7613-547C-7967-AFD1BF3A46C5}"/>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alpha val="65000"/>
                  </a:srgbClr>
                </a:solidFill>
                <a:effectLst/>
                <a:uLnTx/>
                <a:uFillTx/>
                <a:latin typeface="Graphik"/>
                <a:ea typeface="+mn-ea"/>
                <a:cs typeface="+mn-cs"/>
              </a:rPr>
              <a:t>Copyright © 2026 Accenture. Todos los derechos reservados.</a:t>
            </a:r>
          </a:p>
        </p:txBody>
      </p:sp>
      <p:sp>
        <p:nvSpPr>
          <p:cNvPr id="4" name="Slide Number Placeholder 3">
            <a:extLst>
              <a:ext uri="{FF2B5EF4-FFF2-40B4-BE49-F238E27FC236}">
                <a16:creationId xmlns:a16="http://schemas.microsoft.com/office/drawing/2014/main" id="{F3932B04-E3A8-6E7A-A7B2-A90EDC551661}"/>
              </a:ext>
            </a:extLst>
          </p:cNvPr>
          <p:cNvSpPr>
            <a:spLocks noGrp="1"/>
          </p:cNvSpPr>
          <p:nvPr>
            <p:ph type="sldNum" sz="quarter" idx="429496729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Graphik"/>
                <a:ea typeface="+mn-ea"/>
                <a:cs typeface="+mn-cs"/>
              </a:rPr>
              <a:t> </a:t>
            </a:r>
          </a:p>
        </p:txBody>
      </p:sp>
      <p:sp>
        <p:nvSpPr>
          <p:cNvPr id="23" name="Title 1">
            <a:extLst>
              <a:ext uri="{FF2B5EF4-FFF2-40B4-BE49-F238E27FC236}">
                <a16:creationId xmlns:a16="http://schemas.microsoft.com/office/drawing/2014/main" id="{2B072B9D-0BAE-CDA9-BA1E-B0884325C786}"/>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a:ln>
                  <a:noFill/>
                </a:ln>
                <a:solidFill>
                  <a:srgbClr val="7500C0"/>
                </a:solidFill>
                <a:effectLst/>
                <a:uLnTx/>
                <a:uFillTx/>
                <a:latin typeface="Graphik"/>
                <a:ea typeface="+mj-ea"/>
                <a:cs typeface="+mj-cs"/>
              </a:rPr>
              <a:t>Arquitectura de Interoperabilidad </a:t>
            </a:r>
            <a:r>
              <a:rPr kumimoji="0" lang="es" sz="2400" b="1" i="0" u="none" strike="noStrike" kern="1200" cap="none" spc="0" normalizeH="0" baseline="0" noProof="0">
                <a:ln>
                  <a:noFill/>
                </a:ln>
                <a:solidFill>
                  <a:srgbClr val="000000"/>
                </a:solidFill>
                <a:effectLst/>
                <a:uLnTx/>
                <a:uFillTx/>
                <a:latin typeface="Graphik"/>
                <a:ea typeface="+mj-ea"/>
                <a:cs typeface="+mj-cs"/>
              </a:rPr>
              <a:t>| </a:t>
            </a:r>
            <a:r>
              <a:rPr kumimoji="0" lang="es" sz="2000" b="1" i="0" u="none" strike="noStrike" kern="1200" cap="none" spc="0" normalizeH="0" baseline="0" noProof="0">
                <a:ln>
                  <a:noFill/>
                </a:ln>
                <a:solidFill>
                  <a:srgbClr val="000000"/>
                </a:solidFill>
                <a:effectLst/>
                <a:uLnTx/>
                <a:uFillTx/>
                <a:latin typeface="Graphik"/>
                <a:ea typeface="+mj-ea"/>
                <a:cs typeface="+mj-cs"/>
              </a:rPr>
              <a:t>Mapa de capacidades Nivel 0</a:t>
            </a:r>
            <a:endParaRPr kumimoji="0" lang="es" sz="2400" b="1" i="0" u="none" strike="noStrike" kern="1200" cap="none" spc="0" normalizeH="0" baseline="0" noProof="0">
              <a:ln>
                <a:noFill/>
              </a:ln>
              <a:solidFill>
                <a:srgbClr val="000000"/>
              </a:solidFill>
              <a:effectLst/>
              <a:uLnTx/>
              <a:uFillTx/>
              <a:latin typeface="Graphik"/>
              <a:ea typeface="+mj-ea"/>
              <a:cs typeface="+mj-cs"/>
            </a:endParaRPr>
          </a:p>
        </p:txBody>
      </p:sp>
      <p:sp>
        <p:nvSpPr>
          <p:cNvPr id="25" name="Rectangle 24">
            <a:extLst>
              <a:ext uri="{FF2B5EF4-FFF2-40B4-BE49-F238E27FC236}">
                <a16:creationId xmlns:a16="http://schemas.microsoft.com/office/drawing/2014/main" id="{DA26D1B7-7B3A-F2C0-EE5E-4695B8AB2DE3}"/>
              </a:ext>
            </a:extLst>
          </p:cNvPr>
          <p:cNvSpPr/>
          <p:nvPr/>
        </p:nvSpPr>
        <p:spPr>
          <a:xfrm>
            <a:off x="699575" y="944591"/>
            <a:ext cx="1080000" cy="5222888"/>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Seguridad</a:t>
            </a:r>
          </a:p>
        </p:txBody>
      </p:sp>
      <p:sp>
        <p:nvSpPr>
          <p:cNvPr id="26" name="Rectangle 25">
            <a:extLst>
              <a:ext uri="{FF2B5EF4-FFF2-40B4-BE49-F238E27FC236}">
                <a16:creationId xmlns:a16="http://schemas.microsoft.com/office/drawing/2014/main" id="{A11F4702-7211-923C-DD10-6D8B7B05CCA3}"/>
              </a:ext>
            </a:extLst>
          </p:cNvPr>
          <p:cNvSpPr/>
          <p:nvPr/>
        </p:nvSpPr>
        <p:spPr>
          <a:xfrm>
            <a:off x="1897863" y="961183"/>
            <a:ext cx="1080000" cy="5230769"/>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Observabilidad</a:t>
            </a:r>
          </a:p>
        </p:txBody>
      </p:sp>
      <p:sp>
        <p:nvSpPr>
          <p:cNvPr id="27" name="Rectangle 26">
            <a:extLst>
              <a:ext uri="{FF2B5EF4-FFF2-40B4-BE49-F238E27FC236}">
                <a16:creationId xmlns:a16="http://schemas.microsoft.com/office/drawing/2014/main" id="{E3F1D747-F3FC-A28C-E57D-74AC06EBF97F}"/>
              </a:ext>
            </a:extLst>
          </p:cNvPr>
          <p:cNvSpPr/>
          <p:nvPr/>
        </p:nvSpPr>
        <p:spPr>
          <a:xfrm>
            <a:off x="10221552" y="944591"/>
            <a:ext cx="1080000" cy="5230768"/>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Infraestructura</a:t>
            </a:r>
          </a:p>
        </p:txBody>
      </p:sp>
      <p:sp>
        <p:nvSpPr>
          <p:cNvPr id="28" name="Rectangle 27">
            <a:extLst>
              <a:ext uri="{FF2B5EF4-FFF2-40B4-BE49-F238E27FC236}">
                <a16:creationId xmlns:a16="http://schemas.microsoft.com/office/drawing/2014/main" id="{7FBCD96B-4F48-125F-4731-D1C3719BCF49}"/>
              </a:ext>
            </a:extLst>
          </p:cNvPr>
          <p:cNvSpPr/>
          <p:nvPr/>
        </p:nvSpPr>
        <p:spPr>
          <a:xfrm>
            <a:off x="3169828" y="944591"/>
            <a:ext cx="5681779" cy="1077165"/>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dirty="0">
                <a:ln>
                  <a:noFill/>
                </a:ln>
                <a:solidFill>
                  <a:srgbClr val="000000"/>
                </a:solidFill>
                <a:effectLst/>
                <a:uLnTx/>
                <a:uFillTx/>
                <a:latin typeface="Graphik"/>
                <a:ea typeface="+mn-ea"/>
                <a:cs typeface="+mn-cs"/>
              </a:rPr>
              <a:t>Servicios de Gateway</a:t>
            </a:r>
          </a:p>
        </p:txBody>
      </p:sp>
      <p:sp>
        <p:nvSpPr>
          <p:cNvPr id="29" name="Rectangle 28">
            <a:extLst>
              <a:ext uri="{FF2B5EF4-FFF2-40B4-BE49-F238E27FC236}">
                <a16:creationId xmlns:a16="http://schemas.microsoft.com/office/drawing/2014/main" id="{A81F6335-196B-5EBF-9D65-02588BEFCCEB}"/>
              </a:ext>
            </a:extLst>
          </p:cNvPr>
          <p:cNvSpPr/>
          <p:nvPr/>
        </p:nvSpPr>
        <p:spPr>
          <a:xfrm>
            <a:off x="3161292" y="2773838"/>
            <a:ext cx="5681779" cy="540000"/>
          </a:xfrm>
          <a:prstGeom prst="rect">
            <a:avLst/>
          </a:prstGeom>
          <a:solidFill>
            <a:schemeClr val="bg2"/>
          </a:solidFill>
          <a:ln w="38100">
            <a:solidFill>
              <a:srgbClr val="156082"/>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dirty="0">
                <a:ln>
                  <a:noFill/>
                </a:ln>
                <a:solidFill>
                  <a:srgbClr val="000000"/>
                </a:solidFill>
                <a:effectLst/>
                <a:uLnTx/>
                <a:uFillTx/>
                <a:latin typeface="Graphik"/>
                <a:ea typeface="+mn-ea"/>
                <a:cs typeface="+mn-cs"/>
              </a:rPr>
              <a:t>Omnicanal y componentes de caché</a:t>
            </a:r>
          </a:p>
        </p:txBody>
      </p:sp>
      <p:sp>
        <p:nvSpPr>
          <p:cNvPr id="30" name="Rectangle 29">
            <a:extLst>
              <a:ext uri="{FF2B5EF4-FFF2-40B4-BE49-F238E27FC236}">
                <a16:creationId xmlns:a16="http://schemas.microsoft.com/office/drawing/2014/main" id="{F93BF2AF-F579-5D71-9137-31DBD377BE73}"/>
              </a:ext>
            </a:extLst>
          </p:cNvPr>
          <p:cNvSpPr/>
          <p:nvPr/>
        </p:nvSpPr>
        <p:spPr>
          <a:xfrm>
            <a:off x="3167494" y="5132461"/>
            <a:ext cx="5681779" cy="1042899"/>
          </a:xfrm>
          <a:prstGeom prst="rect">
            <a:avLst/>
          </a:prstGeom>
          <a:solidFill>
            <a:schemeClr val="bg2"/>
          </a:solidFill>
          <a:ln w="38100">
            <a:solidFill>
              <a:srgbClr val="156082"/>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Entrega de datos</a:t>
            </a:r>
          </a:p>
        </p:txBody>
      </p:sp>
      <p:sp>
        <p:nvSpPr>
          <p:cNvPr id="31" name="Rectangle 30">
            <a:extLst>
              <a:ext uri="{FF2B5EF4-FFF2-40B4-BE49-F238E27FC236}">
                <a16:creationId xmlns:a16="http://schemas.microsoft.com/office/drawing/2014/main" id="{4FA5D375-C234-BDD8-E438-00A3096C700F}"/>
              </a:ext>
            </a:extLst>
          </p:cNvPr>
          <p:cNvSpPr/>
          <p:nvPr/>
        </p:nvSpPr>
        <p:spPr>
          <a:xfrm>
            <a:off x="3166592" y="3442991"/>
            <a:ext cx="5681779" cy="960502"/>
          </a:xfrm>
          <a:prstGeom prst="rect">
            <a:avLst/>
          </a:prstGeom>
          <a:solidFill>
            <a:schemeClr val="bg2"/>
          </a:solidFill>
          <a:ln w="38100">
            <a:solidFill>
              <a:srgbClr val="156082"/>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Transacciones distribuidas</a:t>
            </a:r>
          </a:p>
        </p:txBody>
      </p:sp>
      <p:sp>
        <p:nvSpPr>
          <p:cNvPr id="32" name="Rectangle 31">
            <a:extLst>
              <a:ext uri="{FF2B5EF4-FFF2-40B4-BE49-F238E27FC236}">
                <a16:creationId xmlns:a16="http://schemas.microsoft.com/office/drawing/2014/main" id="{3D9CDD56-0B9A-D725-5A5B-9D6DE4F342E0}"/>
              </a:ext>
            </a:extLst>
          </p:cNvPr>
          <p:cNvSpPr/>
          <p:nvPr/>
        </p:nvSpPr>
        <p:spPr>
          <a:xfrm>
            <a:off x="9005587" y="944591"/>
            <a:ext cx="1080000" cy="5230768"/>
          </a:xfrm>
          <a:prstGeom prst="rect">
            <a:avLst/>
          </a:prstGeom>
          <a:solidFill>
            <a:schemeClr val="bg2"/>
          </a:solidFill>
          <a:ln w="38100">
            <a:solidFill>
              <a:srgbClr val="156082"/>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Procesamiento de eventos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&amp; Componentes Reactivos</a:t>
            </a:r>
          </a:p>
        </p:txBody>
      </p:sp>
      <p:sp>
        <p:nvSpPr>
          <p:cNvPr id="33" name="Rectangle 32">
            <a:extLst>
              <a:ext uri="{FF2B5EF4-FFF2-40B4-BE49-F238E27FC236}">
                <a16:creationId xmlns:a16="http://schemas.microsoft.com/office/drawing/2014/main" id="{B2BB0E28-FE4D-C5E8-B43A-892E743E8CE8}"/>
              </a:ext>
            </a:extLst>
          </p:cNvPr>
          <p:cNvSpPr/>
          <p:nvPr/>
        </p:nvSpPr>
        <p:spPr>
          <a:xfrm>
            <a:off x="3166592" y="2127797"/>
            <a:ext cx="5681779" cy="540000"/>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dirty="0">
                <a:ln>
                  <a:noFill/>
                </a:ln>
                <a:solidFill>
                  <a:srgbClr val="000000"/>
                </a:solidFill>
                <a:effectLst/>
                <a:uLnTx/>
                <a:uFillTx/>
                <a:latin typeface="Graphik"/>
                <a:ea typeface="+mn-ea"/>
                <a:cs typeface="+mn-cs"/>
              </a:rPr>
              <a:t>API Management</a:t>
            </a:r>
          </a:p>
        </p:txBody>
      </p:sp>
      <p:sp>
        <p:nvSpPr>
          <p:cNvPr id="34" name="Oval 33">
            <a:extLst>
              <a:ext uri="{FF2B5EF4-FFF2-40B4-BE49-F238E27FC236}">
                <a16:creationId xmlns:a16="http://schemas.microsoft.com/office/drawing/2014/main" id="{1F31D55D-4E31-D278-C98B-E597C0502973}"/>
              </a:ext>
            </a:extLst>
          </p:cNvPr>
          <p:cNvSpPr/>
          <p:nvPr/>
        </p:nvSpPr>
        <p:spPr>
          <a:xfrm>
            <a:off x="751436" y="1147797"/>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K</a:t>
            </a:r>
          </a:p>
        </p:txBody>
      </p:sp>
      <p:sp>
        <p:nvSpPr>
          <p:cNvPr id="35" name="Oval 34">
            <a:extLst>
              <a:ext uri="{FF2B5EF4-FFF2-40B4-BE49-F238E27FC236}">
                <a16:creationId xmlns:a16="http://schemas.microsoft.com/office/drawing/2014/main" id="{1852EE41-69B4-780A-585C-34FFAA6C0BE7}"/>
              </a:ext>
            </a:extLst>
          </p:cNvPr>
          <p:cNvSpPr/>
          <p:nvPr/>
        </p:nvSpPr>
        <p:spPr>
          <a:xfrm>
            <a:off x="1946299" y="1147797"/>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K</a:t>
            </a:r>
          </a:p>
        </p:txBody>
      </p:sp>
      <p:sp>
        <p:nvSpPr>
          <p:cNvPr id="36" name="Oval 35">
            <a:extLst>
              <a:ext uri="{FF2B5EF4-FFF2-40B4-BE49-F238E27FC236}">
                <a16:creationId xmlns:a16="http://schemas.microsoft.com/office/drawing/2014/main" id="{B85E3A06-55CC-ED57-A58F-D08363F6EDA1}"/>
              </a:ext>
            </a:extLst>
          </p:cNvPr>
          <p:cNvSpPr/>
          <p:nvPr/>
        </p:nvSpPr>
        <p:spPr>
          <a:xfrm>
            <a:off x="5200332" y="978921"/>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K</a:t>
            </a:r>
          </a:p>
        </p:txBody>
      </p:sp>
      <p:sp>
        <p:nvSpPr>
          <p:cNvPr id="37" name="Oval 36">
            <a:extLst>
              <a:ext uri="{FF2B5EF4-FFF2-40B4-BE49-F238E27FC236}">
                <a16:creationId xmlns:a16="http://schemas.microsoft.com/office/drawing/2014/main" id="{76D18569-1BA2-A2B3-8885-4CBF14768A0D}"/>
              </a:ext>
            </a:extLst>
          </p:cNvPr>
          <p:cNvSpPr/>
          <p:nvPr/>
        </p:nvSpPr>
        <p:spPr>
          <a:xfrm>
            <a:off x="10248103" y="1147797"/>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K</a:t>
            </a:r>
          </a:p>
        </p:txBody>
      </p:sp>
      <p:sp>
        <p:nvSpPr>
          <p:cNvPr id="38" name="Oval 37">
            <a:extLst>
              <a:ext uri="{FF2B5EF4-FFF2-40B4-BE49-F238E27FC236}">
                <a16:creationId xmlns:a16="http://schemas.microsoft.com/office/drawing/2014/main" id="{5E6A302B-3AF0-3965-6038-8B76EC494477}"/>
              </a:ext>
            </a:extLst>
          </p:cNvPr>
          <p:cNvSpPr/>
          <p:nvPr/>
        </p:nvSpPr>
        <p:spPr>
          <a:xfrm>
            <a:off x="5306545" y="2158233"/>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K</a:t>
            </a:r>
          </a:p>
        </p:txBody>
      </p:sp>
      <p:sp>
        <p:nvSpPr>
          <p:cNvPr id="39" name="Rectangle 38">
            <a:extLst>
              <a:ext uri="{FF2B5EF4-FFF2-40B4-BE49-F238E27FC236}">
                <a16:creationId xmlns:a16="http://schemas.microsoft.com/office/drawing/2014/main" id="{8648BB0B-D544-1E7C-FE0E-1BA30891B67F}"/>
              </a:ext>
            </a:extLst>
          </p:cNvPr>
          <p:cNvSpPr/>
          <p:nvPr/>
        </p:nvSpPr>
        <p:spPr>
          <a:xfrm>
            <a:off x="3160153" y="4486422"/>
            <a:ext cx="5681779" cy="540000"/>
          </a:xfrm>
          <a:prstGeom prst="rect">
            <a:avLst/>
          </a:prstGeom>
          <a:solidFill>
            <a:schemeClr val="bg2"/>
          </a:solidFill>
          <a:ln w="38100">
            <a:solidFill>
              <a:srgbClr val="156082"/>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Servicios Empresariales Comunes</a:t>
            </a:r>
          </a:p>
        </p:txBody>
      </p:sp>
      <p:grpSp>
        <p:nvGrpSpPr>
          <p:cNvPr id="10" name="Group 9">
            <a:extLst>
              <a:ext uri="{FF2B5EF4-FFF2-40B4-BE49-F238E27FC236}">
                <a16:creationId xmlns:a16="http://schemas.microsoft.com/office/drawing/2014/main" id="{8CBC1C85-15FF-11E5-A24A-BAEDE3FDAE4E}"/>
              </a:ext>
            </a:extLst>
          </p:cNvPr>
          <p:cNvGrpSpPr/>
          <p:nvPr/>
        </p:nvGrpSpPr>
        <p:grpSpPr>
          <a:xfrm>
            <a:off x="4475293" y="6283462"/>
            <a:ext cx="3241414" cy="180000"/>
            <a:chOff x="3701850" y="6283462"/>
            <a:chExt cx="3241414" cy="180000"/>
          </a:xfrm>
        </p:grpSpPr>
        <p:grpSp>
          <p:nvGrpSpPr>
            <p:cNvPr id="2" name="Group 1">
              <a:extLst>
                <a:ext uri="{FF2B5EF4-FFF2-40B4-BE49-F238E27FC236}">
                  <a16:creationId xmlns:a16="http://schemas.microsoft.com/office/drawing/2014/main" id="{52F14D8F-E04A-DC63-EA10-93CB9973F8E4}"/>
                </a:ext>
              </a:extLst>
            </p:cNvPr>
            <p:cNvGrpSpPr/>
            <p:nvPr/>
          </p:nvGrpSpPr>
          <p:grpSpPr>
            <a:xfrm>
              <a:off x="5366382" y="6283462"/>
              <a:ext cx="1576882" cy="180000"/>
              <a:chOff x="9283672" y="6207566"/>
              <a:chExt cx="1576882" cy="180000"/>
            </a:xfrm>
          </p:grpSpPr>
          <p:sp>
            <p:nvSpPr>
              <p:cNvPr id="6" name="Oval 5">
                <a:extLst>
                  <a:ext uri="{FF2B5EF4-FFF2-40B4-BE49-F238E27FC236}">
                    <a16:creationId xmlns:a16="http://schemas.microsoft.com/office/drawing/2014/main" id="{B2614243-10D9-74EC-11E8-78D8B74609A3}"/>
                  </a:ext>
                </a:extLst>
              </p:cNvPr>
              <p:cNvSpPr/>
              <p:nvPr/>
            </p:nvSpPr>
            <p:spPr>
              <a:xfrm>
                <a:off x="9283672" y="6207566"/>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K</a:t>
                </a:r>
                <a:endParaRPr kumimoji="0" lang="en-ES" sz="1100" b="1" i="0" u="none" strike="noStrike" kern="1200" cap="none" spc="0" normalizeH="0" baseline="0" noProof="0">
                  <a:ln>
                    <a:noFill/>
                  </a:ln>
                  <a:solidFill>
                    <a:srgbClr val="FFFFFF"/>
                  </a:solidFill>
                  <a:effectLst/>
                  <a:uLnTx/>
                  <a:uFillTx/>
                  <a:latin typeface="Graphik"/>
                  <a:ea typeface="+mn-ea"/>
                  <a:cs typeface="+mn-cs"/>
                </a:endParaRPr>
              </a:p>
            </p:txBody>
          </p:sp>
          <p:sp>
            <p:nvSpPr>
              <p:cNvPr id="8" name="Rectangle 7">
                <a:extLst>
                  <a:ext uri="{FF2B5EF4-FFF2-40B4-BE49-F238E27FC236}">
                    <a16:creationId xmlns:a16="http://schemas.microsoft.com/office/drawing/2014/main" id="{0EC9F0DE-E9D4-F702-90EB-0E1DA29756B2}"/>
                  </a:ext>
                </a:extLst>
              </p:cNvPr>
              <p:cNvSpPr/>
              <p:nvPr/>
            </p:nvSpPr>
            <p:spPr>
              <a:xfrm>
                <a:off x="9526720" y="6230887"/>
                <a:ext cx="1333834" cy="13335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Kernel y componentes de plataforma</a:t>
                </a:r>
              </a:p>
            </p:txBody>
          </p:sp>
        </p:grpSp>
        <p:grpSp>
          <p:nvGrpSpPr>
            <p:cNvPr id="41" name="Group 40">
              <a:extLst>
                <a:ext uri="{FF2B5EF4-FFF2-40B4-BE49-F238E27FC236}">
                  <a16:creationId xmlns:a16="http://schemas.microsoft.com/office/drawing/2014/main" id="{BAF4C1EA-DFD3-2326-E0CA-092FFA075EAF}"/>
                </a:ext>
              </a:extLst>
            </p:cNvPr>
            <p:cNvGrpSpPr/>
            <p:nvPr/>
          </p:nvGrpSpPr>
          <p:grpSpPr>
            <a:xfrm>
              <a:off x="3701850" y="6283462"/>
              <a:ext cx="1576882" cy="180000"/>
              <a:chOff x="9283672" y="6207566"/>
              <a:chExt cx="1576882" cy="180000"/>
            </a:xfrm>
          </p:grpSpPr>
          <p:sp>
            <p:nvSpPr>
              <p:cNvPr id="42" name="Rectangle 41">
                <a:extLst>
                  <a:ext uri="{FF2B5EF4-FFF2-40B4-BE49-F238E27FC236}">
                    <a16:creationId xmlns:a16="http://schemas.microsoft.com/office/drawing/2014/main" id="{CEE6629D-F27D-9B7C-36AC-7792FCD55924}"/>
                  </a:ext>
                </a:extLst>
              </p:cNvPr>
              <p:cNvSpPr/>
              <p:nvPr/>
            </p:nvSpPr>
            <p:spPr>
              <a:xfrm>
                <a:off x="9283672" y="6207566"/>
                <a:ext cx="180000" cy="180000"/>
              </a:xfrm>
              <a:prstGeom prst="rect">
                <a:avLst/>
              </a:prstGeom>
              <a:solidFill>
                <a:srgbClr val="E6E6DC"/>
              </a:solidFill>
              <a:ln>
                <a:solidFill>
                  <a:srgbClr val="15608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ES" sz="1100" b="1" i="0" u="none" strike="noStrike" kern="1200" cap="none" spc="0" normalizeH="0" baseline="0" noProof="0">
                  <a:ln>
                    <a:noFill/>
                  </a:ln>
                  <a:solidFill>
                    <a:srgbClr val="FFFFFF"/>
                  </a:solidFill>
                  <a:effectLst/>
                  <a:uLnTx/>
                  <a:uFillTx/>
                  <a:latin typeface="Graphik"/>
                  <a:ea typeface="+mn-ea"/>
                  <a:cs typeface="+mn-cs"/>
                </a:endParaRPr>
              </a:p>
            </p:txBody>
          </p:sp>
          <p:sp>
            <p:nvSpPr>
              <p:cNvPr id="43" name="Rectangle 42">
                <a:extLst>
                  <a:ext uri="{FF2B5EF4-FFF2-40B4-BE49-F238E27FC236}">
                    <a16:creationId xmlns:a16="http://schemas.microsoft.com/office/drawing/2014/main" id="{2D8676DA-7016-DD9F-F2A6-342FECC9BF18}"/>
                  </a:ext>
                </a:extLst>
              </p:cNvPr>
              <p:cNvSpPr/>
              <p:nvPr/>
            </p:nvSpPr>
            <p:spPr>
              <a:xfrm>
                <a:off x="9526720" y="6230887"/>
                <a:ext cx="1333834" cy="13335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Componentes de dominio</a:t>
                </a:r>
              </a:p>
            </p:txBody>
          </p:sp>
        </p:grpSp>
      </p:grpSp>
      <p:sp>
        <p:nvSpPr>
          <p:cNvPr id="9" name="TextBox 8">
            <a:extLst>
              <a:ext uri="{FF2B5EF4-FFF2-40B4-BE49-F238E27FC236}">
                <a16:creationId xmlns:a16="http://schemas.microsoft.com/office/drawing/2014/main" id="{D71E4B5E-E1E5-FB41-73BC-E1062E712322}"/>
              </a:ext>
            </a:extLst>
          </p:cNvPr>
          <p:cNvSpPr txBox="1"/>
          <p:nvPr>
            <p:extLst>
              <p:ext uri="{1162E1C5-73C7-4A58-AE30-91384D911F3F}">
                <p184:classification xmlns:p184="http://schemas.microsoft.com/office/powerpoint/2018/4/main" val="hdr"/>
              </p:ext>
            </p:extLst>
          </p:nvPr>
        </p:nvSpPr>
        <p:spPr>
          <a:xfrm>
            <a:off x="379000" y="78170"/>
            <a:ext cx="11432000" cy="154830"/>
          </a:xfrm>
          <a:prstGeom prst="rect">
            <a:avLst/>
          </a:prstGeom>
        </p:spPr>
        <p:txBody>
          <a:bodyPr horzOverflow="overflow"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000" b="0" i="0" u="none" strike="noStrike" kern="1200" cap="none" spc="0" normalizeH="0" baseline="0" noProof="0" dirty="0">
                <a:ln>
                  <a:noFill/>
                </a:ln>
                <a:solidFill>
                  <a:srgbClr val="000000"/>
                </a:solidFill>
                <a:effectLst/>
                <a:uLnTx/>
                <a:uFillTx/>
                <a:latin typeface="Graphik (Body)"/>
                <a:ea typeface="+mn-ea"/>
                <a:cs typeface="Calibri" panose="020F0502020204030204" pitchFamily="34" charset="0"/>
              </a:rPr>
              <a:t>*** Confidencial - Solo para uso interno de la empresa ***</a:t>
            </a:r>
          </a:p>
        </p:txBody>
      </p:sp>
      <p:pic>
        <p:nvPicPr>
          <p:cNvPr id="7" name="Picture 6" descr="Imágenes del botón de atrás – Navega por 625.558 fotos de stock, vectores y vídeos |  Adobe Stock">
            <a:hlinkClick r:id="rId2" action="ppaction://hlinksldjump"/>
            <a:extLst>
              <a:ext uri="{FF2B5EF4-FFF2-40B4-BE49-F238E27FC236}">
                <a16:creationId xmlns:a16="http://schemas.microsoft.com/office/drawing/2014/main" id="{884E96AC-DB48-3475-4D53-B9BE1B22ABCE}"/>
              </a:ext>
            </a:extLst>
          </p:cNvPr>
          <p:cNvPicPr>
            <a:picLocks noChangeAspect="1" noChangeArrowheads="1"/>
          </p:cNvPicPr>
          <p:nvPr/>
        </p:nvPicPr>
        <p:blipFill rotWithShape="1">
          <a:blip r:embed="rId3" cstate="hqprint">
            <a:duotone>
              <a:schemeClr val="accent2">
                <a:shade val="45000"/>
                <a:satMod val="135000"/>
              </a:schemeClr>
              <a:prstClr val="white"/>
            </a:duotone>
            <a:extLst>
              <a:ext uri="{BEBA8EAE-BF5A-486C-A8C5-ECC9F3942E4B}">
                <a14:imgProps xmlns:a14="http://schemas.microsoft.com/office/drawing/2010/main">
                  <a14:imgLayer r:embed="rId4">
                    <a14:imgEffect>
                      <a14:backgroundRemoval t="10000" b="90000" l="10000" r="90000">
                        <a14:foregroundMark x1="24259" y1="46667" x2="24259" y2="46667"/>
                        <a14:foregroundMark x1="25000" y1="53611" x2="25000" y2="53611"/>
                        <a14:foregroundMark x1="32778" y1="49167" x2="32778" y2="49167"/>
                        <a14:foregroundMark x1="73889" y1="51389" x2="73889" y2="51389"/>
                      </a14:backgroundRemoval>
                    </a14:imgEffect>
                  </a14:imgLayer>
                </a14:imgProps>
              </a:ext>
              <a:ext uri="{28A0092B-C50C-407E-A947-70E740481C1C}">
                <a14:useLocalDpi xmlns:a14="http://schemas.microsoft.com/office/drawing/2010/main"/>
              </a:ext>
            </a:extLst>
          </a:blip>
          <a:srcRect l="8527" t="26395" r="7584" b="26395"/>
          <a:stretch/>
        </p:blipFill>
        <p:spPr bwMode="auto">
          <a:xfrm>
            <a:off x="11306376" y="11050"/>
            <a:ext cx="839056" cy="314796"/>
          </a:xfrm>
          <a:prstGeom prst="rect">
            <a:avLst/>
          </a:prstGeom>
          <a:solidFill>
            <a:schemeClr val="bg1"/>
          </a:solidFill>
        </p:spPr>
      </p:pic>
      <p:sp>
        <p:nvSpPr>
          <p:cNvPr id="12" name="Rectangle 11">
            <a:extLst>
              <a:ext uri="{FF2B5EF4-FFF2-40B4-BE49-F238E27FC236}">
                <a16:creationId xmlns:a16="http://schemas.microsoft.com/office/drawing/2014/main" id="{F2966107-D6DA-6370-D85E-14EFFC8C61B9}"/>
              </a:ext>
            </a:extLst>
          </p:cNvPr>
          <p:cNvSpPr/>
          <p:nvPr/>
        </p:nvSpPr>
        <p:spPr>
          <a:xfrm>
            <a:off x="9088387" y="1734218"/>
            <a:ext cx="914400" cy="4015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800"/>
              <a:t>Realizar transacciones internas</a:t>
            </a:r>
          </a:p>
        </p:txBody>
      </p:sp>
      <p:sp>
        <p:nvSpPr>
          <p:cNvPr id="14" name="Rectangle 13">
            <a:extLst>
              <a:ext uri="{FF2B5EF4-FFF2-40B4-BE49-F238E27FC236}">
                <a16:creationId xmlns:a16="http://schemas.microsoft.com/office/drawing/2014/main" id="{8BECA29C-B35D-FE0A-1B31-0CB4E79138E7}"/>
              </a:ext>
            </a:extLst>
          </p:cNvPr>
          <p:cNvSpPr/>
          <p:nvPr/>
        </p:nvSpPr>
        <p:spPr>
          <a:xfrm>
            <a:off x="3272833" y="2843068"/>
            <a:ext cx="914400" cy="4015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800" dirty="0"/>
              <a:t>Origen de Apolo</a:t>
            </a:r>
          </a:p>
        </p:txBody>
      </p:sp>
      <p:sp>
        <p:nvSpPr>
          <p:cNvPr id="16" name="Rectangle 15">
            <a:extLst>
              <a:ext uri="{FF2B5EF4-FFF2-40B4-BE49-F238E27FC236}">
                <a16:creationId xmlns:a16="http://schemas.microsoft.com/office/drawing/2014/main" id="{A3E4DA82-CDCE-D80D-3748-D8DF21B58E3C}"/>
              </a:ext>
            </a:extLst>
          </p:cNvPr>
          <p:cNvSpPr/>
          <p:nvPr/>
        </p:nvSpPr>
        <p:spPr>
          <a:xfrm>
            <a:off x="3272833" y="5577732"/>
            <a:ext cx="914400" cy="4015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800"/>
              <a:t>Sincronización de datos de clientes</a:t>
            </a:r>
            <a:endParaRPr lang="en-US" sz="800"/>
          </a:p>
        </p:txBody>
      </p:sp>
      <p:sp>
        <p:nvSpPr>
          <p:cNvPr id="18" name="Rectangle 17">
            <a:extLst>
              <a:ext uri="{FF2B5EF4-FFF2-40B4-BE49-F238E27FC236}">
                <a16:creationId xmlns:a16="http://schemas.microsoft.com/office/drawing/2014/main" id="{4CE2D40E-B701-0371-B7BC-D984E93868FF}"/>
              </a:ext>
            </a:extLst>
          </p:cNvPr>
          <p:cNvSpPr/>
          <p:nvPr/>
        </p:nvSpPr>
        <p:spPr>
          <a:xfrm>
            <a:off x="3288116" y="3795918"/>
            <a:ext cx="914400" cy="4015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800"/>
              <a:t>Amortizar préstamos Pisa-&gt; Trasnact</a:t>
            </a:r>
            <a:endParaRPr lang="en-US" sz="800"/>
          </a:p>
        </p:txBody>
      </p:sp>
      <p:sp>
        <p:nvSpPr>
          <p:cNvPr id="20" name="Rectangle 19">
            <a:extLst>
              <a:ext uri="{FF2B5EF4-FFF2-40B4-BE49-F238E27FC236}">
                <a16:creationId xmlns:a16="http://schemas.microsoft.com/office/drawing/2014/main" id="{8A7C838B-E2B0-350C-1380-ADE78CBF2CD2}"/>
              </a:ext>
            </a:extLst>
          </p:cNvPr>
          <p:cNvSpPr/>
          <p:nvPr/>
        </p:nvSpPr>
        <p:spPr>
          <a:xfrm>
            <a:off x="1145583" y="6347453"/>
            <a:ext cx="914400" cy="4015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800"/>
              <a:t>Potenciales casos de uso</a:t>
            </a:r>
          </a:p>
        </p:txBody>
      </p:sp>
      <p:sp>
        <p:nvSpPr>
          <p:cNvPr id="57" name="Rectangle 56">
            <a:extLst>
              <a:ext uri="{FF2B5EF4-FFF2-40B4-BE49-F238E27FC236}">
                <a16:creationId xmlns:a16="http://schemas.microsoft.com/office/drawing/2014/main" id="{6EC1B125-E73B-1921-0865-21C836C32400}"/>
              </a:ext>
            </a:extLst>
          </p:cNvPr>
          <p:cNvSpPr/>
          <p:nvPr/>
        </p:nvSpPr>
        <p:spPr>
          <a:xfrm>
            <a:off x="7383999" y="4645792"/>
            <a:ext cx="1247108" cy="316035"/>
          </a:xfrm>
          <a:prstGeom prst="rect">
            <a:avLst/>
          </a:prstGeom>
          <a:ln/>
        </p:spPr>
        <p:style>
          <a:lnRef idx="1">
            <a:schemeClr val="dk1"/>
          </a:lnRef>
          <a:fillRef idx="2">
            <a:schemeClr val="dk1"/>
          </a:fillRef>
          <a:effectRef idx="1">
            <a:schemeClr val="dk1"/>
          </a:effectRef>
          <a:fontRef idx="minor">
            <a:schemeClr val="dk1"/>
          </a:fontRef>
        </p:style>
        <p:txBody>
          <a:bodyPr tIns="91440" bIns="91440" rtlCol="0" anchor="ctr"/>
          <a:lstStyle/>
          <a:p>
            <a:pPr algn="ctr"/>
            <a:r>
              <a:rPr lang="es" sz="800" dirty="0"/>
              <a:t>Consulta RENAPO</a:t>
            </a:r>
          </a:p>
          <a:p>
            <a:pPr algn="ctr"/>
            <a:r>
              <a:rPr lang="es" sz="800" dirty="0"/>
              <a:t> (migrar)</a:t>
            </a:r>
          </a:p>
        </p:txBody>
      </p:sp>
      <p:sp>
        <p:nvSpPr>
          <p:cNvPr id="64" name="Rectangle 63">
            <a:extLst>
              <a:ext uri="{FF2B5EF4-FFF2-40B4-BE49-F238E27FC236}">
                <a16:creationId xmlns:a16="http://schemas.microsoft.com/office/drawing/2014/main" id="{BDC3DD9A-4EAF-9873-536C-3B57E2AFB3C3}"/>
              </a:ext>
            </a:extLst>
          </p:cNvPr>
          <p:cNvSpPr/>
          <p:nvPr/>
        </p:nvSpPr>
        <p:spPr>
          <a:xfrm>
            <a:off x="3878087" y="2967335"/>
            <a:ext cx="4435831" cy="923330"/>
          </a:xfrm>
          <a:prstGeom prst="rect">
            <a:avLst/>
          </a:prstGeom>
          <a:noFill/>
        </p:spPr>
        <p:txBody>
          <a:bodyPr wrap="none" lIns="91440" tIns="45720" rIns="91440" bIns="45720">
            <a:spAutoFit/>
          </a:bodyPr>
          <a:lstStyle/>
          <a:p>
            <a:pPr algn="ctr"/>
            <a:r>
              <a:rPr lang="en-US" sz="54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rPr>
              <a:t>Slide Lukasz</a:t>
            </a:r>
          </a:p>
        </p:txBody>
      </p:sp>
    </p:spTree>
    <p:extLst>
      <p:ext uri="{BB962C8B-B14F-4D97-AF65-F5344CB8AC3E}">
        <p14:creationId xmlns:p14="http://schemas.microsoft.com/office/powerpoint/2010/main" val="34121958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60409D-7CDF-CCC9-479F-B0A195F751AC}"/>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FB00FA76-76A5-ABB5-5FE2-1331C61CBB1D}"/>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alpha val="65000"/>
                  </a:srgbClr>
                </a:solidFill>
                <a:effectLst/>
                <a:uLnTx/>
                <a:uFillTx/>
                <a:latin typeface="Graphik"/>
                <a:ea typeface="+mn-ea"/>
                <a:cs typeface="+mn-cs"/>
              </a:rPr>
              <a:t>Copyright © 2026 Accenture. Todos los derechos reservados.</a:t>
            </a:r>
          </a:p>
        </p:txBody>
      </p:sp>
      <p:sp>
        <p:nvSpPr>
          <p:cNvPr id="4" name="Slide Number Placeholder 3">
            <a:extLst>
              <a:ext uri="{FF2B5EF4-FFF2-40B4-BE49-F238E27FC236}">
                <a16:creationId xmlns:a16="http://schemas.microsoft.com/office/drawing/2014/main" id="{1D2095FD-05DF-6972-B4FC-BE89CBD25350}"/>
              </a:ext>
            </a:extLst>
          </p:cNvPr>
          <p:cNvSpPr>
            <a:spLocks noGrp="1"/>
          </p:cNvSpPr>
          <p:nvPr>
            <p:ph type="sldNum" sz="quarter" idx="429496729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Graphik"/>
                <a:ea typeface="+mn-ea"/>
                <a:cs typeface="+mn-cs"/>
              </a:rPr>
              <a:t> </a:t>
            </a:r>
          </a:p>
        </p:txBody>
      </p:sp>
      <p:sp>
        <p:nvSpPr>
          <p:cNvPr id="23" name="Title 1">
            <a:extLst>
              <a:ext uri="{FF2B5EF4-FFF2-40B4-BE49-F238E27FC236}">
                <a16:creationId xmlns:a16="http://schemas.microsoft.com/office/drawing/2014/main" id="{3F2E0D37-E93D-BA6E-73A4-DBEA543AE1A1}"/>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a:ln>
                  <a:noFill/>
                </a:ln>
                <a:solidFill>
                  <a:srgbClr val="7500C0"/>
                </a:solidFill>
                <a:effectLst/>
                <a:uLnTx/>
                <a:uFillTx/>
                <a:latin typeface="Graphik"/>
                <a:ea typeface="+mj-ea"/>
                <a:cs typeface="+mj-cs"/>
              </a:rPr>
              <a:t>Arquitectura de Interoperabilidad </a:t>
            </a:r>
            <a:r>
              <a:rPr kumimoji="0" lang="es" sz="2400" b="1" i="0" u="none" strike="noStrike" kern="1200" cap="none" spc="0" normalizeH="0" baseline="0" noProof="0">
                <a:ln>
                  <a:noFill/>
                </a:ln>
                <a:solidFill>
                  <a:srgbClr val="000000"/>
                </a:solidFill>
                <a:effectLst/>
                <a:uLnTx/>
                <a:uFillTx/>
                <a:latin typeface="Graphik"/>
                <a:ea typeface="+mj-ea"/>
                <a:cs typeface="+mj-cs"/>
              </a:rPr>
              <a:t>| </a:t>
            </a:r>
            <a:r>
              <a:rPr kumimoji="0" lang="es" sz="2000" b="1" i="0" u="none" strike="noStrike" kern="1200" cap="none" spc="0" normalizeH="0" baseline="0" noProof="0">
                <a:ln>
                  <a:noFill/>
                </a:ln>
                <a:solidFill>
                  <a:srgbClr val="000000"/>
                </a:solidFill>
                <a:effectLst/>
                <a:uLnTx/>
                <a:uFillTx/>
                <a:latin typeface="Graphik"/>
                <a:ea typeface="+mj-ea"/>
                <a:cs typeface="+mj-cs"/>
              </a:rPr>
              <a:t>Mapa de capacidades Nivel 0</a:t>
            </a:r>
            <a:endParaRPr kumimoji="0" lang="es" sz="2400" b="1" i="0" u="none" strike="noStrike" kern="1200" cap="none" spc="0" normalizeH="0" baseline="0" noProof="0">
              <a:ln>
                <a:noFill/>
              </a:ln>
              <a:solidFill>
                <a:srgbClr val="000000"/>
              </a:solidFill>
              <a:effectLst/>
              <a:uLnTx/>
              <a:uFillTx/>
              <a:latin typeface="Graphik"/>
              <a:ea typeface="+mj-ea"/>
              <a:cs typeface="+mj-cs"/>
            </a:endParaRPr>
          </a:p>
        </p:txBody>
      </p:sp>
      <p:sp>
        <p:nvSpPr>
          <p:cNvPr id="25" name="Rectangle 24">
            <a:extLst>
              <a:ext uri="{FF2B5EF4-FFF2-40B4-BE49-F238E27FC236}">
                <a16:creationId xmlns:a16="http://schemas.microsoft.com/office/drawing/2014/main" id="{35CAF95D-6B8C-9E94-196D-EA7492D1E889}"/>
              </a:ext>
            </a:extLst>
          </p:cNvPr>
          <p:cNvSpPr/>
          <p:nvPr/>
        </p:nvSpPr>
        <p:spPr>
          <a:xfrm>
            <a:off x="699575" y="944591"/>
            <a:ext cx="1080000" cy="5222888"/>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Seguridad</a:t>
            </a:r>
          </a:p>
        </p:txBody>
      </p:sp>
      <p:sp>
        <p:nvSpPr>
          <p:cNvPr id="26" name="Rectangle 25">
            <a:extLst>
              <a:ext uri="{FF2B5EF4-FFF2-40B4-BE49-F238E27FC236}">
                <a16:creationId xmlns:a16="http://schemas.microsoft.com/office/drawing/2014/main" id="{3B684265-D6EA-71E2-2302-A84E24488B51}"/>
              </a:ext>
            </a:extLst>
          </p:cNvPr>
          <p:cNvSpPr/>
          <p:nvPr/>
        </p:nvSpPr>
        <p:spPr>
          <a:xfrm>
            <a:off x="1897863" y="961183"/>
            <a:ext cx="1080000" cy="5230769"/>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Observabilidad</a:t>
            </a:r>
          </a:p>
        </p:txBody>
      </p:sp>
      <p:sp>
        <p:nvSpPr>
          <p:cNvPr id="27" name="Rectangle 26">
            <a:extLst>
              <a:ext uri="{FF2B5EF4-FFF2-40B4-BE49-F238E27FC236}">
                <a16:creationId xmlns:a16="http://schemas.microsoft.com/office/drawing/2014/main" id="{DD7C210E-F88A-72DC-6329-5111E0A784A0}"/>
              </a:ext>
            </a:extLst>
          </p:cNvPr>
          <p:cNvSpPr/>
          <p:nvPr/>
        </p:nvSpPr>
        <p:spPr>
          <a:xfrm>
            <a:off x="10221552" y="944591"/>
            <a:ext cx="1080000" cy="5230768"/>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Infraestructura</a:t>
            </a:r>
          </a:p>
        </p:txBody>
      </p:sp>
      <p:sp>
        <p:nvSpPr>
          <p:cNvPr id="28" name="Rectangle 27">
            <a:extLst>
              <a:ext uri="{FF2B5EF4-FFF2-40B4-BE49-F238E27FC236}">
                <a16:creationId xmlns:a16="http://schemas.microsoft.com/office/drawing/2014/main" id="{EE7889EA-B7F8-3755-8A1D-261AE1A57DA8}"/>
              </a:ext>
            </a:extLst>
          </p:cNvPr>
          <p:cNvSpPr/>
          <p:nvPr/>
        </p:nvSpPr>
        <p:spPr>
          <a:xfrm>
            <a:off x="3169828" y="944591"/>
            <a:ext cx="5681779" cy="1077165"/>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dirty="0">
                <a:ln>
                  <a:noFill/>
                </a:ln>
                <a:solidFill>
                  <a:srgbClr val="000000"/>
                </a:solidFill>
                <a:effectLst/>
                <a:uLnTx/>
                <a:uFillTx/>
                <a:latin typeface="Graphik"/>
                <a:ea typeface="+mn-ea"/>
                <a:cs typeface="+mn-cs"/>
              </a:rPr>
              <a:t>Servicios de Gateway</a:t>
            </a:r>
          </a:p>
        </p:txBody>
      </p:sp>
      <p:sp>
        <p:nvSpPr>
          <p:cNvPr id="29" name="Rectangle 28">
            <a:extLst>
              <a:ext uri="{FF2B5EF4-FFF2-40B4-BE49-F238E27FC236}">
                <a16:creationId xmlns:a16="http://schemas.microsoft.com/office/drawing/2014/main" id="{6F1D8B91-F8E9-DA72-D6BE-BCB1B0F3579D}"/>
              </a:ext>
            </a:extLst>
          </p:cNvPr>
          <p:cNvSpPr/>
          <p:nvPr/>
        </p:nvSpPr>
        <p:spPr>
          <a:xfrm>
            <a:off x="3161292" y="2773838"/>
            <a:ext cx="5681779" cy="540000"/>
          </a:xfrm>
          <a:prstGeom prst="rect">
            <a:avLst/>
          </a:prstGeom>
          <a:solidFill>
            <a:schemeClr val="bg2"/>
          </a:solidFill>
          <a:ln w="38100">
            <a:solidFill>
              <a:srgbClr val="156082"/>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dirty="0">
                <a:ln>
                  <a:noFill/>
                </a:ln>
                <a:solidFill>
                  <a:srgbClr val="000000"/>
                </a:solidFill>
                <a:effectLst/>
                <a:uLnTx/>
                <a:uFillTx/>
                <a:latin typeface="Graphik"/>
                <a:ea typeface="+mn-ea"/>
                <a:cs typeface="+mn-cs"/>
              </a:rPr>
              <a:t>Omnicanal y componentes de caché</a:t>
            </a:r>
          </a:p>
        </p:txBody>
      </p:sp>
      <p:sp>
        <p:nvSpPr>
          <p:cNvPr id="30" name="Rectangle 29">
            <a:extLst>
              <a:ext uri="{FF2B5EF4-FFF2-40B4-BE49-F238E27FC236}">
                <a16:creationId xmlns:a16="http://schemas.microsoft.com/office/drawing/2014/main" id="{BE853095-31D2-82AE-9172-982352C07FA0}"/>
              </a:ext>
            </a:extLst>
          </p:cNvPr>
          <p:cNvSpPr/>
          <p:nvPr/>
        </p:nvSpPr>
        <p:spPr>
          <a:xfrm>
            <a:off x="3167494" y="5132461"/>
            <a:ext cx="5681779" cy="1042899"/>
          </a:xfrm>
          <a:prstGeom prst="rect">
            <a:avLst/>
          </a:prstGeom>
          <a:solidFill>
            <a:schemeClr val="bg2"/>
          </a:solidFill>
          <a:ln w="38100">
            <a:solidFill>
              <a:srgbClr val="156082"/>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Entrega de datos</a:t>
            </a:r>
          </a:p>
        </p:txBody>
      </p:sp>
      <p:sp>
        <p:nvSpPr>
          <p:cNvPr id="31" name="Rectangle 30">
            <a:extLst>
              <a:ext uri="{FF2B5EF4-FFF2-40B4-BE49-F238E27FC236}">
                <a16:creationId xmlns:a16="http://schemas.microsoft.com/office/drawing/2014/main" id="{C5FA8029-4F87-E423-C7C5-81395BDB8DAC}"/>
              </a:ext>
            </a:extLst>
          </p:cNvPr>
          <p:cNvSpPr/>
          <p:nvPr/>
        </p:nvSpPr>
        <p:spPr>
          <a:xfrm>
            <a:off x="3166592" y="3442991"/>
            <a:ext cx="5681779" cy="960502"/>
          </a:xfrm>
          <a:prstGeom prst="rect">
            <a:avLst/>
          </a:prstGeom>
          <a:solidFill>
            <a:schemeClr val="bg2"/>
          </a:solidFill>
          <a:ln w="38100">
            <a:solidFill>
              <a:srgbClr val="156082"/>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Transacciones distribuidas</a:t>
            </a:r>
          </a:p>
        </p:txBody>
      </p:sp>
      <p:sp>
        <p:nvSpPr>
          <p:cNvPr id="32" name="Rectangle 31">
            <a:extLst>
              <a:ext uri="{FF2B5EF4-FFF2-40B4-BE49-F238E27FC236}">
                <a16:creationId xmlns:a16="http://schemas.microsoft.com/office/drawing/2014/main" id="{45F0B9D3-6C9E-7BA7-31DD-AC943E23A694}"/>
              </a:ext>
            </a:extLst>
          </p:cNvPr>
          <p:cNvSpPr/>
          <p:nvPr/>
        </p:nvSpPr>
        <p:spPr>
          <a:xfrm>
            <a:off x="9005587" y="944591"/>
            <a:ext cx="1080000" cy="5230768"/>
          </a:xfrm>
          <a:prstGeom prst="rect">
            <a:avLst/>
          </a:prstGeom>
          <a:solidFill>
            <a:schemeClr val="bg2"/>
          </a:solidFill>
          <a:ln w="38100">
            <a:solidFill>
              <a:srgbClr val="156082"/>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Procesamiento de eventos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&amp; Componentes Reactivos</a:t>
            </a:r>
          </a:p>
        </p:txBody>
      </p:sp>
      <p:sp>
        <p:nvSpPr>
          <p:cNvPr id="33" name="Rectangle 32">
            <a:extLst>
              <a:ext uri="{FF2B5EF4-FFF2-40B4-BE49-F238E27FC236}">
                <a16:creationId xmlns:a16="http://schemas.microsoft.com/office/drawing/2014/main" id="{2331BFAC-4582-D6C2-0B9D-7B9423776C12}"/>
              </a:ext>
            </a:extLst>
          </p:cNvPr>
          <p:cNvSpPr/>
          <p:nvPr/>
        </p:nvSpPr>
        <p:spPr>
          <a:xfrm>
            <a:off x="3166592" y="2127797"/>
            <a:ext cx="5681779" cy="540000"/>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dirty="0">
                <a:ln>
                  <a:noFill/>
                </a:ln>
                <a:solidFill>
                  <a:srgbClr val="000000"/>
                </a:solidFill>
                <a:effectLst/>
                <a:uLnTx/>
                <a:uFillTx/>
                <a:latin typeface="Graphik"/>
                <a:ea typeface="+mn-ea"/>
                <a:cs typeface="+mn-cs"/>
              </a:rPr>
              <a:t>API Management</a:t>
            </a:r>
          </a:p>
        </p:txBody>
      </p:sp>
      <p:sp>
        <p:nvSpPr>
          <p:cNvPr id="34" name="Oval 33">
            <a:extLst>
              <a:ext uri="{FF2B5EF4-FFF2-40B4-BE49-F238E27FC236}">
                <a16:creationId xmlns:a16="http://schemas.microsoft.com/office/drawing/2014/main" id="{4348B68A-460A-7E8D-CF03-2C9D148C9E4B}"/>
              </a:ext>
            </a:extLst>
          </p:cNvPr>
          <p:cNvSpPr/>
          <p:nvPr/>
        </p:nvSpPr>
        <p:spPr>
          <a:xfrm>
            <a:off x="751436" y="1147797"/>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K</a:t>
            </a:r>
          </a:p>
        </p:txBody>
      </p:sp>
      <p:sp>
        <p:nvSpPr>
          <p:cNvPr id="35" name="Oval 34">
            <a:extLst>
              <a:ext uri="{FF2B5EF4-FFF2-40B4-BE49-F238E27FC236}">
                <a16:creationId xmlns:a16="http://schemas.microsoft.com/office/drawing/2014/main" id="{E5B10B80-9089-6A7E-DEA3-35568C4227A4}"/>
              </a:ext>
            </a:extLst>
          </p:cNvPr>
          <p:cNvSpPr/>
          <p:nvPr/>
        </p:nvSpPr>
        <p:spPr>
          <a:xfrm>
            <a:off x="1946299" y="1147797"/>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K</a:t>
            </a:r>
          </a:p>
        </p:txBody>
      </p:sp>
      <p:sp>
        <p:nvSpPr>
          <p:cNvPr id="36" name="Oval 35">
            <a:extLst>
              <a:ext uri="{FF2B5EF4-FFF2-40B4-BE49-F238E27FC236}">
                <a16:creationId xmlns:a16="http://schemas.microsoft.com/office/drawing/2014/main" id="{C4ADD5A6-387B-A6A8-FBEF-25F80ABC7914}"/>
              </a:ext>
            </a:extLst>
          </p:cNvPr>
          <p:cNvSpPr/>
          <p:nvPr/>
        </p:nvSpPr>
        <p:spPr>
          <a:xfrm>
            <a:off x="5200332" y="978921"/>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K</a:t>
            </a:r>
          </a:p>
        </p:txBody>
      </p:sp>
      <p:sp>
        <p:nvSpPr>
          <p:cNvPr id="37" name="Oval 36">
            <a:extLst>
              <a:ext uri="{FF2B5EF4-FFF2-40B4-BE49-F238E27FC236}">
                <a16:creationId xmlns:a16="http://schemas.microsoft.com/office/drawing/2014/main" id="{C321EF74-2630-8D79-2E16-83A3B6DB51E5}"/>
              </a:ext>
            </a:extLst>
          </p:cNvPr>
          <p:cNvSpPr/>
          <p:nvPr/>
        </p:nvSpPr>
        <p:spPr>
          <a:xfrm>
            <a:off x="10248103" y="1147797"/>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K</a:t>
            </a:r>
          </a:p>
        </p:txBody>
      </p:sp>
      <p:sp>
        <p:nvSpPr>
          <p:cNvPr id="38" name="Oval 37">
            <a:extLst>
              <a:ext uri="{FF2B5EF4-FFF2-40B4-BE49-F238E27FC236}">
                <a16:creationId xmlns:a16="http://schemas.microsoft.com/office/drawing/2014/main" id="{952237D2-2F4C-2D59-422B-EF7D4BF0F35F}"/>
              </a:ext>
            </a:extLst>
          </p:cNvPr>
          <p:cNvSpPr/>
          <p:nvPr/>
        </p:nvSpPr>
        <p:spPr>
          <a:xfrm>
            <a:off x="5306545" y="2158233"/>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K</a:t>
            </a:r>
          </a:p>
        </p:txBody>
      </p:sp>
      <p:sp>
        <p:nvSpPr>
          <p:cNvPr id="39" name="Rectangle 38">
            <a:extLst>
              <a:ext uri="{FF2B5EF4-FFF2-40B4-BE49-F238E27FC236}">
                <a16:creationId xmlns:a16="http://schemas.microsoft.com/office/drawing/2014/main" id="{4DAAAD8E-B9F3-9108-D1A1-C81AAAAA5191}"/>
              </a:ext>
            </a:extLst>
          </p:cNvPr>
          <p:cNvSpPr/>
          <p:nvPr/>
        </p:nvSpPr>
        <p:spPr>
          <a:xfrm>
            <a:off x="3160153" y="4486422"/>
            <a:ext cx="5681779" cy="540000"/>
          </a:xfrm>
          <a:prstGeom prst="rect">
            <a:avLst/>
          </a:prstGeom>
          <a:solidFill>
            <a:schemeClr val="bg2"/>
          </a:solidFill>
          <a:ln w="38100">
            <a:solidFill>
              <a:srgbClr val="156082"/>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Servicios Empresariales Comunes</a:t>
            </a:r>
          </a:p>
        </p:txBody>
      </p:sp>
      <p:grpSp>
        <p:nvGrpSpPr>
          <p:cNvPr id="10" name="Group 9">
            <a:extLst>
              <a:ext uri="{FF2B5EF4-FFF2-40B4-BE49-F238E27FC236}">
                <a16:creationId xmlns:a16="http://schemas.microsoft.com/office/drawing/2014/main" id="{A715F0A8-9A07-D1F4-8E94-E69505C8BC4F}"/>
              </a:ext>
            </a:extLst>
          </p:cNvPr>
          <p:cNvGrpSpPr/>
          <p:nvPr/>
        </p:nvGrpSpPr>
        <p:grpSpPr>
          <a:xfrm>
            <a:off x="4475293" y="6283462"/>
            <a:ext cx="3241414" cy="180000"/>
            <a:chOff x="3701850" y="6283462"/>
            <a:chExt cx="3241414" cy="180000"/>
          </a:xfrm>
        </p:grpSpPr>
        <p:grpSp>
          <p:nvGrpSpPr>
            <p:cNvPr id="2" name="Group 1">
              <a:extLst>
                <a:ext uri="{FF2B5EF4-FFF2-40B4-BE49-F238E27FC236}">
                  <a16:creationId xmlns:a16="http://schemas.microsoft.com/office/drawing/2014/main" id="{10CE7E30-FB49-87C3-6315-6BA117E30961}"/>
                </a:ext>
              </a:extLst>
            </p:cNvPr>
            <p:cNvGrpSpPr/>
            <p:nvPr/>
          </p:nvGrpSpPr>
          <p:grpSpPr>
            <a:xfrm>
              <a:off x="5366382" y="6283462"/>
              <a:ext cx="1576882" cy="180000"/>
              <a:chOff x="9283672" y="6207566"/>
              <a:chExt cx="1576882" cy="180000"/>
            </a:xfrm>
          </p:grpSpPr>
          <p:sp>
            <p:nvSpPr>
              <p:cNvPr id="6" name="Oval 5">
                <a:extLst>
                  <a:ext uri="{FF2B5EF4-FFF2-40B4-BE49-F238E27FC236}">
                    <a16:creationId xmlns:a16="http://schemas.microsoft.com/office/drawing/2014/main" id="{1DDAE80A-3BE9-F699-2356-053B41867887}"/>
                  </a:ext>
                </a:extLst>
              </p:cNvPr>
              <p:cNvSpPr/>
              <p:nvPr/>
            </p:nvSpPr>
            <p:spPr>
              <a:xfrm>
                <a:off x="9283672" y="6207566"/>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K</a:t>
                </a:r>
                <a:endParaRPr kumimoji="0" lang="en-ES" sz="1100" b="1" i="0" u="none" strike="noStrike" kern="1200" cap="none" spc="0" normalizeH="0" baseline="0" noProof="0">
                  <a:ln>
                    <a:noFill/>
                  </a:ln>
                  <a:solidFill>
                    <a:srgbClr val="FFFFFF"/>
                  </a:solidFill>
                  <a:effectLst/>
                  <a:uLnTx/>
                  <a:uFillTx/>
                  <a:latin typeface="Graphik"/>
                  <a:ea typeface="+mn-ea"/>
                  <a:cs typeface="+mn-cs"/>
                </a:endParaRPr>
              </a:p>
            </p:txBody>
          </p:sp>
          <p:sp>
            <p:nvSpPr>
              <p:cNvPr id="8" name="Rectangle 7">
                <a:extLst>
                  <a:ext uri="{FF2B5EF4-FFF2-40B4-BE49-F238E27FC236}">
                    <a16:creationId xmlns:a16="http://schemas.microsoft.com/office/drawing/2014/main" id="{286BB76A-3F9B-D1F9-6950-D3BDD77F5662}"/>
                  </a:ext>
                </a:extLst>
              </p:cNvPr>
              <p:cNvSpPr/>
              <p:nvPr/>
            </p:nvSpPr>
            <p:spPr>
              <a:xfrm>
                <a:off x="9526720" y="6230887"/>
                <a:ext cx="1333834" cy="13335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Kernel y componentes de plataforma</a:t>
                </a:r>
              </a:p>
            </p:txBody>
          </p:sp>
        </p:grpSp>
        <p:grpSp>
          <p:nvGrpSpPr>
            <p:cNvPr id="41" name="Group 40">
              <a:extLst>
                <a:ext uri="{FF2B5EF4-FFF2-40B4-BE49-F238E27FC236}">
                  <a16:creationId xmlns:a16="http://schemas.microsoft.com/office/drawing/2014/main" id="{6DCA3CFE-F1DB-D7D2-950A-21687A44241E}"/>
                </a:ext>
              </a:extLst>
            </p:cNvPr>
            <p:cNvGrpSpPr/>
            <p:nvPr/>
          </p:nvGrpSpPr>
          <p:grpSpPr>
            <a:xfrm>
              <a:off x="3701850" y="6283462"/>
              <a:ext cx="1576882" cy="180000"/>
              <a:chOff x="9283672" y="6207566"/>
              <a:chExt cx="1576882" cy="180000"/>
            </a:xfrm>
          </p:grpSpPr>
          <p:sp>
            <p:nvSpPr>
              <p:cNvPr id="42" name="Rectangle 41">
                <a:extLst>
                  <a:ext uri="{FF2B5EF4-FFF2-40B4-BE49-F238E27FC236}">
                    <a16:creationId xmlns:a16="http://schemas.microsoft.com/office/drawing/2014/main" id="{287C8FB2-D5DE-6280-FB13-34069B176F48}"/>
                  </a:ext>
                </a:extLst>
              </p:cNvPr>
              <p:cNvSpPr/>
              <p:nvPr/>
            </p:nvSpPr>
            <p:spPr>
              <a:xfrm>
                <a:off x="9283672" y="6207566"/>
                <a:ext cx="180000" cy="180000"/>
              </a:xfrm>
              <a:prstGeom prst="rect">
                <a:avLst/>
              </a:prstGeom>
              <a:solidFill>
                <a:srgbClr val="E6E6DC"/>
              </a:solidFill>
              <a:ln>
                <a:solidFill>
                  <a:srgbClr val="15608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ES" sz="1100" b="1" i="0" u="none" strike="noStrike" kern="1200" cap="none" spc="0" normalizeH="0" baseline="0" noProof="0">
                  <a:ln>
                    <a:noFill/>
                  </a:ln>
                  <a:solidFill>
                    <a:srgbClr val="FFFFFF"/>
                  </a:solidFill>
                  <a:effectLst/>
                  <a:uLnTx/>
                  <a:uFillTx/>
                  <a:latin typeface="Graphik"/>
                  <a:ea typeface="+mn-ea"/>
                  <a:cs typeface="+mn-cs"/>
                </a:endParaRPr>
              </a:p>
            </p:txBody>
          </p:sp>
          <p:sp>
            <p:nvSpPr>
              <p:cNvPr id="43" name="Rectangle 42">
                <a:extLst>
                  <a:ext uri="{FF2B5EF4-FFF2-40B4-BE49-F238E27FC236}">
                    <a16:creationId xmlns:a16="http://schemas.microsoft.com/office/drawing/2014/main" id="{1B0E70EF-BC92-62AA-DBAC-D832C2064225}"/>
                  </a:ext>
                </a:extLst>
              </p:cNvPr>
              <p:cNvSpPr/>
              <p:nvPr/>
            </p:nvSpPr>
            <p:spPr>
              <a:xfrm>
                <a:off x="9526720" y="6230887"/>
                <a:ext cx="1333834" cy="13335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Componentes de dominio</a:t>
                </a:r>
              </a:p>
            </p:txBody>
          </p:sp>
        </p:grpSp>
      </p:grpSp>
      <p:sp>
        <p:nvSpPr>
          <p:cNvPr id="9" name="TextBox 8">
            <a:extLst>
              <a:ext uri="{FF2B5EF4-FFF2-40B4-BE49-F238E27FC236}">
                <a16:creationId xmlns:a16="http://schemas.microsoft.com/office/drawing/2014/main" id="{DFDF29F5-8E30-A006-0773-586224C86D4B}"/>
              </a:ext>
            </a:extLst>
          </p:cNvPr>
          <p:cNvSpPr txBox="1"/>
          <p:nvPr>
            <p:extLst>
              <p:ext uri="{1162E1C5-73C7-4A58-AE30-91384D911F3F}">
                <p184:classification xmlns:p184="http://schemas.microsoft.com/office/powerpoint/2018/4/main" val="hdr"/>
              </p:ext>
            </p:extLst>
          </p:nvPr>
        </p:nvSpPr>
        <p:spPr>
          <a:xfrm>
            <a:off x="379000" y="78170"/>
            <a:ext cx="11432000" cy="154830"/>
          </a:xfrm>
          <a:prstGeom prst="rect">
            <a:avLst/>
          </a:prstGeom>
        </p:spPr>
        <p:txBody>
          <a:bodyPr horzOverflow="overflow"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000" b="0" i="0" u="none" strike="noStrike" kern="1200" cap="none" spc="0" normalizeH="0" baseline="0" noProof="0" dirty="0">
                <a:ln>
                  <a:noFill/>
                </a:ln>
                <a:solidFill>
                  <a:srgbClr val="000000"/>
                </a:solidFill>
                <a:effectLst/>
                <a:uLnTx/>
                <a:uFillTx/>
                <a:latin typeface="Graphik (Body)"/>
                <a:ea typeface="+mn-ea"/>
                <a:cs typeface="Calibri" panose="020F0502020204030204" pitchFamily="34" charset="0"/>
              </a:rPr>
              <a:t>*** Confidencial - Solo para uso interno de la empresa ***</a:t>
            </a:r>
          </a:p>
        </p:txBody>
      </p:sp>
      <p:pic>
        <p:nvPicPr>
          <p:cNvPr id="7" name="Picture 6" descr="Imágenes del botón de atrás – Navega por 625.558 fotos de stock, vectores y vídeos |  Adobe Stock">
            <a:hlinkClick r:id="rId2" action="ppaction://hlinksldjump"/>
            <a:extLst>
              <a:ext uri="{FF2B5EF4-FFF2-40B4-BE49-F238E27FC236}">
                <a16:creationId xmlns:a16="http://schemas.microsoft.com/office/drawing/2014/main" id="{BFFD0609-C65D-3873-A3BC-E3A639D41C59}"/>
              </a:ext>
            </a:extLst>
          </p:cNvPr>
          <p:cNvPicPr>
            <a:picLocks noChangeAspect="1" noChangeArrowheads="1"/>
          </p:cNvPicPr>
          <p:nvPr/>
        </p:nvPicPr>
        <p:blipFill rotWithShape="1">
          <a:blip r:embed="rId3" cstate="hqprint">
            <a:duotone>
              <a:schemeClr val="accent2">
                <a:shade val="45000"/>
                <a:satMod val="135000"/>
              </a:schemeClr>
              <a:prstClr val="white"/>
            </a:duotone>
            <a:extLst>
              <a:ext uri="{BEBA8EAE-BF5A-486C-A8C5-ECC9F3942E4B}">
                <a14:imgProps xmlns:a14="http://schemas.microsoft.com/office/drawing/2010/main">
                  <a14:imgLayer r:embed="rId4">
                    <a14:imgEffect>
                      <a14:backgroundRemoval t="10000" b="90000" l="10000" r="90000">
                        <a14:foregroundMark x1="24259" y1="46667" x2="24259" y2="46667"/>
                        <a14:foregroundMark x1="25000" y1="53611" x2="25000" y2="53611"/>
                        <a14:foregroundMark x1="32778" y1="49167" x2="32778" y2="49167"/>
                        <a14:foregroundMark x1="73889" y1="51389" x2="73889" y2="51389"/>
                      </a14:backgroundRemoval>
                    </a14:imgEffect>
                  </a14:imgLayer>
                </a14:imgProps>
              </a:ext>
              <a:ext uri="{28A0092B-C50C-407E-A947-70E740481C1C}">
                <a14:useLocalDpi xmlns:a14="http://schemas.microsoft.com/office/drawing/2010/main"/>
              </a:ext>
            </a:extLst>
          </a:blip>
          <a:srcRect l="8527" t="26395" r="7584" b="26395"/>
          <a:stretch/>
        </p:blipFill>
        <p:spPr bwMode="auto">
          <a:xfrm>
            <a:off x="11306376" y="11050"/>
            <a:ext cx="839056" cy="314796"/>
          </a:xfrm>
          <a:prstGeom prst="rect">
            <a:avLst/>
          </a:prstGeom>
          <a:solidFill>
            <a:schemeClr val="bg1"/>
          </a:solidFill>
        </p:spPr>
      </p:pic>
      <p:sp>
        <p:nvSpPr>
          <p:cNvPr id="12" name="Rectangle 11">
            <a:extLst>
              <a:ext uri="{FF2B5EF4-FFF2-40B4-BE49-F238E27FC236}">
                <a16:creationId xmlns:a16="http://schemas.microsoft.com/office/drawing/2014/main" id="{E8896A5D-E29D-1A23-6B60-D2B3121BA6F9}"/>
              </a:ext>
            </a:extLst>
          </p:cNvPr>
          <p:cNvSpPr/>
          <p:nvPr/>
        </p:nvSpPr>
        <p:spPr>
          <a:xfrm>
            <a:off x="9088387" y="1734218"/>
            <a:ext cx="914400" cy="4015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800"/>
              <a:t>Realizar transacciones internas</a:t>
            </a:r>
          </a:p>
        </p:txBody>
      </p:sp>
      <p:sp>
        <p:nvSpPr>
          <p:cNvPr id="14" name="Rectangle 13">
            <a:extLst>
              <a:ext uri="{FF2B5EF4-FFF2-40B4-BE49-F238E27FC236}">
                <a16:creationId xmlns:a16="http://schemas.microsoft.com/office/drawing/2014/main" id="{0A76888A-9AEE-CF3B-F48A-77C83B5D34C9}"/>
              </a:ext>
            </a:extLst>
          </p:cNvPr>
          <p:cNvSpPr/>
          <p:nvPr/>
        </p:nvSpPr>
        <p:spPr>
          <a:xfrm>
            <a:off x="3272833" y="2843068"/>
            <a:ext cx="914400" cy="4015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800" dirty="0"/>
              <a:t>Origen de Apolo</a:t>
            </a:r>
          </a:p>
        </p:txBody>
      </p:sp>
      <p:sp>
        <p:nvSpPr>
          <p:cNvPr id="16" name="Rectangle 15">
            <a:extLst>
              <a:ext uri="{FF2B5EF4-FFF2-40B4-BE49-F238E27FC236}">
                <a16:creationId xmlns:a16="http://schemas.microsoft.com/office/drawing/2014/main" id="{07FCFF0D-17F3-2F1A-9518-4788968EAB86}"/>
              </a:ext>
            </a:extLst>
          </p:cNvPr>
          <p:cNvSpPr/>
          <p:nvPr/>
        </p:nvSpPr>
        <p:spPr>
          <a:xfrm>
            <a:off x="3272833" y="5577732"/>
            <a:ext cx="914400" cy="4015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800"/>
              <a:t>Sincronización de datos de clientes</a:t>
            </a:r>
            <a:endParaRPr lang="en-US" sz="800"/>
          </a:p>
        </p:txBody>
      </p:sp>
      <p:sp>
        <p:nvSpPr>
          <p:cNvPr id="18" name="Rectangle 17">
            <a:extLst>
              <a:ext uri="{FF2B5EF4-FFF2-40B4-BE49-F238E27FC236}">
                <a16:creationId xmlns:a16="http://schemas.microsoft.com/office/drawing/2014/main" id="{A9847621-B9CC-93DF-CD27-182686AD28A9}"/>
              </a:ext>
            </a:extLst>
          </p:cNvPr>
          <p:cNvSpPr/>
          <p:nvPr/>
        </p:nvSpPr>
        <p:spPr>
          <a:xfrm>
            <a:off x="3288116" y="3795918"/>
            <a:ext cx="914400" cy="4015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800"/>
              <a:t>Amortizar préstamos Pisa-&gt; Trasnact</a:t>
            </a:r>
            <a:endParaRPr lang="en-US" sz="800"/>
          </a:p>
        </p:txBody>
      </p:sp>
      <p:sp>
        <p:nvSpPr>
          <p:cNvPr id="20" name="Rectangle 19">
            <a:extLst>
              <a:ext uri="{FF2B5EF4-FFF2-40B4-BE49-F238E27FC236}">
                <a16:creationId xmlns:a16="http://schemas.microsoft.com/office/drawing/2014/main" id="{CBFBC529-1644-2543-E4D2-920FEA409697}"/>
              </a:ext>
            </a:extLst>
          </p:cNvPr>
          <p:cNvSpPr/>
          <p:nvPr/>
        </p:nvSpPr>
        <p:spPr>
          <a:xfrm>
            <a:off x="1145583" y="6347453"/>
            <a:ext cx="914400" cy="4015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800"/>
              <a:t>Potenciales casos de uso</a:t>
            </a:r>
          </a:p>
        </p:txBody>
      </p:sp>
      <p:sp>
        <p:nvSpPr>
          <p:cNvPr id="11" name="Rectangle 10">
            <a:extLst>
              <a:ext uri="{FF2B5EF4-FFF2-40B4-BE49-F238E27FC236}">
                <a16:creationId xmlns:a16="http://schemas.microsoft.com/office/drawing/2014/main" id="{112648E3-5643-69A6-1D63-9FE790C172ED}"/>
              </a:ext>
            </a:extLst>
          </p:cNvPr>
          <p:cNvSpPr/>
          <p:nvPr/>
        </p:nvSpPr>
        <p:spPr>
          <a:xfrm>
            <a:off x="1997154" y="1531004"/>
            <a:ext cx="914400" cy="401540"/>
          </a:xfrm>
          <a:prstGeom prst="rect">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tIns="91440" bIns="91440" rtlCol="0" anchor="ctr"/>
          <a:lstStyle/>
          <a:p>
            <a:pPr algn="ctr"/>
            <a:r>
              <a:rPr lang="es" sz="800" dirty="0"/>
              <a:t>Bajaware (deprecar)</a:t>
            </a:r>
          </a:p>
        </p:txBody>
      </p:sp>
      <p:sp>
        <p:nvSpPr>
          <p:cNvPr id="22" name="Rectangle 21">
            <a:extLst>
              <a:ext uri="{FF2B5EF4-FFF2-40B4-BE49-F238E27FC236}">
                <a16:creationId xmlns:a16="http://schemas.microsoft.com/office/drawing/2014/main" id="{0FAD632A-8270-F39C-A26C-A23C364B50E0}"/>
              </a:ext>
            </a:extLst>
          </p:cNvPr>
          <p:cNvSpPr/>
          <p:nvPr/>
        </p:nvSpPr>
        <p:spPr>
          <a:xfrm>
            <a:off x="4341213" y="2938053"/>
            <a:ext cx="876727" cy="316035"/>
          </a:xfrm>
          <a:prstGeom prst="rect">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tIns="91440" bIns="91440" rtlCol="0" anchor="ctr"/>
          <a:lstStyle/>
          <a:p>
            <a:pPr algn="ctr"/>
            <a:r>
              <a:rPr lang="es" sz="800" dirty="0"/>
              <a:t>OFI (deprecar)</a:t>
            </a:r>
          </a:p>
        </p:txBody>
      </p:sp>
      <p:sp>
        <p:nvSpPr>
          <p:cNvPr id="40" name="Rectangle 39">
            <a:extLst>
              <a:ext uri="{FF2B5EF4-FFF2-40B4-BE49-F238E27FC236}">
                <a16:creationId xmlns:a16="http://schemas.microsoft.com/office/drawing/2014/main" id="{B4027EDC-D3E5-3BD6-2127-C9FE374E8FCF}"/>
              </a:ext>
            </a:extLst>
          </p:cNvPr>
          <p:cNvSpPr/>
          <p:nvPr/>
        </p:nvSpPr>
        <p:spPr>
          <a:xfrm>
            <a:off x="7807299" y="2843068"/>
            <a:ext cx="914400" cy="401540"/>
          </a:xfrm>
          <a:prstGeom prst="rect">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tIns="91440" bIns="91440" rtlCol="0" anchor="ctr"/>
          <a:lstStyle/>
          <a:p>
            <a:pPr algn="ctr"/>
            <a:r>
              <a:rPr lang="es" sz="800" dirty="0"/>
              <a:t>APP Bancoppel (mantener)</a:t>
            </a:r>
          </a:p>
        </p:txBody>
      </p:sp>
      <p:sp>
        <p:nvSpPr>
          <p:cNvPr id="45" name="Rectangle 44">
            <a:extLst>
              <a:ext uri="{FF2B5EF4-FFF2-40B4-BE49-F238E27FC236}">
                <a16:creationId xmlns:a16="http://schemas.microsoft.com/office/drawing/2014/main" id="{67A5E09F-EEBA-89E3-D97B-6F52BF11447C}"/>
              </a:ext>
            </a:extLst>
          </p:cNvPr>
          <p:cNvSpPr/>
          <p:nvPr/>
        </p:nvSpPr>
        <p:spPr>
          <a:xfrm>
            <a:off x="5353098" y="2938053"/>
            <a:ext cx="876727" cy="316035"/>
          </a:xfrm>
          <a:prstGeom prst="rect">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tIns="91440" bIns="91440" rtlCol="0" anchor="ctr"/>
          <a:lstStyle/>
          <a:p>
            <a:pPr algn="ctr"/>
            <a:r>
              <a:rPr lang="es" sz="800" dirty="0"/>
              <a:t>SIWEB (deprecar)</a:t>
            </a:r>
          </a:p>
        </p:txBody>
      </p:sp>
      <p:sp>
        <p:nvSpPr>
          <p:cNvPr id="47" name="Rectangle 46">
            <a:extLst>
              <a:ext uri="{FF2B5EF4-FFF2-40B4-BE49-F238E27FC236}">
                <a16:creationId xmlns:a16="http://schemas.microsoft.com/office/drawing/2014/main" id="{3CE3E2A1-390A-C389-349D-460E74ED5F87}"/>
              </a:ext>
            </a:extLst>
          </p:cNvPr>
          <p:cNvSpPr/>
          <p:nvPr/>
        </p:nvSpPr>
        <p:spPr>
          <a:xfrm>
            <a:off x="6364983" y="2947862"/>
            <a:ext cx="876727" cy="316035"/>
          </a:xfrm>
          <a:prstGeom prst="rect">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tIns="91440" bIns="91440" rtlCol="0" anchor="ctr"/>
          <a:lstStyle/>
          <a:p>
            <a:pPr algn="ctr"/>
            <a:r>
              <a:rPr lang="es" sz="800" dirty="0"/>
              <a:t>OnBase (invertir)</a:t>
            </a:r>
          </a:p>
        </p:txBody>
      </p:sp>
      <p:sp>
        <p:nvSpPr>
          <p:cNvPr id="49" name="Rectangle 48">
            <a:extLst>
              <a:ext uri="{FF2B5EF4-FFF2-40B4-BE49-F238E27FC236}">
                <a16:creationId xmlns:a16="http://schemas.microsoft.com/office/drawing/2014/main" id="{A674F534-FE99-364F-37A8-F7399CD41216}"/>
              </a:ext>
            </a:extLst>
          </p:cNvPr>
          <p:cNvSpPr/>
          <p:nvPr/>
        </p:nvSpPr>
        <p:spPr>
          <a:xfrm>
            <a:off x="3325789" y="4667634"/>
            <a:ext cx="876727" cy="316035"/>
          </a:xfrm>
          <a:prstGeom prst="rect">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tIns="91440" bIns="91440" rtlCol="0" anchor="ctr"/>
          <a:lstStyle/>
          <a:p>
            <a:pPr algn="ctr"/>
            <a:r>
              <a:rPr lang="es" sz="800" dirty="0"/>
              <a:t>SPEI (invertir)</a:t>
            </a:r>
          </a:p>
        </p:txBody>
      </p:sp>
      <p:sp>
        <p:nvSpPr>
          <p:cNvPr id="51" name="Rectangle 50">
            <a:extLst>
              <a:ext uri="{FF2B5EF4-FFF2-40B4-BE49-F238E27FC236}">
                <a16:creationId xmlns:a16="http://schemas.microsoft.com/office/drawing/2014/main" id="{D7FDB399-CB8E-B44C-0C44-37FEA8D26EA6}"/>
              </a:ext>
            </a:extLst>
          </p:cNvPr>
          <p:cNvSpPr/>
          <p:nvPr/>
        </p:nvSpPr>
        <p:spPr>
          <a:xfrm>
            <a:off x="4348969" y="4656163"/>
            <a:ext cx="876727" cy="316035"/>
          </a:xfrm>
          <a:prstGeom prst="rect">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tIns="91440" bIns="91440" rtlCol="0" anchor="ctr"/>
          <a:lstStyle/>
          <a:p>
            <a:pPr algn="ctr"/>
            <a:r>
              <a:rPr lang="es" sz="800" dirty="0"/>
              <a:t>OnBase (invertir)</a:t>
            </a:r>
          </a:p>
        </p:txBody>
      </p:sp>
      <p:sp>
        <p:nvSpPr>
          <p:cNvPr id="53" name="Rectangle 52">
            <a:extLst>
              <a:ext uri="{FF2B5EF4-FFF2-40B4-BE49-F238E27FC236}">
                <a16:creationId xmlns:a16="http://schemas.microsoft.com/office/drawing/2014/main" id="{1C2D229C-3B92-B55E-B3D0-3D08B16C28A4}"/>
              </a:ext>
            </a:extLst>
          </p:cNvPr>
          <p:cNvSpPr/>
          <p:nvPr/>
        </p:nvSpPr>
        <p:spPr>
          <a:xfrm>
            <a:off x="7716707" y="5548213"/>
            <a:ext cx="914400" cy="401540"/>
          </a:xfrm>
          <a:prstGeom prst="rect">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tIns="91440" bIns="91440" rtlCol="0" anchor="ctr"/>
          <a:lstStyle/>
          <a:p>
            <a:pPr algn="ctr"/>
            <a:r>
              <a:rPr lang="es" sz="800" dirty="0"/>
              <a:t>Bajaware (deprecar)</a:t>
            </a:r>
          </a:p>
        </p:txBody>
      </p:sp>
      <p:sp>
        <p:nvSpPr>
          <p:cNvPr id="55" name="Rectangle 54">
            <a:extLst>
              <a:ext uri="{FF2B5EF4-FFF2-40B4-BE49-F238E27FC236}">
                <a16:creationId xmlns:a16="http://schemas.microsoft.com/office/drawing/2014/main" id="{B23FFAA5-9DE9-B73B-6EE2-C1DA98462D3C}"/>
              </a:ext>
            </a:extLst>
          </p:cNvPr>
          <p:cNvSpPr/>
          <p:nvPr/>
        </p:nvSpPr>
        <p:spPr>
          <a:xfrm>
            <a:off x="5452061" y="5560736"/>
            <a:ext cx="876727" cy="316035"/>
          </a:xfrm>
          <a:prstGeom prst="rect">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tIns="91440" bIns="91440" rtlCol="0" anchor="ctr"/>
          <a:lstStyle/>
          <a:p>
            <a:pPr algn="ctr"/>
            <a:r>
              <a:rPr lang="es" sz="800" dirty="0"/>
              <a:t>OnBase (invertir)</a:t>
            </a:r>
          </a:p>
        </p:txBody>
      </p:sp>
      <p:sp>
        <p:nvSpPr>
          <p:cNvPr id="57" name="Rectangle 56">
            <a:extLst>
              <a:ext uri="{FF2B5EF4-FFF2-40B4-BE49-F238E27FC236}">
                <a16:creationId xmlns:a16="http://schemas.microsoft.com/office/drawing/2014/main" id="{E36D4977-A99B-A9C4-2DC1-65E035E9AF81}"/>
              </a:ext>
            </a:extLst>
          </p:cNvPr>
          <p:cNvSpPr/>
          <p:nvPr/>
        </p:nvSpPr>
        <p:spPr>
          <a:xfrm>
            <a:off x="7383999" y="4645792"/>
            <a:ext cx="1247108" cy="316035"/>
          </a:xfrm>
          <a:prstGeom prst="rect">
            <a:avLst/>
          </a:prstGeom>
          <a:ln/>
        </p:spPr>
        <p:style>
          <a:lnRef idx="1">
            <a:schemeClr val="dk1"/>
          </a:lnRef>
          <a:fillRef idx="2">
            <a:schemeClr val="dk1"/>
          </a:fillRef>
          <a:effectRef idx="1">
            <a:schemeClr val="dk1"/>
          </a:effectRef>
          <a:fontRef idx="minor">
            <a:schemeClr val="dk1"/>
          </a:fontRef>
        </p:style>
        <p:txBody>
          <a:bodyPr tIns="91440" bIns="91440" rtlCol="0" anchor="ctr"/>
          <a:lstStyle/>
          <a:p>
            <a:pPr algn="ctr"/>
            <a:r>
              <a:rPr lang="es" sz="800" dirty="0"/>
              <a:t>Consulta RENAPO</a:t>
            </a:r>
          </a:p>
          <a:p>
            <a:pPr algn="ctr"/>
            <a:r>
              <a:rPr lang="es" sz="800" dirty="0"/>
              <a:t> (transformar)</a:t>
            </a:r>
          </a:p>
        </p:txBody>
      </p:sp>
      <p:sp>
        <p:nvSpPr>
          <p:cNvPr id="59" name="Rectangle 58">
            <a:extLst>
              <a:ext uri="{FF2B5EF4-FFF2-40B4-BE49-F238E27FC236}">
                <a16:creationId xmlns:a16="http://schemas.microsoft.com/office/drawing/2014/main" id="{65B61807-7C73-6E8F-DC47-532F020B31F2}"/>
              </a:ext>
            </a:extLst>
          </p:cNvPr>
          <p:cNvSpPr/>
          <p:nvPr/>
        </p:nvSpPr>
        <p:spPr>
          <a:xfrm>
            <a:off x="2288754" y="6345994"/>
            <a:ext cx="1080000" cy="401540"/>
          </a:xfrm>
          <a:prstGeom prst="rect">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tIns="91440" bIns="91440" rtlCol="0" anchor="ctr"/>
          <a:lstStyle/>
          <a:p>
            <a:pPr algn="ctr"/>
            <a:r>
              <a:rPr lang="es-ES" sz="800" dirty="0"/>
              <a:t>C</a:t>
            </a:r>
            <a:r>
              <a:rPr lang="es" sz="800" dirty="0"/>
              <a:t>ruzan capacidades con APO/Anexo</a:t>
            </a:r>
          </a:p>
        </p:txBody>
      </p:sp>
      <p:sp>
        <p:nvSpPr>
          <p:cNvPr id="61" name="Rectangle 60">
            <a:extLst>
              <a:ext uri="{FF2B5EF4-FFF2-40B4-BE49-F238E27FC236}">
                <a16:creationId xmlns:a16="http://schemas.microsoft.com/office/drawing/2014/main" id="{565EB67C-4E35-3DB5-9AD5-A78B76FC706A}"/>
              </a:ext>
            </a:extLst>
          </p:cNvPr>
          <p:cNvSpPr/>
          <p:nvPr/>
        </p:nvSpPr>
        <p:spPr>
          <a:xfrm>
            <a:off x="3406975" y="6345994"/>
            <a:ext cx="1018889" cy="401540"/>
          </a:xfrm>
          <a:prstGeom prst="rect">
            <a:avLst/>
          </a:prstGeom>
          <a:ln/>
        </p:spPr>
        <p:style>
          <a:lnRef idx="1">
            <a:schemeClr val="dk1"/>
          </a:lnRef>
          <a:fillRef idx="2">
            <a:schemeClr val="dk1"/>
          </a:fillRef>
          <a:effectRef idx="1">
            <a:schemeClr val="dk1"/>
          </a:effectRef>
          <a:fontRef idx="minor">
            <a:schemeClr val="dk1"/>
          </a:fontRef>
        </p:style>
        <p:txBody>
          <a:bodyPr tIns="91440" bIns="91440" rtlCol="0" anchor="ctr"/>
          <a:lstStyle/>
          <a:p>
            <a:pPr algn="ctr"/>
            <a:r>
              <a:rPr lang="es" sz="800" dirty="0"/>
              <a:t>Cruza parcialmente con APO /Anexo</a:t>
            </a:r>
          </a:p>
        </p:txBody>
      </p:sp>
      <p:sp>
        <p:nvSpPr>
          <p:cNvPr id="63" name="Rectangle 62">
            <a:extLst>
              <a:ext uri="{FF2B5EF4-FFF2-40B4-BE49-F238E27FC236}">
                <a16:creationId xmlns:a16="http://schemas.microsoft.com/office/drawing/2014/main" id="{00D5E00B-5B2B-4330-4674-50A4901BE38A}"/>
              </a:ext>
            </a:extLst>
          </p:cNvPr>
          <p:cNvSpPr/>
          <p:nvPr/>
        </p:nvSpPr>
        <p:spPr>
          <a:xfrm>
            <a:off x="782375" y="1483173"/>
            <a:ext cx="914400" cy="401540"/>
          </a:xfrm>
          <a:prstGeom prst="rect">
            <a:avLst/>
          </a:prstGeom>
          <a:ln/>
        </p:spPr>
        <p:style>
          <a:lnRef idx="1">
            <a:schemeClr val="dk1"/>
          </a:lnRef>
          <a:fillRef idx="2">
            <a:schemeClr val="dk1"/>
          </a:fillRef>
          <a:effectRef idx="1">
            <a:schemeClr val="dk1"/>
          </a:effectRef>
          <a:fontRef idx="minor">
            <a:schemeClr val="dk1"/>
          </a:fontRef>
        </p:style>
        <p:txBody>
          <a:bodyPr tIns="91440" bIns="91440" rtlCol="0" anchor="ctr"/>
          <a:lstStyle/>
          <a:p>
            <a:pPr algn="ctr"/>
            <a:r>
              <a:rPr lang="es" sz="800" dirty="0"/>
              <a:t>WS-RSA (invertir)</a:t>
            </a:r>
          </a:p>
        </p:txBody>
      </p:sp>
      <p:sp>
        <p:nvSpPr>
          <p:cNvPr id="13" name="Rectangle 12">
            <a:extLst>
              <a:ext uri="{FF2B5EF4-FFF2-40B4-BE49-F238E27FC236}">
                <a16:creationId xmlns:a16="http://schemas.microsoft.com/office/drawing/2014/main" id="{01DA13C9-B30C-989B-65BA-9F1226A6A555}"/>
              </a:ext>
            </a:extLst>
          </p:cNvPr>
          <p:cNvSpPr/>
          <p:nvPr/>
        </p:nvSpPr>
        <p:spPr>
          <a:xfrm>
            <a:off x="792406" y="2091032"/>
            <a:ext cx="914400" cy="401540"/>
          </a:xfrm>
          <a:prstGeom prst="rect">
            <a:avLst/>
          </a:prstGeom>
          <a:ln/>
        </p:spPr>
        <p:style>
          <a:lnRef idx="1">
            <a:schemeClr val="dk1"/>
          </a:lnRef>
          <a:fillRef idx="2">
            <a:schemeClr val="dk1"/>
          </a:fillRef>
          <a:effectRef idx="1">
            <a:schemeClr val="dk1"/>
          </a:effectRef>
          <a:fontRef idx="minor">
            <a:schemeClr val="dk1"/>
          </a:fontRef>
        </p:style>
        <p:txBody>
          <a:bodyPr tIns="91440" bIns="91440" rtlCol="0" anchor="ctr"/>
          <a:lstStyle/>
          <a:p>
            <a:pPr algn="ctr"/>
            <a:r>
              <a:rPr lang="es" sz="800" dirty="0"/>
              <a:t>WS-AMY (mantener)</a:t>
            </a:r>
          </a:p>
        </p:txBody>
      </p:sp>
      <p:sp>
        <p:nvSpPr>
          <p:cNvPr id="17" name="Rectangle 16">
            <a:extLst>
              <a:ext uri="{FF2B5EF4-FFF2-40B4-BE49-F238E27FC236}">
                <a16:creationId xmlns:a16="http://schemas.microsoft.com/office/drawing/2014/main" id="{ACBE4244-E974-22D3-B925-6F5034A8A6D8}"/>
              </a:ext>
            </a:extLst>
          </p:cNvPr>
          <p:cNvSpPr/>
          <p:nvPr/>
        </p:nvSpPr>
        <p:spPr>
          <a:xfrm>
            <a:off x="775319" y="2689778"/>
            <a:ext cx="935313" cy="401540"/>
          </a:xfrm>
          <a:prstGeom prst="rect">
            <a:avLst/>
          </a:prstGeom>
          <a:ln/>
        </p:spPr>
        <p:style>
          <a:lnRef idx="1">
            <a:schemeClr val="dk1"/>
          </a:lnRef>
          <a:fillRef idx="2">
            <a:schemeClr val="dk1"/>
          </a:fillRef>
          <a:effectRef idx="1">
            <a:schemeClr val="dk1"/>
          </a:effectRef>
          <a:fontRef idx="minor">
            <a:schemeClr val="dk1"/>
          </a:fontRef>
        </p:style>
        <p:txBody>
          <a:bodyPr tIns="91440" bIns="91440" rtlCol="0" anchor="ctr"/>
          <a:lstStyle/>
          <a:p>
            <a:pPr algn="ctr"/>
            <a:r>
              <a:rPr lang="es" sz="800" dirty="0"/>
              <a:t>Administracion Token</a:t>
            </a:r>
          </a:p>
          <a:p>
            <a:pPr algn="ctr"/>
            <a:r>
              <a:rPr lang="es" sz="800" dirty="0"/>
              <a:t>(transformar)</a:t>
            </a:r>
          </a:p>
        </p:txBody>
      </p:sp>
      <p:sp>
        <p:nvSpPr>
          <p:cNvPr id="15" name="Rectangle 14">
            <a:extLst>
              <a:ext uri="{FF2B5EF4-FFF2-40B4-BE49-F238E27FC236}">
                <a16:creationId xmlns:a16="http://schemas.microsoft.com/office/drawing/2014/main" id="{31D16F28-8F17-8158-9DF8-9E9FBAF330AE}"/>
              </a:ext>
            </a:extLst>
          </p:cNvPr>
          <p:cNvSpPr/>
          <p:nvPr/>
        </p:nvSpPr>
        <p:spPr>
          <a:xfrm>
            <a:off x="413355" y="394538"/>
            <a:ext cx="10261142" cy="923330"/>
          </a:xfrm>
          <a:prstGeom prst="rect">
            <a:avLst/>
          </a:prstGeom>
          <a:noFill/>
        </p:spPr>
        <p:txBody>
          <a:bodyPr wrap="none" lIns="91440" tIns="45720" rIns="91440" bIns="45720">
            <a:spAutoFit/>
          </a:bodyPr>
          <a:lstStyle/>
          <a:p>
            <a:pPr algn="ctr"/>
            <a:r>
              <a:rPr lang="en-US" sz="5400" b="1" dirty="0">
                <a:ln w="9525">
                  <a:solidFill>
                    <a:schemeClr val="bg1"/>
                  </a:solidFill>
                  <a:prstDash val="solid"/>
                </a:ln>
                <a:effectLst>
                  <a:outerShdw blurRad="12700" dist="38100" dir="2700000" algn="tl" rotWithShape="0">
                    <a:schemeClr val="bg1">
                      <a:lumMod val="50000"/>
                    </a:schemeClr>
                  </a:outerShdw>
                </a:effectLst>
              </a:rPr>
              <a:t>Cruce Anexo 5 vs </a:t>
            </a:r>
            <a:r>
              <a:rPr lang="en-US" sz="5400" b="1" dirty="0" err="1">
                <a:ln w="9525">
                  <a:solidFill>
                    <a:schemeClr val="bg1"/>
                  </a:solidFill>
                  <a:prstDash val="solid"/>
                </a:ln>
                <a:effectLst>
                  <a:outerShdw blurRad="12700" dist="38100" dir="2700000" algn="tl" rotWithShape="0">
                    <a:schemeClr val="bg1">
                      <a:lumMod val="50000"/>
                    </a:schemeClr>
                  </a:outerShdw>
                </a:effectLst>
              </a:rPr>
              <a:t>Interoperat</a:t>
            </a:r>
            <a:endParaRPr lang="en-US" sz="54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endParaRPr>
          </a:p>
        </p:txBody>
      </p:sp>
    </p:spTree>
    <p:extLst>
      <p:ext uri="{BB962C8B-B14F-4D97-AF65-F5344CB8AC3E}">
        <p14:creationId xmlns:p14="http://schemas.microsoft.com/office/powerpoint/2010/main" val="19989721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0D1E92-9D67-2064-7B11-94A1FFADE419}"/>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DE0A91F4-8280-63DD-1FF2-FBE9457F2783}"/>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alpha val="65000"/>
                  </a:srgbClr>
                </a:solidFill>
                <a:effectLst/>
                <a:uLnTx/>
                <a:uFillTx/>
                <a:latin typeface="Graphik"/>
                <a:ea typeface="+mn-ea"/>
                <a:cs typeface="+mn-cs"/>
              </a:rPr>
              <a:t>Copyright © 2026 Accenture. Todos los derechos reservados.</a:t>
            </a:r>
          </a:p>
        </p:txBody>
      </p:sp>
      <p:sp>
        <p:nvSpPr>
          <p:cNvPr id="4" name="Slide Number Placeholder 3">
            <a:extLst>
              <a:ext uri="{FF2B5EF4-FFF2-40B4-BE49-F238E27FC236}">
                <a16:creationId xmlns:a16="http://schemas.microsoft.com/office/drawing/2014/main" id="{89C0033E-70B6-E748-22A7-F064BC1228E3}"/>
              </a:ext>
            </a:extLst>
          </p:cNvPr>
          <p:cNvSpPr>
            <a:spLocks noGrp="1"/>
          </p:cNvSpPr>
          <p:nvPr>
            <p:ph type="sldNum" sz="quarter" idx="429496729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Graphik"/>
                <a:ea typeface="+mn-ea"/>
                <a:cs typeface="+mn-cs"/>
              </a:rPr>
              <a:t> </a:t>
            </a:r>
          </a:p>
        </p:txBody>
      </p:sp>
      <p:sp>
        <p:nvSpPr>
          <p:cNvPr id="23" name="Title 1">
            <a:extLst>
              <a:ext uri="{FF2B5EF4-FFF2-40B4-BE49-F238E27FC236}">
                <a16:creationId xmlns:a16="http://schemas.microsoft.com/office/drawing/2014/main" id="{92E4C03A-8F60-B195-0A19-ED3292698C5E}"/>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a:ln>
                  <a:noFill/>
                </a:ln>
                <a:solidFill>
                  <a:srgbClr val="7500C0"/>
                </a:solidFill>
                <a:effectLst/>
                <a:uLnTx/>
                <a:uFillTx/>
                <a:latin typeface="Graphik"/>
                <a:ea typeface="+mj-ea"/>
                <a:cs typeface="+mj-cs"/>
              </a:rPr>
              <a:t>Arquitectura de Interoperabilidad </a:t>
            </a:r>
            <a:r>
              <a:rPr kumimoji="0" lang="es" sz="2400" b="1" i="0" u="none" strike="noStrike" kern="1200" cap="none" spc="0" normalizeH="0" baseline="0" noProof="0">
                <a:ln>
                  <a:noFill/>
                </a:ln>
                <a:solidFill>
                  <a:srgbClr val="000000"/>
                </a:solidFill>
                <a:effectLst/>
                <a:uLnTx/>
                <a:uFillTx/>
                <a:latin typeface="Graphik"/>
                <a:ea typeface="+mj-ea"/>
                <a:cs typeface="+mj-cs"/>
              </a:rPr>
              <a:t>| </a:t>
            </a:r>
            <a:r>
              <a:rPr kumimoji="0" lang="es" sz="2000" b="1" i="0" u="none" strike="noStrike" kern="1200" cap="none" spc="0" normalizeH="0" baseline="0" noProof="0">
                <a:ln>
                  <a:noFill/>
                </a:ln>
                <a:solidFill>
                  <a:srgbClr val="000000"/>
                </a:solidFill>
                <a:effectLst/>
                <a:uLnTx/>
                <a:uFillTx/>
                <a:latin typeface="Graphik"/>
                <a:ea typeface="+mj-ea"/>
                <a:cs typeface="+mj-cs"/>
              </a:rPr>
              <a:t>Mapa de capacidades Nivel 1</a:t>
            </a:r>
            <a:endParaRPr kumimoji="0" lang="es" sz="2400" b="1" i="0" u="none" strike="noStrike" kern="1200" cap="none" spc="0" normalizeH="0" baseline="0" noProof="0">
              <a:ln>
                <a:noFill/>
              </a:ln>
              <a:solidFill>
                <a:srgbClr val="000000"/>
              </a:solidFill>
              <a:effectLst/>
              <a:uLnTx/>
              <a:uFillTx/>
              <a:latin typeface="Graphik"/>
              <a:ea typeface="+mj-ea"/>
              <a:cs typeface="+mj-cs"/>
            </a:endParaRPr>
          </a:p>
        </p:txBody>
      </p:sp>
      <p:sp>
        <p:nvSpPr>
          <p:cNvPr id="25" name="Rectangle 24">
            <a:extLst>
              <a:ext uri="{FF2B5EF4-FFF2-40B4-BE49-F238E27FC236}">
                <a16:creationId xmlns:a16="http://schemas.microsoft.com/office/drawing/2014/main" id="{95B4DB36-BB14-BE7D-7293-DFA289DCF264}"/>
              </a:ext>
            </a:extLst>
          </p:cNvPr>
          <p:cNvSpPr/>
          <p:nvPr/>
        </p:nvSpPr>
        <p:spPr>
          <a:xfrm>
            <a:off x="699575" y="944591"/>
            <a:ext cx="1080000" cy="5222888"/>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Seguridad</a:t>
            </a:r>
          </a:p>
        </p:txBody>
      </p:sp>
      <p:sp>
        <p:nvSpPr>
          <p:cNvPr id="26" name="Rectangle 25">
            <a:extLst>
              <a:ext uri="{FF2B5EF4-FFF2-40B4-BE49-F238E27FC236}">
                <a16:creationId xmlns:a16="http://schemas.microsoft.com/office/drawing/2014/main" id="{BCE8C328-DD20-CE40-3CC6-F22A27615B20}"/>
              </a:ext>
            </a:extLst>
          </p:cNvPr>
          <p:cNvSpPr/>
          <p:nvPr/>
        </p:nvSpPr>
        <p:spPr>
          <a:xfrm>
            <a:off x="1907612" y="944590"/>
            <a:ext cx="1080000" cy="5230769"/>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Observabilidad</a:t>
            </a:r>
          </a:p>
        </p:txBody>
      </p:sp>
      <p:sp>
        <p:nvSpPr>
          <p:cNvPr id="27" name="Rectangle 26">
            <a:extLst>
              <a:ext uri="{FF2B5EF4-FFF2-40B4-BE49-F238E27FC236}">
                <a16:creationId xmlns:a16="http://schemas.microsoft.com/office/drawing/2014/main" id="{6085F1F4-2DF1-0D07-E0E9-D983C650954A}"/>
              </a:ext>
            </a:extLst>
          </p:cNvPr>
          <p:cNvSpPr/>
          <p:nvPr/>
        </p:nvSpPr>
        <p:spPr>
          <a:xfrm>
            <a:off x="10221552" y="944591"/>
            <a:ext cx="1080000" cy="5230768"/>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Infraestructura</a:t>
            </a:r>
          </a:p>
        </p:txBody>
      </p:sp>
      <p:sp>
        <p:nvSpPr>
          <p:cNvPr id="28" name="Rectangle 27">
            <a:extLst>
              <a:ext uri="{FF2B5EF4-FFF2-40B4-BE49-F238E27FC236}">
                <a16:creationId xmlns:a16="http://schemas.microsoft.com/office/drawing/2014/main" id="{F1CD6098-2D86-68F3-EBD5-491280F0CFA8}"/>
              </a:ext>
            </a:extLst>
          </p:cNvPr>
          <p:cNvSpPr/>
          <p:nvPr/>
        </p:nvSpPr>
        <p:spPr>
          <a:xfrm>
            <a:off x="3169828" y="944591"/>
            <a:ext cx="5681779" cy="1077165"/>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Servicios de Gateway</a:t>
            </a:r>
          </a:p>
        </p:txBody>
      </p:sp>
      <p:sp>
        <p:nvSpPr>
          <p:cNvPr id="29" name="Rectangle 28">
            <a:extLst>
              <a:ext uri="{FF2B5EF4-FFF2-40B4-BE49-F238E27FC236}">
                <a16:creationId xmlns:a16="http://schemas.microsoft.com/office/drawing/2014/main" id="{BC098BE3-CDE8-7481-EB32-8E3C4579BC8B}"/>
              </a:ext>
            </a:extLst>
          </p:cNvPr>
          <p:cNvSpPr/>
          <p:nvPr/>
        </p:nvSpPr>
        <p:spPr>
          <a:xfrm>
            <a:off x="3161292" y="2773838"/>
            <a:ext cx="5681779" cy="540000"/>
          </a:xfrm>
          <a:prstGeom prst="rect">
            <a:avLst/>
          </a:prstGeom>
          <a:solidFill>
            <a:schemeClr val="bg2"/>
          </a:solidFill>
          <a:ln w="38100">
            <a:solidFill>
              <a:srgbClr val="156082"/>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Omnicanal y componentes de caché</a:t>
            </a:r>
          </a:p>
        </p:txBody>
      </p:sp>
      <p:sp>
        <p:nvSpPr>
          <p:cNvPr id="30" name="Rectangle 29">
            <a:extLst>
              <a:ext uri="{FF2B5EF4-FFF2-40B4-BE49-F238E27FC236}">
                <a16:creationId xmlns:a16="http://schemas.microsoft.com/office/drawing/2014/main" id="{46D09AB4-295C-E2D9-FE2F-C497A16C1606}"/>
              </a:ext>
            </a:extLst>
          </p:cNvPr>
          <p:cNvSpPr/>
          <p:nvPr/>
        </p:nvSpPr>
        <p:spPr>
          <a:xfrm>
            <a:off x="3167494" y="5132461"/>
            <a:ext cx="5681779" cy="1042899"/>
          </a:xfrm>
          <a:prstGeom prst="rect">
            <a:avLst/>
          </a:prstGeom>
          <a:solidFill>
            <a:schemeClr val="bg2"/>
          </a:solidFill>
          <a:ln w="38100">
            <a:solidFill>
              <a:srgbClr val="156082"/>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Entrega de datos</a:t>
            </a:r>
          </a:p>
        </p:txBody>
      </p:sp>
      <p:sp>
        <p:nvSpPr>
          <p:cNvPr id="31" name="Rectangle 30">
            <a:extLst>
              <a:ext uri="{FF2B5EF4-FFF2-40B4-BE49-F238E27FC236}">
                <a16:creationId xmlns:a16="http://schemas.microsoft.com/office/drawing/2014/main" id="{FEBDE29D-84CD-D847-A42A-F46D802052AB}"/>
              </a:ext>
            </a:extLst>
          </p:cNvPr>
          <p:cNvSpPr/>
          <p:nvPr/>
        </p:nvSpPr>
        <p:spPr>
          <a:xfrm>
            <a:off x="3169828" y="3419879"/>
            <a:ext cx="5681779" cy="960502"/>
          </a:xfrm>
          <a:prstGeom prst="rect">
            <a:avLst/>
          </a:prstGeom>
          <a:solidFill>
            <a:schemeClr val="bg2"/>
          </a:solidFill>
          <a:ln w="38100">
            <a:solidFill>
              <a:srgbClr val="156082"/>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Transacciones distribuidas</a:t>
            </a:r>
          </a:p>
        </p:txBody>
      </p:sp>
      <p:sp>
        <p:nvSpPr>
          <p:cNvPr id="32" name="Rectangle 31">
            <a:extLst>
              <a:ext uri="{FF2B5EF4-FFF2-40B4-BE49-F238E27FC236}">
                <a16:creationId xmlns:a16="http://schemas.microsoft.com/office/drawing/2014/main" id="{0D752F81-9D8A-6C6A-0D06-BE28DC733B78}"/>
              </a:ext>
            </a:extLst>
          </p:cNvPr>
          <p:cNvSpPr/>
          <p:nvPr/>
        </p:nvSpPr>
        <p:spPr>
          <a:xfrm>
            <a:off x="9005587" y="944591"/>
            <a:ext cx="1080000" cy="5230768"/>
          </a:xfrm>
          <a:prstGeom prst="rect">
            <a:avLst/>
          </a:prstGeom>
          <a:solidFill>
            <a:schemeClr val="bg2"/>
          </a:solidFill>
          <a:ln w="38100">
            <a:solidFill>
              <a:srgbClr val="156082"/>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Procesamiento de eventos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&amp; Componentes Reactivos</a:t>
            </a:r>
          </a:p>
        </p:txBody>
      </p:sp>
      <p:sp>
        <p:nvSpPr>
          <p:cNvPr id="33" name="Rectangle 32">
            <a:extLst>
              <a:ext uri="{FF2B5EF4-FFF2-40B4-BE49-F238E27FC236}">
                <a16:creationId xmlns:a16="http://schemas.microsoft.com/office/drawing/2014/main" id="{1C8D111C-C67B-43D4-BB14-60834E82D8CE}"/>
              </a:ext>
            </a:extLst>
          </p:cNvPr>
          <p:cNvSpPr/>
          <p:nvPr/>
        </p:nvSpPr>
        <p:spPr>
          <a:xfrm>
            <a:off x="3166592" y="2127797"/>
            <a:ext cx="5681779" cy="540000"/>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dirty="0">
                <a:ln>
                  <a:noFill/>
                </a:ln>
                <a:solidFill>
                  <a:srgbClr val="000000"/>
                </a:solidFill>
                <a:effectLst/>
                <a:uLnTx/>
                <a:uFillTx/>
                <a:latin typeface="Graphik"/>
                <a:ea typeface="+mn-ea"/>
                <a:cs typeface="+mn-cs"/>
              </a:rPr>
              <a:t>API Management</a:t>
            </a:r>
          </a:p>
        </p:txBody>
      </p:sp>
      <p:sp>
        <p:nvSpPr>
          <p:cNvPr id="34" name="Oval 33">
            <a:extLst>
              <a:ext uri="{FF2B5EF4-FFF2-40B4-BE49-F238E27FC236}">
                <a16:creationId xmlns:a16="http://schemas.microsoft.com/office/drawing/2014/main" id="{338B4F55-6930-C6DF-5841-188536C5071D}"/>
              </a:ext>
            </a:extLst>
          </p:cNvPr>
          <p:cNvSpPr/>
          <p:nvPr/>
        </p:nvSpPr>
        <p:spPr>
          <a:xfrm>
            <a:off x="751436" y="1147797"/>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K</a:t>
            </a:r>
          </a:p>
        </p:txBody>
      </p:sp>
      <p:sp>
        <p:nvSpPr>
          <p:cNvPr id="35" name="Oval 34">
            <a:extLst>
              <a:ext uri="{FF2B5EF4-FFF2-40B4-BE49-F238E27FC236}">
                <a16:creationId xmlns:a16="http://schemas.microsoft.com/office/drawing/2014/main" id="{902CF8B6-05E1-289A-D852-7E787BCA9EF3}"/>
              </a:ext>
            </a:extLst>
          </p:cNvPr>
          <p:cNvSpPr/>
          <p:nvPr/>
        </p:nvSpPr>
        <p:spPr>
          <a:xfrm>
            <a:off x="1946299" y="1147797"/>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K</a:t>
            </a:r>
          </a:p>
        </p:txBody>
      </p:sp>
      <p:sp>
        <p:nvSpPr>
          <p:cNvPr id="37" name="Oval 36">
            <a:extLst>
              <a:ext uri="{FF2B5EF4-FFF2-40B4-BE49-F238E27FC236}">
                <a16:creationId xmlns:a16="http://schemas.microsoft.com/office/drawing/2014/main" id="{7CE2238B-849D-78E3-CC1F-DE635D0EBBB9}"/>
              </a:ext>
            </a:extLst>
          </p:cNvPr>
          <p:cNvSpPr/>
          <p:nvPr/>
        </p:nvSpPr>
        <p:spPr>
          <a:xfrm>
            <a:off x="10248103" y="1147797"/>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K</a:t>
            </a:r>
          </a:p>
        </p:txBody>
      </p:sp>
      <p:sp>
        <p:nvSpPr>
          <p:cNvPr id="38" name="Oval 37">
            <a:extLst>
              <a:ext uri="{FF2B5EF4-FFF2-40B4-BE49-F238E27FC236}">
                <a16:creationId xmlns:a16="http://schemas.microsoft.com/office/drawing/2014/main" id="{7CBA84F8-9BAB-4CC8-C149-B22474446ACB}"/>
              </a:ext>
            </a:extLst>
          </p:cNvPr>
          <p:cNvSpPr/>
          <p:nvPr/>
        </p:nvSpPr>
        <p:spPr>
          <a:xfrm>
            <a:off x="5306545" y="2158233"/>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K</a:t>
            </a:r>
          </a:p>
        </p:txBody>
      </p:sp>
      <p:sp>
        <p:nvSpPr>
          <p:cNvPr id="39" name="Rectangle 38">
            <a:extLst>
              <a:ext uri="{FF2B5EF4-FFF2-40B4-BE49-F238E27FC236}">
                <a16:creationId xmlns:a16="http://schemas.microsoft.com/office/drawing/2014/main" id="{6493E20E-36FD-F512-52C1-353B10BC4558}"/>
              </a:ext>
            </a:extLst>
          </p:cNvPr>
          <p:cNvSpPr/>
          <p:nvPr/>
        </p:nvSpPr>
        <p:spPr>
          <a:xfrm>
            <a:off x="3160153" y="4486422"/>
            <a:ext cx="5681779" cy="540000"/>
          </a:xfrm>
          <a:prstGeom prst="rect">
            <a:avLst/>
          </a:prstGeom>
          <a:solidFill>
            <a:schemeClr val="bg2"/>
          </a:solidFill>
          <a:ln w="38100">
            <a:solidFill>
              <a:srgbClr val="156082"/>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Servicios Empresariales Comunes</a:t>
            </a:r>
          </a:p>
        </p:txBody>
      </p:sp>
      <p:sp>
        <p:nvSpPr>
          <p:cNvPr id="9" name="TextBox 8">
            <a:extLst>
              <a:ext uri="{FF2B5EF4-FFF2-40B4-BE49-F238E27FC236}">
                <a16:creationId xmlns:a16="http://schemas.microsoft.com/office/drawing/2014/main" id="{76C4BCB4-E16A-120C-A79E-FA7547E10ED4}"/>
              </a:ext>
            </a:extLst>
          </p:cNvPr>
          <p:cNvSpPr txBox="1"/>
          <p:nvPr>
            <p:extLst>
              <p:ext uri="{1162E1C5-73C7-4A58-AE30-91384D911F3F}">
                <p184:classification xmlns:p184="http://schemas.microsoft.com/office/powerpoint/2018/4/main" val="hdr"/>
              </p:ext>
            </p:extLst>
          </p:nvPr>
        </p:nvSpPr>
        <p:spPr>
          <a:xfrm>
            <a:off x="379000" y="78170"/>
            <a:ext cx="11432000" cy="154830"/>
          </a:xfrm>
          <a:prstGeom prst="rect">
            <a:avLst/>
          </a:prstGeom>
        </p:spPr>
        <p:txBody>
          <a:bodyPr horzOverflow="overflow"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000" b="0" i="0" u="none" strike="noStrike" kern="1200" cap="none" spc="0" normalizeH="0" baseline="0" noProof="0">
                <a:ln>
                  <a:noFill/>
                </a:ln>
                <a:solidFill>
                  <a:srgbClr val="000000"/>
                </a:solidFill>
                <a:effectLst/>
                <a:uLnTx/>
                <a:uFillTx/>
                <a:latin typeface="Graphik (Body)"/>
                <a:ea typeface="+mn-ea"/>
                <a:cs typeface="Calibri" panose="020F0502020204030204" pitchFamily="34" charset="0"/>
              </a:rPr>
              <a:t>*** Confidencial - Solo para uso interno de la empresa ***</a:t>
            </a:r>
          </a:p>
        </p:txBody>
      </p:sp>
      <p:pic>
        <p:nvPicPr>
          <p:cNvPr id="7" name="Picture 6" descr="Imágenes del botón de atrás – Navega por 625.558 fotos de stock, vectores y vídeos |  Adobe Stock">
            <a:hlinkClick r:id="rId3" action="ppaction://hlinksldjump"/>
            <a:extLst>
              <a:ext uri="{FF2B5EF4-FFF2-40B4-BE49-F238E27FC236}">
                <a16:creationId xmlns:a16="http://schemas.microsoft.com/office/drawing/2014/main" id="{067D99E4-56B9-F037-A737-7F02C585B1D0}"/>
              </a:ext>
            </a:extLst>
          </p:cNvPr>
          <p:cNvPicPr>
            <a:picLocks noChangeAspect="1" noChangeArrowheads="1"/>
          </p:cNvPicPr>
          <p:nvPr/>
        </p:nvPicPr>
        <p:blipFill rotWithShape="1">
          <a:blip r:embed="rId4" cstate="hqprint">
            <a:duotone>
              <a:schemeClr val="accent2">
                <a:shade val="45000"/>
                <a:satMod val="135000"/>
              </a:schemeClr>
              <a:prstClr val="white"/>
            </a:duotone>
            <a:extLst>
              <a:ext uri="{BEBA8EAE-BF5A-486C-A8C5-ECC9F3942E4B}">
                <a14:imgProps xmlns:a14="http://schemas.microsoft.com/office/drawing/2010/main">
                  <a14:imgLayer r:embed="rId5">
                    <a14:imgEffect>
                      <a14:backgroundRemoval t="10000" b="90000" l="10000" r="90000">
                        <a14:foregroundMark x1="24259" y1="46667" x2="24259" y2="46667"/>
                        <a14:foregroundMark x1="25000" y1="53611" x2="25000" y2="53611"/>
                        <a14:foregroundMark x1="32778" y1="49167" x2="32778" y2="49167"/>
                        <a14:foregroundMark x1="73889" y1="51389" x2="73889" y2="51389"/>
                      </a14:backgroundRemoval>
                    </a14:imgEffect>
                  </a14:imgLayer>
                </a14:imgProps>
              </a:ext>
              <a:ext uri="{28A0092B-C50C-407E-A947-70E740481C1C}">
                <a14:useLocalDpi xmlns:a14="http://schemas.microsoft.com/office/drawing/2010/main"/>
              </a:ext>
            </a:extLst>
          </a:blip>
          <a:srcRect l="8527" t="26395" r="7584" b="26395"/>
          <a:stretch/>
        </p:blipFill>
        <p:spPr bwMode="auto">
          <a:xfrm>
            <a:off x="11306376" y="11050"/>
            <a:ext cx="839056" cy="314796"/>
          </a:xfrm>
          <a:prstGeom prst="rect">
            <a:avLst/>
          </a:prstGeom>
          <a:solidFill>
            <a:schemeClr val="bg1"/>
          </a:solidFill>
        </p:spPr>
      </p:pic>
      <p:sp>
        <p:nvSpPr>
          <p:cNvPr id="11" name="Rectangle 10">
            <a:extLst>
              <a:ext uri="{FF2B5EF4-FFF2-40B4-BE49-F238E27FC236}">
                <a16:creationId xmlns:a16="http://schemas.microsoft.com/office/drawing/2014/main" id="{8B86B774-C632-7004-E9AA-713F3B265084}"/>
              </a:ext>
            </a:extLst>
          </p:cNvPr>
          <p:cNvSpPr/>
          <p:nvPr/>
        </p:nvSpPr>
        <p:spPr>
          <a:xfrm>
            <a:off x="762603" y="4259243"/>
            <a:ext cx="972000" cy="116543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0" i="1" u="none" strike="noStrike" kern="1200" cap="none" spc="0" normalizeH="0" baseline="0" noProof="0">
                <a:ln>
                  <a:noFill/>
                </a:ln>
                <a:solidFill>
                  <a:srgbClr val="000000"/>
                </a:solidFill>
                <a:effectLst/>
                <a:uLnTx/>
                <a:uFillTx/>
                <a:latin typeface="Graphik"/>
                <a:ea typeface="+mn-ea"/>
                <a:cs typeface="+mn-cs"/>
              </a:rPr>
              <a:t>Certificado &amp;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0" i="1" u="none" strike="noStrike" kern="1200" cap="none" spc="0" normalizeH="0" baseline="0" noProof="0">
                <a:ln>
                  <a:noFill/>
                </a:ln>
                <a:solidFill>
                  <a:srgbClr val="000000"/>
                </a:solidFill>
                <a:effectLst/>
                <a:uLnTx/>
                <a:uFillTx/>
                <a:latin typeface="Graphik"/>
                <a:ea typeface="+mn-ea"/>
                <a:cs typeface="+mn-cs"/>
              </a:rPr>
              <a:t>Gestión de Secretos</a:t>
            </a:r>
          </a:p>
        </p:txBody>
      </p:sp>
      <p:sp>
        <p:nvSpPr>
          <p:cNvPr id="15" name="Rectangle 14">
            <a:extLst>
              <a:ext uri="{FF2B5EF4-FFF2-40B4-BE49-F238E27FC236}">
                <a16:creationId xmlns:a16="http://schemas.microsoft.com/office/drawing/2014/main" id="{940D981A-5CE2-1036-8310-AAAD9B9CCA4D}"/>
              </a:ext>
            </a:extLst>
          </p:cNvPr>
          <p:cNvSpPr/>
          <p:nvPr/>
        </p:nvSpPr>
        <p:spPr>
          <a:xfrm>
            <a:off x="798603" y="1568288"/>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Gestión de Identidad y Acceso</a:t>
            </a:r>
          </a:p>
        </p:txBody>
      </p:sp>
      <p:sp>
        <p:nvSpPr>
          <p:cNvPr id="19" name="Rectangle 18">
            <a:extLst>
              <a:ext uri="{FF2B5EF4-FFF2-40B4-BE49-F238E27FC236}">
                <a16:creationId xmlns:a16="http://schemas.microsoft.com/office/drawing/2014/main" id="{65032CDE-7176-D404-4B33-DABABD0CC02A}"/>
              </a:ext>
            </a:extLst>
          </p:cNvPr>
          <p:cNvSpPr/>
          <p:nvPr/>
        </p:nvSpPr>
        <p:spPr>
          <a:xfrm>
            <a:off x="798603" y="1838099"/>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000000"/>
                </a:solidFill>
                <a:effectLst/>
                <a:uLnTx/>
                <a:uFillTx/>
                <a:latin typeface="Graphik"/>
                <a:ea typeface="+mn-ea"/>
                <a:cs typeface="+mn-cs"/>
              </a:rPr>
              <a:t>Token de acceso / SSO</a:t>
            </a:r>
          </a:p>
        </p:txBody>
      </p:sp>
      <p:sp>
        <p:nvSpPr>
          <p:cNvPr id="22" name="Rectangle 21">
            <a:extLst>
              <a:ext uri="{FF2B5EF4-FFF2-40B4-BE49-F238E27FC236}">
                <a16:creationId xmlns:a16="http://schemas.microsoft.com/office/drawing/2014/main" id="{7BF06738-2138-613D-E5EC-DFD12E52F0BF}"/>
              </a:ext>
            </a:extLst>
          </p:cNvPr>
          <p:cNvSpPr/>
          <p:nvPr/>
        </p:nvSpPr>
        <p:spPr>
          <a:xfrm>
            <a:off x="798603" y="2107910"/>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Servicios de autenticación</a:t>
            </a:r>
          </a:p>
        </p:txBody>
      </p:sp>
      <p:sp>
        <p:nvSpPr>
          <p:cNvPr id="40" name="Rectangle 39">
            <a:extLst>
              <a:ext uri="{FF2B5EF4-FFF2-40B4-BE49-F238E27FC236}">
                <a16:creationId xmlns:a16="http://schemas.microsoft.com/office/drawing/2014/main" id="{BD494730-B488-CA0F-0D36-1B97EE35E481}"/>
              </a:ext>
            </a:extLst>
          </p:cNvPr>
          <p:cNvSpPr/>
          <p:nvPr/>
        </p:nvSpPr>
        <p:spPr>
          <a:xfrm>
            <a:off x="798603" y="2377721"/>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Servicios de Sesión</a:t>
            </a:r>
          </a:p>
        </p:txBody>
      </p:sp>
      <p:sp>
        <p:nvSpPr>
          <p:cNvPr id="45" name="Rectangle 44">
            <a:extLst>
              <a:ext uri="{FF2B5EF4-FFF2-40B4-BE49-F238E27FC236}">
                <a16:creationId xmlns:a16="http://schemas.microsoft.com/office/drawing/2014/main" id="{D251D99F-B8DB-21D6-9C2F-563CE6B88C45}"/>
              </a:ext>
            </a:extLst>
          </p:cNvPr>
          <p:cNvSpPr/>
          <p:nvPr/>
        </p:nvSpPr>
        <p:spPr>
          <a:xfrm>
            <a:off x="798603" y="2647533"/>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Servicios de Autorización</a:t>
            </a:r>
          </a:p>
        </p:txBody>
      </p:sp>
      <p:sp>
        <p:nvSpPr>
          <p:cNvPr id="47" name="Rectangle 46">
            <a:extLst>
              <a:ext uri="{FF2B5EF4-FFF2-40B4-BE49-F238E27FC236}">
                <a16:creationId xmlns:a16="http://schemas.microsoft.com/office/drawing/2014/main" id="{CF4379C7-2192-AD54-7859-8726F2F3BBB3}"/>
              </a:ext>
            </a:extLst>
          </p:cNvPr>
          <p:cNvSpPr/>
          <p:nvPr/>
        </p:nvSpPr>
        <p:spPr>
          <a:xfrm>
            <a:off x="762603" y="2996189"/>
            <a:ext cx="972000" cy="121658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0" i="1" u="none" strike="noStrike" kern="1200" cap="none" spc="0" normalizeH="0" baseline="0" noProof="0">
                <a:ln>
                  <a:noFill/>
                </a:ln>
                <a:solidFill>
                  <a:srgbClr val="000000"/>
                </a:solidFill>
                <a:effectLst/>
                <a:uLnTx/>
                <a:uFillTx/>
                <a:latin typeface="Graphik"/>
                <a:ea typeface="+mn-ea"/>
                <a:cs typeface="+mn-cs"/>
              </a:rPr>
              <a:t>Servicios criptográgicos</a:t>
            </a:r>
          </a:p>
        </p:txBody>
      </p:sp>
      <p:sp>
        <p:nvSpPr>
          <p:cNvPr id="49" name="Rectangle 48">
            <a:extLst>
              <a:ext uri="{FF2B5EF4-FFF2-40B4-BE49-F238E27FC236}">
                <a16:creationId xmlns:a16="http://schemas.microsoft.com/office/drawing/2014/main" id="{E9126152-9893-D4B2-CC17-EF5A1DC72273}"/>
              </a:ext>
            </a:extLst>
          </p:cNvPr>
          <p:cNvSpPr/>
          <p:nvPr/>
        </p:nvSpPr>
        <p:spPr>
          <a:xfrm>
            <a:off x="798603" y="3384417"/>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Operaciones de firma</a:t>
            </a:r>
          </a:p>
        </p:txBody>
      </p:sp>
      <p:sp>
        <p:nvSpPr>
          <p:cNvPr id="51" name="Rectangle 50">
            <a:extLst>
              <a:ext uri="{FF2B5EF4-FFF2-40B4-BE49-F238E27FC236}">
                <a16:creationId xmlns:a16="http://schemas.microsoft.com/office/drawing/2014/main" id="{C6B1E452-723C-29D1-69C7-5312B412E197}"/>
              </a:ext>
            </a:extLst>
          </p:cNvPr>
          <p:cNvSpPr/>
          <p:nvPr/>
        </p:nvSpPr>
        <p:spPr>
          <a:xfrm>
            <a:off x="798603" y="3663178"/>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Operaciones de Cifrado</a:t>
            </a:r>
          </a:p>
        </p:txBody>
      </p:sp>
      <p:sp>
        <p:nvSpPr>
          <p:cNvPr id="53" name="Rectangle 52">
            <a:extLst>
              <a:ext uri="{FF2B5EF4-FFF2-40B4-BE49-F238E27FC236}">
                <a16:creationId xmlns:a16="http://schemas.microsoft.com/office/drawing/2014/main" id="{3E54C030-F349-E7E9-CBFC-767D44405FD5}"/>
              </a:ext>
            </a:extLst>
          </p:cNvPr>
          <p:cNvSpPr/>
          <p:nvPr/>
        </p:nvSpPr>
        <p:spPr>
          <a:xfrm>
            <a:off x="798603" y="3920984"/>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Cifrado E2E</a:t>
            </a:r>
          </a:p>
        </p:txBody>
      </p:sp>
      <p:sp>
        <p:nvSpPr>
          <p:cNvPr id="55" name="Rectangle 54">
            <a:extLst>
              <a:ext uri="{FF2B5EF4-FFF2-40B4-BE49-F238E27FC236}">
                <a16:creationId xmlns:a16="http://schemas.microsoft.com/office/drawing/2014/main" id="{BEB9EDA9-A9BD-E9D3-CB56-A831F662B62A}"/>
              </a:ext>
            </a:extLst>
          </p:cNvPr>
          <p:cNvSpPr/>
          <p:nvPr/>
        </p:nvSpPr>
        <p:spPr>
          <a:xfrm>
            <a:off x="798603" y="5532589"/>
            <a:ext cx="900000" cy="38082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Gestión de Vulnerabilidades y Amenazas (VTM)</a:t>
            </a:r>
          </a:p>
        </p:txBody>
      </p:sp>
      <p:sp>
        <p:nvSpPr>
          <p:cNvPr id="57" name="Rectangle 56">
            <a:extLst>
              <a:ext uri="{FF2B5EF4-FFF2-40B4-BE49-F238E27FC236}">
                <a16:creationId xmlns:a16="http://schemas.microsoft.com/office/drawing/2014/main" id="{CDA03B36-C63F-0D3C-5344-1A3CF7E58947}"/>
              </a:ext>
            </a:extLst>
          </p:cNvPr>
          <p:cNvSpPr/>
          <p:nvPr/>
        </p:nvSpPr>
        <p:spPr>
          <a:xfrm>
            <a:off x="798603" y="4611375"/>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Gestión de Certificados</a:t>
            </a:r>
          </a:p>
        </p:txBody>
      </p:sp>
      <p:sp>
        <p:nvSpPr>
          <p:cNvPr id="59" name="Rectangle 58">
            <a:extLst>
              <a:ext uri="{FF2B5EF4-FFF2-40B4-BE49-F238E27FC236}">
                <a16:creationId xmlns:a16="http://schemas.microsoft.com/office/drawing/2014/main" id="{A210B84C-35B5-0C14-91B6-BC71621D3F3C}"/>
              </a:ext>
            </a:extLst>
          </p:cNvPr>
          <p:cNvSpPr/>
          <p:nvPr/>
        </p:nvSpPr>
        <p:spPr>
          <a:xfrm>
            <a:off x="798603" y="4863200"/>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Gestión Secreta</a:t>
            </a:r>
          </a:p>
        </p:txBody>
      </p:sp>
      <p:sp>
        <p:nvSpPr>
          <p:cNvPr id="61" name="Rectangle 60">
            <a:extLst>
              <a:ext uri="{FF2B5EF4-FFF2-40B4-BE49-F238E27FC236}">
                <a16:creationId xmlns:a16="http://schemas.microsoft.com/office/drawing/2014/main" id="{DF6F9FB4-229D-65AE-CEA3-30E784CB3E86}"/>
              </a:ext>
            </a:extLst>
          </p:cNvPr>
          <p:cNvSpPr/>
          <p:nvPr/>
        </p:nvSpPr>
        <p:spPr>
          <a:xfrm>
            <a:off x="798603" y="5121867"/>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HSM</a:t>
            </a:r>
          </a:p>
        </p:txBody>
      </p:sp>
      <p:sp>
        <p:nvSpPr>
          <p:cNvPr id="91" name="Rectangle 90">
            <a:extLst>
              <a:ext uri="{FF2B5EF4-FFF2-40B4-BE49-F238E27FC236}">
                <a16:creationId xmlns:a16="http://schemas.microsoft.com/office/drawing/2014/main" id="{124E13AF-4E1F-5BD0-261D-3A4DA110E9EA}"/>
              </a:ext>
            </a:extLst>
          </p:cNvPr>
          <p:cNvSpPr/>
          <p:nvPr/>
        </p:nvSpPr>
        <p:spPr>
          <a:xfrm>
            <a:off x="1961612" y="1587453"/>
            <a:ext cx="972000" cy="323992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0" i="1" u="none" strike="noStrike" kern="1200" cap="none" spc="0" normalizeH="0" baseline="0" noProof="0">
                <a:ln>
                  <a:noFill/>
                </a:ln>
                <a:solidFill>
                  <a:srgbClr val="000000"/>
                </a:solidFill>
                <a:effectLst/>
                <a:uLnTx/>
                <a:uFillTx/>
                <a:latin typeface="Graphik"/>
                <a:ea typeface="+mn-ea"/>
                <a:cs typeface="+mn-cs"/>
              </a:rPr>
              <a:t>Monitorización</a:t>
            </a:r>
          </a:p>
        </p:txBody>
      </p:sp>
      <p:sp>
        <p:nvSpPr>
          <p:cNvPr id="93" name="Rectangle 92">
            <a:extLst>
              <a:ext uri="{FF2B5EF4-FFF2-40B4-BE49-F238E27FC236}">
                <a16:creationId xmlns:a16="http://schemas.microsoft.com/office/drawing/2014/main" id="{D02CB382-3D21-99A7-B33F-86257B311592}"/>
              </a:ext>
            </a:extLst>
          </p:cNvPr>
          <p:cNvSpPr/>
          <p:nvPr/>
        </p:nvSpPr>
        <p:spPr>
          <a:xfrm>
            <a:off x="1997612" y="1793485"/>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Servicios de Registro Operativo</a:t>
            </a:r>
          </a:p>
        </p:txBody>
      </p:sp>
      <p:sp>
        <p:nvSpPr>
          <p:cNvPr id="95" name="Rectangle 94">
            <a:extLst>
              <a:ext uri="{FF2B5EF4-FFF2-40B4-BE49-F238E27FC236}">
                <a16:creationId xmlns:a16="http://schemas.microsoft.com/office/drawing/2014/main" id="{9239EF5D-CFBC-88AF-2084-2336323A8BA4}"/>
              </a:ext>
            </a:extLst>
          </p:cNvPr>
          <p:cNvSpPr/>
          <p:nvPr/>
        </p:nvSpPr>
        <p:spPr>
          <a:xfrm>
            <a:off x="1997612" y="2055837"/>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000000"/>
                </a:solidFill>
                <a:effectLst/>
                <a:uLnTx/>
                <a:uFillTx/>
                <a:latin typeface="Graphik"/>
                <a:ea typeface="+mn-ea"/>
                <a:cs typeface="+mn-cs"/>
              </a:rPr>
              <a:t>Monitorización del estado</a:t>
            </a:r>
          </a:p>
        </p:txBody>
      </p:sp>
      <p:sp>
        <p:nvSpPr>
          <p:cNvPr id="97" name="Rectangle 96">
            <a:extLst>
              <a:ext uri="{FF2B5EF4-FFF2-40B4-BE49-F238E27FC236}">
                <a16:creationId xmlns:a16="http://schemas.microsoft.com/office/drawing/2014/main" id="{51F902CF-0D0F-1E9C-F29D-2B8F4122BB19}"/>
              </a:ext>
            </a:extLst>
          </p:cNvPr>
          <p:cNvSpPr/>
          <p:nvPr/>
        </p:nvSpPr>
        <p:spPr>
          <a:xfrm>
            <a:off x="1997612" y="2323394"/>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Paneles de control empresariales</a:t>
            </a:r>
          </a:p>
        </p:txBody>
      </p:sp>
      <p:sp>
        <p:nvSpPr>
          <p:cNvPr id="99" name="Rectangle 98">
            <a:extLst>
              <a:ext uri="{FF2B5EF4-FFF2-40B4-BE49-F238E27FC236}">
                <a16:creationId xmlns:a16="http://schemas.microsoft.com/office/drawing/2014/main" id="{4DD35D09-D0CD-81E4-3DF6-D5673A7427CC}"/>
              </a:ext>
            </a:extLst>
          </p:cNvPr>
          <p:cNvSpPr/>
          <p:nvPr/>
        </p:nvSpPr>
        <p:spPr>
          <a:xfrm>
            <a:off x="1997612" y="3126065"/>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Métricas y Analítica</a:t>
            </a:r>
          </a:p>
        </p:txBody>
      </p:sp>
      <p:sp>
        <p:nvSpPr>
          <p:cNvPr id="101" name="Rectangle 100">
            <a:extLst>
              <a:ext uri="{FF2B5EF4-FFF2-40B4-BE49-F238E27FC236}">
                <a16:creationId xmlns:a16="http://schemas.microsoft.com/office/drawing/2014/main" id="{1E5205E3-31FC-75E8-64F5-0404C3CF90E2}"/>
              </a:ext>
            </a:extLst>
          </p:cNvPr>
          <p:cNvSpPr/>
          <p:nvPr/>
        </p:nvSpPr>
        <p:spPr>
          <a:xfrm>
            <a:off x="1997612" y="2858508"/>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Alertas</a:t>
            </a:r>
          </a:p>
        </p:txBody>
      </p:sp>
      <p:sp>
        <p:nvSpPr>
          <p:cNvPr id="103" name="Rectangle 102">
            <a:extLst>
              <a:ext uri="{FF2B5EF4-FFF2-40B4-BE49-F238E27FC236}">
                <a16:creationId xmlns:a16="http://schemas.microsoft.com/office/drawing/2014/main" id="{8F39847A-A5AA-FAAD-59FE-803C93ED17E0}"/>
              </a:ext>
            </a:extLst>
          </p:cNvPr>
          <p:cNvSpPr/>
          <p:nvPr/>
        </p:nvSpPr>
        <p:spPr>
          <a:xfrm>
            <a:off x="1997612" y="3393622"/>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Trazado E2E</a:t>
            </a:r>
          </a:p>
        </p:txBody>
      </p:sp>
      <p:sp>
        <p:nvSpPr>
          <p:cNvPr id="105" name="Rectangle 104">
            <a:extLst>
              <a:ext uri="{FF2B5EF4-FFF2-40B4-BE49-F238E27FC236}">
                <a16:creationId xmlns:a16="http://schemas.microsoft.com/office/drawing/2014/main" id="{2FC22468-16C7-AFFA-1DD3-709C630E69EC}"/>
              </a:ext>
            </a:extLst>
          </p:cNvPr>
          <p:cNvSpPr/>
          <p:nvPr/>
        </p:nvSpPr>
        <p:spPr>
          <a:xfrm>
            <a:off x="1997612" y="2590951"/>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Paneles de control tecnológicos</a:t>
            </a:r>
          </a:p>
        </p:txBody>
      </p:sp>
      <p:sp>
        <p:nvSpPr>
          <p:cNvPr id="107" name="Rectangle 106">
            <a:extLst>
              <a:ext uri="{FF2B5EF4-FFF2-40B4-BE49-F238E27FC236}">
                <a16:creationId xmlns:a16="http://schemas.microsoft.com/office/drawing/2014/main" id="{59DCCE70-FAFB-E0BE-3036-72F715E7C25D}"/>
              </a:ext>
            </a:extLst>
          </p:cNvPr>
          <p:cNvSpPr/>
          <p:nvPr/>
        </p:nvSpPr>
        <p:spPr>
          <a:xfrm>
            <a:off x="1997612" y="3661175"/>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Reportes</a:t>
            </a:r>
          </a:p>
        </p:txBody>
      </p:sp>
      <p:sp>
        <p:nvSpPr>
          <p:cNvPr id="109" name="Rectangle 108">
            <a:extLst>
              <a:ext uri="{FF2B5EF4-FFF2-40B4-BE49-F238E27FC236}">
                <a16:creationId xmlns:a16="http://schemas.microsoft.com/office/drawing/2014/main" id="{04D7DC5F-2000-3584-59F4-2A7EF0D7B9D8}"/>
              </a:ext>
            </a:extLst>
          </p:cNvPr>
          <p:cNvSpPr/>
          <p:nvPr/>
        </p:nvSpPr>
        <p:spPr>
          <a:xfrm>
            <a:off x="1961612" y="4907368"/>
            <a:ext cx="972000" cy="1021411"/>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0" i="1" u="none" strike="noStrike" kern="1200" cap="none" spc="0" normalizeH="0" baseline="0" noProof="0">
                <a:ln>
                  <a:noFill/>
                </a:ln>
                <a:solidFill>
                  <a:srgbClr val="000000"/>
                </a:solidFill>
                <a:effectLst/>
                <a:uLnTx/>
                <a:uFillTx/>
                <a:latin typeface="Graphik"/>
                <a:ea typeface="+mn-ea"/>
                <a:cs typeface="+mn-cs"/>
              </a:rPr>
              <a:t>Operaciones</a:t>
            </a:r>
          </a:p>
        </p:txBody>
      </p:sp>
      <p:sp>
        <p:nvSpPr>
          <p:cNvPr id="111" name="Rectangle 110">
            <a:extLst>
              <a:ext uri="{FF2B5EF4-FFF2-40B4-BE49-F238E27FC236}">
                <a16:creationId xmlns:a16="http://schemas.microsoft.com/office/drawing/2014/main" id="{16A34D4D-BB71-BACE-6872-35AF21C844F5}"/>
              </a:ext>
            </a:extLst>
          </p:cNvPr>
          <p:cNvSpPr/>
          <p:nvPr/>
        </p:nvSpPr>
        <p:spPr>
          <a:xfrm>
            <a:off x="1997612" y="5389696"/>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Operaciones de Folio</a:t>
            </a:r>
          </a:p>
        </p:txBody>
      </p:sp>
      <p:sp>
        <p:nvSpPr>
          <p:cNvPr id="113" name="Rectangle 112">
            <a:extLst>
              <a:ext uri="{FF2B5EF4-FFF2-40B4-BE49-F238E27FC236}">
                <a16:creationId xmlns:a16="http://schemas.microsoft.com/office/drawing/2014/main" id="{11377453-8C8C-14B0-BDFD-4B16A5B6688C}"/>
              </a:ext>
            </a:extLst>
          </p:cNvPr>
          <p:cNvSpPr/>
          <p:nvPr/>
        </p:nvSpPr>
        <p:spPr>
          <a:xfrm>
            <a:off x="1997612" y="5136679"/>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000000"/>
                </a:solidFill>
                <a:effectLst/>
                <a:uLnTx/>
                <a:uFillTx/>
                <a:latin typeface="Graphik"/>
                <a:ea typeface="+mn-ea"/>
                <a:cs typeface="+mn-cs"/>
              </a:rPr>
              <a:t>Feature Flag</a:t>
            </a:r>
          </a:p>
        </p:txBody>
      </p:sp>
      <p:sp>
        <p:nvSpPr>
          <p:cNvPr id="115" name="Rectangle 114">
            <a:extLst>
              <a:ext uri="{FF2B5EF4-FFF2-40B4-BE49-F238E27FC236}">
                <a16:creationId xmlns:a16="http://schemas.microsoft.com/office/drawing/2014/main" id="{31A94A0E-ADF5-C73B-783E-8E7A58F8B926}"/>
              </a:ext>
            </a:extLst>
          </p:cNvPr>
          <p:cNvSpPr/>
          <p:nvPr/>
        </p:nvSpPr>
        <p:spPr>
          <a:xfrm>
            <a:off x="1997612" y="5642713"/>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Servicios UUID distribuidos</a:t>
            </a:r>
          </a:p>
        </p:txBody>
      </p:sp>
      <p:sp>
        <p:nvSpPr>
          <p:cNvPr id="117" name="Rectangle 116">
            <a:extLst>
              <a:ext uri="{FF2B5EF4-FFF2-40B4-BE49-F238E27FC236}">
                <a16:creationId xmlns:a16="http://schemas.microsoft.com/office/drawing/2014/main" id="{9FBE8AC4-5554-F29C-25D7-66D5B8E50E0F}"/>
              </a:ext>
            </a:extLst>
          </p:cNvPr>
          <p:cNvSpPr/>
          <p:nvPr/>
        </p:nvSpPr>
        <p:spPr>
          <a:xfrm>
            <a:off x="7797100" y="1233237"/>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Sandbox</a:t>
            </a:r>
          </a:p>
        </p:txBody>
      </p:sp>
      <p:sp>
        <p:nvSpPr>
          <p:cNvPr id="119" name="Rectangle 118">
            <a:extLst>
              <a:ext uri="{FF2B5EF4-FFF2-40B4-BE49-F238E27FC236}">
                <a16:creationId xmlns:a16="http://schemas.microsoft.com/office/drawing/2014/main" id="{90B76389-AB01-FF4A-56BE-663B79BEEC5B}"/>
              </a:ext>
            </a:extLst>
          </p:cNvPr>
          <p:cNvSpPr/>
          <p:nvPr/>
        </p:nvSpPr>
        <p:spPr>
          <a:xfrm>
            <a:off x="3287611" y="1163074"/>
            <a:ext cx="4354983" cy="26828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800" b="0" i="1" u="none" strike="noStrike" kern="1200" cap="none" spc="0" normalizeH="0" baseline="0" noProof="0" dirty="0">
                <a:ln>
                  <a:noFill/>
                </a:ln>
                <a:solidFill>
                  <a:srgbClr val="000000"/>
                </a:solidFill>
                <a:effectLst/>
                <a:uLnTx/>
                <a:uFillTx/>
                <a:latin typeface="Graphik"/>
                <a:ea typeface="+mn-ea"/>
                <a:cs typeface="+mn-cs"/>
              </a:rPr>
              <a:t>Outbound</a:t>
            </a:r>
          </a:p>
        </p:txBody>
      </p:sp>
      <p:sp>
        <p:nvSpPr>
          <p:cNvPr id="121" name="Rectangle 120">
            <a:extLst>
              <a:ext uri="{FF2B5EF4-FFF2-40B4-BE49-F238E27FC236}">
                <a16:creationId xmlns:a16="http://schemas.microsoft.com/office/drawing/2014/main" id="{7C358B4B-4AAE-B8DD-995F-08D7F30E324F}"/>
              </a:ext>
            </a:extLst>
          </p:cNvPr>
          <p:cNvSpPr/>
          <p:nvPr/>
        </p:nvSpPr>
        <p:spPr>
          <a:xfrm>
            <a:off x="4806781" y="1184239"/>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API Gateway</a:t>
            </a:r>
          </a:p>
        </p:txBody>
      </p:sp>
      <p:sp>
        <p:nvSpPr>
          <p:cNvPr id="123" name="Rectangle 122">
            <a:extLst>
              <a:ext uri="{FF2B5EF4-FFF2-40B4-BE49-F238E27FC236}">
                <a16:creationId xmlns:a16="http://schemas.microsoft.com/office/drawing/2014/main" id="{A2704BC5-43B7-26A9-2AF0-895661246AC0}"/>
              </a:ext>
            </a:extLst>
          </p:cNvPr>
          <p:cNvSpPr/>
          <p:nvPr/>
        </p:nvSpPr>
        <p:spPr>
          <a:xfrm>
            <a:off x="3876415" y="1184239"/>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Conmutación</a:t>
            </a:r>
          </a:p>
        </p:txBody>
      </p:sp>
      <p:sp>
        <p:nvSpPr>
          <p:cNvPr id="127" name="Rectangle 126">
            <a:extLst>
              <a:ext uri="{FF2B5EF4-FFF2-40B4-BE49-F238E27FC236}">
                <a16:creationId xmlns:a16="http://schemas.microsoft.com/office/drawing/2014/main" id="{7AD81C2D-EB3E-B7E4-C395-BD980535735C}"/>
              </a:ext>
            </a:extLst>
          </p:cNvPr>
          <p:cNvSpPr/>
          <p:nvPr/>
        </p:nvSpPr>
        <p:spPr>
          <a:xfrm>
            <a:off x="3287611" y="1472016"/>
            <a:ext cx="4354983" cy="51105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800" b="0" i="1" u="none" strike="noStrike" kern="1200" cap="none" spc="0" normalizeH="0" baseline="0" noProof="0">
                <a:ln>
                  <a:noFill/>
                </a:ln>
                <a:solidFill>
                  <a:srgbClr val="000000"/>
                </a:solidFill>
                <a:effectLst/>
                <a:uLnTx/>
                <a:uFillTx/>
                <a:latin typeface="Graphik"/>
                <a:ea typeface="+mn-ea"/>
                <a:cs typeface="+mn-cs"/>
              </a:rPr>
              <a:t>Inbound</a:t>
            </a:r>
          </a:p>
        </p:txBody>
      </p:sp>
      <p:sp>
        <p:nvSpPr>
          <p:cNvPr id="129" name="Rectangle 128">
            <a:extLst>
              <a:ext uri="{FF2B5EF4-FFF2-40B4-BE49-F238E27FC236}">
                <a16:creationId xmlns:a16="http://schemas.microsoft.com/office/drawing/2014/main" id="{2BAACC41-5848-43AD-4925-33F04F2F6826}"/>
              </a:ext>
            </a:extLst>
          </p:cNvPr>
          <p:cNvSpPr/>
          <p:nvPr/>
        </p:nvSpPr>
        <p:spPr>
          <a:xfrm>
            <a:off x="3876415" y="1496288"/>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000000"/>
                </a:solidFill>
                <a:effectLst/>
                <a:uLnTx/>
                <a:uFillTx/>
                <a:latin typeface="Graphik"/>
                <a:ea typeface="+mn-ea"/>
                <a:cs typeface="+mn-cs"/>
              </a:rPr>
              <a:t>Servicio de Token de Seguridad (STS)</a:t>
            </a:r>
          </a:p>
        </p:txBody>
      </p:sp>
      <p:sp>
        <p:nvSpPr>
          <p:cNvPr id="131" name="Rectangle 130">
            <a:extLst>
              <a:ext uri="{FF2B5EF4-FFF2-40B4-BE49-F238E27FC236}">
                <a16:creationId xmlns:a16="http://schemas.microsoft.com/office/drawing/2014/main" id="{FCE23F47-141D-AC56-A60B-A4D25568978A}"/>
              </a:ext>
            </a:extLst>
          </p:cNvPr>
          <p:cNvSpPr/>
          <p:nvPr/>
        </p:nvSpPr>
        <p:spPr>
          <a:xfrm>
            <a:off x="4806781" y="1496288"/>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API Gateway</a:t>
            </a:r>
          </a:p>
        </p:txBody>
      </p:sp>
      <p:sp>
        <p:nvSpPr>
          <p:cNvPr id="167" name="Oval 166">
            <a:extLst>
              <a:ext uri="{FF2B5EF4-FFF2-40B4-BE49-F238E27FC236}">
                <a16:creationId xmlns:a16="http://schemas.microsoft.com/office/drawing/2014/main" id="{296B9FB0-4001-2D0E-918A-7E1CEDF95AB9}"/>
              </a:ext>
            </a:extLst>
          </p:cNvPr>
          <p:cNvSpPr/>
          <p:nvPr/>
        </p:nvSpPr>
        <p:spPr>
          <a:xfrm>
            <a:off x="5200332" y="978921"/>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K</a:t>
            </a:r>
          </a:p>
        </p:txBody>
      </p:sp>
      <p:sp>
        <p:nvSpPr>
          <p:cNvPr id="169" name="Rectangle 168">
            <a:extLst>
              <a:ext uri="{FF2B5EF4-FFF2-40B4-BE49-F238E27FC236}">
                <a16:creationId xmlns:a16="http://schemas.microsoft.com/office/drawing/2014/main" id="{8F2399B0-D0BC-10C4-D93D-CDA56765E8FF}"/>
              </a:ext>
            </a:extLst>
          </p:cNvPr>
          <p:cNvSpPr/>
          <p:nvPr/>
        </p:nvSpPr>
        <p:spPr>
          <a:xfrm>
            <a:off x="5737147" y="1184239"/>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Graphik"/>
                <a:ea typeface="+mn-ea"/>
                <a:cs typeface="+mn-cs"/>
              </a:rPr>
              <a:t>File Gateway</a:t>
            </a:r>
          </a:p>
        </p:txBody>
      </p:sp>
      <p:sp>
        <p:nvSpPr>
          <p:cNvPr id="171" name="Rectangle 170">
            <a:extLst>
              <a:ext uri="{FF2B5EF4-FFF2-40B4-BE49-F238E27FC236}">
                <a16:creationId xmlns:a16="http://schemas.microsoft.com/office/drawing/2014/main" id="{99F3D9D1-663E-D90F-5187-E788B6EA7C75}"/>
              </a:ext>
            </a:extLst>
          </p:cNvPr>
          <p:cNvSpPr/>
          <p:nvPr/>
        </p:nvSpPr>
        <p:spPr>
          <a:xfrm>
            <a:off x="6667513" y="1184239"/>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Graphik"/>
                <a:ea typeface="+mn-ea"/>
                <a:cs typeface="+mn-cs"/>
              </a:rPr>
              <a:t>EventHub Gateway</a:t>
            </a:r>
          </a:p>
        </p:txBody>
      </p:sp>
      <p:sp>
        <p:nvSpPr>
          <p:cNvPr id="173" name="Rectangle 172">
            <a:extLst>
              <a:ext uri="{FF2B5EF4-FFF2-40B4-BE49-F238E27FC236}">
                <a16:creationId xmlns:a16="http://schemas.microsoft.com/office/drawing/2014/main" id="{7EC746F7-37B7-3E00-FD67-E38E4680B7C7}"/>
              </a:ext>
            </a:extLst>
          </p:cNvPr>
          <p:cNvSpPr/>
          <p:nvPr/>
        </p:nvSpPr>
        <p:spPr>
          <a:xfrm>
            <a:off x="6667513" y="1496288"/>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Graphik"/>
                <a:ea typeface="+mn-ea"/>
                <a:cs typeface="+mn-cs"/>
              </a:rPr>
              <a:t>EventHub Gateway</a:t>
            </a:r>
          </a:p>
        </p:txBody>
      </p:sp>
      <p:sp>
        <p:nvSpPr>
          <p:cNvPr id="175" name="Rectangle 174">
            <a:extLst>
              <a:ext uri="{FF2B5EF4-FFF2-40B4-BE49-F238E27FC236}">
                <a16:creationId xmlns:a16="http://schemas.microsoft.com/office/drawing/2014/main" id="{6802AFE4-E63F-DCEE-676D-811651A50147}"/>
              </a:ext>
            </a:extLst>
          </p:cNvPr>
          <p:cNvSpPr/>
          <p:nvPr/>
        </p:nvSpPr>
        <p:spPr>
          <a:xfrm>
            <a:off x="5737147" y="1496288"/>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000000"/>
                </a:solidFill>
                <a:effectLst/>
                <a:uLnTx/>
                <a:uFillTx/>
                <a:latin typeface="Graphik"/>
                <a:ea typeface="+mn-ea"/>
                <a:cs typeface="+mn-cs"/>
              </a:rPr>
              <a:t>File Gateway</a:t>
            </a:r>
          </a:p>
        </p:txBody>
      </p:sp>
      <p:sp>
        <p:nvSpPr>
          <p:cNvPr id="177" name="Rectangle 176">
            <a:extLst>
              <a:ext uri="{FF2B5EF4-FFF2-40B4-BE49-F238E27FC236}">
                <a16:creationId xmlns:a16="http://schemas.microsoft.com/office/drawing/2014/main" id="{9CE2B0C9-07AF-23D1-75D6-9D58C8E39672}"/>
              </a:ext>
            </a:extLst>
          </p:cNvPr>
          <p:cNvSpPr/>
          <p:nvPr/>
        </p:nvSpPr>
        <p:spPr>
          <a:xfrm>
            <a:off x="3876415" y="1741331"/>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000000"/>
                </a:solidFill>
                <a:effectLst/>
                <a:uLnTx/>
                <a:uFillTx/>
                <a:latin typeface="Graphik"/>
                <a:ea typeface="+mn-ea"/>
                <a:cs typeface="+mn-cs"/>
              </a:rPr>
              <a:t>Open Banking Edge</a:t>
            </a:r>
          </a:p>
        </p:txBody>
      </p:sp>
      <p:sp>
        <p:nvSpPr>
          <p:cNvPr id="179" name="Rectangle 178">
            <a:extLst>
              <a:ext uri="{FF2B5EF4-FFF2-40B4-BE49-F238E27FC236}">
                <a16:creationId xmlns:a16="http://schemas.microsoft.com/office/drawing/2014/main" id="{97C2870C-34E0-6B76-3776-FD76FBB728F8}"/>
              </a:ext>
            </a:extLst>
          </p:cNvPr>
          <p:cNvSpPr/>
          <p:nvPr/>
        </p:nvSpPr>
        <p:spPr>
          <a:xfrm>
            <a:off x="4806781" y="1743446"/>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Graphik"/>
                <a:ea typeface="+mn-ea"/>
                <a:cs typeface="+mn-cs"/>
              </a:rPr>
              <a:t>Filter Edge</a:t>
            </a:r>
          </a:p>
        </p:txBody>
      </p:sp>
      <p:sp>
        <p:nvSpPr>
          <p:cNvPr id="181" name="Rectangle 180">
            <a:extLst>
              <a:ext uri="{FF2B5EF4-FFF2-40B4-BE49-F238E27FC236}">
                <a16:creationId xmlns:a16="http://schemas.microsoft.com/office/drawing/2014/main" id="{A14C04ED-764E-B37B-CDE7-3CF1A8B01C5A}"/>
              </a:ext>
            </a:extLst>
          </p:cNvPr>
          <p:cNvSpPr/>
          <p:nvPr/>
        </p:nvSpPr>
        <p:spPr>
          <a:xfrm>
            <a:off x="4154326" y="2374252"/>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Versionado de API</a:t>
            </a:r>
          </a:p>
        </p:txBody>
      </p:sp>
      <p:sp>
        <p:nvSpPr>
          <p:cNvPr id="183" name="Rectangle 182">
            <a:extLst>
              <a:ext uri="{FF2B5EF4-FFF2-40B4-BE49-F238E27FC236}">
                <a16:creationId xmlns:a16="http://schemas.microsoft.com/office/drawing/2014/main" id="{17CC8978-46F9-E7B4-F548-1F6F25338F00}"/>
              </a:ext>
            </a:extLst>
          </p:cNvPr>
          <p:cNvSpPr/>
          <p:nvPr/>
        </p:nvSpPr>
        <p:spPr>
          <a:xfrm>
            <a:off x="3223524" y="2374252"/>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Enrutamiento</a:t>
            </a:r>
          </a:p>
        </p:txBody>
      </p:sp>
      <p:sp>
        <p:nvSpPr>
          <p:cNvPr id="185" name="Rectangle 184">
            <a:extLst>
              <a:ext uri="{FF2B5EF4-FFF2-40B4-BE49-F238E27FC236}">
                <a16:creationId xmlns:a16="http://schemas.microsoft.com/office/drawing/2014/main" id="{1B1E7ECE-F2B8-5E22-DFA4-5B73CBD502D3}"/>
              </a:ext>
            </a:extLst>
          </p:cNvPr>
          <p:cNvSpPr/>
          <p:nvPr/>
        </p:nvSpPr>
        <p:spPr>
          <a:xfrm>
            <a:off x="5085128" y="2374252"/>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Manejo de errores</a:t>
            </a:r>
          </a:p>
        </p:txBody>
      </p:sp>
      <p:sp>
        <p:nvSpPr>
          <p:cNvPr id="187" name="Rectangle 186">
            <a:extLst>
              <a:ext uri="{FF2B5EF4-FFF2-40B4-BE49-F238E27FC236}">
                <a16:creationId xmlns:a16="http://schemas.microsoft.com/office/drawing/2014/main" id="{7878B985-ECF0-8765-7C47-B66A85B9CB37}"/>
              </a:ext>
            </a:extLst>
          </p:cNvPr>
          <p:cNvSpPr/>
          <p:nvPr/>
        </p:nvSpPr>
        <p:spPr>
          <a:xfrm>
            <a:off x="6015930" y="2374252"/>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Gestión del ciclo de vida</a:t>
            </a:r>
          </a:p>
        </p:txBody>
      </p:sp>
      <p:sp>
        <p:nvSpPr>
          <p:cNvPr id="189" name="Rectangle 188">
            <a:extLst>
              <a:ext uri="{FF2B5EF4-FFF2-40B4-BE49-F238E27FC236}">
                <a16:creationId xmlns:a16="http://schemas.microsoft.com/office/drawing/2014/main" id="{5AC8B13D-6CB7-88D3-6222-304581F77190}"/>
              </a:ext>
            </a:extLst>
          </p:cNvPr>
          <p:cNvSpPr/>
          <p:nvPr/>
        </p:nvSpPr>
        <p:spPr>
          <a:xfrm>
            <a:off x="6946732" y="2374252"/>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000000"/>
                </a:solidFill>
                <a:effectLst/>
                <a:uLnTx/>
                <a:uFillTx/>
                <a:latin typeface="Graphik"/>
                <a:ea typeface="+mn-ea"/>
                <a:cs typeface="+mn-cs"/>
              </a:rPr>
              <a:t>API Manager</a:t>
            </a:r>
          </a:p>
        </p:txBody>
      </p:sp>
      <p:sp>
        <p:nvSpPr>
          <p:cNvPr id="191" name="Rectangle 190">
            <a:extLst>
              <a:ext uri="{FF2B5EF4-FFF2-40B4-BE49-F238E27FC236}">
                <a16:creationId xmlns:a16="http://schemas.microsoft.com/office/drawing/2014/main" id="{5E26ED04-C08F-7CDD-3174-31ADE7D6B15E}"/>
              </a:ext>
            </a:extLst>
          </p:cNvPr>
          <p:cNvSpPr/>
          <p:nvPr/>
        </p:nvSpPr>
        <p:spPr>
          <a:xfrm>
            <a:off x="7877535" y="2374252"/>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Portal para desarrolladores</a:t>
            </a:r>
          </a:p>
        </p:txBody>
      </p:sp>
      <p:sp>
        <p:nvSpPr>
          <p:cNvPr id="193" name="Rectangle 192">
            <a:extLst>
              <a:ext uri="{FF2B5EF4-FFF2-40B4-BE49-F238E27FC236}">
                <a16:creationId xmlns:a16="http://schemas.microsoft.com/office/drawing/2014/main" id="{0E8940FC-75B8-7A18-C368-4FDA88972487}"/>
              </a:ext>
            </a:extLst>
          </p:cNvPr>
          <p:cNvSpPr/>
          <p:nvPr/>
        </p:nvSpPr>
        <p:spPr>
          <a:xfrm>
            <a:off x="3218224" y="2994830"/>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000000"/>
                </a:solidFill>
                <a:effectLst/>
                <a:uLnTx/>
                <a:uFillTx/>
                <a:latin typeface="Graphik"/>
                <a:ea typeface="+mn-ea"/>
                <a:cs typeface="+mn-cs"/>
              </a:rPr>
              <a:t>Gestión de Datos Omnicanal</a:t>
            </a:r>
            <a:endParaRPr kumimoji="0" lang="en-US" sz="700" b="0" i="0" u="none" strike="noStrike" kern="1200" cap="none" spc="0" normalizeH="0" baseline="0" noProof="0" dirty="0">
              <a:ln>
                <a:noFill/>
              </a:ln>
              <a:solidFill>
                <a:srgbClr val="000000"/>
              </a:solidFill>
              <a:effectLst/>
              <a:uLnTx/>
              <a:uFillTx/>
              <a:latin typeface="Graphik"/>
              <a:ea typeface="+mn-ea"/>
              <a:cs typeface="+mn-cs"/>
            </a:endParaRPr>
          </a:p>
        </p:txBody>
      </p:sp>
      <p:sp>
        <p:nvSpPr>
          <p:cNvPr id="195" name="Rectangle 194">
            <a:extLst>
              <a:ext uri="{FF2B5EF4-FFF2-40B4-BE49-F238E27FC236}">
                <a16:creationId xmlns:a16="http://schemas.microsoft.com/office/drawing/2014/main" id="{86F8716F-F718-DC6F-C36D-EFC63AA37FF1}"/>
              </a:ext>
            </a:extLst>
          </p:cNvPr>
          <p:cNvSpPr/>
          <p:nvPr/>
        </p:nvSpPr>
        <p:spPr>
          <a:xfrm>
            <a:off x="4197677" y="2994830"/>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Orquestación de procesos</a:t>
            </a:r>
          </a:p>
        </p:txBody>
      </p:sp>
      <p:sp>
        <p:nvSpPr>
          <p:cNvPr id="197" name="Rectangle 196">
            <a:extLst>
              <a:ext uri="{FF2B5EF4-FFF2-40B4-BE49-F238E27FC236}">
                <a16:creationId xmlns:a16="http://schemas.microsoft.com/office/drawing/2014/main" id="{4BCA1C5F-1F15-9737-9ABE-B3E524428931}"/>
              </a:ext>
            </a:extLst>
          </p:cNvPr>
          <p:cNvSpPr/>
          <p:nvPr/>
        </p:nvSpPr>
        <p:spPr>
          <a:xfrm>
            <a:off x="5157027" y="2999632"/>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Aprobaciones</a:t>
            </a:r>
          </a:p>
        </p:txBody>
      </p:sp>
      <p:grpSp>
        <p:nvGrpSpPr>
          <p:cNvPr id="204" name="Group 203">
            <a:extLst>
              <a:ext uri="{FF2B5EF4-FFF2-40B4-BE49-F238E27FC236}">
                <a16:creationId xmlns:a16="http://schemas.microsoft.com/office/drawing/2014/main" id="{6AC33675-FDAE-BAD2-1DA7-42AD0B7E10F7}"/>
              </a:ext>
            </a:extLst>
          </p:cNvPr>
          <p:cNvGrpSpPr/>
          <p:nvPr/>
        </p:nvGrpSpPr>
        <p:grpSpPr>
          <a:xfrm>
            <a:off x="3971033" y="6281399"/>
            <a:ext cx="4194278" cy="195601"/>
            <a:chOff x="3522429" y="6281399"/>
            <a:chExt cx="4194278" cy="195601"/>
          </a:xfrm>
        </p:grpSpPr>
        <p:grpSp>
          <p:nvGrpSpPr>
            <p:cNvPr id="10" name="Group 9">
              <a:extLst>
                <a:ext uri="{FF2B5EF4-FFF2-40B4-BE49-F238E27FC236}">
                  <a16:creationId xmlns:a16="http://schemas.microsoft.com/office/drawing/2014/main" id="{32B93D61-B211-4901-E947-D26702E1FBD2}"/>
                </a:ext>
              </a:extLst>
            </p:cNvPr>
            <p:cNvGrpSpPr/>
            <p:nvPr/>
          </p:nvGrpSpPr>
          <p:grpSpPr>
            <a:xfrm>
              <a:off x="4475293" y="6283462"/>
              <a:ext cx="3241414" cy="180000"/>
              <a:chOff x="3701850" y="6283462"/>
              <a:chExt cx="3241414" cy="180000"/>
            </a:xfrm>
          </p:grpSpPr>
          <p:grpSp>
            <p:nvGrpSpPr>
              <p:cNvPr id="2" name="Group 1">
                <a:extLst>
                  <a:ext uri="{FF2B5EF4-FFF2-40B4-BE49-F238E27FC236}">
                    <a16:creationId xmlns:a16="http://schemas.microsoft.com/office/drawing/2014/main" id="{55F569C2-3C42-92B8-4933-3FFA66FBCDDE}"/>
                  </a:ext>
                </a:extLst>
              </p:cNvPr>
              <p:cNvGrpSpPr/>
              <p:nvPr/>
            </p:nvGrpSpPr>
            <p:grpSpPr>
              <a:xfrm>
                <a:off x="5366382" y="6283462"/>
                <a:ext cx="1576882" cy="180000"/>
                <a:chOff x="9283672" y="6207566"/>
                <a:chExt cx="1576882" cy="180000"/>
              </a:xfrm>
            </p:grpSpPr>
            <p:sp>
              <p:nvSpPr>
                <p:cNvPr id="6" name="Oval 5">
                  <a:extLst>
                    <a:ext uri="{FF2B5EF4-FFF2-40B4-BE49-F238E27FC236}">
                      <a16:creationId xmlns:a16="http://schemas.microsoft.com/office/drawing/2014/main" id="{D0BE9631-D106-FB1E-1CA1-68B3C5A991BE}"/>
                    </a:ext>
                  </a:extLst>
                </p:cNvPr>
                <p:cNvSpPr/>
                <p:nvPr/>
              </p:nvSpPr>
              <p:spPr>
                <a:xfrm>
                  <a:off x="9283672" y="6207566"/>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K</a:t>
                  </a:r>
                  <a:endParaRPr kumimoji="0" lang="en-ES" sz="1100" b="1" i="0" u="none" strike="noStrike" kern="1200" cap="none" spc="0" normalizeH="0" baseline="0" noProof="0">
                    <a:ln>
                      <a:noFill/>
                    </a:ln>
                    <a:solidFill>
                      <a:srgbClr val="FFFFFF"/>
                    </a:solidFill>
                    <a:effectLst/>
                    <a:uLnTx/>
                    <a:uFillTx/>
                    <a:latin typeface="Graphik"/>
                    <a:ea typeface="+mn-ea"/>
                    <a:cs typeface="+mn-cs"/>
                  </a:endParaRPr>
                </a:p>
              </p:txBody>
            </p:sp>
            <p:sp>
              <p:nvSpPr>
                <p:cNvPr id="8" name="Rectangle 7">
                  <a:extLst>
                    <a:ext uri="{FF2B5EF4-FFF2-40B4-BE49-F238E27FC236}">
                      <a16:creationId xmlns:a16="http://schemas.microsoft.com/office/drawing/2014/main" id="{1AE665B3-4DA2-859D-542B-73D69F715E91}"/>
                    </a:ext>
                  </a:extLst>
                </p:cNvPr>
                <p:cNvSpPr/>
                <p:nvPr/>
              </p:nvSpPr>
              <p:spPr>
                <a:xfrm>
                  <a:off x="9526720" y="6230887"/>
                  <a:ext cx="1333834" cy="13335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000000"/>
                      </a:solidFill>
                      <a:effectLst/>
                      <a:uLnTx/>
                      <a:uFillTx/>
                      <a:latin typeface="Graphik"/>
                      <a:ea typeface="+mn-ea"/>
                      <a:cs typeface="+mn-cs"/>
                    </a:rPr>
                    <a:t>Kernel y componentes de plataforma</a:t>
                  </a:r>
                </a:p>
              </p:txBody>
            </p:sp>
          </p:grpSp>
          <p:grpSp>
            <p:nvGrpSpPr>
              <p:cNvPr id="41" name="Group 40">
                <a:extLst>
                  <a:ext uri="{FF2B5EF4-FFF2-40B4-BE49-F238E27FC236}">
                    <a16:creationId xmlns:a16="http://schemas.microsoft.com/office/drawing/2014/main" id="{CE17CE59-03EF-F791-5513-80CC431D46CA}"/>
                  </a:ext>
                </a:extLst>
              </p:cNvPr>
              <p:cNvGrpSpPr/>
              <p:nvPr/>
            </p:nvGrpSpPr>
            <p:grpSpPr>
              <a:xfrm>
                <a:off x="3701850" y="6283462"/>
                <a:ext cx="1576882" cy="180000"/>
                <a:chOff x="9283672" y="6207566"/>
                <a:chExt cx="1576882" cy="180000"/>
              </a:xfrm>
            </p:grpSpPr>
            <p:sp>
              <p:nvSpPr>
                <p:cNvPr id="42" name="Rectangle 41">
                  <a:extLst>
                    <a:ext uri="{FF2B5EF4-FFF2-40B4-BE49-F238E27FC236}">
                      <a16:creationId xmlns:a16="http://schemas.microsoft.com/office/drawing/2014/main" id="{30D8AE93-C3D9-79DC-44C4-244822AC259C}"/>
                    </a:ext>
                  </a:extLst>
                </p:cNvPr>
                <p:cNvSpPr/>
                <p:nvPr/>
              </p:nvSpPr>
              <p:spPr>
                <a:xfrm>
                  <a:off x="9283672" y="6207566"/>
                  <a:ext cx="180000" cy="180000"/>
                </a:xfrm>
                <a:prstGeom prst="rect">
                  <a:avLst/>
                </a:prstGeom>
                <a:solidFill>
                  <a:srgbClr val="E6E6DC"/>
                </a:solidFill>
                <a:ln>
                  <a:solidFill>
                    <a:srgbClr val="15608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ES" sz="1100" b="1" i="0" u="none" strike="noStrike" kern="1200" cap="none" spc="0" normalizeH="0" baseline="0" noProof="0">
                    <a:ln>
                      <a:noFill/>
                    </a:ln>
                    <a:solidFill>
                      <a:srgbClr val="FFFFFF"/>
                    </a:solidFill>
                    <a:effectLst/>
                    <a:uLnTx/>
                    <a:uFillTx/>
                    <a:latin typeface="Graphik"/>
                    <a:ea typeface="+mn-ea"/>
                    <a:cs typeface="+mn-cs"/>
                  </a:endParaRPr>
                </a:p>
              </p:txBody>
            </p:sp>
            <p:sp>
              <p:nvSpPr>
                <p:cNvPr id="43" name="Rectangle 42">
                  <a:extLst>
                    <a:ext uri="{FF2B5EF4-FFF2-40B4-BE49-F238E27FC236}">
                      <a16:creationId xmlns:a16="http://schemas.microsoft.com/office/drawing/2014/main" id="{C737FF3F-6569-81BB-7E84-F7DC54CD0612}"/>
                    </a:ext>
                  </a:extLst>
                </p:cNvPr>
                <p:cNvSpPr/>
                <p:nvPr/>
              </p:nvSpPr>
              <p:spPr>
                <a:xfrm>
                  <a:off x="9526720" y="6230887"/>
                  <a:ext cx="1333834" cy="13335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Componentes de dominio</a:t>
                  </a:r>
                </a:p>
              </p:txBody>
            </p:sp>
          </p:grpSp>
        </p:grpSp>
        <p:sp>
          <p:nvSpPr>
            <p:cNvPr id="203" name="Rectangle 202">
              <a:extLst>
                <a:ext uri="{FF2B5EF4-FFF2-40B4-BE49-F238E27FC236}">
                  <a16:creationId xmlns:a16="http://schemas.microsoft.com/office/drawing/2014/main" id="{3C408EA7-457F-3ABB-4B7A-26CE79B07DAA}"/>
                </a:ext>
              </a:extLst>
            </p:cNvPr>
            <p:cNvSpPr/>
            <p:nvPr/>
          </p:nvSpPr>
          <p:spPr>
            <a:xfrm>
              <a:off x="3522429" y="6281399"/>
              <a:ext cx="739471" cy="195601"/>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Capacidad</a:t>
              </a:r>
            </a:p>
          </p:txBody>
        </p:sp>
      </p:grpSp>
      <p:sp>
        <p:nvSpPr>
          <p:cNvPr id="206" name="Rectangle 205">
            <a:extLst>
              <a:ext uri="{FF2B5EF4-FFF2-40B4-BE49-F238E27FC236}">
                <a16:creationId xmlns:a16="http://schemas.microsoft.com/office/drawing/2014/main" id="{54A40B35-7E68-93F1-4CB8-910AF70EB474}"/>
              </a:ext>
            </a:extLst>
          </p:cNvPr>
          <p:cNvSpPr/>
          <p:nvPr/>
        </p:nvSpPr>
        <p:spPr>
          <a:xfrm>
            <a:off x="3218223" y="3610571"/>
            <a:ext cx="2700000" cy="7200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800" b="0" i="1" u="none" strike="noStrike" kern="1200" cap="none" spc="0" normalizeH="0" baseline="0" noProof="0">
                <a:ln>
                  <a:noFill/>
                </a:ln>
                <a:solidFill>
                  <a:srgbClr val="000000"/>
                </a:solidFill>
                <a:effectLst/>
                <a:uLnTx/>
                <a:uFillTx/>
                <a:latin typeface="Graphik"/>
                <a:ea typeface="+mn-ea"/>
                <a:cs typeface="+mn-cs"/>
              </a:rPr>
              <a:t>Orquestación de Servicio</a:t>
            </a:r>
          </a:p>
        </p:txBody>
      </p:sp>
      <p:sp>
        <p:nvSpPr>
          <p:cNvPr id="208" name="Rectangle 207">
            <a:extLst>
              <a:ext uri="{FF2B5EF4-FFF2-40B4-BE49-F238E27FC236}">
                <a16:creationId xmlns:a16="http://schemas.microsoft.com/office/drawing/2014/main" id="{64B7EF9F-99D2-85C2-5307-7E39FD3DDBF5}"/>
              </a:ext>
            </a:extLst>
          </p:cNvPr>
          <p:cNvSpPr/>
          <p:nvPr/>
        </p:nvSpPr>
        <p:spPr>
          <a:xfrm>
            <a:off x="6083364" y="3614953"/>
            <a:ext cx="2700000" cy="7200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800" b="0" i="1" u="none" strike="noStrike" kern="1200" cap="none" spc="0" normalizeH="0" baseline="0" noProof="0">
                <a:ln>
                  <a:noFill/>
                </a:ln>
                <a:solidFill>
                  <a:srgbClr val="000000"/>
                </a:solidFill>
                <a:effectLst/>
                <a:uLnTx/>
                <a:uFillTx/>
                <a:latin typeface="Graphik"/>
                <a:ea typeface="+mn-ea"/>
                <a:cs typeface="+mn-cs"/>
              </a:rPr>
              <a:t>Gestión de transacciones</a:t>
            </a:r>
          </a:p>
        </p:txBody>
      </p:sp>
      <p:sp>
        <p:nvSpPr>
          <p:cNvPr id="210" name="Rectangle 209">
            <a:extLst>
              <a:ext uri="{FF2B5EF4-FFF2-40B4-BE49-F238E27FC236}">
                <a16:creationId xmlns:a16="http://schemas.microsoft.com/office/drawing/2014/main" id="{3EDFDFA4-EB10-9351-3632-A342AEDB8EBA}"/>
              </a:ext>
            </a:extLst>
          </p:cNvPr>
          <p:cNvSpPr/>
          <p:nvPr/>
        </p:nvSpPr>
        <p:spPr>
          <a:xfrm>
            <a:off x="3638943" y="3815894"/>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Orquestador de Servicios</a:t>
            </a:r>
          </a:p>
        </p:txBody>
      </p:sp>
      <p:sp>
        <p:nvSpPr>
          <p:cNvPr id="212" name="Rectangle 211">
            <a:extLst>
              <a:ext uri="{FF2B5EF4-FFF2-40B4-BE49-F238E27FC236}">
                <a16:creationId xmlns:a16="http://schemas.microsoft.com/office/drawing/2014/main" id="{E9E0DB14-2D68-98B8-CFA0-F2DC7022D7BC}"/>
              </a:ext>
            </a:extLst>
          </p:cNvPr>
          <p:cNvSpPr/>
          <p:nvPr/>
        </p:nvSpPr>
        <p:spPr>
          <a:xfrm>
            <a:off x="3638943" y="4076960"/>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Adaptadores heredados</a:t>
            </a:r>
          </a:p>
        </p:txBody>
      </p:sp>
      <p:sp>
        <p:nvSpPr>
          <p:cNvPr id="214" name="Rectangle 213">
            <a:extLst>
              <a:ext uri="{FF2B5EF4-FFF2-40B4-BE49-F238E27FC236}">
                <a16:creationId xmlns:a16="http://schemas.microsoft.com/office/drawing/2014/main" id="{78D28367-4D14-603F-758B-F700C875C0EE}"/>
              </a:ext>
            </a:extLst>
          </p:cNvPr>
          <p:cNvSpPr/>
          <p:nvPr/>
        </p:nvSpPr>
        <p:spPr>
          <a:xfrm>
            <a:off x="6484915" y="3819867"/>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Administración en línea</a:t>
            </a:r>
          </a:p>
        </p:txBody>
      </p:sp>
      <p:sp>
        <p:nvSpPr>
          <p:cNvPr id="216" name="Rectangle 215">
            <a:extLst>
              <a:ext uri="{FF2B5EF4-FFF2-40B4-BE49-F238E27FC236}">
                <a16:creationId xmlns:a16="http://schemas.microsoft.com/office/drawing/2014/main" id="{D209F422-8467-DAE5-64D9-C632C11577AF}"/>
              </a:ext>
            </a:extLst>
          </p:cNvPr>
          <p:cNvSpPr/>
          <p:nvPr/>
        </p:nvSpPr>
        <p:spPr>
          <a:xfrm>
            <a:off x="4608969" y="4076960"/>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Almacenar y reenviar</a:t>
            </a:r>
          </a:p>
        </p:txBody>
      </p:sp>
      <p:sp>
        <p:nvSpPr>
          <p:cNvPr id="218" name="Rectangle 217">
            <a:extLst>
              <a:ext uri="{FF2B5EF4-FFF2-40B4-BE49-F238E27FC236}">
                <a16:creationId xmlns:a16="http://schemas.microsoft.com/office/drawing/2014/main" id="{CA7DD1C6-3EEB-9603-5AD0-B6CAA36C3D5B}"/>
              </a:ext>
            </a:extLst>
          </p:cNvPr>
          <p:cNvSpPr/>
          <p:nvPr/>
        </p:nvSpPr>
        <p:spPr>
          <a:xfrm>
            <a:off x="3475399" y="4733358"/>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highlight>
                  <a:srgbClr val="FFFF00"/>
                </a:highlight>
                <a:uLnTx/>
                <a:uFillTx/>
                <a:latin typeface="Graphik"/>
                <a:ea typeface="+mn-ea"/>
                <a:cs typeface="+mn-cs"/>
              </a:rPr>
              <a:t>Dependiente del alcance</a:t>
            </a:r>
          </a:p>
        </p:txBody>
      </p:sp>
      <p:pic>
        <p:nvPicPr>
          <p:cNvPr id="220" name="Picture 219">
            <a:extLst>
              <a:ext uri="{FF2B5EF4-FFF2-40B4-BE49-F238E27FC236}">
                <a16:creationId xmlns:a16="http://schemas.microsoft.com/office/drawing/2014/main" id="{C05A481B-2F58-95E4-4951-1CEAED695DFF}"/>
              </a:ext>
            </a:extLst>
          </p:cNvPr>
          <p:cNvPicPr>
            <a:picLocks noChangeAspect="1"/>
          </p:cNvPicPr>
          <p:nvPr/>
        </p:nvPicPr>
        <p:blipFill>
          <a:blip r:embed="rId6"/>
          <a:srcRect t="10381"/>
          <a:stretch>
            <a:fillRect/>
          </a:stretch>
        </p:blipFill>
        <p:spPr>
          <a:xfrm>
            <a:off x="6789740" y="4654114"/>
            <a:ext cx="2014719" cy="326801"/>
          </a:xfrm>
          <a:prstGeom prst="rect">
            <a:avLst/>
          </a:prstGeom>
        </p:spPr>
      </p:pic>
      <p:sp>
        <p:nvSpPr>
          <p:cNvPr id="222" name="Rectangle 221">
            <a:extLst>
              <a:ext uri="{FF2B5EF4-FFF2-40B4-BE49-F238E27FC236}">
                <a16:creationId xmlns:a16="http://schemas.microsoft.com/office/drawing/2014/main" id="{72CD2E8E-AA3D-2A7F-15FD-332FCE816F67}"/>
              </a:ext>
            </a:extLst>
          </p:cNvPr>
          <p:cNvSpPr/>
          <p:nvPr/>
        </p:nvSpPr>
        <p:spPr>
          <a:xfrm>
            <a:off x="3237925" y="5358283"/>
            <a:ext cx="1800000" cy="73771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0" i="1" u="none" strike="noStrike" kern="1200" cap="none" spc="0" normalizeH="0" baseline="0" noProof="0">
                <a:ln>
                  <a:noFill/>
                </a:ln>
                <a:solidFill>
                  <a:srgbClr val="000000"/>
                </a:solidFill>
                <a:effectLst/>
                <a:uLnTx/>
                <a:uFillTx/>
                <a:latin typeface="Graphik"/>
                <a:ea typeface="+mn-ea"/>
                <a:cs typeface="+mn-cs"/>
              </a:rPr>
              <a:t>Catálogo de datos y modelado</a:t>
            </a:r>
          </a:p>
        </p:txBody>
      </p:sp>
      <p:sp>
        <p:nvSpPr>
          <p:cNvPr id="224" name="Rectangle 223">
            <a:extLst>
              <a:ext uri="{FF2B5EF4-FFF2-40B4-BE49-F238E27FC236}">
                <a16:creationId xmlns:a16="http://schemas.microsoft.com/office/drawing/2014/main" id="{9F24EA81-BE61-2C8F-2C80-BC2C8EAF77F0}"/>
              </a:ext>
            </a:extLst>
          </p:cNvPr>
          <p:cNvSpPr/>
          <p:nvPr/>
        </p:nvSpPr>
        <p:spPr>
          <a:xfrm>
            <a:off x="3290224" y="5584141"/>
            <a:ext cx="828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Catálogo de datos</a:t>
            </a:r>
          </a:p>
        </p:txBody>
      </p:sp>
      <p:sp>
        <p:nvSpPr>
          <p:cNvPr id="226" name="Rectangle 225">
            <a:extLst>
              <a:ext uri="{FF2B5EF4-FFF2-40B4-BE49-F238E27FC236}">
                <a16:creationId xmlns:a16="http://schemas.microsoft.com/office/drawing/2014/main" id="{3AF9F7E6-95F3-1FCB-0D1E-841C25E4E74E}"/>
              </a:ext>
            </a:extLst>
          </p:cNvPr>
          <p:cNvSpPr/>
          <p:nvPr/>
        </p:nvSpPr>
        <p:spPr>
          <a:xfrm>
            <a:off x="3475399" y="5841873"/>
            <a:ext cx="1414653"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Grafo de conocimiento y enriquecimiento</a:t>
            </a:r>
          </a:p>
        </p:txBody>
      </p:sp>
      <p:sp>
        <p:nvSpPr>
          <p:cNvPr id="228" name="Rectangle 227">
            <a:extLst>
              <a:ext uri="{FF2B5EF4-FFF2-40B4-BE49-F238E27FC236}">
                <a16:creationId xmlns:a16="http://schemas.microsoft.com/office/drawing/2014/main" id="{489EB534-466B-9AE0-24EF-63745CA678C5}"/>
              </a:ext>
            </a:extLst>
          </p:cNvPr>
          <p:cNvSpPr/>
          <p:nvPr/>
        </p:nvSpPr>
        <p:spPr>
          <a:xfrm>
            <a:off x="4147323" y="5584141"/>
            <a:ext cx="828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Gestión de metadatos</a:t>
            </a:r>
          </a:p>
        </p:txBody>
      </p:sp>
      <p:sp>
        <p:nvSpPr>
          <p:cNvPr id="230" name="Rectangle 229">
            <a:extLst>
              <a:ext uri="{FF2B5EF4-FFF2-40B4-BE49-F238E27FC236}">
                <a16:creationId xmlns:a16="http://schemas.microsoft.com/office/drawing/2014/main" id="{1CE9542C-BD9A-1DA6-0173-8E4330313EFA}"/>
              </a:ext>
            </a:extLst>
          </p:cNvPr>
          <p:cNvSpPr/>
          <p:nvPr/>
        </p:nvSpPr>
        <p:spPr>
          <a:xfrm>
            <a:off x="5116673" y="5358283"/>
            <a:ext cx="1800000" cy="73771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0" i="1" u="none" strike="noStrike" kern="1200" cap="none" spc="0" normalizeH="0" baseline="0" noProof="0">
                <a:ln>
                  <a:noFill/>
                </a:ln>
                <a:solidFill>
                  <a:srgbClr val="000000"/>
                </a:solidFill>
                <a:effectLst/>
                <a:uLnTx/>
                <a:uFillTx/>
                <a:latin typeface="Graphik"/>
                <a:ea typeface="+mn-ea"/>
                <a:cs typeface="+mn-cs"/>
              </a:rPr>
              <a:t>Canalizaciones y Entrega de Datos</a:t>
            </a:r>
          </a:p>
        </p:txBody>
      </p:sp>
      <p:sp>
        <p:nvSpPr>
          <p:cNvPr id="232" name="Rectangle 231">
            <a:extLst>
              <a:ext uri="{FF2B5EF4-FFF2-40B4-BE49-F238E27FC236}">
                <a16:creationId xmlns:a16="http://schemas.microsoft.com/office/drawing/2014/main" id="{661AA7C2-D7B2-F26F-CEFF-E95DC2656624}"/>
              </a:ext>
            </a:extLst>
          </p:cNvPr>
          <p:cNvSpPr/>
          <p:nvPr/>
        </p:nvSpPr>
        <p:spPr>
          <a:xfrm>
            <a:off x="5180908" y="5584141"/>
            <a:ext cx="828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Integración de </a:t>
            </a:r>
            <a:r>
              <a:rPr lang="es" sz="700">
                <a:solidFill>
                  <a:srgbClr val="000000"/>
                </a:solidFill>
                <a:latin typeface="Graphik"/>
              </a:rPr>
              <a:t>Flujo de </a:t>
            </a:r>
            <a:r>
              <a:rPr kumimoji="0" lang="es" sz="700" b="0" i="0" u="none" strike="noStrike" kern="1200" cap="none" spc="0" normalizeH="0" baseline="0" noProof="0">
                <a:ln>
                  <a:noFill/>
                </a:ln>
                <a:solidFill>
                  <a:srgbClr val="000000"/>
                </a:solidFill>
                <a:effectLst/>
                <a:uLnTx/>
                <a:uFillTx/>
                <a:latin typeface="Graphik"/>
                <a:ea typeface="+mn-ea"/>
                <a:cs typeface="+mn-cs"/>
              </a:rPr>
              <a:t>Datos</a:t>
            </a:r>
          </a:p>
        </p:txBody>
      </p:sp>
      <p:sp>
        <p:nvSpPr>
          <p:cNvPr id="234" name="Rectangle 233">
            <a:extLst>
              <a:ext uri="{FF2B5EF4-FFF2-40B4-BE49-F238E27FC236}">
                <a16:creationId xmlns:a16="http://schemas.microsoft.com/office/drawing/2014/main" id="{6C3C6043-961D-787C-C070-484670B2D52A}"/>
              </a:ext>
            </a:extLst>
          </p:cNvPr>
          <p:cNvSpPr/>
          <p:nvPr/>
        </p:nvSpPr>
        <p:spPr>
          <a:xfrm>
            <a:off x="6046840" y="5584141"/>
            <a:ext cx="828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Replicación de datos</a:t>
            </a:r>
          </a:p>
        </p:txBody>
      </p:sp>
      <p:sp>
        <p:nvSpPr>
          <p:cNvPr id="236" name="Rectangle 235">
            <a:extLst>
              <a:ext uri="{FF2B5EF4-FFF2-40B4-BE49-F238E27FC236}">
                <a16:creationId xmlns:a16="http://schemas.microsoft.com/office/drawing/2014/main" id="{B687B3BE-890A-7570-E9C2-B336DC35DDDB}"/>
              </a:ext>
            </a:extLst>
          </p:cNvPr>
          <p:cNvSpPr/>
          <p:nvPr/>
        </p:nvSpPr>
        <p:spPr>
          <a:xfrm>
            <a:off x="6046840" y="5841873"/>
            <a:ext cx="828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Virtualización de datos</a:t>
            </a:r>
          </a:p>
        </p:txBody>
      </p:sp>
      <p:sp>
        <p:nvSpPr>
          <p:cNvPr id="238" name="Rectangle 237">
            <a:extLst>
              <a:ext uri="{FF2B5EF4-FFF2-40B4-BE49-F238E27FC236}">
                <a16:creationId xmlns:a16="http://schemas.microsoft.com/office/drawing/2014/main" id="{D375ADF4-5057-91F1-794B-DEF4DEE48A34}"/>
              </a:ext>
            </a:extLst>
          </p:cNvPr>
          <p:cNvSpPr/>
          <p:nvPr/>
        </p:nvSpPr>
        <p:spPr>
          <a:xfrm>
            <a:off x="6995420" y="5358283"/>
            <a:ext cx="1800000" cy="73771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800" b="0" i="1" u="none" strike="noStrike" kern="1200" cap="none" spc="0" normalizeH="0" baseline="0" noProof="0">
                <a:ln>
                  <a:noFill/>
                </a:ln>
                <a:solidFill>
                  <a:srgbClr val="000000"/>
                </a:solidFill>
                <a:effectLst/>
                <a:uLnTx/>
                <a:uFillTx/>
                <a:latin typeface="Graphik"/>
                <a:ea typeface="+mn-ea"/>
                <a:cs typeface="+mn-cs"/>
              </a:rPr>
              <a:t>Patrones clave</a:t>
            </a:r>
          </a:p>
        </p:txBody>
      </p:sp>
      <p:sp>
        <p:nvSpPr>
          <p:cNvPr id="240" name="Rectangle 239">
            <a:extLst>
              <a:ext uri="{FF2B5EF4-FFF2-40B4-BE49-F238E27FC236}">
                <a16:creationId xmlns:a16="http://schemas.microsoft.com/office/drawing/2014/main" id="{686A92C8-88C3-1C7C-8AF0-AC7E8CA2F81E}"/>
              </a:ext>
            </a:extLst>
          </p:cNvPr>
          <p:cNvSpPr/>
          <p:nvPr/>
        </p:nvSpPr>
        <p:spPr>
          <a:xfrm>
            <a:off x="5180908" y="5841873"/>
            <a:ext cx="828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000000"/>
                </a:solidFill>
                <a:effectLst/>
                <a:uLnTx/>
                <a:uFillTx/>
                <a:latin typeface="Graphik"/>
                <a:ea typeface="+mn-ea"/>
                <a:cs typeface="+mn-cs"/>
              </a:rPr>
              <a:t>Integración de Datos por Lotes</a:t>
            </a:r>
          </a:p>
        </p:txBody>
      </p:sp>
      <p:sp>
        <p:nvSpPr>
          <p:cNvPr id="242" name="Rectangle 241">
            <a:extLst>
              <a:ext uri="{FF2B5EF4-FFF2-40B4-BE49-F238E27FC236}">
                <a16:creationId xmlns:a16="http://schemas.microsoft.com/office/drawing/2014/main" id="{64512011-E80D-92D8-6440-158AE9A183BE}"/>
              </a:ext>
            </a:extLst>
          </p:cNvPr>
          <p:cNvSpPr/>
          <p:nvPr/>
        </p:nvSpPr>
        <p:spPr>
          <a:xfrm>
            <a:off x="10275552" y="1890884"/>
            <a:ext cx="972000" cy="551871"/>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0" i="1" u="none" strike="noStrike" kern="1200" cap="none" spc="0" normalizeH="0" baseline="0" noProof="0">
                <a:ln>
                  <a:noFill/>
                </a:ln>
                <a:solidFill>
                  <a:srgbClr val="000000"/>
                </a:solidFill>
                <a:effectLst/>
                <a:uLnTx/>
                <a:uFillTx/>
                <a:latin typeface="Graphik"/>
                <a:ea typeface="+mn-ea"/>
                <a:cs typeface="+mn-cs"/>
              </a:rPr>
              <a:t>Pila tecnológica</a:t>
            </a:r>
          </a:p>
        </p:txBody>
      </p:sp>
      <p:sp>
        <p:nvSpPr>
          <p:cNvPr id="244" name="Rectangle 243">
            <a:extLst>
              <a:ext uri="{FF2B5EF4-FFF2-40B4-BE49-F238E27FC236}">
                <a16:creationId xmlns:a16="http://schemas.microsoft.com/office/drawing/2014/main" id="{C1CE0D08-D0D4-D9EA-1C9D-841424E05D34}"/>
              </a:ext>
            </a:extLst>
          </p:cNvPr>
          <p:cNvSpPr/>
          <p:nvPr/>
        </p:nvSpPr>
        <p:spPr>
          <a:xfrm>
            <a:off x="10275552" y="2640911"/>
            <a:ext cx="972000" cy="2438289"/>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0" i="1" u="none" strike="noStrike" kern="1200" cap="none" spc="0" normalizeH="0" baseline="0" noProof="0">
                <a:ln>
                  <a:noFill/>
                </a:ln>
                <a:solidFill>
                  <a:srgbClr val="000000"/>
                </a:solidFill>
                <a:effectLst/>
                <a:uLnTx/>
                <a:uFillTx/>
                <a:latin typeface="Graphik"/>
                <a:ea typeface="+mn-ea"/>
                <a:cs typeface="+mn-cs"/>
              </a:rPr>
              <a:t>Marco de Microservicios</a:t>
            </a:r>
          </a:p>
        </p:txBody>
      </p:sp>
      <p:sp>
        <p:nvSpPr>
          <p:cNvPr id="246" name="Rectangle 245">
            <a:extLst>
              <a:ext uri="{FF2B5EF4-FFF2-40B4-BE49-F238E27FC236}">
                <a16:creationId xmlns:a16="http://schemas.microsoft.com/office/drawing/2014/main" id="{449ACD4E-0117-5A5E-DE3F-1F328E5F3BC7}"/>
              </a:ext>
            </a:extLst>
          </p:cNvPr>
          <p:cNvSpPr/>
          <p:nvPr/>
        </p:nvSpPr>
        <p:spPr>
          <a:xfrm>
            <a:off x="10311552" y="1557412"/>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Resiliencia de la infraestructura</a:t>
            </a:r>
          </a:p>
        </p:txBody>
      </p:sp>
      <p:sp>
        <p:nvSpPr>
          <p:cNvPr id="248" name="Rectangle 247">
            <a:extLst>
              <a:ext uri="{FF2B5EF4-FFF2-40B4-BE49-F238E27FC236}">
                <a16:creationId xmlns:a16="http://schemas.microsoft.com/office/drawing/2014/main" id="{82684918-01A0-0BF5-6B1F-3600B84A17CA}"/>
              </a:ext>
            </a:extLst>
          </p:cNvPr>
          <p:cNvSpPr/>
          <p:nvPr/>
        </p:nvSpPr>
        <p:spPr>
          <a:xfrm>
            <a:off x="10311552" y="3002389"/>
            <a:ext cx="900000" cy="366126"/>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Automatización de la configuración de la plataforma</a:t>
            </a:r>
          </a:p>
        </p:txBody>
      </p:sp>
      <p:sp>
        <p:nvSpPr>
          <p:cNvPr id="250" name="Rectangle 249">
            <a:extLst>
              <a:ext uri="{FF2B5EF4-FFF2-40B4-BE49-F238E27FC236}">
                <a16:creationId xmlns:a16="http://schemas.microsoft.com/office/drawing/2014/main" id="{99F0DA81-243F-418C-CDA9-9EA967FD9515}"/>
              </a:ext>
            </a:extLst>
          </p:cNvPr>
          <p:cNvSpPr/>
          <p:nvPr/>
        </p:nvSpPr>
        <p:spPr>
          <a:xfrm>
            <a:off x="10311552" y="4684604"/>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Librerias base</a:t>
            </a:r>
          </a:p>
        </p:txBody>
      </p:sp>
      <p:sp>
        <p:nvSpPr>
          <p:cNvPr id="252" name="Rectangle 251">
            <a:extLst>
              <a:ext uri="{FF2B5EF4-FFF2-40B4-BE49-F238E27FC236}">
                <a16:creationId xmlns:a16="http://schemas.microsoft.com/office/drawing/2014/main" id="{F251AC58-FB19-0D93-4533-151C761D827A}"/>
              </a:ext>
            </a:extLst>
          </p:cNvPr>
          <p:cNvSpPr/>
          <p:nvPr/>
        </p:nvSpPr>
        <p:spPr>
          <a:xfrm>
            <a:off x="10311552" y="2093514"/>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Caché</a:t>
            </a:r>
          </a:p>
        </p:txBody>
      </p:sp>
      <p:sp>
        <p:nvSpPr>
          <p:cNvPr id="254" name="Rectangle 253">
            <a:extLst>
              <a:ext uri="{FF2B5EF4-FFF2-40B4-BE49-F238E27FC236}">
                <a16:creationId xmlns:a16="http://schemas.microsoft.com/office/drawing/2014/main" id="{2CC97E39-5210-0977-E2CE-F32DB237E070}"/>
              </a:ext>
            </a:extLst>
          </p:cNvPr>
          <p:cNvSpPr/>
          <p:nvPr/>
        </p:nvSpPr>
        <p:spPr>
          <a:xfrm>
            <a:off x="10311552" y="3429000"/>
            <a:ext cx="900000" cy="335745"/>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Leguaje de los </a:t>
            </a:r>
            <a:r>
              <a:rPr lang="es" sz="700">
                <a:solidFill>
                  <a:srgbClr val="000000"/>
                </a:solidFill>
                <a:latin typeface="Graphik"/>
              </a:rPr>
              <a:t>t</a:t>
            </a:r>
            <a:r>
              <a:rPr kumimoji="0" lang="es" sz="700" b="0" i="0" u="none" strike="noStrike" kern="1200" cap="none" spc="0" normalizeH="0" baseline="0" noProof="0">
                <a:ln>
                  <a:noFill/>
                </a:ln>
                <a:solidFill>
                  <a:srgbClr val="000000"/>
                </a:solidFill>
                <a:effectLst/>
                <a:uLnTx/>
                <a:uFillTx/>
                <a:latin typeface="Graphik"/>
                <a:ea typeface="+mn-ea"/>
                <a:cs typeface="+mn-cs"/>
              </a:rPr>
              <a:t>iempos de ejecución</a:t>
            </a:r>
          </a:p>
        </p:txBody>
      </p:sp>
      <p:sp>
        <p:nvSpPr>
          <p:cNvPr id="256" name="Rectangle 255">
            <a:extLst>
              <a:ext uri="{FF2B5EF4-FFF2-40B4-BE49-F238E27FC236}">
                <a16:creationId xmlns:a16="http://schemas.microsoft.com/office/drawing/2014/main" id="{5BC464A3-E2CA-E260-D646-630E11349638}"/>
              </a:ext>
            </a:extLst>
          </p:cNvPr>
          <p:cNvSpPr/>
          <p:nvPr/>
        </p:nvSpPr>
        <p:spPr>
          <a:xfrm>
            <a:off x="10311552" y="3832709"/>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Transmisión de imágenes</a:t>
            </a:r>
          </a:p>
        </p:txBody>
      </p:sp>
      <p:sp>
        <p:nvSpPr>
          <p:cNvPr id="258" name="Rectangle 257">
            <a:extLst>
              <a:ext uri="{FF2B5EF4-FFF2-40B4-BE49-F238E27FC236}">
                <a16:creationId xmlns:a16="http://schemas.microsoft.com/office/drawing/2014/main" id="{0B12F7D5-C411-F6EA-5D32-AAB652B71B95}"/>
              </a:ext>
            </a:extLst>
          </p:cNvPr>
          <p:cNvSpPr/>
          <p:nvPr/>
        </p:nvSpPr>
        <p:spPr>
          <a:xfrm>
            <a:off x="10311552" y="4116673"/>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Pruebas automatizadas</a:t>
            </a:r>
          </a:p>
        </p:txBody>
      </p:sp>
      <p:sp>
        <p:nvSpPr>
          <p:cNvPr id="260" name="Rectangle 259">
            <a:extLst>
              <a:ext uri="{FF2B5EF4-FFF2-40B4-BE49-F238E27FC236}">
                <a16:creationId xmlns:a16="http://schemas.microsoft.com/office/drawing/2014/main" id="{0637CB7D-0335-35D7-3CD0-13D0215502F2}"/>
              </a:ext>
            </a:extLst>
          </p:cNvPr>
          <p:cNvSpPr/>
          <p:nvPr/>
        </p:nvSpPr>
        <p:spPr>
          <a:xfrm>
            <a:off x="10311552" y="4400637"/>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Estrategias de despliegue</a:t>
            </a:r>
          </a:p>
        </p:txBody>
      </p:sp>
      <p:sp>
        <p:nvSpPr>
          <p:cNvPr id="262" name="Rectangle 261">
            <a:extLst>
              <a:ext uri="{FF2B5EF4-FFF2-40B4-BE49-F238E27FC236}">
                <a16:creationId xmlns:a16="http://schemas.microsoft.com/office/drawing/2014/main" id="{C1C2DEEF-FEBB-0809-7165-8B3ADA8F8E29}"/>
              </a:ext>
            </a:extLst>
          </p:cNvPr>
          <p:cNvSpPr/>
          <p:nvPr/>
        </p:nvSpPr>
        <p:spPr>
          <a:xfrm>
            <a:off x="9064845" y="1583645"/>
            <a:ext cx="972000" cy="2675598"/>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0" i="1" u="none" strike="noStrike" kern="1200" cap="none" spc="0" normalizeH="0" baseline="0" noProof="0">
                <a:ln>
                  <a:noFill/>
                </a:ln>
                <a:solidFill>
                  <a:srgbClr val="000000"/>
                </a:solidFill>
                <a:effectLst/>
                <a:uLnTx/>
                <a:uFillTx/>
                <a:latin typeface="Graphik"/>
                <a:ea typeface="+mn-ea"/>
                <a:cs typeface="+mn-cs"/>
              </a:rPr>
              <a:t>Mensajería de eventos</a:t>
            </a:r>
          </a:p>
        </p:txBody>
      </p:sp>
      <p:sp>
        <p:nvSpPr>
          <p:cNvPr id="264" name="Rectangle 263">
            <a:extLst>
              <a:ext uri="{FF2B5EF4-FFF2-40B4-BE49-F238E27FC236}">
                <a16:creationId xmlns:a16="http://schemas.microsoft.com/office/drawing/2014/main" id="{C2F7CE63-F9C8-5235-0E35-5BB8AEB170C1}"/>
              </a:ext>
            </a:extLst>
          </p:cNvPr>
          <p:cNvSpPr/>
          <p:nvPr/>
        </p:nvSpPr>
        <p:spPr>
          <a:xfrm>
            <a:off x="9100845" y="2280596"/>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Retransmisión de eventos</a:t>
            </a:r>
          </a:p>
        </p:txBody>
      </p:sp>
      <p:sp>
        <p:nvSpPr>
          <p:cNvPr id="266" name="Rectangle 265">
            <a:extLst>
              <a:ext uri="{FF2B5EF4-FFF2-40B4-BE49-F238E27FC236}">
                <a16:creationId xmlns:a16="http://schemas.microsoft.com/office/drawing/2014/main" id="{498280DB-2403-965F-8F17-F448A99E0FB1}"/>
              </a:ext>
            </a:extLst>
          </p:cNvPr>
          <p:cNvSpPr/>
          <p:nvPr/>
        </p:nvSpPr>
        <p:spPr>
          <a:xfrm>
            <a:off x="9100845" y="1976560"/>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Registro de eventos</a:t>
            </a:r>
          </a:p>
        </p:txBody>
      </p:sp>
      <p:sp>
        <p:nvSpPr>
          <p:cNvPr id="268" name="Rectangle 267">
            <a:extLst>
              <a:ext uri="{FF2B5EF4-FFF2-40B4-BE49-F238E27FC236}">
                <a16:creationId xmlns:a16="http://schemas.microsoft.com/office/drawing/2014/main" id="{9E8BD2D2-775D-3FC1-B099-BF51B4317E39}"/>
              </a:ext>
            </a:extLst>
          </p:cNvPr>
          <p:cNvSpPr/>
          <p:nvPr/>
        </p:nvSpPr>
        <p:spPr>
          <a:xfrm>
            <a:off x="9100845" y="2556161"/>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Mensajeria Multiprotocolo</a:t>
            </a:r>
          </a:p>
        </p:txBody>
      </p:sp>
      <p:sp>
        <p:nvSpPr>
          <p:cNvPr id="270" name="Rectangle 269">
            <a:extLst>
              <a:ext uri="{FF2B5EF4-FFF2-40B4-BE49-F238E27FC236}">
                <a16:creationId xmlns:a16="http://schemas.microsoft.com/office/drawing/2014/main" id="{C50D8115-9402-98B3-9747-24E93F79EC33}"/>
              </a:ext>
            </a:extLst>
          </p:cNvPr>
          <p:cNvSpPr/>
          <p:nvPr/>
        </p:nvSpPr>
        <p:spPr>
          <a:xfrm>
            <a:off x="9100845" y="2860197"/>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Procesamiento CEP</a:t>
            </a:r>
          </a:p>
        </p:txBody>
      </p:sp>
      <p:sp>
        <p:nvSpPr>
          <p:cNvPr id="272" name="Rectangle 271">
            <a:extLst>
              <a:ext uri="{FF2B5EF4-FFF2-40B4-BE49-F238E27FC236}">
                <a16:creationId xmlns:a16="http://schemas.microsoft.com/office/drawing/2014/main" id="{59EB263D-190E-7974-2BCA-858838C77951}"/>
              </a:ext>
            </a:extLst>
          </p:cNvPr>
          <p:cNvSpPr/>
          <p:nvPr/>
        </p:nvSpPr>
        <p:spPr>
          <a:xfrm>
            <a:off x="9100845" y="3134162"/>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Monitorización de Eventos</a:t>
            </a:r>
          </a:p>
        </p:txBody>
      </p:sp>
      <p:sp>
        <p:nvSpPr>
          <p:cNvPr id="274" name="Rectangle 273">
            <a:extLst>
              <a:ext uri="{FF2B5EF4-FFF2-40B4-BE49-F238E27FC236}">
                <a16:creationId xmlns:a16="http://schemas.microsoft.com/office/drawing/2014/main" id="{8434C8AB-D352-2F9D-D457-6BD9FD54B77F}"/>
              </a:ext>
            </a:extLst>
          </p:cNvPr>
          <p:cNvSpPr/>
          <p:nvPr/>
        </p:nvSpPr>
        <p:spPr>
          <a:xfrm>
            <a:off x="9064845" y="4326330"/>
            <a:ext cx="972000" cy="548009"/>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0" i="1" u="none" strike="noStrike" kern="1200" cap="none" spc="0" normalizeH="0" baseline="0" noProof="0">
                <a:ln>
                  <a:noFill/>
                </a:ln>
                <a:solidFill>
                  <a:srgbClr val="000000"/>
                </a:solidFill>
                <a:effectLst/>
                <a:uLnTx/>
                <a:uFillTx/>
                <a:latin typeface="Graphik"/>
                <a:ea typeface="+mn-ea"/>
                <a:cs typeface="+mn-cs"/>
              </a:rPr>
              <a:t>Procesamiento de eventos</a:t>
            </a:r>
          </a:p>
        </p:txBody>
      </p:sp>
    </p:spTree>
    <p:extLst>
      <p:ext uri="{BB962C8B-B14F-4D97-AF65-F5344CB8AC3E}">
        <p14:creationId xmlns:p14="http://schemas.microsoft.com/office/powerpoint/2010/main" val="20117458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txBody>
          <a:bodyPr/>
          <a:lstStyle/>
          <a:p>
            <a:endParaRPr lang="es-ES"/>
          </a:p>
        </p:txBody>
      </p:sp>
      <p:sp>
        <p:nvSpPr>
          <p:cNvPr id="3" name="Text 1"/>
          <p:cNvSpPr/>
          <p:nvPr/>
        </p:nvSpPr>
        <p:spPr>
          <a:xfrm>
            <a:off x="182880" y="18288"/>
            <a:ext cx="11823192" cy="128016"/>
          </a:xfrm>
          <a:prstGeom prst="rect">
            <a:avLst/>
          </a:prstGeom>
          <a:noFill/>
          <a:ln/>
        </p:spPr>
        <p:txBody>
          <a:bodyPr wrap="square" rtlCol="0" anchor="ctr"/>
          <a:lstStyle/>
          <a:p>
            <a:pPr marL="0" indent="0" algn="ctr">
              <a:buNone/>
            </a:pPr>
            <a:r>
              <a:rPr lang="en-US" sz="550" dirty="0">
                <a:solidFill>
                  <a:srgbClr val="595959"/>
                </a:solidFill>
              </a:rPr>
              <a:t>*** Confidencial - Solo para uso interno de la empresa ***</a:t>
            </a:r>
            <a:endParaRPr lang="en-US" sz="550" dirty="0"/>
          </a:p>
        </p:txBody>
      </p:sp>
      <p:sp>
        <p:nvSpPr>
          <p:cNvPr id="4" name="Text 2"/>
          <p:cNvSpPr/>
          <p:nvPr/>
        </p:nvSpPr>
        <p:spPr>
          <a:xfrm>
            <a:off x="137160" y="137160"/>
            <a:ext cx="4937760" cy="512064"/>
          </a:xfrm>
          <a:prstGeom prst="rect">
            <a:avLst/>
          </a:prstGeom>
          <a:noFill/>
          <a:ln/>
        </p:spPr>
        <p:txBody>
          <a:bodyPr wrap="square" rtlCol="0" anchor="ctr"/>
          <a:lstStyle/>
          <a:p>
            <a:pPr marL="0" indent="0">
              <a:buNone/>
            </a:pPr>
            <a:r>
              <a:rPr lang="en-US" sz="2000" b="1" dirty="0">
                <a:solidFill>
                  <a:srgbClr val="A100FF"/>
                </a:solidFill>
              </a:rPr>
              <a:t>Arquitectura de Interoperabilidad</a:t>
            </a:r>
            <a:endParaRPr lang="en-US" sz="2000" dirty="0"/>
          </a:p>
        </p:txBody>
      </p:sp>
      <p:sp>
        <p:nvSpPr>
          <p:cNvPr id="5" name="Text 3"/>
          <p:cNvSpPr/>
          <p:nvPr/>
        </p:nvSpPr>
        <p:spPr>
          <a:xfrm>
            <a:off x="5074920" y="137160"/>
            <a:ext cx="6858000" cy="512064"/>
          </a:xfrm>
          <a:prstGeom prst="rect">
            <a:avLst/>
          </a:prstGeom>
          <a:noFill/>
          <a:ln/>
        </p:spPr>
        <p:txBody>
          <a:bodyPr wrap="square" rtlCol="0" anchor="ctr"/>
          <a:lstStyle/>
          <a:p>
            <a:pPr marL="0" indent="0">
              <a:buNone/>
            </a:pPr>
            <a:r>
              <a:rPr lang="en-US" sz="2000" dirty="0">
                <a:solidFill>
                  <a:srgbClr val="000000"/>
                </a:solidFill>
              </a:rPr>
              <a:t> | Mapa de capacidades Nivel 2</a:t>
            </a:r>
            <a:endParaRPr lang="en-US" sz="2000" dirty="0"/>
          </a:p>
        </p:txBody>
      </p:sp>
      <p:sp>
        <p:nvSpPr>
          <p:cNvPr id="6" name="Shape 4"/>
          <p:cNvSpPr/>
          <p:nvPr/>
        </p:nvSpPr>
        <p:spPr>
          <a:xfrm>
            <a:off x="109728" y="685800"/>
            <a:ext cx="493776" cy="5916168"/>
          </a:xfrm>
          <a:prstGeom prst="rect">
            <a:avLst/>
          </a:prstGeom>
          <a:solidFill>
            <a:srgbClr val="EDE5FF"/>
          </a:solidFill>
          <a:ln w="12700">
            <a:solidFill>
              <a:srgbClr val="A100FF"/>
            </a:solidFill>
            <a:prstDash val="solid"/>
          </a:ln>
        </p:spPr>
        <p:txBody>
          <a:bodyPr/>
          <a:lstStyle/>
          <a:p>
            <a:endParaRPr lang="es-ES"/>
          </a:p>
        </p:txBody>
      </p:sp>
      <p:sp>
        <p:nvSpPr>
          <p:cNvPr id="7" name="Shape 5"/>
          <p:cNvSpPr/>
          <p:nvPr/>
        </p:nvSpPr>
        <p:spPr>
          <a:xfrm>
            <a:off x="118872" y="694944"/>
            <a:ext cx="146304" cy="146304"/>
          </a:xfrm>
          <a:prstGeom prst="ellipse">
            <a:avLst/>
          </a:prstGeom>
          <a:solidFill>
            <a:srgbClr val="C00000"/>
          </a:solidFill>
          <a:ln w="12700">
            <a:solidFill>
              <a:srgbClr val="C00000"/>
            </a:solidFill>
            <a:prstDash val="solid"/>
          </a:ln>
        </p:spPr>
        <p:txBody>
          <a:bodyPr/>
          <a:lstStyle/>
          <a:p>
            <a:endParaRPr lang="es-ES"/>
          </a:p>
        </p:txBody>
      </p:sp>
      <p:sp>
        <p:nvSpPr>
          <p:cNvPr id="8" name="Text 6"/>
          <p:cNvSpPr/>
          <p:nvPr/>
        </p:nvSpPr>
        <p:spPr>
          <a:xfrm>
            <a:off x="118872" y="694944"/>
            <a:ext cx="146304" cy="146304"/>
          </a:xfrm>
          <a:prstGeom prst="rect">
            <a:avLst/>
          </a:prstGeom>
          <a:noFill/>
          <a:ln/>
        </p:spPr>
        <p:txBody>
          <a:bodyPr wrap="square" lIns="0" tIns="0" rIns="0" bIns="0" rtlCol="0" anchor="ctr"/>
          <a:lstStyle/>
          <a:p>
            <a:pPr marL="0" indent="0" algn="ctr">
              <a:buNone/>
            </a:pPr>
            <a:r>
              <a:rPr lang="en-US" sz="650" b="1" dirty="0">
                <a:solidFill>
                  <a:srgbClr val="FFFFFF"/>
                </a:solidFill>
              </a:rPr>
              <a:t>K</a:t>
            </a:r>
            <a:endParaRPr lang="en-US" sz="650" dirty="0"/>
          </a:p>
        </p:txBody>
      </p:sp>
      <p:sp>
        <p:nvSpPr>
          <p:cNvPr id="9" name="Shape 7"/>
          <p:cNvSpPr/>
          <p:nvPr/>
        </p:nvSpPr>
        <p:spPr>
          <a:xfrm>
            <a:off x="274320" y="685800"/>
            <a:ext cx="329184" cy="164592"/>
          </a:xfrm>
          <a:prstGeom prst="rect">
            <a:avLst/>
          </a:prstGeom>
          <a:solidFill>
            <a:srgbClr val="A100FF"/>
          </a:solidFill>
          <a:ln w="12700">
            <a:solidFill>
              <a:srgbClr val="A100FF"/>
            </a:solidFill>
            <a:prstDash val="solid"/>
          </a:ln>
        </p:spPr>
        <p:txBody>
          <a:bodyPr/>
          <a:lstStyle/>
          <a:p>
            <a:endParaRPr lang="es-ES"/>
          </a:p>
        </p:txBody>
      </p:sp>
      <p:sp>
        <p:nvSpPr>
          <p:cNvPr id="10" name="Text 8"/>
          <p:cNvSpPr/>
          <p:nvPr/>
        </p:nvSpPr>
        <p:spPr>
          <a:xfrm>
            <a:off x="292608" y="685800"/>
            <a:ext cx="292608" cy="164592"/>
          </a:xfrm>
          <a:prstGeom prst="rect">
            <a:avLst/>
          </a:prstGeom>
          <a:noFill/>
          <a:ln/>
        </p:spPr>
        <p:txBody>
          <a:bodyPr wrap="square" lIns="0" tIns="0" rIns="0" bIns="0" rtlCol="0" anchor="ctr"/>
          <a:lstStyle/>
          <a:p>
            <a:pPr marL="0" indent="0" algn="ctr">
              <a:buNone/>
            </a:pPr>
            <a:r>
              <a:rPr lang="en-US" sz="500" b="1" dirty="0">
                <a:solidFill>
                  <a:srgbClr val="FFFFFF"/>
                </a:solidFill>
              </a:rPr>
              <a:t>Seguridad</a:t>
            </a:r>
            <a:endParaRPr lang="en-US" sz="500" dirty="0"/>
          </a:p>
        </p:txBody>
      </p:sp>
      <p:sp>
        <p:nvSpPr>
          <p:cNvPr id="11" name="Shape 9"/>
          <p:cNvSpPr/>
          <p:nvPr/>
        </p:nvSpPr>
        <p:spPr>
          <a:xfrm>
            <a:off x="118872" y="868680"/>
            <a:ext cx="475488" cy="109728"/>
          </a:xfrm>
          <a:prstGeom prst="rect">
            <a:avLst/>
          </a:prstGeom>
          <a:solidFill>
            <a:srgbClr val="BE82FF"/>
          </a:solidFill>
          <a:ln w="6350">
            <a:solidFill>
              <a:srgbClr val="A100FF"/>
            </a:solidFill>
            <a:prstDash val="solid"/>
          </a:ln>
        </p:spPr>
        <p:txBody>
          <a:bodyPr/>
          <a:lstStyle/>
          <a:p>
            <a:endParaRPr lang="es-ES"/>
          </a:p>
        </p:txBody>
      </p:sp>
      <p:sp>
        <p:nvSpPr>
          <p:cNvPr id="12" name="Text 10"/>
          <p:cNvSpPr/>
          <p:nvPr/>
        </p:nvSpPr>
        <p:spPr>
          <a:xfrm>
            <a:off x="118872" y="868680"/>
            <a:ext cx="475488" cy="109728"/>
          </a:xfrm>
          <a:prstGeom prst="rect">
            <a:avLst/>
          </a:prstGeom>
          <a:noFill/>
          <a:ln/>
        </p:spPr>
        <p:txBody>
          <a:bodyPr wrap="square" lIns="6350" tIns="6350" rIns="6350" bIns="6350" rtlCol="0" anchor="ctr"/>
          <a:lstStyle/>
          <a:p>
            <a:pPr marL="0" indent="0" algn="ctr">
              <a:buNone/>
            </a:pPr>
            <a:r>
              <a:rPr lang="en-US" sz="400" b="1" dirty="0">
                <a:solidFill>
                  <a:srgbClr val="000000"/>
                </a:solidFill>
              </a:rPr>
              <a:t>IAM</a:t>
            </a:r>
            <a:endParaRPr lang="en-US" sz="400" dirty="0"/>
          </a:p>
        </p:txBody>
      </p:sp>
      <p:sp>
        <p:nvSpPr>
          <p:cNvPr id="13" name="Shape 11"/>
          <p:cNvSpPr/>
          <p:nvPr/>
        </p:nvSpPr>
        <p:spPr>
          <a:xfrm>
            <a:off x="118872" y="987552"/>
            <a:ext cx="475488" cy="160934"/>
          </a:xfrm>
          <a:prstGeom prst="rect">
            <a:avLst/>
          </a:prstGeom>
          <a:solidFill>
            <a:srgbClr val="FFFFFF"/>
          </a:solidFill>
          <a:ln w="3810">
            <a:solidFill>
              <a:srgbClr val="BE82FF"/>
            </a:solidFill>
            <a:prstDash val="solid"/>
          </a:ln>
        </p:spPr>
        <p:txBody>
          <a:bodyPr/>
          <a:lstStyle/>
          <a:p>
            <a:endParaRPr lang="es-ES"/>
          </a:p>
        </p:txBody>
      </p:sp>
      <p:sp>
        <p:nvSpPr>
          <p:cNvPr id="14" name="Text 12"/>
          <p:cNvSpPr/>
          <p:nvPr/>
        </p:nvSpPr>
        <p:spPr>
          <a:xfrm>
            <a:off x="118872" y="987552"/>
            <a:ext cx="475488" cy="160934"/>
          </a:xfrm>
          <a:prstGeom prst="rect">
            <a:avLst/>
          </a:prstGeom>
          <a:noFill/>
          <a:ln/>
        </p:spPr>
        <p:txBody>
          <a:bodyPr wrap="square" lIns="6350" tIns="6350" rIns="6350" bIns="6350" rtlCol="0" anchor="ctr"/>
          <a:lstStyle/>
          <a:p>
            <a:pPr marL="0" indent="0" algn="ctr">
              <a:buNone/>
            </a:pPr>
            <a:r>
              <a:rPr lang="en-US" sz="380" dirty="0">
                <a:solidFill>
                  <a:srgbClr val="000000"/>
                </a:solidFill>
              </a:rPr>
              <a:t>Autenticación</a:t>
            </a:r>
            <a:endParaRPr lang="en-US" sz="380" dirty="0"/>
          </a:p>
        </p:txBody>
      </p:sp>
      <p:sp>
        <p:nvSpPr>
          <p:cNvPr id="15" name="Shape 13"/>
          <p:cNvSpPr/>
          <p:nvPr/>
        </p:nvSpPr>
        <p:spPr>
          <a:xfrm>
            <a:off x="118872" y="1153058"/>
            <a:ext cx="475488" cy="160934"/>
          </a:xfrm>
          <a:prstGeom prst="rect">
            <a:avLst/>
          </a:prstGeom>
          <a:solidFill>
            <a:srgbClr val="FFFFFF"/>
          </a:solidFill>
          <a:ln w="3810">
            <a:solidFill>
              <a:srgbClr val="BE82FF"/>
            </a:solidFill>
            <a:prstDash val="solid"/>
          </a:ln>
        </p:spPr>
        <p:txBody>
          <a:bodyPr/>
          <a:lstStyle/>
          <a:p>
            <a:endParaRPr lang="es-ES"/>
          </a:p>
        </p:txBody>
      </p:sp>
      <p:sp>
        <p:nvSpPr>
          <p:cNvPr id="16" name="Text 14"/>
          <p:cNvSpPr/>
          <p:nvPr/>
        </p:nvSpPr>
        <p:spPr>
          <a:xfrm>
            <a:off x="118872" y="1153058"/>
            <a:ext cx="475488" cy="160934"/>
          </a:xfrm>
          <a:prstGeom prst="rect">
            <a:avLst/>
          </a:prstGeom>
          <a:noFill/>
          <a:ln/>
        </p:spPr>
        <p:txBody>
          <a:bodyPr wrap="square" lIns="6350" tIns="6350" rIns="6350" bIns="6350" rtlCol="0" anchor="ctr"/>
          <a:lstStyle/>
          <a:p>
            <a:pPr marL="0" indent="0" algn="ctr">
              <a:buNone/>
            </a:pPr>
            <a:r>
              <a:rPr lang="en-US" sz="380" dirty="0">
                <a:solidFill>
                  <a:srgbClr val="000000"/>
                </a:solidFill>
              </a:rPr>
              <a:t>Autorización</a:t>
            </a:r>
            <a:endParaRPr lang="en-US" sz="380" dirty="0"/>
          </a:p>
        </p:txBody>
      </p:sp>
      <p:sp>
        <p:nvSpPr>
          <p:cNvPr id="17" name="Shape 15"/>
          <p:cNvSpPr/>
          <p:nvPr/>
        </p:nvSpPr>
        <p:spPr>
          <a:xfrm>
            <a:off x="118872" y="1318565"/>
            <a:ext cx="475488" cy="160934"/>
          </a:xfrm>
          <a:prstGeom prst="rect">
            <a:avLst/>
          </a:prstGeom>
          <a:solidFill>
            <a:srgbClr val="FFFFFF"/>
          </a:solidFill>
          <a:ln w="3810">
            <a:solidFill>
              <a:srgbClr val="BE82FF"/>
            </a:solidFill>
            <a:prstDash val="solid"/>
          </a:ln>
        </p:spPr>
        <p:txBody>
          <a:bodyPr/>
          <a:lstStyle/>
          <a:p>
            <a:endParaRPr lang="es-ES"/>
          </a:p>
        </p:txBody>
      </p:sp>
      <p:sp>
        <p:nvSpPr>
          <p:cNvPr id="18" name="Text 16"/>
          <p:cNvSpPr/>
          <p:nvPr/>
        </p:nvSpPr>
        <p:spPr>
          <a:xfrm>
            <a:off x="118872" y="1318565"/>
            <a:ext cx="475488" cy="160934"/>
          </a:xfrm>
          <a:prstGeom prst="rect">
            <a:avLst/>
          </a:prstGeom>
          <a:noFill/>
          <a:ln/>
        </p:spPr>
        <p:txBody>
          <a:bodyPr wrap="square" lIns="6350" tIns="6350" rIns="6350" bIns="6350" rtlCol="0" anchor="ctr"/>
          <a:lstStyle/>
          <a:p>
            <a:pPr marL="0" indent="0" algn="ctr">
              <a:buNone/>
            </a:pPr>
            <a:r>
              <a:rPr lang="en-US" sz="380" dirty="0">
                <a:solidFill>
                  <a:srgbClr val="000000"/>
                </a:solidFill>
              </a:rPr>
              <a:t>Token/SSO</a:t>
            </a:r>
            <a:endParaRPr lang="en-US" sz="380" dirty="0"/>
          </a:p>
        </p:txBody>
      </p:sp>
      <p:sp>
        <p:nvSpPr>
          <p:cNvPr id="19" name="Shape 17"/>
          <p:cNvSpPr/>
          <p:nvPr/>
        </p:nvSpPr>
        <p:spPr>
          <a:xfrm>
            <a:off x="118872" y="1484071"/>
            <a:ext cx="475488" cy="160934"/>
          </a:xfrm>
          <a:prstGeom prst="rect">
            <a:avLst/>
          </a:prstGeom>
          <a:solidFill>
            <a:srgbClr val="FFFFFF"/>
          </a:solidFill>
          <a:ln w="3810">
            <a:solidFill>
              <a:srgbClr val="BE82FF"/>
            </a:solidFill>
            <a:prstDash val="solid"/>
          </a:ln>
        </p:spPr>
        <p:txBody>
          <a:bodyPr/>
          <a:lstStyle/>
          <a:p>
            <a:endParaRPr lang="es-ES"/>
          </a:p>
        </p:txBody>
      </p:sp>
      <p:sp>
        <p:nvSpPr>
          <p:cNvPr id="20" name="Text 18"/>
          <p:cNvSpPr/>
          <p:nvPr/>
        </p:nvSpPr>
        <p:spPr>
          <a:xfrm>
            <a:off x="118872" y="1484071"/>
            <a:ext cx="475488" cy="160934"/>
          </a:xfrm>
          <a:prstGeom prst="rect">
            <a:avLst/>
          </a:prstGeom>
          <a:noFill/>
          <a:ln/>
        </p:spPr>
        <p:txBody>
          <a:bodyPr wrap="square" lIns="6350" tIns="6350" rIns="6350" bIns="6350" rtlCol="0" anchor="ctr"/>
          <a:lstStyle/>
          <a:p>
            <a:pPr marL="0" indent="0" algn="ctr">
              <a:buNone/>
            </a:pPr>
            <a:r>
              <a:rPr lang="en-US" sz="380" dirty="0">
                <a:solidFill>
                  <a:srgbClr val="000000"/>
                </a:solidFill>
              </a:rPr>
              <a:t>Sesión</a:t>
            </a:r>
            <a:endParaRPr lang="en-US" sz="380" dirty="0"/>
          </a:p>
        </p:txBody>
      </p:sp>
      <p:sp>
        <p:nvSpPr>
          <p:cNvPr id="21" name="Shape 19"/>
          <p:cNvSpPr/>
          <p:nvPr/>
        </p:nvSpPr>
        <p:spPr>
          <a:xfrm>
            <a:off x="118872" y="1649578"/>
            <a:ext cx="475488" cy="160934"/>
          </a:xfrm>
          <a:prstGeom prst="rect">
            <a:avLst/>
          </a:prstGeom>
          <a:solidFill>
            <a:srgbClr val="FFFFFF"/>
          </a:solidFill>
          <a:ln w="3810">
            <a:solidFill>
              <a:srgbClr val="BE82FF"/>
            </a:solidFill>
            <a:prstDash val="solid"/>
          </a:ln>
        </p:spPr>
        <p:txBody>
          <a:bodyPr/>
          <a:lstStyle/>
          <a:p>
            <a:endParaRPr lang="es-ES"/>
          </a:p>
        </p:txBody>
      </p:sp>
      <p:sp>
        <p:nvSpPr>
          <p:cNvPr id="22" name="Text 20"/>
          <p:cNvSpPr/>
          <p:nvPr/>
        </p:nvSpPr>
        <p:spPr>
          <a:xfrm>
            <a:off x="118872" y="1649578"/>
            <a:ext cx="475488" cy="160934"/>
          </a:xfrm>
          <a:prstGeom prst="rect">
            <a:avLst/>
          </a:prstGeom>
          <a:noFill/>
          <a:ln/>
        </p:spPr>
        <p:txBody>
          <a:bodyPr wrap="square" lIns="6350" tIns="6350" rIns="6350" bIns="6350" rtlCol="0" anchor="ctr"/>
          <a:lstStyle/>
          <a:p>
            <a:pPr marL="0" indent="0" algn="ctr">
              <a:buNone/>
            </a:pPr>
            <a:r>
              <a:rPr lang="en-US" sz="380" dirty="0">
                <a:solidFill>
                  <a:srgbClr val="000000"/>
                </a:solidFill>
              </a:rPr>
              <a:t>Admin.Usuarios</a:t>
            </a:r>
            <a:endParaRPr lang="en-US" sz="380" dirty="0"/>
          </a:p>
        </p:txBody>
      </p:sp>
      <p:sp>
        <p:nvSpPr>
          <p:cNvPr id="23" name="Shape 21"/>
          <p:cNvSpPr/>
          <p:nvPr/>
        </p:nvSpPr>
        <p:spPr>
          <a:xfrm>
            <a:off x="118872" y="1815084"/>
            <a:ext cx="475488" cy="109728"/>
          </a:xfrm>
          <a:prstGeom prst="rect">
            <a:avLst/>
          </a:prstGeom>
          <a:solidFill>
            <a:srgbClr val="BE82FF"/>
          </a:solidFill>
          <a:ln w="6350">
            <a:solidFill>
              <a:srgbClr val="A100FF"/>
            </a:solidFill>
            <a:prstDash val="solid"/>
          </a:ln>
        </p:spPr>
        <p:txBody>
          <a:bodyPr/>
          <a:lstStyle/>
          <a:p>
            <a:endParaRPr lang="es-ES"/>
          </a:p>
        </p:txBody>
      </p:sp>
      <p:sp>
        <p:nvSpPr>
          <p:cNvPr id="24" name="Text 22"/>
          <p:cNvSpPr/>
          <p:nvPr/>
        </p:nvSpPr>
        <p:spPr>
          <a:xfrm>
            <a:off x="118872" y="1815084"/>
            <a:ext cx="475488" cy="109728"/>
          </a:xfrm>
          <a:prstGeom prst="rect">
            <a:avLst/>
          </a:prstGeom>
          <a:noFill/>
          <a:ln/>
        </p:spPr>
        <p:txBody>
          <a:bodyPr wrap="square" lIns="6350" tIns="6350" rIns="6350" bIns="6350" rtlCol="0" anchor="ctr"/>
          <a:lstStyle/>
          <a:p>
            <a:pPr marL="0" indent="0" algn="ctr">
              <a:buNone/>
            </a:pPr>
            <a:r>
              <a:rPr lang="en-US" sz="400" b="1" dirty="0">
                <a:solidFill>
                  <a:srgbClr val="000000"/>
                </a:solidFill>
              </a:rPr>
              <a:t>Criptografía</a:t>
            </a:r>
            <a:endParaRPr lang="en-US" sz="400" dirty="0"/>
          </a:p>
        </p:txBody>
      </p:sp>
      <p:sp>
        <p:nvSpPr>
          <p:cNvPr id="25" name="Shape 23"/>
          <p:cNvSpPr/>
          <p:nvPr/>
        </p:nvSpPr>
        <p:spPr>
          <a:xfrm>
            <a:off x="118872" y="1933956"/>
            <a:ext cx="475488" cy="202311"/>
          </a:xfrm>
          <a:prstGeom prst="rect">
            <a:avLst/>
          </a:prstGeom>
          <a:solidFill>
            <a:srgbClr val="FFFFFF"/>
          </a:solidFill>
          <a:ln w="3810">
            <a:solidFill>
              <a:srgbClr val="BE82FF"/>
            </a:solidFill>
            <a:prstDash val="solid"/>
          </a:ln>
        </p:spPr>
        <p:txBody>
          <a:bodyPr/>
          <a:lstStyle/>
          <a:p>
            <a:endParaRPr lang="es-ES"/>
          </a:p>
        </p:txBody>
      </p:sp>
      <p:sp>
        <p:nvSpPr>
          <p:cNvPr id="26" name="Text 24"/>
          <p:cNvSpPr/>
          <p:nvPr/>
        </p:nvSpPr>
        <p:spPr>
          <a:xfrm>
            <a:off x="118872" y="1933956"/>
            <a:ext cx="475488" cy="202311"/>
          </a:xfrm>
          <a:prstGeom prst="rect">
            <a:avLst/>
          </a:prstGeom>
          <a:noFill/>
          <a:ln/>
        </p:spPr>
        <p:txBody>
          <a:bodyPr wrap="square" lIns="6350" tIns="6350" rIns="6350" bIns="6350" rtlCol="0" anchor="ctr"/>
          <a:lstStyle/>
          <a:p>
            <a:pPr marL="0" indent="0" algn="ctr">
              <a:buNone/>
            </a:pPr>
            <a:r>
              <a:rPr lang="en-US" sz="380" dirty="0">
                <a:solidFill>
                  <a:srgbClr val="000000"/>
                </a:solidFill>
              </a:rPr>
              <a:t>Firma Digital</a:t>
            </a:r>
            <a:endParaRPr lang="en-US" sz="380" dirty="0"/>
          </a:p>
        </p:txBody>
      </p:sp>
      <p:sp>
        <p:nvSpPr>
          <p:cNvPr id="27" name="Shape 25"/>
          <p:cNvSpPr/>
          <p:nvPr/>
        </p:nvSpPr>
        <p:spPr>
          <a:xfrm>
            <a:off x="118872" y="2140839"/>
            <a:ext cx="475488" cy="202311"/>
          </a:xfrm>
          <a:prstGeom prst="rect">
            <a:avLst/>
          </a:prstGeom>
          <a:solidFill>
            <a:srgbClr val="FFFFFF"/>
          </a:solidFill>
          <a:ln w="3810">
            <a:solidFill>
              <a:srgbClr val="BE82FF"/>
            </a:solidFill>
            <a:prstDash val="solid"/>
          </a:ln>
        </p:spPr>
        <p:txBody>
          <a:bodyPr/>
          <a:lstStyle/>
          <a:p>
            <a:endParaRPr lang="es-ES"/>
          </a:p>
        </p:txBody>
      </p:sp>
      <p:sp>
        <p:nvSpPr>
          <p:cNvPr id="28" name="Text 26"/>
          <p:cNvSpPr/>
          <p:nvPr/>
        </p:nvSpPr>
        <p:spPr>
          <a:xfrm>
            <a:off x="118872" y="2140839"/>
            <a:ext cx="475488" cy="202311"/>
          </a:xfrm>
          <a:prstGeom prst="rect">
            <a:avLst/>
          </a:prstGeom>
          <a:noFill/>
          <a:ln/>
        </p:spPr>
        <p:txBody>
          <a:bodyPr wrap="square" lIns="6350" tIns="6350" rIns="6350" bIns="6350" rtlCol="0" anchor="ctr"/>
          <a:lstStyle/>
          <a:p>
            <a:pPr marL="0" indent="0" algn="ctr">
              <a:buNone/>
            </a:pPr>
            <a:r>
              <a:rPr lang="en-US" sz="380" dirty="0">
                <a:solidFill>
                  <a:srgbClr val="000000"/>
                </a:solidFill>
              </a:rPr>
              <a:t>Cifrado</a:t>
            </a:r>
            <a:endParaRPr lang="en-US" sz="380" dirty="0"/>
          </a:p>
        </p:txBody>
      </p:sp>
      <p:sp>
        <p:nvSpPr>
          <p:cNvPr id="29" name="Shape 27"/>
          <p:cNvSpPr/>
          <p:nvPr/>
        </p:nvSpPr>
        <p:spPr>
          <a:xfrm>
            <a:off x="118872" y="2347722"/>
            <a:ext cx="475488" cy="202311"/>
          </a:xfrm>
          <a:prstGeom prst="rect">
            <a:avLst/>
          </a:prstGeom>
          <a:solidFill>
            <a:srgbClr val="FFFFFF"/>
          </a:solidFill>
          <a:ln w="3810">
            <a:solidFill>
              <a:srgbClr val="BE82FF"/>
            </a:solidFill>
            <a:prstDash val="solid"/>
          </a:ln>
        </p:spPr>
        <p:txBody>
          <a:bodyPr/>
          <a:lstStyle/>
          <a:p>
            <a:endParaRPr lang="es-ES"/>
          </a:p>
        </p:txBody>
      </p:sp>
      <p:sp>
        <p:nvSpPr>
          <p:cNvPr id="30" name="Text 28"/>
          <p:cNvSpPr/>
          <p:nvPr/>
        </p:nvSpPr>
        <p:spPr>
          <a:xfrm>
            <a:off x="118872" y="2347722"/>
            <a:ext cx="475488" cy="202311"/>
          </a:xfrm>
          <a:prstGeom prst="rect">
            <a:avLst/>
          </a:prstGeom>
          <a:noFill/>
          <a:ln/>
        </p:spPr>
        <p:txBody>
          <a:bodyPr wrap="square" lIns="6350" tIns="6350" rIns="6350" bIns="6350" rtlCol="0" anchor="ctr"/>
          <a:lstStyle/>
          <a:p>
            <a:pPr marL="0" indent="0" algn="ctr">
              <a:buNone/>
            </a:pPr>
            <a:r>
              <a:rPr lang="en-US" sz="380" dirty="0">
                <a:solidFill>
                  <a:srgbClr val="000000"/>
                </a:solidFill>
              </a:rPr>
              <a:t>Cifrado E2E</a:t>
            </a:r>
            <a:endParaRPr lang="en-US" sz="380" dirty="0"/>
          </a:p>
        </p:txBody>
      </p:sp>
      <p:sp>
        <p:nvSpPr>
          <p:cNvPr id="31" name="Shape 29"/>
          <p:cNvSpPr/>
          <p:nvPr/>
        </p:nvSpPr>
        <p:spPr>
          <a:xfrm>
            <a:off x="118872" y="2554605"/>
            <a:ext cx="475488" cy="202311"/>
          </a:xfrm>
          <a:prstGeom prst="rect">
            <a:avLst/>
          </a:prstGeom>
          <a:solidFill>
            <a:srgbClr val="FFFFFF"/>
          </a:solidFill>
          <a:ln w="3810">
            <a:solidFill>
              <a:srgbClr val="BE82FF"/>
            </a:solidFill>
            <a:prstDash val="solid"/>
          </a:ln>
        </p:spPr>
        <p:txBody>
          <a:bodyPr/>
          <a:lstStyle/>
          <a:p>
            <a:endParaRPr lang="es-ES"/>
          </a:p>
        </p:txBody>
      </p:sp>
      <p:sp>
        <p:nvSpPr>
          <p:cNvPr id="32" name="Text 30"/>
          <p:cNvSpPr/>
          <p:nvPr/>
        </p:nvSpPr>
        <p:spPr>
          <a:xfrm>
            <a:off x="118872" y="2554605"/>
            <a:ext cx="475488" cy="202311"/>
          </a:xfrm>
          <a:prstGeom prst="rect">
            <a:avLst/>
          </a:prstGeom>
          <a:noFill/>
          <a:ln/>
        </p:spPr>
        <p:txBody>
          <a:bodyPr wrap="square" lIns="6350" tIns="6350" rIns="6350" bIns="6350" rtlCol="0" anchor="ctr"/>
          <a:lstStyle/>
          <a:p>
            <a:pPr marL="0" indent="0" algn="ctr">
              <a:buNone/>
            </a:pPr>
            <a:r>
              <a:rPr lang="en-US" sz="380" dirty="0">
                <a:solidFill>
                  <a:srgbClr val="000000"/>
                </a:solidFill>
              </a:rPr>
              <a:t>HSM/Claves</a:t>
            </a:r>
            <a:endParaRPr lang="en-US" sz="380" dirty="0"/>
          </a:p>
        </p:txBody>
      </p:sp>
      <p:sp>
        <p:nvSpPr>
          <p:cNvPr id="33" name="Shape 31"/>
          <p:cNvSpPr/>
          <p:nvPr/>
        </p:nvSpPr>
        <p:spPr>
          <a:xfrm>
            <a:off x="118872" y="2761488"/>
            <a:ext cx="475488" cy="109728"/>
          </a:xfrm>
          <a:prstGeom prst="rect">
            <a:avLst/>
          </a:prstGeom>
          <a:solidFill>
            <a:srgbClr val="BE82FF"/>
          </a:solidFill>
          <a:ln w="6350">
            <a:solidFill>
              <a:srgbClr val="A100FF"/>
            </a:solidFill>
            <a:prstDash val="solid"/>
          </a:ln>
        </p:spPr>
        <p:txBody>
          <a:bodyPr/>
          <a:lstStyle/>
          <a:p>
            <a:endParaRPr lang="es-ES"/>
          </a:p>
        </p:txBody>
      </p:sp>
      <p:sp>
        <p:nvSpPr>
          <p:cNvPr id="34" name="Text 32"/>
          <p:cNvSpPr/>
          <p:nvPr/>
        </p:nvSpPr>
        <p:spPr>
          <a:xfrm>
            <a:off x="118872" y="2761488"/>
            <a:ext cx="475488" cy="109728"/>
          </a:xfrm>
          <a:prstGeom prst="rect">
            <a:avLst/>
          </a:prstGeom>
          <a:noFill/>
          <a:ln/>
        </p:spPr>
        <p:txBody>
          <a:bodyPr wrap="square" lIns="6350" tIns="6350" rIns="6350" bIns="6350" rtlCol="0" anchor="ctr"/>
          <a:lstStyle/>
          <a:p>
            <a:pPr marL="0" indent="0" algn="ctr">
              <a:buNone/>
            </a:pPr>
            <a:r>
              <a:rPr lang="en-US" sz="400" b="1" dirty="0">
                <a:solidFill>
                  <a:srgbClr val="000000"/>
                </a:solidFill>
              </a:rPr>
              <a:t>Cert.&amp;Secretos</a:t>
            </a:r>
            <a:endParaRPr lang="en-US" sz="400" dirty="0"/>
          </a:p>
        </p:txBody>
      </p:sp>
      <p:sp>
        <p:nvSpPr>
          <p:cNvPr id="35" name="Shape 33"/>
          <p:cNvSpPr/>
          <p:nvPr/>
        </p:nvSpPr>
        <p:spPr>
          <a:xfrm>
            <a:off x="118872" y="2880360"/>
            <a:ext cx="475488" cy="409194"/>
          </a:xfrm>
          <a:prstGeom prst="rect">
            <a:avLst/>
          </a:prstGeom>
          <a:solidFill>
            <a:srgbClr val="FFFFFF"/>
          </a:solidFill>
          <a:ln w="3810">
            <a:solidFill>
              <a:srgbClr val="BE82FF"/>
            </a:solidFill>
            <a:prstDash val="solid"/>
          </a:ln>
        </p:spPr>
        <p:txBody>
          <a:bodyPr/>
          <a:lstStyle/>
          <a:p>
            <a:endParaRPr lang="es-ES"/>
          </a:p>
        </p:txBody>
      </p:sp>
      <p:sp>
        <p:nvSpPr>
          <p:cNvPr id="36" name="Text 34"/>
          <p:cNvSpPr/>
          <p:nvPr/>
        </p:nvSpPr>
        <p:spPr>
          <a:xfrm>
            <a:off x="118872" y="2880360"/>
            <a:ext cx="475488" cy="409194"/>
          </a:xfrm>
          <a:prstGeom prst="rect">
            <a:avLst/>
          </a:prstGeom>
          <a:noFill/>
          <a:ln/>
        </p:spPr>
        <p:txBody>
          <a:bodyPr wrap="square" lIns="6350" tIns="6350" rIns="6350" bIns="6350" rtlCol="0" anchor="ctr"/>
          <a:lstStyle/>
          <a:p>
            <a:pPr marL="0" indent="0" algn="ctr">
              <a:buNone/>
            </a:pPr>
            <a:r>
              <a:rPr lang="en-US" sz="380" dirty="0">
                <a:solidFill>
                  <a:srgbClr val="000000"/>
                </a:solidFill>
              </a:rPr>
              <a:t>Gestión Certificados</a:t>
            </a:r>
            <a:endParaRPr lang="en-US" sz="380" dirty="0"/>
          </a:p>
        </p:txBody>
      </p:sp>
      <p:sp>
        <p:nvSpPr>
          <p:cNvPr id="37" name="Shape 35"/>
          <p:cNvSpPr/>
          <p:nvPr/>
        </p:nvSpPr>
        <p:spPr>
          <a:xfrm>
            <a:off x="118872" y="3294126"/>
            <a:ext cx="475488" cy="409194"/>
          </a:xfrm>
          <a:prstGeom prst="rect">
            <a:avLst/>
          </a:prstGeom>
          <a:solidFill>
            <a:srgbClr val="FFFFFF"/>
          </a:solidFill>
          <a:ln w="3810">
            <a:solidFill>
              <a:srgbClr val="BE82FF"/>
            </a:solidFill>
            <a:prstDash val="solid"/>
          </a:ln>
        </p:spPr>
        <p:txBody>
          <a:bodyPr/>
          <a:lstStyle/>
          <a:p>
            <a:endParaRPr lang="es-ES"/>
          </a:p>
        </p:txBody>
      </p:sp>
      <p:sp>
        <p:nvSpPr>
          <p:cNvPr id="38" name="Text 36"/>
          <p:cNvSpPr/>
          <p:nvPr/>
        </p:nvSpPr>
        <p:spPr>
          <a:xfrm>
            <a:off x="118872" y="3294126"/>
            <a:ext cx="475488" cy="409194"/>
          </a:xfrm>
          <a:prstGeom prst="rect">
            <a:avLst/>
          </a:prstGeom>
          <a:noFill/>
          <a:ln/>
        </p:spPr>
        <p:txBody>
          <a:bodyPr wrap="square" lIns="6350" tIns="6350" rIns="6350" bIns="6350" rtlCol="0" anchor="ctr"/>
          <a:lstStyle/>
          <a:p>
            <a:pPr marL="0" indent="0" algn="ctr">
              <a:buNone/>
            </a:pPr>
            <a:r>
              <a:rPr lang="en-US" sz="380" dirty="0">
                <a:solidFill>
                  <a:srgbClr val="000000"/>
                </a:solidFill>
              </a:rPr>
              <a:t>Gestión Secreta</a:t>
            </a:r>
            <a:endParaRPr lang="en-US" sz="380" dirty="0"/>
          </a:p>
        </p:txBody>
      </p:sp>
      <p:sp>
        <p:nvSpPr>
          <p:cNvPr id="39" name="Shape 37"/>
          <p:cNvSpPr/>
          <p:nvPr/>
        </p:nvSpPr>
        <p:spPr>
          <a:xfrm>
            <a:off x="118872" y="3707892"/>
            <a:ext cx="475488" cy="109728"/>
          </a:xfrm>
          <a:prstGeom prst="rect">
            <a:avLst/>
          </a:prstGeom>
          <a:solidFill>
            <a:srgbClr val="BE82FF"/>
          </a:solidFill>
          <a:ln w="6350">
            <a:solidFill>
              <a:srgbClr val="A100FF"/>
            </a:solidFill>
            <a:prstDash val="solid"/>
          </a:ln>
        </p:spPr>
        <p:txBody>
          <a:bodyPr/>
          <a:lstStyle/>
          <a:p>
            <a:endParaRPr lang="es-ES"/>
          </a:p>
        </p:txBody>
      </p:sp>
      <p:sp>
        <p:nvSpPr>
          <p:cNvPr id="40" name="Text 38"/>
          <p:cNvSpPr/>
          <p:nvPr/>
        </p:nvSpPr>
        <p:spPr>
          <a:xfrm>
            <a:off x="118872" y="3707892"/>
            <a:ext cx="475488" cy="109728"/>
          </a:xfrm>
          <a:prstGeom prst="rect">
            <a:avLst/>
          </a:prstGeom>
          <a:noFill/>
          <a:ln/>
        </p:spPr>
        <p:txBody>
          <a:bodyPr wrap="square" lIns="6350" tIns="6350" rIns="6350" bIns="6350" rtlCol="0" anchor="ctr"/>
          <a:lstStyle/>
          <a:p>
            <a:pPr marL="0" indent="0" algn="ctr">
              <a:buNone/>
            </a:pPr>
            <a:r>
              <a:rPr lang="en-US" sz="400" b="1" dirty="0">
                <a:solidFill>
                  <a:srgbClr val="000000"/>
                </a:solidFill>
              </a:rPr>
              <a:t>Prot.Amenazas</a:t>
            </a:r>
            <a:endParaRPr lang="en-US" sz="400" dirty="0"/>
          </a:p>
        </p:txBody>
      </p:sp>
      <p:sp>
        <p:nvSpPr>
          <p:cNvPr id="41" name="Shape 39"/>
          <p:cNvSpPr/>
          <p:nvPr/>
        </p:nvSpPr>
        <p:spPr>
          <a:xfrm>
            <a:off x="118872" y="3826764"/>
            <a:ext cx="475488" cy="202311"/>
          </a:xfrm>
          <a:prstGeom prst="rect">
            <a:avLst/>
          </a:prstGeom>
          <a:solidFill>
            <a:srgbClr val="FFFFFF"/>
          </a:solidFill>
          <a:ln w="3810">
            <a:solidFill>
              <a:srgbClr val="BE82FF"/>
            </a:solidFill>
            <a:prstDash val="solid"/>
          </a:ln>
        </p:spPr>
        <p:txBody>
          <a:bodyPr/>
          <a:lstStyle/>
          <a:p>
            <a:endParaRPr lang="es-ES"/>
          </a:p>
        </p:txBody>
      </p:sp>
      <p:sp>
        <p:nvSpPr>
          <p:cNvPr id="42" name="Text 40"/>
          <p:cNvSpPr/>
          <p:nvPr/>
        </p:nvSpPr>
        <p:spPr>
          <a:xfrm>
            <a:off x="118872" y="3826764"/>
            <a:ext cx="475488" cy="202311"/>
          </a:xfrm>
          <a:prstGeom prst="rect">
            <a:avLst/>
          </a:prstGeom>
          <a:noFill/>
          <a:ln/>
        </p:spPr>
        <p:txBody>
          <a:bodyPr wrap="square" lIns="6350" tIns="6350" rIns="6350" bIns="6350" rtlCol="0" anchor="ctr"/>
          <a:lstStyle/>
          <a:p>
            <a:pPr marL="0" indent="0" algn="ctr">
              <a:buNone/>
            </a:pPr>
            <a:r>
              <a:rPr lang="en-US" sz="380" dirty="0">
                <a:solidFill>
                  <a:srgbClr val="000000"/>
                </a:solidFill>
              </a:rPr>
              <a:t>Seg. API</a:t>
            </a:r>
            <a:endParaRPr lang="en-US" sz="380" dirty="0"/>
          </a:p>
        </p:txBody>
      </p:sp>
      <p:sp>
        <p:nvSpPr>
          <p:cNvPr id="43" name="Shape 41"/>
          <p:cNvSpPr/>
          <p:nvPr/>
        </p:nvSpPr>
        <p:spPr>
          <a:xfrm>
            <a:off x="118872" y="4033647"/>
            <a:ext cx="475488" cy="202311"/>
          </a:xfrm>
          <a:prstGeom prst="rect">
            <a:avLst/>
          </a:prstGeom>
          <a:solidFill>
            <a:srgbClr val="FFFFFF"/>
          </a:solidFill>
          <a:ln w="3810">
            <a:solidFill>
              <a:srgbClr val="BE82FF"/>
            </a:solidFill>
            <a:prstDash val="solid"/>
          </a:ln>
        </p:spPr>
        <p:txBody>
          <a:bodyPr/>
          <a:lstStyle/>
          <a:p>
            <a:endParaRPr lang="es-ES"/>
          </a:p>
        </p:txBody>
      </p:sp>
      <p:sp>
        <p:nvSpPr>
          <p:cNvPr id="44" name="Text 42"/>
          <p:cNvSpPr/>
          <p:nvPr/>
        </p:nvSpPr>
        <p:spPr>
          <a:xfrm>
            <a:off x="118872" y="4033647"/>
            <a:ext cx="475488" cy="202311"/>
          </a:xfrm>
          <a:prstGeom prst="rect">
            <a:avLst/>
          </a:prstGeom>
          <a:noFill/>
          <a:ln/>
        </p:spPr>
        <p:txBody>
          <a:bodyPr wrap="square" lIns="6350" tIns="6350" rIns="6350" bIns="6350" rtlCol="0" anchor="ctr"/>
          <a:lstStyle/>
          <a:p>
            <a:pPr marL="0" indent="0" algn="ctr">
              <a:buNone/>
            </a:pPr>
            <a:r>
              <a:rPr lang="en-US" sz="380" dirty="0">
                <a:solidFill>
                  <a:srgbClr val="000000"/>
                </a:solidFill>
              </a:rPr>
              <a:t>Prot.Perimetral</a:t>
            </a:r>
            <a:endParaRPr lang="en-US" sz="380" dirty="0"/>
          </a:p>
        </p:txBody>
      </p:sp>
      <p:sp>
        <p:nvSpPr>
          <p:cNvPr id="45" name="Shape 43"/>
          <p:cNvSpPr/>
          <p:nvPr/>
        </p:nvSpPr>
        <p:spPr>
          <a:xfrm>
            <a:off x="118872" y="4240530"/>
            <a:ext cx="475488" cy="202311"/>
          </a:xfrm>
          <a:prstGeom prst="rect">
            <a:avLst/>
          </a:prstGeom>
          <a:solidFill>
            <a:srgbClr val="FFFFFF"/>
          </a:solidFill>
          <a:ln w="3810">
            <a:solidFill>
              <a:srgbClr val="BE82FF"/>
            </a:solidFill>
            <a:prstDash val="solid"/>
          </a:ln>
        </p:spPr>
        <p:txBody>
          <a:bodyPr/>
          <a:lstStyle/>
          <a:p>
            <a:endParaRPr lang="es-ES"/>
          </a:p>
        </p:txBody>
      </p:sp>
      <p:sp>
        <p:nvSpPr>
          <p:cNvPr id="46" name="Text 44"/>
          <p:cNvSpPr/>
          <p:nvPr/>
        </p:nvSpPr>
        <p:spPr>
          <a:xfrm>
            <a:off x="118872" y="4240530"/>
            <a:ext cx="475488" cy="202311"/>
          </a:xfrm>
          <a:prstGeom prst="rect">
            <a:avLst/>
          </a:prstGeom>
          <a:noFill/>
          <a:ln/>
        </p:spPr>
        <p:txBody>
          <a:bodyPr wrap="square" lIns="6350" tIns="6350" rIns="6350" bIns="6350" rtlCol="0" anchor="ctr"/>
          <a:lstStyle/>
          <a:p>
            <a:pPr marL="0" indent="0" algn="ctr">
              <a:buNone/>
            </a:pPr>
            <a:r>
              <a:rPr lang="en-US" sz="380" dirty="0">
                <a:solidFill>
                  <a:srgbClr val="000000"/>
                </a:solidFill>
              </a:rPr>
              <a:t>Cuotas/Payloads</a:t>
            </a:r>
            <a:endParaRPr lang="en-US" sz="380" dirty="0"/>
          </a:p>
        </p:txBody>
      </p:sp>
      <p:sp>
        <p:nvSpPr>
          <p:cNvPr id="47" name="Shape 45"/>
          <p:cNvSpPr/>
          <p:nvPr/>
        </p:nvSpPr>
        <p:spPr>
          <a:xfrm>
            <a:off x="118872" y="4447413"/>
            <a:ext cx="475488" cy="202311"/>
          </a:xfrm>
          <a:prstGeom prst="rect">
            <a:avLst/>
          </a:prstGeom>
          <a:solidFill>
            <a:srgbClr val="FFFFFF"/>
          </a:solidFill>
          <a:ln w="3810">
            <a:solidFill>
              <a:srgbClr val="BE82FF"/>
            </a:solidFill>
            <a:prstDash val="solid"/>
          </a:ln>
        </p:spPr>
        <p:txBody>
          <a:bodyPr/>
          <a:lstStyle/>
          <a:p>
            <a:endParaRPr lang="es-ES"/>
          </a:p>
        </p:txBody>
      </p:sp>
      <p:sp>
        <p:nvSpPr>
          <p:cNvPr id="48" name="Text 46"/>
          <p:cNvSpPr/>
          <p:nvPr/>
        </p:nvSpPr>
        <p:spPr>
          <a:xfrm>
            <a:off x="118872" y="4447413"/>
            <a:ext cx="475488" cy="202311"/>
          </a:xfrm>
          <a:prstGeom prst="rect">
            <a:avLst/>
          </a:prstGeom>
          <a:noFill/>
          <a:ln/>
        </p:spPr>
        <p:txBody>
          <a:bodyPr wrap="square" lIns="6350" tIns="6350" rIns="6350" bIns="6350" rtlCol="0" anchor="ctr"/>
          <a:lstStyle/>
          <a:p>
            <a:pPr marL="0" indent="0" algn="ctr">
              <a:buNone/>
            </a:pPr>
            <a:r>
              <a:rPr lang="en-US" sz="380" dirty="0">
                <a:solidFill>
                  <a:srgbClr val="000000"/>
                </a:solidFill>
              </a:rPr>
              <a:t>Seg.Contenedores</a:t>
            </a:r>
            <a:endParaRPr lang="en-US" sz="380" dirty="0"/>
          </a:p>
        </p:txBody>
      </p:sp>
      <p:sp>
        <p:nvSpPr>
          <p:cNvPr id="49" name="Shape 47"/>
          <p:cNvSpPr/>
          <p:nvPr/>
        </p:nvSpPr>
        <p:spPr>
          <a:xfrm>
            <a:off x="118872" y="4654296"/>
            <a:ext cx="475488" cy="109728"/>
          </a:xfrm>
          <a:prstGeom prst="rect">
            <a:avLst/>
          </a:prstGeom>
          <a:solidFill>
            <a:srgbClr val="BE82FF"/>
          </a:solidFill>
          <a:ln w="6350">
            <a:solidFill>
              <a:srgbClr val="A100FF"/>
            </a:solidFill>
            <a:prstDash val="solid"/>
          </a:ln>
        </p:spPr>
        <p:txBody>
          <a:bodyPr/>
          <a:lstStyle/>
          <a:p>
            <a:endParaRPr lang="es-ES"/>
          </a:p>
        </p:txBody>
      </p:sp>
      <p:sp>
        <p:nvSpPr>
          <p:cNvPr id="50" name="Text 48"/>
          <p:cNvSpPr/>
          <p:nvPr/>
        </p:nvSpPr>
        <p:spPr>
          <a:xfrm>
            <a:off x="118872" y="4654296"/>
            <a:ext cx="475488" cy="109728"/>
          </a:xfrm>
          <a:prstGeom prst="rect">
            <a:avLst/>
          </a:prstGeom>
          <a:noFill/>
          <a:ln/>
        </p:spPr>
        <p:txBody>
          <a:bodyPr wrap="square" lIns="6350" tIns="6350" rIns="6350" bIns="6350" rtlCol="0" anchor="ctr"/>
          <a:lstStyle/>
          <a:p>
            <a:pPr marL="0" indent="0" algn="ctr">
              <a:buNone/>
            </a:pPr>
            <a:r>
              <a:rPr lang="en-US" sz="400" b="1" dirty="0">
                <a:solidFill>
                  <a:srgbClr val="000000"/>
                </a:solidFill>
              </a:rPr>
              <a:t>VTM</a:t>
            </a:r>
            <a:endParaRPr lang="en-US" sz="400" dirty="0"/>
          </a:p>
        </p:txBody>
      </p:sp>
      <p:sp>
        <p:nvSpPr>
          <p:cNvPr id="51" name="Shape 49"/>
          <p:cNvSpPr/>
          <p:nvPr/>
        </p:nvSpPr>
        <p:spPr>
          <a:xfrm>
            <a:off x="118872" y="4773168"/>
            <a:ext cx="475488" cy="271272"/>
          </a:xfrm>
          <a:prstGeom prst="rect">
            <a:avLst/>
          </a:prstGeom>
          <a:solidFill>
            <a:srgbClr val="FFFFFF"/>
          </a:solidFill>
          <a:ln w="3810">
            <a:solidFill>
              <a:srgbClr val="BE82FF"/>
            </a:solidFill>
            <a:prstDash val="solid"/>
          </a:ln>
        </p:spPr>
        <p:txBody>
          <a:bodyPr/>
          <a:lstStyle/>
          <a:p>
            <a:endParaRPr lang="es-ES"/>
          </a:p>
        </p:txBody>
      </p:sp>
      <p:sp>
        <p:nvSpPr>
          <p:cNvPr id="52" name="Text 50"/>
          <p:cNvSpPr/>
          <p:nvPr/>
        </p:nvSpPr>
        <p:spPr>
          <a:xfrm>
            <a:off x="118872" y="4773168"/>
            <a:ext cx="475488" cy="271272"/>
          </a:xfrm>
          <a:prstGeom prst="rect">
            <a:avLst/>
          </a:prstGeom>
          <a:noFill/>
          <a:ln/>
        </p:spPr>
        <p:txBody>
          <a:bodyPr wrap="square" lIns="6350" tIns="6350" rIns="6350" bIns="6350" rtlCol="0" anchor="ctr"/>
          <a:lstStyle/>
          <a:p>
            <a:pPr marL="0" indent="0" algn="ctr">
              <a:buNone/>
            </a:pPr>
            <a:r>
              <a:rPr lang="en-US" sz="380" dirty="0">
                <a:solidFill>
                  <a:srgbClr val="000000"/>
                </a:solidFill>
              </a:rPr>
              <a:t>Escaneo Vuln.</a:t>
            </a:r>
            <a:endParaRPr lang="en-US" sz="380" dirty="0"/>
          </a:p>
        </p:txBody>
      </p:sp>
      <p:sp>
        <p:nvSpPr>
          <p:cNvPr id="53" name="Shape 51"/>
          <p:cNvSpPr/>
          <p:nvPr/>
        </p:nvSpPr>
        <p:spPr>
          <a:xfrm>
            <a:off x="118872" y="5049012"/>
            <a:ext cx="475488" cy="271272"/>
          </a:xfrm>
          <a:prstGeom prst="rect">
            <a:avLst/>
          </a:prstGeom>
          <a:solidFill>
            <a:srgbClr val="FFFFFF"/>
          </a:solidFill>
          <a:ln w="3810">
            <a:solidFill>
              <a:srgbClr val="BE82FF"/>
            </a:solidFill>
            <a:prstDash val="solid"/>
          </a:ln>
        </p:spPr>
        <p:txBody>
          <a:bodyPr/>
          <a:lstStyle/>
          <a:p>
            <a:endParaRPr lang="es-ES"/>
          </a:p>
        </p:txBody>
      </p:sp>
      <p:sp>
        <p:nvSpPr>
          <p:cNvPr id="54" name="Text 52"/>
          <p:cNvSpPr/>
          <p:nvPr/>
        </p:nvSpPr>
        <p:spPr>
          <a:xfrm>
            <a:off x="118872" y="5049012"/>
            <a:ext cx="475488" cy="271272"/>
          </a:xfrm>
          <a:prstGeom prst="rect">
            <a:avLst/>
          </a:prstGeom>
          <a:noFill/>
          <a:ln/>
        </p:spPr>
        <p:txBody>
          <a:bodyPr wrap="square" lIns="6350" tIns="6350" rIns="6350" bIns="6350" rtlCol="0" anchor="ctr"/>
          <a:lstStyle/>
          <a:p>
            <a:pPr marL="0" indent="0" algn="ctr">
              <a:buNone/>
            </a:pPr>
            <a:r>
              <a:rPr lang="en-US" sz="380" dirty="0">
                <a:solidFill>
                  <a:srgbClr val="000000"/>
                </a:solidFill>
              </a:rPr>
              <a:t>Pen Testing</a:t>
            </a:r>
            <a:endParaRPr lang="en-US" sz="380" dirty="0"/>
          </a:p>
        </p:txBody>
      </p:sp>
      <p:sp>
        <p:nvSpPr>
          <p:cNvPr id="55" name="Shape 53"/>
          <p:cNvSpPr/>
          <p:nvPr/>
        </p:nvSpPr>
        <p:spPr>
          <a:xfrm>
            <a:off x="118872" y="5324856"/>
            <a:ext cx="475488" cy="271272"/>
          </a:xfrm>
          <a:prstGeom prst="rect">
            <a:avLst/>
          </a:prstGeom>
          <a:solidFill>
            <a:srgbClr val="FFFFFF"/>
          </a:solidFill>
          <a:ln w="3810">
            <a:solidFill>
              <a:srgbClr val="BE82FF"/>
            </a:solidFill>
            <a:prstDash val="solid"/>
          </a:ln>
        </p:spPr>
        <p:txBody>
          <a:bodyPr/>
          <a:lstStyle/>
          <a:p>
            <a:endParaRPr lang="es-ES"/>
          </a:p>
        </p:txBody>
      </p:sp>
      <p:sp>
        <p:nvSpPr>
          <p:cNvPr id="56" name="Text 54"/>
          <p:cNvSpPr/>
          <p:nvPr/>
        </p:nvSpPr>
        <p:spPr>
          <a:xfrm>
            <a:off x="118872" y="5324856"/>
            <a:ext cx="475488" cy="271272"/>
          </a:xfrm>
          <a:prstGeom prst="rect">
            <a:avLst/>
          </a:prstGeom>
          <a:noFill/>
          <a:ln/>
        </p:spPr>
        <p:txBody>
          <a:bodyPr wrap="square" lIns="6350" tIns="6350" rIns="6350" bIns="6350" rtlCol="0" anchor="ctr"/>
          <a:lstStyle/>
          <a:p>
            <a:pPr marL="0" indent="0" algn="ctr">
              <a:buNone/>
            </a:pPr>
            <a:r>
              <a:rPr lang="en-US" sz="380" dirty="0">
                <a:solidFill>
                  <a:srgbClr val="000000"/>
                </a:solidFill>
              </a:rPr>
              <a:t>Políticas Seg.Base</a:t>
            </a:r>
            <a:endParaRPr lang="en-US" sz="380" dirty="0"/>
          </a:p>
        </p:txBody>
      </p:sp>
      <p:sp>
        <p:nvSpPr>
          <p:cNvPr id="57" name="Shape 55"/>
          <p:cNvSpPr/>
          <p:nvPr/>
        </p:nvSpPr>
        <p:spPr>
          <a:xfrm>
            <a:off x="118872" y="5600700"/>
            <a:ext cx="475488" cy="109728"/>
          </a:xfrm>
          <a:prstGeom prst="rect">
            <a:avLst/>
          </a:prstGeom>
          <a:solidFill>
            <a:srgbClr val="BE82FF"/>
          </a:solidFill>
          <a:ln w="6350">
            <a:solidFill>
              <a:srgbClr val="A100FF"/>
            </a:solidFill>
            <a:prstDash val="solid"/>
          </a:ln>
        </p:spPr>
        <p:txBody>
          <a:bodyPr/>
          <a:lstStyle/>
          <a:p>
            <a:endParaRPr lang="es-ES"/>
          </a:p>
        </p:txBody>
      </p:sp>
      <p:sp>
        <p:nvSpPr>
          <p:cNvPr id="58" name="Text 56"/>
          <p:cNvSpPr/>
          <p:nvPr/>
        </p:nvSpPr>
        <p:spPr>
          <a:xfrm>
            <a:off x="118872" y="5600700"/>
            <a:ext cx="475488" cy="109728"/>
          </a:xfrm>
          <a:prstGeom prst="rect">
            <a:avLst/>
          </a:prstGeom>
          <a:noFill/>
          <a:ln/>
        </p:spPr>
        <p:txBody>
          <a:bodyPr wrap="square" lIns="6350" tIns="6350" rIns="6350" bIns="6350" rtlCol="0" anchor="ctr"/>
          <a:lstStyle/>
          <a:p>
            <a:pPr marL="0" indent="0" algn="ctr">
              <a:buNone/>
            </a:pPr>
            <a:r>
              <a:rPr lang="en-US" sz="400" b="1" dirty="0">
                <a:solidFill>
                  <a:srgbClr val="000000"/>
                </a:solidFill>
              </a:rPr>
              <a:t>Observab.Seg.</a:t>
            </a:r>
            <a:endParaRPr lang="en-US" sz="400" dirty="0"/>
          </a:p>
        </p:txBody>
      </p:sp>
      <p:sp>
        <p:nvSpPr>
          <p:cNvPr id="59" name="Shape 57"/>
          <p:cNvSpPr/>
          <p:nvPr/>
        </p:nvSpPr>
        <p:spPr>
          <a:xfrm>
            <a:off x="118872" y="5719572"/>
            <a:ext cx="475488" cy="409194"/>
          </a:xfrm>
          <a:prstGeom prst="rect">
            <a:avLst/>
          </a:prstGeom>
          <a:solidFill>
            <a:srgbClr val="FFFFFF"/>
          </a:solidFill>
          <a:ln w="3810">
            <a:solidFill>
              <a:srgbClr val="BE82FF"/>
            </a:solidFill>
            <a:prstDash val="solid"/>
          </a:ln>
        </p:spPr>
        <p:txBody>
          <a:bodyPr/>
          <a:lstStyle/>
          <a:p>
            <a:endParaRPr lang="es-ES"/>
          </a:p>
        </p:txBody>
      </p:sp>
      <p:sp>
        <p:nvSpPr>
          <p:cNvPr id="60" name="Text 58"/>
          <p:cNvSpPr/>
          <p:nvPr/>
        </p:nvSpPr>
        <p:spPr>
          <a:xfrm>
            <a:off x="118872" y="5719572"/>
            <a:ext cx="475488" cy="409194"/>
          </a:xfrm>
          <a:prstGeom prst="rect">
            <a:avLst/>
          </a:prstGeom>
          <a:noFill/>
          <a:ln/>
        </p:spPr>
        <p:txBody>
          <a:bodyPr wrap="square" lIns="6350" tIns="6350" rIns="6350" bIns="6350" rtlCol="0" anchor="ctr"/>
          <a:lstStyle/>
          <a:p>
            <a:pPr marL="0" indent="0" algn="ctr">
              <a:buNone/>
            </a:pPr>
            <a:r>
              <a:rPr lang="en-US" sz="380" dirty="0">
                <a:solidFill>
                  <a:srgbClr val="000000"/>
                </a:solidFill>
              </a:rPr>
              <a:t>Alertas Seg.</a:t>
            </a:r>
            <a:endParaRPr lang="en-US" sz="380" dirty="0"/>
          </a:p>
        </p:txBody>
      </p:sp>
      <p:sp>
        <p:nvSpPr>
          <p:cNvPr id="61" name="Shape 59"/>
          <p:cNvSpPr/>
          <p:nvPr/>
        </p:nvSpPr>
        <p:spPr>
          <a:xfrm>
            <a:off x="118872" y="6133338"/>
            <a:ext cx="475488" cy="409194"/>
          </a:xfrm>
          <a:prstGeom prst="rect">
            <a:avLst/>
          </a:prstGeom>
          <a:solidFill>
            <a:srgbClr val="FFFFFF"/>
          </a:solidFill>
          <a:ln w="3810">
            <a:solidFill>
              <a:srgbClr val="BE82FF"/>
            </a:solidFill>
            <a:prstDash val="solid"/>
          </a:ln>
        </p:spPr>
        <p:txBody>
          <a:bodyPr/>
          <a:lstStyle/>
          <a:p>
            <a:endParaRPr lang="es-ES"/>
          </a:p>
        </p:txBody>
      </p:sp>
      <p:sp>
        <p:nvSpPr>
          <p:cNvPr id="62" name="Text 60"/>
          <p:cNvSpPr/>
          <p:nvPr/>
        </p:nvSpPr>
        <p:spPr>
          <a:xfrm>
            <a:off x="118872" y="6133338"/>
            <a:ext cx="475488" cy="409194"/>
          </a:xfrm>
          <a:prstGeom prst="rect">
            <a:avLst/>
          </a:prstGeom>
          <a:noFill/>
          <a:ln/>
        </p:spPr>
        <p:txBody>
          <a:bodyPr wrap="square" lIns="6350" tIns="6350" rIns="6350" bIns="6350" rtlCol="0" anchor="ctr"/>
          <a:lstStyle/>
          <a:p>
            <a:pPr marL="0" indent="0" algn="ctr">
              <a:buNone/>
            </a:pPr>
            <a:r>
              <a:rPr lang="en-US" sz="380" dirty="0">
                <a:solidFill>
                  <a:srgbClr val="000000"/>
                </a:solidFill>
              </a:rPr>
              <a:t>Resp.Incidentes</a:t>
            </a:r>
            <a:endParaRPr lang="en-US" sz="380" dirty="0"/>
          </a:p>
        </p:txBody>
      </p:sp>
      <p:sp>
        <p:nvSpPr>
          <p:cNvPr id="63" name="Shape 61"/>
          <p:cNvSpPr/>
          <p:nvPr/>
        </p:nvSpPr>
        <p:spPr>
          <a:xfrm>
            <a:off x="630936" y="685800"/>
            <a:ext cx="493776" cy="5916168"/>
          </a:xfrm>
          <a:prstGeom prst="rect">
            <a:avLst/>
          </a:prstGeom>
          <a:solidFill>
            <a:srgbClr val="EDE5FF"/>
          </a:solidFill>
          <a:ln w="12700">
            <a:solidFill>
              <a:srgbClr val="A100FF"/>
            </a:solidFill>
            <a:prstDash val="solid"/>
          </a:ln>
        </p:spPr>
        <p:txBody>
          <a:bodyPr/>
          <a:lstStyle/>
          <a:p>
            <a:endParaRPr lang="es-ES"/>
          </a:p>
        </p:txBody>
      </p:sp>
      <p:sp>
        <p:nvSpPr>
          <p:cNvPr id="64" name="Shape 62"/>
          <p:cNvSpPr/>
          <p:nvPr/>
        </p:nvSpPr>
        <p:spPr>
          <a:xfrm>
            <a:off x="640080" y="694944"/>
            <a:ext cx="146304" cy="146304"/>
          </a:xfrm>
          <a:prstGeom prst="ellipse">
            <a:avLst/>
          </a:prstGeom>
          <a:solidFill>
            <a:srgbClr val="C00000"/>
          </a:solidFill>
          <a:ln w="12700">
            <a:solidFill>
              <a:srgbClr val="C00000"/>
            </a:solidFill>
            <a:prstDash val="solid"/>
          </a:ln>
        </p:spPr>
        <p:txBody>
          <a:bodyPr/>
          <a:lstStyle/>
          <a:p>
            <a:endParaRPr lang="es-ES"/>
          </a:p>
        </p:txBody>
      </p:sp>
      <p:sp>
        <p:nvSpPr>
          <p:cNvPr id="65" name="Text 63"/>
          <p:cNvSpPr/>
          <p:nvPr/>
        </p:nvSpPr>
        <p:spPr>
          <a:xfrm>
            <a:off x="640080" y="694944"/>
            <a:ext cx="146304" cy="146304"/>
          </a:xfrm>
          <a:prstGeom prst="rect">
            <a:avLst/>
          </a:prstGeom>
          <a:noFill/>
          <a:ln/>
        </p:spPr>
        <p:txBody>
          <a:bodyPr wrap="square" lIns="0" tIns="0" rIns="0" bIns="0" rtlCol="0" anchor="ctr"/>
          <a:lstStyle/>
          <a:p>
            <a:pPr marL="0" indent="0" algn="ctr">
              <a:buNone/>
            </a:pPr>
            <a:r>
              <a:rPr lang="en-US" sz="650" b="1" dirty="0">
                <a:solidFill>
                  <a:srgbClr val="FFFFFF"/>
                </a:solidFill>
              </a:rPr>
              <a:t>K</a:t>
            </a:r>
            <a:endParaRPr lang="en-US" sz="650" dirty="0"/>
          </a:p>
        </p:txBody>
      </p:sp>
      <p:sp>
        <p:nvSpPr>
          <p:cNvPr id="66" name="Shape 64"/>
          <p:cNvSpPr/>
          <p:nvPr/>
        </p:nvSpPr>
        <p:spPr>
          <a:xfrm>
            <a:off x="795528" y="685800"/>
            <a:ext cx="329184" cy="164592"/>
          </a:xfrm>
          <a:prstGeom prst="rect">
            <a:avLst/>
          </a:prstGeom>
          <a:solidFill>
            <a:srgbClr val="A100FF"/>
          </a:solidFill>
          <a:ln w="12700">
            <a:solidFill>
              <a:srgbClr val="A100FF"/>
            </a:solidFill>
            <a:prstDash val="solid"/>
          </a:ln>
        </p:spPr>
        <p:txBody>
          <a:bodyPr/>
          <a:lstStyle/>
          <a:p>
            <a:endParaRPr lang="es-ES"/>
          </a:p>
        </p:txBody>
      </p:sp>
      <p:sp>
        <p:nvSpPr>
          <p:cNvPr id="67" name="Text 65"/>
          <p:cNvSpPr/>
          <p:nvPr/>
        </p:nvSpPr>
        <p:spPr>
          <a:xfrm>
            <a:off x="813816" y="685800"/>
            <a:ext cx="292608" cy="164592"/>
          </a:xfrm>
          <a:prstGeom prst="rect">
            <a:avLst/>
          </a:prstGeom>
          <a:noFill/>
          <a:ln/>
        </p:spPr>
        <p:txBody>
          <a:bodyPr wrap="square" lIns="0" tIns="0" rIns="0" bIns="0" rtlCol="0" anchor="ctr"/>
          <a:lstStyle/>
          <a:p>
            <a:pPr marL="0" indent="0" algn="ctr">
              <a:buNone/>
            </a:pPr>
            <a:r>
              <a:rPr lang="en-US" sz="500" b="1" dirty="0">
                <a:solidFill>
                  <a:srgbClr val="FFFFFF"/>
                </a:solidFill>
              </a:rPr>
              <a:t>Observ.</a:t>
            </a:r>
            <a:endParaRPr lang="en-US" sz="500" dirty="0"/>
          </a:p>
        </p:txBody>
      </p:sp>
      <p:sp>
        <p:nvSpPr>
          <p:cNvPr id="68" name="Shape 66"/>
          <p:cNvSpPr/>
          <p:nvPr/>
        </p:nvSpPr>
        <p:spPr>
          <a:xfrm>
            <a:off x="640080" y="868680"/>
            <a:ext cx="475488" cy="109728"/>
          </a:xfrm>
          <a:prstGeom prst="rect">
            <a:avLst/>
          </a:prstGeom>
          <a:solidFill>
            <a:srgbClr val="BE82FF"/>
          </a:solidFill>
          <a:ln w="6350">
            <a:solidFill>
              <a:srgbClr val="A100FF"/>
            </a:solidFill>
            <a:prstDash val="solid"/>
          </a:ln>
        </p:spPr>
        <p:txBody>
          <a:bodyPr/>
          <a:lstStyle/>
          <a:p>
            <a:endParaRPr lang="es-ES"/>
          </a:p>
        </p:txBody>
      </p:sp>
      <p:sp>
        <p:nvSpPr>
          <p:cNvPr id="69" name="Text 67"/>
          <p:cNvSpPr/>
          <p:nvPr/>
        </p:nvSpPr>
        <p:spPr>
          <a:xfrm>
            <a:off x="640080" y="868680"/>
            <a:ext cx="475488" cy="109728"/>
          </a:xfrm>
          <a:prstGeom prst="rect">
            <a:avLst/>
          </a:prstGeom>
          <a:noFill/>
          <a:ln/>
        </p:spPr>
        <p:txBody>
          <a:bodyPr wrap="square" lIns="6350" tIns="6350" rIns="6350" bIns="6350" rtlCol="0" anchor="ctr"/>
          <a:lstStyle/>
          <a:p>
            <a:pPr marL="0" indent="0" algn="ctr">
              <a:buNone/>
            </a:pPr>
            <a:r>
              <a:rPr lang="en-US" sz="400" b="1" dirty="0">
                <a:solidFill>
                  <a:srgbClr val="000000"/>
                </a:solidFill>
              </a:rPr>
              <a:t>Monitoriz.</a:t>
            </a:r>
            <a:endParaRPr lang="en-US" sz="400" dirty="0"/>
          </a:p>
        </p:txBody>
      </p:sp>
      <p:sp>
        <p:nvSpPr>
          <p:cNvPr id="70" name="Shape 68"/>
          <p:cNvSpPr/>
          <p:nvPr/>
        </p:nvSpPr>
        <p:spPr>
          <a:xfrm>
            <a:off x="640080" y="987552"/>
            <a:ext cx="475488" cy="250088"/>
          </a:xfrm>
          <a:prstGeom prst="rect">
            <a:avLst/>
          </a:prstGeom>
          <a:solidFill>
            <a:srgbClr val="FFFFFF"/>
          </a:solidFill>
          <a:ln w="3810">
            <a:solidFill>
              <a:srgbClr val="BE82FF"/>
            </a:solidFill>
            <a:prstDash val="solid"/>
          </a:ln>
        </p:spPr>
        <p:txBody>
          <a:bodyPr/>
          <a:lstStyle/>
          <a:p>
            <a:endParaRPr lang="es-ES"/>
          </a:p>
        </p:txBody>
      </p:sp>
      <p:sp>
        <p:nvSpPr>
          <p:cNvPr id="71" name="Text 69"/>
          <p:cNvSpPr/>
          <p:nvPr/>
        </p:nvSpPr>
        <p:spPr>
          <a:xfrm>
            <a:off x="640080" y="987552"/>
            <a:ext cx="475488" cy="250088"/>
          </a:xfrm>
          <a:prstGeom prst="rect">
            <a:avLst/>
          </a:prstGeom>
          <a:noFill/>
          <a:ln/>
        </p:spPr>
        <p:txBody>
          <a:bodyPr wrap="square" lIns="6350" tIns="6350" rIns="6350" bIns="6350" rtlCol="0" anchor="ctr"/>
          <a:lstStyle/>
          <a:p>
            <a:pPr marL="0" indent="0" algn="ctr">
              <a:buNone/>
            </a:pPr>
            <a:r>
              <a:rPr lang="en-US" sz="380" dirty="0">
                <a:solidFill>
                  <a:srgbClr val="000000"/>
                </a:solidFill>
              </a:rPr>
              <a:t>Salud</a:t>
            </a:r>
            <a:endParaRPr lang="en-US" sz="380" dirty="0"/>
          </a:p>
        </p:txBody>
      </p:sp>
      <p:sp>
        <p:nvSpPr>
          <p:cNvPr id="72" name="Shape 70"/>
          <p:cNvSpPr/>
          <p:nvPr/>
        </p:nvSpPr>
        <p:spPr>
          <a:xfrm>
            <a:off x="640080" y="1242212"/>
            <a:ext cx="475488" cy="250088"/>
          </a:xfrm>
          <a:prstGeom prst="rect">
            <a:avLst/>
          </a:prstGeom>
          <a:solidFill>
            <a:srgbClr val="FFFFFF"/>
          </a:solidFill>
          <a:ln w="3810">
            <a:solidFill>
              <a:srgbClr val="BE82FF"/>
            </a:solidFill>
            <a:prstDash val="solid"/>
          </a:ln>
        </p:spPr>
        <p:txBody>
          <a:bodyPr/>
          <a:lstStyle/>
          <a:p>
            <a:endParaRPr lang="es-ES"/>
          </a:p>
        </p:txBody>
      </p:sp>
      <p:sp>
        <p:nvSpPr>
          <p:cNvPr id="73" name="Text 71"/>
          <p:cNvSpPr/>
          <p:nvPr/>
        </p:nvSpPr>
        <p:spPr>
          <a:xfrm>
            <a:off x="640080" y="1242212"/>
            <a:ext cx="475488" cy="250088"/>
          </a:xfrm>
          <a:prstGeom prst="rect">
            <a:avLst/>
          </a:prstGeom>
          <a:noFill/>
          <a:ln/>
        </p:spPr>
        <p:txBody>
          <a:bodyPr wrap="square" lIns="6350" tIns="6350" rIns="6350" bIns="6350" rtlCol="0" anchor="ctr"/>
          <a:lstStyle/>
          <a:p>
            <a:pPr marL="0" indent="0" algn="ctr">
              <a:buNone/>
            </a:pPr>
            <a:r>
              <a:rPr lang="en-US" sz="380" dirty="0">
                <a:solidFill>
                  <a:srgbClr val="000000"/>
                </a:solidFill>
              </a:rPr>
              <a:t>APIs/Disponib.</a:t>
            </a:r>
            <a:endParaRPr lang="en-US" sz="380" dirty="0"/>
          </a:p>
        </p:txBody>
      </p:sp>
      <p:sp>
        <p:nvSpPr>
          <p:cNvPr id="74" name="Shape 72"/>
          <p:cNvSpPr/>
          <p:nvPr/>
        </p:nvSpPr>
        <p:spPr>
          <a:xfrm>
            <a:off x="640080" y="1496873"/>
            <a:ext cx="475488" cy="250088"/>
          </a:xfrm>
          <a:prstGeom prst="rect">
            <a:avLst/>
          </a:prstGeom>
          <a:solidFill>
            <a:srgbClr val="FFFFFF"/>
          </a:solidFill>
          <a:ln w="3810">
            <a:solidFill>
              <a:srgbClr val="BE82FF"/>
            </a:solidFill>
            <a:prstDash val="solid"/>
          </a:ln>
        </p:spPr>
        <p:txBody>
          <a:bodyPr/>
          <a:lstStyle/>
          <a:p>
            <a:endParaRPr lang="es-ES"/>
          </a:p>
        </p:txBody>
      </p:sp>
      <p:sp>
        <p:nvSpPr>
          <p:cNvPr id="75" name="Text 73"/>
          <p:cNvSpPr/>
          <p:nvPr/>
        </p:nvSpPr>
        <p:spPr>
          <a:xfrm>
            <a:off x="640080" y="1496873"/>
            <a:ext cx="475488" cy="250088"/>
          </a:xfrm>
          <a:prstGeom prst="rect">
            <a:avLst/>
          </a:prstGeom>
          <a:noFill/>
          <a:ln/>
        </p:spPr>
        <p:txBody>
          <a:bodyPr wrap="square" lIns="6350" tIns="6350" rIns="6350" bIns="6350" rtlCol="0" anchor="ctr"/>
          <a:lstStyle/>
          <a:p>
            <a:pPr marL="0" indent="0" algn="ctr">
              <a:buNone/>
            </a:pPr>
            <a:r>
              <a:rPr lang="en-US" sz="380" dirty="0">
                <a:solidFill>
                  <a:srgbClr val="000000"/>
                </a:solidFill>
              </a:rPr>
              <a:t>Alertas</a:t>
            </a:r>
            <a:endParaRPr lang="en-US" sz="380" dirty="0"/>
          </a:p>
        </p:txBody>
      </p:sp>
      <p:sp>
        <p:nvSpPr>
          <p:cNvPr id="76" name="Shape 74"/>
          <p:cNvSpPr/>
          <p:nvPr/>
        </p:nvSpPr>
        <p:spPr>
          <a:xfrm>
            <a:off x="640080" y="1751533"/>
            <a:ext cx="475488" cy="250088"/>
          </a:xfrm>
          <a:prstGeom prst="rect">
            <a:avLst/>
          </a:prstGeom>
          <a:solidFill>
            <a:srgbClr val="FFFFFF"/>
          </a:solidFill>
          <a:ln w="3810">
            <a:solidFill>
              <a:srgbClr val="BE82FF"/>
            </a:solidFill>
            <a:prstDash val="solid"/>
          </a:ln>
        </p:spPr>
        <p:txBody>
          <a:bodyPr/>
          <a:lstStyle/>
          <a:p>
            <a:endParaRPr lang="es-ES"/>
          </a:p>
        </p:txBody>
      </p:sp>
      <p:sp>
        <p:nvSpPr>
          <p:cNvPr id="77" name="Text 75"/>
          <p:cNvSpPr/>
          <p:nvPr/>
        </p:nvSpPr>
        <p:spPr>
          <a:xfrm>
            <a:off x="640080" y="1751533"/>
            <a:ext cx="475488" cy="250088"/>
          </a:xfrm>
          <a:prstGeom prst="rect">
            <a:avLst/>
          </a:prstGeom>
          <a:noFill/>
          <a:ln/>
        </p:spPr>
        <p:txBody>
          <a:bodyPr wrap="square" lIns="6350" tIns="6350" rIns="6350" bIns="6350" rtlCol="0" anchor="ctr"/>
          <a:lstStyle/>
          <a:p>
            <a:pPr marL="0" indent="0" algn="ctr">
              <a:buNone/>
            </a:pPr>
            <a:r>
              <a:rPr lang="en-US" sz="380" dirty="0">
                <a:solidFill>
                  <a:srgbClr val="000000"/>
                </a:solidFill>
              </a:rPr>
              <a:t>Capacidad</a:t>
            </a:r>
            <a:endParaRPr lang="en-US" sz="380" dirty="0"/>
          </a:p>
        </p:txBody>
      </p:sp>
      <p:sp>
        <p:nvSpPr>
          <p:cNvPr id="78" name="Shape 76"/>
          <p:cNvSpPr/>
          <p:nvPr/>
        </p:nvSpPr>
        <p:spPr>
          <a:xfrm>
            <a:off x="640080" y="2006194"/>
            <a:ext cx="475488" cy="109728"/>
          </a:xfrm>
          <a:prstGeom prst="rect">
            <a:avLst/>
          </a:prstGeom>
          <a:solidFill>
            <a:srgbClr val="BE82FF"/>
          </a:solidFill>
          <a:ln w="6350">
            <a:solidFill>
              <a:srgbClr val="A100FF"/>
            </a:solidFill>
            <a:prstDash val="solid"/>
          </a:ln>
        </p:spPr>
        <p:txBody>
          <a:bodyPr/>
          <a:lstStyle/>
          <a:p>
            <a:endParaRPr lang="es-ES"/>
          </a:p>
        </p:txBody>
      </p:sp>
      <p:sp>
        <p:nvSpPr>
          <p:cNvPr id="79" name="Text 77"/>
          <p:cNvSpPr/>
          <p:nvPr/>
        </p:nvSpPr>
        <p:spPr>
          <a:xfrm>
            <a:off x="640080" y="2006194"/>
            <a:ext cx="475488" cy="109728"/>
          </a:xfrm>
          <a:prstGeom prst="rect">
            <a:avLst/>
          </a:prstGeom>
          <a:noFill/>
          <a:ln/>
        </p:spPr>
        <p:txBody>
          <a:bodyPr wrap="square" lIns="6350" tIns="6350" rIns="6350" bIns="6350" rtlCol="0" anchor="ctr"/>
          <a:lstStyle/>
          <a:p>
            <a:pPr marL="0" indent="0" algn="ctr">
              <a:buNone/>
            </a:pPr>
            <a:r>
              <a:rPr lang="en-US" sz="400" b="1" dirty="0">
                <a:solidFill>
                  <a:srgbClr val="000000"/>
                </a:solidFill>
              </a:rPr>
              <a:t>Logging</a:t>
            </a:r>
            <a:endParaRPr lang="en-US" sz="400" dirty="0"/>
          </a:p>
        </p:txBody>
      </p:sp>
      <p:sp>
        <p:nvSpPr>
          <p:cNvPr id="80" name="Shape 78"/>
          <p:cNvSpPr/>
          <p:nvPr/>
        </p:nvSpPr>
        <p:spPr>
          <a:xfrm>
            <a:off x="640080" y="2125066"/>
            <a:ext cx="475488" cy="250088"/>
          </a:xfrm>
          <a:prstGeom prst="rect">
            <a:avLst/>
          </a:prstGeom>
          <a:solidFill>
            <a:srgbClr val="FFFFFF"/>
          </a:solidFill>
          <a:ln w="3810">
            <a:solidFill>
              <a:srgbClr val="BE82FF"/>
            </a:solidFill>
            <a:prstDash val="solid"/>
          </a:ln>
        </p:spPr>
        <p:txBody>
          <a:bodyPr/>
          <a:lstStyle/>
          <a:p>
            <a:endParaRPr lang="es-ES"/>
          </a:p>
        </p:txBody>
      </p:sp>
      <p:sp>
        <p:nvSpPr>
          <p:cNvPr id="81" name="Text 79"/>
          <p:cNvSpPr/>
          <p:nvPr/>
        </p:nvSpPr>
        <p:spPr>
          <a:xfrm>
            <a:off x="640080" y="2125066"/>
            <a:ext cx="475488" cy="250088"/>
          </a:xfrm>
          <a:prstGeom prst="rect">
            <a:avLst/>
          </a:prstGeom>
          <a:noFill/>
          <a:ln/>
        </p:spPr>
        <p:txBody>
          <a:bodyPr wrap="square" lIns="6350" tIns="6350" rIns="6350" bIns="6350" rtlCol="0" anchor="ctr"/>
          <a:lstStyle/>
          <a:p>
            <a:pPr marL="0" indent="0" algn="ctr">
              <a:buNone/>
            </a:pPr>
            <a:r>
              <a:rPr lang="en-US" sz="380" dirty="0">
                <a:solidFill>
                  <a:srgbClr val="000000"/>
                </a:solidFill>
              </a:rPr>
              <a:t>Agreg.Logs</a:t>
            </a:r>
            <a:endParaRPr lang="en-US" sz="380" dirty="0"/>
          </a:p>
        </p:txBody>
      </p:sp>
      <p:sp>
        <p:nvSpPr>
          <p:cNvPr id="82" name="Shape 80"/>
          <p:cNvSpPr/>
          <p:nvPr/>
        </p:nvSpPr>
        <p:spPr>
          <a:xfrm>
            <a:off x="640080" y="2379726"/>
            <a:ext cx="475488" cy="250088"/>
          </a:xfrm>
          <a:prstGeom prst="rect">
            <a:avLst/>
          </a:prstGeom>
          <a:solidFill>
            <a:srgbClr val="FFFFFF"/>
          </a:solidFill>
          <a:ln w="3810">
            <a:solidFill>
              <a:srgbClr val="BE82FF"/>
            </a:solidFill>
            <a:prstDash val="solid"/>
          </a:ln>
        </p:spPr>
        <p:txBody>
          <a:bodyPr/>
          <a:lstStyle/>
          <a:p>
            <a:endParaRPr lang="es-ES"/>
          </a:p>
        </p:txBody>
      </p:sp>
      <p:sp>
        <p:nvSpPr>
          <p:cNvPr id="83" name="Text 81"/>
          <p:cNvSpPr/>
          <p:nvPr/>
        </p:nvSpPr>
        <p:spPr>
          <a:xfrm>
            <a:off x="640080" y="2379726"/>
            <a:ext cx="475488" cy="250088"/>
          </a:xfrm>
          <a:prstGeom prst="rect">
            <a:avLst/>
          </a:prstGeom>
          <a:noFill/>
          <a:ln/>
        </p:spPr>
        <p:txBody>
          <a:bodyPr wrap="square" lIns="6350" tIns="6350" rIns="6350" bIns="6350" rtlCol="0" anchor="ctr"/>
          <a:lstStyle/>
          <a:p>
            <a:pPr marL="0" indent="0" algn="ctr">
              <a:buNone/>
            </a:pPr>
            <a:r>
              <a:rPr lang="en-US" sz="380" dirty="0">
                <a:solidFill>
                  <a:srgbClr val="000000"/>
                </a:solidFill>
              </a:rPr>
              <a:t>Reg.Operativo</a:t>
            </a:r>
            <a:endParaRPr lang="en-US" sz="380" dirty="0"/>
          </a:p>
        </p:txBody>
      </p:sp>
      <p:sp>
        <p:nvSpPr>
          <p:cNvPr id="84" name="Shape 82"/>
          <p:cNvSpPr/>
          <p:nvPr/>
        </p:nvSpPr>
        <p:spPr>
          <a:xfrm>
            <a:off x="640080" y="2634386"/>
            <a:ext cx="475488" cy="250088"/>
          </a:xfrm>
          <a:prstGeom prst="rect">
            <a:avLst/>
          </a:prstGeom>
          <a:solidFill>
            <a:srgbClr val="FFFFFF"/>
          </a:solidFill>
          <a:ln w="3810">
            <a:solidFill>
              <a:srgbClr val="BE82FF"/>
            </a:solidFill>
            <a:prstDash val="solid"/>
          </a:ln>
        </p:spPr>
        <p:txBody>
          <a:bodyPr/>
          <a:lstStyle/>
          <a:p>
            <a:endParaRPr lang="es-ES"/>
          </a:p>
        </p:txBody>
      </p:sp>
      <p:sp>
        <p:nvSpPr>
          <p:cNvPr id="85" name="Text 83"/>
          <p:cNvSpPr/>
          <p:nvPr/>
        </p:nvSpPr>
        <p:spPr>
          <a:xfrm>
            <a:off x="640080" y="2634386"/>
            <a:ext cx="475488" cy="250088"/>
          </a:xfrm>
          <a:prstGeom prst="rect">
            <a:avLst/>
          </a:prstGeom>
          <a:noFill/>
          <a:ln/>
        </p:spPr>
        <p:txBody>
          <a:bodyPr wrap="square" lIns="6350" tIns="6350" rIns="6350" bIns="6350" rtlCol="0" anchor="ctr"/>
          <a:lstStyle/>
          <a:p>
            <a:pPr marL="0" indent="0" algn="ctr">
              <a:buNone/>
            </a:pPr>
            <a:r>
              <a:rPr lang="en-US" sz="380" dirty="0">
                <a:solidFill>
                  <a:srgbClr val="000000"/>
                </a:solidFill>
              </a:rPr>
              <a:t>Auditoría</a:t>
            </a:r>
            <a:endParaRPr lang="en-US" sz="380" dirty="0"/>
          </a:p>
        </p:txBody>
      </p:sp>
      <p:sp>
        <p:nvSpPr>
          <p:cNvPr id="86" name="Shape 84"/>
          <p:cNvSpPr/>
          <p:nvPr/>
        </p:nvSpPr>
        <p:spPr>
          <a:xfrm>
            <a:off x="640080" y="2889047"/>
            <a:ext cx="475488" cy="250088"/>
          </a:xfrm>
          <a:prstGeom prst="rect">
            <a:avLst/>
          </a:prstGeom>
          <a:solidFill>
            <a:srgbClr val="FFFFFF"/>
          </a:solidFill>
          <a:ln w="3810">
            <a:solidFill>
              <a:srgbClr val="BE82FF"/>
            </a:solidFill>
            <a:prstDash val="solid"/>
          </a:ln>
        </p:spPr>
        <p:txBody>
          <a:bodyPr/>
          <a:lstStyle/>
          <a:p>
            <a:endParaRPr lang="es-ES"/>
          </a:p>
        </p:txBody>
      </p:sp>
      <p:sp>
        <p:nvSpPr>
          <p:cNvPr id="87" name="Text 85"/>
          <p:cNvSpPr/>
          <p:nvPr/>
        </p:nvSpPr>
        <p:spPr>
          <a:xfrm>
            <a:off x="640080" y="2889047"/>
            <a:ext cx="475488" cy="250088"/>
          </a:xfrm>
          <a:prstGeom prst="rect">
            <a:avLst/>
          </a:prstGeom>
          <a:noFill/>
          <a:ln/>
        </p:spPr>
        <p:txBody>
          <a:bodyPr wrap="square" lIns="6350" tIns="6350" rIns="6350" bIns="6350" rtlCol="0" anchor="ctr"/>
          <a:lstStyle/>
          <a:p>
            <a:pPr marL="0" indent="0" algn="ctr">
              <a:buNone/>
            </a:pPr>
            <a:r>
              <a:rPr lang="en-US" sz="380" dirty="0">
                <a:solidFill>
                  <a:srgbClr val="000000"/>
                </a:solidFill>
              </a:rPr>
              <a:t>Retención</a:t>
            </a:r>
            <a:endParaRPr lang="en-US" sz="380" dirty="0"/>
          </a:p>
        </p:txBody>
      </p:sp>
      <p:sp>
        <p:nvSpPr>
          <p:cNvPr id="88" name="Shape 86"/>
          <p:cNvSpPr/>
          <p:nvPr/>
        </p:nvSpPr>
        <p:spPr>
          <a:xfrm>
            <a:off x="640080" y="3143707"/>
            <a:ext cx="475488" cy="109728"/>
          </a:xfrm>
          <a:prstGeom prst="rect">
            <a:avLst/>
          </a:prstGeom>
          <a:solidFill>
            <a:srgbClr val="BE82FF"/>
          </a:solidFill>
          <a:ln w="6350">
            <a:solidFill>
              <a:srgbClr val="A100FF"/>
            </a:solidFill>
            <a:prstDash val="solid"/>
          </a:ln>
        </p:spPr>
        <p:txBody>
          <a:bodyPr/>
          <a:lstStyle/>
          <a:p>
            <a:endParaRPr lang="es-ES"/>
          </a:p>
        </p:txBody>
      </p:sp>
      <p:sp>
        <p:nvSpPr>
          <p:cNvPr id="89" name="Text 87"/>
          <p:cNvSpPr/>
          <p:nvPr/>
        </p:nvSpPr>
        <p:spPr>
          <a:xfrm>
            <a:off x="640080" y="3143707"/>
            <a:ext cx="475488" cy="109728"/>
          </a:xfrm>
          <a:prstGeom prst="rect">
            <a:avLst/>
          </a:prstGeom>
          <a:noFill/>
          <a:ln/>
        </p:spPr>
        <p:txBody>
          <a:bodyPr wrap="square" lIns="6350" tIns="6350" rIns="6350" bIns="6350" rtlCol="0" anchor="ctr"/>
          <a:lstStyle/>
          <a:p>
            <a:pPr marL="0" indent="0" algn="ctr">
              <a:buNone/>
            </a:pPr>
            <a:r>
              <a:rPr lang="en-US" sz="400" b="1" dirty="0">
                <a:solidFill>
                  <a:srgbClr val="000000"/>
                </a:solidFill>
              </a:rPr>
              <a:t>Trazado</a:t>
            </a:r>
            <a:endParaRPr lang="en-US" sz="400" dirty="0"/>
          </a:p>
        </p:txBody>
      </p:sp>
      <p:sp>
        <p:nvSpPr>
          <p:cNvPr id="90" name="Shape 88"/>
          <p:cNvSpPr/>
          <p:nvPr/>
        </p:nvSpPr>
        <p:spPr>
          <a:xfrm>
            <a:off x="640080" y="3262579"/>
            <a:ext cx="475488" cy="504749"/>
          </a:xfrm>
          <a:prstGeom prst="rect">
            <a:avLst/>
          </a:prstGeom>
          <a:solidFill>
            <a:srgbClr val="FFFFFF"/>
          </a:solidFill>
          <a:ln w="3810">
            <a:solidFill>
              <a:srgbClr val="BE82FF"/>
            </a:solidFill>
            <a:prstDash val="solid"/>
          </a:ln>
        </p:spPr>
        <p:txBody>
          <a:bodyPr/>
          <a:lstStyle/>
          <a:p>
            <a:endParaRPr lang="es-ES"/>
          </a:p>
        </p:txBody>
      </p:sp>
      <p:sp>
        <p:nvSpPr>
          <p:cNvPr id="91" name="Text 89"/>
          <p:cNvSpPr/>
          <p:nvPr/>
        </p:nvSpPr>
        <p:spPr>
          <a:xfrm>
            <a:off x="640080" y="3262579"/>
            <a:ext cx="475488" cy="504749"/>
          </a:xfrm>
          <a:prstGeom prst="rect">
            <a:avLst/>
          </a:prstGeom>
          <a:noFill/>
          <a:ln/>
        </p:spPr>
        <p:txBody>
          <a:bodyPr wrap="square" lIns="6350" tIns="6350" rIns="6350" bIns="6350" rtlCol="0" anchor="ctr"/>
          <a:lstStyle/>
          <a:p>
            <a:pPr marL="0" indent="0" algn="ctr">
              <a:buNone/>
            </a:pPr>
            <a:r>
              <a:rPr lang="en-US" sz="380" dirty="0">
                <a:solidFill>
                  <a:srgbClr val="000000"/>
                </a:solidFill>
              </a:rPr>
              <a:t>Trazado Distrib.</a:t>
            </a:r>
            <a:endParaRPr lang="en-US" sz="380" dirty="0"/>
          </a:p>
        </p:txBody>
      </p:sp>
      <p:sp>
        <p:nvSpPr>
          <p:cNvPr id="92" name="Shape 90"/>
          <p:cNvSpPr/>
          <p:nvPr/>
        </p:nvSpPr>
        <p:spPr>
          <a:xfrm>
            <a:off x="640080" y="3771900"/>
            <a:ext cx="475488" cy="504749"/>
          </a:xfrm>
          <a:prstGeom prst="rect">
            <a:avLst/>
          </a:prstGeom>
          <a:solidFill>
            <a:srgbClr val="FFFFFF"/>
          </a:solidFill>
          <a:ln w="3810">
            <a:solidFill>
              <a:srgbClr val="BE82FF"/>
            </a:solidFill>
            <a:prstDash val="solid"/>
          </a:ln>
        </p:spPr>
        <p:txBody>
          <a:bodyPr/>
          <a:lstStyle/>
          <a:p>
            <a:endParaRPr lang="es-ES"/>
          </a:p>
        </p:txBody>
      </p:sp>
      <p:sp>
        <p:nvSpPr>
          <p:cNvPr id="93" name="Text 91"/>
          <p:cNvSpPr/>
          <p:nvPr/>
        </p:nvSpPr>
        <p:spPr>
          <a:xfrm>
            <a:off x="640080" y="3771900"/>
            <a:ext cx="475488" cy="504749"/>
          </a:xfrm>
          <a:prstGeom prst="rect">
            <a:avLst/>
          </a:prstGeom>
          <a:noFill/>
          <a:ln/>
        </p:spPr>
        <p:txBody>
          <a:bodyPr wrap="square" lIns="6350" tIns="6350" rIns="6350" bIns="6350" rtlCol="0" anchor="ctr"/>
          <a:lstStyle/>
          <a:p>
            <a:pPr marL="0" indent="0" algn="ctr">
              <a:buNone/>
            </a:pPr>
            <a:r>
              <a:rPr lang="en-US" sz="380" dirty="0">
                <a:solidFill>
                  <a:srgbClr val="000000"/>
                </a:solidFill>
              </a:rPr>
              <a:t>Trazado E2E</a:t>
            </a:r>
            <a:endParaRPr lang="en-US" sz="380" dirty="0"/>
          </a:p>
        </p:txBody>
      </p:sp>
      <p:sp>
        <p:nvSpPr>
          <p:cNvPr id="94" name="Shape 92"/>
          <p:cNvSpPr/>
          <p:nvPr/>
        </p:nvSpPr>
        <p:spPr>
          <a:xfrm>
            <a:off x="640080" y="4281221"/>
            <a:ext cx="475488" cy="109728"/>
          </a:xfrm>
          <a:prstGeom prst="rect">
            <a:avLst/>
          </a:prstGeom>
          <a:solidFill>
            <a:srgbClr val="BE82FF"/>
          </a:solidFill>
          <a:ln w="6350">
            <a:solidFill>
              <a:srgbClr val="A100FF"/>
            </a:solidFill>
            <a:prstDash val="solid"/>
          </a:ln>
        </p:spPr>
        <p:txBody>
          <a:bodyPr/>
          <a:lstStyle/>
          <a:p>
            <a:endParaRPr lang="es-ES"/>
          </a:p>
        </p:txBody>
      </p:sp>
      <p:sp>
        <p:nvSpPr>
          <p:cNvPr id="95" name="Text 93"/>
          <p:cNvSpPr/>
          <p:nvPr/>
        </p:nvSpPr>
        <p:spPr>
          <a:xfrm>
            <a:off x="640080" y="4281221"/>
            <a:ext cx="475488" cy="109728"/>
          </a:xfrm>
          <a:prstGeom prst="rect">
            <a:avLst/>
          </a:prstGeom>
          <a:noFill/>
          <a:ln/>
        </p:spPr>
        <p:txBody>
          <a:bodyPr wrap="square" lIns="6350" tIns="6350" rIns="6350" bIns="6350" rtlCol="0" anchor="ctr"/>
          <a:lstStyle/>
          <a:p>
            <a:pPr marL="0" indent="0" algn="ctr">
              <a:buNone/>
            </a:pPr>
            <a:r>
              <a:rPr lang="en-US" sz="400" b="1" dirty="0">
                <a:solidFill>
                  <a:srgbClr val="000000"/>
                </a:solidFill>
              </a:rPr>
              <a:t>Métr.&amp;Analít.</a:t>
            </a:r>
            <a:endParaRPr lang="en-US" sz="400" dirty="0"/>
          </a:p>
        </p:txBody>
      </p:sp>
      <p:sp>
        <p:nvSpPr>
          <p:cNvPr id="96" name="Shape 94"/>
          <p:cNvSpPr/>
          <p:nvPr/>
        </p:nvSpPr>
        <p:spPr>
          <a:xfrm>
            <a:off x="640080" y="4400093"/>
            <a:ext cx="475488" cy="504749"/>
          </a:xfrm>
          <a:prstGeom prst="rect">
            <a:avLst/>
          </a:prstGeom>
          <a:solidFill>
            <a:srgbClr val="FFFFFF"/>
          </a:solidFill>
          <a:ln w="3810">
            <a:solidFill>
              <a:srgbClr val="BE82FF"/>
            </a:solidFill>
            <a:prstDash val="solid"/>
          </a:ln>
        </p:spPr>
        <p:txBody>
          <a:bodyPr/>
          <a:lstStyle/>
          <a:p>
            <a:endParaRPr lang="es-ES"/>
          </a:p>
        </p:txBody>
      </p:sp>
      <p:sp>
        <p:nvSpPr>
          <p:cNvPr id="97" name="Text 95"/>
          <p:cNvSpPr/>
          <p:nvPr/>
        </p:nvSpPr>
        <p:spPr>
          <a:xfrm>
            <a:off x="640080" y="4400093"/>
            <a:ext cx="475488" cy="504749"/>
          </a:xfrm>
          <a:prstGeom prst="rect">
            <a:avLst/>
          </a:prstGeom>
          <a:noFill/>
          <a:ln/>
        </p:spPr>
        <p:txBody>
          <a:bodyPr wrap="square" lIns="6350" tIns="6350" rIns="6350" bIns="6350" rtlCol="0" anchor="ctr"/>
          <a:lstStyle/>
          <a:p>
            <a:pPr marL="0" indent="0" algn="ctr">
              <a:buNone/>
            </a:pPr>
            <a:r>
              <a:rPr lang="en-US" sz="380" dirty="0">
                <a:solidFill>
                  <a:srgbClr val="000000"/>
                </a:solidFill>
              </a:rPr>
              <a:t>Métricas y Analítica</a:t>
            </a:r>
            <a:endParaRPr lang="en-US" sz="380" dirty="0"/>
          </a:p>
        </p:txBody>
      </p:sp>
      <p:sp>
        <p:nvSpPr>
          <p:cNvPr id="98" name="Shape 96"/>
          <p:cNvSpPr/>
          <p:nvPr/>
        </p:nvSpPr>
        <p:spPr>
          <a:xfrm>
            <a:off x="640080" y="4909414"/>
            <a:ext cx="475488" cy="504749"/>
          </a:xfrm>
          <a:prstGeom prst="rect">
            <a:avLst/>
          </a:prstGeom>
          <a:solidFill>
            <a:srgbClr val="FFFFFF"/>
          </a:solidFill>
          <a:ln w="3810">
            <a:solidFill>
              <a:srgbClr val="BE82FF"/>
            </a:solidFill>
            <a:prstDash val="solid"/>
          </a:ln>
        </p:spPr>
        <p:txBody>
          <a:bodyPr/>
          <a:lstStyle/>
          <a:p>
            <a:endParaRPr lang="es-ES"/>
          </a:p>
        </p:txBody>
      </p:sp>
      <p:sp>
        <p:nvSpPr>
          <p:cNvPr id="99" name="Text 97"/>
          <p:cNvSpPr/>
          <p:nvPr/>
        </p:nvSpPr>
        <p:spPr>
          <a:xfrm>
            <a:off x="640080" y="4909414"/>
            <a:ext cx="475488" cy="504749"/>
          </a:xfrm>
          <a:prstGeom prst="rect">
            <a:avLst/>
          </a:prstGeom>
          <a:noFill/>
          <a:ln/>
        </p:spPr>
        <p:txBody>
          <a:bodyPr wrap="square" lIns="6350" tIns="6350" rIns="6350" bIns="6350" rtlCol="0" anchor="ctr"/>
          <a:lstStyle/>
          <a:p>
            <a:pPr marL="0" indent="0" algn="ctr">
              <a:buNone/>
            </a:pPr>
            <a:r>
              <a:rPr lang="en-US" sz="380" dirty="0">
                <a:solidFill>
                  <a:srgbClr val="000000"/>
                </a:solidFill>
              </a:rPr>
              <a:t>Reportes</a:t>
            </a:r>
            <a:endParaRPr lang="en-US" sz="380" dirty="0"/>
          </a:p>
        </p:txBody>
      </p:sp>
      <p:sp>
        <p:nvSpPr>
          <p:cNvPr id="100" name="Shape 98"/>
          <p:cNvSpPr/>
          <p:nvPr/>
        </p:nvSpPr>
        <p:spPr>
          <a:xfrm>
            <a:off x="640080" y="5418734"/>
            <a:ext cx="475488" cy="109728"/>
          </a:xfrm>
          <a:prstGeom prst="rect">
            <a:avLst/>
          </a:prstGeom>
          <a:solidFill>
            <a:srgbClr val="BE82FF"/>
          </a:solidFill>
          <a:ln w="6350">
            <a:solidFill>
              <a:srgbClr val="A100FF"/>
            </a:solidFill>
            <a:prstDash val="solid"/>
          </a:ln>
        </p:spPr>
        <p:txBody>
          <a:bodyPr/>
          <a:lstStyle/>
          <a:p>
            <a:endParaRPr lang="es-ES"/>
          </a:p>
        </p:txBody>
      </p:sp>
      <p:sp>
        <p:nvSpPr>
          <p:cNvPr id="101" name="Text 99"/>
          <p:cNvSpPr/>
          <p:nvPr/>
        </p:nvSpPr>
        <p:spPr>
          <a:xfrm>
            <a:off x="640080" y="5418734"/>
            <a:ext cx="475488" cy="109728"/>
          </a:xfrm>
          <a:prstGeom prst="rect">
            <a:avLst/>
          </a:prstGeom>
          <a:noFill/>
          <a:ln/>
        </p:spPr>
        <p:txBody>
          <a:bodyPr wrap="square" lIns="6350" tIns="6350" rIns="6350" bIns="6350" rtlCol="0" anchor="ctr"/>
          <a:lstStyle/>
          <a:p>
            <a:pPr marL="0" indent="0" algn="ctr">
              <a:buNone/>
            </a:pPr>
            <a:r>
              <a:rPr lang="en-US" sz="400" b="1" dirty="0">
                <a:solidFill>
                  <a:srgbClr val="000000"/>
                </a:solidFill>
              </a:rPr>
              <a:t>Paneles</a:t>
            </a:r>
            <a:endParaRPr lang="en-US" sz="400" dirty="0"/>
          </a:p>
        </p:txBody>
      </p:sp>
      <p:sp>
        <p:nvSpPr>
          <p:cNvPr id="102" name="Shape 100"/>
          <p:cNvSpPr/>
          <p:nvPr/>
        </p:nvSpPr>
        <p:spPr>
          <a:xfrm>
            <a:off x="640080" y="5537606"/>
            <a:ext cx="475488" cy="504749"/>
          </a:xfrm>
          <a:prstGeom prst="rect">
            <a:avLst/>
          </a:prstGeom>
          <a:solidFill>
            <a:srgbClr val="FFFFFF"/>
          </a:solidFill>
          <a:ln w="3810">
            <a:solidFill>
              <a:srgbClr val="BE82FF"/>
            </a:solidFill>
            <a:prstDash val="solid"/>
          </a:ln>
        </p:spPr>
        <p:txBody>
          <a:bodyPr/>
          <a:lstStyle/>
          <a:p>
            <a:endParaRPr lang="es-ES"/>
          </a:p>
        </p:txBody>
      </p:sp>
      <p:sp>
        <p:nvSpPr>
          <p:cNvPr id="103" name="Text 101"/>
          <p:cNvSpPr/>
          <p:nvPr/>
        </p:nvSpPr>
        <p:spPr>
          <a:xfrm>
            <a:off x="640080" y="5537606"/>
            <a:ext cx="475488" cy="504749"/>
          </a:xfrm>
          <a:prstGeom prst="rect">
            <a:avLst/>
          </a:prstGeom>
          <a:noFill/>
          <a:ln/>
        </p:spPr>
        <p:txBody>
          <a:bodyPr wrap="square" lIns="6350" tIns="6350" rIns="6350" bIns="6350" rtlCol="0" anchor="ctr"/>
          <a:lstStyle/>
          <a:p>
            <a:pPr marL="0" indent="0" algn="ctr">
              <a:buNone/>
            </a:pPr>
            <a:r>
              <a:rPr lang="en-US" sz="380" dirty="0">
                <a:solidFill>
                  <a:srgbClr val="000000"/>
                </a:solidFill>
              </a:rPr>
              <a:t>Paneles Técnicos</a:t>
            </a:r>
            <a:endParaRPr lang="en-US" sz="380" dirty="0"/>
          </a:p>
        </p:txBody>
      </p:sp>
      <p:sp>
        <p:nvSpPr>
          <p:cNvPr id="104" name="Shape 102"/>
          <p:cNvSpPr/>
          <p:nvPr/>
        </p:nvSpPr>
        <p:spPr>
          <a:xfrm>
            <a:off x="640080" y="6046927"/>
            <a:ext cx="475488" cy="504749"/>
          </a:xfrm>
          <a:prstGeom prst="rect">
            <a:avLst/>
          </a:prstGeom>
          <a:solidFill>
            <a:srgbClr val="FFFFFF"/>
          </a:solidFill>
          <a:ln w="3810">
            <a:solidFill>
              <a:srgbClr val="BE82FF"/>
            </a:solidFill>
            <a:prstDash val="solid"/>
          </a:ln>
        </p:spPr>
        <p:txBody>
          <a:bodyPr/>
          <a:lstStyle/>
          <a:p>
            <a:endParaRPr lang="es-ES"/>
          </a:p>
        </p:txBody>
      </p:sp>
      <p:sp>
        <p:nvSpPr>
          <p:cNvPr id="105" name="Text 103"/>
          <p:cNvSpPr/>
          <p:nvPr/>
        </p:nvSpPr>
        <p:spPr>
          <a:xfrm>
            <a:off x="640080" y="6046927"/>
            <a:ext cx="475488" cy="504749"/>
          </a:xfrm>
          <a:prstGeom prst="rect">
            <a:avLst/>
          </a:prstGeom>
          <a:noFill/>
          <a:ln/>
        </p:spPr>
        <p:txBody>
          <a:bodyPr wrap="square" lIns="6350" tIns="6350" rIns="6350" bIns="6350" rtlCol="0" anchor="ctr"/>
          <a:lstStyle/>
          <a:p>
            <a:pPr marL="0" indent="0" algn="ctr">
              <a:buNone/>
            </a:pPr>
            <a:r>
              <a:rPr lang="en-US" sz="380" dirty="0">
                <a:solidFill>
                  <a:srgbClr val="000000"/>
                </a:solidFill>
              </a:rPr>
              <a:t>Paneles Empresar.</a:t>
            </a:r>
            <a:endParaRPr lang="en-US" sz="380" dirty="0"/>
          </a:p>
        </p:txBody>
      </p:sp>
      <p:sp>
        <p:nvSpPr>
          <p:cNvPr id="106" name="Shape 104"/>
          <p:cNvSpPr/>
          <p:nvPr/>
        </p:nvSpPr>
        <p:spPr>
          <a:xfrm>
            <a:off x="11027664" y="685800"/>
            <a:ext cx="1051560" cy="5916168"/>
          </a:xfrm>
          <a:prstGeom prst="rect">
            <a:avLst/>
          </a:prstGeom>
          <a:solidFill>
            <a:srgbClr val="EDE5FF"/>
          </a:solidFill>
          <a:ln w="12700">
            <a:solidFill>
              <a:srgbClr val="A100FF"/>
            </a:solidFill>
            <a:prstDash val="solid"/>
          </a:ln>
        </p:spPr>
        <p:txBody>
          <a:bodyPr/>
          <a:lstStyle/>
          <a:p>
            <a:endParaRPr lang="es-ES"/>
          </a:p>
        </p:txBody>
      </p:sp>
      <p:sp>
        <p:nvSpPr>
          <p:cNvPr id="107" name="Shape 105"/>
          <p:cNvSpPr/>
          <p:nvPr/>
        </p:nvSpPr>
        <p:spPr>
          <a:xfrm>
            <a:off x="11036808" y="694944"/>
            <a:ext cx="146304" cy="146304"/>
          </a:xfrm>
          <a:prstGeom prst="ellipse">
            <a:avLst/>
          </a:prstGeom>
          <a:solidFill>
            <a:srgbClr val="C00000"/>
          </a:solidFill>
          <a:ln w="12700">
            <a:solidFill>
              <a:srgbClr val="C00000"/>
            </a:solidFill>
            <a:prstDash val="solid"/>
          </a:ln>
        </p:spPr>
        <p:txBody>
          <a:bodyPr/>
          <a:lstStyle/>
          <a:p>
            <a:endParaRPr lang="es-ES"/>
          </a:p>
        </p:txBody>
      </p:sp>
      <p:sp>
        <p:nvSpPr>
          <p:cNvPr id="108" name="Text 106"/>
          <p:cNvSpPr/>
          <p:nvPr/>
        </p:nvSpPr>
        <p:spPr>
          <a:xfrm>
            <a:off x="11036808" y="694944"/>
            <a:ext cx="146304" cy="146304"/>
          </a:xfrm>
          <a:prstGeom prst="rect">
            <a:avLst/>
          </a:prstGeom>
          <a:noFill/>
          <a:ln/>
        </p:spPr>
        <p:txBody>
          <a:bodyPr wrap="square" lIns="0" tIns="0" rIns="0" bIns="0" rtlCol="0" anchor="ctr"/>
          <a:lstStyle/>
          <a:p>
            <a:pPr marL="0" indent="0" algn="ctr">
              <a:buNone/>
            </a:pPr>
            <a:r>
              <a:rPr lang="en-US" sz="650" b="1" dirty="0">
                <a:solidFill>
                  <a:srgbClr val="FFFFFF"/>
                </a:solidFill>
              </a:rPr>
              <a:t>K</a:t>
            </a:r>
            <a:endParaRPr lang="en-US" sz="650" dirty="0"/>
          </a:p>
        </p:txBody>
      </p:sp>
      <p:sp>
        <p:nvSpPr>
          <p:cNvPr id="109" name="Shape 107"/>
          <p:cNvSpPr/>
          <p:nvPr/>
        </p:nvSpPr>
        <p:spPr>
          <a:xfrm>
            <a:off x="11192256" y="685800"/>
            <a:ext cx="877824" cy="164592"/>
          </a:xfrm>
          <a:prstGeom prst="rect">
            <a:avLst/>
          </a:prstGeom>
          <a:solidFill>
            <a:srgbClr val="A100FF"/>
          </a:solidFill>
          <a:ln w="12700">
            <a:solidFill>
              <a:srgbClr val="A100FF"/>
            </a:solidFill>
            <a:prstDash val="solid"/>
          </a:ln>
        </p:spPr>
        <p:txBody>
          <a:bodyPr/>
          <a:lstStyle/>
          <a:p>
            <a:endParaRPr lang="es-ES"/>
          </a:p>
        </p:txBody>
      </p:sp>
      <p:sp>
        <p:nvSpPr>
          <p:cNvPr id="110" name="Text 108"/>
          <p:cNvSpPr/>
          <p:nvPr/>
        </p:nvSpPr>
        <p:spPr>
          <a:xfrm>
            <a:off x="11210544" y="685800"/>
            <a:ext cx="841248" cy="164592"/>
          </a:xfrm>
          <a:prstGeom prst="rect">
            <a:avLst/>
          </a:prstGeom>
          <a:noFill/>
          <a:ln/>
        </p:spPr>
        <p:txBody>
          <a:bodyPr wrap="square" lIns="0" tIns="0" rIns="0" bIns="0" rtlCol="0" anchor="ctr"/>
          <a:lstStyle/>
          <a:p>
            <a:pPr marL="0" indent="0" algn="ctr">
              <a:buNone/>
            </a:pPr>
            <a:r>
              <a:rPr lang="en-US" sz="500" b="1" dirty="0">
                <a:solidFill>
                  <a:srgbClr val="FFFFFF"/>
                </a:solidFill>
              </a:rPr>
              <a:t>Infraestructura (Pila Tecnológica)</a:t>
            </a:r>
            <a:endParaRPr lang="en-US" sz="500" dirty="0"/>
          </a:p>
        </p:txBody>
      </p:sp>
      <p:sp>
        <p:nvSpPr>
          <p:cNvPr id="111" name="Shape 109"/>
          <p:cNvSpPr/>
          <p:nvPr/>
        </p:nvSpPr>
        <p:spPr>
          <a:xfrm>
            <a:off x="11036808" y="868680"/>
            <a:ext cx="1033272" cy="109728"/>
          </a:xfrm>
          <a:prstGeom prst="rect">
            <a:avLst/>
          </a:prstGeom>
          <a:solidFill>
            <a:srgbClr val="BE82FF"/>
          </a:solidFill>
          <a:ln w="6350">
            <a:solidFill>
              <a:srgbClr val="A100FF"/>
            </a:solidFill>
            <a:prstDash val="solid"/>
          </a:ln>
        </p:spPr>
        <p:txBody>
          <a:bodyPr/>
          <a:lstStyle/>
          <a:p>
            <a:endParaRPr lang="es-ES"/>
          </a:p>
        </p:txBody>
      </p:sp>
      <p:sp>
        <p:nvSpPr>
          <p:cNvPr id="112" name="Text 110"/>
          <p:cNvSpPr/>
          <p:nvPr/>
        </p:nvSpPr>
        <p:spPr>
          <a:xfrm>
            <a:off x="11036808" y="868680"/>
            <a:ext cx="1033272" cy="109728"/>
          </a:xfrm>
          <a:prstGeom prst="rect">
            <a:avLst/>
          </a:prstGeom>
          <a:noFill/>
          <a:ln/>
        </p:spPr>
        <p:txBody>
          <a:bodyPr wrap="square" lIns="6350" tIns="6350" rIns="6350" bIns="6350" rtlCol="0" anchor="ctr"/>
          <a:lstStyle/>
          <a:p>
            <a:pPr marL="0" indent="0" algn="ctr">
              <a:buNone/>
            </a:pPr>
            <a:r>
              <a:rPr lang="en-US" sz="400" b="1" dirty="0">
                <a:solidFill>
                  <a:srgbClr val="000000"/>
                </a:solidFill>
              </a:rPr>
              <a:t>Marco Microservicios</a:t>
            </a:r>
            <a:endParaRPr lang="en-US" sz="400" dirty="0"/>
          </a:p>
        </p:txBody>
      </p:sp>
      <p:sp>
        <p:nvSpPr>
          <p:cNvPr id="113" name="Shape 111"/>
          <p:cNvSpPr/>
          <p:nvPr/>
        </p:nvSpPr>
        <p:spPr>
          <a:xfrm>
            <a:off x="11036808" y="987552"/>
            <a:ext cx="498348" cy="334975"/>
          </a:xfrm>
          <a:prstGeom prst="rect">
            <a:avLst/>
          </a:prstGeom>
          <a:solidFill>
            <a:srgbClr val="FFFFFF"/>
          </a:solidFill>
          <a:ln w="3810">
            <a:solidFill>
              <a:srgbClr val="BE82FF"/>
            </a:solidFill>
            <a:prstDash val="solid"/>
          </a:ln>
        </p:spPr>
        <p:txBody>
          <a:bodyPr/>
          <a:lstStyle/>
          <a:p>
            <a:endParaRPr lang="es-ES"/>
          </a:p>
        </p:txBody>
      </p:sp>
      <p:sp>
        <p:nvSpPr>
          <p:cNvPr id="114" name="Text 112"/>
          <p:cNvSpPr/>
          <p:nvPr/>
        </p:nvSpPr>
        <p:spPr>
          <a:xfrm>
            <a:off x="11036808" y="987552"/>
            <a:ext cx="498348" cy="334975"/>
          </a:xfrm>
          <a:prstGeom prst="rect">
            <a:avLst/>
          </a:prstGeom>
          <a:noFill/>
          <a:ln/>
        </p:spPr>
        <p:txBody>
          <a:bodyPr wrap="square" lIns="6350" tIns="6350" rIns="6350" bIns="6350" rtlCol="0" anchor="ctr"/>
          <a:lstStyle/>
          <a:p>
            <a:pPr marL="0" indent="0" algn="ctr">
              <a:buNone/>
            </a:pPr>
            <a:r>
              <a:rPr lang="en-US" sz="380" dirty="0">
                <a:solidFill>
                  <a:srgbClr val="000000"/>
                </a:solidFill>
              </a:rPr>
              <a:t>Librerías Base</a:t>
            </a:r>
            <a:endParaRPr lang="en-US" sz="380" dirty="0"/>
          </a:p>
        </p:txBody>
      </p:sp>
      <p:sp>
        <p:nvSpPr>
          <p:cNvPr id="115" name="Shape 113"/>
          <p:cNvSpPr/>
          <p:nvPr/>
        </p:nvSpPr>
        <p:spPr>
          <a:xfrm>
            <a:off x="11036808" y="1327099"/>
            <a:ext cx="498348" cy="334975"/>
          </a:xfrm>
          <a:prstGeom prst="rect">
            <a:avLst/>
          </a:prstGeom>
          <a:solidFill>
            <a:srgbClr val="FFFFFF"/>
          </a:solidFill>
          <a:ln w="3810">
            <a:solidFill>
              <a:srgbClr val="BE82FF"/>
            </a:solidFill>
            <a:prstDash val="solid"/>
          </a:ln>
        </p:spPr>
        <p:txBody>
          <a:bodyPr/>
          <a:lstStyle/>
          <a:p>
            <a:endParaRPr lang="es-ES"/>
          </a:p>
        </p:txBody>
      </p:sp>
      <p:sp>
        <p:nvSpPr>
          <p:cNvPr id="116" name="Text 114"/>
          <p:cNvSpPr/>
          <p:nvPr/>
        </p:nvSpPr>
        <p:spPr>
          <a:xfrm>
            <a:off x="11036808" y="1327099"/>
            <a:ext cx="498348" cy="334975"/>
          </a:xfrm>
          <a:prstGeom prst="rect">
            <a:avLst/>
          </a:prstGeom>
          <a:noFill/>
          <a:ln/>
        </p:spPr>
        <p:txBody>
          <a:bodyPr wrap="square" lIns="6350" tIns="6350" rIns="6350" bIns="6350" rtlCol="0" anchor="ctr"/>
          <a:lstStyle/>
          <a:p>
            <a:pPr marL="0" indent="0" algn="ctr">
              <a:buNone/>
            </a:pPr>
            <a:r>
              <a:rPr lang="en-US" sz="380" dirty="0">
                <a:solidFill>
                  <a:srgbClr val="000000"/>
                </a:solidFill>
              </a:rPr>
              <a:t>Lenguajes/Runtimes</a:t>
            </a:r>
            <a:endParaRPr lang="en-US" sz="380" dirty="0"/>
          </a:p>
        </p:txBody>
      </p:sp>
      <p:sp>
        <p:nvSpPr>
          <p:cNvPr id="117" name="Shape 115"/>
          <p:cNvSpPr/>
          <p:nvPr/>
        </p:nvSpPr>
        <p:spPr>
          <a:xfrm>
            <a:off x="11036808" y="1666646"/>
            <a:ext cx="498348" cy="334975"/>
          </a:xfrm>
          <a:prstGeom prst="rect">
            <a:avLst/>
          </a:prstGeom>
          <a:solidFill>
            <a:srgbClr val="FFFFFF"/>
          </a:solidFill>
          <a:ln w="3810">
            <a:solidFill>
              <a:srgbClr val="BE82FF"/>
            </a:solidFill>
            <a:prstDash val="solid"/>
          </a:ln>
        </p:spPr>
        <p:txBody>
          <a:bodyPr/>
          <a:lstStyle/>
          <a:p>
            <a:endParaRPr lang="es-ES"/>
          </a:p>
        </p:txBody>
      </p:sp>
      <p:sp>
        <p:nvSpPr>
          <p:cNvPr id="118" name="Text 116"/>
          <p:cNvSpPr/>
          <p:nvPr/>
        </p:nvSpPr>
        <p:spPr>
          <a:xfrm>
            <a:off x="11036808" y="1666646"/>
            <a:ext cx="498348" cy="334975"/>
          </a:xfrm>
          <a:prstGeom prst="rect">
            <a:avLst/>
          </a:prstGeom>
          <a:noFill/>
          <a:ln/>
        </p:spPr>
        <p:txBody>
          <a:bodyPr wrap="square" lIns="6350" tIns="6350" rIns="6350" bIns="6350" rtlCol="0" anchor="ctr"/>
          <a:lstStyle/>
          <a:p>
            <a:pPr marL="0" indent="0" algn="ctr">
              <a:buNone/>
            </a:pPr>
            <a:r>
              <a:rPr lang="en-US" sz="380" dirty="0">
                <a:solidFill>
                  <a:srgbClr val="000000"/>
                </a:solidFill>
              </a:rPr>
              <a:t>Servicios Kernel</a:t>
            </a:r>
            <a:endParaRPr lang="en-US" sz="380" dirty="0"/>
          </a:p>
        </p:txBody>
      </p:sp>
      <p:sp>
        <p:nvSpPr>
          <p:cNvPr id="119" name="Shape 117"/>
          <p:cNvSpPr/>
          <p:nvPr/>
        </p:nvSpPr>
        <p:spPr>
          <a:xfrm>
            <a:off x="11553444" y="987552"/>
            <a:ext cx="498348" cy="334975"/>
          </a:xfrm>
          <a:prstGeom prst="rect">
            <a:avLst/>
          </a:prstGeom>
          <a:solidFill>
            <a:srgbClr val="FFFFFF"/>
          </a:solidFill>
          <a:ln w="3810">
            <a:solidFill>
              <a:srgbClr val="BE82FF"/>
            </a:solidFill>
            <a:prstDash val="solid"/>
          </a:ln>
        </p:spPr>
        <p:txBody>
          <a:bodyPr/>
          <a:lstStyle/>
          <a:p>
            <a:endParaRPr lang="es-ES"/>
          </a:p>
        </p:txBody>
      </p:sp>
      <p:sp>
        <p:nvSpPr>
          <p:cNvPr id="120" name="Text 118"/>
          <p:cNvSpPr/>
          <p:nvPr/>
        </p:nvSpPr>
        <p:spPr>
          <a:xfrm>
            <a:off x="11553444" y="987552"/>
            <a:ext cx="498348" cy="334975"/>
          </a:xfrm>
          <a:prstGeom prst="rect">
            <a:avLst/>
          </a:prstGeom>
          <a:noFill/>
          <a:ln/>
        </p:spPr>
        <p:txBody>
          <a:bodyPr wrap="square" lIns="6350" tIns="6350" rIns="6350" bIns="6350" rtlCol="0" anchor="ctr"/>
          <a:lstStyle/>
          <a:p>
            <a:pPr marL="0" indent="0" algn="ctr">
              <a:buNone/>
            </a:pPr>
            <a:r>
              <a:rPr lang="en-US" sz="380" dirty="0">
                <a:solidFill>
                  <a:srgbClr val="000000"/>
                </a:solidFill>
              </a:rPr>
              <a:t>Service Discovery</a:t>
            </a:r>
            <a:endParaRPr lang="en-US" sz="380" dirty="0"/>
          </a:p>
        </p:txBody>
      </p:sp>
      <p:sp>
        <p:nvSpPr>
          <p:cNvPr id="121" name="Shape 119"/>
          <p:cNvSpPr/>
          <p:nvPr/>
        </p:nvSpPr>
        <p:spPr>
          <a:xfrm>
            <a:off x="11553444" y="1327099"/>
            <a:ext cx="498348" cy="334975"/>
          </a:xfrm>
          <a:prstGeom prst="rect">
            <a:avLst/>
          </a:prstGeom>
          <a:solidFill>
            <a:srgbClr val="FFFFFF"/>
          </a:solidFill>
          <a:ln w="3810">
            <a:solidFill>
              <a:srgbClr val="BE82FF"/>
            </a:solidFill>
            <a:prstDash val="solid"/>
          </a:ln>
        </p:spPr>
        <p:txBody>
          <a:bodyPr/>
          <a:lstStyle/>
          <a:p>
            <a:endParaRPr lang="es-ES"/>
          </a:p>
        </p:txBody>
      </p:sp>
      <p:sp>
        <p:nvSpPr>
          <p:cNvPr id="122" name="Text 120"/>
          <p:cNvSpPr/>
          <p:nvPr/>
        </p:nvSpPr>
        <p:spPr>
          <a:xfrm>
            <a:off x="11553444" y="1327099"/>
            <a:ext cx="498348" cy="334975"/>
          </a:xfrm>
          <a:prstGeom prst="rect">
            <a:avLst/>
          </a:prstGeom>
          <a:noFill/>
          <a:ln/>
        </p:spPr>
        <p:txBody>
          <a:bodyPr wrap="square" lIns="6350" tIns="6350" rIns="6350" bIns="6350" rtlCol="0" anchor="ctr"/>
          <a:lstStyle/>
          <a:p>
            <a:pPr marL="0" indent="0" algn="ctr">
              <a:buNone/>
            </a:pPr>
            <a:r>
              <a:rPr lang="en-US" sz="380" dirty="0">
                <a:solidFill>
                  <a:srgbClr val="000000"/>
                </a:solidFill>
              </a:rPr>
              <a:t>Service Mesh</a:t>
            </a:r>
            <a:endParaRPr lang="en-US" sz="380" dirty="0"/>
          </a:p>
        </p:txBody>
      </p:sp>
      <p:sp>
        <p:nvSpPr>
          <p:cNvPr id="123" name="Shape 121"/>
          <p:cNvSpPr/>
          <p:nvPr/>
        </p:nvSpPr>
        <p:spPr>
          <a:xfrm>
            <a:off x="11036808" y="2006194"/>
            <a:ext cx="1033272" cy="109728"/>
          </a:xfrm>
          <a:prstGeom prst="rect">
            <a:avLst/>
          </a:prstGeom>
          <a:solidFill>
            <a:srgbClr val="BE82FF"/>
          </a:solidFill>
          <a:ln w="6350">
            <a:solidFill>
              <a:srgbClr val="A100FF"/>
            </a:solidFill>
            <a:prstDash val="solid"/>
          </a:ln>
        </p:spPr>
        <p:txBody>
          <a:bodyPr/>
          <a:lstStyle/>
          <a:p>
            <a:endParaRPr lang="es-ES"/>
          </a:p>
        </p:txBody>
      </p:sp>
      <p:sp>
        <p:nvSpPr>
          <p:cNvPr id="124" name="Text 122"/>
          <p:cNvSpPr/>
          <p:nvPr/>
        </p:nvSpPr>
        <p:spPr>
          <a:xfrm>
            <a:off x="11036808" y="2006194"/>
            <a:ext cx="1033272" cy="109728"/>
          </a:xfrm>
          <a:prstGeom prst="rect">
            <a:avLst/>
          </a:prstGeom>
          <a:noFill/>
          <a:ln/>
        </p:spPr>
        <p:txBody>
          <a:bodyPr wrap="square" lIns="6350" tIns="6350" rIns="6350" bIns="6350" rtlCol="0" anchor="ctr"/>
          <a:lstStyle/>
          <a:p>
            <a:pPr marL="0" indent="0" algn="ctr">
              <a:buNone/>
            </a:pPr>
            <a:r>
              <a:rPr lang="en-US" sz="400" b="1" dirty="0">
                <a:solidFill>
                  <a:srgbClr val="000000"/>
                </a:solidFill>
              </a:rPr>
              <a:t>Plataforma Contenedores</a:t>
            </a:r>
            <a:endParaRPr lang="en-US" sz="400" dirty="0"/>
          </a:p>
        </p:txBody>
      </p:sp>
      <p:sp>
        <p:nvSpPr>
          <p:cNvPr id="125" name="Shape 123"/>
          <p:cNvSpPr/>
          <p:nvPr/>
        </p:nvSpPr>
        <p:spPr>
          <a:xfrm>
            <a:off x="11036808" y="2125066"/>
            <a:ext cx="498348" cy="504749"/>
          </a:xfrm>
          <a:prstGeom prst="rect">
            <a:avLst/>
          </a:prstGeom>
          <a:solidFill>
            <a:srgbClr val="FFFFFF"/>
          </a:solidFill>
          <a:ln w="3810">
            <a:solidFill>
              <a:srgbClr val="BE82FF"/>
            </a:solidFill>
            <a:prstDash val="solid"/>
          </a:ln>
        </p:spPr>
        <p:txBody>
          <a:bodyPr/>
          <a:lstStyle/>
          <a:p>
            <a:endParaRPr lang="es-ES"/>
          </a:p>
        </p:txBody>
      </p:sp>
      <p:sp>
        <p:nvSpPr>
          <p:cNvPr id="126" name="Text 124"/>
          <p:cNvSpPr/>
          <p:nvPr/>
        </p:nvSpPr>
        <p:spPr>
          <a:xfrm>
            <a:off x="11036808" y="2125066"/>
            <a:ext cx="498348" cy="504749"/>
          </a:xfrm>
          <a:prstGeom prst="rect">
            <a:avLst/>
          </a:prstGeom>
          <a:noFill/>
          <a:ln/>
        </p:spPr>
        <p:txBody>
          <a:bodyPr wrap="square" lIns="6350" tIns="6350" rIns="6350" bIns="6350" rtlCol="0" anchor="ctr"/>
          <a:lstStyle/>
          <a:p>
            <a:pPr marL="0" indent="0" algn="ctr">
              <a:buNone/>
            </a:pPr>
            <a:r>
              <a:rPr lang="en-US" sz="380" dirty="0">
                <a:solidFill>
                  <a:srgbClr val="000000"/>
                </a:solidFill>
              </a:rPr>
              <a:t>Orquestación Contenedores</a:t>
            </a:r>
            <a:endParaRPr lang="en-US" sz="380" dirty="0"/>
          </a:p>
        </p:txBody>
      </p:sp>
      <p:sp>
        <p:nvSpPr>
          <p:cNvPr id="127" name="Shape 125"/>
          <p:cNvSpPr/>
          <p:nvPr/>
        </p:nvSpPr>
        <p:spPr>
          <a:xfrm>
            <a:off x="11036808" y="2634386"/>
            <a:ext cx="498348" cy="504749"/>
          </a:xfrm>
          <a:prstGeom prst="rect">
            <a:avLst/>
          </a:prstGeom>
          <a:solidFill>
            <a:srgbClr val="FFFFFF"/>
          </a:solidFill>
          <a:ln w="3810">
            <a:solidFill>
              <a:srgbClr val="BE82FF"/>
            </a:solidFill>
            <a:prstDash val="solid"/>
          </a:ln>
        </p:spPr>
        <p:txBody>
          <a:bodyPr/>
          <a:lstStyle/>
          <a:p>
            <a:endParaRPr lang="es-ES"/>
          </a:p>
        </p:txBody>
      </p:sp>
      <p:sp>
        <p:nvSpPr>
          <p:cNvPr id="128" name="Text 126"/>
          <p:cNvSpPr/>
          <p:nvPr/>
        </p:nvSpPr>
        <p:spPr>
          <a:xfrm>
            <a:off x="11036808" y="2634386"/>
            <a:ext cx="498348" cy="504749"/>
          </a:xfrm>
          <a:prstGeom prst="rect">
            <a:avLst/>
          </a:prstGeom>
          <a:noFill/>
          <a:ln/>
        </p:spPr>
        <p:txBody>
          <a:bodyPr wrap="square" lIns="6350" tIns="6350" rIns="6350" bIns="6350" rtlCol="0" anchor="ctr"/>
          <a:lstStyle/>
          <a:p>
            <a:pPr marL="0" indent="0" algn="ctr">
              <a:buNone/>
            </a:pPr>
            <a:r>
              <a:rPr lang="en-US" sz="380" dirty="0">
                <a:solidFill>
                  <a:srgbClr val="000000"/>
                </a:solidFill>
              </a:rPr>
              <a:t>Runtime Serverless</a:t>
            </a:r>
            <a:endParaRPr lang="en-US" sz="380" dirty="0"/>
          </a:p>
        </p:txBody>
      </p:sp>
      <p:sp>
        <p:nvSpPr>
          <p:cNvPr id="129" name="Shape 127"/>
          <p:cNvSpPr/>
          <p:nvPr/>
        </p:nvSpPr>
        <p:spPr>
          <a:xfrm>
            <a:off x="11553444" y="2125066"/>
            <a:ext cx="498348" cy="504749"/>
          </a:xfrm>
          <a:prstGeom prst="rect">
            <a:avLst/>
          </a:prstGeom>
          <a:solidFill>
            <a:srgbClr val="FFFFFF"/>
          </a:solidFill>
          <a:ln w="3810">
            <a:solidFill>
              <a:srgbClr val="BE82FF"/>
            </a:solidFill>
            <a:prstDash val="solid"/>
          </a:ln>
        </p:spPr>
        <p:txBody>
          <a:bodyPr/>
          <a:lstStyle/>
          <a:p>
            <a:endParaRPr lang="es-ES"/>
          </a:p>
        </p:txBody>
      </p:sp>
      <p:sp>
        <p:nvSpPr>
          <p:cNvPr id="130" name="Text 128"/>
          <p:cNvSpPr/>
          <p:nvPr/>
        </p:nvSpPr>
        <p:spPr>
          <a:xfrm>
            <a:off x="11553444" y="2125066"/>
            <a:ext cx="498348" cy="504749"/>
          </a:xfrm>
          <a:prstGeom prst="rect">
            <a:avLst/>
          </a:prstGeom>
          <a:noFill/>
          <a:ln/>
        </p:spPr>
        <p:txBody>
          <a:bodyPr wrap="square" lIns="6350" tIns="6350" rIns="6350" bIns="6350" rtlCol="0" anchor="ctr"/>
          <a:lstStyle/>
          <a:p>
            <a:pPr marL="0" indent="0" algn="ctr">
              <a:buNone/>
            </a:pPr>
            <a:r>
              <a:rPr lang="en-US" sz="380" dirty="0">
                <a:solidFill>
                  <a:srgbClr val="000000"/>
                </a:solidFill>
              </a:rPr>
              <a:t>Imágenes y Artefactos</a:t>
            </a:r>
            <a:endParaRPr lang="en-US" sz="380" dirty="0"/>
          </a:p>
        </p:txBody>
      </p:sp>
      <p:sp>
        <p:nvSpPr>
          <p:cNvPr id="131" name="Shape 129"/>
          <p:cNvSpPr/>
          <p:nvPr/>
        </p:nvSpPr>
        <p:spPr>
          <a:xfrm>
            <a:off x="11036808" y="3143707"/>
            <a:ext cx="1033272" cy="109728"/>
          </a:xfrm>
          <a:prstGeom prst="rect">
            <a:avLst/>
          </a:prstGeom>
          <a:solidFill>
            <a:srgbClr val="BE82FF"/>
          </a:solidFill>
          <a:ln w="6350">
            <a:solidFill>
              <a:srgbClr val="A100FF"/>
            </a:solidFill>
            <a:prstDash val="solid"/>
          </a:ln>
        </p:spPr>
        <p:txBody>
          <a:bodyPr/>
          <a:lstStyle/>
          <a:p>
            <a:endParaRPr lang="es-ES"/>
          </a:p>
        </p:txBody>
      </p:sp>
      <p:sp>
        <p:nvSpPr>
          <p:cNvPr id="132" name="Text 130"/>
          <p:cNvSpPr/>
          <p:nvPr/>
        </p:nvSpPr>
        <p:spPr>
          <a:xfrm>
            <a:off x="11036808" y="3143707"/>
            <a:ext cx="1033272" cy="109728"/>
          </a:xfrm>
          <a:prstGeom prst="rect">
            <a:avLst/>
          </a:prstGeom>
          <a:noFill/>
          <a:ln/>
        </p:spPr>
        <p:txBody>
          <a:bodyPr wrap="square" lIns="6350" tIns="6350" rIns="6350" bIns="6350" rtlCol="0" anchor="ctr"/>
          <a:lstStyle/>
          <a:p>
            <a:pPr marL="0" indent="0" algn="ctr">
              <a:buNone/>
            </a:pPr>
            <a:r>
              <a:rPr lang="en-US" sz="400" b="1" dirty="0">
                <a:solidFill>
                  <a:srgbClr val="000000"/>
                </a:solidFill>
              </a:rPr>
              <a:t>Config.Plataforma</a:t>
            </a:r>
            <a:endParaRPr lang="en-US" sz="400" dirty="0"/>
          </a:p>
        </p:txBody>
      </p:sp>
      <p:sp>
        <p:nvSpPr>
          <p:cNvPr id="133" name="Shape 131"/>
          <p:cNvSpPr/>
          <p:nvPr/>
        </p:nvSpPr>
        <p:spPr>
          <a:xfrm>
            <a:off x="11036808" y="3262579"/>
            <a:ext cx="498348" cy="504749"/>
          </a:xfrm>
          <a:prstGeom prst="rect">
            <a:avLst/>
          </a:prstGeom>
          <a:solidFill>
            <a:srgbClr val="FFFFFF"/>
          </a:solidFill>
          <a:ln w="3810">
            <a:solidFill>
              <a:srgbClr val="BE82FF"/>
            </a:solidFill>
            <a:prstDash val="solid"/>
          </a:ln>
        </p:spPr>
        <p:txBody>
          <a:bodyPr/>
          <a:lstStyle/>
          <a:p>
            <a:endParaRPr lang="es-ES"/>
          </a:p>
        </p:txBody>
      </p:sp>
      <p:sp>
        <p:nvSpPr>
          <p:cNvPr id="134" name="Text 132"/>
          <p:cNvSpPr/>
          <p:nvPr/>
        </p:nvSpPr>
        <p:spPr>
          <a:xfrm>
            <a:off x="11036808" y="3262579"/>
            <a:ext cx="498348" cy="504749"/>
          </a:xfrm>
          <a:prstGeom prst="rect">
            <a:avLst/>
          </a:prstGeom>
          <a:noFill/>
          <a:ln/>
        </p:spPr>
        <p:txBody>
          <a:bodyPr wrap="square" lIns="6350" tIns="6350" rIns="6350" bIns="6350" rtlCol="0" anchor="ctr"/>
          <a:lstStyle/>
          <a:p>
            <a:pPr marL="0" indent="0" algn="ctr">
              <a:buNone/>
            </a:pPr>
            <a:r>
              <a:rPr lang="en-US" sz="380" dirty="0">
                <a:solidFill>
                  <a:srgbClr val="000000"/>
                </a:solidFill>
              </a:rPr>
              <a:t>Aprovisionam.Infraestr.</a:t>
            </a:r>
            <a:endParaRPr lang="en-US" sz="380" dirty="0"/>
          </a:p>
        </p:txBody>
      </p:sp>
      <p:sp>
        <p:nvSpPr>
          <p:cNvPr id="135" name="Shape 133"/>
          <p:cNvSpPr/>
          <p:nvPr/>
        </p:nvSpPr>
        <p:spPr>
          <a:xfrm>
            <a:off x="11036808" y="3771900"/>
            <a:ext cx="498348" cy="504749"/>
          </a:xfrm>
          <a:prstGeom prst="rect">
            <a:avLst/>
          </a:prstGeom>
          <a:solidFill>
            <a:srgbClr val="FFFFFF"/>
          </a:solidFill>
          <a:ln w="3810">
            <a:solidFill>
              <a:srgbClr val="BE82FF"/>
            </a:solidFill>
            <a:prstDash val="solid"/>
          </a:ln>
        </p:spPr>
        <p:txBody>
          <a:bodyPr/>
          <a:lstStyle/>
          <a:p>
            <a:endParaRPr lang="es-ES"/>
          </a:p>
        </p:txBody>
      </p:sp>
      <p:sp>
        <p:nvSpPr>
          <p:cNvPr id="136" name="Text 134"/>
          <p:cNvSpPr/>
          <p:nvPr/>
        </p:nvSpPr>
        <p:spPr>
          <a:xfrm>
            <a:off x="11036808" y="3771900"/>
            <a:ext cx="498348" cy="504749"/>
          </a:xfrm>
          <a:prstGeom prst="rect">
            <a:avLst/>
          </a:prstGeom>
          <a:noFill/>
          <a:ln/>
        </p:spPr>
        <p:txBody>
          <a:bodyPr wrap="square" lIns="6350" tIns="6350" rIns="6350" bIns="6350" rtlCol="0" anchor="ctr"/>
          <a:lstStyle/>
          <a:p>
            <a:pPr marL="0" indent="0" algn="ctr">
              <a:buNone/>
            </a:pPr>
            <a:r>
              <a:rPr lang="en-US" sz="380" dirty="0">
                <a:solidFill>
                  <a:srgbClr val="000000"/>
                </a:solidFill>
              </a:rPr>
              <a:t>Gestión Configuración</a:t>
            </a:r>
            <a:endParaRPr lang="en-US" sz="380" dirty="0"/>
          </a:p>
        </p:txBody>
      </p:sp>
      <p:sp>
        <p:nvSpPr>
          <p:cNvPr id="137" name="Shape 135"/>
          <p:cNvSpPr/>
          <p:nvPr/>
        </p:nvSpPr>
        <p:spPr>
          <a:xfrm>
            <a:off x="11553444" y="3262579"/>
            <a:ext cx="498348" cy="504749"/>
          </a:xfrm>
          <a:prstGeom prst="rect">
            <a:avLst/>
          </a:prstGeom>
          <a:solidFill>
            <a:srgbClr val="FFFFFF"/>
          </a:solidFill>
          <a:ln w="3810">
            <a:solidFill>
              <a:srgbClr val="BE82FF"/>
            </a:solidFill>
            <a:prstDash val="solid"/>
          </a:ln>
        </p:spPr>
        <p:txBody>
          <a:bodyPr/>
          <a:lstStyle/>
          <a:p>
            <a:endParaRPr lang="es-ES"/>
          </a:p>
        </p:txBody>
      </p:sp>
      <p:sp>
        <p:nvSpPr>
          <p:cNvPr id="138" name="Text 136"/>
          <p:cNvSpPr/>
          <p:nvPr/>
        </p:nvSpPr>
        <p:spPr>
          <a:xfrm>
            <a:off x="11553444" y="3262579"/>
            <a:ext cx="498348" cy="504749"/>
          </a:xfrm>
          <a:prstGeom prst="rect">
            <a:avLst/>
          </a:prstGeom>
          <a:noFill/>
          <a:ln/>
        </p:spPr>
        <p:txBody>
          <a:bodyPr wrap="square" lIns="6350" tIns="6350" rIns="6350" bIns="6350" rtlCol="0" anchor="ctr"/>
          <a:lstStyle/>
          <a:p>
            <a:pPr marL="0" indent="0" algn="ctr">
              <a:buNone/>
            </a:pPr>
            <a:r>
              <a:rPr lang="en-US" sz="380" dirty="0">
                <a:solidFill>
                  <a:srgbClr val="000000"/>
                </a:solidFill>
              </a:rPr>
              <a:t>Gestión Entornos</a:t>
            </a:r>
            <a:endParaRPr lang="en-US" sz="380" dirty="0"/>
          </a:p>
        </p:txBody>
      </p:sp>
      <p:sp>
        <p:nvSpPr>
          <p:cNvPr id="139" name="Shape 137"/>
          <p:cNvSpPr/>
          <p:nvPr/>
        </p:nvSpPr>
        <p:spPr>
          <a:xfrm>
            <a:off x="11036808" y="4281221"/>
            <a:ext cx="1033272" cy="109728"/>
          </a:xfrm>
          <a:prstGeom prst="rect">
            <a:avLst/>
          </a:prstGeom>
          <a:solidFill>
            <a:srgbClr val="BE82FF"/>
          </a:solidFill>
          <a:ln w="6350">
            <a:solidFill>
              <a:srgbClr val="A100FF"/>
            </a:solidFill>
            <a:prstDash val="solid"/>
          </a:ln>
        </p:spPr>
        <p:txBody>
          <a:bodyPr/>
          <a:lstStyle/>
          <a:p>
            <a:endParaRPr lang="es-ES"/>
          </a:p>
        </p:txBody>
      </p:sp>
      <p:sp>
        <p:nvSpPr>
          <p:cNvPr id="140" name="Text 138"/>
          <p:cNvSpPr/>
          <p:nvPr/>
        </p:nvSpPr>
        <p:spPr>
          <a:xfrm>
            <a:off x="11036808" y="4281221"/>
            <a:ext cx="1033272" cy="109728"/>
          </a:xfrm>
          <a:prstGeom prst="rect">
            <a:avLst/>
          </a:prstGeom>
          <a:noFill/>
          <a:ln/>
        </p:spPr>
        <p:txBody>
          <a:bodyPr wrap="square" lIns="6350" tIns="6350" rIns="6350" bIns="6350" rtlCol="0" anchor="ctr"/>
          <a:lstStyle/>
          <a:p>
            <a:pPr marL="0" indent="0" algn="ctr">
              <a:buNone/>
            </a:pPr>
            <a:r>
              <a:rPr lang="en-US" sz="400" b="1" dirty="0">
                <a:solidFill>
                  <a:srgbClr val="000000"/>
                </a:solidFill>
              </a:rPr>
              <a:t>Despliegue &amp; Releases</a:t>
            </a:r>
            <a:endParaRPr lang="en-US" sz="400" dirty="0"/>
          </a:p>
        </p:txBody>
      </p:sp>
      <p:sp>
        <p:nvSpPr>
          <p:cNvPr id="141" name="Shape 139"/>
          <p:cNvSpPr/>
          <p:nvPr/>
        </p:nvSpPr>
        <p:spPr>
          <a:xfrm>
            <a:off x="11036808" y="4400093"/>
            <a:ext cx="498348" cy="1014070"/>
          </a:xfrm>
          <a:prstGeom prst="rect">
            <a:avLst/>
          </a:prstGeom>
          <a:solidFill>
            <a:srgbClr val="FFFFFF"/>
          </a:solidFill>
          <a:ln w="3810">
            <a:solidFill>
              <a:srgbClr val="BE82FF"/>
            </a:solidFill>
            <a:prstDash val="solid"/>
          </a:ln>
        </p:spPr>
        <p:txBody>
          <a:bodyPr/>
          <a:lstStyle/>
          <a:p>
            <a:endParaRPr lang="es-ES"/>
          </a:p>
        </p:txBody>
      </p:sp>
      <p:sp>
        <p:nvSpPr>
          <p:cNvPr id="142" name="Text 140"/>
          <p:cNvSpPr/>
          <p:nvPr/>
        </p:nvSpPr>
        <p:spPr>
          <a:xfrm>
            <a:off x="11036808" y="4400093"/>
            <a:ext cx="498348" cy="1014070"/>
          </a:xfrm>
          <a:prstGeom prst="rect">
            <a:avLst/>
          </a:prstGeom>
          <a:noFill/>
          <a:ln/>
        </p:spPr>
        <p:txBody>
          <a:bodyPr wrap="square" lIns="6350" tIns="6350" rIns="6350" bIns="6350" rtlCol="0" anchor="ctr"/>
          <a:lstStyle/>
          <a:p>
            <a:pPr marL="0" indent="0" algn="ctr">
              <a:buNone/>
            </a:pPr>
            <a:r>
              <a:rPr lang="en-US" sz="380" dirty="0">
                <a:solidFill>
                  <a:srgbClr val="000000"/>
                </a:solidFill>
              </a:rPr>
              <a:t>Estrategias Despliegue</a:t>
            </a:r>
            <a:endParaRPr lang="en-US" sz="380" dirty="0"/>
          </a:p>
        </p:txBody>
      </p:sp>
      <p:sp>
        <p:nvSpPr>
          <p:cNvPr id="143" name="Shape 141"/>
          <p:cNvSpPr/>
          <p:nvPr/>
        </p:nvSpPr>
        <p:spPr>
          <a:xfrm>
            <a:off x="11553444" y="4400093"/>
            <a:ext cx="498348" cy="1014070"/>
          </a:xfrm>
          <a:prstGeom prst="rect">
            <a:avLst/>
          </a:prstGeom>
          <a:solidFill>
            <a:srgbClr val="FFFFFF"/>
          </a:solidFill>
          <a:ln w="3810">
            <a:solidFill>
              <a:srgbClr val="BE82FF"/>
            </a:solidFill>
            <a:prstDash val="solid"/>
          </a:ln>
        </p:spPr>
        <p:txBody>
          <a:bodyPr/>
          <a:lstStyle/>
          <a:p>
            <a:endParaRPr lang="es-ES"/>
          </a:p>
        </p:txBody>
      </p:sp>
      <p:sp>
        <p:nvSpPr>
          <p:cNvPr id="144" name="Text 142"/>
          <p:cNvSpPr/>
          <p:nvPr/>
        </p:nvSpPr>
        <p:spPr>
          <a:xfrm>
            <a:off x="11553444" y="4400093"/>
            <a:ext cx="498348" cy="1014070"/>
          </a:xfrm>
          <a:prstGeom prst="rect">
            <a:avLst/>
          </a:prstGeom>
          <a:noFill/>
          <a:ln/>
        </p:spPr>
        <p:txBody>
          <a:bodyPr wrap="square" lIns="6350" tIns="6350" rIns="6350" bIns="6350" rtlCol="0" anchor="ctr"/>
          <a:lstStyle/>
          <a:p>
            <a:pPr marL="0" indent="0" algn="ctr">
              <a:buNone/>
            </a:pPr>
            <a:r>
              <a:rPr lang="en-US" sz="380" dirty="0">
                <a:solidFill>
                  <a:srgbClr val="000000"/>
                </a:solidFill>
              </a:rPr>
              <a:t>Pruebas Automatizadas</a:t>
            </a:r>
            <a:endParaRPr lang="en-US" sz="380" dirty="0"/>
          </a:p>
        </p:txBody>
      </p:sp>
      <p:sp>
        <p:nvSpPr>
          <p:cNvPr id="145" name="Shape 143"/>
          <p:cNvSpPr/>
          <p:nvPr/>
        </p:nvSpPr>
        <p:spPr>
          <a:xfrm>
            <a:off x="11036808" y="5418734"/>
            <a:ext cx="1033272" cy="109728"/>
          </a:xfrm>
          <a:prstGeom prst="rect">
            <a:avLst/>
          </a:prstGeom>
          <a:solidFill>
            <a:srgbClr val="BE82FF"/>
          </a:solidFill>
          <a:ln w="6350">
            <a:solidFill>
              <a:srgbClr val="A100FF"/>
            </a:solidFill>
            <a:prstDash val="solid"/>
          </a:ln>
        </p:spPr>
        <p:txBody>
          <a:bodyPr/>
          <a:lstStyle/>
          <a:p>
            <a:endParaRPr lang="es-ES"/>
          </a:p>
        </p:txBody>
      </p:sp>
      <p:sp>
        <p:nvSpPr>
          <p:cNvPr id="146" name="Text 144"/>
          <p:cNvSpPr/>
          <p:nvPr/>
        </p:nvSpPr>
        <p:spPr>
          <a:xfrm>
            <a:off x="11036808" y="5418734"/>
            <a:ext cx="1033272" cy="109728"/>
          </a:xfrm>
          <a:prstGeom prst="rect">
            <a:avLst/>
          </a:prstGeom>
          <a:noFill/>
          <a:ln/>
        </p:spPr>
        <p:txBody>
          <a:bodyPr wrap="square" lIns="6350" tIns="6350" rIns="6350" bIns="6350" rtlCol="0" anchor="ctr"/>
          <a:lstStyle/>
          <a:p>
            <a:pPr marL="0" indent="0" algn="ctr">
              <a:buNone/>
            </a:pPr>
            <a:r>
              <a:rPr lang="en-US" sz="400" b="1" dirty="0">
                <a:solidFill>
                  <a:srgbClr val="000000"/>
                </a:solidFill>
              </a:rPr>
              <a:t>Resiliencia Infraestr.</a:t>
            </a:r>
            <a:endParaRPr lang="en-US" sz="400" dirty="0"/>
          </a:p>
        </p:txBody>
      </p:sp>
      <p:sp>
        <p:nvSpPr>
          <p:cNvPr id="147" name="Shape 145"/>
          <p:cNvSpPr/>
          <p:nvPr/>
        </p:nvSpPr>
        <p:spPr>
          <a:xfrm>
            <a:off x="11036808" y="5537606"/>
            <a:ext cx="498348" cy="504749"/>
          </a:xfrm>
          <a:prstGeom prst="rect">
            <a:avLst/>
          </a:prstGeom>
          <a:solidFill>
            <a:srgbClr val="FFFFFF"/>
          </a:solidFill>
          <a:ln w="3810">
            <a:solidFill>
              <a:srgbClr val="BE82FF"/>
            </a:solidFill>
            <a:prstDash val="solid"/>
          </a:ln>
        </p:spPr>
        <p:txBody>
          <a:bodyPr/>
          <a:lstStyle/>
          <a:p>
            <a:endParaRPr lang="es-ES"/>
          </a:p>
        </p:txBody>
      </p:sp>
      <p:sp>
        <p:nvSpPr>
          <p:cNvPr id="148" name="Text 146"/>
          <p:cNvSpPr/>
          <p:nvPr/>
        </p:nvSpPr>
        <p:spPr>
          <a:xfrm>
            <a:off x="11036808" y="5537606"/>
            <a:ext cx="498348" cy="504749"/>
          </a:xfrm>
          <a:prstGeom prst="rect">
            <a:avLst/>
          </a:prstGeom>
          <a:noFill/>
          <a:ln/>
        </p:spPr>
        <p:txBody>
          <a:bodyPr wrap="square" lIns="6350" tIns="6350" rIns="6350" bIns="6350" rtlCol="0" anchor="ctr"/>
          <a:lstStyle/>
          <a:p>
            <a:pPr marL="0" indent="0" algn="ctr">
              <a:buNone/>
            </a:pPr>
            <a:r>
              <a:rPr lang="en-US" sz="380" dirty="0">
                <a:solidFill>
                  <a:srgbClr val="000000"/>
                </a:solidFill>
              </a:rPr>
              <a:t>Alta Disponibilidad</a:t>
            </a:r>
            <a:endParaRPr lang="en-US" sz="380" dirty="0"/>
          </a:p>
        </p:txBody>
      </p:sp>
      <p:sp>
        <p:nvSpPr>
          <p:cNvPr id="149" name="Shape 147"/>
          <p:cNvSpPr/>
          <p:nvPr/>
        </p:nvSpPr>
        <p:spPr>
          <a:xfrm>
            <a:off x="11036808" y="6046927"/>
            <a:ext cx="498348" cy="504749"/>
          </a:xfrm>
          <a:prstGeom prst="rect">
            <a:avLst/>
          </a:prstGeom>
          <a:solidFill>
            <a:srgbClr val="FFFFFF"/>
          </a:solidFill>
          <a:ln w="3810">
            <a:solidFill>
              <a:srgbClr val="BE82FF"/>
            </a:solidFill>
            <a:prstDash val="solid"/>
          </a:ln>
        </p:spPr>
        <p:txBody>
          <a:bodyPr/>
          <a:lstStyle/>
          <a:p>
            <a:endParaRPr lang="es-ES"/>
          </a:p>
        </p:txBody>
      </p:sp>
      <p:sp>
        <p:nvSpPr>
          <p:cNvPr id="150" name="Text 148"/>
          <p:cNvSpPr/>
          <p:nvPr/>
        </p:nvSpPr>
        <p:spPr>
          <a:xfrm>
            <a:off x="11036808" y="6046927"/>
            <a:ext cx="498348" cy="504749"/>
          </a:xfrm>
          <a:prstGeom prst="rect">
            <a:avLst/>
          </a:prstGeom>
          <a:noFill/>
          <a:ln/>
        </p:spPr>
        <p:txBody>
          <a:bodyPr wrap="square" lIns="6350" tIns="6350" rIns="6350" bIns="6350" rtlCol="0" anchor="ctr"/>
          <a:lstStyle/>
          <a:p>
            <a:pPr marL="0" indent="0" algn="ctr">
              <a:buNone/>
            </a:pPr>
            <a:r>
              <a:rPr lang="en-US" sz="380" dirty="0">
                <a:solidFill>
                  <a:srgbClr val="000000"/>
                </a:solidFill>
              </a:rPr>
              <a:t>Pruebas Resiliencia</a:t>
            </a:r>
            <a:endParaRPr lang="en-US" sz="380" dirty="0"/>
          </a:p>
        </p:txBody>
      </p:sp>
      <p:sp>
        <p:nvSpPr>
          <p:cNvPr id="151" name="Shape 149"/>
          <p:cNvSpPr/>
          <p:nvPr/>
        </p:nvSpPr>
        <p:spPr>
          <a:xfrm>
            <a:off x="11553444" y="5537606"/>
            <a:ext cx="498348" cy="504749"/>
          </a:xfrm>
          <a:prstGeom prst="rect">
            <a:avLst/>
          </a:prstGeom>
          <a:solidFill>
            <a:srgbClr val="FFFFFF"/>
          </a:solidFill>
          <a:ln w="3810">
            <a:solidFill>
              <a:srgbClr val="BE82FF"/>
            </a:solidFill>
            <a:prstDash val="solid"/>
          </a:ln>
        </p:spPr>
        <p:txBody>
          <a:bodyPr/>
          <a:lstStyle/>
          <a:p>
            <a:endParaRPr lang="es-ES"/>
          </a:p>
        </p:txBody>
      </p:sp>
      <p:sp>
        <p:nvSpPr>
          <p:cNvPr id="152" name="Text 150"/>
          <p:cNvSpPr/>
          <p:nvPr/>
        </p:nvSpPr>
        <p:spPr>
          <a:xfrm>
            <a:off x="11553444" y="5537606"/>
            <a:ext cx="498348" cy="504749"/>
          </a:xfrm>
          <a:prstGeom prst="rect">
            <a:avLst/>
          </a:prstGeom>
          <a:noFill/>
          <a:ln/>
        </p:spPr>
        <p:txBody>
          <a:bodyPr wrap="square" lIns="6350" tIns="6350" rIns="6350" bIns="6350" rtlCol="0" anchor="ctr"/>
          <a:lstStyle/>
          <a:p>
            <a:pPr marL="0" indent="0" algn="ctr">
              <a:buNone/>
            </a:pPr>
            <a:r>
              <a:rPr lang="en-US" sz="380" dirty="0">
                <a:solidFill>
                  <a:srgbClr val="000000"/>
                </a:solidFill>
              </a:rPr>
              <a:t>Servicios Recuperación</a:t>
            </a:r>
            <a:endParaRPr lang="en-US" sz="380" dirty="0"/>
          </a:p>
        </p:txBody>
      </p:sp>
      <p:sp>
        <p:nvSpPr>
          <p:cNvPr id="153" name="Shape 151"/>
          <p:cNvSpPr/>
          <p:nvPr/>
        </p:nvSpPr>
        <p:spPr>
          <a:xfrm>
            <a:off x="1152144" y="685800"/>
            <a:ext cx="5121006" cy="603504"/>
          </a:xfrm>
          <a:prstGeom prst="rect">
            <a:avLst/>
          </a:prstGeom>
          <a:solidFill>
            <a:srgbClr val="EDE5FF"/>
          </a:solidFill>
          <a:ln w="12700">
            <a:solidFill>
              <a:srgbClr val="A100FF"/>
            </a:solidFill>
            <a:prstDash val="solid"/>
          </a:ln>
        </p:spPr>
        <p:txBody>
          <a:bodyPr/>
          <a:lstStyle/>
          <a:p>
            <a:endParaRPr lang="es-ES"/>
          </a:p>
        </p:txBody>
      </p:sp>
      <p:sp>
        <p:nvSpPr>
          <p:cNvPr id="154" name="Shape 152"/>
          <p:cNvSpPr/>
          <p:nvPr/>
        </p:nvSpPr>
        <p:spPr>
          <a:xfrm>
            <a:off x="1161288" y="694944"/>
            <a:ext cx="146304" cy="146304"/>
          </a:xfrm>
          <a:prstGeom prst="ellipse">
            <a:avLst/>
          </a:prstGeom>
          <a:solidFill>
            <a:srgbClr val="C00000"/>
          </a:solidFill>
          <a:ln w="12700">
            <a:solidFill>
              <a:srgbClr val="C00000"/>
            </a:solidFill>
            <a:prstDash val="solid"/>
          </a:ln>
        </p:spPr>
        <p:txBody>
          <a:bodyPr/>
          <a:lstStyle/>
          <a:p>
            <a:endParaRPr lang="es-ES"/>
          </a:p>
        </p:txBody>
      </p:sp>
      <p:sp>
        <p:nvSpPr>
          <p:cNvPr id="155" name="Text 153"/>
          <p:cNvSpPr/>
          <p:nvPr/>
        </p:nvSpPr>
        <p:spPr>
          <a:xfrm>
            <a:off x="1161288" y="694944"/>
            <a:ext cx="146304" cy="146304"/>
          </a:xfrm>
          <a:prstGeom prst="rect">
            <a:avLst/>
          </a:prstGeom>
          <a:noFill/>
          <a:ln/>
        </p:spPr>
        <p:txBody>
          <a:bodyPr wrap="square" lIns="0" tIns="0" rIns="0" bIns="0" rtlCol="0" anchor="ctr"/>
          <a:lstStyle/>
          <a:p>
            <a:pPr marL="0" indent="0" algn="ctr">
              <a:buNone/>
            </a:pPr>
            <a:r>
              <a:rPr lang="en-US" sz="650" b="1" dirty="0">
                <a:solidFill>
                  <a:srgbClr val="FFFFFF"/>
                </a:solidFill>
              </a:rPr>
              <a:t>K</a:t>
            </a:r>
            <a:endParaRPr lang="en-US" sz="650" dirty="0"/>
          </a:p>
        </p:txBody>
      </p:sp>
      <p:sp>
        <p:nvSpPr>
          <p:cNvPr id="156" name="Shape 154"/>
          <p:cNvSpPr/>
          <p:nvPr/>
        </p:nvSpPr>
        <p:spPr>
          <a:xfrm>
            <a:off x="1325880" y="685800"/>
            <a:ext cx="4947270" cy="155448"/>
          </a:xfrm>
          <a:prstGeom prst="rect">
            <a:avLst/>
          </a:prstGeom>
          <a:solidFill>
            <a:srgbClr val="A100FF"/>
          </a:solidFill>
          <a:ln w="12700">
            <a:solidFill>
              <a:srgbClr val="A100FF"/>
            </a:solidFill>
            <a:prstDash val="solid"/>
          </a:ln>
        </p:spPr>
        <p:txBody>
          <a:bodyPr/>
          <a:lstStyle/>
          <a:p>
            <a:endParaRPr lang="es-ES"/>
          </a:p>
        </p:txBody>
      </p:sp>
      <p:sp>
        <p:nvSpPr>
          <p:cNvPr id="157" name="Text 155"/>
          <p:cNvSpPr/>
          <p:nvPr/>
        </p:nvSpPr>
        <p:spPr>
          <a:xfrm>
            <a:off x="1344168" y="685800"/>
            <a:ext cx="4910694" cy="155448"/>
          </a:xfrm>
          <a:prstGeom prst="rect">
            <a:avLst/>
          </a:prstGeom>
          <a:noFill/>
          <a:ln/>
        </p:spPr>
        <p:txBody>
          <a:bodyPr wrap="square" lIns="0" tIns="0" rIns="0" bIns="0" rtlCol="0" anchor="ctr"/>
          <a:lstStyle/>
          <a:p>
            <a:pPr marL="0" indent="0" algn="ctr">
              <a:buNone/>
            </a:pPr>
            <a:r>
              <a:rPr lang="en-US" sz="500" b="1" dirty="0">
                <a:solidFill>
                  <a:srgbClr val="FFFFFF"/>
                </a:solidFill>
              </a:rPr>
              <a:t>Servicios de Gateway</a:t>
            </a:r>
            <a:endParaRPr lang="en-US" sz="500" dirty="0"/>
          </a:p>
        </p:txBody>
      </p:sp>
      <p:sp>
        <p:nvSpPr>
          <p:cNvPr id="158" name="Text 156"/>
          <p:cNvSpPr/>
          <p:nvPr/>
        </p:nvSpPr>
        <p:spPr>
          <a:xfrm>
            <a:off x="1170432" y="859536"/>
            <a:ext cx="182880" cy="205740"/>
          </a:xfrm>
          <a:prstGeom prst="rect">
            <a:avLst/>
          </a:prstGeom>
          <a:noFill/>
          <a:ln/>
        </p:spPr>
        <p:txBody>
          <a:bodyPr wrap="square" rtlCol="0" anchor="ctr"/>
          <a:lstStyle/>
          <a:p>
            <a:pPr marL="0" indent="0" algn="ctr">
              <a:buNone/>
            </a:pPr>
            <a:r>
              <a:rPr lang="en-US" sz="380" b="1" dirty="0">
                <a:solidFill>
                  <a:srgbClr val="7500C0"/>
                </a:solidFill>
              </a:rPr>
              <a:t>Outbound</a:t>
            </a:r>
            <a:endParaRPr lang="en-US" sz="380" dirty="0"/>
          </a:p>
        </p:txBody>
      </p:sp>
      <p:sp>
        <p:nvSpPr>
          <p:cNvPr id="159" name="Shape 157"/>
          <p:cNvSpPr/>
          <p:nvPr/>
        </p:nvSpPr>
        <p:spPr>
          <a:xfrm>
            <a:off x="1371600" y="868680"/>
            <a:ext cx="1211671" cy="187452"/>
          </a:xfrm>
          <a:prstGeom prst="rect">
            <a:avLst/>
          </a:prstGeom>
          <a:solidFill>
            <a:srgbClr val="F3ECFF"/>
          </a:solidFill>
          <a:ln w="6350">
            <a:solidFill>
              <a:srgbClr val="BE82FF"/>
            </a:solidFill>
            <a:prstDash val="solid"/>
          </a:ln>
        </p:spPr>
        <p:txBody>
          <a:bodyPr/>
          <a:lstStyle/>
          <a:p>
            <a:endParaRPr lang="es-ES"/>
          </a:p>
        </p:txBody>
      </p:sp>
      <p:sp>
        <p:nvSpPr>
          <p:cNvPr id="160" name="Text 158"/>
          <p:cNvSpPr/>
          <p:nvPr/>
        </p:nvSpPr>
        <p:spPr>
          <a:xfrm>
            <a:off x="1371600" y="868680"/>
            <a:ext cx="1211671" cy="187452"/>
          </a:xfrm>
          <a:prstGeom prst="rect">
            <a:avLst/>
          </a:prstGeom>
          <a:noFill/>
          <a:ln/>
        </p:spPr>
        <p:txBody>
          <a:bodyPr wrap="square" lIns="6350" tIns="6350" rIns="6350" bIns="6350" rtlCol="0" anchor="ctr"/>
          <a:lstStyle/>
          <a:p>
            <a:pPr marL="0" indent="0" algn="ctr">
              <a:buNone/>
            </a:pPr>
            <a:r>
              <a:rPr lang="en-US" sz="380" dirty="0">
                <a:solidFill>
                  <a:srgbClr val="000000"/>
                </a:solidFill>
              </a:rPr>
              <a:t>API Gateway Outbound</a:t>
            </a:r>
            <a:endParaRPr lang="en-US" sz="380" dirty="0"/>
          </a:p>
        </p:txBody>
      </p:sp>
      <p:sp>
        <p:nvSpPr>
          <p:cNvPr id="161" name="Shape 159"/>
          <p:cNvSpPr/>
          <p:nvPr/>
        </p:nvSpPr>
        <p:spPr>
          <a:xfrm>
            <a:off x="2592415" y="868680"/>
            <a:ext cx="1211671" cy="187452"/>
          </a:xfrm>
          <a:prstGeom prst="rect">
            <a:avLst/>
          </a:prstGeom>
          <a:solidFill>
            <a:srgbClr val="F3ECFF"/>
          </a:solidFill>
          <a:ln w="6350">
            <a:solidFill>
              <a:srgbClr val="BE82FF"/>
            </a:solidFill>
            <a:prstDash val="solid"/>
          </a:ln>
        </p:spPr>
        <p:txBody>
          <a:bodyPr/>
          <a:lstStyle/>
          <a:p>
            <a:endParaRPr lang="es-ES"/>
          </a:p>
        </p:txBody>
      </p:sp>
      <p:sp>
        <p:nvSpPr>
          <p:cNvPr id="162" name="Text 160"/>
          <p:cNvSpPr/>
          <p:nvPr/>
        </p:nvSpPr>
        <p:spPr>
          <a:xfrm>
            <a:off x="2592415" y="868680"/>
            <a:ext cx="1211671" cy="187452"/>
          </a:xfrm>
          <a:prstGeom prst="rect">
            <a:avLst/>
          </a:prstGeom>
          <a:noFill/>
          <a:ln/>
        </p:spPr>
        <p:txBody>
          <a:bodyPr wrap="square" lIns="6350" tIns="6350" rIns="6350" bIns="6350" rtlCol="0" anchor="ctr"/>
          <a:lstStyle/>
          <a:p>
            <a:pPr marL="0" indent="0" algn="ctr">
              <a:buNone/>
            </a:pPr>
            <a:r>
              <a:rPr lang="en-US" sz="380" dirty="0">
                <a:solidFill>
                  <a:srgbClr val="000000"/>
                </a:solidFill>
              </a:rPr>
              <a:t>File Gateway Outbound</a:t>
            </a:r>
            <a:endParaRPr lang="en-US" sz="380" dirty="0"/>
          </a:p>
        </p:txBody>
      </p:sp>
      <p:sp>
        <p:nvSpPr>
          <p:cNvPr id="163" name="Shape 161"/>
          <p:cNvSpPr/>
          <p:nvPr/>
        </p:nvSpPr>
        <p:spPr>
          <a:xfrm>
            <a:off x="3813231" y="868680"/>
            <a:ext cx="1211671" cy="187452"/>
          </a:xfrm>
          <a:prstGeom prst="rect">
            <a:avLst/>
          </a:prstGeom>
          <a:solidFill>
            <a:srgbClr val="F3ECFF"/>
          </a:solidFill>
          <a:ln w="6350">
            <a:solidFill>
              <a:srgbClr val="BE82FF"/>
            </a:solidFill>
            <a:prstDash val="solid"/>
          </a:ln>
        </p:spPr>
        <p:txBody>
          <a:bodyPr/>
          <a:lstStyle/>
          <a:p>
            <a:endParaRPr lang="es-ES"/>
          </a:p>
        </p:txBody>
      </p:sp>
      <p:sp>
        <p:nvSpPr>
          <p:cNvPr id="164" name="Text 162"/>
          <p:cNvSpPr/>
          <p:nvPr/>
        </p:nvSpPr>
        <p:spPr>
          <a:xfrm>
            <a:off x="3813231" y="868680"/>
            <a:ext cx="1211671" cy="187452"/>
          </a:xfrm>
          <a:prstGeom prst="rect">
            <a:avLst/>
          </a:prstGeom>
          <a:noFill/>
          <a:ln/>
        </p:spPr>
        <p:txBody>
          <a:bodyPr wrap="square" lIns="6350" tIns="6350" rIns="6350" bIns="6350" rtlCol="0" anchor="ctr"/>
          <a:lstStyle/>
          <a:p>
            <a:pPr marL="0" indent="0" algn="ctr">
              <a:buNone/>
            </a:pPr>
            <a:r>
              <a:rPr lang="en-US" sz="380" dirty="0">
                <a:solidFill>
                  <a:srgbClr val="000000"/>
                </a:solidFill>
              </a:rPr>
              <a:t>EventHub Gateway Outbound</a:t>
            </a:r>
            <a:endParaRPr lang="en-US" sz="380" dirty="0"/>
          </a:p>
        </p:txBody>
      </p:sp>
      <p:sp>
        <p:nvSpPr>
          <p:cNvPr id="165" name="Shape 163"/>
          <p:cNvSpPr/>
          <p:nvPr/>
        </p:nvSpPr>
        <p:spPr>
          <a:xfrm>
            <a:off x="5034046" y="868680"/>
            <a:ext cx="1211671" cy="187452"/>
          </a:xfrm>
          <a:prstGeom prst="rect">
            <a:avLst/>
          </a:prstGeom>
          <a:solidFill>
            <a:srgbClr val="F3ECFF"/>
          </a:solidFill>
          <a:ln w="6350">
            <a:solidFill>
              <a:srgbClr val="BE82FF"/>
            </a:solidFill>
            <a:prstDash val="solid"/>
          </a:ln>
        </p:spPr>
        <p:txBody>
          <a:bodyPr/>
          <a:lstStyle/>
          <a:p>
            <a:endParaRPr lang="es-ES"/>
          </a:p>
        </p:txBody>
      </p:sp>
      <p:sp>
        <p:nvSpPr>
          <p:cNvPr id="166" name="Text 164"/>
          <p:cNvSpPr/>
          <p:nvPr/>
        </p:nvSpPr>
        <p:spPr>
          <a:xfrm>
            <a:off x="5034046" y="868680"/>
            <a:ext cx="1211671" cy="187452"/>
          </a:xfrm>
          <a:prstGeom prst="rect">
            <a:avLst/>
          </a:prstGeom>
          <a:noFill/>
          <a:ln/>
        </p:spPr>
        <p:txBody>
          <a:bodyPr wrap="square" lIns="6350" tIns="6350" rIns="6350" bIns="6350" rtlCol="0" anchor="ctr"/>
          <a:lstStyle/>
          <a:p>
            <a:pPr marL="0" indent="0" algn="ctr">
              <a:buNone/>
            </a:pPr>
            <a:r>
              <a:rPr lang="en-US" sz="380" dirty="0">
                <a:solidFill>
                  <a:srgbClr val="000000"/>
                </a:solidFill>
              </a:rPr>
              <a:t>Conmutación (Switching)</a:t>
            </a:r>
            <a:endParaRPr lang="en-US" sz="380" dirty="0"/>
          </a:p>
        </p:txBody>
      </p:sp>
      <p:sp>
        <p:nvSpPr>
          <p:cNvPr id="167" name="Text 165"/>
          <p:cNvSpPr/>
          <p:nvPr/>
        </p:nvSpPr>
        <p:spPr>
          <a:xfrm>
            <a:off x="1170432" y="1083564"/>
            <a:ext cx="182880" cy="205740"/>
          </a:xfrm>
          <a:prstGeom prst="rect">
            <a:avLst/>
          </a:prstGeom>
          <a:noFill/>
          <a:ln/>
        </p:spPr>
        <p:txBody>
          <a:bodyPr wrap="square" rtlCol="0" anchor="ctr"/>
          <a:lstStyle/>
          <a:p>
            <a:pPr marL="0" indent="0" algn="ctr">
              <a:buNone/>
            </a:pPr>
            <a:r>
              <a:rPr lang="en-US" sz="380" b="1" dirty="0">
                <a:solidFill>
                  <a:srgbClr val="7500C0"/>
                </a:solidFill>
              </a:rPr>
              <a:t>Inbound</a:t>
            </a:r>
            <a:endParaRPr lang="en-US" sz="380" dirty="0"/>
          </a:p>
        </p:txBody>
      </p:sp>
      <p:sp>
        <p:nvSpPr>
          <p:cNvPr id="168" name="Shape 166"/>
          <p:cNvSpPr/>
          <p:nvPr/>
        </p:nvSpPr>
        <p:spPr>
          <a:xfrm>
            <a:off x="1371600" y="1092708"/>
            <a:ext cx="1211671" cy="187452"/>
          </a:xfrm>
          <a:prstGeom prst="rect">
            <a:avLst/>
          </a:prstGeom>
          <a:solidFill>
            <a:srgbClr val="F3ECFF"/>
          </a:solidFill>
          <a:ln w="6350">
            <a:solidFill>
              <a:srgbClr val="BE82FF"/>
            </a:solidFill>
            <a:prstDash val="solid"/>
          </a:ln>
        </p:spPr>
        <p:txBody>
          <a:bodyPr/>
          <a:lstStyle/>
          <a:p>
            <a:endParaRPr lang="es-ES"/>
          </a:p>
        </p:txBody>
      </p:sp>
      <p:sp>
        <p:nvSpPr>
          <p:cNvPr id="169" name="Text 167"/>
          <p:cNvSpPr/>
          <p:nvPr/>
        </p:nvSpPr>
        <p:spPr>
          <a:xfrm>
            <a:off x="1371600" y="1092708"/>
            <a:ext cx="1211671" cy="187452"/>
          </a:xfrm>
          <a:prstGeom prst="rect">
            <a:avLst/>
          </a:prstGeom>
          <a:noFill/>
          <a:ln/>
        </p:spPr>
        <p:txBody>
          <a:bodyPr wrap="square" lIns="6350" tIns="6350" rIns="6350" bIns="6350" rtlCol="0" anchor="ctr"/>
          <a:lstStyle/>
          <a:p>
            <a:pPr marL="0" indent="0" algn="ctr">
              <a:buNone/>
            </a:pPr>
            <a:r>
              <a:rPr lang="en-US" sz="380" dirty="0">
                <a:solidFill>
                  <a:srgbClr val="000000"/>
                </a:solidFill>
              </a:rPr>
              <a:t>API Gateway Inbound</a:t>
            </a:r>
            <a:endParaRPr lang="en-US" sz="380" dirty="0"/>
          </a:p>
        </p:txBody>
      </p:sp>
      <p:sp>
        <p:nvSpPr>
          <p:cNvPr id="170" name="Shape 168"/>
          <p:cNvSpPr/>
          <p:nvPr/>
        </p:nvSpPr>
        <p:spPr>
          <a:xfrm>
            <a:off x="2592415" y="1092708"/>
            <a:ext cx="1211671" cy="187452"/>
          </a:xfrm>
          <a:prstGeom prst="rect">
            <a:avLst/>
          </a:prstGeom>
          <a:solidFill>
            <a:srgbClr val="F3ECFF"/>
          </a:solidFill>
          <a:ln w="6350">
            <a:solidFill>
              <a:srgbClr val="BE82FF"/>
            </a:solidFill>
            <a:prstDash val="solid"/>
          </a:ln>
        </p:spPr>
        <p:txBody>
          <a:bodyPr/>
          <a:lstStyle/>
          <a:p>
            <a:endParaRPr lang="es-ES"/>
          </a:p>
        </p:txBody>
      </p:sp>
      <p:sp>
        <p:nvSpPr>
          <p:cNvPr id="171" name="Text 169"/>
          <p:cNvSpPr/>
          <p:nvPr/>
        </p:nvSpPr>
        <p:spPr>
          <a:xfrm>
            <a:off x="2592415" y="1092708"/>
            <a:ext cx="1211671" cy="187452"/>
          </a:xfrm>
          <a:prstGeom prst="rect">
            <a:avLst/>
          </a:prstGeom>
          <a:noFill/>
          <a:ln/>
        </p:spPr>
        <p:txBody>
          <a:bodyPr wrap="square" lIns="6350" tIns="6350" rIns="6350" bIns="6350" rtlCol="0" anchor="ctr"/>
          <a:lstStyle/>
          <a:p>
            <a:pPr marL="0" indent="0" algn="ctr">
              <a:buNone/>
            </a:pPr>
            <a:r>
              <a:rPr lang="en-US" sz="380" dirty="0">
                <a:solidFill>
                  <a:srgbClr val="000000"/>
                </a:solidFill>
              </a:rPr>
              <a:t>File Gateway Inbound</a:t>
            </a:r>
            <a:endParaRPr lang="en-US" sz="380" dirty="0"/>
          </a:p>
        </p:txBody>
      </p:sp>
      <p:sp>
        <p:nvSpPr>
          <p:cNvPr id="172" name="Shape 170"/>
          <p:cNvSpPr/>
          <p:nvPr/>
        </p:nvSpPr>
        <p:spPr>
          <a:xfrm>
            <a:off x="3813231" y="1092708"/>
            <a:ext cx="1211671" cy="187452"/>
          </a:xfrm>
          <a:prstGeom prst="rect">
            <a:avLst/>
          </a:prstGeom>
          <a:solidFill>
            <a:srgbClr val="F3ECFF"/>
          </a:solidFill>
          <a:ln w="6350">
            <a:solidFill>
              <a:srgbClr val="BE82FF"/>
            </a:solidFill>
            <a:prstDash val="solid"/>
          </a:ln>
        </p:spPr>
        <p:txBody>
          <a:bodyPr/>
          <a:lstStyle/>
          <a:p>
            <a:endParaRPr lang="es-ES"/>
          </a:p>
        </p:txBody>
      </p:sp>
      <p:sp>
        <p:nvSpPr>
          <p:cNvPr id="173" name="Text 171"/>
          <p:cNvSpPr/>
          <p:nvPr/>
        </p:nvSpPr>
        <p:spPr>
          <a:xfrm>
            <a:off x="3813231" y="1092708"/>
            <a:ext cx="1211671" cy="187452"/>
          </a:xfrm>
          <a:prstGeom prst="rect">
            <a:avLst/>
          </a:prstGeom>
          <a:noFill/>
          <a:ln/>
        </p:spPr>
        <p:txBody>
          <a:bodyPr wrap="square" lIns="6350" tIns="6350" rIns="6350" bIns="6350" rtlCol="0" anchor="ctr"/>
          <a:lstStyle/>
          <a:p>
            <a:pPr marL="0" indent="0" algn="ctr">
              <a:buNone/>
            </a:pPr>
            <a:r>
              <a:rPr lang="en-US" sz="380" dirty="0">
                <a:solidFill>
                  <a:srgbClr val="000000"/>
                </a:solidFill>
              </a:rPr>
              <a:t>EventHub Gateway Inbound</a:t>
            </a:r>
            <a:endParaRPr lang="en-US" sz="380" dirty="0"/>
          </a:p>
        </p:txBody>
      </p:sp>
      <p:sp>
        <p:nvSpPr>
          <p:cNvPr id="174" name="Shape 172"/>
          <p:cNvSpPr/>
          <p:nvPr/>
        </p:nvSpPr>
        <p:spPr>
          <a:xfrm>
            <a:off x="5034046" y="1092708"/>
            <a:ext cx="1211671" cy="187452"/>
          </a:xfrm>
          <a:prstGeom prst="rect">
            <a:avLst/>
          </a:prstGeom>
          <a:solidFill>
            <a:srgbClr val="F3ECFF"/>
          </a:solidFill>
          <a:ln w="6350">
            <a:solidFill>
              <a:srgbClr val="BE82FF"/>
            </a:solidFill>
            <a:prstDash val="solid"/>
          </a:ln>
        </p:spPr>
        <p:txBody>
          <a:bodyPr/>
          <a:lstStyle/>
          <a:p>
            <a:endParaRPr lang="es-ES"/>
          </a:p>
        </p:txBody>
      </p:sp>
      <p:sp>
        <p:nvSpPr>
          <p:cNvPr id="175" name="Text 173"/>
          <p:cNvSpPr/>
          <p:nvPr/>
        </p:nvSpPr>
        <p:spPr>
          <a:xfrm>
            <a:off x="5034046" y="1092708"/>
            <a:ext cx="1211671" cy="187452"/>
          </a:xfrm>
          <a:prstGeom prst="rect">
            <a:avLst/>
          </a:prstGeom>
          <a:noFill/>
          <a:ln/>
        </p:spPr>
        <p:txBody>
          <a:bodyPr wrap="square" lIns="6350" tIns="6350" rIns="6350" bIns="6350" rtlCol="0" anchor="ctr"/>
          <a:lstStyle/>
          <a:p>
            <a:pPr marL="0" indent="0" algn="ctr">
              <a:buNone/>
            </a:pPr>
            <a:r>
              <a:rPr lang="en-US" sz="380" dirty="0">
                <a:solidFill>
                  <a:srgbClr val="000000"/>
                </a:solidFill>
              </a:rPr>
              <a:t>STS / Open Banking / Filter Edge</a:t>
            </a:r>
            <a:endParaRPr lang="en-US" sz="380" dirty="0"/>
          </a:p>
        </p:txBody>
      </p:sp>
      <p:sp>
        <p:nvSpPr>
          <p:cNvPr id="176" name="Shape 174"/>
          <p:cNvSpPr/>
          <p:nvPr/>
        </p:nvSpPr>
        <p:spPr>
          <a:xfrm>
            <a:off x="6300582" y="685800"/>
            <a:ext cx="4699650" cy="603504"/>
          </a:xfrm>
          <a:prstGeom prst="rect">
            <a:avLst/>
          </a:prstGeom>
          <a:solidFill>
            <a:srgbClr val="EDE5FF"/>
          </a:solidFill>
          <a:ln w="12700">
            <a:solidFill>
              <a:srgbClr val="A100FF"/>
            </a:solidFill>
            <a:prstDash val="solid"/>
          </a:ln>
        </p:spPr>
        <p:txBody>
          <a:bodyPr/>
          <a:lstStyle/>
          <a:p>
            <a:endParaRPr lang="es-ES"/>
          </a:p>
        </p:txBody>
      </p:sp>
      <p:sp>
        <p:nvSpPr>
          <p:cNvPr id="177" name="Shape 175"/>
          <p:cNvSpPr/>
          <p:nvPr/>
        </p:nvSpPr>
        <p:spPr>
          <a:xfrm>
            <a:off x="6309726" y="694944"/>
            <a:ext cx="146304" cy="146304"/>
          </a:xfrm>
          <a:prstGeom prst="ellipse">
            <a:avLst/>
          </a:prstGeom>
          <a:solidFill>
            <a:srgbClr val="C00000"/>
          </a:solidFill>
          <a:ln w="12700">
            <a:solidFill>
              <a:srgbClr val="C00000"/>
            </a:solidFill>
            <a:prstDash val="solid"/>
          </a:ln>
        </p:spPr>
        <p:txBody>
          <a:bodyPr/>
          <a:lstStyle/>
          <a:p>
            <a:endParaRPr lang="es-ES"/>
          </a:p>
        </p:txBody>
      </p:sp>
      <p:sp>
        <p:nvSpPr>
          <p:cNvPr id="178" name="Text 176"/>
          <p:cNvSpPr/>
          <p:nvPr/>
        </p:nvSpPr>
        <p:spPr>
          <a:xfrm>
            <a:off x="6309726" y="694944"/>
            <a:ext cx="146304" cy="146304"/>
          </a:xfrm>
          <a:prstGeom prst="rect">
            <a:avLst/>
          </a:prstGeom>
          <a:noFill/>
          <a:ln/>
        </p:spPr>
        <p:txBody>
          <a:bodyPr wrap="square" lIns="0" tIns="0" rIns="0" bIns="0" rtlCol="0" anchor="ctr"/>
          <a:lstStyle/>
          <a:p>
            <a:pPr marL="0" indent="0" algn="ctr">
              <a:buNone/>
            </a:pPr>
            <a:r>
              <a:rPr lang="en-US" sz="650" b="1" dirty="0">
                <a:solidFill>
                  <a:srgbClr val="FFFFFF"/>
                </a:solidFill>
              </a:rPr>
              <a:t>K</a:t>
            </a:r>
            <a:endParaRPr lang="en-US" sz="650" dirty="0"/>
          </a:p>
        </p:txBody>
      </p:sp>
      <p:sp>
        <p:nvSpPr>
          <p:cNvPr id="179" name="Shape 177"/>
          <p:cNvSpPr/>
          <p:nvPr/>
        </p:nvSpPr>
        <p:spPr>
          <a:xfrm>
            <a:off x="6474318" y="685800"/>
            <a:ext cx="4525914" cy="155448"/>
          </a:xfrm>
          <a:prstGeom prst="rect">
            <a:avLst/>
          </a:prstGeom>
          <a:solidFill>
            <a:srgbClr val="A100FF"/>
          </a:solidFill>
          <a:ln w="12700">
            <a:solidFill>
              <a:srgbClr val="A100FF"/>
            </a:solidFill>
            <a:prstDash val="solid"/>
          </a:ln>
        </p:spPr>
        <p:txBody>
          <a:bodyPr/>
          <a:lstStyle/>
          <a:p>
            <a:endParaRPr lang="es-ES"/>
          </a:p>
        </p:txBody>
      </p:sp>
      <p:sp>
        <p:nvSpPr>
          <p:cNvPr id="180" name="Text 178"/>
          <p:cNvSpPr/>
          <p:nvPr/>
        </p:nvSpPr>
        <p:spPr>
          <a:xfrm>
            <a:off x="6492606" y="685800"/>
            <a:ext cx="4489338" cy="155448"/>
          </a:xfrm>
          <a:prstGeom prst="rect">
            <a:avLst/>
          </a:prstGeom>
          <a:noFill/>
          <a:ln/>
        </p:spPr>
        <p:txBody>
          <a:bodyPr wrap="square" lIns="0" tIns="0" rIns="0" bIns="0" rtlCol="0" anchor="ctr"/>
          <a:lstStyle/>
          <a:p>
            <a:pPr marL="0" indent="0" algn="ctr">
              <a:buNone/>
            </a:pPr>
            <a:r>
              <a:rPr lang="en-US" sz="500" b="1" dirty="0">
                <a:solidFill>
                  <a:srgbClr val="FFFFFF"/>
                </a:solidFill>
              </a:rPr>
              <a:t>API Management</a:t>
            </a:r>
            <a:endParaRPr lang="en-US" sz="500" dirty="0"/>
          </a:p>
        </p:txBody>
      </p:sp>
      <p:sp>
        <p:nvSpPr>
          <p:cNvPr id="181" name="Shape 179"/>
          <p:cNvSpPr/>
          <p:nvPr/>
        </p:nvSpPr>
        <p:spPr>
          <a:xfrm>
            <a:off x="6309726" y="850392"/>
            <a:ext cx="1152053" cy="109728"/>
          </a:xfrm>
          <a:prstGeom prst="rect">
            <a:avLst/>
          </a:prstGeom>
          <a:solidFill>
            <a:srgbClr val="BE82FF"/>
          </a:solidFill>
          <a:ln w="6350">
            <a:solidFill>
              <a:srgbClr val="A100FF"/>
            </a:solidFill>
            <a:prstDash val="solid"/>
          </a:ln>
        </p:spPr>
        <p:txBody>
          <a:bodyPr/>
          <a:lstStyle/>
          <a:p>
            <a:endParaRPr lang="es-ES"/>
          </a:p>
        </p:txBody>
      </p:sp>
      <p:sp>
        <p:nvSpPr>
          <p:cNvPr id="182" name="Text 180"/>
          <p:cNvSpPr/>
          <p:nvPr/>
        </p:nvSpPr>
        <p:spPr>
          <a:xfrm>
            <a:off x="6309726" y="850392"/>
            <a:ext cx="1152053" cy="109728"/>
          </a:xfrm>
          <a:prstGeom prst="rect">
            <a:avLst/>
          </a:prstGeom>
          <a:noFill/>
          <a:ln/>
        </p:spPr>
        <p:txBody>
          <a:bodyPr wrap="square" lIns="6350" tIns="6350" rIns="6350" bIns="6350" rtlCol="0" anchor="ctr"/>
          <a:lstStyle/>
          <a:p>
            <a:pPr marL="0" indent="0" algn="ctr">
              <a:buNone/>
            </a:pPr>
            <a:r>
              <a:rPr lang="en-US" sz="400" b="1" dirty="0">
                <a:solidFill>
                  <a:srgbClr val="000000"/>
                </a:solidFill>
              </a:rPr>
              <a:t>Gateway &amp; Mediación Runtime</a:t>
            </a:r>
            <a:endParaRPr lang="en-US" sz="400" dirty="0"/>
          </a:p>
        </p:txBody>
      </p:sp>
      <p:sp>
        <p:nvSpPr>
          <p:cNvPr id="183" name="Shape 181"/>
          <p:cNvSpPr/>
          <p:nvPr/>
        </p:nvSpPr>
        <p:spPr>
          <a:xfrm>
            <a:off x="6309726" y="969264"/>
            <a:ext cx="1152053" cy="68580"/>
          </a:xfrm>
          <a:prstGeom prst="rect">
            <a:avLst/>
          </a:prstGeom>
          <a:solidFill>
            <a:srgbClr val="FFFFFF"/>
          </a:solidFill>
          <a:ln w="3810">
            <a:solidFill>
              <a:srgbClr val="BE82FF"/>
            </a:solidFill>
            <a:prstDash val="solid"/>
          </a:ln>
        </p:spPr>
        <p:txBody>
          <a:bodyPr/>
          <a:lstStyle/>
          <a:p>
            <a:endParaRPr lang="es-ES"/>
          </a:p>
        </p:txBody>
      </p:sp>
      <p:sp>
        <p:nvSpPr>
          <p:cNvPr id="184" name="Text 182"/>
          <p:cNvSpPr/>
          <p:nvPr/>
        </p:nvSpPr>
        <p:spPr>
          <a:xfrm>
            <a:off x="6309726" y="969264"/>
            <a:ext cx="1152053" cy="68580"/>
          </a:xfrm>
          <a:prstGeom prst="rect">
            <a:avLst/>
          </a:prstGeom>
          <a:noFill/>
          <a:ln/>
        </p:spPr>
        <p:txBody>
          <a:bodyPr wrap="square" lIns="6350" tIns="6350" rIns="6350" bIns="6350" rtlCol="0" anchor="ctr"/>
          <a:lstStyle/>
          <a:p>
            <a:pPr marL="0" indent="0" algn="ctr">
              <a:buNone/>
            </a:pPr>
            <a:r>
              <a:rPr lang="en-US" sz="380" dirty="0">
                <a:solidFill>
                  <a:srgbClr val="000000"/>
                </a:solidFill>
              </a:rPr>
              <a:t>Enrutamiento</a:t>
            </a:r>
            <a:endParaRPr lang="en-US" sz="380" dirty="0"/>
          </a:p>
        </p:txBody>
      </p:sp>
      <p:sp>
        <p:nvSpPr>
          <p:cNvPr id="185" name="Shape 183"/>
          <p:cNvSpPr/>
          <p:nvPr/>
        </p:nvSpPr>
        <p:spPr>
          <a:xfrm>
            <a:off x="6309726" y="1031443"/>
            <a:ext cx="1152053" cy="68580"/>
          </a:xfrm>
          <a:prstGeom prst="rect">
            <a:avLst/>
          </a:prstGeom>
          <a:solidFill>
            <a:srgbClr val="FFFFFF"/>
          </a:solidFill>
          <a:ln w="3810">
            <a:solidFill>
              <a:srgbClr val="BE82FF"/>
            </a:solidFill>
            <a:prstDash val="solid"/>
          </a:ln>
        </p:spPr>
        <p:txBody>
          <a:bodyPr/>
          <a:lstStyle/>
          <a:p>
            <a:endParaRPr lang="es-ES"/>
          </a:p>
        </p:txBody>
      </p:sp>
      <p:sp>
        <p:nvSpPr>
          <p:cNvPr id="186" name="Text 184"/>
          <p:cNvSpPr/>
          <p:nvPr/>
        </p:nvSpPr>
        <p:spPr>
          <a:xfrm>
            <a:off x="6309726" y="1031443"/>
            <a:ext cx="1152053" cy="68580"/>
          </a:xfrm>
          <a:prstGeom prst="rect">
            <a:avLst/>
          </a:prstGeom>
          <a:noFill/>
          <a:ln/>
        </p:spPr>
        <p:txBody>
          <a:bodyPr wrap="square" lIns="6350" tIns="6350" rIns="6350" bIns="6350" rtlCol="0" anchor="ctr"/>
          <a:lstStyle/>
          <a:p>
            <a:pPr marL="0" indent="0" algn="ctr">
              <a:buNone/>
            </a:pPr>
            <a:r>
              <a:rPr lang="en-US" sz="380" dirty="0">
                <a:solidFill>
                  <a:srgbClr val="000000"/>
                </a:solidFill>
              </a:rPr>
              <a:t>Mediación/Transf.</a:t>
            </a:r>
            <a:endParaRPr lang="en-US" sz="380" dirty="0"/>
          </a:p>
        </p:txBody>
      </p:sp>
      <p:sp>
        <p:nvSpPr>
          <p:cNvPr id="187" name="Shape 185"/>
          <p:cNvSpPr/>
          <p:nvPr/>
        </p:nvSpPr>
        <p:spPr>
          <a:xfrm>
            <a:off x="6309726" y="1093622"/>
            <a:ext cx="1152053" cy="68580"/>
          </a:xfrm>
          <a:prstGeom prst="rect">
            <a:avLst/>
          </a:prstGeom>
          <a:solidFill>
            <a:srgbClr val="FFFFFF"/>
          </a:solidFill>
          <a:ln w="3810">
            <a:solidFill>
              <a:srgbClr val="BE82FF"/>
            </a:solidFill>
            <a:prstDash val="solid"/>
          </a:ln>
        </p:spPr>
        <p:txBody>
          <a:bodyPr/>
          <a:lstStyle/>
          <a:p>
            <a:endParaRPr lang="es-ES"/>
          </a:p>
        </p:txBody>
      </p:sp>
      <p:sp>
        <p:nvSpPr>
          <p:cNvPr id="188" name="Text 186"/>
          <p:cNvSpPr/>
          <p:nvPr/>
        </p:nvSpPr>
        <p:spPr>
          <a:xfrm>
            <a:off x="6309726" y="1093622"/>
            <a:ext cx="1152053" cy="68580"/>
          </a:xfrm>
          <a:prstGeom prst="rect">
            <a:avLst/>
          </a:prstGeom>
          <a:noFill/>
          <a:ln/>
        </p:spPr>
        <p:txBody>
          <a:bodyPr wrap="square" lIns="6350" tIns="6350" rIns="6350" bIns="6350" rtlCol="0" anchor="ctr"/>
          <a:lstStyle/>
          <a:p>
            <a:pPr marL="0" indent="0" algn="ctr">
              <a:buNone/>
            </a:pPr>
            <a:r>
              <a:rPr lang="en-US" sz="380" dirty="0">
                <a:solidFill>
                  <a:srgbClr val="000000"/>
                </a:solidFill>
              </a:rPr>
              <a:t>Tráfico API</a:t>
            </a:r>
            <a:endParaRPr lang="en-US" sz="380" dirty="0"/>
          </a:p>
        </p:txBody>
      </p:sp>
      <p:sp>
        <p:nvSpPr>
          <p:cNvPr id="189" name="Shape 187"/>
          <p:cNvSpPr/>
          <p:nvPr/>
        </p:nvSpPr>
        <p:spPr>
          <a:xfrm>
            <a:off x="6309726" y="1155802"/>
            <a:ext cx="1152053" cy="68580"/>
          </a:xfrm>
          <a:prstGeom prst="rect">
            <a:avLst/>
          </a:prstGeom>
          <a:solidFill>
            <a:srgbClr val="FFFFFF"/>
          </a:solidFill>
          <a:ln w="3810">
            <a:solidFill>
              <a:srgbClr val="BE82FF"/>
            </a:solidFill>
            <a:prstDash val="solid"/>
          </a:ln>
        </p:spPr>
        <p:txBody>
          <a:bodyPr/>
          <a:lstStyle/>
          <a:p>
            <a:endParaRPr lang="es-ES"/>
          </a:p>
        </p:txBody>
      </p:sp>
      <p:sp>
        <p:nvSpPr>
          <p:cNvPr id="190" name="Text 188"/>
          <p:cNvSpPr/>
          <p:nvPr/>
        </p:nvSpPr>
        <p:spPr>
          <a:xfrm>
            <a:off x="6309726" y="1155802"/>
            <a:ext cx="1152053" cy="68580"/>
          </a:xfrm>
          <a:prstGeom prst="rect">
            <a:avLst/>
          </a:prstGeom>
          <a:noFill/>
          <a:ln/>
        </p:spPr>
        <p:txBody>
          <a:bodyPr wrap="square" lIns="6350" tIns="6350" rIns="6350" bIns="6350" rtlCol="0" anchor="ctr"/>
          <a:lstStyle/>
          <a:p>
            <a:pPr marL="0" indent="0" algn="ctr">
              <a:buNone/>
            </a:pPr>
            <a:r>
              <a:rPr lang="en-US" sz="380" dirty="0">
                <a:solidFill>
                  <a:srgbClr val="000000"/>
                </a:solidFill>
              </a:rPr>
              <a:t>Validación Mensajes</a:t>
            </a:r>
            <a:endParaRPr lang="en-US" sz="380" dirty="0"/>
          </a:p>
        </p:txBody>
      </p:sp>
      <p:sp>
        <p:nvSpPr>
          <p:cNvPr id="191" name="Shape 189"/>
          <p:cNvSpPr/>
          <p:nvPr/>
        </p:nvSpPr>
        <p:spPr>
          <a:xfrm>
            <a:off x="6309726" y="1217981"/>
            <a:ext cx="1152053" cy="68580"/>
          </a:xfrm>
          <a:prstGeom prst="rect">
            <a:avLst/>
          </a:prstGeom>
          <a:solidFill>
            <a:srgbClr val="FFFFFF"/>
          </a:solidFill>
          <a:ln w="3810">
            <a:solidFill>
              <a:srgbClr val="BE82FF"/>
            </a:solidFill>
            <a:prstDash val="solid"/>
          </a:ln>
        </p:spPr>
        <p:txBody>
          <a:bodyPr/>
          <a:lstStyle/>
          <a:p>
            <a:endParaRPr lang="es-ES"/>
          </a:p>
        </p:txBody>
      </p:sp>
      <p:sp>
        <p:nvSpPr>
          <p:cNvPr id="192" name="Text 190"/>
          <p:cNvSpPr/>
          <p:nvPr/>
        </p:nvSpPr>
        <p:spPr>
          <a:xfrm>
            <a:off x="6309726" y="1217981"/>
            <a:ext cx="1152053" cy="68580"/>
          </a:xfrm>
          <a:prstGeom prst="rect">
            <a:avLst/>
          </a:prstGeom>
          <a:noFill/>
          <a:ln/>
        </p:spPr>
        <p:txBody>
          <a:bodyPr wrap="square" lIns="6350" tIns="6350" rIns="6350" bIns="6350" rtlCol="0" anchor="ctr"/>
          <a:lstStyle/>
          <a:p>
            <a:pPr marL="0" indent="0" algn="ctr">
              <a:buNone/>
            </a:pPr>
            <a:r>
              <a:rPr lang="en-US" sz="380" dirty="0">
                <a:solidFill>
                  <a:srgbClr val="000000"/>
                </a:solidFill>
              </a:rPr>
              <a:t>Errores y Fallos</a:t>
            </a:r>
            <a:endParaRPr lang="en-US" sz="380" dirty="0"/>
          </a:p>
        </p:txBody>
      </p:sp>
      <p:sp>
        <p:nvSpPr>
          <p:cNvPr id="193" name="Shape 191"/>
          <p:cNvSpPr/>
          <p:nvPr/>
        </p:nvSpPr>
        <p:spPr>
          <a:xfrm>
            <a:off x="7480066" y="850392"/>
            <a:ext cx="1152053" cy="109728"/>
          </a:xfrm>
          <a:prstGeom prst="rect">
            <a:avLst/>
          </a:prstGeom>
          <a:solidFill>
            <a:srgbClr val="BE82FF"/>
          </a:solidFill>
          <a:ln w="6350">
            <a:solidFill>
              <a:srgbClr val="A100FF"/>
            </a:solidFill>
            <a:prstDash val="solid"/>
          </a:ln>
        </p:spPr>
        <p:txBody>
          <a:bodyPr/>
          <a:lstStyle/>
          <a:p>
            <a:endParaRPr lang="es-ES"/>
          </a:p>
        </p:txBody>
      </p:sp>
      <p:sp>
        <p:nvSpPr>
          <p:cNvPr id="194" name="Text 192"/>
          <p:cNvSpPr/>
          <p:nvPr/>
        </p:nvSpPr>
        <p:spPr>
          <a:xfrm>
            <a:off x="7480066" y="850392"/>
            <a:ext cx="1152053" cy="109728"/>
          </a:xfrm>
          <a:prstGeom prst="rect">
            <a:avLst/>
          </a:prstGeom>
          <a:noFill/>
          <a:ln/>
        </p:spPr>
        <p:txBody>
          <a:bodyPr wrap="square" lIns="6350" tIns="6350" rIns="6350" bIns="6350" rtlCol="0" anchor="ctr"/>
          <a:lstStyle/>
          <a:p>
            <a:pPr marL="0" indent="0" algn="ctr">
              <a:buNone/>
            </a:pPr>
            <a:r>
              <a:rPr lang="en-US" sz="400" b="1" dirty="0">
                <a:solidFill>
                  <a:srgbClr val="000000"/>
                </a:solidFill>
              </a:rPr>
              <a:t>Ciclo de Vida API</a:t>
            </a:r>
            <a:endParaRPr lang="en-US" sz="400" dirty="0"/>
          </a:p>
        </p:txBody>
      </p:sp>
      <p:sp>
        <p:nvSpPr>
          <p:cNvPr id="195" name="Shape 193"/>
          <p:cNvSpPr/>
          <p:nvPr/>
        </p:nvSpPr>
        <p:spPr>
          <a:xfrm>
            <a:off x="7480066" y="969264"/>
            <a:ext cx="1152053" cy="73152"/>
          </a:xfrm>
          <a:prstGeom prst="rect">
            <a:avLst/>
          </a:prstGeom>
          <a:solidFill>
            <a:srgbClr val="FFFFFF"/>
          </a:solidFill>
          <a:ln w="3810">
            <a:solidFill>
              <a:srgbClr val="BE82FF"/>
            </a:solidFill>
            <a:prstDash val="solid"/>
          </a:ln>
        </p:spPr>
        <p:txBody>
          <a:bodyPr/>
          <a:lstStyle/>
          <a:p>
            <a:endParaRPr lang="es-ES"/>
          </a:p>
        </p:txBody>
      </p:sp>
      <p:sp>
        <p:nvSpPr>
          <p:cNvPr id="196" name="Text 194"/>
          <p:cNvSpPr/>
          <p:nvPr/>
        </p:nvSpPr>
        <p:spPr>
          <a:xfrm>
            <a:off x="7480066" y="969264"/>
            <a:ext cx="1152053" cy="73152"/>
          </a:xfrm>
          <a:prstGeom prst="rect">
            <a:avLst/>
          </a:prstGeom>
          <a:noFill/>
          <a:ln/>
        </p:spPr>
        <p:txBody>
          <a:bodyPr wrap="square" lIns="6350" tIns="6350" rIns="6350" bIns="6350" rtlCol="0" anchor="ctr"/>
          <a:lstStyle/>
          <a:p>
            <a:pPr marL="0" indent="0" algn="ctr">
              <a:buNone/>
            </a:pPr>
            <a:r>
              <a:rPr lang="en-US" sz="380" dirty="0">
                <a:solidFill>
                  <a:srgbClr val="000000"/>
                </a:solidFill>
              </a:rPr>
              <a:t>Diseño y Contrato</a:t>
            </a:r>
            <a:endParaRPr lang="en-US" sz="380" dirty="0"/>
          </a:p>
        </p:txBody>
      </p:sp>
      <p:sp>
        <p:nvSpPr>
          <p:cNvPr id="197" name="Shape 195"/>
          <p:cNvSpPr/>
          <p:nvPr/>
        </p:nvSpPr>
        <p:spPr>
          <a:xfrm>
            <a:off x="7480066" y="1046988"/>
            <a:ext cx="1152053" cy="73152"/>
          </a:xfrm>
          <a:prstGeom prst="rect">
            <a:avLst/>
          </a:prstGeom>
          <a:solidFill>
            <a:srgbClr val="FFFFFF"/>
          </a:solidFill>
          <a:ln w="3810">
            <a:solidFill>
              <a:srgbClr val="BE82FF"/>
            </a:solidFill>
            <a:prstDash val="solid"/>
          </a:ln>
        </p:spPr>
        <p:txBody>
          <a:bodyPr/>
          <a:lstStyle/>
          <a:p>
            <a:endParaRPr lang="es-ES"/>
          </a:p>
        </p:txBody>
      </p:sp>
      <p:sp>
        <p:nvSpPr>
          <p:cNvPr id="198" name="Text 196"/>
          <p:cNvSpPr/>
          <p:nvPr/>
        </p:nvSpPr>
        <p:spPr>
          <a:xfrm>
            <a:off x="7480066" y="1046988"/>
            <a:ext cx="1152053" cy="73152"/>
          </a:xfrm>
          <a:prstGeom prst="rect">
            <a:avLst/>
          </a:prstGeom>
          <a:noFill/>
          <a:ln/>
        </p:spPr>
        <p:txBody>
          <a:bodyPr wrap="square" lIns="6350" tIns="6350" rIns="6350" bIns="6350" rtlCol="0" anchor="ctr"/>
          <a:lstStyle/>
          <a:p>
            <a:pPr marL="0" indent="0" algn="ctr">
              <a:buNone/>
            </a:pPr>
            <a:r>
              <a:rPr lang="en-US" sz="380" dirty="0">
                <a:solidFill>
                  <a:srgbClr val="000000"/>
                </a:solidFill>
              </a:rPr>
              <a:t>Versionado</a:t>
            </a:r>
            <a:endParaRPr lang="en-US" sz="380" dirty="0"/>
          </a:p>
        </p:txBody>
      </p:sp>
      <p:sp>
        <p:nvSpPr>
          <p:cNvPr id="199" name="Shape 197"/>
          <p:cNvSpPr/>
          <p:nvPr/>
        </p:nvSpPr>
        <p:spPr>
          <a:xfrm>
            <a:off x="7480066" y="1124712"/>
            <a:ext cx="1152053" cy="73152"/>
          </a:xfrm>
          <a:prstGeom prst="rect">
            <a:avLst/>
          </a:prstGeom>
          <a:solidFill>
            <a:srgbClr val="FFFFFF"/>
          </a:solidFill>
          <a:ln w="3810">
            <a:solidFill>
              <a:srgbClr val="BE82FF"/>
            </a:solidFill>
            <a:prstDash val="solid"/>
          </a:ln>
        </p:spPr>
        <p:txBody>
          <a:bodyPr/>
          <a:lstStyle/>
          <a:p>
            <a:endParaRPr lang="es-ES"/>
          </a:p>
        </p:txBody>
      </p:sp>
      <p:sp>
        <p:nvSpPr>
          <p:cNvPr id="200" name="Text 198"/>
          <p:cNvSpPr/>
          <p:nvPr/>
        </p:nvSpPr>
        <p:spPr>
          <a:xfrm>
            <a:off x="7480066" y="1124712"/>
            <a:ext cx="1152053" cy="73152"/>
          </a:xfrm>
          <a:prstGeom prst="rect">
            <a:avLst/>
          </a:prstGeom>
          <a:noFill/>
          <a:ln/>
        </p:spPr>
        <p:txBody>
          <a:bodyPr wrap="square" lIns="6350" tIns="6350" rIns="6350" bIns="6350" rtlCol="0" anchor="ctr"/>
          <a:lstStyle/>
          <a:p>
            <a:pPr marL="0" indent="0" algn="ctr">
              <a:buNone/>
            </a:pPr>
            <a:r>
              <a:rPr lang="en-US" sz="380" dirty="0">
                <a:solidFill>
                  <a:srgbClr val="000000"/>
                </a:solidFill>
              </a:rPr>
              <a:t>Publicación</a:t>
            </a:r>
            <a:endParaRPr lang="en-US" sz="380" dirty="0"/>
          </a:p>
        </p:txBody>
      </p:sp>
      <p:sp>
        <p:nvSpPr>
          <p:cNvPr id="201" name="Shape 199"/>
          <p:cNvSpPr/>
          <p:nvPr/>
        </p:nvSpPr>
        <p:spPr>
          <a:xfrm>
            <a:off x="7480066" y="1202436"/>
            <a:ext cx="1152053" cy="73152"/>
          </a:xfrm>
          <a:prstGeom prst="rect">
            <a:avLst/>
          </a:prstGeom>
          <a:solidFill>
            <a:srgbClr val="FFFFFF"/>
          </a:solidFill>
          <a:ln w="3810">
            <a:solidFill>
              <a:srgbClr val="BE82FF"/>
            </a:solidFill>
            <a:prstDash val="solid"/>
          </a:ln>
        </p:spPr>
        <p:txBody>
          <a:bodyPr/>
          <a:lstStyle/>
          <a:p>
            <a:endParaRPr lang="es-ES"/>
          </a:p>
        </p:txBody>
      </p:sp>
      <p:sp>
        <p:nvSpPr>
          <p:cNvPr id="202" name="Text 200"/>
          <p:cNvSpPr/>
          <p:nvPr/>
        </p:nvSpPr>
        <p:spPr>
          <a:xfrm>
            <a:off x="7480066" y="1202436"/>
            <a:ext cx="1152053" cy="73152"/>
          </a:xfrm>
          <a:prstGeom prst="rect">
            <a:avLst/>
          </a:prstGeom>
          <a:noFill/>
          <a:ln/>
        </p:spPr>
        <p:txBody>
          <a:bodyPr wrap="square" lIns="6350" tIns="6350" rIns="6350" bIns="6350" rtlCol="0" anchor="ctr"/>
          <a:lstStyle/>
          <a:p>
            <a:pPr marL="0" indent="0" algn="ctr">
              <a:buNone/>
            </a:pPr>
            <a:r>
              <a:rPr lang="en-US" sz="380" dirty="0">
                <a:solidFill>
                  <a:srgbClr val="000000"/>
                </a:solidFill>
              </a:rPr>
              <a:t>Deprecación</a:t>
            </a:r>
            <a:endParaRPr lang="en-US" sz="380" dirty="0"/>
          </a:p>
        </p:txBody>
      </p:sp>
      <p:sp>
        <p:nvSpPr>
          <p:cNvPr id="203" name="Shape 201"/>
          <p:cNvSpPr/>
          <p:nvPr/>
        </p:nvSpPr>
        <p:spPr>
          <a:xfrm>
            <a:off x="8650407" y="850392"/>
            <a:ext cx="1152053" cy="109728"/>
          </a:xfrm>
          <a:prstGeom prst="rect">
            <a:avLst/>
          </a:prstGeom>
          <a:solidFill>
            <a:srgbClr val="BE82FF"/>
          </a:solidFill>
          <a:ln w="6350">
            <a:solidFill>
              <a:srgbClr val="A100FF"/>
            </a:solidFill>
            <a:prstDash val="solid"/>
          </a:ln>
        </p:spPr>
        <p:txBody>
          <a:bodyPr/>
          <a:lstStyle/>
          <a:p>
            <a:endParaRPr lang="es-ES"/>
          </a:p>
        </p:txBody>
      </p:sp>
      <p:sp>
        <p:nvSpPr>
          <p:cNvPr id="204" name="Text 202"/>
          <p:cNvSpPr/>
          <p:nvPr/>
        </p:nvSpPr>
        <p:spPr>
          <a:xfrm>
            <a:off x="8650407" y="850392"/>
            <a:ext cx="1152053" cy="109728"/>
          </a:xfrm>
          <a:prstGeom prst="rect">
            <a:avLst/>
          </a:prstGeom>
          <a:noFill/>
          <a:ln/>
        </p:spPr>
        <p:txBody>
          <a:bodyPr wrap="square" lIns="6350" tIns="6350" rIns="6350" bIns="6350" rtlCol="0" anchor="ctr"/>
          <a:lstStyle/>
          <a:p>
            <a:pPr marL="0" indent="0" algn="ctr">
              <a:buNone/>
            </a:pPr>
            <a:r>
              <a:rPr lang="en-US" sz="400" b="1" dirty="0">
                <a:solidFill>
                  <a:srgbClr val="000000"/>
                </a:solidFill>
              </a:rPr>
              <a:t>API Manager</a:t>
            </a:r>
            <a:endParaRPr lang="en-US" sz="400" dirty="0"/>
          </a:p>
        </p:txBody>
      </p:sp>
      <p:sp>
        <p:nvSpPr>
          <p:cNvPr id="205" name="Shape 203"/>
          <p:cNvSpPr/>
          <p:nvPr/>
        </p:nvSpPr>
        <p:spPr>
          <a:xfrm>
            <a:off x="8650407" y="969264"/>
            <a:ext cx="1152053" cy="99060"/>
          </a:xfrm>
          <a:prstGeom prst="rect">
            <a:avLst/>
          </a:prstGeom>
          <a:solidFill>
            <a:srgbClr val="FFFFFF"/>
          </a:solidFill>
          <a:ln w="3810">
            <a:solidFill>
              <a:srgbClr val="BE82FF"/>
            </a:solidFill>
            <a:prstDash val="solid"/>
          </a:ln>
        </p:spPr>
        <p:txBody>
          <a:bodyPr/>
          <a:lstStyle/>
          <a:p>
            <a:endParaRPr lang="es-ES"/>
          </a:p>
        </p:txBody>
      </p:sp>
      <p:sp>
        <p:nvSpPr>
          <p:cNvPr id="206" name="Text 204"/>
          <p:cNvSpPr/>
          <p:nvPr/>
        </p:nvSpPr>
        <p:spPr>
          <a:xfrm>
            <a:off x="8650407" y="969264"/>
            <a:ext cx="1152053" cy="99060"/>
          </a:xfrm>
          <a:prstGeom prst="rect">
            <a:avLst/>
          </a:prstGeom>
          <a:noFill/>
          <a:ln/>
        </p:spPr>
        <p:txBody>
          <a:bodyPr wrap="square" lIns="6350" tIns="6350" rIns="6350" bIns="6350" rtlCol="0" anchor="ctr"/>
          <a:lstStyle/>
          <a:p>
            <a:pPr marL="0" indent="0" algn="ctr">
              <a:buNone/>
            </a:pPr>
            <a:r>
              <a:rPr lang="en-US" sz="380" dirty="0">
                <a:solidFill>
                  <a:srgbClr val="000000"/>
                </a:solidFill>
              </a:rPr>
              <a:t>Admin. Políticas</a:t>
            </a:r>
            <a:endParaRPr lang="en-US" sz="380" dirty="0"/>
          </a:p>
        </p:txBody>
      </p:sp>
      <p:sp>
        <p:nvSpPr>
          <p:cNvPr id="207" name="Shape 205"/>
          <p:cNvSpPr/>
          <p:nvPr/>
        </p:nvSpPr>
        <p:spPr>
          <a:xfrm>
            <a:off x="8650407" y="1072896"/>
            <a:ext cx="1152053" cy="99060"/>
          </a:xfrm>
          <a:prstGeom prst="rect">
            <a:avLst/>
          </a:prstGeom>
          <a:solidFill>
            <a:srgbClr val="FFFFFF"/>
          </a:solidFill>
          <a:ln w="3810">
            <a:solidFill>
              <a:srgbClr val="BE82FF"/>
            </a:solidFill>
            <a:prstDash val="solid"/>
          </a:ln>
        </p:spPr>
        <p:txBody>
          <a:bodyPr/>
          <a:lstStyle/>
          <a:p>
            <a:endParaRPr lang="es-ES"/>
          </a:p>
        </p:txBody>
      </p:sp>
      <p:sp>
        <p:nvSpPr>
          <p:cNvPr id="208" name="Text 206"/>
          <p:cNvSpPr/>
          <p:nvPr/>
        </p:nvSpPr>
        <p:spPr>
          <a:xfrm>
            <a:off x="8650407" y="1072896"/>
            <a:ext cx="1152053" cy="99060"/>
          </a:xfrm>
          <a:prstGeom prst="rect">
            <a:avLst/>
          </a:prstGeom>
          <a:noFill/>
          <a:ln/>
        </p:spPr>
        <p:txBody>
          <a:bodyPr wrap="square" lIns="6350" tIns="6350" rIns="6350" bIns="6350" rtlCol="0" anchor="ctr"/>
          <a:lstStyle/>
          <a:p>
            <a:pPr marL="0" indent="0" algn="ctr">
              <a:buNone/>
            </a:pPr>
            <a:r>
              <a:rPr lang="en-US" sz="380" dirty="0">
                <a:solidFill>
                  <a:srgbClr val="000000"/>
                </a:solidFill>
              </a:rPr>
              <a:t>Analítica/Monitoriz.</a:t>
            </a:r>
            <a:endParaRPr lang="en-US" sz="380" dirty="0"/>
          </a:p>
        </p:txBody>
      </p:sp>
      <p:sp>
        <p:nvSpPr>
          <p:cNvPr id="209" name="Shape 207"/>
          <p:cNvSpPr/>
          <p:nvPr/>
        </p:nvSpPr>
        <p:spPr>
          <a:xfrm>
            <a:off x="8650407" y="1176528"/>
            <a:ext cx="1152053" cy="99060"/>
          </a:xfrm>
          <a:prstGeom prst="rect">
            <a:avLst/>
          </a:prstGeom>
          <a:solidFill>
            <a:srgbClr val="FFFFFF"/>
          </a:solidFill>
          <a:ln w="3810">
            <a:solidFill>
              <a:srgbClr val="BE82FF"/>
            </a:solidFill>
            <a:prstDash val="solid"/>
          </a:ln>
        </p:spPr>
        <p:txBody>
          <a:bodyPr/>
          <a:lstStyle/>
          <a:p>
            <a:endParaRPr lang="es-ES"/>
          </a:p>
        </p:txBody>
      </p:sp>
      <p:sp>
        <p:nvSpPr>
          <p:cNvPr id="210" name="Text 208"/>
          <p:cNvSpPr/>
          <p:nvPr/>
        </p:nvSpPr>
        <p:spPr>
          <a:xfrm>
            <a:off x="8650407" y="1176528"/>
            <a:ext cx="1152053" cy="99060"/>
          </a:xfrm>
          <a:prstGeom prst="rect">
            <a:avLst/>
          </a:prstGeom>
          <a:noFill/>
          <a:ln/>
        </p:spPr>
        <p:txBody>
          <a:bodyPr wrap="square" lIns="6350" tIns="6350" rIns="6350" bIns="6350" rtlCol="0" anchor="ctr"/>
          <a:lstStyle/>
          <a:p>
            <a:pPr marL="0" indent="0" algn="ctr">
              <a:buNone/>
            </a:pPr>
            <a:r>
              <a:rPr lang="en-US" sz="380" dirty="0">
                <a:solidFill>
                  <a:srgbClr val="000000"/>
                </a:solidFill>
              </a:rPr>
              <a:t>Despliegue</a:t>
            </a:r>
            <a:endParaRPr lang="en-US" sz="380" dirty="0"/>
          </a:p>
        </p:txBody>
      </p:sp>
      <p:sp>
        <p:nvSpPr>
          <p:cNvPr id="211" name="Shape 209"/>
          <p:cNvSpPr/>
          <p:nvPr/>
        </p:nvSpPr>
        <p:spPr>
          <a:xfrm>
            <a:off x="9820747" y="850392"/>
            <a:ext cx="1152053" cy="109728"/>
          </a:xfrm>
          <a:prstGeom prst="rect">
            <a:avLst/>
          </a:prstGeom>
          <a:solidFill>
            <a:srgbClr val="BE82FF"/>
          </a:solidFill>
          <a:ln w="6350">
            <a:solidFill>
              <a:srgbClr val="A100FF"/>
            </a:solidFill>
            <a:prstDash val="solid"/>
          </a:ln>
        </p:spPr>
        <p:txBody>
          <a:bodyPr/>
          <a:lstStyle/>
          <a:p>
            <a:endParaRPr lang="es-ES"/>
          </a:p>
        </p:txBody>
      </p:sp>
      <p:sp>
        <p:nvSpPr>
          <p:cNvPr id="212" name="Text 210"/>
          <p:cNvSpPr/>
          <p:nvPr/>
        </p:nvSpPr>
        <p:spPr>
          <a:xfrm>
            <a:off x="9820747" y="850392"/>
            <a:ext cx="1152053" cy="109728"/>
          </a:xfrm>
          <a:prstGeom prst="rect">
            <a:avLst/>
          </a:prstGeom>
          <a:noFill/>
          <a:ln/>
        </p:spPr>
        <p:txBody>
          <a:bodyPr wrap="square" lIns="6350" tIns="6350" rIns="6350" bIns="6350" rtlCol="0" anchor="ctr"/>
          <a:lstStyle/>
          <a:p>
            <a:pPr marL="0" indent="0" algn="ctr">
              <a:buNone/>
            </a:pPr>
            <a:r>
              <a:rPr lang="en-US" sz="400" b="1" dirty="0">
                <a:solidFill>
                  <a:srgbClr val="000000"/>
                </a:solidFill>
              </a:rPr>
              <a:t>Portal Desarrolladores</a:t>
            </a:r>
            <a:endParaRPr lang="en-US" sz="400" dirty="0"/>
          </a:p>
        </p:txBody>
      </p:sp>
      <p:sp>
        <p:nvSpPr>
          <p:cNvPr id="213" name="Shape 211"/>
          <p:cNvSpPr/>
          <p:nvPr/>
        </p:nvSpPr>
        <p:spPr>
          <a:xfrm>
            <a:off x="9820747" y="969264"/>
            <a:ext cx="1152053" cy="99060"/>
          </a:xfrm>
          <a:prstGeom prst="rect">
            <a:avLst/>
          </a:prstGeom>
          <a:solidFill>
            <a:srgbClr val="FFFFFF"/>
          </a:solidFill>
          <a:ln w="3810">
            <a:solidFill>
              <a:srgbClr val="BE82FF"/>
            </a:solidFill>
            <a:prstDash val="solid"/>
          </a:ln>
        </p:spPr>
        <p:txBody>
          <a:bodyPr/>
          <a:lstStyle/>
          <a:p>
            <a:endParaRPr lang="es-ES"/>
          </a:p>
        </p:txBody>
      </p:sp>
      <p:sp>
        <p:nvSpPr>
          <p:cNvPr id="214" name="Text 212"/>
          <p:cNvSpPr/>
          <p:nvPr/>
        </p:nvSpPr>
        <p:spPr>
          <a:xfrm>
            <a:off x="9820747" y="969264"/>
            <a:ext cx="1152053" cy="99060"/>
          </a:xfrm>
          <a:prstGeom prst="rect">
            <a:avLst/>
          </a:prstGeom>
          <a:noFill/>
          <a:ln/>
        </p:spPr>
        <p:txBody>
          <a:bodyPr wrap="square" lIns="6350" tIns="6350" rIns="6350" bIns="6350" rtlCol="0" anchor="ctr"/>
          <a:lstStyle/>
          <a:p>
            <a:pPr marL="0" indent="0" algn="ctr">
              <a:buNone/>
            </a:pPr>
            <a:r>
              <a:rPr lang="en-US" sz="380" dirty="0">
                <a:solidFill>
                  <a:srgbClr val="000000"/>
                </a:solidFill>
              </a:rPr>
              <a:t>Catálogo y Docs</a:t>
            </a:r>
            <a:endParaRPr lang="en-US" sz="380" dirty="0"/>
          </a:p>
        </p:txBody>
      </p:sp>
      <p:sp>
        <p:nvSpPr>
          <p:cNvPr id="215" name="Shape 213"/>
          <p:cNvSpPr/>
          <p:nvPr/>
        </p:nvSpPr>
        <p:spPr>
          <a:xfrm>
            <a:off x="9820747" y="1072896"/>
            <a:ext cx="1152053" cy="99060"/>
          </a:xfrm>
          <a:prstGeom prst="rect">
            <a:avLst/>
          </a:prstGeom>
          <a:solidFill>
            <a:srgbClr val="FFFFFF"/>
          </a:solidFill>
          <a:ln w="3810">
            <a:solidFill>
              <a:srgbClr val="BE82FF"/>
            </a:solidFill>
            <a:prstDash val="solid"/>
          </a:ln>
        </p:spPr>
        <p:txBody>
          <a:bodyPr/>
          <a:lstStyle/>
          <a:p>
            <a:endParaRPr lang="es-ES"/>
          </a:p>
        </p:txBody>
      </p:sp>
      <p:sp>
        <p:nvSpPr>
          <p:cNvPr id="216" name="Text 214"/>
          <p:cNvSpPr/>
          <p:nvPr/>
        </p:nvSpPr>
        <p:spPr>
          <a:xfrm>
            <a:off x="9820747" y="1072896"/>
            <a:ext cx="1152053" cy="99060"/>
          </a:xfrm>
          <a:prstGeom prst="rect">
            <a:avLst/>
          </a:prstGeom>
          <a:noFill/>
          <a:ln/>
        </p:spPr>
        <p:txBody>
          <a:bodyPr wrap="square" lIns="6350" tIns="6350" rIns="6350" bIns="6350" rtlCol="0" anchor="ctr"/>
          <a:lstStyle/>
          <a:p>
            <a:pPr marL="0" indent="0" algn="ctr">
              <a:buNone/>
            </a:pPr>
            <a:r>
              <a:rPr lang="en-US" sz="380" dirty="0">
                <a:solidFill>
                  <a:srgbClr val="000000"/>
                </a:solidFill>
              </a:rPr>
              <a:t>Registro/Autoservicio</a:t>
            </a:r>
            <a:endParaRPr lang="en-US" sz="380" dirty="0"/>
          </a:p>
        </p:txBody>
      </p:sp>
      <p:sp>
        <p:nvSpPr>
          <p:cNvPr id="217" name="Shape 215"/>
          <p:cNvSpPr/>
          <p:nvPr/>
        </p:nvSpPr>
        <p:spPr>
          <a:xfrm>
            <a:off x="9820747" y="1176528"/>
            <a:ext cx="1152053" cy="99060"/>
          </a:xfrm>
          <a:prstGeom prst="rect">
            <a:avLst/>
          </a:prstGeom>
          <a:solidFill>
            <a:srgbClr val="FFFFFF"/>
          </a:solidFill>
          <a:ln w="3810">
            <a:solidFill>
              <a:srgbClr val="BE82FF"/>
            </a:solidFill>
            <a:prstDash val="solid"/>
          </a:ln>
        </p:spPr>
        <p:txBody>
          <a:bodyPr/>
          <a:lstStyle/>
          <a:p>
            <a:endParaRPr lang="es-ES"/>
          </a:p>
        </p:txBody>
      </p:sp>
      <p:sp>
        <p:nvSpPr>
          <p:cNvPr id="218" name="Text 216"/>
          <p:cNvSpPr/>
          <p:nvPr/>
        </p:nvSpPr>
        <p:spPr>
          <a:xfrm>
            <a:off x="9820747" y="1176528"/>
            <a:ext cx="1152053" cy="99060"/>
          </a:xfrm>
          <a:prstGeom prst="rect">
            <a:avLst/>
          </a:prstGeom>
          <a:noFill/>
          <a:ln/>
        </p:spPr>
        <p:txBody>
          <a:bodyPr wrap="square" lIns="6350" tIns="6350" rIns="6350" bIns="6350" rtlCol="0" anchor="ctr"/>
          <a:lstStyle/>
          <a:p>
            <a:pPr marL="0" indent="0" algn="ctr">
              <a:buNone/>
            </a:pPr>
            <a:r>
              <a:rPr lang="en-US" sz="380" dirty="0">
                <a:solidFill>
                  <a:srgbClr val="000000"/>
                </a:solidFill>
              </a:rPr>
              <a:t>Colaboración</a:t>
            </a:r>
            <a:endParaRPr lang="en-US" sz="380" dirty="0"/>
          </a:p>
        </p:txBody>
      </p:sp>
      <p:sp>
        <p:nvSpPr>
          <p:cNvPr id="219" name="Shape 217"/>
          <p:cNvSpPr/>
          <p:nvPr/>
        </p:nvSpPr>
        <p:spPr>
          <a:xfrm>
            <a:off x="1152144" y="1316736"/>
            <a:ext cx="9848088" cy="633222"/>
          </a:xfrm>
          <a:prstGeom prst="rect">
            <a:avLst/>
          </a:prstGeom>
          <a:solidFill>
            <a:srgbClr val="F0F8FF"/>
          </a:solidFill>
          <a:ln w="7620">
            <a:solidFill>
              <a:srgbClr val="7500C0"/>
            </a:solidFill>
            <a:prstDash val="solid"/>
          </a:ln>
        </p:spPr>
        <p:txBody>
          <a:bodyPr/>
          <a:lstStyle/>
          <a:p>
            <a:endParaRPr lang="es-ES"/>
          </a:p>
        </p:txBody>
      </p:sp>
      <p:sp>
        <p:nvSpPr>
          <p:cNvPr id="220" name="Shape 218"/>
          <p:cNvSpPr/>
          <p:nvPr/>
        </p:nvSpPr>
        <p:spPr>
          <a:xfrm>
            <a:off x="1152144" y="1316736"/>
            <a:ext cx="9848088" cy="118872"/>
          </a:xfrm>
          <a:prstGeom prst="rect">
            <a:avLst/>
          </a:prstGeom>
          <a:solidFill>
            <a:srgbClr val="7500C0"/>
          </a:solidFill>
          <a:ln w="12700">
            <a:solidFill>
              <a:srgbClr val="7500C0"/>
            </a:solidFill>
            <a:prstDash val="solid"/>
          </a:ln>
        </p:spPr>
        <p:txBody>
          <a:bodyPr/>
          <a:lstStyle/>
          <a:p>
            <a:endParaRPr lang="es-ES"/>
          </a:p>
        </p:txBody>
      </p:sp>
      <p:sp>
        <p:nvSpPr>
          <p:cNvPr id="221" name="Text 219"/>
          <p:cNvSpPr/>
          <p:nvPr/>
        </p:nvSpPr>
        <p:spPr>
          <a:xfrm>
            <a:off x="1188720" y="1316736"/>
            <a:ext cx="9774936" cy="118872"/>
          </a:xfrm>
          <a:prstGeom prst="rect">
            <a:avLst/>
          </a:prstGeom>
          <a:noFill/>
          <a:ln/>
        </p:spPr>
        <p:txBody>
          <a:bodyPr wrap="square" lIns="0" tIns="0" rIns="0" bIns="0" rtlCol="0" anchor="ctr"/>
          <a:lstStyle/>
          <a:p>
            <a:pPr marL="0" indent="0" algn="l">
              <a:buNone/>
            </a:pPr>
            <a:r>
              <a:rPr lang="en-US" sz="550" b="1" dirty="0">
                <a:solidFill>
                  <a:srgbClr val="FFFFFF"/>
                </a:solidFill>
              </a:rPr>
              <a:t>Orquestación de Servicio</a:t>
            </a:r>
            <a:endParaRPr lang="en-US" sz="550" dirty="0"/>
          </a:p>
        </p:txBody>
      </p:sp>
      <p:sp>
        <p:nvSpPr>
          <p:cNvPr id="222" name="Shape 220"/>
          <p:cNvSpPr/>
          <p:nvPr/>
        </p:nvSpPr>
        <p:spPr>
          <a:xfrm>
            <a:off x="1170432" y="1444752"/>
            <a:ext cx="2434590" cy="100584"/>
          </a:xfrm>
          <a:prstGeom prst="rect">
            <a:avLst/>
          </a:prstGeom>
          <a:solidFill>
            <a:srgbClr val="BE82FF"/>
          </a:solidFill>
          <a:ln w="6350">
            <a:solidFill>
              <a:srgbClr val="7500C0"/>
            </a:solidFill>
            <a:prstDash val="solid"/>
          </a:ln>
        </p:spPr>
        <p:txBody>
          <a:bodyPr/>
          <a:lstStyle/>
          <a:p>
            <a:endParaRPr lang="es-ES"/>
          </a:p>
        </p:txBody>
      </p:sp>
      <p:sp>
        <p:nvSpPr>
          <p:cNvPr id="223" name="Text 221"/>
          <p:cNvSpPr/>
          <p:nvPr/>
        </p:nvSpPr>
        <p:spPr>
          <a:xfrm>
            <a:off x="1170432" y="1444752"/>
            <a:ext cx="2434590"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Orquestador de Servicios</a:t>
            </a:r>
            <a:endParaRPr lang="en-US" sz="400" dirty="0"/>
          </a:p>
        </p:txBody>
      </p:sp>
      <p:sp>
        <p:nvSpPr>
          <p:cNvPr id="224" name="Shape 222"/>
          <p:cNvSpPr/>
          <p:nvPr/>
        </p:nvSpPr>
        <p:spPr>
          <a:xfrm>
            <a:off x="1170432" y="1554480"/>
            <a:ext cx="2434590" cy="92011"/>
          </a:xfrm>
          <a:prstGeom prst="rect">
            <a:avLst/>
          </a:prstGeom>
          <a:solidFill>
            <a:srgbClr val="FFFFFF"/>
          </a:solidFill>
          <a:ln w="3810">
            <a:solidFill>
              <a:srgbClr val="BE82FF"/>
            </a:solidFill>
            <a:prstDash val="solid"/>
          </a:ln>
        </p:spPr>
        <p:txBody>
          <a:bodyPr/>
          <a:lstStyle/>
          <a:p>
            <a:endParaRPr lang="es-ES"/>
          </a:p>
        </p:txBody>
      </p:sp>
      <p:sp>
        <p:nvSpPr>
          <p:cNvPr id="225" name="Text 223"/>
          <p:cNvSpPr/>
          <p:nvPr/>
        </p:nvSpPr>
        <p:spPr>
          <a:xfrm>
            <a:off x="1170432" y="1554480"/>
            <a:ext cx="2434590" cy="92011"/>
          </a:xfrm>
          <a:prstGeom prst="rect">
            <a:avLst/>
          </a:prstGeom>
          <a:noFill/>
          <a:ln/>
        </p:spPr>
        <p:txBody>
          <a:bodyPr wrap="square" lIns="6350" tIns="6350" rIns="6350" bIns="6350" rtlCol="0" anchor="ctr"/>
          <a:lstStyle/>
          <a:p>
            <a:pPr marL="0" indent="0" algn="ctr">
              <a:buNone/>
            </a:pPr>
            <a:r>
              <a:rPr lang="en-US" sz="380" dirty="0">
                <a:solidFill>
                  <a:srgbClr val="000000"/>
                </a:solidFill>
              </a:rPr>
              <a:t>Composición y Secuenciación</a:t>
            </a:r>
            <a:endParaRPr lang="en-US" sz="380" dirty="0"/>
          </a:p>
        </p:txBody>
      </p:sp>
      <p:sp>
        <p:nvSpPr>
          <p:cNvPr id="226" name="Shape 224"/>
          <p:cNvSpPr/>
          <p:nvPr/>
        </p:nvSpPr>
        <p:spPr>
          <a:xfrm>
            <a:off x="1170432" y="1651064"/>
            <a:ext cx="2434590" cy="92011"/>
          </a:xfrm>
          <a:prstGeom prst="rect">
            <a:avLst/>
          </a:prstGeom>
          <a:solidFill>
            <a:srgbClr val="FFFFFF"/>
          </a:solidFill>
          <a:ln w="3810">
            <a:solidFill>
              <a:srgbClr val="BE82FF"/>
            </a:solidFill>
            <a:prstDash val="solid"/>
          </a:ln>
        </p:spPr>
        <p:txBody>
          <a:bodyPr/>
          <a:lstStyle/>
          <a:p>
            <a:endParaRPr lang="es-ES"/>
          </a:p>
        </p:txBody>
      </p:sp>
      <p:sp>
        <p:nvSpPr>
          <p:cNvPr id="227" name="Text 225"/>
          <p:cNvSpPr/>
          <p:nvPr/>
        </p:nvSpPr>
        <p:spPr>
          <a:xfrm>
            <a:off x="1170432" y="1651064"/>
            <a:ext cx="2434590" cy="92011"/>
          </a:xfrm>
          <a:prstGeom prst="rect">
            <a:avLst/>
          </a:prstGeom>
          <a:noFill/>
          <a:ln/>
        </p:spPr>
        <p:txBody>
          <a:bodyPr wrap="square" lIns="6350" tIns="6350" rIns="6350" bIns="6350" rtlCol="0" anchor="ctr"/>
          <a:lstStyle/>
          <a:p>
            <a:pPr marL="0" indent="0" algn="ctr">
              <a:buNone/>
            </a:pPr>
            <a:r>
              <a:rPr lang="en-US" sz="380" dirty="0">
                <a:solidFill>
                  <a:srgbClr val="000000"/>
                </a:solidFill>
              </a:rPr>
              <a:t>Ejecución Paralela/Condicional</a:t>
            </a:r>
            <a:endParaRPr lang="en-US" sz="380" dirty="0"/>
          </a:p>
        </p:txBody>
      </p:sp>
      <p:sp>
        <p:nvSpPr>
          <p:cNvPr id="228" name="Shape 226"/>
          <p:cNvSpPr/>
          <p:nvPr/>
        </p:nvSpPr>
        <p:spPr>
          <a:xfrm>
            <a:off x="1170432" y="1747647"/>
            <a:ext cx="2434590" cy="92011"/>
          </a:xfrm>
          <a:prstGeom prst="rect">
            <a:avLst/>
          </a:prstGeom>
          <a:solidFill>
            <a:srgbClr val="FFFFFF"/>
          </a:solidFill>
          <a:ln w="3810">
            <a:solidFill>
              <a:srgbClr val="BE82FF"/>
            </a:solidFill>
            <a:prstDash val="solid"/>
          </a:ln>
        </p:spPr>
        <p:txBody>
          <a:bodyPr/>
          <a:lstStyle/>
          <a:p>
            <a:endParaRPr lang="es-ES"/>
          </a:p>
        </p:txBody>
      </p:sp>
      <p:sp>
        <p:nvSpPr>
          <p:cNvPr id="229" name="Text 227"/>
          <p:cNvSpPr/>
          <p:nvPr/>
        </p:nvSpPr>
        <p:spPr>
          <a:xfrm>
            <a:off x="1170432" y="1747647"/>
            <a:ext cx="2434590" cy="92011"/>
          </a:xfrm>
          <a:prstGeom prst="rect">
            <a:avLst/>
          </a:prstGeom>
          <a:noFill/>
          <a:ln/>
        </p:spPr>
        <p:txBody>
          <a:bodyPr wrap="square" lIns="6350" tIns="6350" rIns="6350" bIns="6350" rtlCol="0" anchor="ctr"/>
          <a:lstStyle/>
          <a:p>
            <a:pPr marL="0" indent="0" algn="ctr">
              <a:buNone/>
            </a:pPr>
            <a:r>
              <a:rPr lang="en-US" sz="380" dirty="0">
                <a:solidFill>
                  <a:srgbClr val="000000"/>
                </a:solidFill>
              </a:rPr>
              <a:t>Gestión de Invocaciones</a:t>
            </a:r>
            <a:endParaRPr lang="en-US" sz="380" dirty="0"/>
          </a:p>
        </p:txBody>
      </p:sp>
      <p:sp>
        <p:nvSpPr>
          <p:cNvPr id="230" name="Shape 228"/>
          <p:cNvSpPr/>
          <p:nvPr/>
        </p:nvSpPr>
        <p:spPr>
          <a:xfrm>
            <a:off x="1170432" y="1844231"/>
            <a:ext cx="2434590" cy="92011"/>
          </a:xfrm>
          <a:prstGeom prst="rect">
            <a:avLst/>
          </a:prstGeom>
          <a:solidFill>
            <a:srgbClr val="FFFFFF"/>
          </a:solidFill>
          <a:ln w="3810">
            <a:solidFill>
              <a:srgbClr val="BE82FF"/>
            </a:solidFill>
            <a:prstDash val="solid"/>
          </a:ln>
        </p:spPr>
        <p:txBody>
          <a:bodyPr/>
          <a:lstStyle/>
          <a:p>
            <a:endParaRPr lang="es-ES"/>
          </a:p>
        </p:txBody>
      </p:sp>
      <p:sp>
        <p:nvSpPr>
          <p:cNvPr id="231" name="Text 229"/>
          <p:cNvSpPr/>
          <p:nvPr/>
        </p:nvSpPr>
        <p:spPr>
          <a:xfrm>
            <a:off x="1170432" y="1844231"/>
            <a:ext cx="2434590" cy="92011"/>
          </a:xfrm>
          <a:prstGeom prst="rect">
            <a:avLst/>
          </a:prstGeom>
          <a:noFill/>
          <a:ln/>
        </p:spPr>
        <p:txBody>
          <a:bodyPr wrap="square" lIns="6350" tIns="6350" rIns="6350" bIns="6350" rtlCol="0" anchor="ctr"/>
          <a:lstStyle/>
          <a:p>
            <a:pPr marL="0" indent="0" algn="ctr">
              <a:buNone/>
            </a:pPr>
            <a:r>
              <a:rPr lang="en-US" sz="380" dirty="0">
                <a:solidFill>
                  <a:srgbClr val="000000"/>
                </a:solidFill>
              </a:rPr>
              <a:t>Monitoriz. Orquestación</a:t>
            </a:r>
            <a:endParaRPr lang="en-US" sz="380" dirty="0"/>
          </a:p>
        </p:txBody>
      </p:sp>
      <p:sp>
        <p:nvSpPr>
          <p:cNvPr id="232" name="Shape 230"/>
          <p:cNvSpPr/>
          <p:nvPr/>
        </p:nvSpPr>
        <p:spPr>
          <a:xfrm>
            <a:off x="3623310" y="1444752"/>
            <a:ext cx="2434590" cy="100584"/>
          </a:xfrm>
          <a:prstGeom prst="rect">
            <a:avLst/>
          </a:prstGeom>
          <a:solidFill>
            <a:srgbClr val="BE82FF"/>
          </a:solidFill>
          <a:ln w="6350">
            <a:solidFill>
              <a:srgbClr val="7500C0"/>
            </a:solidFill>
            <a:prstDash val="solid"/>
          </a:ln>
        </p:spPr>
        <p:txBody>
          <a:bodyPr/>
          <a:lstStyle/>
          <a:p>
            <a:endParaRPr lang="es-ES"/>
          </a:p>
        </p:txBody>
      </p:sp>
      <p:sp>
        <p:nvSpPr>
          <p:cNvPr id="233" name="Text 231"/>
          <p:cNvSpPr/>
          <p:nvPr/>
        </p:nvSpPr>
        <p:spPr>
          <a:xfrm>
            <a:off x="3623310" y="1444752"/>
            <a:ext cx="2434590"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Marco Integración y Mediación</a:t>
            </a:r>
            <a:endParaRPr lang="en-US" sz="400" dirty="0"/>
          </a:p>
        </p:txBody>
      </p:sp>
      <p:sp>
        <p:nvSpPr>
          <p:cNvPr id="234" name="Shape 232"/>
          <p:cNvSpPr/>
          <p:nvPr/>
        </p:nvSpPr>
        <p:spPr>
          <a:xfrm>
            <a:off x="3623310" y="1554480"/>
            <a:ext cx="2434590" cy="124206"/>
          </a:xfrm>
          <a:prstGeom prst="rect">
            <a:avLst/>
          </a:prstGeom>
          <a:solidFill>
            <a:srgbClr val="FFFFFF"/>
          </a:solidFill>
          <a:ln w="3810">
            <a:solidFill>
              <a:srgbClr val="BE82FF"/>
            </a:solidFill>
            <a:prstDash val="solid"/>
          </a:ln>
        </p:spPr>
        <p:txBody>
          <a:bodyPr/>
          <a:lstStyle/>
          <a:p>
            <a:endParaRPr lang="es-ES"/>
          </a:p>
        </p:txBody>
      </p:sp>
      <p:sp>
        <p:nvSpPr>
          <p:cNvPr id="235" name="Text 233"/>
          <p:cNvSpPr/>
          <p:nvPr/>
        </p:nvSpPr>
        <p:spPr>
          <a:xfrm>
            <a:off x="3623310" y="1554480"/>
            <a:ext cx="2434590"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Transformación y Mapeo de Mensajes</a:t>
            </a:r>
            <a:endParaRPr lang="en-US" sz="380" dirty="0"/>
          </a:p>
        </p:txBody>
      </p:sp>
      <p:sp>
        <p:nvSpPr>
          <p:cNvPr id="236" name="Shape 234"/>
          <p:cNvSpPr/>
          <p:nvPr/>
        </p:nvSpPr>
        <p:spPr>
          <a:xfrm>
            <a:off x="3623310" y="1683258"/>
            <a:ext cx="2434590" cy="124206"/>
          </a:xfrm>
          <a:prstGeom prst="rect">
            <a:avLst/>
          </a:prstGeom>
          <a:solidFill>
            <a:srgbClr val="FFFFFF"/>
          </a:solidFill>
          <a:ln w="3810">
            <a:solidFill>
              <a:srgbClr val="BE82FF"/>
            </a:solidFill>
            <a:prstDash val="solid"/>
          </a:ln>
        </p:spPr>
        <p:txBody>
          <a:bodyPr/>
          <a:lstStyle/>
          <a:p>
            <a:endParaRPr lang="es-ES"/>
          </a:p>
        </p:txBody>
      </p:sp>
      <p:sp>
        <p:nvSpPr>
          <p:cNvPr id="237" name="Text 235"/>
          <p:cNvSpPr/>
          <p:nvPr/>
        </p:nvSpPr>
        <p:spPr>
          <a:xfrm>
            <a:off x="3623310" y="1683258"/>
            <a:ext cx="2434590"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Protocol Bridging</a:t>
            </a:r>
            <a:endParaRPr lang="en-US" sz="380" dirty="0"/>
          </a:p>
        </p:txBody>
      </p:sp>
      <p:sp>
        <p:nvSpPr>
          <p:cNvPr id="238" name="Shape 236"/>
          <p:cNvSpPr/>
          <p:nvPr/>
        </p:nvSpPr>
        <p:spPr>
          <a:xfrm>
            <a:off x="3623310" y="1812036"/>
            <a:ext cx="2434590" cy="124206"/>
          </a:xfrm>
          <a:prstGeom prst="rect">
            <a:avLst/>
          </a:prstGeom>
          <a:solidFill>
            <a:srgbClr val="FFFFFF"/>
          </a:solidFill>
          <a:ln w="3810">
            <a:solidFill>
              <a:srgbClr val="BE82FF"/>
            </a:solidFill>
            <a:prstDash val="solid"/>
          </a:ln>
        </p:spPr>
        <p:txBody>
          <a:bodyPr/>
          <a:lstStyle/>
          <a:p>
            <a:endParaRPr lang="es-ES"/>
          </a:p>
        </p:txBody>
      </p:sp>
      <p:sp>
        <p:nvSpPr>
          <p:cNvPr id="239" name="Text 237"/>
          <p:cNvSpPr/>
          <p:nvPr/>
        </p:nvSpPr>
        <p:spPr>
          <a:xfrm>
            <a:off x="3623310" y="1812036"/>
            <a:ext cx="2434590"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Mapeo Dinámico y Gov. Esquemas</a:t>
            </a:r>
            <a:endParaRPr lang="en-US" sz="380" dirty="0"/>
          </a:p>
        </p:txBody>
      </p:sp>
      <p:sp>
        <p:nvSpPr>
          <p:cNvPr id="240" name="Shape 238"/>
          <p:cNvSpPr/>
          <p:nvPr/>
        </p:nvSpPr>
        <p:spPr>
          <a:xfrm>
            <a:off x="6076188" y="1444752"/>
            <a:ext cx="2434590" cy="100584"/>
          </a:xfrm>
          <a:prstGeom prst="rect">
            <a:avLst/>
          </a:prstGeom>
          <a:solidFill>
            <a:srgbClr val="BE82FF"/>
          </a:solidFill>
          <a:ln w="6350">
            <a:solidFill>
              <a:srgbClr val="7500C0"/>
            </a:solidFill>
            <a:prstDash val="solid"/>
          </a:ln>
        </p:spPr>
        <p:txBody>
          <a:bodyPr/>
          <a:lstStyle/>
          <a:p>
            <a:endParaRPr lang="es-ES"/>
          </a:p>
        </p:txBody>
      </p:sp>
      <p:sp>
        <p:nvSpPr>
          <p:cNvPr id="241" name="Text 239"/>
          <p:cNvSpPr/>
          <p:nvPr/>
        </p:nvSpPr>
        <p:spPr>
          <a:xfrm>
            <a:off x="6076188" y="1444752"/>
            <a:ext cx="2434590"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Gestión de Contexto</a:t>
            </a:r>
            <a:endParaRPr lang="en-US" sz="400" dirty="0"/>
          </a:p>
        </p:txBody>
      </p:sp>
      <p:sp>
        <p:nvSpPr>
          <p:cNvPr id="242" name="Shape 240"/>
          <p:cNvSpPr/>
          <p:nvPr/>
        </p:nvSpPr>
        <p:spPr>
          <a:xfrm>
            <a:off x="6076188" y="1554480"/>
            <a:ext cx="2434590" cy="188595"/>
          </a:xfrm>
          <a:prstGeom prst="rect">
            <a:avLst/>
          </a:prstGeom>
          <a:solidFill>
            <a:srgbClr val="FFFFFF"/>
          </a:solidFill>
          <a:ln w="3810">
            <a:solidFill>
              <a:srgbClr val="BE82FF"/>
            </a:solidFill>
            <a:prstDash val="solid"/>
          </a:ln>
        </p:spPr>
        <p:txBody>
          <a:bodyPr/>
          <a:lstStyle/>
          <a:p>
            <a:endParaRPr lang="es-ES"/>
          </a:p>
        </p:txBody>
      </p:sp>
      <p:sp>
        <p:nvSpPr>
          <p:cNvPr id="243" name="Text 241"/>
          <p:cNvSpPr/>
          <p:nvPr/>
        </p:nvSpPr>
        <p:spPr>
          <a:xfrm>
            <a:off x="6076188" y="1554480"/>
            <a:ext cx="2434590"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Propagación Contexto de Solicitud</a:t>
            </a:r>
            <a:endParaRPr lang="en-US" sz="380" dirty="0"/>
          </a:p>
        </p:txBody>
      </p:sp>
      <p:sp>
        <p:nvSpPr>
          <p:cNvPr id="244" name="Shape 242"/>
          <p:cNvSpPr/>
          <p:nvPr/>
        </p:nvSpPr>
        <p:spPr>
          <a:xfrm>
            <a:off x="6076188" y="1747647"/>
            <a:ext cx="2434590" cy="188595"/>
          </a:xfrm>
          <a:prstGeom prst="rect">
            <a:avLst/>
          </a:prstGeom>
          <a:solidFill>
            <a:srgbClr val="FFFFFF"/>
          </a:solidFill>
          <a:ln w="3810">
            <a:solidFill>
              <a:srgbClr val="BE82FF"/>
            </a:solidFill>
            <a:prstDash val="solid"/>
          </a:ln>
        </p:spPr>
        <p:txBody>
          <a:bodyPr/>
          <a:lstStyle/>
          <a:p>
            <a:endParaRPr lang="es-ES"/>
          </a:p>
        </p:txBody>
      </p:sp>
      <p:sp>
        <p:nvSpPr>
          <p:cNvPr id="245" name="Text 243"/>
          <p:cNvSpPr/>
          <p:nvPr/>
        </p:nvSpPr>
        <p:spPr>
          <a:xfrm>
            <a:off x="6076188" y="1747647"/>
            <a:ext cx="2434590"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Registro de Servicios y Reglas</a:t>
            </a:r>
            <a:endParaRPr lang="en-US" sz="380" dirty="0"/>
          </a:p>
        </p:txBody>
      </p:sp>
      <p:sp>
        <p:nvSpPr>
          <p:cNvPr id="246" name="Shape 244"/>
          <p:cNvSpPr/>
          <p:nvPr/>
        </p:nvSpPr>
        <p:spPr>
          <a:xfrm>
            <a:off x="8529066" y="1444752"/>
            <a:ext cx="2434590" cy="100584"/>
          </a:xfrm>
          <a:prstGeom prst="rect">
            <a:avLst/>
          </a:prstGeom>
          <a:solidFill>
            <a:srgbClr val="BE82FF"/>
          </a:solidFill>
          <a:ln w="6350">
            <a:solidFill>
              <a:srgbClr val="7500C0"/>
            </a:solidFill>
            <a:prstDash val="solid"/>
          </a:ln>
        </p:spPr>
        <p:txBody>
          <a:bodyPr/>
          <a:lstStyle/>
          <a:p>
            <a:endParaRPr lang="es-ES"/>
          </a:p>
        </p:txBody>
      </p:sp>
      <p:sp>
        <p:nvSpPr>
          <p:cNvPr id="247" name="Text 245"/>
          <p:cNvSpPr/>
          <p:nvPr/>
        </p:nvSpPr>
        <p:spPr>
          <a:xfrm>
            <a:off x="8529066" y="1444752"/>
            <a:ext cx="2434590"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Adaptadores Heredados</a:t>
            </a:r>
            <a:endParaRPr lang="en-US" sz="400" dirty="0"/>
          </a:p>
        </p:txBody>
      </p:sp>
      <p:sp>
        <p:nvSpPr>
          <p:cNvPr id="248" name="Shape 246"/>
          <p:cNvSpPr/>
          <p:nvPr/>
        </p:nvSpPr>
        <p:spPr>
          <a:xfrm>
            <a:off x="8529066" y="1554480"/>
            <a:ext cx="2434590" cy="92011"/>
          </a:xfrm>
          <a:prstGeom prst="rect">
            <a:avLst/>
          </a:prstGeom>
          <a:solidFill>
            <a:srgbClr val="FFFFFF"/>
          </a:solidFill>
          <a:ln w="3810">
            <a:solidFill>
              <a:srgbClr val="BE82FF"/>
            </a:solidFill>
            <a:prstDash val="solid"/>
          </a:ln>
        </p:spPr>
        <p:txBody>
          <a:bodyPr/>
          <a:lstStyle/>
          <a:p>
            <a:endParaRPr lang="es-ES"/>
          </a:p>
        </p:txBody>
      </p:sp>
      <p:sp>
        <p:nvSpPr>
          <p:cNvPr id="249" name="Text 247"/>
          <p:cNvSpPr/>
          <p:nvPr/>
        </p:nvSpPr>
        <p:spPr>
          <a:xfrm>
            <a:off x="8529066" y="1554480"/>
            <a:ext cx="2434590" cy="92011"/>
          </a:xfrm>
          <a:prstGeom prst="rect">
            <a:avLst/>
          </a:prstGeom>
          <a:noFill/>
          <a:ln/>
        </p:spPr>
        <p:txBody>
          <a:bodyPr wrap="square" lIns="6350" tIns="6350" rIns="6350" bIns="6350" rtlCol="0" anchor="ctr"/>
          <a:lstStyle/>
          <a:p>
            <a:pPr marL="0" indent="0" algn="ctr">
              <a:buNone/>
            </a:pPr>
            <a:r>
              <a:rPr lang="en-US" sz="380" dirty="0">
                <a:solidFill>
                  <a:srgbClr val="000000"/>
                </a:solidFill>
              </a:rPr>
              <a:t>Wrappers y Exposición de Legado</a:t>
            </a:r>
            <a:endParaRPr lang="en-US" sz="380" dirty="0"/>
          </a:p>
        </p:txBody>
      </p:sp>
      <p:sp>
        <p:nvSpPr>
          <p:cNvPr id="250" name="Shape 248"/>
          <p:cNvSpPr/>
          <p:nvPr/>
        </p:nvSpPr>
        <p:spPr>
          <a:xfrm>
            <a:off x="8529066" y="1651064"/>
            <a:ext cx="2434590" cy="92011"/>
          </a:xfrm>
          <a:prstGeom prst="rect">
            <a:avLst/>
          </a:prstGeom>
          <a:solidFill>
            <a:srgbClr val="FFFFFF"/>
          </a:solidFill>
          <a:ln w="3810">
            <a:solidFill>
              <a:srgbClr val="BE82FF"/>
            </a:solidFill>
            <a:prstDash val="solid"/>
          </a:ln>
        </p:spPr>
        <p:txBody>
          <a:bodyPr/>
          <a:lstStyle/>
          <a:p>
            <a:endParaRPr lang="es-ES"/>
          </a:p>
        </p:txBody>
      </p:sp>
      <p:sp>
        <p:nvSpPr>
          <p:cNvPr id="251" name="Text 249"/>
          <p:cNvSpPr/>
          <p:nvPr/>
        </p:nvSpPr>
        <p:spPr>
          <a:xfrm>
            <a:off x="8529066" y="1651064"/>
            <a:ext cx="2434590" cy="92011"/>
          </a:xfrm>
          <a:prstGeom prst="rect">
            <a:avLst/>
          </a:prstGeom>
          <a:noFill/>
          <a:ln/>
        </p:spPr>
        <p:txBody>
          <a:bodyPr wrap="square" lIns="6350" tIns="6350" rIns="6350" bIns="6350" rtlCol="0" anchor="ctr"/>
          <a:lstStyle/>
          <a:p>
            <a:pPr marL="0" indent="0" algn="ctr">
              <a:buNone/>
            </a:pPr>
            <a:r>
              <a:rPr lang="en-US" sz="380" dirty="0">
                <a:solidFill>
                  <a:srgbClr val="000000"/>
                </a:solidFill>
              </a:rPr>
              <a:t>Adaptadores de Plataforma</a:t>
            </a:r>
            <a:endParaRPr lang="en-US" sz="380" dirty="0"/>
          </a:p>
        </p:txBody>
      </p:sp>
      <p:sp>
        <p:nvSpPr>
          <p:cNvPr id="252" name="Shape 250"/>
          <p:cNvSpPr/>
          <p:nvPr/>
        </p:nvSpPr>
        <p:spPr>
          <a:xfrm>
            <a:off x="8529066" y="1747647"/>
            <a:ext cx="2434590" cy="92011"/>
          </a:xfrm>
          <a:prstGeom prst="rect">
            <a:avLst/>
          </a:prstGeom>
          <a:solidFill>
            <a:srgbClr val="FFFFFF"/>
          </a:solidFill>
          <a:ln w="3810">
            <a:solidFill>
              <a:srgbClr val="BE82FF"/>
            </a:solidFill>
            <a:prstDash val="solid"/>
          </a:ln>
        </p:spPr>
        <p:txBody>
          <a:bodyPr/>
          <a:lstStyle/>
          <a:p>
            <a:endParaRPr lang="es-ES"/>
          </a:p>
        </p:txBody>
      </p:sp>
      <p:sp>
        <p:nvSpPr>
          <p:cNvPr id="253" name="Text 251"/>
          <p:cNvSpPr/>
          <p:nvPr/>
        </p:nvSpPr>
        <p:spPr>
          <a:xfrm>
            <a:off x="8529066" y="1747647"/>
            <a:ext cx="2434590" cy="92011"/>
          </a:xfrm>
          <a:prstGeom prst="rect">
            <a:avLst/>
          </a:prstGeom>
          <a:noFill/>
          <a:ln/>
        </p:spPr>
        <p:txBody>
          <a:bodyPr wrap="square" lIns="6350" tIns="6350" rIns="6350" bIns="6350" rtlCol="0" anchor="ctr"/>
          <a:lstStyle/>
          <a:p>
            <a:pPr marL="0" indent="0" algn="ctr">
              <a:buNone/>
            </a:pPr>
            <a:r>
              <a:rPr lang="en-US" sz="380" dirty="0">
                <a:solidFill>
                  <a:srgbClr val="000000"/>
                </a:solidFill>
              </a:rPr>
              <a:t>Batch &amp; Sincroniz. Datos Legado</a:t>
            </a:r>
            <a:endParaRPr lang="en-US" sz="380" dirty="0"/>
          </a:p>
        </p:txBody>
      </p:sp>
      <p:sp>
        <p:nvSpPr>
          <p:cNvPr id="254" name="Shape 252"/>
          <p:cNvSpPr/>
          <p:nvPr/>
        </p:nvSpPr>
        <p:spPr>
          <a:xfrm>
            <a:off x="8529066" y="1844231"/>
            <a:ext cx="2434590" cy="92011"/>
          </a:xfrm>
          <a:prstGeom prst="rect">
            <a:avLst/>
          </a:prstGeom>
          <a:solidFill>
            <a:srgbClr val="FFFFFF"/>
          </a:solidFill>
          <a:ln w="3810">
            <a:solidFill>
              <a:srgbClr val="BE82FF"/>
            </a:solidFill>
            <a:prstDash val="solid"/>
          </a:ln>
        </p:spPr>
        <p:txBody>
          <a:bodyPr/>
          <a:lstStyle/>
          <a:p>
            <a:endParaRPr lang="es-ES"/>
          </a:p>
        </p:txBody>
      </p:sp>
      <p:sp>
        <p:nvSpPr>
          <p:cNvPr id="255" name="Text 253"/>
          <p:cNvSpPr/>
          <p:nvPr/>
        </p:nvSpPr>
        <p:spPr>
          <a:xfrm>
            <a:off x="8529066" y="1844231"/>
            <a:ext cx="2434590" cy="92011"/>
          </a:xfrm>
          <a:prstGeom prst="rect">
            <a:avLst/>
          </a:prstGeom>
          <a:noFill/>
          <a:ln/>
        </p:spPr>
        <p:txBody>
          <a:bodyPr wrap="square" lIns="6350" tIns="6350" rIns="6350" bIns="6350" rtlCol="0" anchor="ctr"/>
          <a:lstStyle/>
          <a:p>
            <a:pPr marL="0" indent="0" algn="ctr">
              <a:buNone/>
            </a:pPr>
            <a:r>
              <a:rPr lang="en-US" sz="380" dirty="0">
                <a:solidFill>
                  <a:srgbClr val="000000"/>
                </a:solidFill>
              </a:rPr>
              <a:t>Ciclo de Vida Adaptadores</a:t>
            </a:r>
            <a:endParaRPr lang="en-US" sz="380" dirty="0"/>
          </a:p>
        </p:txBody>
      </p:sp>
      <p:sp>
        <p:nvSpPr>
          <p:cNvPr id="256" name="Shape 254"/>
          <p:cNvSpPr/>
          <p:nvPr/>
        </p:nvSpPr>
        <p:spPr>
          <a:xfrm>
            <a:off x="1152144" y="1977390"/>
            <a:ext cx="9848088" cy="633222"/>
          </a:xfrm>
          <a:prstGeom prst="rect">
            <a:avLst/>
          </a:prstGeom>
          <a:solidFill>
            <a:srgbClr val="F0F8FF"/>
          </a:solidFill>
          <a:ln w="7620">
            <a:solidFill>
              <a:srgbClr val="7500C0"/>
            </a:solidFill>
            <a:prstDash val="solid"/>
          </a:ln>
        </p:spPr>
        <p:txBody>
          <a:bodyPr/>
          <a:lstStyle/>
          <a:p>
            <a:endParaRPr lang="es-ES"/>
          </a:p>
        </p:txBody>
      </p:sp>
      <p:sp>
        <p:nvSpPr>
          <p:cNvPr id="257" name="Shape 255"/>
          <p:cNvSpPr/>
          <p:nvPr/>
        </p:nvSpPr>
        <p:spPr>
          <a:xfrm>
            <a:off x="1152144" y="1977390"/>
            <a:ext cx="9848088" cy="118872"/>
          </a:xfrm>
          <a:prstGeom prst="rect">
            <a:avLst/>
          </a:prstGeom>
          <a:solidFill>
            <a:srgbClr val="7500C0"/>
          </a:solidFill>
          <a:ln w="12700">
            <a:solidFill>
              <a:srgbClr val="7500C0"/>
            </a:solidFill>
            <a:prstDash val="solid"/>
          </a:ln>
        </p:spPr>
        <p:txBody>
          <a:bodyPr/>
          <a:lstStyle/>
          <a:p>
            <a:endParaRPr lang="es-ES"/>
          </a:p>
        </p:txBody>
      </p:sp>
      <p:sp>
        <p:nvSpPr>
          <p:cNvPr id="258" name="Text 256"/>
          <p:cNvSpPr/>
          <p:nvPr/>
        </p:nvSpPr>
        <p:spPr>
          <a:xfrm>
            <a:off x="1188720" y="1977390"/>
            <a:ext cx="9774936" cy="118872"/>
          </a:xfrm>
          <a:prstGeom prst="rect">
            <a:avLst/>
          </a:prstGeom>
          <a:noFill/>
          <a:ln/>
        </p:spPr>
        <p:txBody>
          <a:bodyPr wrap="square" lIns="0" tIns="0" rIns="0" bIns="0" rtlCol="0" anchor="ctr"/>
          <a:lstStyle/>
          <a:p>
            <a:pPr marL="0" indent="0" algn="l">
              <a:buNone/>
            </a:pPr>
            <a:r>
              <a:rPr lang="en-US" sz="550" b="1" dirty="0">
                <a:solidFill>
                  <a:srgbClr val="FFFFFF"/>
                </a:solidFill>
              </a:rPr>
              <a:t>Orquestación de Procesos</a:t>
            </a:r>
            <a:endParaRPr lang="en-US" sz="550" dirty="0"/>
          </a:p>
        </p:txBody>
      </p:sp>
      <p:sp>
        <p:nvSpPr>
          <p:cNvPr id="259" name="Shape 257"/>
          <p:cNvSpPr/>
          <p:nvPr/>
        </p:nvSpPr>
        <p:spPr>
          <a:xfrm>
            <a:off x="1170432" y="2105406"/>
            <a:ext cx="2434590" cy="100584"/>
          </a:xfrm>
          <a:prstGeom prst="rect">
            <a:avLst/>
          </a:prstGeom>
          <a:solidFill>
            <a:srgbClr val="BE82FF"/>
          </a:solidFill>
          <a:ln w="6350">
            <a:solidFill>
              <a:srgbClr val="7500C0"/>
            </a:solidFill>
            <a:prstDash val="solid"/>
          </a:ln>
        </p:spPr>
        <p:txBody>
          <a:bodyPr/>
          <a:lstStyle/>
          <a:p>
            <a:endParaRPr lang="es-ES"/>
          </a:p>
        </p:txBody>
      </p:sp>
      <p:sp>
        <p:nvSpPr>
          <p:cNvPr id="260" name="Text 258"/>
          <p:cNvSpPr/>
          <p:nvPr/>
        </p:nvSpPr>
        <p:spPr>
          <a:xfrm>
            <a:off x="1170432" y="2105406"/>
            <a:ext cx="2434590"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Servicios de Workflow</a:t>
            </a:r>
            <a:endParaRPr lang="en-US" sz="400" dirty="0"/>
          </a:p>
        </p:txBody>
      </p:sp>
      <p:sp>
        <p:nvSpPr>
          <p:cNvPr id="261" name="Shape 259"/>
          <p:cNvSpPr/>
          <p:nvPr/>
        </p:nvSpPr>
        <p:spPr>
          <a:xfrm>
            <a:off x="1170432" y="2215134"/>
            <a:ext cx="2434590" cy="124206"/>
          </a:xfrm>
          <a:prstGeom prst="rect">
            <a:avLst/>
          </a:prstGeom>
          <a:solidFill>
            <a:srgbClr val="FFFFFF"/>
          </a:solidFill>
          <a:ln w="3810">
            <a:solidFill>
              <a:srgbClr val="BE82FF"/>
            </a:solidFill>
            <a:prstDash val="solid"/>
          </a:ln>
        </p:spPr>
        <p:txBody>
          <a:bodyPr/>
          <a:lstStyle/>
          <a:p>
            <a:endParaRPr lang="es-ES"/>
          </a:p>
        </p:txBody>
      </p:sp>
      <p:sp>
        <p:nvSpPr>
          <p:cNvPr id="262" name="Text 260"/>
          <p:cNvSpPr/>
          <p:nvPr/>
        </p:nvSpPr>
        <p:spPr>
          <a:xfrm>
            <a:off x="1170432" y="2215134"/>
            <a:ext cx="2434590"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Definición y Versionado Workflow</a:t>
            </a:r>
            <a:endParaRPr lang="en-US" sz="380" dirty="0"/>
          </a:p>
        </p:txBody>
      </p:sp>
      <p:sp>
        <p:nvSpPr>
          <p:cNvPr id="263" name="Shape 261"/>
          <p:cNvSpPr/>
          <p:nvPr/>
        </p:nvSpPr>
        <p:spPr>
          <a:xfrm>
            <a:off x="1170432" y="2343912"/>
            <a:ext cx="2434590" cy="124206"/>
          </a:xfrm>
          <a:prstGeom prst="rect">
            <a:avLst/>
          </a:prstGeom>
          <a:solidFill>
            <a:srgbClr val="FFFFFF"/>
          </a:solidFill>
          <a:ln w="3810">
            <a:solidFill>
              <a:srgbClr val="BE82FF"/>
            </a:solidFill>
            <a:prstDash val="solid"/>
          </a:ln>
        </p:spPr>
        <p:txBody>
          <a:bodyPr/>
          <a:lstStyle/>
          <a:p>
            <a:endParaRPr lang="es-ES"/>
          </a:p>
        </p:txBody>
      </p:sp>
      <p:sp>
        <p:nvSpPr>
          <p:cNvPr id="264" name="Text 262"/>
          <p:cNvSpPr/>
          <p:nvPr/>
        </p:nvSpPr>
        <p:spPr>
          <a:xfrm>
            <a:off x="1170432" y="2343912"/>
            <a:ext cx="2434590"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Ejecución y Coordinación Pasos</a:t>
            </a:r>
            <a:endParaRPr lang="en-US" sz="380" dirty="0"/>
          </a:p>
        </p:txBody>
      </p:sp>
      <p:sp>
        <p:nvSpPr>
          <p:cNvPr id="265" name="Shape 263"/>
          <p:cNvSpPr/>
          <p:nvPr/>
        </p:nvSpPr>
        <p:spPr>
          <a:xfrm>
            <a:off x="1170432" y="2472690"/>
            <a:ext cx="2434590" cy="124206"/>
          </a:xfrm>
          <a:prstGeom prst="rect">
            <a:avLst/>
          </a:prstGeom>
          <a:solidFill>
            <a:srgbClr val="FFFFFF"/>
          </a:solidFill>
          <a:ln w="3810">
            <a:solidFill>
              <a:srgbClr val="BE82FF"/>
            </a:solidFill>
            <a:prstDash val="solid"/>
          </a:ln>
        </p:spPr>
        <p:txBody>
          <a:bodyPr/>
          <a:lstStyle/>
          <a:p>
            <a:endParaRPr lang="es-ES"/>
          </a:p>
        </p:txBody>
      </p:sp>
      <p:sp>
        <p:nvSpPr>
          <p:cNvPr id="266" name="Text 264"/>
          <p:cNvSpPr/>
          <p:nvPr/>
        </p:nvSpPr>
        <p:spPr>
          <a:xfrm>
            <a:off x="1170432" y="2472690"/>
            <a:ext cx="2434590"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Config. Reglas de Negocio</a:t>
            </a:r>
            <a:endParaRPr lang="en-US" sz="380" dirty="0"/>
          </a:p>
        </p:txBody>
      </p:sp>
      <p:sp>
        <p:nvSpPr>
          <p:cNvPr id="267" name="Shape 265"/>
          <p:cNvSpPr/>
          <p:nvPr/>
        </p:nvSpPr>
        <p:spPr>
          <a:xfrm>
            <a:off x="3623310" y="2105406"/>
            <a:ext cx="2434590" cy="100584"/>
          </a:xfrm>
          <a:prstGeom prst="rect">
            <a:avLst/>
          </a:prstGeom>
          <a:solidFill>
            <a:srgbClr val="BE82FF"/>
          </a:solidFill>
          <a:ln w="6350">
            <a:solidFill>
              <a:srgbClr val="7500C0"/>
            </a:solidFill>
            <a:prstDash val="solid"/>
          </a:ln>
        </p:spPr>
        <p:txBody>
          <a:bodyPr/>
          <a:lstStyle/>
          <a:p>
            <a:endParaRPr lang="es-ES"/>
          </a:p>
        </p:txBody>
      </p:sp>
      <p:sp>
        <p:nvSpPr>
          <p:cNvPr id="268" name="Text 266"/>
          <p:cNvSpPr/>
          <p:nvPr/>
        </p:nvSpPr>
        <p:spPr>
          <a:xfrm>
            <a:off x="3623310" y="2105406"/>
            <a:ext cx="2434590"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Gestión Tareas Humanas</a:t>
            </a:r>
            <a:endParaRPr lang="en-US" sz="400" dirty="0"/>
          </a:p>
        </p:txBody>
      </p:sp>
      <p:sp>
        <p:nvSpPr>
          <p:cNvPr id="269" name="Shape 267"/>
          <p:cNvSpPr/>
          <p:nvPr/>
        </p:nvSpPr>
        <p:spPr>
          <a:xfrm>
            <a:off x="3623310" y="2215134"/>
            <a:ext cx="2434590" cy="188595"/>
          </a:xfrm>
          <a:prstGeom prst="rect">
            <a:avLst/>
          </a:prstGeom>
          <a:solidFill>
            <a:srgbClr val="FFFFFF"/>
          </a:solidFill>
          <a:ln w="3810">
            <a:solidFill>
              <a:srgbClr val="BE82FF"/>
            </a:solidFill>
            <a:prstDash val="solid"/>
          </a:ln>
        </p:spPr>
        <p:txBody>
          <a:bodyPr/>
          <a:lstStyle/>
          <a:p>
            <a:endParaRPr lang="es-ES"/>
          </a:p>
        </p:txBody>
      </p:sp>
      <p:sp>
        <p:nvSpPr>
          <p:cNvPr id="270" name="Text 268"/>
          <p:cNvSpPr/>
          <p:nvPr/>
        </p:nvSpPr>
        <p:spPr>
          <a:xfrm>
            <a:off x="3623310" y="2215134"/>
            <a:ext cx="2434590"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Asignación y Listas de Trabajo</a:t>
            </a:r>
            <a:endParaRPr lang="en-US" sz="380" dirty="0"/>
          </a:p>
        </p:txBody>
      </p:sp>
      <p:sp>
        <p:nvSpPr>
          <p:cNvPr id="271" name="Shape 269"/>
          <p:cNvSpPr/>
          <p:nvPr/>
        </p:nvSpPr>
        <p:spPr>
          <a:xfrm>
            <a:off x="3623310" y="2408301"/>
            <a:ext cx="2434590" cy="188595"/>
          </a:xfrm>
          <a:prstGeom prst="rect">
            <a:avLst/>
          </a:prstGeom>
          <a:solidFill>
            <a:srgbClr val="FFFFFF"/>
          </a:solidFill>
          <a:ln w="3810">
            <a:solidFill>
              <a:srgbClr val="BE82FF"/>
            </a:solidFill>
            <a:prstDash val="solid"/>
          </a:ln>
        </p:spPr>
        <p:txBody>
          <a:bodyPr/>
          <a:lstStyle/>
          <a:p>
            <a:endParaRPr lang="es-ES"/>
          </a:p>
        </p:txBody>
      </p:sp>
      <p:sp>
        <p:nvSpPr>
          <p:cNvPr id="272" name="Text 270"/>
          <p:cNvSpPr/>
          <p:nvPr/>
        </p:nvSpPr>
        <p:spPr>
          <a:xfrm>
            <a:off x="3623310" y="2408301"/>
            <a:ext cx="2434590"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Interceptación y Reanudación</a:t>
            </a:r>
            <a:endParaRPr lang="en-US" sz="380" dirty="0"/>
          </a:p>
        </p:txBody>
      </p:sp>
      <p:sp>
        <p:nvSpPr>
          <p:cNvPr id="273" name="Shape 271"/>
          <p:cNvSpPr/>
          <p:nvPr/>
        </p:nvSpPr>
        <p:spPr>
          <a:xfrm>
            <a:off x="6076188" y="2105406"/>
            <a:ext cx="2434590" cy="100584"/>
          </a:xfrm>
          <a:prstGeom prst="rect">
            <a:avLst/>
          </a:prstGeom>
          <a:solidFill>
            <a:srgbClr val="BE82FF"/>
          </a:solidFill>
          <a:ln w="6350">
            <a:solidFill>
              <a:srgbClr val="7500C0"/>
            </a:solidFill>
            <a:prstDash val="solid"/>
          </a:ln>
        </p:spPr>
        <p:txBody>
          <a:bodyPr/>
          <a:lstStyle/>
          <a:p>
            <a:endParaRPr lang="es-ES"/>
          </a:p>
        </p:txBody>
      </p:sp>
      <p:sp>
        <p:nvSpPr>
          <p:cNvPr id="274" name="Text 272"/>
          <p:cNvSpPr/>
          <p:nvPr/>
        </p:nvSpPr>
        <p:spPr>
          <a:xfrm>
            <a:off x="6076188" y="2105406"/>
            <a:ext cx="2434590"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Estado y Excepciones Proceso</a:t>
            </a:r>
            <a:endParaRPr lang="en-US" sz="400" dirty="0"/>
          </a:p>
        </p:txBody>
      </p:sp>
      <p:sp>
        <p:nvSpPr>
          <p:cNvPr id="275" name="Shape 273"/>
          <p:cNvSpPr/>
          <p:nvPr/>
        </p:nvSpPr>
        <p:spPr>
          <a:xfrm>
            <a:off x="6076188" y="2215134"/>
            <a:ext cx="2434590" cy="124206"/>
          </a:xfrm>
          <a:prstGeom prst="rect">
            <a:avLst/>
          </a:prstGeom>
          <a:solidFill>
            <a:srgbClr val="FFFFFF"/>
          </a:solidFill>
          <a:ln w="3810">
            <a:solidFill>
              <a:srgbClr val="BE82FF"/>
            </a:solidFill>
            <a:prstDash val="solid"/>
          </a:ln>
        </p:spPr>
        <p:txBody>
          <a:bodyPr/>
          <a:lstStyle/>
          <a:p>
            <a:endParaRPr lang="es-ES"/>
          </a:p>
        </p:txBody>
      </p:sp>
      <p:sp>
        <p:nvSpPr>
          <p:cNvPr id="276" name="Text 274"/>
          <p:cNvSpPr/>
          <p:nvPr/>
        </p:nvSpPr>
        <p:spPr>
          <a:xfrm>
            <a:off x="6076188" y="2215134"/>
            <a:ext cx="2434590"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Persistencia Estado Proceso</a:t>
            </a:r>
            <a:endParaRPr lang="en-US" sz="380" dirty="0"/>
          </a:p>
        </p:txBody>
      </p:sp>
      <p:sp>
        <p:nvSpPr>
          <p:cNvPr id="277" name="Shape 275"/>
          <p:cNvSpPr/>
          <p:nvPr/>
        </p:nvSpPr>
        <p:spPr>
          <a:xfrm>
            <a:off x="6076188" y="2343912"/>
            <a:ext cx="2434590" cy="124206"/>
          </a:xfrm>
          <a:prstGeom prst="rect">
            <a:avLst/>
          </a:prstGeom>
          <a:solidFill>
            <a:srgbClr val="FFFFFF"/>
          </a:solidFill>
          <a:ln w="3810">
            <a:solidFill>
              <a:srgbClr val="BE82FF"/>
            </a:solidFill>
            <a:prstDash val="solid"/>
          </a:ln>
        </p:spPr>
        <p:txBody>
          <a:bodyPr/>
          <a:lstStyle/>
          <a:p>
            <a:endParaRPr lang="es-ES"/>
          </a:p>
        </p:txBody>
      </p:sp>
      <p:sp>
        <p:nvSpPr>
          <p:cNvPr id="278" name="Text 276"/>
          <p:cNvSpPr/>
          <p:nvPr/>
        </p:nvSpPr>
        <p:spPr>
          <a:xfrm>
            <a:off x="6076188" y="2343912"/>
            <a:ext cx="2434590"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Escalación y Timeouts</a:t>
            </a:r>
            <a:endParaRPr lang="en-US" sz="380" dirty="0"/>
          </a:p>
        </p:txBody>
      </p:sp>
      <p:sp>
        <p:nvSpPr>
          <p:cNvPr id="279" name="Shape 277"/>
          <p:cNvSpPr/>
          <p:nvPr/>
        </p:nvSpPr>
        <p:spPr>
          <a:xfrm>
            <a:off x="6076188" y="2472690"/>
            <a:ext cx="2434590" cy="124206"/>
          </a:xfrm>
          <a:prstGeom prst="rect">
            <a:avLst/>
          </a:prstGeom>
          <a:solidFill>
            <a:srgbClr val="FFFFFF"/>
          </a:solidFill>
          <a:ln w="3810">
            <a:solidFill>
              <a:srgbClr val="BE82FF"/>
            </a:solidFill>
            <a:prstDash val="solid"/>
          </a:ln>
        </p:spPr>
        <p:txBody>
          <a:bodyPr/>
          <a:lstStyle/>
          <a:p>
            <a:endParaRPr lang="es-ES"/>
          </a:p>
        </p:txBody>
      </p:sp>
      <p:sp>
        <p:nvSpPr>
          <p:cNvPr id="280" name="Text 278"/>
          <p:cNvSpPr/>
          <p:nvPr/>
        </p:nvSpPr>
        <p:spPr>
          <a:xfrm>
            <a:off x="6076188" y="2472690"/>
            <a:ext cx="2434590"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Manejo de Excepciones</a:t>
            </a:r>
            <a:endParaRPr lang="en-US" sz="380" dirty="0"/>
          </a:p>
        </p:txBody>
      </p:sp>
      <p:sp>
        <p:nvSpPr>
          <p:cNvPr id="281" name="Shape 279"/>
          <p:cNvSpPr/>
          <p:nvPr/>
        </p:nvSpPr>
        <p:spPr>
          <a:xfrm>
            <a:off x="8529066" y="2105406"/>
            <a:ext cx="2434590" cy="100584"/>
          </a:xfrm>
          <a:prstGeom prst="rect">
            <a:avLst/>
          </a:prstGeom>
          <a:solidFill>
            <a:srgbClr val="BE82FF"/>
          </a:solidFill>
          <a:ln w="6350">
            <a:solidFill>
              <a:srgbClr val="7500C0"/>
            </a:solidFill>
            <a:prstDash val="solid"/>
          </a:ln>
        </p:spPr>
        <p:txBody>
          <a:bodyPr/>
          <a:lstStyle/>
          <a:p>
            <a:endParaRPr lang="es-ES"/>
          </a:p>
        </p:txBody>
      </p:sp>
      <p:sp>
        <p:nvSpPr>
          <p:cNvPr id="282" name="Text 280"/>
          <p:cNvSpPr/>
          <p:nvPr/>
        </p:nvSpPr>
        <p:spPr>
          <a:xfrm>
            <a:off x="8529066" y="2105406"/>
            <a:ext cx="2434590"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Monitoriz. y Admin. Procesos</a:t>
            </a:r>
            <a:endParaRPr lang="en-US" sz="400" dirty="0"/>
          </a:p>
        </p:txBody>
      </p:sp>
      <p:sp>
        <p:nvSpPr>
          <p:cNvPr id="283" name="Shape 281"/>
          <p:cNvSpPr/>
          <p:nvPr/>
        </p:nvSpPr>
        <p:spPr>
          <a:xfrm>
            <a:off x="8529066" y="2215134"/>
            <a:ext cx="2434590" cy="188595"/>
          </a:xfrm>
          <a:prstGeom prst="rect">
            <a:avLst/>
          </a:prstGeom>
          <a:solidFill>
            <a:srgbClr val="FFFFFF"/>
          </a:solidFill>
          <a:ln w="3810">
            <a:solidFill>
              <a:srgbClr val="BE82FF"/>
            </a:solidFill>
            <a:prstDash val="solid"/>
          </a:ln>
        </p:spPr>
        <p:txBody>
          <a:bodyPr/>
          <a:lstStyle/>
          <a:p>
            <a:endParaRPr lang="es-ES"/>
          </a:p>
        </p:txBody>
      </p:sp>
      <p:sp>
        <p:nvSpPr>
          <p:cNvPr id="284" name="Text 282"/>
          <p:cNvSpPr/>
          <p:nvPr/>
        </p:nvSpPr>
        <p:spPr>
          <a:xfrm>
            <a:off x="8529066" y="2215134"/>
            <a:ext cx="2434590"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Monitoriz. Instancias y Consola</a:t>
            </a:r>
            <a:endParaRPr lang="en-US" sz="380" dirty="0"/>
          </a:p>
        </p:txBody>
      </p:sp>
      <p:sp>
        <p:nvSpPr>
          <p:cNvPr id="285" name="Shape 283"/>
          <p:cNvSpPr/>
          <p:nvPr/>
        </p:nvSpPr>
        <p:spPr>
          <a:xfrm>
            <a:off x="8529066" y="2408301"/>
            <a:ext cx="2434590" cy="188595"/>
          </a:xfrm>
          <a:prstGeom prst="rect">
            <a:avLst/>
          </a:prstGeom>
          <a:solidFill>
            <a:srgbClr val="FFFFFF"/>
          </a:solidFill>
          <a:ln w="3810">
            <a:solidFill>
              <a:srgbClr val="BE82FF"/>
            </a:solidFill>
            <a:prstDash val="solid"/>
          </a:ln>
        </p:spPr>
        <p:txBody>
          <a:bodyPr/>
          <a:lstStyle/>
          <a:p>
            <a:endParaRPr lang="es-ES"/>
          </a:p>
        </p:txBody>
      </p:sp>
      <p:sp>
        <p:nvSpPr>
          <p:cNvPr id="286" name="Text 284"/>
          <p:cNvSpPr/>
          <p:nvPr/>
        </p:nvSpPr>
        <p:spPr>
          <a:xfrm>
            <a:off x="8529066" y="2408301"/>
            <a:ext cx="2434590"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Reportes de Rendimiento</a:t>
            </a:r>
            <a:endParaRPr lang="en-US" sz="380" dirty="0"/>
          </a:p>
        </p:txBody>
      </p:sp>
      <p:sp>
        <p:nvSpPr>
          <p:cNvPr id="287" name="Shape 285"/>
          <p:cNvSpPr/>
          <p:nvPr/>
        </p:nvSpPr>
        <p:spPr>
          <a:xfrm>
            <a:off x="1152144" y="2638044"/>
            <a:ext cx="9848088" cy="633222"/>
          </a:xfrm>
          <a:prstGeom prst="rect">
            <a:avLst/>
          </a:prstGeom>
          <a:solidFill>
            <a:srgbClr val="F0F8FF"/>
          </a:solidFill>
          <a:ln w="7620">
            <a:solidFill>
              <a:srgbClr val="7500C0"/>
            </a:solidFill>
            <a:prstDash val="solid"/>
          </a:ln>
        </p:spPr>
        <p:txBody>
          <a:bodyPr/>
          <a:lstStyle/>
          <a:p>
            <a:endParaRPr lang="es-ES"/>
          </a:p>
        </p:txBody>
      </p:sp>
      <p:sp>
        <p:nvSpPr>
          <p:cNvPr id="288" name="Shape 286"/>
          <p:cNvSpPr/>
          <p:nvPr/>
        </p:nvSpPr>
        <p:spPr>
          <a:xfrm>
            <a:off x="1152144" y="2638044"/>
            <a:ext cx="9848088" cy="118872"/>
          </a:xfrm>
          <a:prstGeom prst="rect">
            <a:avLst/>
          </a:prstGeom>
          <a:solidFill>
            <a:srgbClr val="7500C0"/>
          </a:solidFill>
          <a:ln w="12700">
            <a:solidFill>
              <a:srgbClr val="7500C0"/>
            </a:solidFill>
            <a:prstDash val="solid"/>
          </a:ln>
        </p:spPr>
        <p:txBody>
          <a:bodyPr/>
          <a:lstStyle/>
          <a:p>
            <a:endParaRPr lang="es-ES"/>
          </a:p>
        </p:txBody>
      </p:sp>
      <p:sp>
        <p:nvSpPr>
          <p:cNvPr id="289" name="Text 287"/>
          <p:cNvSpPr/>
          <p:nvPr/>
        </p:nvSpPr>
        <p:spPr>
          <a:xfrm>
            <a:off x="1188720" y="2638044"/>
            <a:ext cx="9774936" cy="118872"/>
          </a:xfrm>
          <a:prstGeom prst="rect">
            <a:avLst/>
          </a:prstGeom>
          <a:noFill/>
          <a:ln/>
        </p:spPr>
        <p:txBody>
          <a:bodyPr wrap="square" lIns="0" tIns="0" rIns="0" bIns="0" rtlCol="0" anchor="ctr"/>
          <a:lstStyle/>
          <a:p>
            <a:pPr marL="0" indent="0" algn="l">
              <a:buNone/>
            </a:pPr>
            <a:r>
              <a:rPr lang="en-US" sz="550" b="1" dirty="0">
                <a:solidFill>
                  <a:srgbClr val="FFFFFF"/>
                </a:solidFill>
              </a:rPr>
              <a:t>Transacciones Distribuidas</a:t>
            </a:r>
            <a:endParaRPr lang="en-US" sz="550" dirty="0"/>
          </a:p>
        </p:txBody>
      </p:sp>
      <p:sp>
        <p:nvSpPr>
          <p:cNvPr id="290" name="Shape 288"/>
          <p:cNvSpPr/>
          <p:nvPr/>
        </p:nvSpPr>
        <p:spPr>
          <a:xfrm>
            <a:off x="1170432" y="2766060"/>
            <a:ext cx="2434590" cy="100584"/>
          </a:xfrm>
          <a:prstGeom prst="rect">
            <a:avLst/>
          </a:prstGeom>
          <a:solidFill>
            <a:srgbClr val="BE82FF"/>
          </a:solidFill>
          <a:ln w="6350">
            <a:solidFill>
              <a:srgbClr val="7500C0"/>
            </a:solidFill>
            <a:prstDash val="solid"/>
          </a:ln>
        </p:spPr>
        <p:txBody>
          <a:bodyPr/>
          <a:lstStyle/>
          <a:p>
            <a:endParaRPr lang="es-ES"/>
          </a:p>
        </p:txBody>
      </p:sp>
      <p:sp>
        <p:nvSpPr>
          <p:cNvPr id="291" name="Text 289"/>
          <p:cNvSpPr/>
          <p:nvPr/>
        </p:nvSpPr>
        <p:spPr>
          <a:xfrm>
            <a:off x="1170432" y="2766060"/>
            <a:ext cx="2434590"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Gestión de Transacciones</a:t>
            </a:r>
            <a:endParaRPr lang="en-US" sz="400" dirty="0"/>
          </a:p>
        </p:txBody>
      </p:sp>
      <p:sp>
        <p:nvSpPr>
          <p:cNvPr id="292" name="Shape 290"/>
          <p:cNvSpPr/>
          <p:nvPr/>
        </p:nvSpPr>
        <p:spPr>
          <a:xfrm>
            <a:off x="1170432" y="2875788"/>
            <a:ext cx="2434590" cy="92011"/>
          </a:xfrm>
          <a:prstGeom prst="rect">
            <a:avLst/>
          </a:prstGeom>
          <a:solidFill>
            <a:srgbClr val="FFFFFF"/>
          </a:solidFill>
          <a:ln w="3810">
            <a:solidFill>
              <a:srgbClr val="BE82FF"/>
            </a:solidFill>
            <a:prstDash val="solid"/>
          </a:ln>
        </p:spPr>
        <p:txBody>
          <a:bodyPr/>
          <a:lstStyle/>
          <a:p>
            <a:endParaRPr lang="es-ES"/>
          </a:p>
        </p:txBody>
      </p:sp>
      <p:sp>
        <p:nvSpPr>
          <p:cNvPr id="293" name="Text 291"/>
          <p:cNvSpPr/>
          <p:nvPr/>
        </p:nvSpPr>
        <p:spPr>
          <a:xfrm>
            <a:off x="1170432" y="2875788"/>
            <a:ext cx="2434590" cy="92011"/>
          </a:xfrm>
          <a:prstGeom prst="rect">
            <a:avLst/>
          </a:prstGeom>
          <a:noFill/>
          <a:ln/>
        </p:spPr>
        <p:txBody>
          <a:bodyPr wrap="square" lIns="6350" tIns="6350" rIns="6350" bIns="6350" rtlCol="0" anchor="ctr"/>
          <a:lstStyle/>
          <a:p>
            <a:pPr marL="0" indent="0" algn="ctr">
              <a:buNone/>
            </a:pPr>
            <a:r>
              <a:rPr lang="en-US" sz="380" dirty="0">
                <a:solidFill>
                  <a:srgbClr val="000000"/>
                </a:solidFill>
              </a:rPr>
              <a:t>Coordinación Transaccional</a:t>
            </a:r>
            <a:endParaRPr lang="en-US" sz="380" dirty="0"/>
          </a:p>
        </p:txBody>
      </p:sp>
      <p:sp>
        <p:nvSpPr>
          <p:cNvPr id="294" name="Shape 292"/>
          <p:cNvSpPr/>
          <p:nvPr/>
        </p:nvSpPr>
        <p:spPr>
          <a:xfrm>
            <a:off x="1170432" y="2972372"/>
            <a:ext cx="2434590" cy="92011"/>
          </a:xfrm>
          <a:prstGeom prst="rect">
            <a:avLst/>
          </a:prstGeom>
          <a:solidFill>
            <a:srgbClr val="FFFFFF"/>
          </a:solidFill>
          <a:ln w="3810">
            <a:solidFill>
              <a:srgbClr val="BE82FF"/>
            </a:solidFill>
            <a:prstDash val="solid"/>
          </a:ln>
        </p:spPr>
        <p:txBody>
          <a:bodyPr/>
          <a:lstStyle/>
          <a:p>
            <a:endParaRPr lang="es-ES"/>
          </a:p>
        </p:txBody>
      </p:sp>
      <p:sp>
        <p:nvSpPr>
          <p:cNvPr id="295" name="Text 293"/>
          <p:cNvSpPr/>
          <p:nvPr/>
        </p:nvSpPr>
        <p:spPr>
          <a:xfrm>
            <a:off x="1170432" y="2972372"/>
            <a:ext cx="2434590" cy="92011"/>
          </a:xfrm>
          <a:prstGeom prst="rect">
            <a:avLst/>
          </a:prstGeom>
          <a:noFill/>
          <a:ln/>
        </p:spPr>
        <p:txBody>
          <a:bodyPr wrap="square" lIns="6350" tIns="6350" rIns="6350" bIns="6350" rtlCol="0" anchor="ctr"/>
          <a:lstStyle/>
          <a:p>
            <a:pPr marL="0" indent="0" algn="ctr">
              <a:buNone/>
            </a:pPr>
            <a:r>
              <a:rPr lang="en-US" sz="380" dirty="0">
                <a:solidFill>
                  <a:srgbClr val="000000"/>
                </a:solidFill>
              </a:rPr>
              <a:t>Compensación y Reversión</a:t>
            </a:r>
            <a:endParaRPr lang="en-US" sz="380" dirty="0"/>
          </a:p>
        </p:txBody>
      </p:sp>
      <p:sp>
        <p:nvSpPr>
          <p:cNvPr id="296" name="Shape 294"/>
          <p:cNvSpPr/>
          <p:nvPr/>
        </p:nvSpPr>
        <p:spPr>
          <a:xfrm>
            <a:off x="1170432" y="3068955"/>
            <a:ext cx="2434590" cy="92011"/>
          </a:xfrm>
          <a:prstGeom prst="rect">
            <a:avLst/>
          </a:prstGeom>
          <a:solidFill>
            <a:srgbClr val="FFFFFF"/>
          </a:solidFill>
          <a:ln w="3810">
            <a:solidFill>
              <a:srgbClr val="BE82FF"/>
            </a:solidFill>
            <a:prstDash val="solid"/>
          </a:ln>
        </p:spPr>
        <p:txBody>
          <a:bodyPr/>
          <a:lstStyle/>
          <a:p>
            <a:endParaRPr lang="es-ES"/>
          </a:p>
        </p:txBody>
      </p:sp>
      <p:sp>
        <p:nvSpPr>
          <p:cNvPr id="297" name="Text 295"/>
          <p:cNvSpPr/>
          <p:nvPr/>
        </p:nvSpPr>
        <p:spPr>
          <a:xfrm>
            <a:off x="1170432" y="3068955"/>
            <a:ext cx="2434590" cy="92011"/>
          </a:xfrm>
          <a:prstGeom prst="rect">
            <a:avLst/>
          </a:prstGeom>
          <a:noFill/>
          <a:ln/>
        </p:spPr>
        <p:txBody>
          <a:bodyPr wrap="square" lIns="6350" tIns="6350" rIns="6350" bIns="6350" rtlCol="0" anchor="ctr"/>
          <a:lstStyle/>
          <a:p>
            <a:pPr marL="0" indent="0" algn="ctr">
              <a:buNone/>
            </a:pPr>
            <a:r>
              <a:rPr lang="en-US" sz="380" dirty="0">
                <a:solidFill>
                  <a:srgbClr val="000000"/>
                </a:solidFill>
              </a:rPr>
              <a:t>Estado e Historial Transacc.</a:t>
            </a:r>
            <a:endParaRPr lang="en-US" sz="380" dirty="0"/>
          </a:p>
        </p:txBody>
      </p:sp>
      <p:sp>
        <p:nvSpPr>
          <p:cNvPr id="298" name="Shape 296"/>
          <p:cNvSpPr/>
          <p:nvPr/>
        </p:nvSpPr>
        <p:spPr>
          <a:xfrm>
            <a:off x="1170432" y="3165539"/>
            <a:ext cx="2434590" cy="92011"/>
          </a:xfrm>
          <a:prstGeom prst="rect">
            <a:avLst/>
          </a:prstGeom>
          <a:solidFill>
            <a:srgbClr val="FFFFFF"/>
          </a:solidFill>
          <a:ln w="3810">
            <a:solidFill>
              <a:srgbClr val="BE82FF"/>
            </a:solidFill>
            <a:prstDash val="solid"/>
          </a:ln>
        </p:spPr>
        <p:txBody>
          <a:bodyPr/>
          <a:lstStyle/>
          <a:p>
            <a:endParaRPr lang="es-ES"/>
          </a:p>
        </p:txBody>
      </p:sp>
      <p:sp>
        <p:nvSpPr>
          <p:cNvPr id="299" name="Text 297"/>
          <p:cNvSpPr/>
          <p:nvPr/>
        </p:nvSpPr>
        <p:spPr>
          <a:xfrm>
            <a:off x="1170432" y="3165539"/>
            <a:ext cx="2434590" cy="92011"/>
          </a:xfrm>
          <a:prstGeom prst="rect">
            <a:avLst/>
          </a:prstGeom>
          <a:noFill/>
          <a:ln/>
        </p:spPr>
        <p:txBody>
          <a:bodyPr wrap="square" lIns="6350" tIns="6350" rIns="6350" bIns="6350" rtlCol="0" anchor="ctr"/>
          <a:lstStyle/>
          <a:p>
            <a:pPr marL="0" indent="0" algn="ctr">
              <a:buNone/>
            </a:pPr>
            <a:r>
              <a:rPr lang="en-US" sz="380" dirty="0">
                <a:solidFill>
                  <a:srgbClr val="000000"/>
                </a:solidFill>
              </a:rPr>
              <a:t>Intercambio Fiable de Mensajes</a:t>
            </a:r>
            <a:endParaRPr lang="en-US" sz="380" dirty="0"/>
          </a:p>
        </p:txBody>
      </p:sp>
      <p:sp>
        <p:nvSpPr>
          <p:cNvPr id="300" name="Shape 298"/>
          <p:cNvSpPr/>
          <p:nvPr/>
        </p:nvSpPr>
        <p:spPr>
          <a:xfrm>
            <a:off x="3623310" y="2766060"/>
            <a:ext cx="2434590" cy="100584"/>
          </a:xfrm>
          <a:prstGeom prst="rect">
            <a:avLst/>
          </a:prstGeom>
          <a:solidFill>
            <a:srgbClr val="BE82FF"/>
          </a:solidFill>
          <a:ln w="6350">
            <a:solidFill>
              <a:srgbClr val="7500C0"/>
            </a:solidFill>
            <a:prstDash val="solid"/>
          </a:ln>
        </p:spPr>
        <p:txBody>
          <a:bodyPr/>
          <a:lstStyle/>
          <a:p>
            <a:endParaRPr lang="es-ES"/>
          </a:p>
        </p:txBody>
      </p:sp>
      <p:sp>
        <p:nvSpPr>
          <p:cNvPr id="301" name="Text 299"/>
          <p:cNvSpPr/>
          <p:nvPr/>
        </p:nvSpPr>
        <p:spPr>
          <a:xfrm>
            <a:off x="3623310" y="2766060"/>
            <a:ext cx="2434590"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Operaciones y Control Transacc.</a:t>
            </a:r>
            <a:endParaRPr lang="en-US" sz="400" dirty="0"/>
          </a:p>
        </p:txBody>
      </p:sp>
      <p:sp>
        <p:nvSpPr>
          <p:cNvPr id="302" name="Shape 300"/>
          <p:cNvSpPr/>
          <p:nvPr/>
        </p:nvSpPr>
        <p:spPr>
          <a:xfrm>
            <a:off x="3623310" y="2875788"/>
            <a:ext cx="2434590" cy="92011"/>
          </a:xfrm>
          <a:prstGeom prst="rect">
            <a:avLst/>
          </a:prstGeom>
          <a:solidFill>
            <a:srgbClr val="FFFFFF"/>
          </a:solidFill>
          <a:ln w="3810">
            <a:solidFill>
              <a:srgbClr val="BE82FF"/>
            </a:solidFill>
            <a:prstDash val="solid"/>
          </a:ln>
        </p:spPr>
        <p:txBody>
          <a:bodyPr/>
          <a:lstStyle/>
          <a:p>
            <a:endParaRPr lang="es-ES"/>
          </a:p>
        </p:txBody>
      </p:sp>
      <p:sp>
        <p:nvSpPr>
          <p:cNvPr id="303" name="Text 301"/>
          <p:cNvSpPr/>
          <p:nvPr/>
        </p:nvSpPr>
        <p:spPr>
          <a:xfrm>
            <a:off x="3623310" y="2875788"/>
            <a:ext cx="2434590" cy="92011"/>
          </a:xfrm>
          <a:prstGeom prst="rect">
            <a:avLst/>
          </a:prstGeom>
          <a:noFill/>
          <a:ln/>
        </p:spPr>
        <p:txBody>
          <a:bodyPr wrap="square" lIns="6350" tIns="6350" rIns="6350" bIns="6350" rtlCol="0" anchor="ctr"/>
          <a:lstStyle/>
          <a:p>
            <a:pPr marL="0" indent="0" algn="ctr">
              <a:buNone/>
            </a:pPr>
            <a:r>
              <a:rPr lang="en-US" sz="380" dirty="0">
                <a:solidFill>
                  <a:srgbClr val="000000"/>
                </a:solidFill>
              </a:rPr>
              <a:t>Consola Transaccional</a:t>
            </a:r>
            <a:endParaRPr lang="en-US" sz="380" dirty="0"/>
          </a:p>
        </p:txBody>
      </p:sp>
      <p:sp>
        <p:nvSpPr>
          <p:cNvPr id="304" name="Shape 302"/>
          <p:cNvSpPr/>
          <p:nvPr/>
        </p:nvSpPr>
        <p:spPr>
          <a:xfrm>
            <a:off x="3623310" y="2972372"/>
            <a:ext cx="2434590" cy="92011"/>
          </a:xfrm>
          <a:prstGeom prst="rect">
            <a:avLst/>
          </a:prstGeom>
          <a:solidFill>
            <a:srgbClr val="FFFFFF"/>
          </a:solidFill>
          <a:ln w="3810">
            <a:solidFill>
              <a:srgbClr val="BE82FF"/>
            </a:solidFill>
            <a:prstDash val="solid"/>
          </a:ln>
        </p:spPr>
        <p:txBody>
          <a:bodyPr/>
          <a:lstStyle/>
          <a:p>
            <a:endParaRPr lang="es-ES"/>
          </a:p>
        </p:txBody>
      </p:sp>
      <p:sp>
        <p:nvSpPr>
          <p:cNvPr id="305" name="Text 303"/>
          <p:cNvSpPr/>
          <p:nvPr/>
        </p:nvSpPr>
        <p:spPr>
          <a:xfrm>
            <a:off x="3623310" y="2972372"/>
            <a:ext cx="2434590" cy="92011"/>
          </a:xfrm>
          <a:prstGeom prst="rect">
            <a:avLst/>
          </a:prstGeom>
          <a:noFill/>
          <a:ln/>
        </p:spPr>
        <p:txBody>
          <a:bodyPr wrap="square" lIns="6350" tIns="6350" rIns="6350" bIns="6350" rtlCol="0" anchor="ctr"/>
          <a:lstStyle/>
          <a:p>
            <a:pPr marL="0" indent="0" algn="ctr">
              <a:buNone/>
            </a:pPr>
            <a:r>
              <a:rPr lang="en-US" sz="380" dirty="0">
                <a:solidFill>
                  <a:srgbClr val="000000"/>
                </a:solidFill>
              </a:rPr>
              <a:t>Reintento, Cancelac. y Reversión</a:t>
            </a:r>
            <a:endParaRPr lang="en-US" sz="380" dirty="0"/>
          </a:p>
        </p:txBody>
      </p:sp>
      <p:sp>
        <p:nvSpPr>
          <p:cNvPr id="306" name="Shape 304"/>
          <p:cNvSpPr/>
          <p:nvPr/>
        </p:nvSpPr>
        <p:spPr>
          <a:xfrm>
            <a:off x="3623310" y="3068955"/>
            <a:ext cx="2434590" cy="92011"/>
          </a:xfrm>
          <a:prstGeom prst="rect">
            <a:avLst/>
          </a:prstGeom>
          <a:solidFill>
            <a:srgbClr val="FFFFFF"/>
          </a:solidFill>
          <a:ln w="3810">
            <a:solidFill>
              <a:srgbClr val="BE82FF"/>
            </a:solidFill>
            <a:prstDash val="solid"/>
          </a:ln>
        </p:spPr>
        <p:txBody>
          <a:bodyPr/>
          <a:lstStyle/>
          <a:p>
            <a:endParaRPr lang="es-ES"/>
          </a:p>
        </p:txBody>
      </p:sp>
      <p:sp>
        <p:nvSpPr>
          <p:cNvPr id="307" name="Text 305"/>
          <p:cNvSpPr/>
          <p:nvPr/>
        </p:nvSpPr>
        <p:spPr>
          <a:xfrm>
            <a:off x="3623310" y="3068955"/>
            <a:ext cx="2434590" cy="92011"/>
          </a:xfrm>
          <a:prstGeom prst="rect">
            <a:avLst/>
          </a:prstGeom>
          <a:noFill/>
          <a:ln/>
        </p:spPr>
        <p:txBody>
          <a:bodyPr wrap="square" lIns="6350" tIns="6350" rIns="6350" bIns="6350" rtlCol="0" anchor="ctr"/>
          <a:lstStyle/>
          <a:p>
            <a:pPr marL="0" indent="0" algn="ctr">
              <a:buNone/>
            </a:pPr>
            <a:r>
              <a:rPr lang="en-US" sz="380" dirty="0">
                <a:solidFill>
                  <a:srgbClr val="000000"/>
                </a:solidFill>
              </a:rPr>
              <a:t>Reporte y Reconciliación</a:t>
            </a:r>
            <a:endParaRPr lang="en-US" sz="380" dirty="0"/>
          </a:p>
        </p:txBody>
      </p:sp>
      <p:sp>
        <p:nvSpPr>
          <p:cNvPr id="308" name="Shape 306"/>
          <p:cNvSpPr/>
          <p:nvPr/>
        </p:nvSpPr>
        <p:spPr>
          <a:xfrm>
            <a:off x="3623310" y="3165539"/>
            <a:ext cx="2434590" cy="92011"/>
          </a:xfrm>
          <a:prstGeom prst="rect">
            <a:avLst/>
          </a:prstGeom>
          <a:solidFill>
            <a:srgbClr val="FFFFFF"/>
          </a:solidFill>
          <a:ln w="3810">
            <a:solidFill>
              <a:srgbClr val="BE82FF"/>
            </a:solidFill>
            <a:prstDash val="solid"/>
          </a:ln>
        </p:spPr>
        <p:txBody>
          <a:bodyPr/>
          <a:lstStyle/>
          <a:p>
            <a:endParaRPr lang="es-ES"/>
          </a:p>
        </p:txBody>
      </p:sp>
      <p:sp>
        <p:nvSpPr>
          <p:cNvPr id="309" name="Text 307"/>
          <p:cNvSpPr/>
          <p:nvPr/>
        </p:nvSpPr>
        <p:spPr>
          <a:xfrm>
            <a:off x="3623310" y="3165539"/>
            <a:ext cx="2434590" cy="92011"/>
          </a:xfrm>
          <a:prstGeom prst="rect">
            <a:avLst/>
          </a:prstGeom>
          <a:noFill/>
          <a:ln/>
        </p:spPr>
        <p:txBody>
          <a:bodyPr wrap="square" lIns="6350" tIns="6350" rIns="6350" bIns="6350" rtlCol="0" anchor="ctr"/>
          <a:lstStyle/>
          <a:p>
            <a:pPr marL="0" indent="0" algn="ctr">
              <a:buNone/>
            </a:pPr>
            <a:r>
              <a:rPr lang="en-US" sz="380" dirty="0">
                <a:solidFill>
                  <a:srgbClr val="000000"/>
                </a:solidFill>
              </a:rPr>
              <a:t>Monitoriz. Eventos Transacc.</a:t>
            </a:r>
            <a:endParaRPr lang="en-US" sz="380" dirty="0"/>
          </a:p>
        </p:txBody>
      </p:sp>
      <p:sp>
        <p:nvSpPr>
          <p:cNvPr id="310" name="Shape 308"/>
          <p:cNvSpPr/>
          <p:nvPr/>
        </p:nvSpPr>
        <p:spPr>
          <a:xfrm>
            <a:off x="6076188" y="2766060"/>
            <a:ext cx="2434590" cy="100584"/>
          </a:xfrm>
          <a:prstGeom prst="rect">
            <a:avLst/>
          </a:prstGeom>
          <a:solidFill>
            <a:srgbClr val="BE82FF"/>
          </a:solidFill>
          <a:ln w="6350">
            <a:solidFill>
              <a:srgbClr val="7500C0"/>
            </a:solidFill>
            <a:prstDash val="solid"/>
          </a:ln>
        </p:spPr>
        <p:txBody>
          <a:bodyPr/>
          <a:lstStyle/>
          <a:p>
            <a:endParaRPr lang="es-ES"/>
          </a:p>
        </p:txBody>
      </p:sp>
      <p:sp>
        <p:nvSpPr>
          <p:cNvPr id="311" name="Text 309"/>
          <p:cNvSpPr/>
          <p:nvPr/>
        </p:nvSpPr>
        <p:spPr>
          <a:xfrm>
            <a:off x="6076188" y="2766060"/>
            <a:ext cx="2434590"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Store &amp; Forward</a:t>
            </a:r>
            <a:endParaRPr lang="en-US" sz="400" dirty="0"/>
          </a:p>
        </p:txBody>
      </p:sp>
      <p:sp>
        <p:nvSpPr>
          <p:cNvPr id="312" name="Shape 310"/>
          <p:cNvSpPr/>
          <p:nvPr/>
        </p:nvSpPr>
        <p:spPr>
          <a:xfrm>
            <a:off x="6076188" y="2875788"/>
            <a:ext cx="2434590" cy="92011"/>
          </a:xfrm>
          <a:prstGeom prst="rect">
            <a:avLst/>
          </a:prstGeom>
          <a:solidFill>
            <a:srgbClr val="FFFFFF"/>
          </a:solidFill>
          <a:ln w="3810">
            <a:solidFill>
              <a:srgbClr val="BE82FF"/>
            </a:solidFill>
            <a:prstDash val="solid"/>
          </a:ln>
        </p:spPr>
        <p:txBody>
          <a:bodyPr/>
          <a:lstStyle/>
          <a:p>
            <a:endParaRPr lang="es-ES"/>
          </a:p>
        </p:txBody>
      </p:sp>
      <p:sp>
        <p:nvSpPr>
          <p:cNvPr id="313" name="Text 311"/>
          <p:cNvSpPr/>
          <p:nvPr/>
        </p:nvSpPr>
        <p:spPr>
          <a:xfrm>
            <a:off x="6076188" y="2875788"/>
            <a:ext cx="2434590" cy="92011"/>
          </a:xfrm>
          <a:prstGeom prst="rect">
            <a:avLst/>
          </a:prstGeom>
          <a:noFill/>
          <a:ln/>
        </p:spPr>
        <p:txBody>
          <a:bodyPr wrap="square" lIns="6350" tIns="6350" rIns="6350" bIns="6350" rtlCol="0" anchor="ctr"/>
          <a:lstStyle/>
          <a:p>
            <a:pPr marL="0" indent="0" algn="ctr">
              <a:buNone/>
            </a:pPr>
            <a:r>
              <a:rPr lang="en-US" sz="380" dirty="0">
                <a:solidFill>
                  <a:srgbClr val="000000"/>
                </a:solidFill>
              </a:rPr>
              <a:t>Request Manager y Registro</a:t>
            </a:r>
            <a:endParaRPr lang="en-US" sz="380" dirty="0"/>
          </a:p>
        </p:txBody>
      </p:sp>
      <p:sp>
        <p:nvSpPr>
          <p:cNvPr id="314" name="Shape 312"/>
          <p:cNvSpPr/>
          <p:nvPr/>
        </p:nvSpPr>
        <p:spPr>
          <a:xfrm>
            <a:off x="6076188" y="2972372"/>
            <a:ext cx="2434590" cy="92011"/>
          </a:xfrm>
          <a:prstGeom prst="rect">
            <a:avLst/>
          </a:prstGeom>
          <a:solidFill>
            <a:srgbClr val="FFFFFF"/>
          </a:solidFill>
          <a:ln w="3810">
            <a:solidFill>
              <a:srgbClr val="BE82FF"/>
            </a:solidFill>
            <a:prstDash val="solid"/>
          </a:ln>
        </p:spPr>
        <p:txBody>
          <a:bodyPr/>
          <a:lstStyle/>
          <a:p>
            <a:endParaRPr lang="es-ES"/>
          </a:p>
        </p:txBody>
      </p:sp>
      <p:sp>
        <p:nvSpPr>
          <p:cNvPr id="315" name="Text 313"/>
          <p:cNvSpPr/>
          <p:nvPr/>
        </p:nvSpPr>
        <p:spPr>
          <a:xfrm>
            <a:off x="6076188" y="2972372"/>
            <a:ext cx="2434590" cy="92011"/>
          </a:xfrm>
          <a:prstGeom prst="rect">
            <a:avLst/>
          </a:prstGeom>
          <a:noFill/>
          <a:ln/>
        </p:spPr>
        <p:txBody>
          <a:bodyPr wrap="square" lIns="6350" tIns="6350" rIns="6350" bIns="6350" rtlCol="0" anchor="ctr"/>
          <a:lstStyle/>
          <a:p>
            <a:pPr marL="0" indent="0" algn="ctr">
              <a:buNone/>
            </a:pPr>
            <a:r>
              <a:rPr lang="en-US" sz="380" dirty="0">
                <a:solidFill>
                  <a:srgbClr val="000000"/>
                </a:solidFill>
              </a:rPr>
              <a:t>Request Processor y Reintentos</a:t>
            </a:r>
            <a:endParaRPr lang="en-US" sz="380" dirty="0"/>
          </a:p>
        </p:txBody>
      </p:sp>
      <p:sp>
        <p:nvSpPr>
          <p:cNvPr id="316" name="Shape 314"/>
          <p:cNvSpPr/>
          <p:nvPr/>
        </p:nvSpPr>
        <p:spPr>
          <a:xfrm>
            <a:off x="6076188" y="3068955"/>
            <a:ext cx="2434590" cy="92011"/>
          </a:xfrm>
          <a:prstGeom prst="rect">
            <a:avLst/>
          </a:prstGeom>
          <a:solidFill>
            <a:srgbClr val="FFFFFF"/>
          </a:solidFill>
          <a:ln w="3810">
            <a:solidFill>
              <a:srgbClr val="BE82FF"/>
            </a:solidFill>
            <a:prstDash val="solid"/>
          </a:ln>
        </p:spPr>
        <p:txBody>
          <a:bodyPr/>
          <a:lstStyle/>
          <a:p>
            <a:endParaRPr lang="es-ES"/>
          </a:p>
        </p:txBody>
      </p:sp>
      <p:sp>
        <p:nvSpPr>
          <p:cNvPr id="317" name="Text 315"/>
          <p:cNvSpPr/>
          <p:nvPr/>
        </p:nvSpPr>
        <p:spPr>
          <a:xfrm>
            <a:off x="6076188" y="3068955"/>
            <a:ext cx="2434590" cy="92011"/>
          </a:xfrm>
          <a:prstGeom prst="rect">
            <a:avLst/>
          </a:prstGeom>
          <a:noFill/>
          <a:ln/>
        </p:spPr>
        <p:txBody>
          <a:bodyPr wrap="square" lIns="6350" tIns="6350" rIns="6350" bIns="6350" rtlCol="0" anchor="ctr"/>
          <a:lstStyle/>
          <a:p>
            <a:pPr marL="0" indent="0" algn="ctr">
              <a:buNone/>
            </a:pPr>
            <a:r>
              <a:rPr lang="en-US" sz="380" dirty="0">
                <a:solidFill>
                  <a:srgbClr val="000000"/>
                </a:solidFill>
              </a:rPr>
              <a:t>Request Router y Reenvío</a:t>
            </a:r>
            <a:endParaRPr lang="en-US" sz="380" dirty="0"/>
          </a:p>
        </p:txBody>
      </p:sp>
      <p:sp>
        <p:nvSpPr>
          <p:cNvPr id="318" name="Shape 316"/>
          <p:cNvSpPr/>
          <p:nvPr/>
        </p:nvSpPr>
        <p:spPr>
          <a:xfrm>
            <a:off x="6076188" y="3165539"/>
            <a:ext cx="2434590" cy="92011"/>
          </a:xfrm>
          <a:prstGeom prst="rect">
            <a:avLst/>
          </a:prstGeom>
          <a:solidFill>
            <a:srgbClr val="FFFFFF"/>
          </a:solidFill>
          <a:ln w="3810">
            <a:solidFill>
              <a:srgbClr val="BE82FF"/>
            </a:solidFill>
            <a:prstDash val="solid"/>
          </a:ln>
        </p:spPr>
        <p:txBody>
          <a:bodyPr/>
          <a:lstStyle/>
          <a:p>
            <a:endParaRPr lang="es-ES"/>
          </a:p>
        </p:txBody>
      </p:sp>
      <p:sp>
        <p:nvSpPr>
          <p:cNvPr id="319" name="Text 317"/>
          <p:cNvSpPr/>
          <p:nvPr/>
        </p:nvSpPr>
        <p:spPr>
          <a:xfrm>
            <a:off x="6076188" y="3165539"/>
            <a:ext cx="2434590" cy="92011"/>
          </a:xfrm>
          <a:prstGeom prst="rect">
            <a:avLst/>
          </a:prstGeom>
          <a:noFill/>
          <a:ln/>
        </p:spPr>
        <p:txBody>
          <a:bodyPr wrap="square" lIns="6350" tIns="6350" rIns="6350" bIns="6350" rtlCol="0" anchor="ctr"/>
          <a:lstStyle/>
          <a:p>
            <a:pPr marL="0" indent="0" algn="ctr">
              <a:buNone/>
            </a:pPr>
            <a:r>
              <a:rPr lang="en-US" sz="380" dirty="0">
                <a:solidFill>
                  <a:srgbClr val="000000"/>
                </a:solidFill>
              </a:rPr>
              <a:t>Consola Store &amp; Forward</a:t>
            </a:r>
            <a:endParaRPr lang="en-US" sz="380" dirty="0"/>
          </a:p>
        </p:txBody>
      </p:sp>
      <p:sp>
        <p:nvSpPr>
          <p:cNvPr id="320" name="Shape 318"/>
          <p:cNvSpPr/>
          <p:nvPr/>
        </p:nvSpPr>
        <p:spPr>
          <a:xfrm>
            <a:off x="8529066" y="2766060"/>
            <a:ext cx="2434590" cy="100584"/>
          </a:xfrm>
          <a:prstGeom prst="rect">
            <a:avLst/>
          </a:prstGeom>
          <a:solidFill>
            <a:srgbClr val="BE82FF"/>
          </a:solidFill>
          <a:ln w="6350">
            <a:solidFill>
              <a:srgbClr val="7500C0"/>
            </a:solidFill>
            <a:prstDash val="solid"/>
          </a:ln>
        </p:spPr>
        <p:txBody>
          <a:bodyPr/>
          <a:lstStyle/>
          <a:p>
            <a:endParaRPr lang="es-ES"/>
          </a:p>
        </p:txBody>
      </p:sp>
      <p:sp>
        <p:nvSpPr>
          <p:cNvPr id="321" name="Text 319"/>
          <p:cNvSpPr/>
          <p:nvPr/>
        </p:nvSpPr>
        <p:spPr>
          <a:xfrm>
            <a:off x="8529066" y="2766060"/>
            <a:ext cx="2434590"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Admin. Servicios Transaccionales</a:t>
            </a:r>
            <a:endParaRPr lang="en-US" sz="400" dirty="0"/>
          </a:p>
        </p:txBody>
      </p:sp>
      <p:sp>
        <p:nvSpPr>
          <p:cNvPr id="322" name="Shape 320"/>
          <p:cNvSpPr/>
          <p:nvPr/>
        </p:nvSpPr>
        <p:spPr>
          <a:xfrm>
            <a:off x="8529066" y="2875788"/>
            <a:ext cx="2434590" cy="188595"/>
          </a:xfrm>
          <a:prstGeom prst="rect">
            <a:avLst/>
          </a:prstGeom>
          <a:solidFill>
            <a:srgbClr val="FFFFFF"/>
          </a:solidFill>
          <a:ln w="3810">
            <a:solidFill>
              <a:srgbClr val="BE82FF"/>
            </a:solidFill>
            <a:prstDash val="solid"/>
          </a:ln>
        </p:spPr>
        <p:txBody>
          <a:bodyPr/>
          <a:lstStyle/>
          <a:p>
            <a:endParaRPr lang="es-ES"/>
          </a:p>
        </p:txBody>
      </p:sp>
      <p:sp>
        <p:nvSpPr>
          <p:cNvPr id="323" name="Text 321"/>
          <p:cNvSpPr/>
          <p:nvPr/>
        </p:nvSpPr>
        <p:spPr>
          <a:xfrm>
            <a:off x="8529066" y="2875788"/>
            <a:ext cx="2434590"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Config. Comportamiento Servicios</a:t>
            </a:r>
            <a:endParaRPr lang="en-US" sz="380" dirty="0"/>
          </a:p>
        </p:txBody>
      </p:sp>
      <p:sp>
        <p:nvSpPr>
          <p:cNvPr id="324" name="Shape 322"/>
          <p:cNvSpPr/>
          <p:nvPr/>
        </p:nvSpPr>
        <p:spPr>
          <a:xfrm>
            <a:off x="8529066" y="3068955"/>
            <a:ext cx="2434590" cy="188595"/>
          </a:xfrm>
          <a:prstGeom prst="rect">
            <a:avLst/>
          </a:prstGeom>
          <a:solidFill>
            <a:srgbClr val="FFFFFF"/>
          </a:solidFill>
          <a:ln w="3810">
            <a:solidFill>
              <a:srgbClr val="BE82FF"/>
            </a:solidFill>
            <a:prstDash val="solid"/>
          </a:ln>
        </p:spPr>
        <p:txBody>
          <a:bodyPr/>
          <a:lstStyle/>
          <a:p>
            <a:endParaRPr lang="es-ES"/>
          </a:p>
        </p:txBody>
      </p:sp>
      <p:sp>
        <p:nvSpPr>
          <p:cNvPr id="325" name="Text 323"/>
          <p:cNvSpPr/>
          <p:nvPr/>
        </p:nvSpPr>
        <p:spPr>
          <a:xfrm>
            <a:off x="8529066" y="3068955"/>
            <a:ext cx="2434590"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Anulaciones y Controles</a:t>
            </a:r>
            <a:endParaRPr lang="en-US" sz="380" dirty="0"/>
          </a:p>
        </p:txBody>
      </p:sp>
      <p:sp>
        <p:nvSpPr>
          <p:cNvPr id="326" name="Shape 324"/>
          <p:cNvSpPr/>
          <p:nvPr/>
        </p:nvSpPr>
        <p:spPr>
          <a:xfrm>
            <a:off x="1152144" y="3298698"/>
            <a:ext cx="9848088" cy="633222"/>
          </a:xfrm>
          <a:prstGeom prst="rect">
            <a:avLst/>
          </a:prstGeom>
          <a:solidFill>
            <a:srgbClr val="F0F8FF"/>
          </a:solidFill>
          <a:ln w="7620">
            <a:solidFill>
              <a:srgbClr val="7500C0"/>
            </a:solidFill>
            <a:prstDash val="solid"/>
          </a:ln>
        </p:spPr>
        <p:txBody>
          <a:bodyPr/>
          <a:lstStyle/>
          <a:p>
            <a:endParaRPr lang="es-ES"/>
          </a:p>
        </p:txBody>
      </p:sp>
      <p:sp>
        <p:nvSpPr>
          <p:cNvPr id="327" name="Shape 325"/>
          <p:cNvSpPr/>
          <p:nvPr/>
        </p:nvSpPr>
        <p:spPr>
          <a:xfrm>
            <a:off x="1152144" y="3298698"/>
            <a:ext cx="9848088" cy="118872"/>
          </a:xfrm>
          <a:prstGeom prst="rect">
            <a:avLst/>
          </a:prstGeom>
          <a:solidFill>
            <a:srgbClr val="7500C0"/>
          </a:solidFill>
          <a:ln w="12700">
            <a:solidFill>
              <a:srgbClr val="7500C0"/>
            </a:solidFill>
            <a:prstDash val="solid"/>
          </a:ln>
        </p:spPr>
        <p:txBody>
          <a:bodyPr/>
          <a:lstStyle/>
          <a:p>
            <a:endParaRPr lang="es-ES"/>
          </a:p>
        </p:txBody>
      </p:sp>
      <p:sp>
        <p:nvSpPr>
          <p:cNvPr id="328" name="Text 326"/>
          <p:cNvSpPr/>
          <p:nvPr/>
        </p:nvSpPr>
        <p:spPr>
          <a:xfrm>
            <a:off x="1188720" y="3298698"/>
            <a:ext cx="9774936" cy="118872"/>
          </a:xfrm>
          <a:prstGeom prst="rect">
            <a:avLst/>
          </a:prstGeom>
          <a:noFill/>
          <a:ln/>
        </p:spPr>
        <p:txBody>
          <a:bodyPr wrap="square" lIns="0" tIns="0" rIns="0" bIns="0" rtlCol="0" anchor="ctr"/>
          <a:lstStyle/>
          <a:p>
            <a:pPr marL="0" indent="0" algn="l">
              <a:buNone/>
            </a:pPr>
            <a:r>
              <a:rPr lang="en-US" sz="550" b="1" dirty="0">
                <a:solidFill>
                  <a:srgbClr val="FFFFFF"/>
                </a:solidFill>
              </a:rPr>
              <a:t>Procesamiento de Eventos &amp; Componentes Reactivos</a:t>
            </a:r>
            <a:endParaRPr lang="en-US" sz="550" dirty="0"/>
          </a:p>
        </p:txBody>
      </p:sp>
      <p:sp>
        <p:nvSpPr>
          <p:cNvPr id="329" name="Shape 327"/>
          <p:cNvSpPr/>
          <p:nvPr/>
        </p:nvSpPr>
        <p:spPr>
          <a:xfrm>
            <a:off x="1170432" y="3426714"/>
            <a:ext cx="1616964" cy="100584"/>
          </a:xfrm>
          <a:prstGeom prst="rect">
            <a:avLst/>
          </a:prstGeom>
          <a:solidFill>
            <a:srgbClr val="BE82FF"/>
          </a:solidFill>
          <a:ln w="6350">
            <a:solidFill>
              <a:srgbClr val="7500C0"/>
            </a:solidFill>
            <a:prstDash val="solid"/>
          </a:ln>
        </p:spPr>
        <p:txBody>
          <a:bodyPr/>
          <a:lstStyle/>
          <a:p>
            <a:endParaRPr lang="es-ES"/>
          </a:p>
        </p:txBody>
      </p:sp>
      <p:sp>
        <p:nvSpPr>
          <p:cNvPr id="330" name="Text 328"/>
          <p:cNvSpPr/>
          <p:nvPr/>
        </p:nvSpPr>
        <p:spPr>
          <a:xfrm>
            <a:off x="1170432" y="3426714"/>
            <a:ext cx="1616964"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Mensajería de Eventos</a:t>
            </a:r>
            <a:endParaRPr lang="en-US" sz="400" dirty="0"/>
          </a:p>
        </p:txBody>
      </p:sp>
      <p:sp>
        <p:nvSpPr>
          <p:cNvPr id="331" name="Shape 329"/>
          <p:cNvSpPr/>
          <p:nvPr/>
        </p:nvSpPr>
        <p:spPr>
          <a:xfrm>
            <a:off x="1170432" y="3536442"/>
            <a:ext cx="1616964" cy="124206"/>
          </a:xfrm>
          <a:prstGeom prst="rect">
            <a:avLst/>
          </a:prstGeom>
          <a:solidFill>
            <a:srgbClr val="FFFFFF"/>
          </a:solidFill>
          <a:ln w="3810">
            <a:solidFill>
              <a:srgbClr val="BE82FF"/>
            </a:solidFill>
            <a:prstDash val="solid"/>
          </a:ln>
        </p:spPr>
        <p:txBody>
          <a:bodyPr/>
          <a:lstStyle/>
          <a:p>
            <a:endParaRPr lang="es-ES"/>
          </a:p>
        </p:txBody>
      </p:sp>
      <p:sp>
        <p:nvSpPr>
          <p:cNvPr id="332" name="Text 330"/>
          <p:cNvSpPr/>
          <p:nvPr/>
        </p:nvSpPr>
        <p:spPr>
          <a:xfrm>
            <a:off x="1170432" y="3536442"/>
            <a:ext cx="1616964"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Pub/Sub Messaging</a:t>
            </a:r>
            <a:endParaRPr lang="en-US" sz="380" dirty="0"/>
          </a:p>
        </p:txBody>
      </p:sp>
      <p:sp>
        <p:nvSpPr>
          <p:cNvPr id="333" name="Shape 331"/>
          <p:cNvSpPr/>
          <p:nvPr/>
        </p:nvSpPr>
        <p:spPr>
          <a:xfrm>
            <a:off x="1170432" y="3665220"/>
            <a:ext cx="1616964" cy="124206"/>
          </a:xfrm>
          <a:prstGeom prst="rect">
            <a:avLst/>
          </a:prstGeom>
          <a:solidFill>
            <a:srgbClr val="FFFFFF"/>
          </a:solidFill>
          <a:ln w="3810">
            <a:solidFill>
              <a:srgbClr val="BE82FF"/>
            </a:solidFill>
            <a:prstDash val="solid"/>
          </a:ln>
        </p:spPr>
        <p:txBody>
          <a:bodyPr/>
          <a:lstStyle/>
          <a:p>
            <a:endParaRPr lang="es-ES"/>
          </a:p>
        </p:txBody>
      </p:sp>
      <p:sp>
        <p:nvSpPr>
          <p:cNvPr id="334" name="Text 332"/>
          <p:cNvSpPr/>
          <p:nvPr/>
        </p:nvSpPr>
        <p:spPr>
          <a:xfrm>
            <a:off x="1170432" y="3665220"/>
            <a:ext cx="1616964"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Admin. Tópicos y Suscripciones</a:t>
            </a:r>
            <a:endParaRPr lang="en-US" sz="380" dirty="0"/>
          </a:p>
        </p:txBody>
      </p:sp>
      <p:sp>
        <p:nvSpPr>
          <p:cNvPr id="335" name="Shape 333"/>
          <p:cNvSpPr/>
          <p:nvPr/>
        </p:nvSpPr>
        <p:spPr>
          <a:xfrm>
            <a:off x="1170432" y="3793998"/>
            <a:ext cx="1616964" cy="124206"/>
          </a:xfrm>
          <a:prstGeom prst="rect">
            <a:avLst/>
          </a:prstGeom>
          <a:solidFill>
            <a:srgbClr val="FFFFFF"/>
          </a:solidFill>
          <a:ln w="3810">
            <a:solidFill>
              <a:srgbClr val="BE82FF"/>
            </a:solidFill>
            <a:prstDash val="solid"/>
          </a:ln>
        </p:spPr>
        <p:txBody>
          <a:bodyPr/>
          <a:lstStyle/>
          <a:p>
            <a:endParaRPr lang="es-ES"/>
          </a:p>
        </p:txBody>
      </p:sp>
      <p:sp>
        <p:nvSpPr>
          <p:cNvPr id="336" name="Text 334"/>
          <p:cNvSpPr/>
          <p:nvPr/>
        </p:nvSpPr>
        <p:spPr>
          <a:xfrm>
            <a:off x="1170432" y="3793998"/>
            <a:ext cx="1616964"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Mensajería Multi-protocolo</a:t>
            </a:r>
            <a:endParaRPr lang="en-US" sz="380" dirty="0"/>
          </a:p>
        </p:txBody>
      </p:sp>
      <p:sp>
        <p:nvSpPr>
          <p:cNvPr id="337" name="Shape 335"/>
          <p:cNvSpPr/>
          <p:nvPr/>
        </p:nvSpPr>
        <p:spPr>
          <a:xfrm>
            <a:off x="2805684" y="3426714"/>
            <a:ext cx="1616964" cy="100584"/>
          </a:xfrm>
          <a:prstGeom prst="rect">
            <a:avLst/>
          </a:prstGeom>
          <a:solidFill>
            <a:srgbClr val="BE82FF"/>
          </a:solidFill>
          <a:ln w="6350">
            <a:solidFill>
              <a:srgbClr val="7500C0"/>
            </a:solidFill>
            <a:prstDash val="solid"/>
          </a:ln>
        </p:spPr>
        <p:txBody>
          <a:bodyPr/>
          <a:lstStyle/>
          <a:p>
            <a:endParaRPr lang="es-ES"/>
          </a:p>
        </p:txBody>
      </p:sp>
      <p:sp>
        <p:nvSpPr>
          <p:cNvPr id="338" name="Text 336"/>
          <p:cNvSpPr/>
          <p:nvPr/>
        </p:nvSpPr>
        <p:spPr>
          <a:xfrm>
            <a:off x="2805684" y="3426714"/>
            <a:ext cx="1616964"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Streaming de Eventos</a:t>
            </a:r>
            <a:endParaRPr lang="en-US" sz="400" dirty="0"/>
          </a:p>
        </p:txBody>
      </p:sp>
      <p:sp>
        <p:nvSpPr>
          <p:cNvPr id="339" name="Shape 337"/>
          <p:cNvSpPr/>
          <p:nvPr/>
        </p:nvSpPr>
        <p:spPr>
          <a:xfrm>
            <a:off x="2805684" y="3536442"/>
            <a:ext cx="1616964" cy="124206"/>
          </a:xfrm>
          <a:prstGeom prst="rect">
            <a:avLst/>
          </a:prstGeom>
          <a:solidFill>
            <a:srgbClr val="FFFFFF"/>
          </a:solidFill>
          <a:ln w="3810">
            <a:solidFill>
              <a:srgbClr val="BE82FF"/>
            </a:solidFill>
            <a:prstDash val="solid"/>
          </a:ln>
        </p:spPr>
        <p:txBody>
          <a:bodyPr/>
          <a:lstStyle/>
          <a:p>
            <a:endParaRPr lang="es-ES"/>
          </a:p>
        </p:txBody>
      </p:sp>
      <p:sp>
        <p:nvSpPr>
          <p:cNvPr id="340" name="Text 338"/>
          <p:cNvSpPr/>
          <p:nvPr/>
        </p:nvSpPr>
        <p:spPr>
          <a:xfrm>
            <a:off x="2805684" y="3536442"/>
            <a:ext cx="1616964"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Ingesta y Distribución Streams</a:t>
            </a:r>
            <a:endParaRPr lang="en-US" sz="380" dirty="0"/>
          </a:p>
        </p:txBody>
      </p:sp>
      <p:sp>
        <p:nvSpPr>
          <p:cNvPr id="341" name="Shape 339"/>
          <p:cNvSpPr/>
          <p:nvPr/>
        </p:nvSpPr>
        <p:spPr>
          <a:xfrm>
            <a:off x="2805684" y="3665220"/>
            <a:ext cx="1616964" cy="124206"/>
          </a:xfrm>
          <a:prstGeom prst="rect">
            <a:avLst/>
          </a:prstGeom>
          <a:solidFill>
            <a:srgbClr val="FFFFFF"/>
          </a:solidFill>
          <a:ln w="3810">
            <a:solidFill>
              <a:srgbClr val="BE82FF"/>
            </a:solidFill>
            <a:prstDash val="solid"/>
          </a:ln>
        </p:spPr>
        <p:txBody>
          <a:bodyPr/>
          <a:lstStyle/>
          <a:p>
            <a:endParaRPr lang="es-ES"/>
          </a:p>
        </p:txBody>
      </p:sp>
      <p:sp>
        <p:nvSpPr>
          <p:cNvPr id="342" name="Text 340"/>
          <p:cNvSpPr/>
          <p:nvPr/>
        </p:nvSpPr>
        <p:spPr>
          <a:xfrm>
            <a:off x="2805684" y="3665220"/>
            <a:ext cx="1616964"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Retención y Replay</a:t>
            </a:r>
            <a:endParaRPr lang="en-US" sz="380" dirty="0"/>
          </a:p>
        </p:txBody>
      </p:sp>
      <p:sp>
        <p:nvSpPr>
          <p:cNvPr id="343" name="Shape 341"/>
          <p:cNvSpPr/>
          <p:nvPr/>
        </p:nvSpPr>
        <p:spPr>
          <a:xfrm>
            <a:off x="2805684" y="3793998"/>
            <a:ext cx="1616964" cy="124206"/>
          </a:xfrm>
          <a:prstGeom prst="rect">
            <a:avLst/>
          </a:prstGeom>
          <a:solidFill>
            <a:srgbClr val="FFFFFF"/>
          </a:solidFill>
          <a:ln w="3810">
            <a:solidFill>
              <a:srgbClr val="BE82FF"/>
            </a:solidFill>
            <a:prstDash val="solid"/>
          </a:ln>
        </p:spPr>
        <p:txBody>
          <a:bodyPr/>
          <a:lstStyle/>
          <a:p>
            <a:endParaRPr lang="es-ES"/>
          </a:p>
        </p:txBody>
      </p:sp>
      <p:sp>
        <p:nvSpPr>
          <p:cNvPr id="344" name="Text 342"/>
          <p:cNvSpPr/>
          <p:nvPr/>
        </p:nvSpPr>
        <p:spPr>
          <a:xfrm>
            <a:off x="2805684" y="3793998"/>
            <a:ext cx="1616964"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CEP (Eventos Complejos)</a:t>
            </a:r>
            <a:endParaRPr lang="en-US" sz="380" dirty="0"/>
          </a:p>
        </p:txBody>
      </p:sp>
      <p:sp>
        <p:nvSpPr>
          <p:cNvPr id="345" name="Shape 343"/>
          <p:cNvSpPr/>
          <p:nvPr/>
        </p:nvSpPr>
        <p:spPr>
          <a:xfrm>
            <a:off x="4440936" y="3426714"/>
            <a:ext cx="1616964" cy="100584"/>
          </a:xfrm>
          <a:prstGeom prst="rect">
            <a:avLst/>
          </a:prstGeom>
          <a:solidFill>
            <a:srgbClr val="BE82FF"/>
          </a:solidFill>
          <a:ln w="6350">
            <a:solidFill>
              <a:srgbClr val="7500C0"/>
            </a:solidFill>
            <a:prstDash val="solid"/>
          </a:ln>
        </p:spPr>
        <p:txBody>
          <a:bodyPr/>
          <a:lstStyle/>
          <a:p>
            <a:endParaRPr lang="es-ES"/>
          </a:p>
        </p:txBody>
      </p:sp>
      <p:sp>
        <p:nvSpPr>
          <p:cNvPr id="346" name="Text 344"/>
          <p:cNvSpPr/>
          <p:nvPr/>
        </p:nvSpPr>
        <p:spPr>
          <a:xfrm>
            <a:off x="4440936" y="3426714"/>
            <a:ext cx="1616964"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Entrega Garantizada</a:t>
            </a:r>
            <a:endParaRPr lang="en-US" sz="400" dirty="0"/>
          </a:p>
        </p:txBody>
      </p:sp>
      <p:sp>
        <p:nvSpPr>
          <p:cNvPr id="347" name="Shape 345"/>
          <p:cNvSpPr/>
          <p:nvPr/>
        </p:nvSpPr>
        <p:spPr>
          <a:xfrm>
            <a:off x="4440936" y="3536442"/>
            <a:ext cx="1616964" cy="124206"/>
          </a:xfrm>
          <a:prstGeom prst="rect">
            <a:avLst/>
          </a:prstGeom>
          <a:solidFill>
            <a:srgbClr val="FFFFFF"/>
          </a:solidFill>
          <a:ln w="3810">
            <a:solidFill>
              <a:srgbClr val="BE82FF"/>
            </a:solidFill>
            <a:prstDash val="solid"/>
          </a:ln>
        </p:spPr>
        <p:txBody>
          <a:bodyPr/>
          <a:lstStyle/>
          <a:p>
            <a:endParaRPr lang="es-ES"/>
          </a:p>
        </p:txBody>
      </p:sp>
      <p:sp>
        <p:nvSpPr>
          <p:cNvPr id="348" name="Text 346"/>
          <p:cNvSpPr/>
          <p:nvPr/>
        </p:nvSpPr>
        <p:spPr>
          <a:xfrm>
            <a:off x="4440936" y="3536442"/>
            <a:ext cx="1616964"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Semántica e Idempotencia</a:t>
            </a:r>
            <a:endParaRPr lang="en-US" sz="380" dirty="0"/>
          </a:p>
        </p:txBody>
      </p:sp>
      <p:sp>
        <p:nvSpPr>
          <p:cNvPr id="349" name="Shape 347"/>
          <p:cNvSpPr/>
          <p:nvPr/>
        </p:nvSpPr>
        <p:spPr>
          <a:xfrm>
            <a:off x="4440936" y="3665220"/>
            <a:ext cx="1616964" cy="124206"/>
          </a:xfrm>
          <a:prstGeom prst="rect">
            <a:avLst/>
          </a:prstGeom>
          <a:solidFill>
            <a:srgbClr val="FFFFFF"/>
          </a:solidFill>
          <a:ln w="3810">
            <a:solidFill>
              <a:srgbClr val="BE82FF"/>
            </a:solidFill>
            <a:prstDash val="solid"/>
          </a:ln>
        </p:spPr>
        <p:txBody>
          <a:bodyPr/>
          <a:lstStyle/>
          <a:p>
            <a:endParaRPr lang="es-ES"/>
          </a:p>
        </p:txBody>
      </p:sp>
      <p:sp>
        <p:nvSpPr>
          <p:cNvPr id="350" name="Text 348"/>
          <p:cNvSpPr/>
          <p:nvPr/>
        </p:nvSpPr>
        <p:spPr>
          <a:xfrm>
            <a:off x="4440936" y="3665220"/>
            <a:ext cx="1616964"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Dead Letter y Error Topics</a:t>
            </a:r>
            <a:endParaRPr lang="en-US" sz="380" dirty="0"/>
          </a:p>
        </p:txBody>
      </p:sp>
      <p:sp>
        <p:nvSpPr>
          <p:cNvPr id="351" name="Shape 349"/>
          <p:cNvSpPr/>
          <p:nvPr/>
        </p:nvSpPr>
        <p:spPr>
          <a:xfrm>
            <a:off x="4440936" y="3793998"/>
            <a:ext cx="1616964" cy="124206"/>
          </a:xfrm>
          <a:prstGeom prst="rect">
            <a:avLst/>
          </a:prstGeom>
          <a:solidFill>
            <a:srgbClr val="FFFFFF"/>
          </a:solidFill>
          <a:ln w="3810">
            <a:solidFill>
              <a:srgbClr val="BE82FF"/>
            </a:solidFill>
            <a:prstDash val="solid"/>
          </a:ln>
        </p:spPr>
        <p:txBody>
          <a:bodyPr/>
          <a:lstStyle/>
          <a:p>
            <a:endParaRPr lang="es-ES"/>
          </a:p>
        </p:txBody>
      </p:sp>
      <p:sp>
        <p:nvSpPr>
          <p:cNvPr id="352" name="Text 350"/>
          <p:cNvSpPr/>
          <p:nvPr/>
        </p:nvSpPr>
        <p:spPr>
          <a:xfrm>
            <a:off x="4440936" y="3793998"/>
            <a:ext cx="1616964"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Reporte Garantía Entrega</a:t>
            </a:r>
            <a:endParaRPr lang="en-US" sz="380" dirty="0"/>
          </a:p>
        </p:txBody>
      </p:sp>
      <p:sp>
        <p:nvSpPr>
          <p:cNvPr id="353" name="Shape 351"/>
          <p:cNvSpPr/>
          <p:nvPr/>
        </p:nvSpPr>
        <p:spPr>
          <a:xfrm>
            <a:off x="6076188" y="3426714"/>
            <a:ext cx="1616964" cy="100584"/>
          </a:xfrm>
          <a:prstGeom prst="rect">
            <a:avLst/>
          </a:prstGeom>
          <a:solidFill>
            <a:srgbClr val="BE82FF"/>
          </a:solidFill>
          <a:ln w="6350">
            <a:solidFill>
              <a:srgbClr val="7500C0"/>
            </a:solidFill>
            <a:prstDash val="solid"/>
          </a:ln>
        </p:spPr>
        <p:txBody>
          <a:bodyPr/>
          <a:lstStyle/>
          <a:p>
            <a:endParaRPr lang="es-ES"/>
          </a:p>
        </p:txBody>
      </p:sp>
      <p:sp>
        <p:nvSpPr>
          <p:cNvPr id="354" name="Text 352"/>
          <p:cNvSpPr/>
          <p:nvPr/>
        </p:nvSpPr>
        <p:spPr>
          <a:xfrm>
            <a:off x="6076188" y="3426714"/>
            <a:ext cx="1616964"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Reg. Eventos y Gobernanza</a:t>
            </a:r>
            <a:endParaRPr lang="en-US" sz="400" dirty="0"/>
          </a:p>
        </p:txBody>
      </p:sp>
      <p:sp>
        <p:nvSpPr>
          <p:cNvPr id="355" name="Shape 353"/>
          <p:cNvSpPr/>
          <p:nvPr/>
        </p:nvSpPr>
        <p:spPr>
          <a:xfrm>
            <a:off x="6076188" y="3536442"/>
            <a:ext cx="1616964" cy="124206"/>
          </a:xfrm>
          <a:prstGeom prst="rect">
            <a:avLst/>
          </a:prstGeom>
          <a:solidFill>
            <a:srgbClr val="FFFFFF"/>
          </a:solidFill>
          <a:ln w="3810">
            <a:solidFill>
              <a:srgbClr val="BE82FF"/>
            </a:solidFill>
            <a:prstDash val="solid"/>
          </a:ln>
        </p:spPr>
        <p:txBody>
          <a:bodyPr/>
          <a:lstStyle/>
          <a:p>
            <a:endParaRPr lang="es-ES"/>
          </a:p>
        </p:txBody>
      </p:sp>
      <p:sp>
        <p:nvSpPr>
          <p:cNvPr id="356" name="Text 354"/>
          <p:cNvSpPr/>
          <p:nvPr/>
        </p:nvSpPr>
        <p:spPr>
          <a:xfrm>
            <a:off x="6076188" y="3536442"/>
            <a:ext cx="1616964"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Definiciones y Esquemas Canónicos</a:t>
            </a:r>
            <a:endParaRPr lang="en-US" sz="380" dirty="0"/>
          </a:p>
        </p:txBody>
      </p:sp>
      <p:sp>
        <p:nvSpPr>
          <p:cNvPr id="357" name="Shape 355"/>
          <p:cNvSpPr/>
          <p:nvPr/>
        </p:nvSpPr>
        <p:spPr>
          <a:xfrm>
            <a:off x="6076188" y="3665220"/>
            <a:ext cx="1616964" cy="124206"/>
          </a:xfrm>
          <a:prstGeom prst="rect">
            <a:avLst/>
          </a:prstGeom>
          <a:solidFill>
            <a:srgbClr val="FFFFFF"/>
          </a:solidFill>
          <a:ln w="3810">
            <a:solidFill>
              <a:srgbClr val="BE82FF"/>
            </a:solidFill>
            <a:prstDash val="solid"/>
          </a:ln>
        </p:spPr>
        <p:txBody>
          <a:bodyPr/>
          <a:lstStyle/>
          <a:p>
            <a:endParaRPr lang="es-ES"/>
          </a:p>
        </p:txBody>
      </p:sp>
      <p:sp>
        <p:nvSpPr>
          <p:cNvPr id="358" name="Text 356"/>
          <p:cNvSpPr/>
          <p:nvPr/>
        </p:nvSpPr>
        <p:spPr>
          <a:xfrm>
            <a:off x="6076188" y="3665220"/>
            <a:ext cx="1616964"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Versionado Esquemas</a:t>
            </a:r>
            <a:endParaRPr lang="en-US" sz="380" dirty="0"/>
          </a:p>
        </p:txBody>
      </p:sp>
      <p:sp>
        <p:nvSpPr>
          <p:cNvPr id="359" name="Shape 357"/>
          <p:cNvSpPr/>
          <p:nvPr/>
        </p:nvSpPr>
        <p:spPr>
          <a:xfrm>
            <a:off x="6076188" y="3793998"/>
            <a:ext cx="1616964" cy="124206"/>
          </a:xfrm>
          <a:prstGeom prst="rect">
            <a:avLst/>
          </a:prstGeom>
          <a:solidFill>
            <a:srgbClr val="FFFFFF"/>
          </a:solidFill>
          <a:ln w="3810">
            <a:solidFill>
              <a:srgbClr val="BE82FF"/>
            </a:solidFill>
            <a:prstDash val="solid"/>
          </a:ln>
        </p:spPr>
        <p:txBody>
          <a:bodyPr/>
          <a:lstStyle/>
          <a:p>
            <a:endParaRPr lang="es-ES"/>
          </a:p>
        </p:txBody>
      </p:sp>
      <p:sp>
        <p:nvSpPr>
          <p:cNvPr id="360" name="Text 358"/>
          <p:cNvSpPr/>
          <p:nvPr/>
        </p:nvSpPr>
        <p:spPr>
          <a:xfrm>
            <a:off x="6076188" y="3793998"/>
            <a:ext cx="1616964"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Catálogo y Reg. Consumidores</a:t>
            </a:r>
            <a:endParaRPr lang="en-US" sz="380" dirty="0"/>
          </a:p>
        </p:txBody>
      </p:sp>
      <p:sp>
        <p:nvSpPr>
          <p:cNvPr id="361" name="Shape 359"/>
          <p:cNvSpPr/>
          <p:nvPr/>
        </p:nvSpPr>
        <p:spPr>
          <a:xfrm>
            <a:off x="7711440" y="3426714"/>
            <a:ext cx="1616964" cy="100584"/>
          </a:xfrm>
          <a:prstGeom prst="rect">
            <a:avLst/>
          </a:prstGeom>
          <a:solidFill>
            <a:srgbClr val="BE82FF"/>
          </a:solidFill>
          <a:ln w="6350">
            <a:solidFill>
              <a:srgbClr val="7500C0"/>
            </a:solidFill>
            <a:prstDash val="solid"/>
          </a:ln>
        </p:spPr>
        <p:txBody>
          <a:bodyPr/>
          <a:lstStyle/>
          <a:p>
            <a:endParaRPr lang="es-ES"/>
          </a:p>
        </p:txBody>
      </p:sp>
      <p:sp>
        <p:nvSpPr>
          <p:cNvPr id="362" name="Text 360"/>
          <p:cNvSpPr/>
          <p:nvPr/>
        </p:nvSpPr>
        <p:spPr>
          <a:xfrm>
            <a:off x="7711440" y="3426714"/>
            <a:ext cx="1616964"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Event Mesh y Enrutamiento</a:t>
            </a:r>
            <a:endParaRPr lang="en-US" sz="400" dirty="0"/>
          </a:p>
        </p:txBody>
      </p:sp>
      <p:sp>
        <p:nvSpPr>
          <p:cNvPr id="363" name="Shape 361"/>
          <p:cNvSpPr/>
          <p:nvPr/>
        </p:nvSpPr>
        <p:spPr>
          <a:xfrm>
            <a:off x="7711440" y="3536442"/>
            <a:ext cx="1616964" cy="188595"/>
          </a:xfrm>
          <a:prstGeom prst="rect">
            <a:avLst/>
          </a:prstGeom>
          <a:solidFill>
            <a:srgbClr val="FFFFFF"/>
          </a:solidFill>
          <a:ln w="3810">
            <a:solidFill>
              <a:srgbClr val="BE82FF"/>
            </a:solidFill>
            <a:prstDash val="solid"/>
          </a:ln>
        </p:spPr>
        <p:txBody>
          <a:bodyPr/>
          <a:lstStyle/>
          <a:p>
            <a:endParaRPr lang="es-ES"/>
          </a:p>
        </p:txBody>
      </p:sp>
      <p:sp>
        <p:nvSpPr>
          <p:cNvPr id="364" name="Text 362"/>
          <p:cNvSpPr/>
          <p:nvPr/>
        </p:nvSpPr>
        <p:spPr>
          <a:xfrm>
            <a:off x="7711440" y="3536442"/>
            <a:ext cx="1616964"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Enrutamiento y Clustering</a:t>
            </a:r>
            <a:endParaRPr lang="en-US" sz="380" dirty="0"/>
          </a:p>
        </p:txBody>
      </p:sp>
      <p:sp>
        <p:nvSpPr>
          <p:cNvPr id="365" name="Shape 363"/>
          <p:cNvSpPr/>
          <p:nvPr/>
        </p:nvSpPr>
        <p:spPr>
          <a:xfrm>
            <a:off x="7711440" y="3729609"/>
            <a:ext cx="1616964" cy="188595"/>
          </a:xfrm>
          <a:prstGeom prst="rect">
            <a:avLst/>
          </a:prstGeom>
          <a:solidFill>
            <a:srgbClr val="FFFFFF"/>
          </a:solidFill>
          <a:ln w="3810">
            <a:solidFill>
              <a:srgbClr val="BE82FF"/>
            </a:solidFill>
            <a:prstDash val="solid"/>
          </a:ln>
        </p:spPr>
        <p:txBody>
          <a:bodyPr/>
          <a:lstStyle/>
          <a:p>
            <a:endParaRPr lang="es-ES"/>
          </a:p>
        </p:txBody>
      </p:sp>
      <p:sp>
        <p:nvSpPr>
          <p:cNvPr id="366" name="Text 364"/>
          <p:cNvSpPr/>
          <p:nvPr/>
        </p:nvSpPr>
        <p:spPr>
          <a:xfrm>
            <a:off x="7711440" y="3729609"/>
            <a:ext cx="1616964"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Distribución Cross-Dominio</a:t>
            </a:r>
            <a:endParaRPr lang="en-US" sz="380" dirty="0"/>
          </a:p>
        </p:txBody>
      </p:sp>
      <p:sp>
        <p:nvSpPr>
          <p:cNvPr id="367" name="Shape 365"/>
          <p:cNvSpPr/>
          <p:nvPr/>
        </p:nvSpPr>
        <p:spPr>
          <a:xfrm>
            <a:off x="9346692" y="3426714"/>
            <a:ext cx="1616964" cy="100584"/>
          </a:xfrm>
          <a:prstGeom prst="rect">
            <a:avLst/>
          </a:prstGeom>
          <a:solidFill>
            <a:srgbClr val="BE82FF"/>
          </a:solidFill>
          <a:ln w="6350">
            <a:solidFill>
              <a:srgbClr val="7500C0"/>
            </a:solidFill>
            <a:prstDash val="solid"/>
          </a:ln>
        </p:spPr>
        <p:txBody>
          <a:bodyPr/>
          <a:lstStyle/>
          <a:p>
            <a:endParaRPr lang="es-ES"/>
          </a:p>
        </p:txBody>
      </p:sp>
      <p:sp>
        <p:nvSpPr>
          <p:cNvPr id="368" name="Text 366"/>
          <p:cNvSpPr/>
          <p:nvPr/>
        </p:nvSpPr>
        <p:spPr>
          <a:xfrm>
            <a:off x="9346692" y="3426714"/>
            <a:ext cx="1616964"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Monitorización de Eventos</a:t>
            </a:r>
            <a:endParaRPr lang="en-US" sz="400" dirty="0"/>
          </a:p>
        </p:txBody>
      </p:sp>
      <p:sp>
        <p:nvSpPr>
          <p:cNvPr id="369" name="Shape 367"/>
          <p:cNvSpPr/>
          <p:nvPr/>
        </p:nvSpPr>
        <p:spPr>
          <a:xfrm>
            <a:off x="9346692" y="3536442"/>
            <a:ext cx="1616964" cy="188595"/>
          </a:xfrm>
          <a:prstGeom prst="rect">
            <a:avLst/>
          </a:prstGeom>
          <a:solidFill>
            <a:srgbClr val="FFFFFF"/>
          </a:solidFill>
          <a:ln w="3810">
            <a:solidFill>
              <a:srgbClr val="BE82FF"/>
            </a:solidFill>
            <a:prstDash val="solid"/>
          </a:ln>
        </p:spPr>
        <p:txBody>
          <a:bodyPr/>
          <a:lstStyle/>
          <a:p>
            <a:endParaRPr lang="es-ES"/>
          </a:p>
        </p:txBody>
      </p:sp>
      <p:sp>
        <p:nvSpPr>
          <p:cNvPr id="370" name="Text 368"/>
          <p:cNvSpPr/>
          <p:nvPr/>
        </p:nvSpPr>
        <p:spPr>
          <a:xfrm>
            <a:off x="9346692" y="3536442"/>
            <a:ext cx="1616964"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Flujo y Lag Consumidores</a:t>
            </a:r>
            <a:endParaRPr lang="en-US" sz="380" dirty="0"/>
          </a:p>
        </p:txBody>
      </p:sp>
      <p:sp>
        <p:nvSpPr>
          <p:cNvPr id="371" name="Shape 369"/>
          <p:cNvSpPr/>
          <p:nvPr/>
        </p:nvSpPr>
        <p:spPr>
          <a:xfrm>
            <a:off x="9346692" y="3729609"/>
            <a:ext cx="1616964" cy="188595"/>
          </a:xfrm>
          <a:prstGeom prst="rect">
            <a:avLst/>
          </a:prstGeom>
          <a:solidFill>
            <a:srgbClr val="FFFFFF"/>
          </a:solidFill>
          <a:ln w="3810">
            <a:solidFill>
              <a:srgbClr val="BE82FF"/>
            </a:solidFill>
            <a:prstDash val="solid"/>
          </a:ln>
        </p:spPr>
        <p:txBody>
          <a:bodyPr/>
          <a:lstStyle/>
          <a:p>
            <a:endParaRPr lang="es-ES"/>
          </a:p>
        </p:txBody>
      </p:sp>
      <p:sp>
        <p:nvSpPr>
          <p:cNvPr id="372" name="Text 370"/>
          <p:cNvSpPr/>
          <p:nvPr/>
        </p:nvSpPr>
        <p:spPr>
          <a:xfrm>
            <a:off x="9346692" y="3729609"/>
            <a:ext cx="1616964"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Auditoría y Trazabilidad Eventos</a:t>
            </a:r>
            <a:endParaRPr lang="en-US" sz="380" dirty="0"/>
          </a:p>
        </p:txBody>
      </p:sp>
      <p:sp>
        <p:nvSpPr>
          <p:cNvPr id="373" name="Shape 371"/>
          <p:cNvSpPr/>
          <p:nvPr/>
        </p:nvSpPr>
        <p:spPr>
          <a:xfrm>
            <a:off x="1152144" y="3959352"/>
            <a:ext cx="9848088" cy="633222"/>
          </a:xfrm>
          <a:prstGeom prst="rect">
            <a:avLst/>
          </a:prstGeom>
          <a:solidFill>
            <a:srgbClr val="F0F8FF"/>
          </a:solidFill>
          <a:ln w="7620">
            <a:solidFill>
              <a:srgbClr val="7500C0"/>
            </a:solidFill>
            <a:prstDash val="solid"/>
          </a:ln>
        </p:spPr>
        <p:txBody>
          <a:bodyPr/>
          <a:lstStyle/>
          <a:p>
            <a:endParaRPr lang="es-ES"/>
          </a:p>
        </p:txBody>
      </p:sp>
      <p:sp>
        <p:nvSpPr>
          <p:cNvPr id="374" name="Shape 372"/>
          <p:cNvSpPr/>
          <p:nvPr/>
        </p:nvSpPr>
        <p:spPr>
          <a:xfrm>
            <a:off x="1152144" y="3959352"/>
            <a:ext cx="9848088" cy="118872"/>
          </a:xfrm>
          <a:prstGeom prst="rect">
            <a:avLst/>
          </a:prstGeom>
          <a:solidFill>
            <a:srgbClr val="7500C0"/>
          </a:solidFill>
          <a:ln w="12700">
            <a:solidFill>
              <a:srgbClr val="7500C0"/>
            </a:solidFill>
            <a:prstDash val="solid"/>
          </a:ln>
        </p:spPr>
        <p:txBody>
          <a:bodyPr/>
          <a:lstStyle/>
          <a:p>
            <a:endParaRPr lang="es-ES"/>
          </a:p>
        </p:txBody>
      </p:sp>
      <p:sp>
        <p:nvSpPr>
          <p:cNvPr id="375" name="Text 373"/>
          <p:cNvSpPr/>
          <p:nvPr/>
        </p:nvSpPr>
        <p:spPr>
          <a:xfrm>
            <a:off x="1188720" y="3959352"/>
            <a:ext cx="9774936" cy="118872"/>
          </a:xfrm>
          <a:prstGeom prst="rect">
            <a:avLst/>
          </a:prstGeom>
          <a:noFill/>
          <a:ln/>
        </p:spPr>
        <p:txBody>
          <a:bodyPr wrap="square" lIns="0" tIns="0" rIns="0" bIns="0" rtlCol="0" anchor="ctr"/>
          <a:lstStyle/>
          <a:p>
            <a:pPr marL="0" indent="0" algn="l">
              <a:buNone/>
            </a:pPr>
            <a:r>
              <a:rPr lang="en-US" sz="550" b="1" dirty="0">
                <a:solidFill>
                  <a:srgbClr val="FFFFFF"/>
                </a:solidFill>
              </a:rPr>
              <a:t>Omnicanal &amp; Componentes de Caché</a:t>
            </a:r>
            <a:endParaRPr lang="en-US" sz="550" dirty="0"/>
          </a:p>
        </p:txBody>
      </p:sp>
      <p:sp>
        <p:nvSpPr>
          <p:cNvPr id="376" name="Shape 374"/>
          <p:cNvSpPr/>
          <p:nvPr/>
        </p:nvSpPr>
        <p:spPr>
          <a:xfrm>
            <a:off x="1170432" y="4087368"/>
            <a:ext cx="2434590" cy="100584"/>
          </a:xfrm>
          <a:prstGeom prst="rect">
            <a:avLst/>
          </a:prstGeom>
          <a:solidFill>
            <a:srgbClr val="BE82FF"/>
          </a:solidFill>
          <a:ln w="6350">
            <a:solidFill>
              <a:srgbClr val="7500C0"/>
            </a:solidFill>
            <a:prstDash val="solid"/>
          </a:ln>
        </p:spPr>
        <p:txBody>
          <a:bodyPr/>
          <a:lstStyle/>
          <a:p>
            <a:endParaRPr lang="es-ES"/>
          </a:p>
        </p:txBody>
      </p:sp>
      <p:sp>
        <p:nvSpPr>
          <p:cNvPr id="377" name="Text 375"/>
          <p:cNvSpPr/>
          <p:nvPr/>
        </p:nvSpPr>
        <p:spPr>
          <a:xfrm>
            <a:off x="1170432" y="4087368"/>
            <a:ext cx="2434590"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Gestión Datos Omnicanal</a:t>
            </a:r>
            <a:endParaRPr lang="en-US" sz="400" dirty="0"/>
          </a:p>
        </p:txBody>
      </p:sp>
      <p:sp>
        <p:nvSpPr>
          <p:cNvPr id="378" name="Shape 376"/>
          <p:cNvSpPr/>
          <p:nvPr/>
        </p:nvSpPr>
        <p:spPr>
          <a:xfrm>
            <a:off x="1170432" y="4197096"/>
            <a:ext cx="2434590" cy="124206"/>
          </a:xfrm>
          <a:prstGeom prst="rect">
            <a:avLst/>
          </a:prstGeom>
          <a:solidFill>
            <a:srgbClr val="FFFFFF"/>
          </a:solidFill>
          <a:ln w="3810">
            <a:solidFill>
              <a:srgbClr val="BE82FF"/>
            </a:solidFill>
            <a:prstDash val="solid"/>
          </a:ln>
        </p:spPr>
        <p:txBody>
          <a:bodyPr/>
          <a:lstStyle/>
          <a:p>
            <a:endParaRPr lang="es-ES"/>
          </a:p>
        </p:txBody>
      </p:sp>
      <p:sp>
        <p:nvSpPr>
          <p:cNvPr id="379" name="Text 377"/>
          <p:cNvSpPr/>
          <p:nvPr/>
        </p:nvSpPr>
        <p:spPr>
          <a:xfrm>
            <a:off x="1170432" y="4197096"/>
            <a:ext cx="2434590"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Almacén Datos Omnicanal</a:t>
            </a:r>
            <a:endParaRPr lang="en-US" sz="380" dirty="0"/>
          </a:p>
        </p:txBody>
      </p:sp>
      <p:sp>
        <p:nvSpPr>
          <p:cNvPr id="380" name="Shape 378"/>
          <p:cNvSpPr/>
          <p:nvPr/>
        </p:nvSpPr>
        <p:spPr>
          <a:xfrm>
            <a:off x="1170432" y="4325874"/>
            <a:ext cx="2434590" cy="124206"/>
          </a:xfrm>
          <a:prstGeom prst="rect">
            <a:avLst/>
          </a:prstGeom>
          <a:solidFill>
            <a:srgbClr val="FFFFFF"/>
          </a:solidFill>
          <a:ln w="3810">
            <a:solidFill>
              <a:srgbClr val="BE82FF"/>
            </a:solidFill>
            <a:prstDash val="solid"/>
          </a:ln>
        </p:spPr>
        <p:txBody>
          <a:bodyPr/>
          <a:lstStyle/>
          <a:p>
            <a:endParaRPr lang="es-ES"/>
          </a:p>
        </p:txBody>
      </p:sp>
      <p:sp>
        <p:nvSpPr>
          <p:cNvPr id="381" name="Text 379"/>
          <p:cNvSpPr/>
          <p:nvPr/>
        </p:nvSpPr>
        <p:spPr>
          <a:xfrm>
            <a:off x="1170432" y="4325874"/>
            <a:ext cx="2434590"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Servicios Acceso Datos Omnicanal</a:t>
            </a:r>
            <a:endParaRPr lang="en-US" sz="380" dirty="0"/>
          </a:p>
        </p:txBody>
      </p:sp>
      <p:sp>
        <p:nvSpPr>
          <p:cNvPr id="382" name="Shape 380"/>
          <p:cNvSpPr/>
          <p:nvPr/>
        </p:nvSpPr>
        <p:spPr>
          <a:xfrm>
            <a:off x="1170432" y="4454652"/>
            <a:ext cx="2434590" cy="124206"/>
          </a:xfrm>
          <a:prstGeom prst="rect">
            <a:avLst/>
          </a:prstGeom>
          <a:solidFill>
            <a:srgbClr val="FFFFFF"/>
          </a:solidFill>
          <a:ln w="3810">
            <a:solidFill>
              <a:srgbClr val="BE82FF"/>
            </a:solidFill>
            <a:prstDash val="solid"/>
          </a:ln>
        </p:spPr>
        <p:txBody>
          <a:bodyPr/>
          <a:lstStyle/>
          <a:p>
            <a:endParaRPr lang="es-ES"/>
          </a:p>
        </p:txBody>
      </p:sp>
      <p:sp>
        <p:nvSpPr>
          <p:cNvPr id="383" name="Text 381"/>
          <p:cNvSpPr/>
          <p:nvPr/>
        </p:nvSpPr>
        <p:spPr>
          <a:xfrm>
            <a:off x="1170432" y="4454652"/>
            <a:ext cx="2434590"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Reanudación de Journey</a:t>
            </a:r>
            <a:endParaRPr lang="en-US" sz="380" dirty="0"/>
          </a:p>
        </p:txBody>
      </p:sp>
      <p:sp>
        <p:nvSpPr>
          <p:cNvPr id="384" name="Shape 382"/>
          <p:cNvSpPr/>
          <p:nvPr/>
        </p:nvSpPr>
        <p:spPr>
          <a:xfrm>
            <a:off x="3623310" y="4087368"/>
            <a:ext cx="2434590" cy="100584"/>
          </a:xfrm>
          <a:prstGeom prst="rect">
            <a:avLst/>
          </a:prstGeom>
          <a:solidFill>
            <a:srgbClr val="BE82FF"/>
          </a:solidFill>
          <a:ln w="6350">
            <a:solidFill>
              <a:srgbClr val="7500C0"/>
            </a:solidFill>
            <a:prstDash val="solid"/>
          </a:ln>
        </p:spPr>
        <p:txBody>
          <a:bodyPr/>
          <a:lstStyle/>
          <a:p>
            <a:endParaRPr lang="es-ES"/>
          </a:p>
        </p:txBody>
      </p:sp>
      <p:sp>
        <p:nvSpPr>
          <p:cNvPr id="385" name="Text 383"/>
          <p:cNvSpPr/>
          <p:nvPr/>
        </p:nvSpPr>
        <p:spPr>
          <a:xfrm>
            <a:off x="3623310" y="4087368"/>
            <a:ext cx="2434590"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Componentes de Caché</a:t>
            </a:r>
            <a:endParaRPr lang="en-US" sz="400" dirty="0"/>
          </a:p>
        </p:txBody>
      </p:sp>
      <p:sp>
        <p:nvSpPr>
          <p:cNvPr id="386" name="Shape 384"/>
          <p:cNvSpPr/>
          <p:nvPr/>
        </p:nvSpPr>
        <p:spPr>
          <a:xfrm>
            <a:off x="3623310" y="4197096"/>
            <a:ext cx="2434590" cy="124206"/>
          </a:xfrm>
          <a:prstGeom prst="rect">
            <a:avLst/>
          </a:prstGeom>
          <a:solidFill>
            <a:srgbClr val="FFFFFF"/>
          </a:solidFill>
          <a:ln w="3810">
            <a:solidFill>
              <a:srgbClr val="BE82FF"/>
            </a:solidFill>
            <a:prstDash val="solid"/>
          </a:ln>
        </p:spPr>
        <p:txBody>
          <a:bodyPr/>
          <a:lstStyle/>
          <a:p>
            <a:endParaRPr lang="es-ES"/>
          </a:p>
        </p:txBody>
      </p:sp>
      <p:sp>
        <p:nvSpPr>
          <p:cNvPr id="387" name="Text 385"/>
          <p:cNvSpPr/>
          <p:nvPr/>
        </p:nvSpPr>
        <p:spPr>
          <a:xfrm>
            <a:off x="3623310" y="4197096"/>
            <a:ext cx="2434590"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Caché Distribuida/En Memoria</a:t>
            </a:r>
            <a:endParaRPr lang="en-US" sz="380" dirty="0"/>
          </a:p>
        </p:txBody>
      </p:sp>
      <p:sp>
        <p:nvSpPr>
          <p:cNvPr id="388" name="Shape 386"/>
          <p:cNvSpPr/>
          <p:nvPr/>
        </p:nvSpPr>
        <p:spPr>
          <a:xfrm>
            <a:off x="3623310" y="4325874"/>
            <a:ext cx="2434590" cy="124206"/>
          </a:xfrm>
          <a:prstGeom prst="rect">
            <a:avLst/>
          </a:prstGeom>
          <a:solidFill>
            <a:srgbClr val="FFFFFF"/>
          </a:solidFill>
          <a:ln w="3810">
            <a:solidFill>
              <a:srgbClr val="BE82FF"/>
            </a:solidFill>
            <a:prstDash val="solid"/>
          </a:ln>
        </p:spPr>
        <p:txBody>
          <a:bodyPr/>
          <a:lstStyle/>
          <a:p>
            <a:endParaRPr lang="es-ES"/>
          </a:p>
        </p:txBody>
      </p:sp>
      <p:sp>
        <p:nvSpPr>
          <p:cNvPr id="389" name="Text 387"/>
          <p:cNvSpPr/>
          <p:nvPr/>
        </p:nvSpPr>
        <p:spPr>
          <a:xfrm>
            <a:off x="3623310" y="4325874"/>
            <a:ext cx="2434590"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Invalidación y Refresco de Caché</a:t>
            </a:r>
            <a:endParaRPr lang="en-US" sz="380" dirty="0"/>
          </a:p>
        </p:txBody>
      </p:sp>
      <p:sp>
        <p:nvSpPr>
          <p:cNvPr id="390" name="Shape 388"/>
          <p:cNvSpPr/>
          <p:nvPr/>
        </p:nvSpPr>
        <p:spPr>
          <a:xfrm>
            <a:off x="3623310" y="4454652"/>
            <a:ext cx="2434590" cy="124206"/>
          </a:xfrm>
          <a:prstGeom prst="rect">
            <a:avLst/>
          </a:prstGeom>
          <a:solidFill>
            <a:srgbClr val="FFFFFF"/>
          </a:solidFill>
          <a:ln w="3810">
            <a:solidFill>
              <a:srgbClr val="BE82FF"/>
            </a:solidFill>
            <a:prstDash val="solid"/>
          </a:ln>
        </p:spPr>
        <p:txBody>
          <a:bodyPr/>
          <a:lstStyle/>
          <a:p>
            <a:endParaRPr lang="es-ES"/>
          </a:p>
        </p:txBody>
      </p:sp>
      <p:sp>
        <p:nvSpPr>
          <p:cNvPr id="391" name="Text 389"/>
          <p:cNvSpPr/>
          <p:nvPr/>
        </p:nvSpPr>
        <p:spPr>
          <a:xfrm>
            <a:off x="3623310" y="4454652"/>
            <a:ext cx="2434590"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Aceleración Contenido Estático</a:t>
            </a:r>
            <a:endParaRPr lang="en-US" sz="380" dirty="0"/>
          </a:p>
        </p:txBody>
      </p:sp>
      <p:sp>
        <p:nvSpPr>
          <p:cNvPr id="392" name="Shape 390"/>
          <p:cNvSpPr/>
          <p:nvPr/>
        </p:nvSpPr>
        <p:spPr>
          <a:xfrm>
            <a:off x="6076188" y="4087368"/>
            <a:ext cx="2434590" cy="100584"/>
          </a:xfrm>
          <a:prstGeom prst="rect">
            <a:avLst/>
          </a:prstGeom>
          <a:solidFill>
            <a:srgbClr val="BE82FF"/>
          </a:solidFill>
          <a:ln w="6350">
            <a:solidFill>
              <a:srgbClr val="7500C0"/>
            </a:solidFill>
            <a:prstDash val="solid"/>
          </a:ln>
        </p:spPr>
        <p:txBody>
          <a:bodyPr/>
          <a:lstStyle/>
          <a:p>
            <a:endParaRPr lang="es-ES"/>
          </a:p>
        </p:txBody>
      </p:sp>
      <p:sp>
        <p:nvSpPr>
          <p:cNvPr id="393" name="Text 391"/>
          <p:cNvSpPr/>
          <p:nvPr/>
        </p:nvSpPr>
        <p:spPr>
          <a:xfrm>
            <a:off x="6076188" y="4087368"/>
            <a:ext cx="2434590"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Gestión Sesiones y Replicación</a:t>
            </a:r>
            <a:endParaRPr lang="en-US" sz="400" dirty="0"/>
          </a:p>
        </p:txBody>
      </p:sp>
      <p:sp>
        <p:nvSpPr>
          <p:cNvPr id="394" name="Shape 392"/>
          <p:cNvSpPr/>
          <p:nvPr/>
        </p:nvSpPr>
        <p:spPr>
          <a:xfrm>
            <a:off x="6076188" y="4197096"/>
            <a:ext cx="2434590" cy="188595"/>
          </a:xfrm>
          <a:prstGeom prst="rect">
            <a:avLst/>
          </a:prstGeom>
          <a:solidFill>
            <a:srgbClr val="FFFFFF"/>
          </a:solidFill>
          <a:ln w="3810">
            <a:solidFill>
              <a:srgbClr val="BE82FF"/>
            </a:solidFill>
            <a:prstDash val="solid"/>
          </a:ln>
        </p:spPr>
        <p:txBody>
          <a:bodyPr/>
          <a:lstStyle/>
          <a:p>
            <a:endParaRPr lang="es-ES"/>
          </a:p>
        </p:txBody>
      </p:sp>
      <p:sp>
        <p:nvSpPr>
          <p:cNvPr id="395" name="Text 393"/>
          <p:cNvSpPr/>
          <p:nvPr/>
        </p:nvSpPr>
        <p:spPr>
          <a:xfrm>
            <a:off x="6076188" y="4197096"/>
            <a:ext cx="2434590"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Caché de Sesión</a:t>
            </a:r>
            <a:endParaRPr lang="en-US" sz="380" dirty="0"/>
          </a:p>
        </p:txBody>
      </p:sp>
      <p:sp>
        <p:nvSpPr>
          <p:cNvPr id="396" name="Shape 394"/>
          <p:cNvSpPr/>
          <p:nvPr/>
        </p:nvSpPr>
        <p:spPr>
          <a:xfrm>
            <a:off x="6076188" y="4390263"/>
            <a:ext cx="2434590" cy="188595"/>
          </a:xfrm>
          <a:prstGeom prst="rect">
            <a:avLst/>
          </a:prstGeom>
          <a:solidFill>
            <a:srgbClr val="FFFFFF"/>
          </a:solidFill>
          <a:ln w="3810">
            <a:solidFill>
              <a:srgbClr val="BE82FF"/>
            </a:solidFill>
            <a:prstDash val="solid"/>
          </a:ln>
        </p:spPr>
        <p:txBody>
          <a:bodyPr/>
          <a:lstStyle/>
          <a:p>
            <a:endParaRPr lang="es-ES"/>
          </a:p>
        </p:txBody>
      </p:sp>
      <p:sp>
        <p:nvSpPr>
          <p:cNvPr id="397" name="Text 395"/>
          <p:cNvSpPr/>
          <p:nvPr/>
        </p:nvSpPr>
        <p:spPr>
          <a:xfrm>
            <a:off x="6076188" y="4390263"/>
            <a:ext cx="2434590"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Replicación Sesión Inter-Dominio</a:t>
            </a:r>
            <a:endParaRPr lang="en-US" sz="380" dirty="0"/>
          </a:p>
        </p:txBody>
      </p:sp>
      <p:sp>
        <p:nvSpPr>
          <p:cNvPr id="398" name="Shape 396"/>
          <p:cNvSpPr/>
          <p:nvPr/>
        </p:nvSpPr>
        <p:spPr>
          <a:xfrm>
            <a:off x="8529066" y="4087368"/>
            <a:ext cx="2434590" cy="100584"/>
          </a:xfrm>
          <a:prstGeom prst="rect">
            <a:avLst/>
          </a:prstGeom>
          <a:solidFill>
            <a:srgbClr val="BE82FF"/>
          </a:solidFill>
          <a:ln w="6350">
            <a:solidFill>
              <a:srgbClr val="7500C0"/>
            </a:solidFill>
            <a:prstDash val="solid"/>
          </a:ln>
        </p:spPr>
        <p:txBody>
          <a:bodyPr/>
          <a:lstStyle/>
          <a:p>
            <a:endParaRPr lang="es-ES"/>
          </a:p>
        </p:txBody>
      </p:sp>
      <p:sp>
        <p:nvSpPr>
          <p:cNvPr id="399" name="Text 397"/>
          <p:cNvSpPr/>
          <p:nvPr/>
        </p:nvSpPr>
        <p:spPr>
          <a:xfrm>
            <a:off x="8529066" y="4087368"/>
            <a:ext cx="2434590"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Caché Transacc. y Lectura</a:t>
            </a:r>
            <a:endParaRPr lang="en-US" sz="400" dirty="0"/>
          </a:p>
        </p:txBody>
      </p:sp>
      <p:sp>
        <p:nvSpPr>
          <p:cNvPr id="400" name="Shape 398"/>
          <p:cNvSpPr/>
          <p:nvPr/>
        </p:nvSpPr>
        <p:spPr>
          <a:xfrm>
            <a:off x="8529066" y="4197096"/>
            <a:ext cx="2434590" cy="124206"/>
          </a:xfrm>
          <a:prstGeom prst="rect">
            <a:avLst/>
          </a:prstGeom>
          <a:solidFill>
            <a:srgbClr val="FFFFFF"/>
          </a:solidFill>
          <a:ln w="3810">
            <a:solidFill>
              <a:srgbClr val="BE82FF"/>
            </a:solidFill>
            <a:prstDash val="solid"/>
          </a:ln>
        </p:spPr>
        <p:txBody>
          <a:bodyPr/>
          <a:lstStyle/>
          <a:p>
            <a:endParaRPr lang="es-ES"/>
          </a:p>
        </p:txBody>
      </p:sp>
      <p:sp>
        <p:nvSpPr>
          <p:cNvPr id="401" name="Text 399"/>
          <p:cNvSpPr/>
          <p:nvPr/>
        </p:nvSpPr>
        <p:spPr>
          <a:xfrm>
            <a:off x="8529066" y="4197096"/>
            <a:ext cx="2434590"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Caché Transacciones en Vuelo</a:t>
            </a:r>
            <a:endParaRPr lang="en-US" sz="380" dirty="0"/>
          </a:p>
        </p:txBody>
      </p:sp>
      <p:sp>
        <p:nvSpPr>
          <p:cNvPr id="402" name="Shape 400"/>
          <p:cNvSpPr/>
          <p:nvPr/>
        </p:nvSpPr>
        <p:spPr>
          <a:xfrm>
            <a:off x="8529066" y="4325874"/>
            <a:ext cx="2434590" cy="124206"/>
          </a:xfrm>
          <a:prstGeom prst="rect">
            <a:avLst/>
          </a:prstGeom>
          <a:solidFill>
            <a:srgbClr val="FFFFFF"/>
          </a:solidFill>
          <a:ln w="3810">
            <a:solidFill>
              <a:srgbClr val="BE82FF"/>
            </a:solidFill>
            <a:prstDash val="solid"/>
          </a:ln>
        </p:spPr>
        <p:txBody>
          <a:bodyPr/>
          <a:lstStyle/>
          <a:p>
            <a:endParaRPr lang="es-ES"/>
          </a:p>
        </p:txBody>
      </p:sp>
      <p:sp>
        <p:nvSpPr>
          <p:cNvPr id="403" name="Text 401"/>
          <p:cNvSpPr/>
          <p:nvPr/>
        </p:nvSpPr>
        <p:spPr>
          <a:xfrm>
            <a:off x="8529066" y="4325874"/>
            <a:ext cx="2434590"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Lectura de Baja Latencia</a:t>
            </a:r>
            <a:endParaRPr lang="en-US" sz="380" dirty="0"/>
          </a:p>
        </p:txBody>
      </p:sp>
      <p:sp>
        <p:nvSpPr>
          <p:cNvPr id="404" name="Shape 402"/>
          <p:cNvSpPr/>
          <p:nvPr/>
        </p:nvSpPr>
        <p:spPr>
          <a:xfrm>
            <a:off x="8529066" y="4454652"/>
            <a:ext cx="2434590" cy="124206"/>
          </a:xfrm>
          <a:prstGeom prst="rect">
            <a:avLst/>
          </a:prstGeom>
          <a:solidFill>
            <a:srgbClr val="FFFFFF"/>
          </a:solidFill>
          <a:ln w="3810">
            <a:solidFill>
              <a:srgbClr val="BE82FF"/>
            </a:solidFill>
            <a:prstDash val="solid"/>
          </a:ln>
        </p:spPr>
        <p:txBody>
          <a:bodyPr/>
          <a:lstStyle/>
          <a:p>
            <a:endParaRPr lang="es-ES"/>
          </a:p>
        </p:txBody>
      </p:sp>
      <p:sp>
        <p:nvSpPr>
          <p:cNvPr id="405" name="Text 403"/>
          <p:cNvSpPr/>
          <p:nvPr/>
        </p:nvSpPr>
        <p:spPr>
          <a:xfrm>
            <a:off x="8529066" y="4454652"/>
            <a:ext cx="2434590"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Consistencia de Lectura</a:t>
            </a:r>
            <a:endParaRPr lang="en-US" sz="380" dirty="0"/>
          </a:p>
        </p:txBody>
      </p:sp>
      <p:sp>
        <p:nvSpPr>
          <p:cNvPr id="406" name="Shape 404"/>
          <p:cNvSpPr/>
          <p:nvPr/>
        </p:nvSpPr>
        <p:spPr>
          <a:xfrm>
            <a:off x="1152144" y="4620006"/>
            <a:ext cx="9848088" cy="633222"/>
          </a:xfrm>
          <a:prstGeom prst="rect">
            <a:avLst/>
          </a:prstGeom>
          <a:solidFill>
            <a:srgbClr val="F0F8FF"/>
          </a:solidFill>
          <a:ln w="7620">
            <a:solidFill>
              <a:srgbClr val="7500C0"/>
            </a:solidFill>
            <a:prstDash val="solid"/>
          </a:ln>
        </p:spPr>
        <p:txBody>
          <a:bodyPr/>
          <a:lstStyle/>
          <a:p>
            <a:endParaRPr lang="es-ES"/>
          </a:p>
        </p:txBody>
      </p:sp>
      <p:sp>
        <p:nvSpPr>
          <p:cNvPr id="407" name="Shape 405"/>
          <p:cNvSpPr/>
          <p:nvPr/>
        </p:nvSpPr>
        <p:spPr>
          <a:xfrm>
            <a:off x="1152144" y="4620006"/>
            <a:ext cx="9848088" cy="118872"/>
          </a:xfrm>
          <a:prstGeom prst="rect">
            <a:avLst/>
          </a:prstGeom>
          <a:solidFill>
            <a:srgbClr val="7500C0"/>
          </a:solidFill>
          <a:ln w="12700">
            <a:solidFill>
              <a:srgbClr val="7500C0"/>
            </a:solidFill>
            <a:prstDash val="solid"/>
          </a:ln>
        </p:spPr>
        <p:txBody>
          <a:bodyPr/>
          <a:lstStyle/>
          <a:p>
            <a:endParaRPr lang="es-ES"/>
          </a:p>
        </p:txBody>
      </p:sp>
      <p:sp>
        <p:nvSpPr>
          <p:cNvPr id="408" name="Text 406"/>
          <p:cNvSpPr/>
          <p:nvPr/>
        </p:nvSpPr>
        <p:spPr>
          <a:xfrm>
            <a:off x="1188720" y="4620006"/>
            <a:ext cx="9774936" cy="118872"/>
          </a:xfrm>
          <a:prstGeom prst="rect">
            <a:avLst/>
          </a:prstGeom>
          <a:noFill/>
          <a:ln/>
        </p:spPr>
        <p:txBody>
          <a:bodyPr wrap="square" lIns="0" tIns="0" rIns="0" bIns="0" rtlCol="0" anchor="ctr"/>
          <a:lstStyle/>
          <a:p>
            <a:pPr marL="0" indent="0" algn="l">
              <a:buNone/>
            </a:pPr>
            <a:r>
              <a:rPr lang="en-US" sz="550" b="1" dirty="0">
                <a:solidFill>
                  <a:srgbClr val="FFFFFF"/>
                </a:solidFill>
              </a:rPr>
              <a:t>Entrega de Datos</a:t>
            </a:r>
            <a:endParaRPr lang="en-US" sz="550" dirty="0"/>
          </a:p>
        </p:txBody>
      </p:sp>
      <p:sp>
        <p:nvSpPr>
          <p:cNvPr id="409" name="Shape 407"/>
          <p:cNvSpPr/>
          <p:nvPr/>
        </p:nvSpPr>
        <p:spPr>
          <a:xfrm>
            <a:off x="1170432" y="4748022"/>
            <a:ext cx="2434590" cy="100584"/>
          </a:xfrm>
          <a:prstGeom prst="rect">
            <a:avLst/>
          </a:prstGeom>
          <a:solidFill>
            <a:srgbClr val="BE82FF"/>
          </a:solidFill>
          <a:ln w="6350">
            <a:solidFill>
              <a:srgbClr val="7500C0"/>
            </a:solidFill>
            <a:prstDash val="solid"/>
          </a:ln>
        </p:spPr>
        <p:txBody>
          <a:bodyPr/>
          <a:lstStyle/>
          <a:p>
            <a:endParaRPr lang="es-ES"/>
          </a:p>
        </p:txBody>
      </p:sp>
      <p:sp>
        <p:nvSpPr>
          <p:cNvPr id="410" name="Text 408"/>
          <p:cNvSpPr/>
          <p:nvPr/>
        </p:nvSpPr>
        <p:spPr>
          <a:xfrm>
            <a:off x="1170432" y="4748022"/>
            <a:ext cx="2434590"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Catálogo de Datos y Modelado</a:t>
            </a:r>
            <a:endParaRPr lang="en-US" sz="400" dirty="0"/>
          </a:p>
        </p:txBody>
      </p:sp>
      <p:sp>
        <p:nvSpPr>
          <p:cNvPr id="411" name="Shape 409"/>
          <p:cNvSpPr/>
          <p:nvPr/>
        </p:nvSpPr>
        <p:spPr>
          <a:xfrm>
            <a:off x="1170432" y="4857750"/>
            <a:ext cx="2434590" cy="64008"/>
          </a:xfrm>
          <a:prstGeom prst="rect">
            <a:avLst/>
          </a:prstGeom>
          <a:solidFill>
            <a:srgbClr val="FFFFFF"/>
          </a:solidFill>
          <a:ln w="3810">
            <a:solidFill>
              <a:srgbClr val="BE82FF"/>
            </a:solidFill>
            <a:prstDash val="solid"/>
          </a:ln>
        </p:spPr>
        <p:txBody>
          <a:bodyPr/>
          <a:lstStyle/>
          <a:p>
            <a:endParaRPr lang="es-ES"/>
          </a:p>
        </p:txBody>
      </p:sp>
      <p:sp>
        <p:nvSpPr>
          <p:cNvPr id="412" name="Text 410"/>
          <p:cNvSpPr/>
          <p:nvPr/>
        </p:nvSpPr>
        <p:spPr>
          <a:xfrm>
            <a:off x="1170432" y="4857750"/>
            <a:ext cx="2434590" cy="64008"/>
          </a:xfrm>
          <a:prstGeom prst="rect">
            <a:avLst/>
          </a:prstGeom>
          <a:noFill/>
          <a:ln/>
        </p:spPr>
        <p:txBody>
          <a:bodyPr wrap="square" lIns="6350" tIns="6350" rIns="6350" bIns="6350" rtlCol="0" anchor="ctr"/>
          <a:lstStyle/>
          <a:p>
            <a:pPr marL="0" indent="0" algn="ctr">
              <a:buNone/>
            </a:pPr>
            <a:r>
              <a:rPr lang="en-US" sz="380" dirty="0">
                <a:solidFill>
                  <a:srgbClr val="000000"/>
                </a:solidFill>
              </a:rPr>
              <a:t>Catálogo e Inventario</a:t>
            </a:r>
            <a:endParaRPr lang="en-US" sz="380" dirty="0"/>
          </a:p>
        </p:txBody>
      </p:sp>
      <p:sp>
        <p:nvSpPr>
          <p:cNvPr id="413" name="Shape 411"/>
          <p:cNvSpPr/>
          <p:nvPr/>
        </p:nvSpPr>
        <p:spPr>
          <a:xfrm>
            <a:off x="1170432" y="4922139"/>
            <a:ext cx="2434590" cy="64008"/>
          </a:xfrm>
          <a:prstGeom prst="rect">
            <a:avLst/>
          </a:prstGeom>
          <a:solidFill>
            <a:srgbClr val="FFFFFF"/>
          </a:solidFill>
          <a:ln w="3810">
            <a:solidFill>
              <a:srgbClr val="BE82FF"/>
            </a:solidFill>
            <a:prstDash val="solid"/>
          </a:ln>
        </p:spPr>
        <p:txBody>
          <a:bodyPr/>
          <a:lstStyle/>
          <a:p>
            <a:endParaRPr lang="es-ES"/>
          </a:p>
        </p:txBody>
      </p:sp>
      <p:sp>
        <p:nvSpPr>
          <p:cNvPr id="414" name="Text 412"/>
          <p:cNvSpPr/>
          <p:nvPr/>
        </p:nvSpPr>
        <p:spPr>
          <a:xfrm>
            <a:off x="1170432" y="4922139"/>
            <a:ext cx="2434590" cy="64008"/>
          </a:xfrm>
          <a:prstGeom prst="rect">
            <a:avLst/>
          </a:prstGeom>
          <a:noFill/>
          <a:ln/>
        </p:spPr>
        <p:txBody>
          <a:bodyPr wrap="square" lIns="6350" tIns="6350" rIns="6350" bIns="6350" rtlCol="0" anchor="ctr"/>
          <a:lstStyle/>
          <a:p>
            <a:pPr marL="0" indent="0" algn="ctr">
              <a:buNone/>
            </a:pPr>
            <a:r>
              <a:rPr lang="en-US" sz="380" dirty="0">
                <a:solidFill>
                  <a:srgbClr val="000000"/>
                </a:solidFill>
              </a:rPr>
              <a:t>Gestión Metadatos</a:t>
            </a:r>
            <a:endParaRPr lang="en-US" sz="380" dirty="0"/>
          </a:p>
        </p:txBody>
      </p:sp>
      <p:sp>
        <p:nvSpPr>
          <p:cNvPr id="415" name="Shape 413"/>
          <p:cNvSpPr/>
          <p:nvPr/>
        </p:nvSpPr>
        <p:spPr>
          <a:xfrm>
            <a:off x="1170432" y="4986528"/>
            <a:ext cx="2434590" cy="64008"/>
          </a:xfrm>
          <a:prstGeom prst="rect">
            <a:avLst/>
          </a:prstGeom>
          <a:solidFill>
            <a:srgbClr val="FFFFFF"/>
          </a:solidFill>
          <a:ln w="3810">
            <a:solidFill>
              <a:srgbClr val="BE82FF"/>
            </a:solidFill>
            <a:prstDash val="solid"/>
          </a:ln>
        </p:spPr>
        <p:txBody>
          <a:bodyPr/>
          <a:lstStyle/>
          <a:p>
            <a:endParaRPr lang="es-ES"/>
          </a:p>
        </p:txBody>
      </p:sp>
      <p:sp>
        <p:nvSpPr>
          <p:cNvPr id="416" name="Text 414"/>
          <p:cNvSpPr/>
          <p:nvPr/>
        </p:nvSpPr>
        <p:spPr>
          <a:xfrm>
            <a:off x="1170432" y="4986528"/>
            <a:ext cx="2434590" cy="64008"/>
          </a:xfrm>
          <a:prstGeom prst="rect">
            <a:avLst/>
          </a:prstGeom>
          <a:noFill/>
          <a:ln/>
        </p:spPr>
        <p:txBody>
          <a:bodyPr wrap="square" lIns="6350" tIns="6350" rIns="6350" bIns="6350" rtlCol="0" anchor="ctr"/>
          <a:lstStyle/>
          <a:p>
            <a:pPr marL="0" indent="0" algn="ctr">
              <a:buNone/>
            </a:pPr>
            <a:r>
              <a:rPr lang="en-US" sz="380" dirty="0">
                <a:solidFill>
                  <a:srgbClr val="000000"/>
                </a:solidFill>
              </a:rPr>
              <a:t>Linaje de Datos</a:t>
            </a:r>
            <a:endParaRPr lang="en-US" sz="380" dirty="0"/>
          </a:p>
        </p:txBody>
      </p:sp>
      <p:sp>
        <p:nvSpPr>
          <p:cNvPr id="417" name="Shape 415"/>
          <p:cNvSpPr/>
          <p:nvPr/>
        </p:nvSpPr>
        <p:spPr>
          <a:xfrm>
            <a:off x="1170432" y="5050917"/>
            <a:ext cx="2434590" cy="64008"/>
          </a:xfrm>
          <a:prstGeom prst="rect">
            <a:avLst/>
          </a:prstGeom>
          <a:solidFill>
            <a:srgbClr val="FFFFFF"/>
          </a:solidFill>
          <a:ln w="3810">
            <a:solidFill>
              <a:srgbClr val="BE82FF"/>
            </a:solidFill>
            <a:prstDash val="solid"/>
          </a:ln>
        </p:spPr>
        <p:txBody>
          <a:bodyPr/>
          <a:lstStyle/>
          <a:p>
            <a:endParaRPr lang="es-ES"/>
          </a:p>
        </p:txBody>
      </p:sp>
      <p:sp>
        <p:nvSpPr>
          <p:cNvPr id="418" name="Text 416"/>
          <p:cNvSpPr/>
          <p:nvPr/>
        </p:nvSpPr>
        <p:spPr>
          <a:xfrm>
            <a:off x="1170432" y="5050917"/>
            <a:ext cx="2434590" cy="64008"/>
          </a:xfrm>
          <a:prstGeom prst="rect">
            <a:avLst/>
          </a:prstGeom>
          <a:noFill/>
          <a:ln/>
        </p:spPr>
        <p:txBody>
          <a:bodyPr wrap="square" lIns="6350" tIns="6350" rIns="6350" bIns="6350" rtlCol="0" anchor="ctr"/>
          <a:lstStyle/>
          <a:p>
            <a:pPr marL="0" indent="0" algn="ctr">
              <a:buNone/>
            </a:pPr>
            <a:r>
              <a:rPr lang="en-US" sz="380" dirty="0">
                <a:solidFill>
                  <a:srgbClr val="000000"/>
                </a:solidFill>
              </a:rPr>
              <a:t>Grafo Conocimiento/Enriq.</a:t>
            </a:r>
            <a:endParaRPr lang="en-US" sz="380" dirty="0"/>
          </a:p>
        </p:txBody>
      </p:sp>
      <p:sp>
        <p:nvSpPr>
          <p:cNvPr id="419" name="Shape 417"/>
          <p:cNvSpPr/>
          <p:nvPr/>
        </p:nvSpPr>
        <p:spPr>
          <a:xfrm>
            <a:off x="1170432" y="5115306"/>
            <a:ext cx="2434590" cy="64008"/>
          </a:xfrm>
          <a:prstGeom prst="rect">
            <a:avLst/>
          </a:prstGeom>
          <a:solidFill>
            <a:srgbClr val="FFFFFF"/>
          </a:solidFill>
          <a:ln w="3810">
            <a:solidFill>
              <a:srgbClr val="BE82FF"/>
            </a:solidFill>
            <a:prstDash val="solid"/>
          </a:ln>
        </p:spPr>
        <p:txBody>
          <a:bodyPr/>
          <a:lstStyle/>
          <a:p>
            <a:endParaRPr lang="es-ES"/>
          </a:p>
        </p:txBody>
      </p:sp>
      <p:sp>
        <p:nvSpPr>
          <p:cNvPr id="420" name="Text 418"/>
          <p:cNvSpPr/>
          <p:nvPr/>
        </p:nvSpPr>
        <p:spPr>
          <a:xfrm>
            <a:off x="1170432" y="5115306"/>
            <a:ext cx="2434590" cy="64008"/>
          </a:xfrm>
          <a:prstGeom prst="rect">
            <a:avLst/>
          </a:prstGeom>
          <a:noFill/>
          <a:ln/>
        </p:spPr>
        <p:txBody>
          <a:bodyPr wrap="square" lIns="6350" tIns="6350" rIns="6350" bIns="6350" rtlCol="0" anchor="ctr"/>
          <a:lstStyle/>
          <a:p>
            <a:pPr marL="0" indent="0" algn="ctr">
              <a:buNone/>
            </a:pPr>
            <a:r>
              <a:rPr lang="en-US" sz="380" dirty="0">
                <a:solidFill>
                  <a:srgbClr val="000000"/>
                </a:solidFill>
              </a:rPr>
              <a:t>Perfilado y Calidad</a:t>
            </a:r>
            <a:endParaRPr lang="en-US" sz="380" dirty="0"/>
          </a:p>
        </p:txBody>
      </p:sp>
      <p:sp>
        <p:nvSpPr>
          <p:cNvPr id="421" name="Shape 419"/>
          <p:cNvSpPr/>
          <p:nvPr/>
        </p:nvSpPr>
        <p:spPr>
          <a:xfrm>
            <a:off x="1170432" y="5179695"/>
            <a:ext cx="2434590" cy="64008"/>
          </a:xfrm>
          <a:prstGeom prst="rect">
            <a:avLst/>
          </a:prstGeom>
          <a:solidFill>
            <a:srgbClr val="FFFFFF"/>
          </a:solidFill>
          <a:ln w="3810">
            <a:solidFill>
              <a:srgbClr val="BE82FF"/>
            </a:solidFill>
            <a:prstDash val="solid"/>
          </a:ln>
        </p:spPr>
        <p:txBody>
          <a:bodyPr/>
          <a:lstStyle/>
          <a:p>
            <a:endParaRPr lang="es-ES"/>
          </a:p>
        </p:txBody>
      </p:sp>
      <p:sp>
        <p:nvSpPr>
          <p:cNvPr id="422" name="Text 420"/>
          <p:cNvSpPr/>
          <p:nvPr/>
        </p:nvSpPr>
        <p:spPr>
          <a:xfrm>
            <a:off x="1170432" y="5179695"/>
            <a:ext cx="2434590" cy="64008"/>
          </a:xfrm>
          <a:prstGeom prst="rect">
            <a:avLst/>
          </a:prstGeom>
          <a:noFill/>
          <a:ln/>
        </p:spPr>
        <p:txBody>
          <a:bodyPr wrap="square" lIns="6350" tIns="6350" rIns="6350" bIns="6350" rtlCol="0" anchor="ctr"/>
          <a:lstStyle/>
          <a:p>
            <a:pPr marL="0" indent="0" algn="ctr">
              <a:buNone/>
            </a:pPr>
            <a:r>
              <a:rPr lang="en-US" sz="380" dirty="0">
                <a:solidFill>
                  <a:srgbClr val="000000"/>
                </a:solidFill>
              </a:rPr>
              <a:t>Gobernanza, Acceso y Privacidad</a:t>
            </a:r>
            <a:endParaRPr lang="en-US" sz="380" dirty="0"/>
          </a:p>
        </p:txBody>
      </p:sp>
      <p:sp>
        <p:nvSpPr>
          <p:cNvPr id="423" name="Shape 421"/>
          <p:cNvSpPr/>
          <p:nvPr/>
        </p:nvSpPr>
        <p:spPr>
          <a:xfrm>
            <a:off x="3623310" y="4748022"/>
            <a:ext cx="2434590" cy="100584"/>
          </a:xfrm>
          <a:prstGeom prst="rect">
            <a:avLst/>
          </a:prstGeom>
          <a:solidFill>
            <a:srgbClr val="BE82FF"/>
          </a:solidFill>
          <a:ln w="6350">
            <a:solidFill>
              <a:srgbClr val="7500C0"/>
            </a:solidFill>
            <a:prstDash val="solid"/>
          </a:ln>
        </p:spPr>
        <p:txBody>
          <a:bodyPr/>
          <a:lstStyle/>
          <a:p>
            <a:endParaRPr lang="es-ES"/>
          </a:p>
        </p:txBody>
      </p:sp>
      <p:sp>
        <p:nvSpPr>
          <p:cNvPr id="424" name="Text 422"/>
          <p:cNvSpPr/>
          <p:nvPr/>
        </p:nvSpPr>
        <p:spPr>
          <a:xfrm>
            <a:off x="3623310" y="4748022"/>
            <a:ext cx="2434590"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Pipelines y Entrega de Datos</a:t>
            </a:r>
            <a:endParaRPr lang="en-US" sz="400" dirty="0"/>
          </a:p>
        </p:txBody>
      </p:sp>
      <p:sp>
        <p:nvSpPr>
          <p:cNvPr id="425" name="Shape 423"/>
          <p:cNvSpPr/>
          <p:nvPr/>
        </p:nvSpPr>
        <p:spPr>
          <a:xfrm>
            <a:off x="3623310" y="4857750"/>
            <a:ext cx="2434590" cy="72695"/>
          </a:xfrm>
          <a:prstGeom prst="rect">
            <a:avLst/>
          </a:prstGeom>
          <a:solidFill>
            <a:srgbClr val="FFFFFF"/>
          </a:solidFill>
          <a:ln w="3810">
            <a:solidFill>
              <a:srgbClr val="BE82FF"/>
            </a:solidFill>
            <a:prstDash val="solid"/>
          </a:ln>
        </p:spPr>
        <p:txBody>
          <a:bodyPr/>
          <a:lstStyle/>
          <a:p>
            <a:endParaRPr lang="es-ES"/>
          </a:p>
        </p:txBody>
      </p:sp>
      <p:sp>
        <p:nvSpPr>
          <p:cNvPr id="426" name="Text 424"/>
          <p:cNvSpPr/>
          <p:nvPr/>
        </p:nvSpPr>
        <p:spPr>
          <a:xfrm>
            <a:off x="3623310" y="4857750"/>
            <a:ext cx="2434590" cy="72695"/>
          </a:xfrm>
          <a:prstGeom prst="rect">
            <a:avLst/>
          </a:prstGeom>
          <a:noFill/>
          <a:ln/>
        </p:spPr>
        <p:txBody>
          <a:bodyPr wrap="square" lIns="6350" tIns="6350" rIns="6350" bIns="6350" rtlCol="0" anchor="ctr"/>
          <a:lstStyle/>
          <a:p>
            <a:pPr marL="0" indent="0" algn="ctr">
              <a:buNone/>
            </a:pPr>
            <a:r>
              <a:rPr lang="en-US" sz="380" dirty="0">
                <a:solidFill>
                  <a:srgbClr val="000000"/>
                </a:solidFill>
              </a:rPr>
              <a:t>Integración Datos por Lotes</a:t>
            </a:r>
            <a:endParaRPr lang="en-US" sz="380" dirty="0"/>
          </a:p>
        </p:txBody>
      </p:sp>
      <p:sp>
        <p:nvSpPr>
          <p:cNvPr id="427" name="Shape 425"/>
          <p:cNvSpPr/>
          <p:nvPr/>
        </p:nvSpPr>
        <p:spPr>
          <a:xfrm>
            <a:off x="3623310" y="4935017"/>
            <a:ext cx="2434590" cy="72695"/>
          </a:xfrm>
          <a:prstGeom prst="rect">
            <a:avLst/>
          </a:prstGeom>
          <a:solidFill>
            <a:srgbClr val="FFFFFF"/>
          </a:solidFill>
          <a:ln w="3810">
            <a:solidFill>
              <a:srgbClr val="BE82FF"/>
            </a:solidFill>
            <a:prstDash val="solid"/>
          </a:ln>
        </p:spPr>
        <p:txBody>
          <a:bodyPr/>
          <a:lstStyle/>
          <a:p>
            <a:endParaRPr lang="es-ES"/>
          </a:p>
        </p:txBody>
      </p:sp>
      <p:sp>
        <p:nvSpPr>
          <p:cNvPr id="428" name="Text 426"/>
          <p:cNvSpPr/>
          <p:nvPr/>
        </p:nvSpPr>
        <p:spPr>
          <a:xfrm>
            <a:off x="3623310" y="4935017"/>
            <a:ext cx="2434590" cy="72695"/>
          </a:xfrm>
          <a:prstGeom prst="rect">
            <a:avLst/>
          </a:prstGeom>
          <a:noFill/>
          <a:ln/>
        </p:spPr>
        <p:txBody>
          <a:bodyPr wrap="square" lIns="6350" tIns="6350" rIns="6350" bIns="6350" rtlCol="0" anchor="ctr"/>
          <a:lstStyle/>
          <a:p>
            <a:pPr marL="0" indent="0" algn="ctr">
              <a:buNone/>
            </a:pPr>
            <a:r>
              <a:rPr lang="en-US" sz="380" dirty="0">
                <a:solidFill>
                  <a:srgbClr val="000000"/>
                </a:solidFill>
              </a:rPr>
              <a:t>Integración Datos en Stream</a:t>
            </a:r>
            <a:endParaRPr lang="en-US" sz="380" dirty="0"/>
          </a:p>
        </p:txBody>
      </p:sp>
      <p:sp>
        <p:nvSpPr>
          <p:cNvPr id="429" name="Shape 427"/>
          <p:cNvSpPr/>
          <p:nvPr/>
        </p:nvSpPr>
        <p:spPr>
          <a:xfrm>
            <a:off x="3623310" y="5012284"/>
            <a:ext cx="2434590" cy="72695"/>
          </a:xfrm>
          <a:prstGeom prst="rect">
            <a:avLst/>
          </a:prstGeom>
          <a:solidFill>
            <a:srgbClr val="FFFFFF"/>
          </a:solidFill>
          <a:ln w="3810">
            <a:solidFill>
              <a:srgbClr val="BE82FF"/>
            </a:solidFill>
            <a:prstDash val="solid"/>
          </a:ln>
        </p:spPr>
        <p:txBody>
          <a:bodyPr/>
          <a:lstStyle/>
          <a:p>
            <a:endParaRPr lang="es-ES"/>
          </a:p>
        </p:txBody>
      </p:sp>
      <p:sp>
        <p:nvSpPr>
          <p:cNvPr id="430" name="Text 428"/>
          <p:cNvSpPr/>
          <p:nvPr/>
        </p:nvSpPr>
        <p:spPr>
          <a:xfrm>
            <a:off x="3623310" y="5012284"/>
            <a:ext cx="2434590" cy="72695"/>
          </a:xfrm>
          <a:prstGeom prst="rect">
            <a:avLst/>
          </a:prstGeom>
          <a:noFill/>
          <a:ln/>
        </p:spPr>
        <p:txBody>
          <a:bodyPr wrap="square" lIns="6350" tIns="6350" rIns="6350" bIns="6350" rtlCol="0" anchor="ctr"/>
          <a:lstStyle/>
          <a:p>
            <a:pPr marL="0" indent="0" algn="ctr">
              <a:buNone/>
            </a:pPr>
            <a:r>
              <a:rPr lang="en-US" sz="380" dirty="0">
                <a:solidFill>
                  <a:srgbClr val="000000"/>
                </a:solidFill>
              </a:rPr>
              <a:t>Replicación de Datos</a:t>
            </a:r>
            <a:endParaRPr lang="en-US" sz="380" dirty="0"/>
          </a:p>
        </p:txBody>
      </p:sp>
      <p:sp>
        <p:nvSpPr>
          <p:cNvPr id="431" name="Shape 429"/>
          <p:cNvSpPr/>
          <p:nvPr/>
        </p:nvSpPr>
        <p:spPr>
          <a:xfrm>
            <a:off x="3623310" y="5089550"/>
            <a:ext cx="2434590" cy="72695"/>
          </a:xfrm>
          <a:prstGeom prst="rect">
            <a:avLst/>
          </a:prstGeom>
          <a:solidFill>
            <a:srgbClr val="FFFFFF"/>
          </a:solidFill>
          <a:ln w="3810">
            <a:solidFill>
              <a:srgbClr val="BE82FF"/>
            </a:solidFill>
            <a:prstDash val="solid"/>
          </a:ln>
        </p:spPr>
        <p:txBody>
          <a:bodyPr/>
          <a:lstStyle/>
          <a:p>
            <a:endParaRPr lang="es-ES"/>
          </a:p>
        </p:txBody>
      </p:sp>
      <p:sp>
        <p:nvSpPr>
          <p:cNvPr id="432" name="Text 430"/>
          <p:cNvSpPr/>
          <p:nvPr/>
        </p:nvSpPr>
        <p:spPr>
          <a:xfrm>
            <a:off x="3623310" y="5089550"/>
            <a:ext cx="2434590" cy="72695"/>
          </a:xfrm>
          <a:prstGeom prst="rect">
            <a:avLst/>
          </a:prstGeom>
          <a:noFill/>
          <a:ln/>
        </p:spPr>
        <p:txBody>
          <a:bodyPr wrap="square" lIns="6350" tIns="6350" rIns="6350" bIns="6350" rtlCol="0" anchor="ctr"/>
          <a:lstStyle/>
          <a:p>
            <a:pPr marL="0" indent="0" algn="ctr">
              <a:buNone/>
            </a:pPr>
            <a:r>
              <a:rPr lang="en-US" sz="380" dirty="0">
                <a:solidFill>
                  <a:srgbClr val="000000"/>
                </a:solidFill>
              </a:rPr>
              <a:t>Virtualización de Datos</a:t>
            </a:r>
            <a:endParaRPr lang="en-US" sz="380" dirty="0"/>
          </a:p>
        </p:txBody>
      </p:sp>
      <p:sp>
        <p:nvSpPr>
          <p:cNvPr id="433" name="Shape 431"/>
          <p:cNvSpPr/>
          <p:nvPr/>
        </p:nvSpPr>
        <p:spPr>
          <a:xfrm>
            <a:off x="3623310" y="5166817"/>
            <a:ext cx="2434590" cy="72695"/>
          </a:xfrm>
          <a:prstGeom prst="rect">
            <a:avLst/>
          </a:prstGeom>
          <a:solidFill>
            <a:srgbClr val="FFFFFF"/>
          </a:solidFill>
          <a:ln w="3810">
            <a:solidFill>
              <a:srgbClr val="BE82FF"/>
            </a:solidFill>
            <a:prstDash val="solid"/>
          </a:ln>
        </p:spPr>
        <p:txBody>
          <a:bodyPr/>
          <a:lstStyle/>
          <a:p>
            <a:endParaRPr lang="es-ES"/>
          </a:p>
        </p:txBody>
      </p:sp>
      <p:sp>
        <p:nvSpPr>
          <p:cNvPr id="434" name="Text 432"/>
          <p:cNvSpPr/>
          <p:nvPr/>
        </p:nvSpPr>
        <p:spPr>
          <a:xfrm>
            <a:off x="3623310" y="5166817"/>
            <a:ext cx="2434590" cy="72695"/>
          </a:xfrm>
          <a:prstGeom prst="rect">
            <a:avLst/>
          </a:prstGeom>
          <a:noFill/>
          <a:ln/>
        </p:spPr>
        <p:txBody>
          <a:bodyPr wrap="square" lIns="6350" tIns="6350" rIns="6350" bIns="6350" rtlCol="0" anchor="ctr"/>
          <a:lstStyle/>
          <a:p>
            <a:pPr marL="0" indent="0" algn="ctr">
              <a:buNone/>
            </a:pPr>
            <a:r>
              <a:rPr lang="en-US" sz="380" dirty="0">
                <a:solidFill>
                  <a:srgbClr val="000000"/>
                </a:solidFill>
              </a:rPr>
              <a:t>Orquestación y Monitoriz. Pipelines</a:t>
            </a:r>
            <a:endParaRPr lang="en-US" sz="380" dirty="0"/>
          </a:p>
        </p:txBody>
      </p:sp>
      <p:sp>
        <p:nvSpPr>
          <p:cNvPr id="435" name="Shape 433"/>
          <p:cNvSpPr/>
          <p:nvPr/>
        </p:nvSpPr>
        <p:spPr>
          <a:xfrm>
            <a:off x="6076188" y="4748022"/>
            <a:ext cx="2434590" cy="100584"/>
          </a:xfrm>
          <a:prstGeom prst="rect">
            <a:avLst/>
          </a:prstGeom>
          <a:solidFill>
            <a:srgbClr val="BE82FF"/>
          </a:solidFill>
          <a:ln w="6350">
            <a:solidFill>
              <a:srgbClr val="7500C0"/>
            </a:solidFill>
            <a:prstDash val="solid"/>
          </a:ln>
        </p:spPr>
        <p:txBody>
          <a:bodyPr/>
          <a:lstStyle/>
          <a:p>
            <a:endParaRPr lang="es-ES"/>
          </a:p>
        </p:txBody>
      </p:sp>
      <p:sp>
        <p:nvSpPr>
          <p:cNvPr id="436" name="Text 434"/>
          <p:cNvSpPr/>
          <p:nvPr/>
        </p:nvSpPr>
        <p:spPr>
          <a:xfrm>
            <a:off x="6076188" y="4748022"/>
            <a:ext cx="2434590"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ODS y Modelo Datos Unificado</a:t>
            </a:r>
            <a:endParaRPr lang="en-US" sz="400" dirty="0"/>
          </a:p>
        </p:txBody>
      </p:sp>
      <p:sp>
        <p:nvSpPr>
          <p:cNvPr id="437" name="Shape 435"/>
          <p:cNvSpPr/>
          <p:nvPr/>
        </p:nvSpPr>
        <p:spPr>
          <a:xfrm>
            <a:off x="6076188" y="4857750"/>
            <a:ext cx="2434590" cy="92011"/>
          </a:xfrm>
          <a:prstGeom prst="rect">
            <a:avLst/>
          </a:prstGeom>
          <a:solidFill>
            <a:srgbClr val="FFFFFF"/>
          </a:solidFill>
          <a:ln w="3810">
            <a:solidFill>
              <a:srgbClr val="BE82FF"/>
            </a:solidFill>
            <a:prstDash val="solid"/>
          </a:ln>
        </p:spPr>
        <p:txBody>
          <a:bodyPr/>
          <a:lstStyle/>
          <a:p>
            <a:endParaRPr lang="es-ES"/>
          </a:p>
        </p:txBody>
      </p:sp>
      <p:sp>
        <p:nvSpPr>
          <p:cNvPr id="438" name="Text 436"/>
          <p:cNvSpPr/>
          <p:nvPr/>
        </p:nvSpPr>
        <p:spPr>
          <a:xfrm>
            <a:off x="6076188" y="4857750"/>
            <a:ext cx="2434590" cy="92011"/>
          </a:xfrm>
          <a:prstGeom prst="rect">
            <a:avLst/>
          </a:prstGeom>
          <a:noFill/>
          <a:ln/>
        </p:spPr>
        <p:txBody>
          <a:bodyPr wrap="square" lIns="6350" tIns="6350" rIns="6350" bIns="6350" rtlCol="0" anchor="ctr"/>
          <a:lstStyle/>
          <a:p>
            <a:pPr marL="0" indent="0" algn="ctr">
              <a:buNone/>
            </a:pPr>
            <a:r>
              <a:rPr lang="en-US" sz="380" dirty="0">
                <a:solidFill>
                  <a:srgbClr val="000000"/>
                </a:solidFill>
              </a:rPr>
              <a:t>Modelo Canónico/Unificado</a:t>
            </a:r>
            <a:endParaRPr lang="en-US" sz="380" dirty="0"/>
          </a:p>
        </p:txBody>
      </p:sp>
      <p:sp>
        <p:nvSpPr>
          <p:cNvPr id="439" name="Shape 437"/>
          <p:cNvSpPr/>
          <p:nvPr/>
        </p:nvSpPr>
        <p:spPr>
          <a:xfrm>
            <a:off x="6076188" y="4954334"/>
            <a:ext cx="2434590" cy="92011"/>
          </a:xfrm>
          <a:prstGeom prst="rect">
            <a:avLst/>
          </a:prstGeom>
          <a:solidFill>
            <a:srgbClr val="FFFFFF"/>
          </a:solidFill>
          <a:ln w="3810">
            <a:solidFill>
              <a:srgbClr val="BE82FF"/>
            </a:solidFill>
            <a:prstDash val="solid"/>
          </a:ln>
        </p:spPr>
        <p:txBody>
          <a:bodyPr/>
          <a:lstStyle/>
          <a:p>
            <a:endParaRPr lang="es-ES"/>
          </a:p>
        </p:txBody>
      </p:sp>
      <p:sp>
        <p:nvSpPr>
          <p:cNvPr id="440" name="Text 438"/>
          <p:cNvSpPr/>
          <p:nvPr/>
        </p:nvSpPr>
        <p:spPr>
          <a:xfrm>
            <a:off x="6076188" y="4954334"/>
            <a:ext cx="2434590" cy="92011"/>
          </a:xfrm>
          <a:prstGeom prst="rect">
            <a:avLst/>
          </a:prstGeom>
          <a:noFill/>
          <a:ln/>
        </p:spPr>
        <p:txBody>
          <a:bodyPr wrap="square" lIns="6350" tIns="6350" rIns="6350" bIns="6350" rtlCol="0" anchor="ctr"/>
          <a:lstStyle/>
          <a:p>
            <a:pPr marL="0" indent="0" algn="ctr">
              <a:buNone/>
            </a:pPr>
            <a:r>
              <a:rPr lang="en-US" sz="380" dirty="0">
                <a:solidFill>
                  <a:srgbClr val="000000"/>
                </a:solidFill>
              </a:rPr>
              <a:t>Consolid. Cross-Core Tiempo Real</a:t>
            </a:r>
            <a:endParaRPr lang="en-US" sz="380" dirty="0"/>
          </a:p>
        </p:txBody>
      </p:sp>
      <p:sp>
        <p:nvSpPr>
          <p:cNvPr id="441" name="Shape 439"/>
          <p:cNvSpPr/>
          <p:nvPr/>
        </p:nvSpPr>
        <p:spPr>
          <a:xfrm>
            <a:off x="6076188" y="5050917"/>
            <a:ext cx="2434590" cy="92011"/>
          </a:xfrm>
          <a:prstGeom prst="rect">
            <a:avLst/>
          </a:prstGeom>
          <a:solidFill>
            <a:srgbClr val="FFFFFF"/>
          </a:solidFill>
          <a:ln w="3810">
            <a:solidFill>
              <a:srgbClr val="BE82FF"/>
            </a:solidFill>
            <a:prstDash val="solid"/>
          </a:ln>
        </p:spPr>
        <p:txBody>
          <a:bodyPr/>
          <a:lstStyle/>
          <a:p>
            <a:endParaRPr lang="es-ES"/>
          </a:p>
        </p:txBody>
      </p:sp>
      <p:sp>
        <p:nvSpPr>
          <p:cNvPr id="442" name="Text 440"/>
          <p:cNvSpPr/>
          <p:nvPr/>
        </p:nvSpPr>
        <p:spPr>
          <a:xfrm>
            <a:off x="6076188" y="5050917"/>
            <a:ext cx="2434590" cy="92011"/>
          </a:xfrm>
          <a:prstGeom prst="rect">
            <a:avLst/>
          </a:prstGeom>
          <a:noFill/>
          <a:ln/>
        </p:spPr>
        <p:txBody>
          <a:bodyPr wrap="square" lIns="6350" tIns="6350" rIns="6350" bIns="6350" rtlCol="0" anchor="ctr"/>
          <a:lstStyle/>
          <a:p>
            <a:pPr marL="0" indent="0" algn="ctr">
              <a:buNone/>
            </a:pPr>
            <a:r>
              <a:rPr lang="en-US" sz="380" dirty="0">
                <a:solidFill>
                  <a:srgbClr val="000000"/>
                </a:solidFill>
              </a:rPr>
              <a:t>Motor Entrega Multi-Velocidad</a:t>
            </a:r>
            <a:endParaRPr lang="en-US" sz="380" dirty="0"/>
          </a:p>
        </p:txBody>
      </p:sp>
      <p:sp>
        <p:nvSpPr>
          <p:cNvPr id="443" name="Shape 441"/>
          <p:cNvSpPr/>
          <p:nvPr/>
        </p:nvSpPr>
        <p:spPr>
          <a:xfrm>
            <a:off x="6076188" y="5147501"/>
            <a:ext cx="2434590" cy="92011"/>
          </a:xfrm>
          <a:prstGeom prst="rect">
            <a:avLst/>
          </a:prstGeom>
          <a:solidFill>
            <a:srgbClr val="FFFFFF"/>
          </a:solidFill>
          <a:ln w="3810">
            <a:solidFill>
              <a:srgbClr val="BE82FF"/>
            </a:solidFill>
            <a:prstDash val="solid"/>
          </a:ln>
        </p:spPr>
        <p:txBody>
          <a:bodyPr/>
          <a:lstStyle/>
          <a:p>
            <a:endParaRPr lang="es-ES"/>
          </a:p>
        </p:txBody>
      </p:sp>
      <p:sp>
        <p:nvSpPr>
          <p:cNvPr id="444" name="Text 442"/>
          <p:cNvSpPr/>
          <p:nvPr/>
        </p:nvSpPr>
        <p:spPr>
          <a:xfrm>
            <a:off x="6076188" y="5147501"/>
            <a:ext cx="2434590" cy="92011"/>
          </a:xfrm>
          <a:prstGeom prst="rect">
            <a:avLst/>
          </a:prstGeom>
          <a:noFill/>
          <a:ln/>
        </p:spPr>
        <p:txBody>
          <a:bodyPr wrap="square" lIns="6350" tIns="6350" rIns="6350" bIns="6350" rtlCol="0" anchor="ctr"/>
          <a:lstStyle/>
          <a:p>
            <a:pPr marL="0" indent="0" algn="ctr">
              <a:buNone/>
            </a:pPr>
            <a:r>
              <a:rPr lang="en-US" sz="380" dirty="0">
                <a:solidFill>
                  <a:srgbClr val="000000"/>
                </a:solidFill>
              </a:rPr>
              <a:t>ODS Serving y Control Acceso</a:t>
            </a:r>
            <a:endParaRPr lang="en-US" sz="380" dirty="0"/>
          </a:p>
        </p:txBody>
      </p:sp>
      <p:sp>
        <p:nvSpPr>
          <p:cNvPr id="445" name="Shape 443"/>
          <p:cNvSpPr/>
          <p:nvPr/>
        </p:nvSpPr>
        <p:spPr>
          <a:xfrm>
            <a:off x="8529066" y="4748022"/>
            <a:ext cx="2434590" cy="100584"/>
          </a:xfrm>
          <a:prstGeom prst="rect">
            <a:avLst/>
          </a:prstGeom>
          <a:solidFill>
            <a:srgbClr val="BE82FF"/>
          </a:solidFill>
          <a:ln w="6350">
            <a:solidFill>
              <a:srgbClr val="7500C0"/>
            </a:solidFill>
            <a:prstDash val="solid"/>
          </a:ln>
        </p:spPr>
        <p:txBody>
          <a:bodyPr/>
          <a:lstStyle/>
          <a:p>
            <a:endParaRPr lang="es-ES"/>
          </a:p>
        </p:txBody>
      </p:sp>
      <p:sp>
        <p:nvSpPr>
          <p:cNvPr id="446" name="Text 444"/>
          <p:cNvSpPr/>
          <p:nvPr/>
        </p:nvSpPr>
        <p:spPr>
          <a:xfrm>
            <a:off x="8529066" y="4748022"/>
            <a:ext cx="2434590"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Servicios Consumo de Datos</a:t>
            </a:r>
            <a:endParaRPr lang="en-US" sz="400" dirty="0"/>
          </a:p>
        </p:txBody>
      </p:sp>
      <p:sp>
        <p:nvSpPr>
          <p:cNvPr id="447" name="Shape 445"/>
          <p:cNvSpPr/>
          <p:nvPr/>
        </p:nvSpPr>
        <p:spPr>
          <a:xfrm>
            <a:off x="8529066" y="4857750"/>
            <a:ext cx="2434590" cy="124206"/>
          </a:xfrm>
          <a:prstGeom prst="rect">
            <a:avLst/>
          </a:prstGeom>
          <a:solidFill>
            <a:srgbClr val="FFFFFF"/>
          </a:solidFill>
          <a:ln w="3810">
            <a:solidFill>
              <a:srgbClr val="BE82FF"/>
            </a:solidFill>
            <a:prstDash val="solid"/>
          </a:ln>
        </p:spPr>
        <p:txBody>
          <a:bodyPr/>
          <a:lstStyle/>
          <a:p>
            <a:endParaRPr lang="es-ES"/>
          </a:p>
        </p:txBody>
      </p:sp>
      <p:sp>
        <p:nvSpPr>
          <p:cNvPr id="448" name="Text 446"/>
          <p:cNvSpPr/>
          <p:nvPr/>
        </p:nvSpPr>
        <p:spPr>
          <a:xfrm>
            <a:off x="8529066" y="4857750"/>
            <a:ext cx="2434590"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APIs de Datos</a:t>
            </a:r>
            <a:endParaRPr lang="en-US" sz="380" dirty="0"/>
          </a:p>
        </p:txBody>
      </p:sp>
      <p:sp>
        <p:nvSpPr>
          <p:cNvPr id="449" name="Shape 447"/>
          <p:cNvSpPr/>
          <p:nvPr/>
        </p:nvSpPr>
        <p:spPr>
          <a:xfrm>
            <a:off x="8529066" y="4986528"/>
            <a:ext cx="2434590" cy="124206"/>
          </a:xfrm>
          <a:prstGeom prst="rect">
            <a:avLst/>
          </a:prstGeom>
          <a:solidFill>
            <a:srgbClr val="FFFFFF"/>
          </a:solidFill>
          <a:ln w="3810">
            <a:solidFill>
              <a:srgbClr val="BE82FF"/>
            </a:solidFill>
            <a:prstDash val="solid"/>
          </a:ln>
        </p:spPr>
        <p:txBody>
          <a:bodyPr/>
          <a:lstStyle/>
          <a:p>
            <a:endParaRPr lang="es-ES"/>
          </a:p>
        </p:txBody>
      </p:sp>
      <p:sp>
        <p:nvSpPr>
          <p:cNvPr id="450" name="Text 448"/>
          <p:cNvSpPr/>
          <p:nvPr/>
        </p:nvSpPr>
        <p:spPr>
          <a:xfrm>
            <a:off x="8529066" y="4986528"/>
            <a:ext cx="2434590"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Feeds Analítica y Reportes</a:t>
            </a:r>
            <a:endParaRPr lang="en-US" sz="380" dirty="0"/>
          </a:p>
        </p:txBody>
      </p:sp>
      <p:sp>
        <p:nvSpPr>
          <p:cNvPr id="451" name="Shape 449"/>
          <p:cNvSpPr/>
          <p:nvPr/>
        </p:nvSpPr>
        <p:spPr>
          <a:xfrm>
            <a:off x="8529066" y="5115306"/>
            <a:ext cx="2434590" cy="124206"/>
          </a:xfrm>
          <a:prstGeom prst="rect">
            <a:avLst/>
          </a:prstGeom>
          <a:solidFill>
            <a:srgbClr val="FFFFFF"/>
          </a:solidFill>
          <a:ln w="3810">
            <a:solidFill>
              <a:srgbClr val="BE82FF"/>
            </a:solidFill>
            <a:prstDash val="solid"/>
          </a:ln>
        </p:spPr>
        <p:txBody>
          <a:bodyPr/>
          <a:lstStyle/>
          <a:p>
            <a:endParaRPr lang="es-ES"/>
          </a:p>
        </p:txBody>
      </p:sp>
      <p:sp>
        <p:nvSpPr>
          <p:cNvPr id="452" name="Text 450"/>
          <p:cNvSpPr/>
          <p:nvPr/>
        </p:nvSpPr>
        <p:spPr>
          <a:xfrm>
            <a:off x="8529066" y="5115306"/>
            <a:ext cx="2434590"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Aprovision. Datos Sandbox</a:t>
            </a:r>
            <a:endParaRPr lang="en-US" sz="380" dirty="0"/>
          </a:p>
        </p:txBody>
      </p:sp>
      <p:sp>
        <p:nvSpPr>
          <p:cNvPr id="453" name="Shape 451"/>
          <p:cNvSpPr/>
          <p:nvPr/>
        </p:nvSpPr>
        <p:spPr>
          <a:xfrm>
            <a:off x="1152144" y="5280660"/>
            <a:ext cx="9848088" cy="633222"/>
          </a:xfrm>
          <a:prstGeom prst="rect">
            <a:avLst/>
          </a:prstGeom>
          <a:solidFill>
            <a:srgbClr val="F0F8FF"/>
          </a:solidFill>
          <a:ln w="7620">
            <a:solidFill>
              <a:srgbClr val="7500C0"/>
            </a:solidFill>
            <a:prstDash val="solid"/>
          </a:ln>
        </p:spPr>
        <p:txBody>
          <a:bodyPr/>
          <a:lstStyle/>
          <a:p>
            <a:endParaRPr lang="es-ES"/>
          </a:p>
        </p:txBody>
      </p:sp>
      <p:sp>
        <p:nvSpPr>
          <p:cNvPr id="454" name="Shape 452"/>
          <p:cNvSpPr/>
          <p:nvPr/>
        </p:nvSpPr>
        <p:spPr>
          <a:xfrm>
            <a:off x="1152144" y="5280660"/>
            <a:ext cx="9848088" cy="118872"/>
          </a:xfrm>
          <a:prstGeom prst="rect">
            <a:avLst/>
          </a:prstGeom>
          <a:solidFill>
            <a:srgbClr val="7500C0"/>
          </a:solidFill>
          <a:ln w="12700">
            <a:solidFill>
              <a:srgbClr val="7500C0"/>
            </a:solidFill>
            <a:prstDash val="solid"/>
          </a:ln>
        </p:spPr>
        <p:txBody>
          <a:bodyPr/>
          <a:lstStyle/>
          <a:p>
            <a:endParaRPr lang="es-ES"/>
          </a:p>
        </p:txBody>
      </p:sp>
      <p:sp>
        <p:nvSpPr>
          <p:cNvPr id="455" name="Text 453"/>
          <p:cNvSpPr/>
          <p:nvPr/>
        </p:nvSpPr>
        <p:spPr>
          <a:xfrm>
            <a:off x="1188720" y="5280660"/>
            <a:ext cx="9774936" cy="118872"/>
          </a:xfrm>
          <a:prstGeom prst="rect">
            <a:avLst/>
          </a:prstGeom>
          <a:noFill/>
          <a:ln/>
        </p:spPr>
        <p:txBody>
          <a:bodyPr wrap="square" lIns="0" tIns="0" rIns="0" bIns="0" rtlCol="0" anchor="ctr"/>
          <a:lstStyle/>
          <a:p>
            <a:pPr marL="0" indent="0" algn="l">
              <a:buNone/>
            </a:pPr>
            <a:r>
              <a:rPr lang="en-US" sz="550" b="1" dirty="0">
                <a:solidFill>
                  <a:srgbClr val="FFFFFF"/>
                </a:solidFill>
              </a:rPr>
              <a:t>Operaciones</a:t>
            </a:r>
            <a:endParaRPr lang="en-US" sz="550" dirty="0"/>
          </a:p>
        </p:txBody>
      </p:sp>
      <p:sp>
        <p:nvSpPr>
          <p:cNvPr id="456" name="Shape 454"/>
          <p:cNvSpPr/>
          <p:nvPr/>
        </p:nvSpPr>
        <p:spPr>
          <a:xfrm>
            <a:off x="1170432" y="5408676"/>
            <a:ext cx="2434590" cy="100584"/>
          </a:xfrm>
          <a:prstGeom prst="rect">
            <a:avLst/>
          </a:prstGeom>
          <a:solidFill>
            <a:srgbClr val="BE82FF"/>
          </a:solidFill>
          <a:ln w="6350">
            <a:solidFill>
              <a:srgbClr val="7500C0"/>
            </a:solidFill>
            <a:prstDash val="solid"/>
          </a:ln>
        </p:spPr>
        <p:txBody>
          <a:bodyPr/>
          <a:lstStyle/>
          <a:p>
            <a:endParaRPr lang="es-ES"/>
          </a:p>
        </p:txBody>
      </p:sp>
      <p:sp>
        <p:nvSpPr>
          <p:cNvPr id="457" name="Text 455"/>
          <p:cNvSpPr/>
          <p:nvPr/>
        </p:nvSpPr>
        <p:spPr>
          <a:xfrm>
            <a:off x="1170432" y="5408676"/>
            <a:ext cx="2434590"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Operaciones de Folio</a:t>
            </a:r>
            <a:endParaRPr lang="en-US" sz="400" dirty="0"/>
          </a:p>
        </p:txBody>
      </p:sp>
      <p:sp>
        <p:nvSpPr>
          <p:cNvPr id="458" name="Shape 456"/>
          <p:cNvSpPr/>
          <p:nvPr/>
        </p:nvSpPr>
        <p:spPr>
          <a:xfrm>
            <a:off x="1170432" y="5518404"/>
            <a:ext cx="2434590" cy="188595"/>
          </a:xfrm>
          <a:prstGeom prst="rect">
            <a:avLst/>
          </a:prstGeom>
          <a:solidFill>
            <a:srgbClr val="FFFFFF"/>
          </a:solidFill>
          <a:ln w="3810">
            <a:solidFill>
              <a:srgbClr val="BE82FF"/>
            </a:solidFill>
            <a:prstDash val="solid"/>
          </a:ln>
        </p:spPr>
        <p:txBody>
          <a:bodyPr/>
          <a:lstStyle/>
          <a:p>
            <a:endParaRPr lang="es-ES"/>
          </a:p>
        </p:txBody>
      </p:sp>
      <p:sp>
        <p:nvSpPr>
          <p:cNvPr id="459" name="Text 457"/>
          <p:cNvSpPr/>
          <p:nvPr/>
        </p:nvSpPr>
        <p:spPr>
          <a:xfrm>
            <a:off x="1170432" y="5518404"/>
            <a:ext cx="2434590"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Agrupación Referencias Negocio</a:t>
            </a:r>
            <a:endParaRPr lang="en-US" sz="380" dirty="0"/>
          </a:p>
        </p:txBody>
      </p:sp>
      <p:sp>
        <p:nvSpPr>
          <p:cNvPr id="460" name="Shape 458"/>
          <p:cNvSpPr/>
          <p:nvPr/>
        </p:nvSpPr>
        <p:spPr>
          <a:xfrm>
            <a:off x="1170432" y="5711571"/>
            <a:ext cx="2434590" cy="188595"/>
          </a:xfrm>
          <a:prstGeom prst="rect">
            <a:avLst/>
          </a:prstGeom>
          <a:solidFill>
            <a:srgbClr val="FFFFFF"/>
          </a:solidFill>
          <a:ln w="3810">
            <a:solidFill>
              <a:srgbClr val="BE82FF"/>
            </a:solidFill>
            <a:prstDash val="solid"/>
          </a:ln>
        </p:spPr>
        <p:txBody>
          <a:bodyPr/>
          <a:lstStyle/>
          <a:p>
            <a:endParaRPr lang="es-ES"/>
          </a:p>
        </p:txBody>
      </p:sp>
      <p:sp>
        <p:nvSpPr>
          <p:cNvPr id="461" name="Text 459"/>
          <p:cNvSpPr/>
          <p:nvPr/>
        </p:nvSpPr>
        <p:spPr>
          <a:xfrm>
            <a:off x="1170432" y="5711571"/>
            <a:ext cx="2434590"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Consulta e Informes de Folio</a:t>
            </a:r>
            <a:endParaRPr lang="en-US" sz="380" dirty="0"/>
          </a:p>
        </p:txBody>
      </p:sp>
      <p:sp>
        <p:nvSpPr>
          <p:cNvPr id="462" name="Shape 460"/>
          <p:cNvSpPr/>
          <p:nvPr/>
        </p:nvSpPr>
        <p:spPr>
          <a:xfrm>
            <a:off x="3623310" y="5408676"/>
            <a:ext cx="2434590" cy="100584"/>
          </a:xfrm>
          <a:prstGeom prst="rect">
            <a:avLst/>
          </a:prstGeom>
          <a:solidFill>
            <a:srgbClr val="BE82FF"/>
          </a:solidFill>
          <a:ln w="6350">
            <a:solidFill>
              <a:srgbClr val="7500C0"/>
            </a:solidFill>
            <a:prstDash val="solid"/>
          </a:ln>
        </p:spPr>
        <p:txBody>
          <a:bodyPr/>
          <a:lstStyle/>
          <a:p>
            <a:endParaRPr lang="es-ES"/>
          </a:p>
        </p:txBody>
      </p:sp>
      <p:sp>
        <p:nvSpPr>
          <p:cNvPr id="463" name="Text 461"/>
          <p:cNvSpPr/>
          <p:nvPr/>
        </p:nvSpPr>
        <p:spPr>
          <a:xfrm>
            <a:off x="3623310" y="5408676"/>
            <a:ext cx="2434590"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Gestión Feature Flags</a:t>
            </a:r>
            <a:endParaRPr lang="en-US" sz="400" dirty="0"/>
          </a:p>
        </p:txBody>
      </p:sp>
      <p:sp>
        <p:nvSpPr>
          <p:cNvPr id="464" name="Shape 462"/>
          <p:cNvSpPr/>
          <p:nvPr/>
        </p:nvSpPr>
        <p:spPr>
          <a:xfrm>
            <a:off x="3623310" y="5518404"/>
            <a:ext cx="2434590" cy="188595"/>
          </a:xfrm>
          <a:prstGeom prst="rect">
            <a:avLst/>
          </a:prstGeom>
          <a:solidFill>
            <a:srgbClr val="FFFFFF"/>
          </a:solidFill>
          <a:ln w="3810">
            <a:solidFill>
              <a:srgbClr val="BE82FF"/>
            </a:solidFill>
            <a:prstDash val="solid"/>
          </a:ln>
        </p:spPr>
        <p:txBody>
          <a:bodyPr/>
          <a:lstStyle/>
          <a:p>
            <a:endParaRPr lang="es-ES"/>
          </a:p>
        </p:txBody>
      </p:sp>
      <p:sp>
        <p:nvSpPr>
          <p:cNvPr id="465" name="Text 463"/>
          <p:cNvSpPr/>
          <p:nvPr/>
        </p:nvSpPr>
        <p:spPr>
          <a:xfrm>
            <a:off x="3623310" y="5518404"/>
            <a:ext cx="2434590"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Config. Feature Toggles</a:t>
            </a:r>
            <a:endParaRPr lang="en-US" sz="380" dirty="0"/>
          </a:p>
        </p:txBody>
      </p:sp>
      <p:sp>
        <p:nvSpPr>
          <p:cNvPr id="466" name="Shape 464"/>
          <p:cNvSpPr/>
          <p:nvPr/>
        </p:nvSpPr>
        <p:spPr>
          <a:xfrm>
            <a:off x="3623310" y="5711571"/>
            <a:ext cx="2434590" cy="188595"/>
          </a:xfrm>
          <a:prstGeom prst="rect">
            <a:avLst/>
          </a:prstGeom>
          <a:solidFill>
            <a:srgbClr val="FFFFFF"/>
          </a:solidFill>
          <a:ln w="3810">
            <a:solidFill>
              <a:srgbClr val="BE82FF"/>
            </a:solidFill>
            <a:prstDash val="solid"/>
          </a:ln>
        </p:spPr>
        <p:txBody>
          <a:bodyPr/>
          <a:lstStyle/>
          <a:p>
            <a:endParaRPr lang="es-ES"/>
          </a:p>
        </p:txBody>
      </p:sp>
      <p:sp>
        <p:nvSpPr>
          <p:cNvPr id="467" name="Text 465"/>
          <p:cNvSpPr/>
          <p:nvPr/>
        </p:nvSpPr>
        <p:spPr>
          <a:xfrm>
            <a:off x="3623310" y="5711571"/>
            <a:ext cx="2434590"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Exposición Progresiva y Rollback</a:t>
            </a:r>
            <a:endParaRPr lang="en-US" sz="380" dirty="0"/>
          </a:p>
        </p:txBody>
      </p:sp>
      <p:sp>
        <p:nvSpPr>
          <p:cNvPr id="468" name="Shape 466"/>
          <p:cNvSpPr/>
          <p:nvPr/>
        </p:nvSpPr>
        <p:spPr>
          <a:xfrm>
            <a:off x="6076188" y="5408676"/>
            <a:ext cx="2434590" cy="100584"/>
          </a:xfrm>
          <a:prstGeom prst="rect">
            <a:avLst/>
          </a:prstGeom>
          <a:solidFill>
            <a:srgbClr val="BE82FF"/>
          </a:solidFill>
          <a:ln w="6350">
            <a:solidFill>
              <a:srgbClr val="7500C0"/>
            </a:solidFill>
            <a:prstDash val="solid"/>
          </a:ln>
        </p:spPr>
        <p:txBody>
          <a:bodyPr/>
          <a:lstStyle/>
          <a:p>
            <a:endParaRPr lang="es-ES"/>
          </a:p>
        </p:txBody>
      </p:sp>
      <p:sp>
        <p:nvSpPr>
          <p:cNvPr id="469" name="Text 467"/>
          <p:cNvSpPr/>
          <p:nvPr/>
        </p:nvSpPr>
        <p:spPr>
          <a:xfrm>
            <a:off x="6076188" y="5408676"/>
            <a:ext cx="2434590"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UUID Distrib. y Correlación</a:t>
            </a:r>
            <a:endParaRPr lang="en-US" sz="400" dirty="0"/>
          </a:p>
        </p:txBody>
      </p:sp>
      <p:sp>
        <p:nvSpPr>
          <p:cNvPr id="470" name="Shape 468"/>
          <p:cNvSpPr/>
          <p:nvPr/>
        </p:nvSpPr>
        <p:spPr>
          <a:xfrm>
            <a:off x="6076188" y="5518404"/>
            <a:ext cx="2434590" cy="188595"/>
          </a:xfrm>
          <a:prstGeom prst="rect">
            <a:avLst/>
          </a:prstGeom>
          <a:solidFill>
            <a:srgbClr val="FFFFFF"/>
          </a:solidFill>
          <a:ln w="3810">
            <a:solidFill>
              <a:srgbClr val="BE82FF"/>
            </a:solidFill>
            <a:prstDash val="solid"/>
          </a:ln>
        </p:spPr>
        <p:txBody>
          <a:bodyPr/>
          <a:lstStyle/>
          <a:p>
            <a:endParaRPr lang="es-ES"/>
          </a:p>
        </p:txBody>
      </p:sp>
      <p:sp>
        <p:nvSpPr>
          <p:cNvPr id="471" name="Text 469"/>
          <p:cNvSpPr/>
          <p:nvPr/>
        </p:nvSpPr>
        <p:spPr>
          <a:xfrm>
            <a:off x="6076188" y="5518404"/>
            <a:ext cx="2434590"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Generación IDs Únicos</a:t>
            </a:r>
            <a:endParaRPr lang="en-US" sz="380" dirty="0"/>
          </a:p>
        </p:txBody>
      </p:sp>
      <p:sp>
        <p:nvSpPr>
          <p:cNvPr id="472" name="Shape 470"/>
          <p:cNvSpPr/>
          <p:nvPr/>
        </p:nvSpPr>
        <p:spPr>
          <a:xfrm>
            <a:off x="6076188" y="5711571"/>
            <a:ext cx="2434590" cy="188595"/>
          </a:xfrm>
          <a:prstGeom prst="rect">
            <a:avLst/>
          </a:prstGeom>
          <a:solidFill>
            <a:srgbClr val="FFFFFF"/>
          </a:solidFill>
          <a:ln w="3810">
            <a:solidFill>
              <a:srgbClr val="BE82FF"/>
            </a:solidFill>
            <a:prstDash val="solid"/>
          </a:ln>
        </p:spPr>
        <p:txBody>
          <a:bodyPr/>
          <a:lstStyle/>
          <a:p>
            <a:endParaRPr lang="es-ES"/>
          </a:p>
        </p:txBody>
      </p:sp>
      <p:sp>
        <p:nvSpPr>
          <p:cNvPr id="473" name="Text 471"/>
          <p:cNvSpPr/>
          <p:nvPr/>
        </p:nvSpPr>
        <p:spPr>
          <a:xfrm>
            <a:off x="6076188" y="5711571"/>
            <a:ext cx="2434590"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Propagación IDs Correlación</a:t>
            </a:r>
            <a:endParaRPr lang="en-US" sz="380" dirty="0"/>
          </a:p>
        </p:txBody>
      </p:sp>
      <p:sp>
        <p:nvSpPr>
          <p:cNvPr id="474" name="Shape 472"/>
          <p:cNvSpPr/>
          <p:nvPr/>
        </p:nvSpPr>
        <p:spPr>
          <a:xfrm>
            <a:off x="8529066" y="5408676"/>
            <a:ext cx="2434590" cy="100584"/>
          </a:xfrm>
          <a:prstGeom prst="rect">
            <a:avLst/>
          </a:prstGeom>
          <a:solidFill>
            <a:srgbClr val="BE82FF"/>
          </a:solidFill>
          <a:ln w="6350">
            <a:solidFill>
              <a:srgbClr val="7500C0"/>
            </a:solidFill>
            <a:prstDash val="solid"/>
          </a:ln>
        </p:spPr>
        <p:txBody>
          <a:bodyPr/>
          <a:lstStyle/>
          <a:p>
            <a:endParaRPr lang="es-ES"/>
          </a:p>
        </p:txBody>
      </p:sp>
      <p:sp>
        <p:nvSpPr>
          <p:cNvPr id="475" name="Text 473"/>
          <p:cNvSpPr/>
          <p:nvPr/>
        </p:nvSpPr>
        <p:spPr>
          <a:xfrm>
            <a:off x="8529066" y="5408676"/>
            <a:ext cx="2434590"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Consolas Admin. Plataforma</a:t>
            </a:r>
            <a:endParaRPr lang="en-US" sz="400" dirty="0"/>
          </a:p>
        </p:txBody>
      </p:sp>
      <p:sp>
        <p:nvSpPr>
          <p:cNvPr id="476" name="Shape 474"/>
          <p:cNvSpPr/>
          <p:nvPr/>
        </p:nvSpPr>
        <p:spPr>
          <a:xfrm>
            <a:off x="8529066" y="5518404"/>
            <a:ext cx="2434590" cy="188595"/>
          </a:xfrm>
          <a:prstGeom prst="rect">
            <a:avLst/>
          </a:prstGeom>
          <a:solidFill>
            <a:srgbClr val="FFFFFF"/>
          </a:solidFill>
          <a:ln w="3810">
            <a:solidFill>
              <a:srgbClr val="BE82FF"/>
            </a:solidFill>
            <a:prstDash val="solid"/>
          </a:ln>
        </p:spPr>
        <p:txBody>
          <a:bodyPr/>
          <a:lstStyle/>
          <a:p>
            <a:endParaRPr lang="es-ES"/>
          </a:p>
        </p:txBody>
      </p:sp>
      <p:sp>
        <p:nvSpPr>
          <p:cNvPr id="477" name="Text 475"/>
          <p:cNvSpPr/>
          <p:nvPr/>
        </p:nvSpPr>
        <p:spPr>
          <a:xfrm>
            <a:off x="8529066" y="5518404"/>
            <a:ext cx="2434590"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Admin. Registro de Servicios</a:t>
            </a:r>
            <a:endParaRPr lang="en-US" sz="380" dirty="0"/>
          </a:p>
        </p:txBody>
      </p:sp>
      <p:sp>
        <p:nvSpPr>
          <p:cNvPr id="478" name="Shape 476"/>
          <p:cNvSpPr/>
          <p:nvPr/>
        </p:nvSpPr>
        <p:spPr>
          <a:xfrm>
            <a:off x="8529066" y="5711571"/>
            <a:ext cx="2434590" cy="188595"/>
          </a:xfrm>
          <a:prstGeom prst="rect">
            <a:avLst/>
          </a:prstGeom>
          <a:solidFill>
            <a:srgbClr val="FFFFFF"/>
          </a:solidFill>
          <a:ln w="3810">
            <a:solidFill>
              <a:srgbClr val="BE82FF"/>
            </a:solidFill>
            <a:prstDash val="solid"/>
          </a:ln>
        </p:spPr>
        <p:txBody>
          <a:bodyPr/>
          <a:lstStyle/>
          <a:p>
            <a:endParaRPr lang="es-ES"/>
          </a:p>
        </p:txBody>
      </p:sp>
      <p:sp>
        <p:nvSpPr>
          <p:cNvPr id="479" name="Text 477"/>
          <p:cNvSpPr/>
          <p:nvPr/>
        </p:nvSpPr>
        <p:spPr>
          <a:xfrm>
            <a:off x="8529066" y="5711571"/>
            <a:ext cx="2434590"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Admin. Configuración Runtime</a:t>
            </a:r>
            <a:endParaRPr lang="en-US" sz="380" dirty="0"/>
          </a:p>
        </p:txBody>
      </p:sp>
      <p:sp>
        <p:nvSpPr>
          <p:cNvPr id="480" name="Shape 478"/>
          <p:cNvSpPr/>
          <p:nvPr/>
        </p:nvSpPr>
        <p:spPr>
          <a:xfrm>
            <a:off x="1152144" y="5941314"/>
            <a:ext cx="9848088" cy="633222"/>
          </a:xfrm>
          <a:prstGeom prst="rect">
            <a:avLst/>
          </a:prstGeom>
          <a:solidFill>
            <a:srgbClr val="F0F8FF"/>
          </a:solidFill>
          <a:ln w="7620">
            <a:solidFill>
              <a:srgbClr val="7500C0"/>
            </a:solidFill>
            <a:prstDash val="solid"/>
          </a:ln>
        </p:spPr>
        <p:txBody>
          <a:bodyPr/>
          <a:lstStyle/>
          <a:p>
            <a:endParaRPr lang="es-ES"/>
          </a:p>
        </p:txBody>
      </p:sp>
      <p:sp>
        <p:nvSpPr>
          <p:cNvPr id="481" name="Shape 479"/>
          <p:cNvSpPr/>
          <p:nvPr/>
        </p:nvSpPr>
        <p:spPr>
          <a:xfrm>
            <a:off x="1152144" y="5941314"/>
            <a:ext cx="9848088" cy="118872"/>
          </a:xfrm>
          <a:prstGeom prst="rect">
            <a:avLst/>
          </a:prstGeom>
          <a:solidFill>
            <a:srgbClr val="7500C0"/>
          </a:solidFill>
          <a:ln w="12700">
            <a:solidFill>
              <a:srgbClr val="7500C0"/>
            </a:solidFill>
            <a:prstDash val="solid"/>
          </a:ln>
        </p:spPr>
        <p:txBody>
          <a:bodyPr/>
          <a:lstStyle/>
          <a:p>
            <a:endParaRPr lang="es-ES"/>
          </a:p>
        </p:txBody>
      </p:sp>
      <p:sp>
        <p:nvSpPr>
          <p:cNvPr id="482" name="Text 480"/>
          <p:cNvSpPr/>
          <p:nvPr/>
        </p:nvSpPr>
        <p:spPr>
          <a:xfrm>
            <a:off x="1188720" y="5941314"/>
            <a:ext cx="9774936" cy="118872"/>
          </a:xfrm>
          <a:prstGeom prst="rect">
            <a:avLst/>
          </a:prstGeom>
          <a:noFill/>
          <a:ln/>
        </p:spPr>
        <p:txBody>
          <a:bodyPr wrap="square" lIns="0" tIns="0" rIns="0" bIns="0" rtlCol="0" anchor="ctr"/>
          <a:lstStyle/>
          <a:p>
            <a:pPr marL="0" indent="0" algn="l">
              <a:buNone/>
            </a:pPr>
            <a:r>
              <a:rPr lang="en-US" sz="550" b="1" dirty="0">
                <a:solidFill>
                  <a:srgbClr val="FFFFFF"/>
                </a:solidFill>
              </a:rPr>
              <a:t>Servicios Empresariales Comunes</a:t>
            </a:r>
            <a:endParaRPr lang="en-US" sz="550" dirty="0"/>
          </a:p>
        </p:txBody>
      </p:sp>
      <p:sp>
        <p:nvSpPr>
          <p:cNvPr id="483" name="Shape 481"/>
          <p:cNvSpPr/>
          <p:nvPr/>
        </p:nvSpPr>
        <p:spPr>
          <a:xfrm>
            <a:off x="1170432" y="6069330"/>
            <a:ext cx="1616964" cy="100584"/>
          </a:xfrm>
          <a:prstGeom prst="rect">
            <a:avLst/>
          </a:prstGeom>
          <a:solidFill>
            <a:srgbClr val="BE82FF"/>
          </a:solidFill>
          <a:ln w="6350">
            <a:solidFill>
              <a:srgbClr val="7500C0"/>
            </a:solidFill>
            <a:prstDash val="solid"/>
          </a:ln>
        </p:spPr>
        <p:txBody>
          <a:bodyPr/>
          <a:lstStyle/>
          <a:p>
            <a:endParaRPr lang="es-ES"/>
          </a:p>
        </p:txBody>
      </p:sp>
      <p:sp>
        <p:nvSpPr>
          <p:cNvPr id="484" name="Text 482"/>
          <p:cNvSpPr/>
          <p:nvPr/>
        </p:nvSpPr>
        <p:spPr>
          <a:xfrm>
            <a:off x="1170432" y="6069330"/>
            <a:ext cx="1616964"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Servicios Cliente y Parte</a:t>
            </a:r>
            <a:endParaRPr lang="en-US" sz="400" dirty="0"/>
          </a:p>
        </p:txBody>
      </p:sp>
      <p:sp>
        <p:nvSpPr>
          <p:cNvPr id="485" name="Shape 483"/>
          <p:cNvSpPr/>
          <p:nvPr/>
        </p:nvSpPr>
        <p:spPr>
          <a:xfrm>
            <a:off x="1170432" y="6179058"/>
            <a:ext cx="1616964" cy="188595"/>
          </a:xfrm>
          <a:prstGeom prst="rect">
            <a:avLst/>
          </a:prstGeom>
          <a:solidFill>
            <a:srgbClr val="FFFFFF"/>
          </a:solidFill>
          <a:ln w="3810">
            <a:solidFill>
              <a:srgbClr val="BE82FF"/>
            </a:solidFill>
            <a:prstDash val="solid"/>
          </a:ln>
        </p:spPr>
        <p:txBody>
          <a:bodyPr/>
          <a:lstStyle/>
          <a:p>
            <a:endParaRPr lang="es-ES"/>
          </a:p>
        </p:txBody>
      </p:sp>
      <p:sp>
        <p:nvSpPr>
          <p:cNvPr id="486" name="Text 484"/>
          <p:cNvSpPr/>
          <p:nvPr/>
        </p:nvSpPr>
        <p:spPr>
          <a:xfrm>
            <a:off x="1170432" y="6179058"/>
            <a:ext cx="1616964"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Servicios Datos de Cliente</a:t>
            </a:r>
            <a:endParaRPr lang="en-US" sz="380" dirty="0"/>
          </a:p>
        </p:txBody>
      </p:sp>
      <p:sp>
        <p:nvSpPr>
          <p:cNvPr id="487" name="Shape 485"/>
          <p:cNvSpPr/>
          <p:nvPr/>
        </p:nvSpPr>
        <p:spPr>
          <a:xfrm>
            <a:off x="1170432" y="6372225"/>
            <a:ext cx="1616964" cy="188595"/>
          </a:xfrm>
          <a:prstGeom prst="rect">
            <a:avLst/>
          </a:prstGeom>
          <a:solidFill>
            <a:srgbClr val="FFFFFF"/>
          </a:solidFill>
          <a:ln w="3810">
            <a:solidFill>
              <a:srgbClr val="BE82FF"/>
            </a:solidFill>
            <a:prstDash val="solid"/>
          </a:ln>
        </p:spPr>
        <p:txBody>
          <a:bodyPr/>
          <a:lstStyle/>
          <a:p>
            <a:endParaRPr lang="es-ES"/>
          </a:p>
        </p:txBody>
      </p:sp>
      <p:sp>
        <p:nvSpPr>
          <p:cNvPr id="488" name="Text 486"/>
          <p:cNvSpPr/>
          <p:nvPr/>
        </p:nvSpPr>
        <p:spPr>
          <a:xfrm>
            <a:off x="1170432" y="6372225"/>
            <a:ext cx="1616964"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Servicios Relaciones entre Partes</a:t>
            </a:r>
            <a:endParaRPr lang="en-US" sz="380" dirty="0"/>
          </a:p>
        </p:txBody>
      </p:sp>
      <p:sp>
        <p:nvSpPr>
          <p:cNvPr id="489" name="Shape 487"/>
          <p:cNvSpPr/>
          <p:nvPr/>
        </p:nvSpPr>
        <p:spPr>
          <a:xfrm>
            <a:off x="2805684" y="6069330"/>
            <a:ext cx="1616964" cy="100584"/>
          </a:xfrm>
          <a:prstGeom prst="rect">
            <a:avLst/>
          </a:prstGeom>
          <a:solidFill>
            <a:srgbClr val="BE82FF"/>
          </a:solidFill>
          <a:ln w="6350">
            <a:solidFill>
              <a:srgbClr val="7500C0"/>
            </a:solidFill>
            <a:prstDash val="solid"/>
          </a:ln>
        </p:spPr>
        <p:txBody>
          <a:bodyPr/>
          <a:lstStyle/>
          <a:p>
            <a:endParaRPr lang="es-ES"/>
          </a:p>
        </p:txBody>
      </p:sp>
      <p:sp>
        <p:nvSpPr>
          <p:cNvPr id="490" name="Text 488"/>
          <p:cNvSpPr/>
          <p:nvPr/>
        </p:nvSpPr>
        <p:spPr>
          <a:xfrm>
            <a:off x="2805684" y="6069330"/>
            <a:ext cx="1616964"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Producto y Precios</a:t>
            </a:r>
            <a:endParaRPr lang="en-US" sz="400" dirty="0"/>
          </a:p>
        </p:txBody>
      </p:sp>
      <p:sp>
        <p:nvSpPr>
          <p:cNvPr id="491" name="Shape 489"/>
          <p:cNvSpPr/>
          <p:nvPr/>
        </p:nvSpPr>
        <p:spPr>
          <a:xfrm>
            <a:off x="2805684" y="6179058"/>
            <a:ext cx="1616964" cy="188595"/>
          </a:xfrm>
          <a:prstGeom prst="rect">
            <a:avLst/>
          </a:prstGeom>
          <a:solidFill>
            <a:srgbClr val="FFFFFF"/>
          </a:solidFill>
          <a:ln w="3810">
            <a:solidFill>
              <a:srgbClr val="BE82FF"/>
            </a:solidFill>
            <a:prstDash val="solid"/>
          </a:ln>
        </p:spPr>
        <p:txBody>
          <a:bodyPr/>
          <a:lstStyle/>
          <a:p>
            <a:endParaRPr lang="es-ES"/>
          </a:p>
        </p:txBody>
      </p:sp>
      <p:sp>
        <p:nvSpPr>
          <p:cNvPr id="492" name="Text 490"/>
          <p:cNvSpPr/>
          <p:nvPr/>
        </p:nvSpPr>
        <p:spPr>
          <a:xfrm>
            <a:off x="2805684" y="6179058"/>
            <a:ext cx="1616964"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Servicios Catálogo de Productos</a:t>
            </a:r>
            <a:endParaRPr lang="en-US" sz="380" dirty="0"/>
          </a:p>
        </p:txBody>
      </p:sp>
      <p:sp>
        <p:nvSpPr>
          <p:cNvPr id="493" name="Shape 491"/>
          <p:cNvSpPr/>
          <p:nvPr/>
        </p:nvSpPr>
        <p:spPr>
          <a:xfrm>
            <a:off x="2805684" y="6372225"/>
            <a:ext cx="1616964" cy="188595"/>
          </a:xfrm>
          <a:prstGeom prst="rect">
            <a:avLst/>
          </a:prstGeom>
          <a:solidFill>
            <a:srgbClr val="FFFFFF"/>
          </a:solidFill>
          <a:ln w="3810">
            <a:solidFill>
              <a:srgbClr val="BE82FF"/>
            </a:solidFill>
            <a:prstDash val="solid"/>
          </a:ln>
        </p:spPr>
        <p:txBody>
          <a:bodyPr/>
          <a:lstStyle/>
          <a:p>
            <a:endParaRPr lang="es-ES"/>
          </a:p>
        </p:txBody>
      </p:sp>
      <p:sp>
        <p:nvSpPr>
          <p:cNvPr id="494" name="Text 492"/>
          <p:cNvSpPr/>
          <p:nvPr/>
        </p:nvSpPr>
        <p:spPr>
          <a:xfrm>
            <a:off x="2805684" y="6372225"/>
            <a:ext cx="1616964"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Servicios Tarifas y Precios</a:t>
            </a:r>
            <a:endParaRPr lang="en-US" sz="380" dirty="0"/>
          </a:p>
        </p:txBody>
      </p:sp>
      <p:sp>
        <p:nvSpPr>
          <p:cNvPr id="495" name="Shape 493"/>
          <p:cNvSpPr/>
          <p:nvPr/>
        </p:nvSpPr>
        <p:spPr>
          <a:xfrm>
            <a:off x="4440936" y="6069330"/>
            <a:ext cx="1616964" cy="100584"/>
          </a:xfrm>
          <a:prstGeom prst="rect">
            <a:avLst/>
          </a:prstGeom>
          <a:solidFill>
            <a:srgbClr val="BE82FF"/>
          </a:solidFill>
          <a:ln w="6350">
            <a:solidFill>
              <a:srgbClr val="7500C0"/>
            </a:solidFill>
            <a:prstDash val="solid"/>
          </a:ln>
        </p:spPr>
        <p:txBody>
          <a:bodyPr/>
          <a:lstStyle/>
          <a:p>
            <a:endParaRPr lang="es-ES"/>
          </a:p>
        </p:txBody>
      </p:sp>
      <p:sp>
        <p:nvSpPr>
          <p:cNvPr id="496" name="Text 494"/>
          <p:cNvSpPr/>
          <p:nvPr/>
        </p:nvSpPr>
        <p:spPr>
          <a:xfrm>
            <a:off x="4440936" y="6069330"/>
            <a:ext cx="1616964"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Límites y Riesgo</a:t>
            </a:r>
            <a:endParaRPr lang="en-US" sz="400" dirty="0"/>
          </a:p>
        </p:txBody>
      </p:sp>
      <p:sp>
        <p:nvSpPr>
          <p:cNvPr id="497" name="Shape 495"/>
          <p:cNvSpPr/>
          <p:nvPr/>
        </p:nvSpPr>
        <p:spPr>
          <a:xfrm>
            <a:off x="4440936" y="6179058"/>
            <a:ext cx="1616964" cy="188595"/>
          </a:xfrm>
          <a:prstGeom prst="rect">
            <a:avLst/>
          </a:prstGeom>
          <a:solidFill>
            <a:srgbClr val="FFFFFF"/>
          </a:solidFill>
          <a:ln w="3810">
            <a:solidFill>
              <a:srgbClr val="BE82FF"/>
            </a:solidFill>
            <a:prstDash val="solid"/>
          </a:ln>
        </p:spPr>
        <p:txBody>
          <a:bodyPr/>
          <a:lstStyle/>
          <a:p>
            <a:endParaRPr lang="es-ES"/>
          </a:p>
        </p:txBody>
      </p:sp>
      <p:sp>
        <p:nvSpPr>
          <p:cNvPr id="498" name="Text 496"/>
          <p:cNvSpPr/>
          <p:nvPr/>
        </p:nvSpPr>
        <p:spPr>
          <a:xfrm>
            <a:off x="4440936" y="6179058"/>
            <a:ext cx="1616964"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Servicios Gestión de Límites</a:t>
            </a:r>
            <a:endParaRPr lang="en-US" sz="380" dirty="0"/>
          </a:p>
        </p:txBody>
      </p:sp>
      <p:sp>
        <p:nvSpPr>
          <p:cNvPr id="499" name="Shape 497"/>
          <p:cNvSpPr/>
          <p:nvPr/>
        </p:nvSpPr>
        <p:spPr>
          <a:xfrm>
            <a:off x="4440936" y="6372225"/>
            <a:ext cx="1616964" cy="188595"/>
          </a:xfrm>
          <a:prstGeom prst="rect">
            <a:avLst/>
          </a:prstGeom>
          <a:solidFill>
            <a:srgbClr val="FFFFFF"/>
          </a:solidFill>
          <a:ln w="3810">
            <a:solidFill>
              <a:srgbClr val="BE82FF"/>
            </a:solidFill>
            <a:prstDash val="solid"/>
          </a:ln>
        </p:spPr>
        <p:txBody>
          <a:bodyPr/>
          <a:lstStyle/>
          <a:p>
            <a:endParaRPr lang="es-ES"/>
          </a:p>
        </p:txBody>
      </p:sp>
      <p:sp>
        <p:nvSpPr>
          <p:cNvPr id="500" name="Text 498"/>
          <p:cNvSpPr/>
          <p:nvPr/>
        </p:nvSpPr>
        <p:spPr>
          <a:xfrm>
            <a:off x="4440936" y="6372225"/>
            <a:ext cx="1616964"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Servicios Scoring de Riesgo</a:t>
            </a:r>
            <a:endParaRPr lang="en-US" sz="380" dirty="0"/>
          </a:p>
        </p:txBody>
      </p:sp>
      <p:sp>
        <p:nvSpPr>
          <p:cNvPr id="501" name="Shape 499"/>
          <p:cNvSpPr/>
          <p:nvPr/>
        </p:nvSpPr>
        <p:spPr>
          <a:xfrm>
            <a:off x="6076188" y="6069330"/>
            <a:ext cx="1616964" cy="100584"/>
          </a:xfrm>
          <a:prstGeom prst="rect">
            <a:avLst/>
          </a:prstGeom>
          <a:solidFill>
            <a:srgbClr val="BE82FF"/>
          </a:solidFill>
          <a:ln w="6350">
            <a:solidFill>
              <a:srgbClr val="7500C0"/>
            </a:solidFill>
            <a:prstDash val="solid"/>
          </a:ln>
        </p:spPr>
        <p:txBody>
          <a:bodyPr/>
          <a:lstStyle/>
          <a:p>
            <a:endParaRPr lang="es-ES"/>
          </a:p>
        </p:txBody>
      </p:sp>
      <p:sp>
        <p:nvSpPr>
          <p:cNvPr id="502" name="Text 500"/>
          <p:cNvSpPr/>
          <p:nvPr/>
        </p:nvSpPr>
        <p:spPr>
          <a:xfrm>
            <a:off x="6076188" y="6069330"/>
            <a:ext cx="1616964"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Financiero y Contable</a:t>
            </a:r>
            <a:endParaRPr lang="en-US" sz="400" dirty="0"/>
          </a:p>
        </p:txBody>
      </p:sp>
      <p:sp>
        <p:nvSpPr>
          <p:cNvPr id="503" name="Shape 501"/>
          <p:cNvSpPr/>
          <p:nvPr/>
        </p:nvSpPr>
        <p:spPr>
          <a:xfrm>
            <a:off x="6076188" y="6179058"/>
            <a:ext cx="1616964" cy="124206"/>
          </a:xfrm>
          <a:prstGeom prst="rect">
            <a:avLst/>
          </a:prstGeom>
          <a:solidFill>
            <a:srgbClr val="FFFFFF"/>
          </a:solidFill>
          <a:ln w="3810">
            <a:solidFill>
              <a:srgbClr val="BE82FF"/>
            </a:solidFill>
            <a:prstDash val="solid"/>
          </a:ln>
        </p:spPr>
        <p:txBody>
          <a:bodyPr/>
          <a:lstStyle/>
          <a:p>
            <a:endParaRPr lang="es-ES"/>
          </a:p>
        </p:txBody>
      </p:sp>
      <p:sp>
        <p:nvSpPr>
          <p:cNvPr id="504" name="Text 502"/>
          <p:cNvSpPr/>
          <p:nvPr/>
        </p:nvSpPr>
        <p:spPr>
          <a:xfrm>
            <a:off x="6076188" y="6179058"/>
            <a:ext cx="1616964"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Contabilidad y Registro Contable</a:t>
            </a:r>
            <a:endParaRPr lang="en-US" sz="380" dirty="0"/>
          </a:p>
        </p:txBody>
      </p:sp>
      <p:sp>
        <p:nvSpPr>
          <p:cNvPr id="505" name="Shape 503"/>
          <p:cNvSpPr/>
          <p:nvPr/>
        </p:nvSpPr>
        <p:spPr>
          <a:xfrm>
            <a:off x="6076188" y="6307836"/>
            <a:ext cx="1616964" cy="124206"/>
          </a:xfrm>
          <a:prstGeom prst="rect">
            <a:avLst/>
          </a:prstGeom>
          <a:solidFill>
            <a:srgbClr val="FFFFFF"/>
          </a:solidFill>
          <a:ln w="3810">
            <a:solidFill>
              <a:srgbClr val="BE82FF"/>
            </a:solidFill>
            <a:prstDash val="solid"/>
          </a:ln>
        </p:spPr>
        <p:txBody>
          <a:bodyPr/>
          <a:lstStyle/>
          <a:p>
            <a:endParaRPr lang="es-ES"/>
          </a:p>
        </p:txBody>
      </p:sp>
      <p:sp>
        <p:nvSpPr>
          <p:cNvPr id="506" name="Text 504"/>
          <p:cNvSpPr/>
          <p:nvPr/>
        </p:nvSpPr>
        <p:spPr>
          <a:xfrm>
            <a:off x="6076188" y="6307836"/>
            <a:ext cx="1616964"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Servicios Conversión de Divisas</a:t>
            </a:r>
            <a:endParaRPr lang="en-US" sz="380" dirty="0"/>
          </a:p>
        </p:txBody>
      </p:sp>
      <p:sp>
        <p:nvSpPr>
          <p:cNvPr id="507" name="Shape 505"/>
          <p:cNvSpPr/>
          <p:nvPr/>
        </p:nvSpPr>
        <p:spPr>
          <a:xfrm>
            <a:off x="6076188" y="6436614"/>
            <a:ext cx="1616964" cy="124206"/>
          </a:xfrm>
          <a:prstGeom prst="rect">
            <a:avLst/>
          </a:prstGeom>
          <a:solidFill>
            <a:srgbClr val="FFFFFF"/>
          </a:solidFill>
          <a:ln w="3810">
            <a:solidFill>
              <a:srgbClr val="BE82FF"/>
            </a:solidFill>
            <a:prstDash val="solid"/>
          </a:ln>
        </p:spPr>
        <p:txBody>
          <a:bodyPr/>
          <a:lstStyle/>
          <a:p>
            <a:endParaRPr lang="es-ES"/>
          </a:p>
        </p:txBody>
      </p:sp>
      <p:sp>
        <p:nvSpPr>
          <p:cNvPr id="508" name="Text 506"/>
          <p:cNvSpPr/>
          <p:nvPr/>
        </p:nvSpPr>
        <p:spPr>
          <a:xfrm>
            <a:off x="6076188" y="6436614"/>
            <a:ext cx="1616964"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Servicios de Pagos</a:t>
            </a:r>
            <a:endParaRPr lang="en-US" sz="380" dirty="0"/>
          </a:p>
        </p:txBody>
      </p:sp>
      <p:sp>
        <p:nvSpPr>
          <p:cNvPr id="509" name="Shape 507"/>
          <p:cNvSpPr/>
          <p:nvPr/>
        </p:nvSpPr>
        <p:spPr>
          <a:xfrm>
            <a:off x="7711440" y="6069330"/>
            <a:ext cx="1616964" cy="100584"/>
          </a:xfrm>
          <a:prstGeom prst="rect">
            <a:avLst/>
          </a:prstGeom>
          <a:solidFill>
            <a:srgbClr val="BE82FF"/>
          </a:solidFill>
          <a:ln w="6350">
            <a:solidFill>
              <a:srgbClr val="7500C0"/>
            </a:solidFill>
            <a:prstDash val="solid"/>
          </a:ln>
        </p:spPr>
        <p:txBody>
          <a:bodyPr/>
          <a:lstStyle/>
          <a:p>
            <a:endParaRPr lang="es-ES"/>
          </a:p>
        </p:txBody>
      </p:sp>
      <p:sp>
        <p:nvSpPr>
          <p:cNvPr id="510" name="Text 508"/>
          <p:cNvSpPr/>
          <p:nvPr/>
        </p:nvSpPr>
        <p:spPr>
          <a:xfrm>
            <a:off x="7711440" y="6069330"/>
            <a:ext cx="1616964"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Documentos y Contenidos</a:t>
            </a:r>
            <a:endParaRPr lang="en-US" sz="400" dirty="0"/>
          </a:p>
        </p:txBody>
      </p:sp>
      <p:sp>
        <p:nvSpPr>
          <p:cNvPr id="511" name="Shape 509"/>
          <p:cNvSpPr/>
          <p:nvPr/>
        </p:nvSpPr>
        <p:spPr>
          <a:xfrm>
            <a:off x="7711440" y="6179058"/>
            <a:ext cx="1616964" cy="188595"/>
          </a:xfrm>
          <a:prstGeom prst="rect">
            <a:avLst/>
          </a:prstGeom>
          <a:solidFill>
            <a:srgbClr val="FFFFFF"/>
          </a:solidFill>
          <a:ln w="3810">
            <a:solidFill>
              <a:srgbClr val="BE82FF"/>
            </a:solidFill>
            <a:prstDash val="solid"/>
          </a:ln>
        </p:spPr>
        <p:txBody>
          <a:bodyPr/>
          <a:lstStyle/>
          <a:p>
            <a:endParaRPr lang="es-ES"/>
          </a:p>
        </p:txBody>
      </p:sp>
      <p:sp>
        <p:nvSpPr>
          <p:cNvPr id="512" name="Text 510"/>
          <p:cNvSpPr/>
          <p:nvPr/>
        </p:nvSpPr>
        <p:spPr>
          <a:xfrm>
            <a:off x="7711440" y="6179058"/>
            <a:ext cx="1616964"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Generación y Composición Docs.</a:t>
            </a:r>
            <a:endParaRPr lang="en-US" sz="380" dirty="0"/>
          </a:p>
        </p:txBody>
      </p:sp>
      <p:sp>
        <p:nvSpPr>
          <p:cNvPr id="513" name="Shape 511"/>
          <p:cNvSpPr/>
          <p:nvPr/>
        </p:nvSpPr>
        <p:spPr>
          <a:xfrm>
            <a:off x="7711440" y="6372225"/>
            <a:ext cx="1616964" cy="188595"/>
          </a:xfrm>
          <a:prstGeom prst="rect">
            <a:avLst/>
          </a:prstGeom>
          <a:solidFill>
            <a:srgbClr val="FFFFFF"/>
          </a:solidFill>
          <a:ln w="3810">
            <a:solidFill>
              <a:srgbClr val="BE82FF"/>
            </a:solidFill>
            <a:prstDash val="solid"/>
          </a:ln>
        </p:spPr>
        <p:txBody>
          <a:bodyPr/>
          <a:lstStyle/>
          <a:p>
            <a:endParaRPr lang="es-ES"/>
          </a:p>
        </p:txBody>
      </p:sp>
      <p:sp>
        <p:nvSpPr>
          <p:cNvPr id="514" name="Text 512"/>
          <p:cNvSpPr/>
          <p:nvPr/>
        </p:nvSpPr>
        <p:spPr>
          <a:xfrm>
            <a:off x="7711440" y="6372225"/>
            <a:ext cx="1616964"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Captura, Almacen. y Recuperación</a:t>
            </a:r>
            <a:endParaRPr lang="en-US" sz="380" dirty="0"/>
          </a:p>
        </p:txBody>
      </p:sp>
      <p:sp>
        <p:nvSpPr>
          <p:cNvPr id="515" name="Shape 513"/>
          <p:cNvSpPr/>
          <p:nvPr/>
        </p:nvSpPr>
        <p:spPr>
          <a:xfrm>
            <a:off x="9346692" y="6069330"/>
            <a:ext cx="1616964" cy="100584"/>
          </a:xfrm>
          <a:prstGeom prst="rect">
            <a:avLst/>
          </a:prstGeom>
          <a:solidFill>
            <a:srgbClr val="BE82FF"/>
          </a:solidFill>
          <a:ln w="6350">
            <a:solidFill>
              <a:srgbClr val="7500C0"/>
            </a:solidFill>
            <a:prstDash val="solid"/>
          </a:ln>
        </p:spPr>
        <p:txBody>
          <a:bodyPr/>
          <a:lstStyle/>
          <a:p>
            <a:endParaRPr lang="es-ES"/>
          </a:p>
        </p:txBody>
      </p:sp>
      <p:sp>
        <p:nvSpPr>
          <p:cNvPr id="516" name="Text 514"/>
          <p:cNvSpPr/>
          <p:nvPr/>
        </p:nvSpPr>
        <p:spPr>
          <a:xfrm>
            <a:off x="9346692" y="6069330"/>
            <a:ext cx="1616964"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Control y Confianza</a:t>
            </a:r>
            <a:endParaRPr lang="en-US" sz="400" dirty="0"/>
          </a:p>
        </p:txBody>
      </p:sp>
      <p:sp>
        <p:nvSpPr>
          <p:cNvPr id="517" name="Shape 515"/>
          <p:cNvSpPr/>
          <p:nvPr/>
        </p:nvSpPr>
        <p:spPr>
          <a:xfrm>
            <a:off x="9346692" y="6179058"/>
            <a:ext cx="1616964" cy="188595"/>
          </a:xfrm>
          <a:prstGeom prst="rect">
            <a:avLst/>
          </a:prstGeom>
          <a:solidFill>
            <a:srgbClr val="FFFFFF"/>
          </a:solidFill>
          <a:ln w="3810">
            <a:solidFill>
              <a:srgbClr val="BE82FF"/>
            </a:solidFill>
            <a:prstDash val="solid"/>
          </a:ln>
        </p:spPr>
        <p:txBody>
          <a:bodyPr/>
          <a:lstStyle/>
          <a:p>
            <a:endParaRPr lang="es-ES"/>
          </a:p>
        </p:txBody>
      </p:sp>
      <p:sp>
        <p:nvSpPr>
          <p:cNvPr id="518" name="Text 516"/>
          <p:cNvSpPr/>
          <p:nvPr/>
        </p:nvSpPr>
        <p:spPr>
          <a:xfrm>
            <a:off x="9346692" y="6179058"/>
            <a:ext cx="1616964"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Servicios de Aprobaciones</a:t>
            </a:r>
            <a:endParaRPr lang="en-US" sz="380" dirty="0"/>
          </a:p>
        </p:txBody>
      </p:sp>
      <p:sp>
        <p:nvSpPr>
          <p:cNvPr id="519" name="Shape 517"/>
          <p:cNvSpPr/>
          <p:nvPr/>
        </p:nvSpPr>
        <p:spPr>
          <a:xfrm>
            <a:off x="9346692" y="6372225"/>
            <a:ext cx="1616964" cy="188595"/>
          </a:xfrm>
          <a:prstGeom prst="rect">
            <a:avLst/>
          </a:prstGeom>
          <a:solidFill>
            <a:srgbClr val="FFFFFF"/>
          </a:solidFill>
          <a:ln w="3810">
            <a:solidFill>
              <a:srgbClr val="BE82FF"/>
            </a:solidFill>
            <a:prstDash val="solid"/>
          </a:ln>
        </p:spPr>
        <p:txBody>
          <a:bodyPr/>
          <a:lstStyle/>
          <a:p>
            <a:endParaRPr lang="es-ES"/>
          </a:p>
        </p:txBody>
      </p:sp>
      <p:sp>
        <p:nvSpPr>
          <p:cNvPr id="520" name="Text 518"/>
          <p:cNvSpPr/>
          <p:nvPr/>
        </p:nvSpPr>
        <p:spPr>
          <a:xfrm>
            <a:off x="9346692" y="6372225"/>
            <a:ext cx="1616964"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Firma y Verificación</a:t>
            </a:r>
            <a:endParaRPr lang="en-US" sz="380" dirty="0"/>
          </a:p>
        </p:txBody>
      </p:sp>
      <p:sp>
        <p:nvSpPr>
          <p:cNvPr id="521" name="Shape 519"/>
          <p:cNvSpPr/>
          <p:nvPr/>
        </p:nvSpPr>
        <p:spPr>
          <a:xfrm>
            <a:off x="137160" y="6638544"/>
            <a:ext cx="640080" cy="146304"/>
          </a:xfrm>
          <a:prstGeom prst="rect">
            <a:avLst/>
          </a:prstGeom>
          <a:solidFill>
            <a:srgbClr val="BE82FF"/>
          </a:solidFill>
          <a:ln w="6350">
            <a:solidFill>
              <a:srgbClr val="A100FF"/>
            </a:solidFill>
            <a:prstDash val="solid"/>
          </a:ln>
        </p:spPr>
        <p:txBody>
          <a:bodyPr/>
          <a:lstStyle/>
          <a:p>
            <a:endParaRPr lang="es-ES"/>
          </a:p>
        </p:txBody>
      </p:sp>
      <p:sp>
        <p:nvSpPr>
          <p:cNvPr id="522" name="Text 520"/>
          <p:cNvSpPr/>
          <p:nvPr/>
        </p:nvSpPr>
        <p:spPr>
          <a:xfrm>
            <a:off x="137160" y="6638544"/>
            <a:ext cx="640080" cy="146304"/>
          </a:xfrm>
          <a:prstGeom prst="rect">
            <a:avLst/>
          </a:prstGeom>
          <a:noFill/>
          <a:ln/>
        </p:spPr>
        <p:txBody>
          <a:bodyPr wrap="square" rtlCol="0" anchor="ctr"/>
          <a:lstStyle/>
          <a:p>
            <a:pPr marL="0" indent="0" algn="ctr">
              <a:buNone/>
            </a:pPr>
            <a:r>
              <a:rPr lang="en-US" sz="450" dirty="0">
                <a:solidFill>
                  <a:srgbClr val="000000"/>
                </a:solidFill>
              </a:rPr>
              <a:t>Capacidad (L2)</a:t>
            </a:r>
            <a:endParaRPr lang="en-US" sz="450" dirty="0"/>
          </a:p>
        </p:txBody>
      </p:sp>
      <p:sp>
        <p:nvSpPr>
          <p:cNvPr id="523" name="Shape 521"/>
          <p:cNvSpPr/>
          <p:nvPr/>
        </p:nvSpPr>
        <p:spPr>
          <a:xfrm>
            <a:off x="868680" y="6638544"/>
            <a:ext cx="731520" cy="146304"/>
          </a:xfrm>
          <a:prstGeom prst="rect">
            <a:avLst/>
          </a:prstGeom>
          <a:solidFill>
            <a:srgbClr val="F0F8FF"/>
          </a:solidFill>
          <a:ln w="6350">
            <a:solidFill>
              <a:srgbClr val="7500C0"/>
            </a:solidFill>
            <a:prstDash val="solid"/>
          </a:ln>
        </p:spPr>
        <p:txBody>
          <a:bodyPr/>
          <a:lstStyle/>
          <a:p>
            <a:endParaRPr lang="es-ES"/>
          </a:p>
        </p:txBody>
      </p:sp>
      <p:sp>
        <p:nvSpPr>
          <p:cNvPr id="524" name="Text 522"/>
          <p:cNvSpPr/>
          <p:nvPr/>
        </p:nvSpPr>
        <p:spPr>
          <a:xfrm>
            <a:off x="868680" y="6638544"/>
            <a:ext cx="731520" cy="146304"/>
          </a:xfrm>
          <a:prstGeom prst="rect">
            <a:avLst/>
          </a:prstGeom>
          <a:noFill/>
          <a:ln/>
        </p:spPr>
        <p:txBody>
          <a:bodyPr wrap="square" rtlCol="0" anchor="ctr"/>
          <a:lstStyle/>
          <a:p>
            <a:pPr marL="0" indent="0" algn="ctr">
              <a:buNone/>
            </a:pPr>
            <a:r>
              <a:rPr lang="en-US" sz="450" dirty="0">
                <a:solidFill>
                  <a:srgbClr val="000000"/>
                </a:solidFill>
              </a:rPr>
              <a:t>Componentes de dominio</a:t>
            </a:r>
            <a:endParaRPr lang="en-US" sz="450" dirty="0"/>
          </a:p>
        </p:txBody>
      </p:sp>
      <p:sp>
        <p:nvSpPr>
          <p:cNvPr id="525" name="Shape 523"/>
          <p:cNvSpPr/>
          <p:nvPr/>
        </p:nvSpPr>
        <p:spPr>
          <a:xfrm>
            <a:off x="1691640" y="6647688"/>
            <a:ext cx="146304" cy="146304"/>
          </a:xfrm>
          <a:prstGeom prst="ellipse">
            <a:avLst/>
          </a:prstGeom>
          <a:solidFill>
            <a:srgbClr val="C00000"/>
          </a:solidFill>
          <a:ln w="12700">
            <a:solidFill>
              <a:srgbClr val="C00000"/>
            </a:solidFill>
            <a:prstDash val="solid"/>
          </a:ln>
        </p:spPr>
        <p:txBody>
          <a:bodyPr/>
          <a:lstStyle/>
          <a:p>
            <a:endParaRPr lang="es-ES"/>
          </a:p>
        </p:txBody>
      </p:sp>
      <p:sp>
        <p:nvSpPr>
          <p:cNvPr id="526" name="Text 524"/>
          <p:cNvSpPr/>
          <p:nvPr/>
        </p:nvSpPr>
        <p:spPr>
          <a:xfrm>
            <a:off x="1691640" y="6647688"/>
            <a:ext cx="146304" cy="146304"/>
          </a:xfrm>
          <a:prstGeom prst="rect">
            <a:avLst/>
          </a:prstGeom>
          <a:noFill/>
          <a:ln/>
        </p:spPr>
        <p:txBody>
          <a:bodyPr wrap="square" lIns="0" tIns="0" rIns="0" bIns="0" rtlCol="0" anchor="ctr"/>
          <a:lstStyle/>
          <a:p>
            <a:pPr marL="0" indent="0" algn="ctr">
              <a:buNone/>
            </a:pPr>
            <a:r>
              <a:rPr lang="en-US" sz="650" b="1" dirty="0">
                <a:solidFill>
                  <a:srgbClr val="FFFFFF"/>
                </a:solidFill>
              </a:rPr>
              <a:t>K</a:t>
            </a:r>
            <a:endParaRPr lang="en-US" sz="650" dirty="0"/>
          </a:p>
        </p:txBody>
      </p:sp>
      <p:sp>
        <p:nvSpPr>
          <p:cNvPr id="527" name="Text 525"/>
          <p:cNvSpPr/>
          <p:nvPr/>
        </p:nvSpPr>
        <p:spPr>
          <a:xfrm>
            <a:off x="1865376" y="6638544"/>
            <a:ext cx="1645920" cy="146304"/>
          </a:xfrm>
          <a:prstGeom prst="rect">
            <a:avLst/>
          </a:prstGeom>
          <a:noFill/>
          <a:ln/>
        </p:spPr>
        <p:txBody>
          <a:bodyPr wrap="square" rtlCol="0" anchor="ctr"/>
          <a:lstStyle/>
          <a:p>
            <a:pPr marL="0" indent="0">
              <a:buNone/>
            </a:pPr>
            <a:r>
              <a:rPr lang="en-US" sz="450" dirty="0">
                <a:solidFill>
                  <a:srgbClr val="000000"/>
                </a:solidFill>
              </a:rPr>
              <a:t>Kernel y componentes de plataforma</a:t>
            </a:r>
            <a:endParaRPr lang="en-US" sz="450" dirty="0"/>
          </a:p>
        </p:txBody>
      </p:sp>
      <p:sp>
        <p:nvSpPr>
          <p:cNvPr id="528" name="Text 526"/>
          <p:cNvSpPr/>
          <p:nvPr/>
        </p:nvSpPr>
        <p:spPr>
          <a:xfrm>
            <a:off x="8988552" y="6638544"/>
            <a:ext cx="3063240" cy="146304"/>
          </a:xfrm>
          <a:prstGeom prst="rect">
            <a:avLst/>
          </a:prstGeom>
          <a:noFill/>
          <a:ln/>
        </p:spPr>
        <p:txBody>
          <a:bodyPr wrap="square" rtlCol="0" anchor="ctr"/>
          <a:lstStyle/>
          <a:p>
            <a:pPr marL="0" indent="0" algn="r">
              <a:buNone/>
            </a:pPr>
            <a:r>
              <a:rPr lang="en-US" sz="450" dirty="0">
                <a:solidFill>
                  <a:srgbClr val="595959"/>
                </a:solidFill>
              </a:rPr>
              <a:t>Copyright © 2026 Accenture. Todos los derechos reservados.</a:t>
            </a:r>
            <a:endParaRPr lang="en-US" sz="4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019FDD-725F-8534-EA90-E2044594B0D3}"/>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5CB0F6D9-5E92-5EB1-4799-BC6659D85A5C}"/>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dirty="0">
                <a:ln>
                  <a:noFill/>
                </a:ln>
                <a:solidFill>
                  <a:srgbClr val="000000">
                    <a:alpha val="65000"/>
                  </a:srgbClr>
                </a:solidFill>
                <a:effectLst/>
                <a:uLnTx/>
                <a:uFillTx/>
                <a:latin typeface="Graphik"/>
                <a:ea typeface="+mn-ea"/>
                <a:cs typeface="+mn-cs"/>
              </a:rPr>
              <a:t>Copyright © 2026 Accenture. Todos los derechos reservados.</a:t>
            </a:r>
          </a:p>
        </p:txBody>
      </p:sp>
      <p:sp>
        <p:nvSpPr>
          <p:cNvPr id="4" name="Slide Number Placeholder 3">
            <a:extLst>
              <a:ext uri="{FF2B5EF4-FFF2-40B4-BE49-F238E27FC236}">
                <a16:creationId xmlns:a16="http://schemas.microsoft.com/office/drawing/2014/main" id="{3A721E09-FCBD-84FA-9776-B48A42155AF5}"/>
              </a:ext>
            </a:extLst>
          </p:cNvPr>
          <p:cNvSpPr>
            <a:spLocks noGrp="1"/>
          </p:cNvSpPr>
          <p:nvPr>
            <p:ph type="sldNum" sz="quarter" idx="429496729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Graphik"/>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Graphik"/>
              <a:ea typeface="+mn-ea"/>
              <a:cs typeface="+mn-cs"/>
            </a:endParaRPr>
          </a:p>
        </p:txBody>
      </p:sp>
      <p:sp>
        <p:nvSpPr>
          <p:cNvPr id="23" name="Title 1">
            <a:extLst>
              <a:ext uri="{FF2B5EF4-FFF2-40B4-BE49-F238E27FC236}">
                <a16:creationId xmlns:a16="http://schemas.microsoft.com/office/drawing/2014/main" id="{5844AA0A-B29E-375C-3DEA-15A60CE0BEC5}"/>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dirty="0">
                <a:ln>
                  <a:noFill/>
                </a:ln>
                <a:solidFill>
                  <a:srgbClr val="7500C0"/>
                </a:solidFill>
                <a:effectLst/>
                <a:uLnTx/>
                <a:uFillTx/>
                <a:latin typeface="Graphik"/>
                <a:ea typeface="+mj-ea"/>
                <a:cs typeface="+mj-cs"/>
              </a:rPr>
              <a:t>Arquitectura de Interoperabilidad </a:t>
            </a:r>
            <a:r>
              <a:rPr kumimoji="0" lang="es" sz="2400" b="1" i="0" u="none" strike="noStrike" kern="1200" cap="none" spc="0" normalizeH="0" baseline="0" noProof="0" dirty="0">
                <a:ln>
                  <a:noFill/>
                </a:ln>
                <a:solidFill>
                  <a:srgbClr val="000000"/>
                </a:solidFill>
                <a:effectLst/>
                <a:uLnTx/>
                <a:uFillTx/>
                <a:latin typeface="Graphik"/>
                <a:ea typeface="+mj-ea"/>
                <a:cs typeface="+mj-cs"/>
              </a:rPr>
              <a:t>| </a:t>
            </a:r>
            <a:r>
              <a:rPr kumimoji="0" lang="es" sz="2000" b="1" i="0" u="none" strike="noStrike" kern="1200" cap="none" spc="0" normalizeH="0" baseline="0" noProof="0" dirty="0">
                <a:ln>
                  <a:noFill/>
                </a:ln>
                <a:solidFill>
                  <a:srgbClr val="000000"/>
                </a:solidFill>
                <a:effectLst/>
                <a:uLnTx/>
                <a:uFillTx/>
                <a:latin typeface="Graphik"/>
                <a:ea typeface="+mj-ea"/>
                <a:cs typeface="+mj-cs"/>
              </a:rPr>
              <a:t>Seguridad</a:t>
            </a:r>
            <a:endParaRPr kumimoji="0" lang="es" sz="2400" b="1" i="0" u="none" strike="noStrike" kern="1200" cap="none" spc="0" normalizeH="0" baseline="0" noProof="0" dirty="0">
              <a:ln>
                <a:noFill/>
              </a:ln>
              <a:solidFill>
                <a:srgbClr val="000000"/>
              </a:solidFill>
              <a:effectLst/>
              <a:uLnTx/>
              <a:uFillTx/>
              <a:latin typeface="Graphik"/>
              <a:ea typeface="+mj-ea"/>
              <a:cs typeface="+mj-cs"/>
            </a:endParaRPr>
          </a:p>
        </p:txBody>
      </p:sp>
      <p:sp>
        <p:nvSpPr>
          <p:cNvPr id="131" name="Kicker"/>
          <p:cNvSpPr txBox="1"/>
          <p:nvPr/>
        </p:nvSpPr>
        <p:spPr>
          <a:xfrm>
            <a:off x="381000" y="775000"/>
            <a:ext cx="10200000" cy="200000"/>
          </a:xfrm>
          <a:prstGeom prst="rect">
            <a:avLst/>
          </a:prstGeom>
        </p:spPr>
        <p:txBody>
          <a:bodyPr lIns="0" tIns="0" rIns="0" bIns="0"/>
          <a:lstStyle/>
          <a:p>
            <a:pPr marL="0" indent="0" algn="l">
              <a:lnSpc>
                <a:spcPct val="104000"/>
              </a:lnSpc>
              <a:spcBef>
                <a:spcPts val="30"/>
              </a:spcBef>
              <a:buNone/>
            </a:pPr>
            <a:r>
              <a:rPr lang="es" sz="1000" b="1" i="0" dirty="0">
                <a:solidFill>
                  <a:srgbClr val="C00000"/>
                </a:solidFill>
                <a:latin typeface="Graphik"/>
                <a:cs typeface="Graphik"/>
              </a:rPr>
              <a:t>KERNEL &amp; PLATAFORMA |    6 SUBCAPACIDADES</a:t>
            </a:r>
          </a:p>
        </p:txBody>
      </p:sp>
      <p:graphicFrame>
        <p:nvGraphicFramePr>
          <p:cNvPr id="100" name="DetailTable"/>
          <p:cNvGraphicFramePr>
            <a:graphicFrameLocks noGrp="1"/>
          </p:cNvGraphicFramePr>
          <p:nvPr>
            <p:extLst>
              <p:ext uri="{D42A27DB-BD31-4B8C-83A1-F6EECF244321}">
                <p14:modId xmlns:p14="http://schemas.microsoft.com/office/powerpoint/2010/main" val="978529041"/>
              </p:ext>
            </p:extLst>
          </p:nvPr>
        </p:nvGraphicFramePr>
        <p:xfrm>
          <a:off x="381000" y="1015000"/>
          <a:ext cx="11430000" cy="5054483"/>
        </p:xfrm>
        <a:graphic>
          <a:graphicData uri="http://schemas.openxmlformats.org/drawingml/2006/table">
            <a:tbl>
              <a:tblPr firstRow="1"/>
              <a:tblGrid>
                <a:gridCol w="1950000">
                  <a:extLst>
                    <a:ext uri="{9D8B030D-6E8A-4147-A177-3AD203B41FA5}">
                      <a16:colId xmlns:a16="http://schemas.microsoft.com/office/drawing/2014/main" val="20000"/>
                    </a:ext>
                  </a:extLst>
                </a:gridCol>
                <a:gridCol w="3450000">
                  <a:extLst>
                    <a:ext uri="{9D8B030D-6E8A-4147-A177-3AD203B41FA5}">
                      <a16:colId xmlns:a16="http://schemas.microsoft.com/office/drawing/2014/main" val="20001"/>
                    </a:ext>
                  </a:extLst>
                </a:gridCol>
                <a:gridCol w="3150000">
                  <a:extLst>
                    <a:ext uri="{9D8B030D-6E8A-4147-A177-3AD203B41FA5}">
                      <a16:colId xmlns:a16="http://schemas.microsoft.com/office/drawing/2014/main" val="20002"/>
                    </a:ext>
                  </a:extLst>
                </a:gridCol>
                <a:gridCol w="2880000">
                  <a:extLst>
                    <a:ext uri="{9D8B030D-6E8A-4147-A177-3AD203B41FA5}">
                      <a16:colId xmlns:a16="http://schemas.microsoft.com/office/drawing/2014/main" val="20003"/>
                    </a:ext>
                  </a:extLst>
                </a:gridCol>
              </a:tblGrid>
              <a:tr h="300000">
                <a:tc>
                  <a:txBody>
                    <a:bodyPr/>
                    <a:lstStyle/>
                    <a:p>
                      <a:pPr marL="0" indent="0" algn="l">
                        <a:lnSpc>
                          <a:spcPct val="104000"/>
                        </a:lnSpc>
                        <a:spcBef>
                          <a:spcPts val="30"/>
                        </a:spcBef>
                        <a:buNone/>
                      </a:pPr>
                      <a:r>
                        <a:rPr lang="es" sz="1000" b="1" i="0" dirty="0">
                          <a:solidFill>
                            <a:srgbClr val="FFFFFF"/>
                          </a:solidFill>
                          <a:latin typeface="Graphik"/>
                          <a:cs typeface="Graphik"/>
                        </a:rPr>
                        <a:t>Subcapacidad</a:t>
                      </a:r>
                    </a:p>
                  </a:txBody>
                  <a:tcPr marL="82000" marR="82000" marT="38000" marB="38000" anchor="ctr">
                    <a:solidFill>
                      <a:srgbClr val="7500C0"/>
                    </a:solidFill>
                  </a:tcPr>
                </a:tc>
                <a:tc>
                  <a:txBody>
                    <a:bodyPr/>
                    <a:lstStyle/>
                    <a:p>
                      <a:pPr marL="0" indent="0" algn="l">
                        <a:lnSpc>
                          <a:spcPct val="104000"/>
                        </a:lnSpc>
                        <a:spcBef>
                          <a:spcPts val="30"/>
                        </a:spcBef>
                        <a:buNone/>
                      </a:pPr>
                      <a:r>
                        <a:rPr lang="es" sz="1000" b="1" i="0">
                          <a:solidFill>
                            <a:srgbClr val="FFFFFF"/>
                          </a:solidFill>
                          <a:latin typeface="Graphik"/>
                          <a:cs typeface="Graphik"/>
                        </a:rPr>
                        <a:t>Descripción</a:t>
                      </a:r>
                    </a:p>
                  </a:txBody>
                  <a:tcPr marL="82000" marR="82000" marT="38000" marB="38000" anchor="ctr">
                    <a:solidFill>
                      <a:srgbClr val="7500C0"/>
                    </a:solidFill>
                  </a:tcPr>
                </a:tc>
                <a:tc>
                  <a:txBody>
                    <a:bodyPr/>
                    <a:lstStyle/>
                    <a:p>
                      <a:pPr marL="0" indent="0" algn="l">
                        <a:lnSpc>
                          <a:spcPct val="104000"/>
                        </a:lnSpc>
                        <a:spcBef>
                          <a:spcPts val="30"/>
                        </a:spcBef>
                        <a:buNone/>
                      </a:pPr>
                      <a:r>
                        <a:rPr lang="es" sz="1000" b="1" i="0">
                          <a:solidFill>
                            <a:srgbClr val="FFFFFF"/>
                          </a:solidFill>
                          <a:latin typeface="Graphik"/>
                          <a:cs typeface="Graphik"/>
                        </a:rPr>
                        <a:t>Propósito</a:t>
                      </a:r>
                    </a:p>
                  </a:txBody>
                  <a:tcPr marL="82000" marR="82000" marT="38000" marB="38000" anchor="ctr">
                    <a:solidFill>
                      <a:srgbClr val="7500C0"/>
                    </a:solidFill>
                  </a:tcPr>
                </a:tc>
                <a:tc>
                  <a:txBody>
                    <a:bodyPr/>
                    <a:lstStyle/>
                    <a:p>
                      <a:pPr marL="0" indent="0" algn="l">
                        <a:lnSpc>
                          <a:spcPct val="104000"/>
                        </a:lnSpc>
                        <a:spcBef>
                          <a:spcPts val="30"/>
                        </a:spcBef>
                        <a:buNone/>
                      </a:pPr>
                      <a:r>
                        <a:rPr lang="es" sz="1000" b="1" i="0">
                          <a:solidFill>
                            <a:srgbClr val="FFFFFF"/>
                          </a:solidFill>
                          <a:latin typeface="Graphik"/>
                          <a:cs typeface="Graphik"/>
                        </a:rPr>
                        <a:t>Soluciones en Coppel</a:t>
                      </a:r>
                    </a:p>
                  </a:txBody>
                  <a:tcPr marL="82000" marR="82000" marT="38000" marB="38000" anchor="ctr">
                    <a:solidFill>
                      <a:srgbClr val="7500C0"/>
                    </a:solidFill>
                  </a:tcPr>
                </a:tc>
                <a:extLst>
                  <a:ext uri="{0D108BD9-81ED-4DB2-BD59-A6C34878D82A}">
                    <a16:rowId xmlns:a16="http://schemas.microsoft.com/office/drawing/2014/main" val="10000"/>
                  </a:ext>
                </a:extLst>
              </a:tr>
              <a:tr h="723650">
                <a:tc>
                  <a:txBody>
                    <a:bodyPr/>
                    <a:lstStyle/>
                    <a:p>
                      <a:pPr marL="0" indent="0" algn="l">
                        <a:lnSpc>
                          <a:spcPct val="104000"/>
                        </a:lnSpc>
                        <a:spcBef>
                          <a:spcPts val="30"/>
                        </a:spcBef>
                        <a:buNone/>
                      </a:pPr>
                      <a:r>
                        <a:rPr lang="es" sz="800" b="1" i="0" dirty="0">
                          <a:solidFill>
                            <a:srgbClr val="9B7BC7"/>
                          </a:solidFill>
                          <a:latin typeface="Graphik"/>
                          <a:cs typeface="Graphik"/>
                        </a:rPr>
                        <a:t>1.1  </a:t>
                      </a:r>
                      <a:r>
                        <a:rPr lang="es" sz="800" b="1" i="0" dirty="0">
                          <a:solidFill>
                            <a:srgbClr val="7500C0"/>
                          </a:solidFill>
                          <a:latin typeface="Graphik"/>
                          <a:cs typeface="Graphik"/>
                        </a:rPr>
                        <a:t>Gestión de Identidad y Acceso</a:t>
                      </a:r>
                    </a:p>
                  </a:txBody>
                  <a:tcPr marL="82000" marR="82000" marT="38000" marB="38000" anchor="ctr">
                    <a:solidFill>
                      <a:srgbClr val="EFE7F7"/>
                    </a:solidFill>
                  </a:tcPr>
                </a:tc>
                <a:tc>
                  <a:txBody>
                    <a:bodyPr/>
                    <a:lstStyle/>
                    <a:p>
                      <a:pPr marL="0" indent="0" algn="l">
                        <a:lnSpc>
                          <a:spcPct val="108000"/>
                        </a:lnSpc>
                        <a:spcBef>
                          <a:spcPts val="30"/>
                        </a:spcBef>
                        <a:buNone/>
                      </a:pPr>
                      <a:r>
                        <a:rPr lang="es" sz="800" b="0" i="0" dirty="0">
                          <a:solidFill>
                            <a:srgbClr val="2B2B2B"/>
                          </a:solidFill>
                          <a:latin typeface="Graphik"/>
                          <a:cs typeface="Graphik"/>
                        </a:rPr>
                        <a:t>Servicios de autenticación, autorización, token y sesión para clientes, empleados, socios e identidades de máquinas que consumen la capa de interoperabilidad.</a:t>
                      </a:r>
                    </a:p>
                  </a:txBody>
                  <a:tcPr marL="82000" marR="82000" marT="38000" marB="38000" anchor="ctr">
                    <a:solidFill>
                      <a:srgbClr val="FFFFFF"/>
                    </a:solidFill>
                  </a:tcPr>
                </a:tc>
                <a:tc>
                  <a:txBody>
                    <a:bodyPr/>
                    <a:lstStyle/>
                    <a:p>
                      <a:pPr marL="0" indent="0" algn="l">
                        <a:lnSpc>
                          <a:spcPct val="108000"/>
                        </a:lnSpc>
                        <a:spcBef>
                          <a:spcPts val="30"/>
                        </a:spcBef>
                        <a:buNone/>
                      </a:pPr>
                      <a:r>
                        <a:rPr lang="es" sz="800" b="0" i="0">
                          <a:solidFill>
                            <a:srgbClr val="444444"/>
                          </a:solidFill>
                          <a:latin typeface="Graphik"/>
                          <a:cs typeface="Graphik"/>
                        </a:rPr>
                        <a:t>Proporciona la única respuesta autorizada sobre quién llama y qué puede hacer, por lo que la lógica de derechos se elimina de los servicios empresariales.</a:t>
                      </a:r>
                    </a:p>
                  </a:txBody>
                  <a:tcPr marL="82000" marR="82000" marT="38000" marB="38000" anchor="ctr">
                    <a:solidFill>
                      <a:srgbClr val="FFFFFF"/>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OAuth 2.0 vía </a:t>
                      </a:r>
                      <a:r>
                        <a:rPr lang="es-ES" sz="700" b="0" i="0" dirty="0" err="1">
                          <a:solidFill>
                            <a:srgbClr val="4B2E83"/>
                          </a:solidFill>
                          <a:latin typeface="Graphik"/>
                          <a:cs typeface="Graphik"/>
                        </a:rPr>
                        <a:t>APIgee</a:t>
                      </a:r>
                      <a:endParaRPr lang="es" sz="700" b="0" i="0" dirty="0">
                        <a:solidFill>
                          <a:srgbClr val="4B2E83"/>
                        </a:solidFill>
                        <a:latin typeface="Graphik"/>
                        <a:cs typeface="Graphik"/>
                      </a:endParaRP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OKTA</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Azure AD/Microsoft Entra ID</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Identidad del Token Party</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Identidad Incode/KYC</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HashiCorp Vault para soporte de credenciales</a:t>
                      </a:r>
                    </a:p>
                  </a:txBody>
                  <a:tcPr marL="82000" marR="82000" marT="38000" marB="38000" anchor="ctr">
                    <a:solidFill>
                      <a:srgbClr val="FFFFFF"/>
                    </a:solidFill>
                  </a:tcPr>
                </a:tc>
                <a:extLst>
                  <a:ext uri="{0D108BD9-81ED-4DB2-BD59-A6C34878D82A}">
                    <a16:rowId xmlns:a16="http://schemas.microsoft.com/office/drawing/2014/main" val="10001"/>
                  </a:ext>
                </a:extLst>
              </a:tr>
              <a:tr h="849380">
                <a:tc>
                  <a:txBody>
                    <a:bodyPr/>
                    <a:lstStyle/>
                    <a:p>
                      <a:pPr marL="0" indent="0" algn="l">
                        <a:lnSpc>
                          <a:spcPct val="104000"/>
                        </a:lnSpc>
                        <a:spcBef>
                          <a:spcPts val="30"/>
                        </a:spcBef>
                        <a:buNone/>
                      </a:pPr>
                      <a:r>
                        <a:rPr lang="es" sz="800" b="1" i="0">
                          <a:solidFill>
                            <a:srgbClr val="9B7BC7"/>
                          </a:solidFill>
                          <a:latin typeface="Graphik"/>
                          <a:cs typeface="Graphik"/>
                        </a:rPr>
                        <a:t>1.2  </a:t>
                      </a:r>
                      <a:r>
                        <a:rPr lang="es" sz="800" b="1" i="0">
                          <a:solidFill>
                            <a:srgbClr val="7500C0"/>
                          </a:solidFill>
                          <a:latin typeface="Graphik"/>
                          <a:cs typeface="Graphik"/>
                        </a:rPr>
                        <a:t>Servicios Criptográficos</a:t>
                      </a:r>
                    </a:p>
                  </a:txBody>
                  <a:tcPr marL="82000" marR="82000" marT="38000" marB="38000" anchor="ctr">
                    <a:solidFill>
                      <a:srgbClr val="E9DEF4"/>
                    </a:solidFill>
                  </a:tcPr>
                </a:tc>
                <a:tc>
                  <a:txBody>
                    <a:bodyPr/>
                    <a:lstStyle/>
                    <a:p>
                      <a:pPr marL="0" indent="0" algn="l">
                        <a:lnSpc>
                          <a:spcPct val="108000"/>
                        </a:lnSpc>
                        <a:spcBef>
                          <a:spcPts val="30"/>
                        </a:spcBef>
                        <a:buNone/>
                      </a:pPr>
                      <a:r>
                        <a:rPr lang="es" sz="800" b="0" i="0">
                          <a:solidFill>
                            <a:srgbClr val="2B2B2B"/>
                          </a:solidFill>
                          <a:latin typeface="Graphik"/>
                          <a:cs typeface="Graphik"/>
                        </a:rPr>
                        <a:t>Operaciones criptográficas compartidas —firma, cifrado, protección de carga útil de extremo a extremo— se entregaban como servicios llamables respaldados por módulos de seguridad de hardware y almacenes de claves gestionados.</a:t>
                      </a:r>
                    </a:p>
                  </a:txBody>
                  <a:tcPr marL="82000" marR="82000" marT="38000" marB="38000" anchor="ctr">
                    <a:solidFill>
                      <a:srgbClr val="F6F2FB"/>
                    </a:solidFill>
                  </a:tcPr>
                </a:tc>
                <a:tc>
                  <a:txBody>
                    <a:bodyPr/>
                    <a:lstStyle/>
                    <a:p>
                      <a:pPr marL="0" indent="0" algn="l">
                        <a:lnSpc>
                          <a:spcPct val="108000"/>
                        </a:lnSpc>
                        <a:spcBef>
                          <a:spcPts val="30"/>
                        </a:spcBef>
                        <a:buNone/>
                      </a:pPr>
                      <a:r>
                        <a:rPr lang="es" sz="800" b="0" i="0" dirty="0">
                          <a:solidFill>
                            <a:srgbClr val="444444"/>
                          </a:solidFill>
                          <a:latin typeface="Graphik"/>
                          <a:cs typeface="Graphik"/>
                        </a:rPr>
                        <a:t>Concentra los controles de mayor garantía en un solo componente certificado, de modo que la criptografía se consume en lugar de reimplementarse.</a:t>
                      </a:r>
                    </a:p>
                  </a:txBody>
                  <a:tcPr marL="82000" marR="82000" marT="38000" marB="38000" anchor="ctr">
                    <a:solidFill>
                      <a:srgbClr val="F6F2FB"/>
                    </a:solidFill>
                  </a:tcPr>
                </a:tc>
                <a:tc>
                  <a:txBody>
                    <a:bodyPr/>
                    <a:lstStyle/>
                    <a:p>
                      <a:pPr marL="150000" indent="-150000" algn="l">
                        <a:lnSpc>
                          <a:spcPct val="104000"/>
                        </a:lnSpc>
                        <a:spcBef>
                          <a:spcPts val="45"/>
                        </a:spcBef>
                        <a:buClr>
                          <a:srgbClr val="7500C0"/>
                        </a:buClr>
                        <a:buFont typeface="Arial"/>
                        <a:buChar char="▪"/>
                      </a:pPr>
                      <a:r>
                        <a:rPr lang="es" sz="700" b="0" i="0">
                          <a:solidFill>
                            <a:srgbClr val="4B2E83"/>
                          </a:solidFill>
                          <a:latin typeface="Graphik"/>
                          <a:cs typeface="Graphik"/>
                        </a:rPr>
                        <a:t>Cifrado AES-256</a:t>
                      </a:r>
                    </a:p>
                    <a:p>
                      <a:pPr marL="150000" indent="-150000" algn="l">
                        <a:lnSpc>
                          <a:spcPct val="104000"/>
                        </a:lnSpc>
                        <a:spcBef>
                          <a:spcPts val="45"/>
                        </a:spcBef>
                        <a:buClr>
                          <a:srgbClr val="7500C0"/>
                        </a:buClr>
                        <a:buFont typeface="Arial"/>
                        <a:buChar char="▪"/>
                      </a:pPr>
                      <a:r>
                        <a:rPr lang="es" sz="700" b="0" i="0">
                          <a:solidFill>
                            <a:srgbClr val="4B2E83"/>
                          </a:solidFill>
                          <a:latin typeface="Graphik"/>
                          <a:cs typeface="Graphik"/>
                        </a:rPr>
                        <a:t>TLS/SSL</a:t>
                      </a:r>
                    </a:p>
                    <a:p>
                      <a:pPr marL="150000" indent="-150000" algn="l">
                        <a:lnSpc>
                          <a:spcPct val="104000"/>
                        </a:lnSpc>
                        <a:spcBef>
                          <a:spcPts val="45"/>
                        </a:spcBef>
                        <a:buClr>
                          <a:srgbClr val="7500C0"/>
                        </a:buClr>
                        <a:buFont typeface="Arial"/>
                        <a:buChar char="▪"/>
                      </a:pPr>
                      <a:r>
                        <a:rPr lang="es" sz="700" b="0" i="0">
                          <a:solidFill>
                            <a:srgbClr val="4B2E83"/>
                          </a:solidFill>
                          <a:latin typeface="Graphik"/>
                          <a:cs typeface="Graphik"/>
                        </a:rPr>
                        <a:t>Gestión de claves HSM</a:t>
                      </a:r>
                    </a:p>
                    <a:p>
                      <a:pPr marL="150000" indent="-150000" algn="l">
                        <a:lnSpc>
                          <a:spcPct val="104000"/>
                        </a:lnSpc>
                        <a:spcBef>
                          <a:spcPts val="45"/>
                        </a:spcBef>
                        <a:buClr>
                          <a:srgbClr val="7500C0"/>
                        </a:buClr>
                        <a:buFont typeface="Arial"/>
                        <a:buChar char="▪"/>
                      </a:pPr>
                      <a:r>
                        <a:rPr lang="es" sz="700" b="0" i="0">
                          <a:solidFill>
                            <a:srgbClr val="4B2E83"/>
                          </a:solidFill>
                          <a:latin typeface="Graphik"/>
                          <a:cs typeface="Graphik"/>
                        </a:rPr>
                        <a:t>Oracle TDE</a:t>
                      </a:r>
                    </a:p>
                    <a:p>
                      <a:pPr marL="150000" indent="-150000" algn="l">
                        <a:lnSpc>
                          <a:spcPct val="104000"/>
                        </a:lnSpc>
                        <a:spcBef>
                          <a:spcPts val="45"/>
                        </a:spcBef>
                        <a:buClr>
                          <a:srgbClr val="7500C0"/>
                        </a:buClr>
                        <a:buFont typeface="Arial"/>
                        <a:buChar char="▪"/>
                      </a:pPr>
                      <a:r>
                        <a:rPr lang="es" sz="700" b="0" i="0">
                          <a:solidFill>
                            <a:srgbClr val="4B2E83"/>
                          </a:solidFill>
                          <a:latin typeface="Graphik"/>
                          <a:cs typeface="Graphik"/>
                        </a:rPr>
                        <a:t>Istio mTLS</a:t>
                      </a:r>
                    </a:p>
                    <a:p>
                      <a:pPr marL="150000" indent="-150000" algn="l">
                        <a:lnSpc>
                          <a:spcPct val="104000"/>
                        </a:lnSpc>
                        <a:spcBef>
                          <a:spcPts val="45"/>
                        </a:spcBef>
                        <a:buClr>
                          <a:srgbClr val="7500C0"/>
                        </a:buClr>
                        <a:buFont typeface="Arial"/>
                        <a:buChar char="▪"/>
                      </a:pPr>
                      <a:r>
                        <a:rPr lang="es" sz="700" b="0" i="0">
                          <a:solidFill>
                            <a:srgbClr val="4B2E83"/>
                          </a:solidFill>
                          <a:latin typeface="Graphik"/>
                          <a:cs typeface="Graphik"/>
                        </a:rPr>
                        <a:t>Firma Incode/NOM-151 para contratos de incorporación</a:t>
                      </a:r>
                    </a:p>
                  </a:txBody>
                  <a:tcPr marL="82000" marR="82000" marT="38000" marB="38000" anchor="ctr">
                    <a:solidFill>
                      <a:srgbClr val="F6F2FB"/>
                    </a:solidFill>
                  </a:tcPr>
                </a:tc>
                <a:extLst>
                  <a:ext uri="{0D108BD9-81ED-4DB2-BD59-A6C34878D82A}">
                    <a16:rowId xmlns:a16="http://schemas.microsoft.com/office/drawing/2014/main" val="10002"/>
                  </a:ext>
                </a:extLst>
              </a:tr>
              <a:tr h="723650">
                <a:tc>
                  <a:txBody>
                    <a:bodyPr/>
                    <a:lstStyle/>
                    <a:p>
                      <a:pPr marL="0" indent="0" algn="l">
                        <a:lnSpc>
                          <a:spcPct val="104000"/>
                        </a:lnSpc>
                        <a:spcBef>
                          <a:spcPts val="30"/>
                        </a:spcBef>
                        <a:buNone/>
                      </a:pPr>
                      <a:r>
                        <a:rPr lang="es" sz="800" b="1" i="0">
                          <a:solidFill>
                            <a:srgbClr val="9B7BC7"/>
                          </a:solidFill>
                          <a:latin typeface="Graphik"/>
                          <a:cs typeface="Graphik"/>
                        </a:rPr>
                        <a:t>1.3  </a:t>
                      </a:r>
                      <a:r>
                        <a:rPr lang="es" sz="800" b="1" i="0">
                          <a:solidFill>
                            <a:srgbClr val="7500C0"/>
                          </a:solidFill>
                          <a:latin typeface="Graphik"/>
                          <a:cs typeface="Graphik"/>
                        </a:rPr>
                        <a:t>Gestión de Certificados y Secretos</a:t>
                      </a:r>
                    </a:p>
                  </a:txBody>
                  <a:tcPr marL="82000" marR="82000" marT="38000" marB="38000" anchor="ctr">
                    <a:solidFill>
                      <a:srgbClr val="EFE7F7"/>
                    </a:solidFill>
                  </a:tcPr>
                </a:tc>
                <a:tc>
                  <a:txBody>
                    <a:bodyPr/>
                    <a:lstStyle/>
                    <a:p>
                      <a:pPr marL="0" indent="0" algn="l">
                        <a:lnSpc>
                          <a:spcPct val="108000"/>
                        </a:lnSpc>
                        <a:spcBef>
                          <a:spcPts val="30"/>
                        </a:spcBef>
                        <a:buNone/>
                      </a:pPr>
                      <a:r>
                        <a:rPr lang="es" sz="800" b="0" i="0">
                          <a:solidFill>
                            <a:srgbClr val="2B2B2B"/>
                          </a:solidFill>
                          <a:latin typeface="Graphik"/>
                          <a:cs typeface="Graphik"/>
                        </a:rPr>
                        <a:t>Emisión, distribución, rotación, revocación y auditoría de certificados y secretos de aplicaciones consumidos por servicios, gateways y pipelines.</a:t>
                      </a:r>
                    </a:p>
                  </a:txBody>
                  <a:tcPr marL="82000" marR="82000" marT="38000" marB="38000" anchor="ctr">
                    <a:solidFill>
                      <a:srgbClr val="FFFFFF"/>
                    </a:solidFill>
                  </a:tcPr>
                </a:tc>
                <a:tc>
                  <a:txBody>
                    <a:bodyPr/>
                    <a:lstStyle/>
                    <a:p>
                      <a:pPr marL="0" indent="0" algn="l">
                        <a:lnSpc>
                          <a:spcPct val="108000"/>
                        </a:lnSpc>
                        <a:spcBef>
                          <a:spcPts val="30"/>
                        </a:spcBef>
                        <a:buNone/>
                      </a:pPr>
                      <a:r>
                        <a:rPr lang="es" sz="800" b="0" i="0" dirty="0">
                          <a:solidFill>
                            <a:srgbClr val="444444"/>
                          </a:solidFill>
                          <a:latin typeface="Graphik"/>
                          <a:cs typeface="Graphik"/>
                        </a:rPr>
                        <a:t>Automatiza la higiene operativa que suele fallar a gran escala; Los certificados caducados y los secretos harcodeados son algunas de las causas más frecuentes de interrupciones y hallazgos de auditorías en herencias distribuidas.</a:t>
                      </a:r>
                    </a:p>
                  </a:txBody>
                  <a:tcPr marL="82000" marR="82000" marT="38000" marB="38000" anchor="ctr">
                    <a:solidFill>
                      <a:srgbClr val="FFFFFF"/>
                    </a:solidFill>
                  </a:tcPr>
                </a:tc>
                <a:tc>
                  <a:txBody>
                    <a:bodyPr/>
                    <a:lstStyle/>
                    <a:p>
                      <a:pPr marL="150000" indent="-150000" algn="l">
                        <a:lnSpc>
                          <a:spcPct val="104000"/>
                        </a:lnSpc>
                        <a:spcBef>
                          <a:spcPts val="45"/>
                        </a:spcBef>
                        <a:buClr>
                          <a:srgbClr val="7500C0"/>
                        </a:buClr>
                        <a:buFont typeface="Arial"/>
                        <a:buChar char="▪"/>
                      </a:pPr>
                      <a:r>
                        <a:rPr lang="es" sz="700" b="0" i="0">
                          <a:solidFill>
                            <a:srgbClr val="4B2E83"/>
                          </a:solidFill>
                          <a:latin typeface="Graphik"/>
                          <a:cs typeface="Graphik"/>
                        </a:rPr>
                        <a:t>HashiCorp Vault</a:t>
                      </a:r>
                    </a:p>
                    <a:p>
                      <a:pPr marL="150000" indent="-150000" algn="l">
                        <a:lnSpc>
                          <a:spcPct val="104000"/>
                        </a:lnSpc>
                        <a:spcBef>
                          <a:spcPts val="45"/>
                        </a:spcBef>
                        <a:buClr>
                          <a:srgbClr val="7500C0"/>
                        </a:buClr>
                        <a:buFont typeface="Arial"/>
                        <a:buChar char="▪"/>
                      </a:pPr>
                      <a:r>
                        <a:rPr lang="es" sz="700" b="0" i="0">
                          <a:solidFill>
                            <a:srgbClr val="4B2E83"/>
                          </a:solidFill>
                          <a:latin typeface="Graphik"/>
                          <a:cs typeface="Graphik"/>
                        </a:rPr>
                        <a:t>Gestor de Secretos de AWS</a:t>
                      </a:r>
                    </a:p>
                    <a:p>
                      <a:pPr marL="150000" indent="-150000" algn="l">
                        <a:lnSpc>
                          <a:spcPct val="104000"/>
                        </a:lnSpc>
                        <a:spcBef>
                          <a:spcPts val="45"/>
                        </a:spcBef>
                        <a:buClr>
                          <a:srgbClr val="7500C0"/>
                        </a:buClr>
                        <a:buFont typeface="Arial"/>
                        <a:buChar char="▪"/>
                      </a:pPr>
                      <a:r>
                        <a:rPr lang="es" sz="700" b="0" i="0">
                          <a:solidFill>
                            <a:srgbClr val="4B2E83"/>
                          </a:solidFill>
                          <a:latin typeface="Graphik"/>
                          <a:cs typeface="Graphik"/>
                        </a:rPr>
                        <a:t>Secretos de Kubernetes</a:t>
                      </a:r>
                    </a:p>
                    <a:p>
                      <a:pPr marL="150000" indent="-150000" algn="l">
                        <a:lnSpc>
                          <a:spcPct val="104000"/>
                        </a:lnSpc>
                        <a:spcBef>
                          <a:spcPts val="45"/>
                        </a:spcBef>
                        <a:buClr>
                          <a:srgbClr val="7500C0"/>
                        </a:buClr>
                        <a:buFont typeface="Arial"/>
                        <a:buChar char="▪"/>
                      </a:pPr>
                      <a:r>
                        <a:rPr lang="es" sz="700" b="0" i="0">
                          <a:solidFill>
                            <a:srgbClr val="4B2E83"/>
                          </a:solidFill>
                          <a:latin typeface="Graphik"/>
                          <a:cs typeface="Graphik"/>
                        </a:rPr>
                        <a:t>Gestión de certificados SSL</a:t>
                      </a:r>
                    </a:p>
                    <a:p>
                      <a:pPr marL="150000" indent="-150000" algn="l">
                        <a:lnSpc>
                          <a:spcPct val="104000"/>
                        </a:lnSpc>
                        <a:spcBef>
                          <a:spcPts val="45"/>
                        </a:spcBef>
                        <a:buClr>
                          <a:srgbClr val="7500C0"/>
                        </a:buClr>
                        <a:buFont typeface="Arial"/>
                        <a:buChar char="▪"/>
                      </a:pPr>
                      <a:r>
                        <a:rPr lang="es" sz="700" b="0" i="0">
                          <a:solidFill>
                            <a:srgbClr val="4B2E83"/>
                          </a:solidFill>
                          <a:latin typeface="Graphik"/>
                          <a:cs typeface="Graphik"/>
                        </a:rPr>
                        <a:t>HSM para operaciones críticas de clave</a:t>
                      </a:r>
                    </a:p>
                  </a:txBody>
                  <a:tcPr marL="82000" marR="82000" marT="38000" marB="38000" anchor="ctr">
                    <a:solidFill>
                      <a:srgbClr val="FFFFFF"/>
                    </a:solidFill>
                  </a:tcPr>
                </a:tc>
                <a:extLst>
                  <a:ext uri="{0D108BD9-81ED-4DB2-BD59-A6C34878D82A}">
                    <a16:rowId xmlns:a16="http://schemas.microsoft.com/office/drawing/2014/main" val="10003"/>
                  </a:ext>
                </a:extLst>
              </a:tr>
              <a:tr h="975110">
                <a:tc>
                  <a:txBody>
                    <a:bodyPr/>
                    <a:lstStyle/>
                    <a:p>
                      <a:pPr marL="0" indent="0" algn="l">
                        <a:lnSpc>
                          <a:spcPct val="104000"/>
                        </a:lnSpc>
                        <a:spcBef>
                          <a:spcPts val="30"/>
                        </a:spcBef>
                        <a:buNone/>
                      </a:pPr>
                      <a:r>
                        <a:rPr lang="es" sz="800" b="1" i="0">
                          <a:solidFill>
                            <a:srgbClr val="9B7BC7"/>
                          </a:solidFill>
                          <a:latin typeface="Graphik"/>
                          <a:cs typeface="Graphik"/>
                        </a:rPr>
                        <a:t>1.4  </a:t>
                      </a:r>
                      <a:r>
                        <a:rPr lang="es" sz="800" b="1" i="0">
                          <a:solidFill>
                            <a:srgbClr val="7500C0"/>
                          </a:solidFill>
                          <a:latin typeface="Graphik"/>
                          <a:cs typeface="Graphik"/>
                        </a:rPr>
                        <a:t>Protección contra amenazas</a:t>
                      </a:r>
                    </a:p>
                  </a:txBody>
                  <a:tcPr marL="82000" marR="82000" marT="38000" marB="38000" anchor="ctr">
                    <a:solidFill>
                      <a:srgbClr val="E9DEF4"/>
                    </a:solidFill>
                  </a:tcPr>
                </a:tc>
                <a:tc>
                  <a:txBody>
                    <a:bodyPr/>
                    <a:lstStyle/>
                    <a:p>
                      <a:pPr marL="0" indent="0" algn="l">
                        <a:lnSpc>
                          <a:spcPct val="108000"/>
                        </a:lnSpc>
                        <a:spcBef>
                          <a:spcPts val="30"/>
                        </a:spcBef>
                        <a:buNone/>
                      </a:pPr>
                      <a:r>
                        <a:rPr lang="es" sz="800" b="0" i="0">
                          <a:solidFill>
                            <a:srgbClr val="2B2B2B"/>
                          </a:solidFill>
                          <a:latin typeface="Graphik"/>
                          <a:cs typeface="Graphik"/>
                        </a:rPr>
                        <a:t>Detección y mitigación de tráfico hostil y técnicas de ataque en tiempo de ejecución en el perímetro, en la capa API y dentro del contenedor y plataformas de streaming.</a:t>
                      </a:r>
                    </a:p>
                  </a:txBody>
                  <a:tcPr marL="82000" marR="82000" marT="38000" marB="38000" anchor="ctr">
                    <a:solidFill>
                      <a:srgbClr val="F6F2FB"/>
                    </a:solidFill>
                  </a:tcPr>
                </a:tc>
                <a:tc>
                  <a:txBody>
                    <a:bodyPr/>
                    <a:lstStyle/>
                    <a:p>
                      <a:pPr marL="0" indent="0" algn="l">
                        <a:lnSpc>
                          <a:spcPct val="108000"/>
                        </a:lnSpc>
                        <a:spcBef>
                          <a:spcPts val="30"/>
                        </a:spcBef>
                        <a:buNone/>
                      </a:pPr>
                      <a:r>
                        <a:rPr lang="es" sz="800" b="0" i="0" dirty="0">
                          <a:solidFill>
                            <a:srgbClr val="444444"/>
                          </a:solidFill>
                          <a:latin typeface="Graphik"/>
                          <a:cs typeface="Graphik"/>
                        </a:rPr>
                        <a:t>Protege la superficie de ataque ensanchada que necesariamente crea el desacoplamiento, en las capas donde la exposición es mayor.</a:t>
                      </a:r>
                    </a:p>
                  </a:txBody>
                  <a:tcPr marL="82000" marR="82000" marT="38000" marB="38000" anchor="ctr">
                    <a:solidFill>
                      <a:srgbClr val="F6F2FB"/>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Imperva WAF</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Cloud Armor</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AWS Shield</a:t>
                      </a:r>
                    </a:p>
                    <a:p>
                      <a:pPr marL="150000" indent="-150000" algn="l">
                        <a:lnSpc>
                          <a:spcPct val="104000"/>
                        </a:lnSpc>
                        <a:spcBef>
                          <a:spcPts val="45"/>
                        </a:spcBef>
                        <a:buClr>
                          <a:srgbClr val="7500C0"/>
                        </a:buClr>
                        <a:buFont typeface="Arial"/>
                        <a:buChar char="▪"/>
                      </a:pPr>
                      <a:r>
                        <a:rPr lang="es-ES" sz="700" b="0" i="0" dirty="0" err="1">
                          <a:solidFill>
                            <a:srgbClr val="4B2E83"/>
                          </a:solidFill>
                          <a:latin typeface="Graphik"/>
                          <a:cs typeface="Graphik"/>
                        </a:rPr>
                        <a:t>APIgee</a:t>
                      </a:r>
                      <a:r>
                        <a:rPr lang="es" sz="700" b="0" i="0" dirty="0">
                          <a:solidFill>
                            <a:srgbClr val="4B2E83"/>
                          </a:solidFill>
                          <a:latin typeface="Graphik"/>
                          <a:cs typeface="Graphik"/>
                        </a:rPr>
                        <a:t> OAuth/rate limit</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Istio Service Mesh</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Exabeam SIEM</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HashiCorp Vault y controles de bastionado</a:t>
                      </a:r>
                    </a:p>
                  </a:txBody>
                  <a:tcPr marL="82000" marR="82000" marT="38000" marB="38000" anchor="ctr">
                    <a:solidFill>
                      <a:srgbClr val="F6F2FB"/>
                    </a:solidFill>
                  </a:tcPr>
                </a:tc>
                <a:extLst>
                  <a:ext uri="{0D108BD9-81ED-4DB2-BD59-A6C34878D82A}">
                    <a16:rowId xmlns:a16="http://schemas.microsoft.com/office/drawing/2014/main" val="10004"/>
                  </a:ext>
                </a:extLst>
              </a:tr>
              <a:tr h="849380">
                <a:tc>
                  <a:txBody>
                    <a:bodyPr/>
                    <a:lstStyle/>
                    <a:p>
                      <a:pPr marL="0" indent="0" algn="l">
                        <a:lnSpc>
                          <a:spcPct val="104000"/>
                        </a:lnSpc>
                        <a:spcBef>
                          <a:spcPts val="30"/>
                        </a:spcBef>
                        <a:buNone/>
                      </a:pPr>
                      <a:r>
                        <a:rPr lang="es" sz="800" b="1" i="0">
                          <a:solidFill>
                            <a:srgbClr val="9B7BC7"/>
                          </a:solidFill>
                          <a:latin typeface="Graphik"/>
                          <a:cs typeface="Graphik"/>
                        </a:rPr>
                        <a:t>1.5  </a:t>
                      </a:r>
                      <a:r>
                        <a:rPr lang="es" sz="800" b="1" i="0">
                          <a:solidFill>
                            <a:srgbClr val="7500C0"/>
                          </a:solidFill>
                          <a:latin typeface="Graphik"/>
                          <a:cs typeface="Graphik"/>
                        </a:rPr>
                        <a:t>Gestión de vulnerabilidades y amenazas (VTM)</a:t>
                      </a:r>
                    </a:p>
                  </a:txBody>
                  <a:tcPr marL="82000" marR="82000" marT="38000" marB="38000" anchor="ctr">
                    <a:solidFill>
                      <a:srgbClr val="EFE7F7"/>
                    </a:solidFill>
                  </a:tcPr>
                </a:tc>
                <a:tc>
                  <a:txBody>
                    <a:bodyPr/>
                    <a:lstStyle/>
                    <a:p>
                      <a:pPr marL="0" indent="0" algn="l">
                        <a:lnSpc>
                          <a:spcPct val="108000"/>
                        </a:lnSpc>
                        <a:spcBef>
                          <a:spcPts val="30"/>
                        </a:spcBef>
                        <a:buNone/>
                      </a:pPr>
                      <a:r>
                        <a:rPr lang="es" sz="800" b="0" i="0" dirty="0">
                          <a:solidFill>
                            <a:srgbClr val="2B2B2B"/>
                          </a:solidFill>
                          <a:latin typeface="Graphik"/>
                          <a:cs typeface="Graphik"/>
                        </a:rPr>
                        <a:t>Identificación, priorización y remediación continua de vulnerabilidades en librerias, imágenes, plataformas e interfaces, incluyendo pruebas adversariales.</a:t>
                      </a:r>
                    </a:p>
                  </a:txBody>
                  <a:tcPr marL="82000" marR="82000" marT="38000" marB="38000" anchor="ctr">
                    <a:solidFill>
                      <a:srgbClr val="FFFFFF"/>
                    </a:solidFill>
                  </a:tcPr>
                </a:tc>
                <a:tc>
                  <a:txBody>
                    <a:bodyPr/>
                    <a:lstStyle/>
                    <a:p>
                      <a:pPr marL="0" indent="0" algn="l">
                        <a:lnSpc>
                          <a:spcPct val="108000"/>
                        </a:lnSpc>
                        <a:spcBef>
                          <a:spcPts val="30"/>
                        </a:spcBef>
                        <a:buNone/>
                      </a:pPr>
                      <a:r>
                        <a:rPr lang="es" sz="800" b="0" i="0" dirty="0">
                          <a:solidFill>
                            <a:srgbClr val="444444"/>
                          </a:solidFill>
                          <a:latin typeface="Graphik"/>
                          <a:cs typeface="Graphik"/>
                        </a:rPr>
                        <a:t>Aborda directamente el coste y el tiempo dedicado a gestionar vulnerabilidades en un gran conjunto de microservicios, el objetivo declarado detrás de curar librerias base y eliminar dependencias innecesarias.</a:t>
                      </a:r>
                    </a:p>
                  </a:txBody>
                  <a:tcPr marL="82000" marR="82000" marT="38000" marB="38000" anchor="ctr">
                    <a:solidFill>
                      <a:srgbClr val="FFFFFF"/>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Puertas de seguridad de DevSecOps</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Prácticas SAST/DAST</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SonarQube y OWASP ZAP referenciados para la seguridad de la pipeline</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Validación de bastionado</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Escaneos de vulnerabilidades</a:t>
                      </a:r>
                    </a:p>
                  </a:txBody>
                  <a:tcPr marL="82000" marR="82000" marT="38000" marB="38000" anchor="ctr">
                    <a:solidFill>
                      <a:srgbClr val="FFFFFF"/>
                    </a:solidFill>
                  </a:tcPr>
                </a:tc>
                <a:extLst>
                  <a:ext uri="{0D108BD9-81ED-4DB2-BD59-A6C34878D82A}">
                    <a16:rowId xmlns:a16="http://schemas.microsoft.com/office/drawing/2014/main" val="10005"/>
                  </a:ext>
                </a:extLst>
              </a:tr>
              <a:tr h="597920">
                <a:tc>
                  <a:txBody>
                    <a:bodyPr/>
                    <a:lstStyle/>
                    <a:p>
                      <a:pPr marL="0" indent="0" algn="l">
                        <a:lnSpc>
                          <a:spcPct val="104000"/>
                        </a:lnSpc>
                        <a:spcBef>
                          <a:spcPts val="30"/>
                        </a:spcBef>
                        <a:buNone/>
                      </a:pPr>
                      <a:r>
                        <a:rPr lang="es" sz="800" b="1" i="0">
                          <a:solidFill>
                            <a:srgbClr val="9B7BC7"/>
                          </a:solidFill>
                          <a:latin typeface="Graphik"/>
                          <a:cs typeface="Graphik"/>
                        </a:rPr>
                        <a:t>1.6  </a:t>
                      </a:r>
                      <a:r>
                        <a:rPr lang="es" sz="800" b="1" i="0">
                          <a:solidFill>
                            <a:srgbClr val="7500C0"/>
                          </a:solidFill>
                          <a:latin typeface="Graphik"/>
                          <a:cs typeface="Graphik"/>
                        </a:rPr>
                        <a:t>Observabilidad y respuesta de seguridad</a:t>
                      </a:r>
                    </a:p>
                  </a:txBody>
                  <a:tcPr marL="82000" marR="82000" marT="38000" marB="38000" anchor="ctr">
                    <a:solidFill>
                      <a:srgbClr val="E9DEF4"/>
                    </a:solidFill>
                  </a:tcPr>
                </a:tc>
                <a:tc>
                  <a:txBody>
                    <a:bodyPr/>
                    <a:lstStyle/>
                    <a:p>
                      <a:pPr marL="0" indent="0" algn="l">
                        <a:lnSpc>
                          <a:spcPct val="108000"/>
                        </a:lnSpc>
                        <a:spcBef>
                          <a:spcPts val="30"/>
                        </a:spcBef>
                        <a:buNone/>
                      </a:pPr>
                      <a:r>
                        <a:rPr lang="es" sz="800" b="0" i="0">
                          <a:solidFill>
                            <a:srgbClr val="2B2B2B"/>
                          </a:solidFill>
                          <a:latin typeface="Graphik"/>
                          <a:cs typeface="Graphik"/>
                        </a:rPr>
                        <a:t>Telemetría, correlación, alertas, paneles de control y respuesta automatizada específicos de seguridad se basan en la columna vertebral de observabilidad compartida.</a:t>
                      </a:r>
                    </a:p>
                  </a:txBody>
                  <a:tcPr marL="82000" marR="82000" marT="38000" marB="38000" anchor="ctr">
                    <a:solidFill>
                      <a:srgbClr val="F6F2FB"/>
                    </a:solidFill>
                  </a:tcPr>
                </a:tc>
                <a:tc>
                  <a:txBody>
                    <a:bodyPr/>
                    <a:lstStyle/>
                    <a:p>
                      <a:pPr marL="0" indent="0" algn="l">
                        <a:lnSpc>
                          <a:spcPct val="108000"/>
                        </a:lnSpc>
                        <a:spcBef>
                          <a:spcPts val="30"/>
                        </a:spcBef>
                        <a:buNone/>
                      </a:pPr>
                      <a:r>
                        <a:rPr lang="es" sz="800" b="0" i="0">
                          <a:solidFill>
                            <a:srgbClr val="444444"/>
                          </a:solidFill>
                          <a:latin typeface="Graphik"/>
                          <a:cs typeface="Graphik"/>
                        </a:rPr>
                        <a:t>Cierra la brecha más observada en los programas de interoperabilidad: la telemetría de seguridad existe en fragmentos y no existe capacidad de respuesta automatizada.</a:t>
                      </a:r>
                    </a:p>
                  </a:txBody>
                  <a:tcPr marL="82000" marR="82000" marT="38000" marB="38000" anchor="ctr">
                    <a:solidFill>
                      <a:srgbClr val="F6F2FB"/>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Exabeam SIEM para detección de amenazas</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DataDog para paneles de seguridad/operativos</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CloudTrail/CloudWatch donde se utilizan los servicios de AWS</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Escalada del incidente a través de Operaciones/Seguridad</a:t>
                      </a:r>
                    </a:p>
                  </a:txBody>
                  <a:tcPr marL="82000" marR="82000" marT="38000" marB="38000" anchor="ctr">
                    <a:solidFill>
                      <a:srgbClr val="F6F2FB"/>
                    </a:solidFill>
                  </a:tcPr>
                </a:tc>
                <a:extLst>
                  <a:ext uri="{0D108BD9-81ED-4DB2-BD59-A6C34878D82A}">
                    <a16:rowId xmlns:a16="http://schemas.microsoft.com/office/drawing/2014/main" val="10006"/>
                  </a:ext>
                </a:extLst>
              </a:tr>
            </a:tbl>
          </a:graphicData>
        </a:graphic>
      </p:graphicFrame>
      <p:sp>
        <p:nvSpPr>
          <p:cNvPr id="2" name="TextBox 1">
            <a:extLst>
              <a:ext uri="{FF2B5EF4-FFF2-40B4-BE49-F238E27FC236}">
                <a16:creationId xmlns:a16="http://schemas.microsoft.com/office/drawing/2014/main" id="{9427903C-2D22-8245-3F0F-C390C4FF4EA0}"/>
              </a:ext>
            </a:extLst>
          </p:cNvPr>
          <p:cNvSpPr txBox="1"/>
          <p:nvPr/>
        </p:nvSpPr>
        <p:spPr>
          <a:xfrm>
            <a:off x="5568950" y="2936875"/>
            <a:ext cx="914400" cy="914400"/>
          </a:xfrm>
          <a:prstGeom prst="rect">
            <a:avLst/>
          </a:prstGeom>
          <a:noFill/>
        </p:spPr>
        <p:txBody>
          <a:bodyPr wrap="square" lIns="0" tIns="0" rIns="0" bIns="0" rtlCol="0">
            <a:noAutofit/>
          </a:bodyPr>
          <a:lstStyle/>
          <a:p>
            <a:pPr algn="l" defTabSz="228600">
              <a:spcAft>
                <a:spcPts val="1200"/>
              </a:spcAft>
            </a:pPr>
            <a:endParaRPr lang="en-US" noProof="0"/>
          </a:p>
        </p:txBody>
      </p:sp>
      <p:sp>
        <p:nvSpPr>
          <p:cNvPr id="5" name="TextBox 4">
            <a:extLst>
              <a:ext uri="{FF2B5EF4-FFF2-40B4-BE49-F238E27FC236}">
                <a16:creationId xmlns:a16="http://schemas.microsoft.com/office/drawing/2014/main" id="{192A48E1-0CD4-BC41-CA5D-FCA62F53A37E}"/>
              </a:ext>
            </a:extLst>
          </p:cNvPr>
          <p:cNvSpPr txBox="1"/>
          <p:nvPr/>
        </p:nvSpPr>
        <p:spPr>
          <a:xfrm>
            <a:off x="5568950" y="2936875"/>
            <a:ext cx="914400" cy="914400"/>
          </a:xfrm>
          <a:prstGeom prst="rect">
            <a:avLst/>
          </a:prstGeom>
          <a:noFill/>
        </p:spPr>
        <p:txBody>
          <a:bodyPr wrap="square" lIns="0" tIns="0" rIns="0" bIns="0" rtlCol="0">
            <a:noAutofit/>
          </a:bodyPr>
          <a:lstStyle/>
          <a:p>
            <a:pPr algn="l" defTabSz="228600">
              <a:spcAft>
                <a:spcPts val="1200"/>
              </a:spcAft>
            </a:pPr>
            <a:endParaRPr lang="en-US" noProof="0"/>
          </a:p>
        </p:txBody>
      </p:sp>
      <p:grpSp>
        <p:nvGrpSpPr>
          <p:cNvPr id="8" name="Group 7">
            <a:extLst>
              <a:ext uri="{FF2B5EF4-FFF2-40B4-BE49-F238E27FC236}">
                <a16:creationId xmlns:a16="http://schemas.microsoft.com/office/drawing/2014/main" id="{C9322907-149E-AEE6-EEAB-4445FF66264A}"/>
              </a:ext>
            </a:extLst>
          </p:cNvPr>
          <p:cNvGrpSpPr/>
          <p:nvPr/>
        </p:nvGrpSpPr>
        <p:grpSpPr>
          <a:xfrm>
            <a:off x="717042" y="6191083"/>
            <a:ext cx="4001014" cy="631639"/>
            <a:chOff x="717042" y="6191083"/>
            <a:chExt cx="4001014" cy="631639"/>
          </a:xfrm>
        </p:grpSpPr>
        <p:sp>
          <p:nvSpPr>
            <p:cNvPr id="22" name="Rectangle 21">
              <a:extLst>
                <a:ext uri="{FF2B5EF4-FFF2-40B4-BE49-F238E27FC236}">
                  <a16:creationId xmlns:a16="http://schemas.microsoft.com/office/drawing/2014/main" id="{A2488ABE-AB11-AB05-27E9-BEAAD693DB92}"/>
                </a:ext>
              </a:extLst>
            </p:cNvPr>
            <p:cNvSpPr>
              <a:spLocks noChangeAspect="1"/>
            </p:cNvSpPr>
            <p:nvPr/>
          </p:nvSpPr>
          <p:spPr>
            <a:xfrm>
              <a:off x="1936749" y="6410745"/>
              <a:ext cx="774645" cy="202427"/>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dirty="0"/>
                <a:t>GAP</a:t>
              </a:r>
            </a:p>
          </p:txBody>
        </p:sp>
        <p:sp>
          <p:nvSpPr>
            <p:cNvPr id="25" name="Rectangle 24">
              <a:extLst>
                <a:ext uri="{FF2B5EF4-FFF2-40B4-BE49-F238E27FC236}">
                  <a16:creationId xmlns:a16="http://schemas.microsoft.com/office/drawing/2014/main" id="{AD786B3F-5692-417F-1E68-59C7FFD00491}"/>
                </a:ext>
              </a:extLst>
            </p:cNvPr>
            <p:cNvSpPr>
              <a:spLocks noChangeAspect="1"/>
            </p:cNvSpPr>
            <p:nvPr/>
          </p:nvSpPr>
          <p:spPr>
            <a:xfrm>
              <a:off x="1936749" y="6191083"/>
              <a:ext cx="774645" cy="202427"/>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Objetivo</a:t>
              </a:r>
            </a:p>
          </p:txBody>
        </p:sp>
        <p:sp>
          <p:nvSpPr>
            <p:cNvPr id="27" name="Rectangle 26">
              <a:extLst>
                <a:ext uri="{FF2B5EF4-FFF2-40B4-BE49-F238E27FC236}">
                  <a16:creationId xmlns:a16="http://schemas.microsoft.com/office/drawing/2014/main" id="{235BB3AF-AF1B-1388-D053-9861F7ACD8EB}"/>
                </a:ext>
              </a:extLst>
            </p:cNvPr>
            <p:cNvSpPr>
              <a:spLocks noChangeAspect="1"/>
            </p:cNvSpPr>
            <p:nvPr/>
          </p:nvSpPr>
          <p:spPr>
            <a:xfrm>
              <a:off x="1936749" y="6620295"/>
              <a:ext cx="774645" cy="202427"/>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Descartar</a:t>
              </a:r>
            </a:p>
          </p:txBody>
        </p:sp>
        <p:sp>
          <p:nvSpPr>
            <p:cNvPr id="29" name="Oval 28">
              <a:extLst>
                <a:ext uri="{FF2B5EF4-FFF2-40B4-BE49-F238E27FC236}">
                  <a16:creationId xmlns:a16="http://schemas.microsoft.com/office/drawing/2014/main" id="{61E26A7D-4BBF-55E1-3AFA-75C91001880A}"/>
                </a:ext>
              </a:extLst>
            </p:cNvPr>
            <p:cNvSpPr>
              <a:spLocks noChangeAspect="1"/>
            </p:cNvSpPr>
            <p:nvPr/>
          </p:nvSpPr>
          <p:spPr>
            <a:xfrm>
              <a:off x="4077214" y="6226238"/>
              <a:ext cx="640842" cy="184507"/>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700"/>
                <a:t>Alto</a:t>
              </a:r>
            </a:p>
          </p:txBody>
        </p:sp>
        <p:sp>
          <p:nvSpPr>
            <p:cNvPr id="31" name="Rectangle 30">
              <a:extLst>
                <a:ext uri="{FF2B5EF4-FFF2-40B4-BE49-F238E27FC236}">
                  <a16:creationId xmlns:a16="http://schemas.microsoft.com/office/drawing/2014/main" id="{73C81BF7-0834-B669-4067-755CC4F8F59B}"/>
                </a:ext>
              </a:extLst>
            </p:cNvPr>
            <p:cNvSpPr>
              <a:spLocks noChangeAspect="1"/>
            </p:cNvSpPr>
            <p:nvPr/>
          </p:nvSpPr>
          <p:spPr>
            <a:xfrm>
              <a:off x="717042" y="6283336"/>
              <a:ext cx="1022032" cy="455578"/>
            </a:xfrm>
            <a:prstGeom prst="rect">
              <a:avLst/>
            </a:prstGeom>
            <a:solidFill>
              <a:srgbClr val="7500C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Evaluación de capacidades</a:t>
              </a:r>
            </a:p>
          </p:txBody>
        </p:sp>
        <p:sp>
          <p:nvSpPr>
            <p:cNvPr id="33" name="Rectangle 32">
              <a:extLst>
                <a:ext uri="{FF2B5EF4-FFF2-40B4-BE49-F238E27FC236}">
                  <a16:creationId xmlns:a16="http://schemas.microsoft.com/office/drawing/2014/main" id="{408BEE29-1CEE-69D0-0C96-29FA2EA02B39}"/>
                </a:ext>
              </a:extLst>
            </p:cNvPr>
            <p:cNvSpPr>
              <a:spLocks noChangeAspect="1"/>
            </p:cNvSpPr>
            <p:nvPr/>
          </p:nvSpPr>
          <p:spPr>
            <a:xfrm>
              <a:off x="2816387" y="6282396"/>
              <a:ext cx="1022032" cy="455578"/>
            </a:xfrm>
            <a:prstGeom prst="rect">
              <a:avLst/>
            </a:prstGeom>
            <a:solidFill>
              <a:srgbClr val="7500C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Prioridad</a:t>
              </a:r>
            </a:p>
          </p:txBody>
        </p:sp>
        <p:sp>
          <p:nvSpPr>
            <p:cNvPr id="35" name="Oval 34">
              <a:extLst>
                <a:ext uri="{FF2B5EF4-FFF2-40B4-BE49-F238E27FC236}">
                  <a16:creationId xmlns:a16="http://schemas.microsoft.com/office/drawing/2014/main" id="{8348E351-BF9C-7643-567A-1393F5FED931}"/>
                </a:ext>
              </a:extLst>
            </p:cNvPr>
            <p:cNvSpPr>
              <a:spLocks noChangeAspect="1"/>
            </p:cNvSpPr>
            <p:nvPr/>
          </p:nvSpPr>
          <p:spPr>
            <a:xfrm>
              <a:off x="4077214" y="6435788"/>
              <a:ext cx="640842" cy="184507"/>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700"/>
                <a:t>Medio</a:t>
              </a:r>
            </a:p>
          </p:txBody>
        </p:sp>
        <p:sp>
          <p:nvSpPr>
            <p:cNvPr id="37" name="Oval 36">
              <a:extLst>
                <a:ext uri="{FF2B5EF4-FFF2-40B4-BE49-F238E27FC236}">
                  <a16:creationId xmlns:a16="http://schemas.microsoft.com/office/drawing/2014/main" id="{0C5104FF-8303-CCA3-17BE-A2FE43B0383C}"/>
                </a:ext>
              </a:extLst>
            </p:cNvPr>
            <p:cNvSpPr>
              <a:spLocks noChangeAspect="1"/>
            </p:cNvSpPr>
            <p:nvPr/>
          </p:nvSpPr>
          <p:spPr>
            <a:xfrm>
              <a:off x="4077214" y="6633421"/>
              <a:ext cx="640842" cy="184507"/>
            </a:xfrm>
            <a:prstGeom prst="ellipse">
              <a:avLst/>
            </a:prstGeom>
            <a:solidFill>
              <a:srgbClr val="DCAFFF"/>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700"/>
                <a:t>Bajo</a:t>
              </a:r>
            </a:p>
          </p:txBody>
        </p:sp>
      </p:grpSp>
      <p:sp>
        <p:nvSpPr>
          <p:cNvPr id="7" name="TextBox 6">
            <a:extLst>
              <a:ext uri="{FF2B5EF4-FFF2-40B4-BE49-F238E27FC236}">
                <a16:creationId xmlns:a16="http://schemas.microsoft.com/office/drawing/2014/main" id="{84D99EB8-AA97-95E6-A9E5-8BA0EA2E6444}"/>
              </a:ext>
            </a:extLst>
          </p:cNvPr>
          <p:cNvSpPr txBox="1"/>
          <p:nvPr>
            <p:extLst>
              <p:ext uri="{1162E1C5-73C7-4A58-AE30-91384D911F3F}">
                <p184:classification xmlns:p184="http://schemas.microsoft.com/office/powerpoint/2018/4/main" val="hdr"/>
              </p:ext>
            </p:extLst>
          </p:nvPr>
        </p:nvSpPr>
        <p:spPr>
          <a:xfrm>
            <a:off x="379000" y="78170"/>
            <a:ext cx="11432000" cy="154830"/>
          </a:xfrm>
          <a:prstGeom prst="rect">
            <a:avLst/>
          </a:prstGeom>
        </p:spPr>
        <p:txBody>
          <a:bodyPr horzOverflow="overflow"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000" b="0" i="0" u="none" strike="noStrike" kern="1200" cap="none" spc="0" normalizeH="0" baseline="0" noProof="0">
                <a:ln>
                  <a:noFill/>
                </a:ln>
                <a:solidFill>
                  <a:srgbClr val="000000"/>
                </a:solidFill>
                <a:effectLst/>
                <a:uLnTx/>
                <a:uFillTx/>
                <a:latin typeface="Graphik (Body)"/>
                <a:ea typeface="+mn-ea"/>
                <a:cs typeface="Calibri" panose="020F0502020204030204" pitchFamily="34" charset="0"/>
              </a:rPr>
              <a:t>*** Confidencial - Solo para uso interno de la empresa ***</a:t>
            </a:r>
          </a:p>
        </p:txBody>
      </p:sp>
    </p:spTree>
    <p:extLst>
      <p:ext uri="{BB962C8B-B14F-4D97-AF65-F5344CB8AC3E}">
        <p14:creationId xmlns:p14="http://schemas.microsoft.com/office/powerpoint/2010/main" val="11453989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019FDD-725F-8534-EA90-E2044594B0D3}"/>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5CB0F6D9-5E92-5EB1-4799-BC6659D85A5C}"/>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alpha val="65000"/>
                  </a:srgbClr>
                </a:solidFill>
                <a:effectLst/>
                <a:uLnTx/>
                <a:uFillTx/>
                <a:latin typeface="Graphik"/>
                <a:ea typeface="+mn-ea"/>
                <a:cs typeface="+mn-cs"/>
              </a:rPr>
              <a:t>Copyright © 2026 Accenture. Todos los derechos reservados.</a:t>
            </a:r>
          </a:p>
        </p:txBody>
      </p:sp>
      <p:sp>
        <p:nvSpPr>
          <p:cNvPr id="4" name="Slide Number Placeholder 3">
            <a:extLst>
              <a:ext uri="{FF2B5EF4-FFF2-40B4-BE49-F238E27FC236}">
                <a16:creationId xmlns:a16="http://schemas.microsoft.com/office/drawing/2014/main" id="{3A721E09-FCBD-84FA-9776-B48A42155AF5}"/>
              </a:ext>
            </a:extLst>
          </p:cNvPr>
          <p:cNvSpPr>
            <a:spLocks noGrp="1"/>
          </p:cNvSpPr>
          <p:nvPr>
            <p:ph type="sldNum" sz="quarter" idx="429496729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Graphik"/>
                <a:ea typeface="+mn-ea"/>
                <a:cs typeface="+mn-cs"/>
              </a:rPr>
              <a:t> </a:t>
            </a:r>
          </a:p>
        </p:txBody>
      </p:sp>
      <p:sp>
        <p:nvSpPr>
          <p:cNvPr id="23" name="Title 1">
            <a:extLst>
              <a:ext uri="{FF2B5EF4-FFF2-40B4-BE49-F238E27FC236}">
                <a16:creationId xmlns:a16="http://schemas.microsoft.com/office/drawing/2014/main" id="{5844AA0A-B29E-375C-3DEA-15A60CE0BEC5}"/>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a:ln>
                  <a:noFill/>
                </a:ln>
                <a:solidFill>
                  <a:srgbClr val="7500C0"/>
                </a:solidFill>
                <a:effectLst/>
                <a:uLnTx/>
                <a:uFillTx/>
                <a:latin typeface="Graphik"/>
                <a:ea typeface="+mj-ea"/>
                <a:cs typeface="+mj-cs"/>
              </a:rPr>
              <a:t>Arquitectura de Interoperabilidad </a:t>
            </a:r>
            <a:r>
              <a:rPr kumimoji="0" lang="es" sz="2400" b="1" i="0" u="none" strike="noStrike" kern="1200" cap="none" spc="0" normalizeH="0" baseline="0" noProof="0">
                <a:ln>
                  <a:noFill/>
                </a:ln>
                <a:solidFill>
                  <a:srgbClr val="000000"/>
                </a:solidFill>
                <a:effectLst/>
                <a:uLnTx/>
                <a:uFillTx/>
                <a:latin typeface="Graphik"/>
                <a:ea typeface="+mj-ea"/>
                <a:cs typeface="+mj-cs"/>
              </a:rPr>
              <a:t>| </a:t>
            </a:r>
            <a:r>
              <a:rPr kumimoji="0" lang="es" sz="2000" b="1" i="0" u="none" strike="noStrike" kern="1200" cap="none" spc="0" normalizeH="0" baseline="0" noProof="0">
                <a:ln>
                  <a:noFill/>
                </a:ln>
                <a:solidFill>
                  <a:srgbClr val="000000"/>
                </a:solidFill>
                <a:effectLst/>
                <a:uLnTx/>
                <a:uFillTx/>
                <a:latin typeface="Graphik"/>
                <a:ea typeface="+mj-ea"/>
                <a:cs typeface="+mj-cs"/>
              </a:rPr>
              <a:t>Observabilidad</a:t>
            </a:r>
            <a:endParaRPr kumimoji="0" lang="es" sz="2400" b="1" i="0" u="none" strike="noStrike" kern="1200" cap="none" spc="0" normalizeH="0" baseline="0" noProof="0">
              <a:ln>
                <a:noFill/>
              </a:ln>
              <a:solidFill>
                <a:srgbClr val="000000"/>
              </a:solidFill>
              <a:effectLst/>
              <a:uLnTx/>
              <a:uFillTx/>
              <a:latin typeface="Graphik"/>
              <a:ea typeface="+mj-ea"/>
              <a:cs typeface="+mj-cs"/>
            </a:endParaRPr>
          </a:p>
        </p:txBody>
      </p:sp>
      <p:sp>
        <p:nvSpPr>
          <p:cNvPr id="131" name="Kicker"/>
          <p:cNvSpPr txBox="1"/>
          <p:nvPr/>
        </p:nvSpPr>
        <p:spPr>
          <a:xfrm>
            <a:off x="381000" y="775000"/>
            <a:ext cx="10200000" cy="200000"/>
          </a:xfrm>
          <a:prstGeom prst="rect">
            <a:avLst/>
          </a:prstGeom>
        </p:spPr>
        <p:txBody>
          <a:bodyPr lIns="0" tIns="0" rIns="0" bIns="0"/>
          <a:lstStyle/>
          <a:p>
            <a:pPr marL="0" indent="0" algn="l">
              <a:lnSpc>
                <a:spcPct val="104000"/>
              </a:lnSpc>
              <a:spcBef>
                <a:spcPts val="30"/>
              </a:spcBef>
              <a:buNone/>
            </a:pPr>
            <a:r>
              <a:rPr lang="es" sz="1000" b="1" i="0" dirty="0">
                <a:solidFill>
                  <a:srgbClr val="C00000"/>
                </a:solidFill>
                <a:latin typeface="Graphik"/>
                <a:cs typeface="Graphik"/>
              </a:rPr>
              <a:t>KERNEL &amp; PLATAFORMA |    5 SUBCAPACIDADES</a:t>
            </a:r>
          </a:p>
        </p:txBody>
      </p:sp>
      <p:sp>
        <p:nvSpPr>
          <p:cNvPr id="130" name="KBadge"/>
          <p:cNvSpPr/>
          <p:nvPr/>
        </p:nvSpPr>
        <p:spPr>
          <a:xfrm>
            <a:off x="10980000" y="392000"/>
            <a:ext cx="300000" cy="300000"/>
          </a:xfrm>
          <a:prstGeom prst="ellipse">
            <a:avLst/>
          </a:prstGeom>
          <a:solidFill>
            <a:srgbClr val="C00000"/>
          </a:solidFill>
        </p:spPr>
        <p:txBody>
          <a:bodyPr anchor="ctr"/>
          <a:lstStyle/>
          <a:p>
            <a:pPr marL="0" indent="0" algn="ctr">
              <a:lnSpc>
                <a:spcPct val="104000"/>
              </a:lnSpc>
              <a:spcBef>
                <a:spcPts val="30"/>
              </a:spcBef>
              <a:buNone/>
            </a:pPr>
            <a:r>
              <a:rPr lang="es" sz="1400" b="1" i="0">
                <a:solidFill>
                  <a:srgbClr val="FFFFFF"/>
                </a:solidFill>
                <a:latin typeface="Graphik"/>
                <a:cs typeface="Graphik"/>
              </a:rPr>
              <a:t>K</a:t>
            </a:r>
          </a:p>
        </p:txBody>
      </p:sp>
      <p:graphicFrame>
        <p:nvGraphicFramePr>
          <p:cNvPr id="100" name="DetailTable"/>
          <p:cNvGraphicFramePr>
            <a:graphicFrameLocks noGrp="1"/>
          </p:cNvGraphicFramePr>
          <p:nvPr>
            <p:extLst>
              <p:ext uri="{D42A27DB-BD31-4B8C-83A1-F6EECF244321}">
                <p14:modId xmlns:p14="http://schemas.microsoft.com/office/powerpoint/2010/main" val="4158355667"/>
              </p:ext>
            </p:extLst>
          </p:nvPr>
        </p:nvGraphicFramePr>
        <p:xfrm>
          <a:off x="381000" y="1015000"/>
          <a:ext cx="11430000" cy="4421728"/>
        </p:xfrm>
        <a:graphic>
          <a:graphicData uri="http://schemas.openxmlformats.org/drawingml/2006/table">
            <a:tbl>
              <a:tblPr firstRow="1"/>
              <a:tblGrid>
                <a:gridCol w="1950000">
                  <a:extLst>
                    <a:ext uri="{9D8B030D-6E8A-4147-A177-3AD203B41FA5}">
                      <a16:colId xmlns:a16="http://schemas.microsoft.com/office/drawing/2014/main" val="20000"/>
                    </a:ext>
                  </a:extLst>
                </a:gridCol>
                <a:gridCol w="3450000">
                  <a:extLst>
                    <a:ext uri="{9D8B030D-6E8A-4147-A177-3AD203B41FA5}">
                      <a16:colId xmlns:a16="http://schemas.microsoft.com/office/drawing/2014/main" val="20001"/>
                    </a:ext>
                  </a:extLst>
                </a:gridCol>
                <a:gridCol w="3150000">
                  <a:extLst>
                    <a:ext uri="{9D8B030D-6E8A-4147-A177-3AD203B41FA5}">
                      <a16:colId xmlns:a16="http://schemas.microsoft.com/office/drawing/2014/main" val="20002"/>
                    </a:ext>
                  </a:extLst>
                </a:gridCol>
                <a:gridCol w="2880000">
                  <a:extLst>
                    <a:ext uri="{9D8B030D-6E8A-4147-A177-3AD203B41FA5}">
                      <a16:colId xmlns:a16="http://schemas.microsoft.com/office/drawing/2014/main" val="20003"/>
                    </a:ext>
                  </a:extLst>
                </a:gridCol>
              </a:tblGrid>
              <a:tr h="300000">
                <a:tc>
                  <a:txBody>
                    <a:bodyPr/>
                    <a:lstStyle/>
                    <a:p>
                      <a:pPr marL="0" indent="0" algn="l">
                        <a:lnSpc>
                          <a:spcPct val="104000"/>
                        </a:lnSpc>
                        <a:spcBef>
                          <a:spcPts val="30"/>
                        </a:spcBef>
                        <a:buNone/>
                      </a:pPr>
                      <a:r>
                        <a:rPr lang="es" sz="1000" b="1" i="0" dirty="0">
                          <a:solidFill>
                            <a:srgbClr val="FFFFFF"/>
                          </a:solidFill>
                          <a:latin typeface="Graphik"/>
                          <a:cs typeface="Graphik"/>
                        </a:rPr>
                        <a:t>Subcapacidad</a:t>
                      </a:r>
                    </a:p>
                  </a:txBody>
                  <a:tcPr marL="82000" marR="82000" marT="38000" marB="38000" anchor="ctr">
                    <a:solidFill>
                      <a:srgbClr val="7500C0"/>
                    </a:solidFill>
                  </a:tcPr>
                </a:tc>
                <a:tc>
                  <a:txBody>
                    <a:bodyPr/>
                    <a:lstStyle/>
                    <a:p>
                      <a:pPr marL="0" indent="0" algn="l">
                        <a:lnSpc>
                          <a:spcPct val="104000"/>
                        </a:lnSpc>
                        <a:spcBef>
                          <a:spcPts val="30"/>
                        </a:spcBef>
                        <a:buNone/>
                      </a:pPr>
                      <a:r>
                        <a:rPr lang="es" sz="1000" b="1" i="0">
                          <a:solidFill>
                            <a:srgbClr val="FFFFFF"/>
                          </a:solidFill>
                          <a:latin typeface="Graphik"/>
                          <a:cs typeface="Graphik"/>
                        </a:rPr>
                        <a:t>Descripción</a:t>
                      </a:r>
                    </a:p>
                  </a:txBody>
                  <a:tcPr marL="82000" marR="82000" marT="38000" marB="38000" anchor="ctr">
                    <a:solidFill>
                      <a:srgbClr val="7500C0"/>
                    </a:solidFill>
                  </a:tcPr>
                </a:tc>
                <a:tc>
                  <a:txBody>
                    <a:bodyPr/>
                    <a:lstStyle/>
                    <a:p>
                      <a:pPr marL="0" indent="0" algn="l">
                        <a:lnSpc>
                          <a:spcPct val="104000"/>
                        </a:lnSpc>
                        <a:spcBef>
                          <a:spcPts val="30"/>
                        </a:spcBef>
                        <a:buNone/>
                      </a:pPr>
                      <a:r>
                        <a:rPr lang="es" sz="1000" b="1" i="0">
                          <a:solidFill>
                            <a:srgbClr val="FFFFFF"/>
                          </a:solidFill>
                          <a:latin typeface="Graphik"/>
                          <a:cs typeface="Graphik"/>
                        </a:rPr>
                        <a:t>Propósito</a:t>
                      </a:r>
                    </a:p>
                  </a:txBody>
                  <a:tcPr marL="82000" marR="82000" marT="38000" marB="38000" anchor="ctr">
                    <a:solidFill>
                      <a:srgbClr val="7500C0"/>
                    </a:solidFill>
                  </a:tcPr>
                </a:tc>
                <a:tc>
                  <a:txBody>
                    <a:bodyPr/>
                    <a:lstStyle/>
                    <a:p>
                      <a:pPr marL="0" indent="0" algn="l">
                        <a:lnSpc>
                          <a:spcPct val="104000"/>
                        </a:lnSpc>
                        <a:spcBef>
                          <a:spcPts val="30"/>
                        </a:spcBef>
                        <a:buNone/>
                      </a:pPr>
                      <a:r>
                        <a:rPr lang="es" sz="1000" b="1" i="0">
                          <a:solidFill>
                            <a:srgbClr val="FFFFFF"/>
                          </a:solidFill>
                          <a:latin typeface="Graphik"/>
                          <a:cs typeface="Graphik"/>
                        </a:rPr>
                        <a:t>Soluciones en Coppel</a:t>
                      </a:r>
                    </a:p>
                  </a:txBody>
                  <a:tcPr marL="82000" marR="82000" marT="38000" marB="38000" anchor="ctr">
                    <a:solidFill>
                      <a:srgbClr val="7500C0"/>
                    </a:solidFill>
                  </a:tcPr>
                </a:tc>
                <a:extLst>
                  <a:ext uri="{0D108BD9-81ED-4DB2-BD59-A6C34878D82A}">
                    <a16:rowId xmlns:a16="http://schemas.microsoft.com/office/drawing/2014/main" val="10000"/>
                  </a:ext>
                </a:extLst>
              </a:tr>
              <a:tr h="849380">
                <a:tc>
                  <a:txBody>
                    <a:bodyPr/>
                    <a:lstStyle/>
                    <a:p>
                      <a:pPr marL="0" indent="0" algn="l">
                        <a:lnSpc>
                          <a:spcPct val="104000"/>
                        </a:lnSpc>
                        <a:spcBef>
                          <a:spcPts val="30"/>
                        </a:spcBef>
                        <a:buNone/>
                      </a:pPr>
                      <a:r>
                        <a:rPr lang="es" sz="800" b="1" i="0" dirty="0">
                          <a:solidFill>
                            <a:srgbClr val="9B7BC7"/>
                          </a:solidFill>
                          <a:latin typeface="Graphik"/>
                          <a:cs typeface="Graphik"/>
                        </a:rPr>
                        <a:t>2.1  </a:t>
                      </a:r>
                      <a:r>
                        <a:rPr lang="es" sz="800" b="1" i="0" dirty="0">
                          <a:solidFill>
                            <a:srgbClr val="7500C0"/>
                          </a:solidFill>
                          <a:latin typeface="Graphik"/>
                          <a:cs typeface="Graphik"/>
                        </a:rPr>
                        <a:t>Monitorización</a:t>
                      </a:r>
                    </a:p>
                  </a:txBody>
                  <a:tcPr marL="82000" marR="82000" marT="38000" marB="38000" anchor="ctr">
                    <a:solidFill>
                      <a:srgbClr val="EFE7F7"/>
                    </a:solidFill>
                  </a:tcPr>
                </a:tc>
                <a:tc>
                  <a:txBody>
                    <a:bodyPr/>
                    <a:lstStyle/>
                    <a:p>
                      <a:pPr marL="0" indent="0" algn="l">
                        <a:lnSpc>
                          <a:spcPct val="108000"/>
                        </a:lnSpc>
                        <a:spcBef>
                          <a:spcPts val="30"/>
                        </a:spcBef>
                        <a:buNone/>
                      </a:pPr>
                      <a:r>
                        <a:rPr lang="es" sz="800" b="0" i="0" dirty="0">
                          <a:solidFill>
                            <a:srgbClr val="2B2B2B"/>
                          </a:solidFill>
                          <a:latin typeface="Graphik"/>
                          <a:cs typeface="Graphik"/>
                        </a:rPr>
                        <a:t>Recogida y evaluación continua del estado y disponibilidad de componentes, interfaces y dependencias de la plataforma, con alertas basadas en umbrales y anomalías.</a:t>
                      </a:r>
                    </a:p>
                  </a:txBody>
                  <a:tcPr marL="82000" marR="82000" marT="38000" marB="38000" anchor="ctr">
                    <a:solidFill>
                      <a:srgbClr val="FFFFFF"/>
                    </a:solidFill>
                  </a:tcPr>
                </a:tc>
                <a:tc>
                  <a:txBody>
                    <a:bodyPr/>
                    <a:lstStyle/>
                    <a:p>
                      <a:pPr marL="0" indent="0" algn="l">
                        <a:lnSpc>
                          <a:spcPct val="108000"/>
                        </a:lnSpc>
                        <a:spcBef>
                          <a:spcPts val="30"/>
                        </a:spcBef>
                        <a:buNone/>
                      </a:pPr>
                      <a:r>
                        <a:rPr lang="es" sz="800" b="0" i="0" dirty="0">
                          <a:solidFill>
                            <a:srgbClr val="444444"/>
                          </a:solidFill>
                          <a:latin typeface="Graphik"/>
                          <a:cs typeface="Graphik"/>
                        </a:rPr>
                        <a:t>Detecta la degradación antes que los clientes, lo cual importa más en una urbanización compuesta donde una dependencia débil degrada muchos journeys.</a:t>
                      </a:r>
                    </a:p>
                  </a:txBody>
                  <a:tcPr marL="82000" marR="82000" marT="38000" marB="38000" anchor="ctr">
                    <a:solidFill>
                      <a:srgbClr val="FFFFFF"/>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Monitorización de DataDog, paneles de control y alertas</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CloudWatch/CloudTrail para componentes de AWS</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Analiticas de </a:t>
                      </a:r>
                      <a:r>
                        <a:rPr lang="es-ES" sz="700" b="0" i="0" dirty="0" err="1">
                          <a:solidFill>
                            <a:srgbClr val="4B2E83"/>
                          </a:solidFill>
                          <a:latin typeface="Graphik"/>
                          <a:cs typeface="Graphik"/>
                        </a:rPr>
                        <a:t>APIgee</a:t>
                      </a:r>
                      <a:endParaRPr lang="es" sz="700" b="0" i="0" dirty="0">
                        <a:solidFill>
                          <a:srgbClr val="4B2E83"/>
                        </a:solidFill>
                        <a:latin typeface="Graphik"/>
                        <a:cs typeface="Graphik"/>
                      </a:endParaRP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Revisiones de estado de plataformas en Apolo, Transact y SmartVista</a:t>
                      </a:r>
                    </a:p>
                  </a:txBody>
                  <a:tcPr marL="82000" marR="82000" marT="38000" marB="38000" anchor="ctr">
                    <a:solidFill>
                      <a:srgbClr val="FFFFFF"/>
                    </a:solidFill>
                  </a:tcPr>
                </a:tc>
                <a:extLst>
                  <a:ext uri="{0D108BD9-81ED-4DB2-BD59-A6C34878D82A}">
                    <a16:rowId xmlns:a16="http://schemas.microsoft.com/office/drawing/2014/main" val="10001"/>
                  </a:ext>
                </a:extLst>
              </a:tr>
              <a:tr h="849380">
                <a:tc>
                  <a:txBody>
                    <a:bodyPr/>
                    <a:lstStyle/>
                    <a:p>
                      <a:pPr marL="0" indent="0" algn="l">
                        <a:lnSpc>
                          <a:spcPct val="104000"/>
                        </a:lnSpc>
                        <a:spcBef>
                          <a:spcPts val="30"/>
                        </a:spcBef>
                        <a:buNone/>
                      </a:pPr>
                      <a:r>
                        <a:rPr lang="es" sz="800" b="1" i="0" dirty="0">
                          <a:solidFill>
                            <a:srgbClr val="9B7BC7"/>
                          </a:solidFill>
                          <a:latin typeface="Graphik"/>
                          <a:cs typeface="Graphik"/>
                        </a:rPr>
                        <a:t>2.2  </a:t>
                      </a:r>
                      <a:r>
                        <a:rPr lang="es" sz="800" b="1" i="0" dirty="0">
                          <a:solidFill>
                            <a:srgbClr val="7500C0"/>
                          </a:solidFill>
                          <a:latin typeface="Graphik"/>
                          <a:cs typeface="Graphik"/>
                        </a:rPr>
                        <a:t>Registro</a:t>
                      </a:r>
                    </a:p>
                  </a:txBody>
                  <a:tcPr marL="82000" marR="82000" marT="38000" marB="38000" anchor="ctr">
                    <a:solidFill>
                      <a:srgbClr val="E9DEF4"/>
                    </a:solidFill>
                  </a:tcPr>
                </a:tc>
                <a:tc>
                  <a:txBody>
                    <a:bodyPr/>
                    <a:lstStyle/>
                    <a:p>
                      <a:pPr marL="0" indent="0" algn="l">
                        <a:lnSpc>
                          <a:spcPct val="108000"/>
                        </a:lnSpc>
                        <a:spcBef>
                          <a:spcPts val="30"/>
                        </a:spcBef>
                        <a:buNone/>
                      </a:pPr>
                      <a:r>
                        <a:rPr lang="es" sz="800" b="0" i="0">
                          <a:solidFill>
                            <a:srgbClr val="2B2B2B"/>
                          </a:solidFill>
                          <a:latin typeface="Graphik"/>
                          <a:cs typeface="Graphik"/>
                        </a:rPr>
                        <a:t>Recogida estructurada, normalización, indexación, retención y rotación de registros técnicos, operativos y de auditoría de cada componente de la capa de interoperabilidad.</a:t>
                      </a:r>
                    </a:p>
                  </a:txBody>
                  <a:tcPr marL="82000" marR="82000" marT="38000" marB="38000" anchor="ctr">
                    <a:solidFill>
                      <a:srgbClr val="F6F2FB"/>
                    </a:solidFill>
                  </a:tcPr>
                </a:tc>
                <a:tc>
                  <a:txBody>
                    <a:bodyPr/>
                    <a:lstStyle/>
                    <a:p>
                      <a:pPr marL="0" indent="0" algn="l">
                        <a:lnSpc>
                          <a:spcPct val="108000"/>
                        </a:lnSpc>
                        <a:spcBef>
                          <a:spcPts val="30"/>
                        </a:spcBef>
                        <a:buNone/>
                      </a:pPr>
                      <a:r>
                        <a:rPr lang="es" sz="800" b="0" i="0">
                          <a:solidFill>
                            <a:srgbClr val="444444"/>
                          </a:solidFill>
                          <a:latin typeface="Graphik"/>
                          <a:cs typeface="Graphik"/>
                        </a:rPr>
                        <a:t>Proporciona el fundamento forense y de auditoría para un entorno distribuido donde ningún registro de aplicación único cuente toda la historia.</a:t>
                      </a:r>
                    </a:p>
                  </a:txBody>
                  <a:tcPr marL="82000" marR="82000" marT="38000" marB="38000" anchor="ctr">
                    <a:solidFill>
                      <a:srgbClr val="F6F2FB"/>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Registros/monitores de DataDog</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Exabeam SIEM</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AWS CloudTrail/CloudWatch</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Registros de auditoría de </a:t>
                      </a:r>
                      <a:r>
                        <a:rPr lang="es-ES" sz="700" b="0" i="0" dirty="0" err="1">
                          <a:solidFill>
                            <a:srgbClr val="4B2E83"/>
                          </a:solidFill>
                          <a:latin typeface="Graphik"/>
                          <a:cs typeface="Graphik"/>
                        </a:rPr>
                        <a:t>APIgee</a:t>
                      </a:r>
                      <a:r>
                        <a:rPr lang="es" sz="700" b="0" i="0" dirty="0">
                          <a:solidFill>
                            <a:srgbClr val="4B2E83"/>
                          </a:solidFill>
                          <a:latin typeface="Graphik"/>
                          <a:cs typeface="Graphik"/>
                        </a:rPr>
                        <a:t>, Transact, SmartVista y flujos regulatorios/reporte.</a:t>
                      </a:r>
                    </a:p>
                  </a:txBody>
                  <a:tcPr marL="82000" marR="82000" marT="38000" marB="38000" anchor="ctr">
                    <a:solidFill>
                      <a:srgbClr val="F6F2FB"/>
                    </a:solidFill>
                  </a:tcPr>
                </a:tc>
                <a:extLst>
                  <a:ext uri="{0D108BD9-81ED-4DB2-BD59-A6C34878D82A}">
                    <a16:rowId xmlns:a16="http://schemas.microsoft.com/office/drawing/2014/main" val="10002"/>
                  </a:ext>
                </a:extLst>
              </a:tr>
              <a:tr h="698504">
                <a:tc>
                  <a:txBody>
                    <a:bodyPr/>
                    <a:lstStyle/>
                    <a:p>
                      <a:pPr marL="0" indent="0" algn="l">
                        <a:lnSpc>
                          <a:spcPct val="104000"/>
                        </a:lnSpc>
                        <a:spcBef>
                          <a:spcPts val="30"/>
                        </a:spcBef>
                        <a:buNone/>
                      </a:pPr>
                      <a:r>
                        <a:rPr lang="es" sz="800" b="1" i="0" dirty="0">
                          <a:solidFill>
                            <a:srgbClr val="9B7BC7"/>
                          </a:solidFill>
                          <a:latin typeface="Graphik"/>
                          <a:cs typeface="Graphik"/>
                        </a:rPr>
                        <a:t>2.3  </a:t>
                      </a:r>
                      <a:r>
                        <a:rPr lang="es" sz="800" b="1" i="0" dirty="0">
                          <a:solidFill>
                            <a:srgbClr val="7500C0"/>
                          </a:solidFill>
                          <a:latin typeface="Graphik"/>
                          <a:cs typeface="Graphik"/>
                        </a:rPr>
                        <a:t>Trazo</a:t>
                      </a:r>
                    </a:p>
                  </a:txBody>
                  <a:tcPr marL="82000" marR="82000" marT="38000" marB="38000" anchor="ctr">
                    <a:solidFill>
                      <a:srgbClr val="EFE7F7"/>
                    </a:solidFill>
                  </a:tcPr>
                </a:tc>
                <a:tc>
                  <a:txBody>
                    <a:bodyPr/>
                    <a:lstStyle/>
                    <a:p>
                      <a:pPr marL="0" indent="0" algn="l">
                        <a:lnSpc>
                          <a:spcPct val="108000"/>
                        </a:lnSpc>
                        <a:spcBef>
                          <a:spcPts val="30"/>
                        </a:spcBef>
                        <a:buNone/>
                      </a:pPr>
                      <a:r>
                        <a:rPr lang="es" sz="800" b="0" i="0">
                          <a:solidFill>
                            <a:srgbClr val="2B2B2B"/>
                          </a:solidFill>
                          <a:latin typeface="Graphik"/>
                          <a:cs typeface="Graphik"/>
                        </a:rPr>
                        <a:t>Propagación y reconstrucción del camino completo de ejecución de una solicitud a través de servicios, plataformas, protocolos y saltos asincrónicos, basándose en un identificador de correlación propagado de forma consistente.</a:t>
                      </a:r>
                    </a:p>
                  </a:txBody>
                  <a:tcPr marL="82000" marR="82000" marT="38000" marB="38000" anchor="ctr">
                    <a:solidFill>
                      <a:srgbClr val="FFFFFF"/>
                    </a:solidFill>
                  </a:tcPr>
                </a:tc>
                <a:tc>
                  <a:txBody>
                    <a:bodyPr/>
                    <a:lstStyle/>
                    <a:p>
                      <a:pPr marL="0" indent="0" algn="l">
                        <a:lnSpc>
                          <a:spcPct val="108000"/>
                        </a:lnSpc>
                        <a:spcBef>
                          <a:spcPts val="30"/>
                        </a:spcBef>
                        <a:buNone/>
                      </a:pPr>
                      <a:r>
                        <a:rPr lang="es" sz="800" b="0" i="0">
                          <a:solidFill>
                            <a:srgbClr val="444444"/>
                          </a:solidFill>
                          <a:latin typeface="Graphik"/>
                          <a:cs typeface="Graphik"/>
                        </a:rPr>
                        <a:t>La capacidad de observabilidad más importante en una arquitectura interoperable: es lo que hace que una transacción distribuida sea explicable de principio a fin, tanto en la generación heredada como en la de próxima generación.</a:t>
                      </a:r>
                    </a:p>
                  </a:txBody>
                  <a:tcPr marL="82000" marR="82000" marT="38000" marB="38000" anchor="ctr">
                    <a:solidFill>
                      <a:srgbClr val="FFFFFF"/>
                    </a:solidFill>
                  </a:tcPr>
                </a:tc>
                <a:tc>
                  <a:txBody>
                    <a:bodyPr/>
                    <a:lstStyle/>
                    <a:p>
                      <a:pPr marL="150000" indent="-150000" algn="l">
                        <a:lnSpc>
                          <a:spcPct val="104000"/>
                        </a:lnSpc>
                        <a:spcBef>
                          <a:spcPts val="45"/>
                        </a:spcBef>
                        <a:buClr>
                          <a:srgbClr val="7500C0"/>
                        </a:buClr>
                        <a:buFont typeface="Arial"/>
                        <a:buChar char="▪"/>
                      </a:pPr>
                      <a:r>
                        <a:rPr lang="es" sz="700" b="0" i="0">
                          <a:solidFill>
                            <a:srgbClr val="4B2E83"/>
                          </a:solidFill>
                          <a:latin typeface="Graphik"/>
                          <a:cs typeface="Graphik"/>
                        </a:rPr>
                        <a:t>Trazado de APM/DataDog está planificado como observabilidad avanzada</a:t>
                      </a:r>
                    </a:p>
                    <a:p>
                      <a:pPr marL="150000" indent="-150000" algn="l">
                        <a:lnSpc>
                          <a:spcPct val="104000"/>
                        </a:lnSpc>
                        <a:spcBef>
                          <a:spcPts val="45"/>
                        </a:spcBef>
                        <a:buClr>
                          <a:srgbClr val="7500C0"/>
                        </a:buClr>
                        <a:buFont typeface="Arial"/>
                        <a:buChar char="▪"/>
                      </a:pPr>
                      <a:r>
                        <a:rPr lang="es" sz="700" b="0" i="0">
                          <a:solidFill>
                            <a:srgbClr val="4B2E83"/>
                          </a:solidFill>
                          <a:latin typeface="Graphik"/>
                          <a:cs typeface="Graphik"/>
                        </a:rPr>
                        <a:t>Istio soporta telemetría a nivel de servicio. El servicio de identidad de correlación no se nombra explícitamente</a:t>
                      </a:r>
                    </a:p>
                  </a:txBody>
                  <a:tcPr marL="82000" marR="82000" marT="38000" marB="38000" anchor="ctr">
                    <a:solidFill>
                      <a:srgbClr val="FFFFFF"/>
                    </a:solidFill>
                  </a:tcPr>
                </a:tc>
                <a:extLst>
                  <a:ext uri="{0D108BD9-81ED-4DB2-BD59-A6C34878D82A}">
                    <a16:rowId xmlns:a16="http://schemas.microsoft.com/office/drawing/2014/main" val="10003"/>
                  </a:ext>
                </a:extLst>
              </a:tr>
              <a:tr h="849380">
                <a:tc>
                  <a:txBody>
                    <a:bodyPr/>
                    <a:lstStyle/>
                    <a:p>
                      <a:pPr marL="0" indent="0" algn="l">
                        <a:lnSpc>
                          <a:spcPct val="104000"/>
                        </a:lnSpc>
                        <a:spcBef>
                          <a:spcPts val="30"/>
                        </a:spcBef>
                        <a:buNone/>
                      </a:pPr>
                      <a:r>
                        <a:rPr lang="es" sz="800" b="1" i="0" dirty="0">
                          <a:solidFill>
                            <a:srgbClr val="9B7BC7"/>
                          </a:solidFill>
                          <a:latin typeface="Graphik"/>
                          <a:cs typeface="Graphik"/>
                        </a:rPr>
                        <a:t>2.4  </a:t>
                      </a:r>
                      <a:r>
                        <a:rPr lang="es" sz="800" b="1" i="0" dirty="0">
                          <a:solidFill>
                            <a:srgbClr val="7500C0"/>
                          </a:solidFill>
                          <a:latin typeface="Graphik"/>
                          <a:cs typeface="Graphik"/>
                        </a:rPr>
                        <a:t>Métricas, Analítica e Informes</a:t>
                      </a:r>
                    </a:p>
                  </a:txBody>
                  <a:tcPr marL="82000" marR="82000" marT="38000" marB="38000" anchor="ctr">
                    <a:solidFill>
                      <a:srgbClr val="E9DEF4"/>
                    </a:solidFill>
                  </a:tcPr>
                </a:tc>
                <a:tc>
                  <a:txBody>
                    <a:bodyPr/>
                    <a:lstStyle/>
                    <a:p>
                      <a:pPr marL="0" indent="0" algn="l">
                        <a:lnSpc>
                          <a:spcPct val="108000"/>
                        </a:lnSpc>
                        <a:spcBef>
                          <a:spcPts val="30"/>
                        </a:spcBef>
                        <a:buNone/>
                      </a:pPr>
                      <a:r>
                        <a:rPr lang="es" sz="800" b="0" i="0">
                          <a:solidFill>
                            <a:srgbClr val="2B2B2B"/>
                          </a:solidFill>
                          <a:latin typeface="Graphik"/>
                          <a:cs typeface="Graphik"/>
                        </a:rPr>
                        <a:t>Derivación, almacenamiento y análisis de métricas técnicas y empresariales a partir de la telemetría, incluyendo correlación automatizada y detección asistida por aprendizaje automático, así como informes periódicos.</a:t>
                      </a:r>
                    </a:p>
                  </a:txBody>
                  <a:tcPr marL="82000" marR="82000" marT="38000" marB="38000" anchor="ctr">
                    <a:solidFill>
                      <a:srgbClr val="F6F2FB"/>
                    </a:solidFill>
                  </a:tcPr>
                </a:tc>
                <a:tc>
                  <a:txBody>
                    <a:bodyPr/>
                    <a:lstStyle/>
                    <a:p>
                      <a:pPr marL="0" indent="0" algn="l">
                        <a:lnSpc>
                          <a:spcPct val="108000"/>
                        </a:lnSpc>
                        <a:spcBef>
                          <a:spcPts val="30"/>
                        </a:spcBef>
                        <a:buNone/>
                      </a:pPr>
                      <a:r>
                        <a:rPr lang="es" sz="800" b="0" i="0">
                          <a:solidFill>
                            <a:srgbClr val="444444"/>
                          </a:solidFill>
                          <a:latin typeface="Graphik"/>
                          <a:cs typeface="Graphik"/>
                        </a:rPr>
                        <a:t>Convierte la telemetría en bruto en la información de gestión utilizada para demostrar el caso de negocio de interoperabilidad y dirigir la inversión de la plataforma.</a:t>
                      </a:r>
                    </a:p>
                  </a:txBody>
                  <a:tcPr marL="82000" marR="82000" marT="38000" marB="38000" anchor="ctr">
                    <a:solidFill>
                      <a:srgbClr val="F6F2FB"/>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DataDog KPIs</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Analiticas de </a:t>
                      </a:r>
                      <a:r>
                        <a:rPr lang="es-ES" sz="700" b="0" i="0" dirty="0" err="1">
                          <a:solidFill>
                            <a:srgbClr val="4B2E83"/>
                          </a:solidFill>
                          <a:latin typeface="Graphik"/>
                          <a:cs typeface="Graphik"/>
                        </a:rPr>
                        <a:t>APIgee</a:t>
                      </a:r>
                      <a:endParaRPr lang="es" sz="700" b="0" i="0" dirty="0">
                        <a:solidFill>
                          <a:srgbClr val="4B2E83"/>
                        </a:solidFill>
                        <a:latin typeface="Graphik"/>
                        <a:cs typeface="Graphik"/>
                      </a:endParaRP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Google Analytics para el comportamiento digital</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Data Warehouse/DataStage para fuentes de informes</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Paneles ejecutivos de PMO</a:t>
                      </a:r>
                    </a:p>
                  </a:txBody>
                  <a:tcPr marL="82000" marR="82000" marT="38000" marB="38000" anchor="ctr">
                    <a:solidFill>
                      <a:srgbClr val="F6F2FB"/>
                    </a:solidFill>
                  </a:tcPr>
                </a:tc>
                <a:extLst>
                  <a:ext uri="{0D108BD9-81ED-4DB2-BD59-A6C34878D82A}">
                    <a16:rowId xmlns:a16="http://schemas.microsoft.com/office/drawing/2014/main" val="10004"/>
                  </a:ext>
                </a:extLst>
              </a:tr>
              <a:tr h="849380">
                <a:tc>
                  <a:txBody>
                    <a:bodyPr/>
                    <a:lstStyle/>
                    <a:p>
                      <a:pPr marL="0" indent="0" algn="l">
                        <a:lnSpc>
                          <a:spcPct val="104000"/>
                        </a:lnSpc>
                        <a:spcBef>
                          <a:spcPts val="30"/>
                        </a:spcBef>
                        <a:buNone/>
                      </a:pPr>
                      <a:r>
                        <a:rPr lang="es" sz="800" b="1" i="0" dirty="0">
                          <a:solidFill>
                            <a:srgbClr val="9B7BC7"/>
                          </a:solidFill>
                          <a:latin typeface="Graphik"/>
                          <a:cs typeface="Graphik"/>
                        </a:rPr>
                        <a:t>2.5  </a:t>
                      </a:r>
                      <a:r>
                        <a:rPr lang="es" sz="800" b="1" i="0" dirty="0">
                          <a:solidFill>
                            <a:srgbClr val="7500C0"/>
                          </a:solidFill>
                          <a:latin typeface="Graphik"/>
                          <a:cs typeface="Graphik"/>
                        </a:rPr>
                        <a:t>Paneles</a:t>
                      </a:r>
                    </a:p>
                  </a:txBody>
                  <a:tcPr marL="82000" marR="82000" marT="38000" marB="38000" anchor="ctr">
                    <a:solidFill>
                      <a:srgbClr val="EFE7F7"/>
                    </a:solidFill>
                  </a:tcPr>
                </a:tc>
                <a:tc>
                  <a:txBody>
                    <a:bodyPr/>
                    <a:lstStyle/>
                    <a:p>
                      <a:pPr marL="0" indent="0" algn="l">
                        <a:lnSpc>
                          <a:spcPct val="108000"/>
                        </a:lnSpc>
                        <a:spcBef>
                          <a:spcPts val="30"/>
                        </a:spcBef>
                        <a:buNone/>
                      </a:pPr>
                      <a:r>
                        <a:rPr lang="es" sz="800" b="0" i="0" dirty="0">
                          <a:solidFill>
                            <a:srgbClr val="2B2B2B"/>
                          </a:solidFill>
                          <a:latin typeface="Graphik"/>
                          <a:cs typeface="Graphik"/>
                        </a:rPr>
                        <a:t>Visualización orientada a roles de la plataforma y la telemetría empresarial para audiencias de ingeniería, operaciones, seguridad, empresarial y ejecutivos.</a:t>
                      </a:r>
                    </a:p>
                  </a:txBody>
                  <a:tcPr marL="82000" marR="82000" marT="38000" marB="38000" anchor="ctr">
                    <a:solidFill>
                      <a:srgbClr val="FFFFFF"/>
                    </a:solidFill>
                  </a:tcPr>
                </a:tc>
                <a:tc>
                  <a:txBody>
                    <a:bodyPr/>
                    <a:lstStyle/>
                    <a:p>
                      <a:pPr marL="0" indent="0" algn="l">
                        <a:lnSpc>
                          <a:spcPct val="108000"/>
                        </a:lnSpc>
                        <a:spcBef>
                          <a:spcPts val="30"/>
                        </a:spcBef>
                        <a:buNone/>
                      </a:pPr>
                      <a:r>
                        <a:rPr lang="es" sz="800" b="0" i="0">
                          <a:solidFill>
                            <a:srgbClr val="444444"/>
                          </a:solidFill>
                          <a:latin typeface="Graphik"/>
                          <a:cs typeface="Graphik"/>
                        </a:rPr>
                        <a:t>Convierte la observabilidad de una herramienta de ingeniería en un instrumento de gestión compartido, incluyendo la visión de riesgo de TI a nivel de negocio y servicio.</a:t>
                      </a:r>
                    </a:p>
                  </a:txBody>
                  <a:tcPr marL="82000" marR="82000" marT="38000" marB="38000" anchor="ctr">
                    <a:solidFill>
                      <a:srgbClr val="FFFFFF"/>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Paneles técnicos de DataDog</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Paneles de control de PMO / ejecutivos</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Paneles regulatorios y empresariales a través de Data Warehouse, Bajaware/Risklogic y reportes de proyectos</a:t>
                      </a:r>
                    </a:p>
                  </a:txBody>
                  <a:tcPr marL="82000" marR="82000" marT="38000" marB="38000" anchor="ctr">
                    <a:solidFill>
                      <a:srgbClr val="FFFFFF"/>
                    </a:solidFill>
                  </a:tcPr>
                </a:tc>
                <a:extLst>
                  <a:ext uri="{0D108BD9-81ED-4DB2-BD59-A6C34878D82A}">
                    <a16:rowId xmlns:a16="http://schemas.microsoft.com/office/drawing/2014/main" val="10005"/>
                  </a:ext>
                </a:extLst>
              </a:tr>
            </a:tbl>
          </a:graphicData>
        </a:graphic>
      </p:graphicFrame>
      <p:sp>
        <p:nvSpPr>
          <p:cNvPr id="5" name="TextBox 4">
            <a:extLst>
              <a:ext uri="{FF2B5EF4-FFF2-40B4-BE49-F238E27FC236}">
                <a16:creationId xmlns:a16="http://schemas.microsoft.com/office/drawing/2014/main" id="{B17CD03D-5F64-FB79-9DE4-CBE95DDB2F3F}"/>
              </a:ext>
            </a:extLst>
          </p:cNvPr>
          <p:cNvSpPr txBox="1"/>
          <p:nvPr>
            <p:extLst>
              <p:ext uri="{1162E1C5-73C7-4A58-AE30-91384D911F3F}">
                <p184:classification xmlns:p184="http://schemas.microsoft.com/office/powerpoint/2018/4/main" val="hdr"/>
              </p:ext>
            </p:extLst>
          </p:nvPr>
        </p:nvSpPr>
        <p:spPr>
          <a:xfrm>
            <a:off x="379000" y="78170"/>
            <a:ext cx="11432000" cy="154830"/>
          </a:xfrm>
          <a:prstGeom prst="rect">
            <a:avLst/>
          </a:prstGeom>
        </p:spPr>
        <p:txBody>
          <a:bodyPr horzOverflow="overflow"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000" b="0" i="0" u="none" strike="noStrike" kern="1200" cap="none" spc="0" normalizeH="0" baseline="0" noProof="0">
                <a:ln>
                  <a:noFill/>
                </a:ln>
                <a:solidFill>
                  <a:srgbClr val="000000"/>
                </a:solidFill>
                <a:effectLst/>
                <a:uLnTx/>
                <a:uFillTx/>
                <a:latin typeface="Graphik (Body)"/>
                <a:ea typeface="+mn-ea"/>
                <a:cs typeface="Calibri" panose="020F0502020204030204" pitchFamily="34" charset="0"/>
              </a:rPr>
              <a:t>*** Confidencial - Solo para uso interno de la empresa ***</a:t>
            </a:r>
          </a:p>
        </p:txBody>
      </p:sp>
      <p:grpSp>
        <p:nvGrpSpPr>
          <p:cNvPr id="6" name="Group 5">
            <a:extLst>
              <a:ext uri="{FF2B5EF4-FFF2-40B4-BE49-F238E27FC236}">
                <a16:creationId xmlns:a16="http://schemas.microsoft.com/office/drawing/2014/main" id="{5A025F74-5327-D355-60D1-1D7D93E384A8}"/>
              </a:ext>
            </a:extLst>
          </p:cNvPr>
          <p:cNvGrpSpPr/>
          <p:nvPr/>
        </p:nvGrpSpPr>
        <p:grpSpPr>
          <a:xfrm>
            <a:off x="717042" y="6191083"/>
            <a:ext cx="4001014" cy="631639"/>
            <a:chOff x="717042" y="6191083"/>
            <a:chExt cx="4001014" cy="631639"/>
          </a:xfrm>
        </p:grpSpPr>
        <p:sp>
          <p:nvSpPr>
            <p:cNvPr id="7" name="Rectangle 6">
              <a:extLst>
                <a:ext uri="{FF2B5EF4-FFF2-40B4-BE49-F238E27FC236}">
                  <a16:creationId xmlns:a16="http://schemas.microsoft.com/office/drawing/2014/main" id="{47B7A98F-DACF-C9C5-5909-1B95B2A1ABFD}"/>
                </a:ext>
              </a:extLst>
            </p:cNvPr>
            <p:cNvSpPr>
              <a:spLocks noChangeAspect="1"/>
            </p:cNvSpPr>
            <p:nvPr/>
          </p:nvSpPr>
          <p:spPr>
            <a:xfrm>
              <a:off x="1936749" y="6410745"/>
              <a:ext cx="774645" cy="202427"/>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GAP</a:t>
              </a:r>
            </a:p>
          </p:txBody>
        </p:sp>
        <p:sp>
          <p:nvSpPr>
            <p:cNvPr id="8" name="Rectangle 7">
              <a:extLst>
                <a:ext uri="{FF2B5EF4-FFF2-40B4-BE49-F238E27FC236}">
                  <a16:creationId xmlns:a16="http://schemas.microsoft.com/office/drawing/2014/main" id="{706078A5-5B09-4D1C-16D5-4D4A6D0675DE}"/>
                </a:ext>
              </a:extLst>
            </p:cNvPr>
            <p:cNvSpPr>
              <a:spLocks noChangeAspect="1"/>
            </p:cNvSpPr>
            <p:nvPr/>
          </p:nvSpPr>
          <p:spPr>
            <a:xfrm>
              <a:off x="1936749" y="6191083"/>
              <a:ext cx="774645" cy="202427"/>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Objetivo</a:t>
              </a:r>
            </a:p>
          </p:txBody>
        </p:sp>
        <p:sp>
          <p:nvSpPr>
            <p:cNvPr id="9" name="Rectangle 8">
              <a:extLst>
                <a:ext uri="{FF2B5EF4-FFF2-40B4-BE49-F238E27FC236}">
                  <a16:creationId xmlns:a16="http://schemas.microsoft.com/office/drawing/2014/main" id="{791652A7-6D06-4518-5829-DC06C0044A5F}"/>
                </a:ext>
              </a:extLst>
            </p:cNvPr>
            <p:cNvSpPr>
              <a:spLocks noChangeAspect="1"/>
            </p:cNvSpPr>
            <p:nvPr/>
          </p:nvSpPr>
          <p:spPr>
            <a:xfrm>
              <a:off x="1936749" y="6620295"/>
              <a:ext cx="774645" cy="202427"/>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Descartar</a:t>
              </a:r>
            </a:p>
          </p:txBody>
        </p:sp>
        <p:sp>
          <p:nvSpPr>
            <p:cNvPr id="10" name="Oval 9">
              <a:extLst>
                <a:ext uri="{FF2B5EF4-FFF2-40B4-BE49-F238E27FC236}">
                  <a16:creationId xmlns:a16="http://schemas.microsoft.com/office/drawing/2014/main" id="{8279DF6B-367B-54BB-B552-25E4C1065079}"/>
                </a:ext>
              </a:extLst>
            </p:cNvPr>
            <p:cNvSpPr>
              <a:spLocks noChangeAspect="1"/>
            </p:cNvSpPr>
            <p:nvPr/>
          </p:nvSpPr>
          <p:spPr>
            <a:xfrm>
              <a:off x="4077214" y="6226238"/>
              <a:ext cx="640842" cy="184507"/>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700"/>
                <a:t>Alto</a:t>
              </a:r>
            </a:p>
          </p:txBody>
        </p:sp>
        <p:sp>
          <p:nvSpPr>
            <p:cNvPr id="11" name="Rectangle 10">
              <a:extLst>
                <a:ext uri="{FF2B5EF4-FFF2-40B4-BE49-F238E27FC236}">
                  <a16:creationId xmlns:a16="http://schemas.microsoft.com/office/drawing/2014/main" id="{C4167C7E-7AE3-9BAD-D0AE-5E5BB392CF7F}"/>
                </a:ext>
              </a:extLst>
            </p:cNvPr>
            <p:cNvSpPr>
              <a:spLocks noChangeAspect="1"/>
            </p:cNvSpPr>
            <p:nvPr/>
          </p:nvSpPr>
          <p:spPr>
            <a:xfrm>
              <a:off x="717042" y="6283336"/>
              <a:ext cx="1022032" cy="455578"/>
            </a:xfrm>
            <a:prstGeom prst="rect">
              <a:avLst/>
            </a:prstGeom>
            <a:solidFill>
              <a:srgbClr val="7500C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Evaluación de capacidades</a:t>
              </a:r>
            </a:p>
          </p:txBody>
        </p:sp>
        <p:sp>
          <p:nvSpPr>
            <p:cNvPr id="12" name="Rectangle 11">
              <a:extLst>
                <a:ext uri="{FF2B5EF4-FFF2-40B4-BE49-F238E27FC236}">
                  <a16:creationId xmlns:a16="http://schemas.microsoft.com/office/drawing/2014/main" id="{F08E7DF5-4B39-FA4C-A526-6E4104F31B9D}"/>
                </a:ext>
              </a:extLst>
            </p:cNvPr>
            <p:cNvSpPr>
              <a:spLocks noChangeAspect="1"/>
            </p:cNvSpPr>
            <p:nvPr/>
          </p:nvSpPr>
          <p:spPr>
            <a:xfrm>
              <a:off x="2816387" y="6282396"/>
              <a:ext cx="1022032" cy="455578"/>
            </a:xfrm>
            <a:prstGeom prst="rect">
              <a:avLst/>
            </a:prstGeom>
            <a:solidFill>
              <a:srgbClr val="7500C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Prioridad</a:t>
              </a:r>
            </a:p>
          </p:txBody>
        </p:sp>
        <p:sp>
          <p:nvSpPr>
            <p:cNvPr id="13" name="Oval 12">
              <a:extLst>
                <a:ext uri="{FF2B5EF4-FFF2-40B4-BE49-F238E27FC236}">
                  <a16:creationId xmlns:a16="http://schemas.microsoft.com/office/drawing/2014/main" id="{7DDD4E3C-C967-5C5F-0835-E36F75E9F7C2}"/>
                </a:ext>
              </a:extLst>
            </p:cNvPr>
            <p:cNvSpPr>
              <a:spLocks noChangeAspect="1"/>
            </p:cNvSpPr>
            <p:nvPr/>
          </p:nvSpPr>
          <p:spPr>
            <a:xfrm>
              <a:off x="4077214" y="6435788"/>
              <a:ext cx="640842" cy="184507"/>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700"/>
                <a:t>Medio</a:t>
              </a:r>
            </a:p>
          </p:txBody>
        </p:sp>
        <p:sp>
          <p:nvSpPr>
            <p:cNvPr id="14" name="Oval 13">
              <a:extLst>
                <a:ext uri="{FF2B5EF4-FFF2-40B4-BE49-F238E27FC236}">
                  <a16:creationId xmlns:a16="http://schemas.microsoft.com/office/drawing/2014/main" id="{818F5DF1-BBF6-75EF-9E74-429C13BDC9EB}"/>
                </a:ext>
              </a:extLst>
            </p:cNvPr>
            <p:cNvSpPr>
              <a:spLocks noChangeAspect="1"/>
            </p:cNvSpPr>
            <p:nvPr/>
          </p:nvSpPr>
          <p:spPr>
            <a:xfrm>
              <a:off x="4077214" y="6633421"/>
              <a:ext cx="640842" cy="184507"/>
            </a:xfrm>
            <a:prstGeom prst="ellipse">
              <a:avLst/>
            </a:prstGeom>
            <a:solidFill>
              <a:srgbClr val="DCAFFF"/>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700"/>
                <a:t>Bajo</a:t>
              </a:r>
            </a:p>
          </p:txBody>
        </p:sp>
      </p:grpSp>
    </p:spTree>
    <p:extLst>
      <p:ext uri="{BB962C8B-B14F-4D97-AF65-F5344CB8AC3E}">
        <p14:creationId xmlns:p14="http://schemas.microsoft.com/office/powerpoint/2010/main" val="114539890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019FDD-725F-8534-EA90-E2044594B0D3}"/>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5CB0F6D9-5E92-5EB1-4799-BC6659D85A5C}"/>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alpha val="65000"/>
                  </a:srgbClr>
                </a:solidFill>
                <a:effectLst/>
                <a:uLnTx/>
                <a:uFillTx/>
                <a:latin typeface="Graphik"/>
                <a:ea typeface="+mn-ea"/>
                <a:cs typeface="+mn-cs"/>
              </a:rPr>
              <a:t>Copyright © 2026 Accenture. Todos los derechos reservados.</a:t>
            </a:r>
          </a:p>
        </p:txBody>
      </p:sp>
      <p:sp>
        <p:nvSpPr>
          <p:cNvPr id="4" name="Slide Number Placeholder 3">
            <a:extLst>
              <a:ext uri="{FF2B5EF4-FFF2-40B4-BE49-F238E27FC236}">
                <a16:creationId xmlns:a16="http://schemas.microsoft.com/office/drawing/2014/main" id="{3A721E09-FCBD-84FA-9776-B48A42155AF5}"/>
              </a:ext>
            </a:extLst>
          </p:cNvPr>
          <p:cNvSpPr>
            <a:spLocks noGrp="1"/>
          </p:cNvSpPr>
          <p:nvPr>
            <p:ph type="sldNum" sz="quarter" idx="429496729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Graphik"/>
                <a:ea typeface="+mn-ea"/>
                <a:cs typeface="+mn-cs"/>
              </a:rPr>
              <a:t> </a:t>
            </a:r>
          </a:p>
        </p:txBody>
      </p:sp>
      <p:sp>
        <p:nvSpPr>
          <p:cNvPr id="23" name="Title 1">
            <a:extLst>
              <a:ext uri="{FF2B5EF4-FFF2-40B4-BE49-F238E27FC236}">
                <a16:creationId xmlns:a16="http://schemas.microsoft.com/office/drawing/2014/main" id="{5844AA0A-B29E-375C-3DEA-15A60CE0BEC5}"/>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a:ln>
                  <a:noFill/>
                </a:ln>
                <a:solidFill>
                  <a:srgbClr val="7500C0"/>
                </a:solidFill>
                <a:effectLst/>
                <a:uLnTx/>
                <a:uFillTx/>
                <a:latin typeface="Graphik"/>
                <a:ea typeface="+mj-ea"/>
                <a:cs typeface="+mj-cs"/>
              </a:rPr>
              <a:t>Arquitectura de Interoperabilidad </a:t>
            </a:r>
            <a:r>
              <a:rPr kumimoji="0" lang="es" sz="2400" b="1" i="0" u="none" strike="noStrike" kern="1200" cap="none" spc="0" normalizeH="0" baseline="0" noProof="0">
                <a:ln>
                  <a:noFill/>
                </a:ln>
                <a:solidFill>
                  <a:srgbClr val="000000"/>
                </a:solidFill>
                <a:effectLst/>
                <a:uLnTx/>
                <a:uFillTx/>
                <a:latin typeface="Graphik"/>
                <a:ea typeface="+mj-ea"/>
                <a:cs typeface="+mj-cs"/>
              </a:rPr>
              <a:t>| </a:t>
            </a:r>
            <a:r>
              <a:rPr kumimoji="0" lang="es" sz="2000" b="1" i="0" u="none" strike="noStrike" kern="1200" cap="none" spc="0" normalizeH="0" baseline="0" noProof="0">
                <a:ln>
                  <a:noFill/>
                </a:ln>
                <a:solidFill>
                  <a:srgbClr val="000000"/>
                </a:solidFill>
                <a:effectLst/>
                <a:uLnTx/>
                <a:uFillTx/>
                <a:latin typeface="Graphik"/>
                <a:ea typeface="+mj-ea"/>
                <a:cs typeface="+mj-cs"/>
              </a:rPr>
              <a:t>Operaciones</a:t>
            </a:r>
            <a:endParaRPr kumimoji="0" lang="es" sz="2400" b="1" i="0" u="none" strike="noStrike" kern="1200" cap="none" spc="0" normalizeH="0" baseline="0" noProof="0">
              <a:ln>
                <a:noFill/>
              </a:ln>
              <a:solidFill>
                <a:srgbClr val="000000"/>
              </a:solidFill>
              <a:effectLst/>
              <a:uLnTx/>
              <a:uFillTx/>
              <a:latin typeface="Graphik"/>
              <a:ea typeface="+mj-ea"/>
              <a:cs typeface="+mj-cs"/>
            </a:endParaRPr>
          </a:p>
        </p:txBody>
      </p:sp>
      <p:graphicFrame>
        <p:nvGraphicFramePr>
          <p:cNvPr id="100" name="DetailTable"/>
          <p:cNvGraphicFramePr>
            <a:graphicFrameLocks noGrp="1"/>
          </p:cNvGraphicFramePr>
          <p:nvPr>
            <p:extLst>
              <p:ext uri="{D42A27DB-BD31-4B8C-83A1-F6EECF244321}">
                <p14:modId xmlns:p14="http://schemas.microsoft.com/office/powerpoint/2010/main" val="1723867605"/>
              </p:ext>
            </p:extLst>
          </p:nvPr>
        </p:nvGraphicFramePr>
        <p:xfrm>
          <a:off x="381000" y="1015000"/>
          <a:ext cx="11430000" cy="3865160"/>
        </p:xfrm>
        <a:graphic>
          <a:graphicData uri="http://schemas.openxmlformats.org/drawingml/2006/table">
            <a:tbl>
              <a:tblPr firstRow="1"/>
              <a:tblGrid>
                <a:gridCol w="1950000">
                  <a:extLst>
                    <a:ext uri="{9D8B030D-6E8A-4147-A177-3AD203B41FA5}">
                      <a16:colId xmlns:a16="http://schemas.microsoft.com/office/drawing/2014/main" val="20000"/>
                    </a:ext>
                  </a:extLst>
                </a:gridCol>
                <a:gridCol w="3450000">
                  <a:extLst>
                    <a:ext uri="{9D8B030D-6E8A-4147-A177-3AD203B41FA5}">
                      <a16:colId xmlns:a16="http://schemas.microsoft.com/office/drawing/2014/main" val="20001"/>
                    </a:ext>
                  </a:extLst>
                </a:gridCol>
                <a:gridCol w="3150000">
                  <a:extLst>
                    <a:ext uri="{9D8B030D-6E8A-4147-A177-3AD203B41FA5}">
                      <a16:colId xmlns:a16="http://schemas.microsoft.com/office/drawing/2014/main" val="20002"/>
                    </a:ext>
                  </a:extLst>
                </a:gridCol>
                <a:gridCol w="2880000">
                  <a:extLst>
                    <a:ext uri="{9D8B030D-6E8A-4147-A177-3AD203B41FA5}">
                      <a16:colId xmlns:a16="http://schemas.microsoft.com/office/drawing/2014/main" val="20003"/>
                    </a:ext>
                  </a:extLst>
                </a:gridCol>
              </a:tblGrid>
              <a:tr h="300000">
                <a:tc>
                  <a:txBody>
                    <a:bodyPr/>
                    <a:lstStyle/>
                    <a:p>
                      <a:pPr marL="0" indent="0" algn="l">
                        <a:lnSpc>
                          <a:spcPct val="104000"/>
                        </a:lnSpc>
                        <a:spcBef>
                          <a:spcPts val="30"/>
                        </a:spcBef>
                        <a:buNone/>
                      </a:pPr>
                      <a:r>
                        <a:rPr lang="es" sz="1000" b="1" i="0" dirty="0">
                          <a:solidFill>
                            <a:srgbClr val="FFFFFF"/>
                          </a:solidFill>
                          <a:latin typeface="Graphik"/>
                          <a:cs typeface="Graphik"/>
                        </a:rPr>
                        <a:t>Subcapacidad</a:t>
                      </a:r>
                    </a:p>
                  </a:txBody>
                  <a:tcPr marL="82000" marR="82000" marT="38000" marB="38000" anchor="ctr">
                    <a:solidFill>
                      <a:srgbClr val="7500C0"/>
                    </a:solidFill>
                  </a:tcPr>
                </a:tc>
                <a:tc>
                  <a:txBody>
                    <a:bodyPr/>
                    <a:lstStyle/>
                    <a:p>
                      <a:pPr marL="0" indent="0" algn="l">
                        <a:lnSpc>
                          <a:spcPct val="104000"/>
                        </a:lnSpc>
                        <a:spcBef>
                          <a:spcPts val="30"/>
                        </a:spcBef>
                        <a:buNone/>
                      </a:pPr>
                      <a:r>
                        <a:rPr lang="es" sz="1000" b="1" i="0">
                          <a:solidFill>
                            <a:srgbClr val="FFFFFF"/>
                          </a:solidFill>
                          <a:latin typeface="Graphik"/>
                          <a:cs typeface="Graphik"/>
                        </a:rPr>
                        <a:t>Descripción</a:t>
                      </a:r>
                    </a:p>
                  </a:txBody>
                  <a:tcPr marL="82000" marR="82000" marT="38000" marB="38000" anchor="ctr">
                    <a:solidFill>
                      <a:srgbClr val="7500C0"/>
                    </a:solidFill>
                  </a:tcPr>
                </a:tc>
                <a:tc>
                  <a:txBody>
                    <a:bodyPr/>
                    <a:lstStyle/>
                    <a:p>
                      <a:pPr marL="0" indent="0" algn="l">
                        <a:lnSpc>
                          <a:spcPct val="104000"/>
                        </a:lnSpc>
                        <a:spcBef>
                          <a:spcPts val="30"/>
                        </a:spcBef>
                        <a:buNone/>
                      </a:pPr>
                      <a:r>
                        <a:rPr lang="es" sz="1000" b="1" i="0">
                          <a:solidFill>
                            <a:srgbClr val="FFFFFF"/>
                          </a:solidFill>
                          <a:latin typeface="Graphik"/>
                          <a:cs typeface="Graphik"/>
                        </a:rPr>
                        <a:t>Propósito</a:t>
                      </a:r>
                    </a:p>
                  </a:txBody>
                  <a:tcPr marL="82000" marR="82000" marT="38000" marB="38000" anchor="ctr">
                    <a:solidFill>
                      <a:srgbClr val="7500C0"/>
                    </a:solidFill>
                  </a:tcPr>
                </a:tc>
                <a:tc>
                  <a:txBody>
                    <a:bodyPr/>
                    <a:lstStyle/>
                    <a:p>
                      <a:pPr marL="0" indent="0" algn="l">
                        <a:lnSpc>
                          <a:spcPct val="104000"/>
                        </a:lnSpc>
                        <a:spcBef>
                          <a:spcPts val="30"/>
                        </a:spcBef>
                        <a:buNone/>
                      </a:pPr>
                      <a:r>
                        <a:rPr lang="es" sz="1000" b="1" i="0">
                          <a:solidFill>
                            <a:srgbClr val="FFFFFF"/>
                          </a:solidFill>
                          <a:latin typeface="Graphik"/>
                          <a:cs typeface="Graphik"/>
                        </a:rPr>
                        <a:t>Soluciones en Coppel</a:t>
                      </a:r>
                    </a:p>
                  </a:txBody>
                  <a:tcPr marL="82000" marR="82000" marT="38000" marB="38000" anchor="ctr">
                    <a:solidFill>
                      <a:srgbClr val="7500C0"/>
                    </a:solidFill>
                  </a:tcPr>
                </a:tc>
                <a:extLst>
                  <a:ext uri="{0D108BD9-81ED-4DB2-BD59-A6C34878D82A}">
                    <a16:rowId xmlns:a16="http://schemas.microsoft.com/office/drawing/2014/main" val="10000"/>
                  </a:ext>
                </a:extLst>
              </a:tr>
              <a:tr h="765560">
                <a:tc>
                  <a:txBody>
                    <a:bodyPr/>
                    <a:lstStyle/>
                    <a:p>
                      <a:pPr marL="0" indent="0" algn="l">
                        <a:lnSpc>
                          <a:spcPct val="104000"/>
                        </a:lnSpc>
                        <a:spcBef>
                          <a:spcPts val="30"/>
                        </a:spcBef>
                        <a:buNone/>
                      </a:pPr>
                      <a:r>
                        <a:rPr lang="es" sz="800" b="1" i="0">
                          <a:solidFill>
                            <a:srgbClr val="9B7BC7"/>
                          </a:solidFill>
                          <a:latin typeface="Graphik"/>
                          <a:cs typeface="Graphik"/>
                        </a:rPr>
                        <a:t>3.1  </a:t>
                      </a:r>
                      <a:r>
                        <a:rPr lang="es" sz="800" b="1" i="0">
                          <a:solidFill>
                            <a:srgbClr val="7500C0"/>
                          </a:solidFill>
                          <a:latin typeface="Graphik"/>
                          <a:cs typeface="Graphik"/>
                        </a:rPr>
                        <a:t>Operaciones de Folio</a:t>
                      </a:r>
                    </a:p>
                  </a:txBody>
                  <a:tcPr marL="82000" marR="82000" marT="38000" marB="38000" anchor="ctr">
                    <a:solidFill>
                      <a:srgbClr val="EFE7F7"/>
                    </a:solidFill>
                  </a:tcPr>
                </a:tc>
                <a:tc>
                  <a:txBody>
                    <a:bodyPr/>
                    <a:lstStyle/>
                    <a:p>
                      <a:pPr marL="0" indent="0" algn="l">
                        <a:lnSpc>
                          <a:spcPct val="108000"/>
                        </a:lnSpc>
                        <a:spcBef>
                          <a:spcPts val="30"/>
                        </a:spcBef>
                        <a:buNone/>
                      </a:pPr>
                      <a:r>
                        <a:rPr lang="es" sz="800" b="0" i="0">
                          <a:solidFill>
                            <a:srgbClr val="2B2B2B"/>
                          </a:solidFill>
                          <a:latin typeface="Graphik"/>
                          <a:cs typeface="Graphik"/>
                        </a:rPr>
                        <a:t>Agrupación de las operaciones técnicas que conforman una única transacción empresarial bajo una única referencia empresarial, con la capacidad de recuperar, informar y actuar sobre ese grupo como una unidad.</a:t>
                      </a:r>
                    </a:p>
                  </a:txBody>
                  <a:tcPr marL="82000" marR="82000" marT="38000" marB="38000" anchor="ctr">
                    <a:solidFill>
                      <a:srgbClr val="FFFFFF"/>
                    </a:solidFill>
                  </a:tcPr>
                </a:tc>
                <a:tc>
                  <a:txBody>
                    <a:bodyPr/>
                    <a:lstStyle/>
                    <a:p>
                      <a:pPr marL="0" indent="0" algn="l">
                        <a:lnSpc>
                          <a:spcPct val="108000"/>
                        </a:lnSpc>
                        <a:spcBef>
                          <a:spcPts val="30"/>
                        </a:spcBef>
                        <a:buNone/>
                      </a:pPr>
                      <a:r>
                        <a:rPr lang="es" sz="800" b="0" i="0">
                          <a:solidFill>
                            <a:srgbClr val="444444"/>
                          </a:solidFill>
                          <a:latin typeface="Graphik"/>
                          <a:cs typeface="Graphik"/>
                        </a:rPr>
                        <a:t>Restaura la unidad de trabajo a nivel de negocio que un núcleo monolítico proporcionaba implícitamente, que es lo que mantiene la reversión, la investigación y la información significativas tras la descomposición.</a:t>
                      </a:r>
                    </a:p>
                  </a:txBody>
                  <a:tcPr marL="82000" marR="82000" marT="38000" marB="38000" anchor="ctr">
                    <a:solidFill>
                      <a:srgbClr val="FFFFFF"/>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No se evidencia ningún servicio dedicado de folio</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Los identificadores/informes relacionados están en los paneles PMO, registros operativos de Transact/SmartVista y informes de Data Warehouse</a:t>
                      </a:r>
                    </a:p>
                  </a:txBody>
                  <a:tcPr marL="82000" marR="82000" marT="38000" marB="38000" anchor="ctr">
                    <a:solidFill>
                      <a:srgbClr val="FFFFFF"/>
                    </a:solidFill>
                  </a:tcPr>
                </a:tc>
                <a:extLst>
                  <a:ext uri="{0D108BD9-81ED-4DB2-BD59-A6C34878D82A}">
                    <a16:rowId xmlns:a16="http://schemas.microsoft.com/office/drawing/2014/main" val="10001"/>
                  </a:ext>
                </a:extLst>
              </a:tr>
              <a:tr h="765560">
                <a:tc>
                  <a:txBody>
                    <a:bodyPr/>
                    <a:lstStyle/>
                    <a:p>
                      <a:pPr marL="0" indent="0" algn="l">
                        <a:lnSpc>
                          <a:spcPct val="104000"/>
                        </a:lnSpc>
                        <a:spcBef>
                          <a:spcPts val="30"/>
                        </a:spcBef>
                        <a:buNone/>
                      </a:pPr>
                      <a:r>
                        <a:rPr lang="es" sz="800" b="1" i="0" dirty="0">
                          <a:solidFill>
                            <a:srgbClr val="9B7BC7"/>
                          </a:solidFill>
                          <a:latin typeface="Graphik"/>
                          <a:cs typeface="Graphik"/>
                        </a:rPr>
                        <a:t>3.2  </a:t>
                      </a:r>
                      <a:r>
                        <a:rPr lang="es" sz="800" b="1" i="0" dirty="0">
                          <a:solidFill>
                            <a:srgbClr val="7500C0"/>
                          </a:solidFill>
                          <a:latin typeface="Graphik"/>
                          <a:cs typeface="Graphik"/>
                        </a:rPr>
                        <a:t>Gestión de feature flags</a:t>
                      </a:r>
                    </a:p>
                  </a:txBody>
                  <a:tcPr marL="82000" marR="82000" marT="38000" marB="38000" anchor="ctr">
                    <a:solidFill>
                      <a:srgbClr val="E9DEF4"/>
                    </a:solidFill>
                  </a:tcPr>
                </a:tc>
                <a:tc>
                  <a:txBody>
                    <a:bodyPr/>
                    <a:lstStyle/>
                    <a:p>
                      <a:pPr marL="0" indent="0" algn="l">
                        <a:lnSpc>
                          <a:spcPct val="108000"/>
                        </a:lnSpc>
                        <a:spcBef>
                          <a:spcPts val="30"/>
                        </a:spcBef>
                        <a:buNone/>
                      </a:pPr>
                      <a:r>
                        <a:rPr lang="es" sz="800" b="0" i="0" dirty="0">
                          <a:solidFill>
                            <a:srgbClr val="2B2B2B"/>
                          </a:solidFill>
                          <a:latin typeface="Graphik"/>
                          <a:cs typeface="Graphik"/>
                        </a:rPr>
                        <a:t>Configuración en tiempo de ejecución de la disponibilidad de funcionalidades, permitiendo activar, dirigirse o retirar comportamientos por consumidor, entidad, canal o compartición de tráfico sin necesidad de reimplementación.</a:t>
                      </a:r>
                    </a:p>
                  </a:txBody>
                  <a:tcPr marL="82000" marR="82000" marT="38000" marB="38000" anchor="ctr">
                    <a:solidFill>
                      <a:srgbClr val="F6F2FB"/>
                    </a:solidFill>
                  </a:tcPr>
                </a:tc>
                <a:tc>
                  <a:txBody>
                    <a:bodyPr/>
                    <a:lstStyle/>
                    <a:p>
                      <a:pPr marL="0" indent="0" algn="l">
                        <a:lnSpc>
                          <a:spcPct val="108000"/>
                        </a:lnSpc>
                        <a:spcBef>
                          <a:spcPts val="30"/>
                        </a:spcBef>
                        <a:buNone/>
                      </a:pPr>
                      <a:r>
                        <a:rPr lang="es" sz="800" b="0" i="0">
                          <a:solidFill>
                            <a:srgbClr val="444444"/>
                          </a:solidFill>
                          <a:latin typeface="Graphik"/>
                          <a:cs typeface="Graphik"/>
                        </a:rPr>
                        <a:t>La palanca de control principal para el corte de riesgo reducido: convierte un evento migratorio en una transición gradual, observable y reversible.</a:t>
                      </a:r>
                    </a:p>
                  </a:txBody>
                  <a:tcPr marL="82000" marR="82000" marT="38000" marB="38000" anchor="ctr">
                    <a:solidFill>
                      <a:srgbClr val="F6F2FB"/>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Los features flags se mencionan como una práctica de innovación en el canal, pero no se menciona ninguna herramienta</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El rollback de despliegue utiliza los pipelines/Helm y controles de rollback de plataforma de DevSecOps</a:t>
                      </a:r>
                    </a:p>
                  </a:txBody>
                  <a:tcPr marL="82000" marR="82000" marT="38000" marB="38000" anchor="ctr">
                    <a:solidFill>
                      <a:srgbClr val="F6F2FB"/>
                    </a:solidFill>
                  </a:tcPr>
                </a:tc>
                <a:extLst>
                  <a:ext uri="{0D108BD9-81ED-4DB2-BD59-A6C34878D82A}">
                    <a16:rowId xmlns:a16="http://schemas.microsoft.com/office/drawing/2014/main" val="10002"/>
                  </a:ext>
                </a:extLst>
              </a:tr>
              <a:tr h="933200">
                <a:tc>
                  <a:txBody>
                    <a:bodyPr/>
                    <a:lstStyle/>
                    <a:p>
                      <a:pPr marL="0" indent="0" algn="l">
                        <a:lnSpc>
                          <a:spcPct val="104000"/>
                        </a:lnSpc>
                        <a:spcBef>
                          <a:spcPts val="30"/>
                        </a:spcBef>
                        <a:buNone/>
                      </a:pPr>
                      <a:r>
                        <a:rPr lang="es" sz="800" b="1" i="0">
                          <a:solidFill>
                            <a:srgbClr val="9B7BC7"/>
                          </a:solidFill>
                          <a:latin typeface="Graphik"/>
                          <a:cs typeface="Graphik"/>
                        </a:rPr>
                        <a:t>3.3  </a:t>
                      </a:r>
                      <a:r>
                        <a:rPr lang="es" sz="800" b="1" i="0">
                          <a:solidFill>
                            <a:srgbClr val="7500C0"/>
                          </a:solidFill>
                          <a:latin typeface="Graphik"/>
                          <a:cs typeface="Graphik"/>
                        </a:rPr>
                        <a:t>UUID distribuido y servicios de correlación</a:t>
                      </a:r>
                    </a:p>
                  </a:txBody>
                  <a:tcPr marL="82000" marR="82000" marT="38000" marB="38000" anchor="ctr">
                    <a:solidFill>
                      <a:srgbClr val="EFE7F7"/>
                    </a:solidFill>
                  </a:tcPr>
                </a:tc>
                <a:tc>
                  <a:txBody>
                    <a:bodyPr/>
                    <a:lstStyle/>
                    <a:p>
                      <a:pPr marL="0" indent="0" algn="l">
                        <a:lnSpc>
                          <a:spcPct val="108000"/>
                        </a:lnSpc>
                        <a:spcBef>
                          <a:spcPts val="30"/>
                        </a:spcBef>
                        <a:buNone/>
                      </a:pPr>
                      <a:r>
                        <a:rPr lang="es" sz="800" b="0" i="0" dirty="0">
                          <a:solidFill>
                            <a:srgbClr val="2B2B2B"/>
                          </a:solidFill>
                          <a:latin typeface="Graphik"/>
                          <a:cs typeface="Graphik"/>
                        </a:rPr>
                        <a:t>Generación de identificadores únicos libres de colisiones entre componentes distribuidos y propagación consistente de identificadores de correlación a través de caminos síncronos y asíncronos.</a:t>
                      </a:r>
                    </a:p>
                  </a:txBody>
                  <a:tcPr marL="82000" marR="82000" marT="38000" marB="38000" anchor="ctr">
                    <a:solidFill>
                      <a:srgbClr val="FFFFFF"/>
                    </a:solidFill>
                  </a:tcPr>
                </a:tc>
                <a:tc>
                  <a:txBody>
                    <a:bodyPr/>
                    <a:lstStyle/>
                    <a:p>
                      <a:pPr marL="0" indent="0" algn="l">
                        <a:lnSpc>
                          <a:spcPct val="108000"/>
                        </a:lnSpc>
                        <a:spcBef>
                          <a:spcPts val="30"/>
                        </a:spcBef>
                        <a:buNone/>
                      </a:pPr>
                      <a:r>
                        <a:rPr lang="es" sz="800" b="0" i="0">
                          <a:solidFill>
                            <a:srgbClr val="444444"/>
                          </a:solidFill>
                          <a:latin typeface="Graphik"/>
                          <a:cs typeface="Graphik"/>
                        </a:rPr>
                        <a:t>La dependencia técnica única bajo la trazabilidad de extremo a extremo, auditoría distribuida y control de idempotencia; Sin ella, ninguna de esas capacidades podría funcionar.</a:t>
                      </a:r>
                    </a:p>
                  </a:txBody>
                  <a:tcPr marL="82000" marR="82000" marT="38000" marB="38000" anchor="ctr">
                    <a:solidFill>
                      <a:srgbClr val="FFFFFF"/>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No se evidencia ningún UUID o servicio de correlación independiente</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Probablemente gestionados por patrones </a:t>
                      </a:r>
                      <a:r>
                        <a:rPr lang="es-ES" sz="700" b="0" i="0" dirty="0" err="1">
                          <a:solidFill>
                            <a:srgbClr val="4B2E83"/>
                          </a:solidFill>
                          <a:latin typeface="+mn-lt"/>
                          <a:cs typeface="Graphik"/>
                        </a:rPr>
                        <a:t>APIgee</a:t>
                      </a:r>
                      <a:r>
                        <a:rPr lang="es" sz="700" b="0" i="0" dirty="0">
                          <a:solidFill>
                            <a:srgbClr val="4B2E83"/>
                          </a:solidFill>
                          <a:latin typeface="+mn-lt"/>
                          <a:cs typeface="Graphik"/>
                        </a:rPr>
                        <a:t>/MuleSoft/Istio/DataDog </a:t>
                      </a:r>
                      <a:r>
                        <a:rPr lang="es" sz="700" b="0" i="0" dirty="0">
                          <a:solidFill>
                            <a:srgbClr val="4B2E83"/>
                          </a:solidFill>
                          <a:latin typeface="Graphik"/>
                          <a:cs typeface="Graphik"/>
                        </a:rPr>
                        <a:t>e identificadores a nivel de aplicación</a:t>
                      </a:r>
                    </a:p>
                  </a:txBody>
                  <a:tcPr marL="82000" marR="82000" marT="38000" marB="38000" anchor="ctr">
                    <a:solidFill>
                      <a:srgbClr val="FFFFFF"/>
                    </a:solidFill>
                  </a:tcPr>
                </a:tc>
                <a:extLst>
                  <a:ext uri="{0D108BD9-81ED-4DB2-BD59-A6C34878D82A}">
                    <a16:rowId xmlns:a16="http://schemas.microsoft.com/office/drawing/2014/main" val="10003"/>
                  </a:ext>
                </a:extLst>
              </a:tr>
              <a:tr h="1100840">
                <a:tc>
                  <a:txBody>
                    <a:bodyPr/>
                    <a:lstStyle/>
                    <a:p>
                      <a:pPr marL="0" indent="0" algn="l">
                        <a:lnSpc>
                          <a:spcPct val="104000"/>
                        </a:lnSpc>
                        <a:spcBef>
                          <a:spcPts val="30"/>
                        </a:spcBef>
                        <a:buNone/>
                      </a:pPr>
                      <a:r>
                        <a:rPr lang="es" sz="800" b="1" i="0">
                          <a:solidFill>
                            <a:srgbClr val="9B7BC7"/>
                          </a:solidFill>
                          <a:latin typeface="Graphik"/>
                          <a:cs typeface="Graphik"/>
                        </a:rPr>
                        <a:t>3.4  </a:t>
                      </a:r>
                      <a:r>
                        <a:rPr lang="es" sz="800" b="1" i="0">
                          <a:solidFill>
                            <a:srgbClr val="7500C0"/>
                          </a:solidFill>
                          <a:latin typeface="Graphik"/>
                          <a:cs typeface="Graphik"/>
                        </a:rPr>
                        <a:t>Consolas de Administración de Plataforma</a:t>
                      </a:r>
                    </a:p>
                  </a:txBody>
                  <a:tcPr marL="82000" marR="82000" marT="38000" marB="38000" anchor="ctr">
                    <a:solidFill>
                      <a:srgbClr val="E9DEF4"/>
                    </a:solidFill>
                  </a:tcPr>
                </a:tc>
                <a:tc>
                  <a:txBody>
                    <a:bodyPr/>
                    <a:lstStyle/>
                    <a:p>
                      <a:pPr marL="0" indent="0" algn="l">
                        <a:lnSpc>
                          <a:spcPct val="108000"/>
                        </a:lnSpc>
                        <a:spcBef>
                          <a:spcPts val="30"/>
                        </a:spcBef>
                        <a:buNone/>
                      </a:pPr>
                      <a:r>
                        <a:rPr lang="es" sz="800" b="0" i="0" dirty="0">
                          <a:solidFill>
                            <a:srgbClr val="2B2B2B"/>
                          </a:solidFill>
                          <a:latin typeface="Graphik"/>
                          <a:cs typeface="Graphik"/>
                        </a:rPr>
                        <a:t>Interfaces administrativas para la capa de interoperabilidad: administración del registro de servicios, configuración en tiempo de ejecución y control operativo de componentes compartidos.</a:t>
                      </a:r>
                    </a:p>
                  </a:txBody>
                  <a:tcPr marL="82000" marR="82000" marT="38000" marB="38000" anchor="ctr">
                    <a:solidFill>
                      <a:srgbClr val="F6F2FB"/>
                    </a:solidFill>
                  </a:tcPr>
                </a:tc>
                <a:tc>
                  <a:txBody>
                    <a:bodyPr/>
                    <a:lstStyle/>
                    <a:p>
                      <a:pPr marL="0" indent="0" algn="l">
                        <a:lnSpc>
                          <a:spcPct val="108000"/>
                        </a:lnSpc>
                        <a:spcBef>
                          <a:spcPts val="30"/>
                        </a:spcBef>
                        <a:buNone/>
                      </a:pPr>
                      <a:r>
                        <a:rPr lang="es" sz="800" b="0" i="0">
                          <a:solidFill>
                            <a:srgbClr val="444444"/>
                          </a:solidFill>
                          <a:latin typeface="Graphik"/>
                          <a:cs typeface="Graphik"/>
                        </a:rPr>
                        <a:t>Proporciona a los propietarios nombrados una forma gobernada de cambiar el comportamiento de la plataforma, que es lo que permite que la capa sea operada por una función de operaciones en lugar de por sus creadores.</a:t>
                      </a:r>
                    </a:p>
                  </a:txBody>
                  <a:tcPr marL="82000" marR="82000" marT="38000" marB="38000" anchor="ctr">
                    <a:solidFill>
                      <a:srgbClr val="F6F2FB"/>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Administración/políticas de </a:t>
                      </a:r>
                      <a:r>
                        <a:rPr lang="es-ES" sz="700" b="0" i="0" dirty="0" err="1">
                          <a:solidFill>
                            <a:srgbClr val="4B2E83"/>
                          </a:solidFill>
                          <a:latin typeface="Graphik"/>
                          <a:cs typeface="Graphik"/>
                        </a:rPr>
                        <a:t>APIgee</a:t>
                      </a:r>
                      <a:endParaRPr lang="es" sz="700" b="0" i="0" dirty="0">
                        <a:solidFill>
                          <a:srgbClr val="4B2E83"/>
                        </a:solidFill>
                        <a:latin typeface="Graphik"/>
                        <a:cs typeface="Graphik"/>
                      </a:endParaRP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SmartVista Back Office</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Administración de Transact/Catálogo de productos</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Paneles de control de DataDog</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Gestión de configuración de Terraform/GitHub</a:t>
                      </a:r>
                    </a:p>
                  </a:txBody>
                  <a:tcPr marL="82000" marR="82000" marT="38000" marB="38000" anchor="ctr">
                    <a:solidFill>
                      <a:srgbClr val="F6F2FB"/>
                    </a:solidFill>
                  </a:tcPr>
                </a:tc>
                <a:extLst>
                  <a:ext uri="{0D108BD9-81ED-4DB2-BD59-A6C34878D82A}">
                    <a16:rowId xmlns:a16="http://schemas.microsoft.com/office/drawing/2014/main" val="10004"/>
                  </a:ext>
                </a:extLst>
              </a:tr>
            </a:tbl>
          </a:graphicData>
        </a:graphic>
      </p:graphicFrame>
      <p:sp>
        <p:nvSpPr>
          <p:cNvPr id="38" name="Kicker">
            <a:extLst>
              <a:ext uri="{FF2B5EF4-FFF2-40B4-BE49-F238E27FC236}">
                <a16:creationId xmlns:a16="http://schemas.microsoft.com/office/drawing/2014/main" id="{EACB9C03-A539-AD17-4039-F3ED76B64F79}"/>
              </a:ext>
            </a:extLst>
          </p:cNvPr>
          <p:cNvSpPr txBox="1"/>
          <p:nvPr/>
        </p:nvSpPr>
        <p:spPr>
          <a:xfrm>
            <a:off x="381000" y="775000"/>
            <a:ext cx="10200000" cy="200000"/>
          </a:xfrm>
          <a:prstGeom prst="rect">
            <a:avLst/>
          </a:prstGeom>
        </p:spPr>
        <p:txBody>
          <a:bodyPr lIns="0" tIns="0" rIns="0" bIns="0"/>
          <a:lstStyle/>
          <a:p>
            <a:pPr marL="0" indent="0" algn="l">
              <a:lnSpc>
                <a:spcPct val="104000"/>
              </a:lnSpc>
              <a:spcBef>
                <a:spcPts val="30"/>
              </a:spcBef>
              <a:buNone/>
            </a:pPr>
            <a:r>
              <a:rPr lang="es" sz="1000" b="1" i="0">
                <a:solidFill>
                  <a:srgbClr val="C00000"/>
                </a:solidFill>
                <a:latin typeface="Graphik"/>
                <a:cs typeface="Graphik"/>
              </a:rPr>
              <a:t>KERNEL &amp; PLATAFORMA |    4 SUBCAPACIDADES</a:t>
            </a:r>
          </a:p>
        </p:txBody>
      </p:sp>
      <p:sp>
        <p:nvSpPr>
          <p:cNvPr id="5" name="TextBox 4">
            <a:extLst>
              <a:ext uri="{FF2B5EF4-FFF2-40B4-BE49-F238E27FC236}">
                <a16:creationId xmlns:a16="http://schemas.microsoft.com/office/drawing/2014/main" id="{850C3B31-5B7B-4271-7970-EB045B0403C6}"/>
              </a:ext>
            </a:extLst>
          </p:cNvPr>
          <p:cNvSpPr txBox="1"/>
          <p:nvPr>
            <p:extLst>
              <p:ext uri="{1162E1C5-73C7-4A58-AE30-91384D911F3F}">
                <p184:classification xmlns:p184="http://schemas.microsoft.com/office/powerpoint/2018/4/main" val="hdr"/>
              </p:ext>
            </p:extLst>
          </p:nvPr>
        </p:nvSpPr>
        <p:spPr>
          <a:xfrm>
            <a:off x="379000" y="78170"/>
            <a:ext cx="11432000" cy="154830"/>
          </a:xfrm>
          <a:prstGeom prst="rect">
            <a:avLst/>
          </a:prstGeom>
        </p:spPr>
        <p:txBody>
          <a:bodyPr horzOverflow="overflow"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000" b="0" i="0" u="none" strike="noStrike" kern="1200" cap="none" spc="0" normalizeH="0" baseline="0" noProof="0">
                <a:ln>
                  <a:noFill/>
                </a:ln>
                <a:solidFill>
                  <a:srgbClr val="000000"/>
                </a:solidFill>
                <a:effectLst/>
                <a:uLnTx/>
                <a:uFillTx/>
                <a:latin typeface="Graphik (Body)"/>
                <a:ea typeface="+mn-ea"/>
                <a:cs typeface="Calibri" panose="020F0502020204030204" pitchFamily="34" charset="0"/>
              </a:rPr>
              <a:t>*** Confidencial - Solo para uso interno de la empresa ***</a:t>
            </a:r>
          </a:p>
        </p:txBody>
      </p:sp>
      <p:grpSp>
        <p:nvGrpSpPr>
          <p:cNvPr id="6" name="Group 5">
            <a:extLst>
              <a:ext uri="{FF2B5EF4-FFF2-40B4-BE49-F238E27FC236}">
                <a16:creationId xmlns:a16="http://schemas.microsoft.com/office/drawing/2014/main" id="{2021F93C-7229-3C4D-F493-3542289C10EC}"/>
              </a:ext>
            </a:extLst>
          </p:cNvPr>
          <p:cNvGrpSpPr/>
          <p:nvPr/>
        </p:nvGrpSpPr>
        <p:grpSpPr>
          <a:xfrm>
            <a:off x="717042" y="6191083"/>
            <a:ext cx="4001014" cy="631639"/>
            <a:chOff x="717042" y="6191083"/>
            <a:chExt cx="4001014" cy="631639"/>
          </a:xfrm>
        </p:grpSpPr>
        <p:sp>
          <p:nvSpPr>
            <p:cNvPr id="7" name="Rectangle 6">
              <a:extLst>
                <a:ext uri="{FF2B5EF4-FFF2-40B4-BE49-F238E27FC236}">
                  <a16:creationId xmlns:a16="http://schemas.microsoft.com/office/drawing/2014/main" id="{C2AC484C-337E-6F1E-486E-1F5682229959}"/>
                </a:ext>
              </a:extLst>
            </p:cNvPr>
            <p:cNvSpPr>
              <a:spLocks noChangeAspect="1"/>
            </p:cNvSpPr>
            <p:nvPr/>
          </p:nvSpPr>
          <p:spPr>
            <a:xfrm>
              <a:off x="1936749" y="6410745"/>
              <a:ext cx="774645" cy="202427"/>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GAP</a:t>
              </a:r>
            </a:p>
          </p:txBody>
        </p:sp>
        <p:sp>
          <p:nvSpPr>
            <p:cNvPr id="8" name="Rectangle 7">
              <a:extLst>
                <a:ext uri="{FF2B5EF4-FFF2-40B4-BE49-F238E27FC236}">
                  <a16:creationId xmlns:a16="http://schemas.microsoft.com/office/drawing/2014/main" id="{E94D1DA7-776D-6A55-E573-A01527F0FFF2}"/>
                </a:ext>
              </a:extLst>
            </p:cNvPr>
            <p:cNvSpPr>
              <a:spLocks noChangeAspect="1"/>
            </p:cNvSpPr>
            <p:nvPr/>
          </p:nvSpPr>
          <p:spPr>
            <a:xfrm>
              <a:off x="1936749" y="6191083"/>
              <a:ext cx="774645" cy="202427"/>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Objetivo</a:t>
              </a:r>
            </a:p>
          </p:txBody>
        </p:sp>
        <p:sp>
          <p:nvSpPr>
            <p:cNvPr id="9" name="Rectangle 8">
              <a:extLst>
                <a:ext uri="{FF2B5EF4-FFF2-40B4-BE49-F238E27FC236}">
                  <a16:creationId xmlns:a16="http://schemas.microsoft.com/office/drawing/2014/main" id="{D35C920C-67C9-A78E-E558-5117BED6DDE6}"/>
                </a:ext>
              </a:extLst>
            </p:cNvPr>
            <p:cNvSpPr>
              <a:spLocks noChangeAspect="1"/>
            </p:cNvSpPr>
            <p:nvPr/>
          </p:nvSpPr>
          <p:spPr>
            <a:xfrm>
              <a:off x="1936749" y="6620295"/>
              <a:ext cx="774645" cy="202427"/>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Descartar</a:t>
              </a:r>
            </a:p>
          </p:txBody>
        </p:sp>
        <p:sp>
          <p:nvSpPr>
            <p:cNvPr id="10" name="Oval 9">
              <a:extLst>
                <a:ext uri="{FF2B5EF4-FFF2-40B4-BE49-F238E27FC236}">
                  <a16:creationId xmlns:a16="http://schemas.microsoft.com/office/drawing/2014/main" id="{B2DAFF27-CD52-ED40-9EEA-181BB550E756}"/>
                </a:ext>
              </a:extLst>
            </p:cNvPr>
            <p:cNvSpPr>
              <a:spLocks noChangeAspect="1"/>
            </p:cNvSpPr>
            <p:nvPr/>
          </p:nvSpPr>
          <p:spPr>
            <a:xfrm>
              <a:off x="4077214" y="6226238"/>
              <a:ext cx="640842" cy="184507"/>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700"/>
                <a:t>Alto</a:t>
              </a:r>
            </a:p>
          </p:txBody>
        </p:sp>
        <p:sp>
          <p:nvSpPr>
            <p:cNvPr id="11" name="Rectangle 10">
              <a:extLst>
                <a:ext uri="{FF2B5EF4-FFF2-40B4-BE49-F238E27FC236}">
                  <a16:creationId xmlns:a16="http://schemas.microsoft.com/office/drawing/2014/main" id="{1A1E0787-5E7B-B610-8246-FAEE67CBC9FB}"/>
                </a:ext>
              </a:extLst>
            </p:cNvPr>
            <p:cNvSpPr>
              <a:spLocks noChangeAspect="1"/>
            </p:cNvSpPr>
            <p:nvPr/>
          </p:nvSpPr>
          <p:spPr>
            <a:xfrm>
              <a:off x="717042" y="6283336"/>
              <a:ext cx="1022032" cy="455578"/>
            </a:xfrm>
            <a:prstGeom prst="rect">
              <a:avLst/>
            </a:prstGeom>
            <a:solidFill>
              <a:srgbClr val="7500C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Evaluación de capacidades</a:t>
              </a:r>
            </a:p>
          </p:txBody>
        </p:sp>
        <p:sp>
          <p:nvSpPr>
            <p:cNvPr id="12" name="Rectangle 11">
              <a:extLst>
                <a:ext uri="{FF2B5EF4-FFF2-40B4-BE49-F238E27FC236}">
                  <a16:creationId xmlns:a16="http://schemas.microsoft.com/office/drawing/2014/main" id="{C9104ABE-5160-D721-08C7-74BD334C2DE3}"/>
                </a:ext>
              </a:extLst>
            </p:cNvPr>
            <p:cNvSpPr>
              <a:spLocks noChangeAspect="1"/>
            </p:cNvSpPr>
            <p:nvPr/>
          </p:nvSpPr>
          <p:spPr>
            <a:xfrm>
              <a:off x="2816387" y="6282396"/>
              <a:ext cx="1022032" cy="455578"/>
            </a:xfrm>
            <a:prstGeom prst="rect">
              <a:avLst/>
            </a:prstGeom>
            <a:solidFill>
              <a:srgbClr val="7500C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Prioridad</a:t>
              </a:r>
            </a:p>
          </p:txBody>
        </p:sp>
        <p:sp>
          <p:nvSpPr>
            <p:cNvPr id="13" name="Oval 12">
              <a:extLst>
                <a:ext uri="{FF2B5EF4-FFF2-40B4-BE49-F238E27FC236}">
                  <a16:creationId xmlns:a16="http://schemas.microsoft.com/office/drawing/2014/main" id="{5ED4DB83-E894-9AFD-952B-C5E71BAF2D3A}"/>
                </a:ext>
              </a:extLst>
            </p:cNvPr>
            <p:cNvSpPr>
              <a:spLocks noChangeAspect="1"/>
            </p:cNvSpPr>
            <p:nvPr/>
          </p:nvSpPr>
          <p:spPr>
            <a:xfrm>
              <a:off x="4077214" y="6435788"/>
              <a:ext cx="640842" cy="184507"/>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700"/>
                <a:t>Medio</a:t>
              </a:r>
            </a:p>
          </p:txBody>
        </p:sp>
        <p:sp>
          <p:nvSpPr>
            <p:cNvPr id="14" name="Oval 13">
              <a:extLst>
                <a:ext uri="{FF2B5EF4-FFF2-40B4-BE49-F238E27FC236}">
                  <a16:creationId xmlns:a16="http://schemas.microsoft.com/office/drawing/2014/main" id="{9EF2CC06-D35D-853D-4F67-CD14391363D5}"/>
                </a:ext>
              </a:extLst>
            </p:cNvPr>
            <p:cNvSpPr>
              <a:spLocks noChangeAspect="1"/>
            </p:cNvSpPr>
            <p:nvPr/>
          </p:nvSpPr>
          <p:spPr>
            <a:xfrm>
              <a:off x="4077214" y="6633421"/>
              <a:ext cx="640842" cy="184507"/>
            </a:xfrm>
            <a:prstGeom prst="ellipse">
              <a:avLst/>
            </a:prstGeom>
            <a:solidFill>
              <a:srgbClr val="DCAFFF"/>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700"/>
                <a:t>Bajo</a:t>
              </a:r>
            </a:p>
          </p:txBody>
        </p:sp>
      </p:grpSp>
    </p:spTree>
    <p:extLst>
      <p:ext uri="{BB962C8B-B14F-4D97-AF65-F5344CB8AC3E}">
        <p14:creationId xmlns:p14="http://schemas.microsoft.com/office/powerpoint/2010/main" val="114539890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019FDD-725F-8534-EA90-E2044594B0D3}"/>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5CB0F6D9-5E92-5EB1-4799-BC6659D85A5C}"/>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alpha val="65000"/>
                  </a:srgbClr>
                </a:solidFill>
                <a:effectLst/>
                <a:uLnTx/>
                <a:uFillTx/>
                <a:latin typeface="Graphik"/>
                <a:ea typeface="+mn-ea"/>
                <a:cs typeface="+mn-cs"/>
              </a:rPr>
              <a:t>Copyright © 2026 Accenture. Todos los derechos reservados.</a:t>
            </a:r>
          </a:p>
        </p:txBody>
      </p:sp>
      <p:sp>
        <p:nvSpPr>
          <p:cNvPr id="4" name="Slide Number Placeholder 3">
            <a:extLst>
              <a:ext uri="{FF2B5EF4-FFF2-40B4-BE49-F238E27FC236}">
                <a16:creationId xmlns:a16="http://schemas.microsoft.com/office/drawing/2014/main" id="{3A721E09-FCBD-84FA-9776-B48A42155AF5}"/>
              </a:ext>
            </a:extLst>
          </p:cNvPr>
          <p:cNvSpPr>
            <a:spLocks noGrp="1"/>
          </p:cNvSpPr>
          <p:nvPr>
            <p:ph type="sldNum" sz="quarter" idx="429496729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Graphik"/>
                <a:ea typeface="+mn-ea"/>
                <a:cs typeface="+mn-cs"/>
              </a:rPr>
              <a:t> </a:t>
            </a:r>
          </a:p>
        </p:txBody>
      </p:sp>
      <p:sp>
        <p:nvSpPr>
          <p:cNvPr id="23" name="Title 1">
            <a:extLst>
              <a:ext uri="{FF2B5EF4-FFF2-40B4-BE49-F238E27FC236}">
                <a16:creationId xmlns:a16="http://schemas.microsoft.com/office/drawing/2014/main" id="{5844AA0A-B29E-375C-3DEA-15A60CE0BEC5}"/>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dirty="0">
                <a:ln>
                  <a:noFill/>
                </a:ln>
                <a:solidFill>
                  <a:srgbClr val="7500C0"/>
                </a:solidFill>
                <a:effectLst/>
                <a:uLnTx/>
                <a:uFillTx/>
                <a:latin typeface="Graphik"/>
                <a:ea typeface="+mj-ea"/>
                <a:cs typeface="+mj-cs"/>
              </a:rPr>
              <a:t>Arquitectura de Interoperabilidad </a:t>
            </a:r>
            <a:r>
              <a:rPr kumimoji="0" lang="es" sz="2400" b="1" i="0" u="none" strike="noStrike" kern="1200" cap="none" spc="0" normalizeH="0" baseline="0" noProof="0" dirty="0">
                <a:ln>
                  <a:noFill/>
                </a:ln>
                <a:solidFill>
                  <a:srgbClr val="000000"/>
                </a:solidFill>
                <a:effectLst/>
                <a:uLnTx/>
                <a:uFillTx/>
                <a:latin typeface="Graphik"/>
                <a:ea typeface="+mj-ea"/>
                <a:cs typeface="+mj-cs"/>
              </a:rPr>
              <a:t>| </a:t>
            </a:r>
            <a:r>
              <a:rPr kumimoji="0" lang="es" sz="2000" b="1" i="0" u="none" strike="noStrike" kern="1200" cap="none" spc="0" normalizeH="0" baseline="0" noProof="0" dirty="0">
                <a:ln>
                  <a:noFill/>
                </a:ln>
                <a:solidFill>
                  <a:srgbClr val="000000"/>
                </a:solidFill>
                <a:effectLst/>
                <a:uLnTx/>
                <a:uFillTx/>
                <a:latin typeface="Graphik"/>
                <a:ea typeface="+mj-ea"/>
                <a:cs typeface="+mj-cs"/>
              </a:rPr>
              <a:t>Servicios de Gateway</a:t>
            </a:r>
            <a:endParaRPr kumimoji="0" lang="es" sz="2400" b="1" i="0" u="none" strike="noStrike" kern="1200" cap="none" spc="0" normalizeH="0" baseline="0" noProof="0" dirty="0">
              <a:ln>
                <a:noFill/>
              </a:ln>
              <a:solidFill>
                <a:srgbClr val="000000"/>
              </a:solidFill>
              <a:effectLst/>
              <a:uLnTx/>
              <a:uFillTx/>
              <a:latin typeface="Graphik"/>
              <a:ea typeface="+mj-ea"/>
              <a:cs typeface="+mj-cs"/>
            </a:endParaRPr>
          </a:p>
        </p:txBody>
      </p:sp>
      <p:sp>
        <p:nvSpPr>
          <p:cNvPr id="131" name="Kicker"/>
          <p:cNvSpPr txBox="1"/>
          <p:nvPr/>
        </p:nvSpPr>
        <p:spPr>
          <a:xfrm>
            <a:off x="381000" y="775000"/>
            <a:ext cx="10200000" cy="200000"/>
          </a:xfrm>
          <a:prstGeom prst="rect">
            <a:avLst/>
          </a:prstGeom>
        </p:spPr>
        <p:txBody>
          <a:bodyPr lIns="0" tIns="0" rIns="0" bIns="0"/>
          <a:lstStyle/>
          <a:p>
            <a:pPr marL="0" indent="0" algn="l">
              <a:lnSpc>
                <a:spcPct val="104000"/>
              </a:lnSpc>
              <a:spcBef>
                <a:spcPts val="30"/>
              </a:spcBef>
              <a:buNone/>
            </a:pPr>
            <a:r>
              <a:rPr lang="es" sz="1000" b="1" i="0">
                <a:solidFill>
                  <a:srgbClr val="C00000"/>
                </a:solidFill>
                <a:latin typeface="Graphik"/>
                <a:cs typeface="Graphik"/>
              </a:rPr>
              <a:t>KERNEL &amp; PLATAFORMA |    4 SUBCAPACIDADES</a:t>
            </a:r>
          </a:p>
        </p:txBody>
      </p:sp>
      <p:sp>
        <p:nvSpPr>
          <p:cNvPr id="130" name="KBadge"/>
          <p:cNvSpPr/>
          <p:nvPr/>
        </p:nvSpPr>
        <p:spPr>
          <a:xfrm>
            <a:off x="10980000" y="392000"/>
            <a:ext cx="300000" cy="300000"/>
          </a:xfrm>
          <a:prstGeom prst="ellipse">
            <a:avLst/>
          </a:prstGeom>
          <a:solidFill>
            <a:srgbClr val="C00000"/>
          </a:solidFill>
        </p:spPr>
        <p:txBody>
          <a:bodyPr anchor="ctr"/>
          <a:lstStyle/>
          <a:p>
            <a:pPr marL="0" indent="0" algn="ctr">
              <a:lnSpc>
                <a:spcPct val="104000"/>
              </a:lnSpc>
              <a:spcBef>
                <a:spcPts val="30"/>
              </a:spcBef>
              <a:buNone/>
            </a:pPr>
            <a:r>
              <a:rPr lang="es" sz="1400" b="1" i="0">
                <a:solidFill>
                  <a:srgbClr val="FFFFFF"/>
                </a:solidFill>
                <a:latin typeface="Graphik"/>
                <a:cs typeface="Graphik"/>
              </a:rPr>
              <a:t>K</a:t>
            </a:r>
          </a:p>
        </p:txBody>
      </p:sp>
      <p:graphicFrame>
        <p:nvGraphicFramePr>
          <p:cNvPr id="100" name="DetailTable"/>
          <p:cNvGraphicFramePr>
            <a:graphicFrameLocks noGrp="1"/>
          </p:cNvGraphicFramePr>
          <p:nvPr>
            <p:extLst>
              <p:ext uri="{D42A27DB-BD31-4B8C-83A1-F6EECF244321}">
                <p14:modId xmlns:p14="http://schemas.microsoft.com/office/powerpoint/2010/main" val="4184119359"/>
              </p:ext>
            </p:extLst>
          </p:nvPr>
        </p:nvGraphicFramePr>
        <p:xfrm>
          <a:off x="381000" y="1015000"/>
          <a:ext cx="11430000" cy="3865160"/>
        </p:xfrm>
        <a:graphic>
          <a:graphicData uri="http://schemas.openxmlformats.org/drawingml/2006/table">
            <a:tbl>
              <a:tblPr firstRow="1"/>
              <a:tblGrid>
                <a:gridCol w="1950000">
                  <a:extLst>
                    <a:ext uri="{9D8B030D-6E8A-4147-A177-3AD203B41FA5}">
                      <a16:colId xmlns:a16="http://schemas.microsoft.com/office/drawing/2014/main" val="20000"/>
                    </a:ext>
                  </a:extLst>
                </a:gridCol>
                <a:gridCol w="3450000">
                  <a:extLst>
                    <a:ext uri="{9D8B030D-6E8A-4147-A177-3AD203B41FA5}">
                      <a16:colId xmlns:a16="http://schemas.microsoft.com/office/drawing/2014/main" val="20001"/>
                    </a:ext>
                  </a:extLst>
                </a:gridCol>
                <a:gridCol w="3150000">
                  <a:extLst>
                    <a:ext uri="{9D8B030D-6E8A-4147-A177-3AD203B41FA5}">
                      <a16:colId xmlns:a16="http://schemas.microsoft.com/office/drawing/2014/main" val="20002"/>
                    </a:ext>
                  </a:extLst>
                </a:gridCol>
                <a:gridCol w="2880000">
                  <a:extLst>
                    <a:ext uri="{9D8B030D-6E8A-4147-A177-3AD203B41FA5}">
                      <a16:colId xmlns:a16="http://schemas.microsoft.com/office/drawing/2014/main" val="20003"/>
                    </a:ext>
                  </a:extLst>
                </a:gridCol>
              </a:tblGrid>
              <a:tr h="300000">
                <a:tc>
                  <a:txBody>
                    <a:bodyPr/>
                    <a:lstStyle/>
                    <a:p>
                      <a:pPr marL="0" indent="0" algn="l">
                        <a:lnSpc>
                          <a:spcPct val="104000"/>
                        </a:lnSpc>
                        <a:spcBef>
                          <a:spcPts val="30"/>
                        </a:spcBef>
                        <a:buNone/>
                      </a:pPr>
                      <a:r>
                        <a:rPr lang="es" sz="1000" b="1" i="0" dirty="0">
                          <a:solidFill>
                            <a:srgbClr val="FFFFFF"/>
                          </a:solidFill>
                          <a:latin typeface="Graphik"/>
                          <a:cs typeface="Graphik"/>
                        </a:rPr>
                        <a:t>Subcapacidad</a:t>
                      </a:r>
                    </a:p>
                  </a:txBody>
                  <a:tcPr marL="82000" marR="82000" marT="38000" marB="38000" anchor="ctr">
                    <a:solidFill>
                      <a:srgbClr val="7500C0"/>
                    </a:solidFill>
                  </a:tcPr>
                </a:tc>
                <a:tc>
                  <a:txBody>
                    <a:bodyPr/>
                    <a:lstStyle/>
                    <a:p>
                      <a:pPr marL="0" indent="0" algn="l">
                        <a:lnSpc>
                          <a:spcPct val="104000"/>
                        </a:lnSpc>
                        <a:spcBef>
                          <a:spcPts val="30"/>
                        </a:spcBef>
                        <a:buNone/>
                      </a:pPr>
                      <a:r>
                        <a:rPr lang="es" sz="1000" b="1" i="0">
                          <a:solidFill>
                            <a:srgbClr val="FFFFFF"/>
                          </a:solidFill>
                          <a:latin typeface="Graphik"/>
                          <a:cs typeface="Graphik"/>
                        </a:rPr>
                        <a:t>Descripción</a:t>
                      </a:r>
                    </a:p>
                  </a:txBody>
                  <a:tcPr marL="82000" marR="82000" marT="38000" marB="38000" anchor="ctr">
                    <a:solidFill>
                      <a:srgbClr val="7500C0"/>
                    </a:solidFill>
                  </a:tcPr>
                </a:tc>
                <a:tc>
                  <a:txBody>
                    <a:bodyPr/>
                    <a:lstStyle/>
                    <a:p>
                      <a:pPr marL="0" indent="0" algn="l">
                        <a:lnSpc>
                          <a:spcPct val="104000"/>
                        </a:lnSpc>
                        <a:spcBef>
                          <a:spcPts val="30"/>
                        </a:spcBef>
                        <a:buNone/>
                      </a:pPr>
                      <a:r>
                        <a:rPr lang="es" sz="1000" b="1" i="0">
                          <a:solidFill>
                            <a:srgbClr val="FFFFFF"/>
                          </a:solidFill>
                          <a:latin typeface="Graphik"/>
                          <a:cs typeface="Graphik"/>
                        </a:rPr>
                        <a:t>Propósito</a:t>
                      </a:r>
                    </a:p>
                  </a:txBody>
                  <a:tcPr marL="82000" marR="82000" marT="38000" marB="38000" anchor="ctr">
                    <a:solidFill>
                      <a:srgbClr val="7500C0"/>
                    </a:solidFill>
                  </a:tcPr>
                </a:tc>
                <a:tc>
                  <a:txBody>
                    <a:bodyPr/>
                    <a:lstStyle/>
                    <a:p>
                      <a:pPr marL="0" indent="0" algn="l">
                        <a:lnSpc>
                          <a:spcPct val="104000"/>
                        </a:lnSpc>
                        <a:spcBef>
                          <a:spcPts val="30"/>
                        </a:spcBef>
                        <a:buNone/>
                      </a:pPr>
                      <a:r>
                        <a:rPr lang="es" sz="1000" b="1" i="0">
                          <a:solidFill>
                            <a:srgbClr val="FFFFFF"/>
                          </a:solidFill>
                          <a:latin typeface="Graphik"/>
                          <a:cs typeface="Graphik"/>
                        </a:rPr>
                        <a:t>Soluciones en Coppel</a:t>
                      </a:r>
                    </a:p>
                  </a:txBody>
                  <a:tcPr marL="82000" marR="82000" marT="38000" marB="38000" anchor="ctr">
                    <a:solidFill>
                      <a:srgbClr val="7500C0"/>
                    </a:solidFill>
                  </a:tcPr>
                </a:tc>
                <a:extLst>
                  <a:ext uri="{0D108BD9-81ED-4DB2-BD59-A6C34878D82A}">
                    <a16:rowId xmlns:a16="http://schemas.microsoft.com/office/drawing/2014/main" val="10000"/>
                  </a:ext>
                </a:extLst>
              </a:tr>
              <a:tr h="765560">
                <a:tc>
                  <a:txBody>
                    <a:bodyPr/>
                    <a:lstStyle/>
                    <a:p>
                      <a:pPr marL="0" indent="0" algn="l">
                        <a:lnSpc>
                          <a:spcPct val="104000"/>
                        </a:lnSpc>
                        <a:spcBef>
                          <a:spcPts val="30"/>
                        </a:spcBef>
                        <a:buNone/>
                      </a:pPr>
                      <a:r>
                        <a:rPr lang="es" sz="800" b="1" i="0" dirty="0">
                          <a:solidFill>
                            <a:srgbClr val="9B7BC7"/>
                          </a:solidFill>
                          <a:latin typeface="Graphik"/>
                          <a:cs typeface="Graphik"/>
                        </a:rPr>
                        <a:t>4.1  </a:t>
                      </a:r>
                      <a:r>
                        <a:rPr lang="es" sz="800" b="1" i="0" dirty="0">
                          <a:solidFill>
                            <a:srgbClr val="7500C0"/>
                          </a:solidFill>
                          <a:latin typeface="Graphik"/>
                          <a:cs typeface="Graphik"/>
                        </a:rPr>
                        <a:t>Servicios de pasarela entrantes</a:t>
                      </a:r>
                    </a:p>
                  </a:txBody>
                  <a:tcPr marL="82000" marR="82000" marT="38000" marB="38000" anchor="ctr">
                    <a:solidFill>
                      <a:srgbClr val="EFE7F7"/>
                    </a:solidFill>
                  </a:tcPr>
                </a:tc>
                <a:tc>
                  <a:txBody>
                    <a:bodyPr/>
                    <a:lstStyle/>
                    <a:p>
                      <a:pPr marL="0" indent="0" algn="l">
                        <a:lnSpc>
                          <a:spcPct val="108000"/>
                        </a:lnSpc>
                        <a:spcBef>
                          <a:spcPts val="30"/>
                        </a:spcBef>
                        <a:buNone/>
                      </a:pPr>
                      <a:r>
                        <a:rPr lang="es" sz="800" b="0" i="0" dirty="0">
                          <a:solidFill>
                            <a:srgbClr val="2B2B2B"/>
                          </a:solidFill>
                          <a:latin typeface="Graphik"/>
                          <a:cs typeface="Graphik"/>
                        </a:rPr>
                        <a:t>Puntos de entrada gestionados para tráfico que se origina fuera del límite de confianza del banco, a través de canales de API, archivos y eventos, incluyendo el intercambio de asertura de identidad en el edge.</a:t>
                      </a:r>
                    </a:p>
                  </a:txBody>
                  <a:tcPr marL="82000" marR="82000" marT="38000" marB="38000" anchor="ctr">
                    <a:solidFill>
                      <a:srgbClr val="FFFFFF"/>
                    </a:solidFill>
                  </a:tcPr>
                </a:tc>
                <a:tc>
                  <a:txBody>
                    <a:bodyPr/>
                    <a:lstStyle/>
                    <a:p>
                      <a:pPr marL="0" indent="0" algn="l">
                        <a:lnSpc>
                          <a:spcPct val="108000"/>
                        </a:lnSpc>
                        <a:spcBef>
                          <a:spcPts val="30"/>
                        </a:spcBef>
                        <a:buNone/>
                      </a:pPr>
                      <a:r>
                        <a:rPr lang="es" sz="800" b="0" i="0" dirty="0">
                          <a:solidFill>
                            <a:srgbClr val="444444"/>
                          </a:solidFill>
                          <a:latin typeface="Graphik"/>
                          <a:cs typeface="Graphik"/>
                        </a:rPr>
                        <a:t>Da al banco una puerta principal gobernada por modalidad en lugar de una proliferación de conexiones bilaterales con controles inconsistentes.</a:t>
                      </a:r>
                    </a:p>
                  </a:txBody>
                  <a:tcPr marL="82000" marR="82000" marT="38000" marB="38000" anchor="ctr">
                    <a:solidFill>
                      <a:srgbClr val="FFFFFF"/>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Gateway API entrante/saliente de </a:t>
                      </a:r>
                      <a:r>
                        <a:rPr lang="es-ES" sz="700" b="0" i="0" dirty="0" err="1">
                          <a:solidFill>
                            <a:srgbClr val="4B2E83"/>
                          </a:solidFill>
                          <a:latin typeface="Graphik"/>
                          <a:cs typeface="Graphik"/>
                        </a:rPr>
                        <a:t>APIgee</a:t>
                      </a:r>
                      <a:endParaRPr lang="es" sz="700" b="0" i="0" dirty="0">
                        <a:solidFill>
                          <a:srgbClr val="4B2E83"/>
                        </a:solidFill>
                        <a:latin typeface="Graphik"/>
                        <a:cs typeface="Graphik"/>
                      </a:endParaRP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Integración de MuleSoft/WebMethods</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Amazon API Gateway vía Modyo Connect</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EKS/Istio Service Edge</a:t>
                      </a:r>
                    </a:p>
                  </a:txBody>
                  <a:tcPr marL="82000" marR="82000" marT="38000" marB="38000" anchor="ctr">
                    <a:solidFill>
                      <a:srgbClr val="FFFFFF"/>
                    </a:solidFill>
                  </a:tcPr>
                </a:tc>
                <a:extLst>
                  <a:ext uri="{0D108BD9-81ED-4DB2-BD59-A6C34878D82A}">
                    <a16:rowId xmlns:a16="http://schemas.microsoft.com/office/drawing/2014/main" val="10001"/>
                  </a:ext>
                </a:extLst>
              </a:tr>
              <a:tr h="765560">
                <a:tc>
                  <a:txBody>
                    <a:bodyPr/>
                    <a:lstStyle/>
                    <a:p>
                      <a:pPr marL="0" indent="0" algn="l">
                        <a:lnSpc>
                          <a:spcPct val="104000"/>
                        </a:lnSpc>
                        <a:spcBef>
                          <a:spcPts val="30"/>
                        </a:spcBef>
                        <a:buNone/>
                      </a:pPr>
                      <a:r>
                        <a:rPr lang="es" sz="800" b="1" i="0" dirty="0">
                          <a:solidFill>
                            <a:srgbClr val="9B7BC7"/>
                          </a:solidFill>
                          <a:latin typeface="Graphik"/>
                          <a:cs typeface="Graphik"/>
                        </a:rPr>
                        <a:t>4.2  </a:t>
                      </a:r>
                      <a:r>
                        <a:rPr lang="es" sz="800" b="1" i="0" dirty="0">
                          <a:solidFill>
                            <a:srgbClr val="7500C0"/>
                          </a:solidFill>
                          <a:latin typeface="Graphik"/>
                          <a:cs typeface="Graphik"/>
                        </a:rPr>
                        <a:t>Servicios de pasarela saliente</a:t>
                      </a:r>
                    </a:p>
                  </a:txBody>
                  <a:tcPr marL="82000" marR="82000" marT="38000" marB="38000" anchor="ctr">
                    <a:solidFill>
                      <a:srgbClr val="E9DEF4"/>
                    </a:solidFill>
                  </a:tcPr>
                </a:tc>
                <a:tc>
                  <a:txBody>
                    <a:bodyPr/>
                    <a:lstStyle/>
                    <a:p>
                      <a:pPr marL="0" indent="0" algn="l">
                        <a:lnSpc>
                          <a:spcPct val="108000"/>
                        </a:lnSpc>
                        <a:spcBef>
                          <a:spcPts val="30"/>
                        </a:spcBef>
                        <a:buNone/>
                      </a:pPr>
                      <a:r>
                        <a:rPr lang="es" sz="800" b="0" i="0" dirty="0">
                          <a:solidFill>
                            <a:srgbClr val="2B2B2B"/>
                          </a:solidFill>
                          <a:latin typeface="Graphik"/>
                          <a:cs typeface="Graphik"/>
                        </a:rPr>
                        <a:t>Puntos de salida gestionados para tráfico originado por bancos hacia contrapartes aguas abajo, a través de canales de API, archivos y eventos, incluyendo el cambio de transacciones a esquemas y procesadores.</a:t>
                      </a:r>
                    </a:p>
                  </a:txBody>
                  <a:tcPr marL="82000" marR="82000" marT="38000" marB="38000" anchor="ctr">
                    <a:solidFill>
                      <a:srgbClr val="F6F2FB"/>
                    </a:solidFill>
                  </a:tcPr>
                </a:tc>
                <a:tc>
                  <a:txBody>
                    <a:bodyPr/>
                    <a:lstStyle/>
                    <a:p>
                      <a:pPr marL="0" indent="0" algn="l">
                        <a:lnSpc>
                          <a:spcPct val="108000"/>
                        </a:lnSpc>
                        <a:spcBef>
                          <a:spcPts val="30"/>
                        </a:spcBef>
                        <a:buNone/>
                      </a:pPr>
                      <a:r>
                        <a:rPr lang="es" sz="800" b="0" i="0" dirty="0">
                          <a:solidFill>
                            <a:srgbClr val="444444"/>
                          </a:solidFill>
                          <a:latin typeface="Graphik"/>
                          <a:cs typeface="Graphik"/>
                        </a:rPr>
                        <a:t>Externaliza la conectividad y credenciales específicas de la contraparte del código de la aplicación, de modo que un proveedor puede ser reemplazado sin tocar los servicios empresariales.</a:t>
                      </a:r>
                    </a:p>
                  </a:txBody>
                  <a:tcPr marL="82000" marR="82000" marT="38000" marB="38000" anchor="ctr">
                    <a:solidFill>
                      <a:srgbClr val="F6F2FB"/>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Gateway API entrante/saliente de </a:t>
                      </a:r>
                      <a:r>
                        <a:rPr lang="es-ES" sz="700" b="0" i="0" dirty="0" err="1">
                          <a:solidFill>
                            <a:srgbClr val="4B2E83"/>
                          </a:solidFill>
                          <a:latin typeface="Graphik"/>
                          <a:cs typeface="Graphik"/>
                        </a:rPr>
                        <a:t>APIgee</a:t>
                      </a:r>
                      <a:endParaRPr lang="es" sz="700" b="0" i="0" dirty="0">
                        <a:solidFill>
                          <a:srgbClr val="4B2E83"/>
                        </a:solidFill>
                        <a:latin typeface="Graphik"/>
                        <a:cs typeface="Graphik"/>
                      </a:endParaRP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Integración de MuleSoft/WebMethods</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Amazon API Gateway vía Modyo Connect</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EKS/Istio Service Edge</a:t>
                      </a:r>
                    </a:p>
                  </a:txBody>
                  <a:tcPr marL="82000" marR="82000" marT="38000" marB="38000" anchor="ctr">
                    <a:solidFill>
                      <a:srgbClr val="F6F2FB"/>
                    </a:solidFill>
                  </a:tcPr>
                </a:tc>
                <a:extLst>
                  <a:ext uri="{0D108BD9-81ED-4DB2-BD59-A6C34878D82A}">
                    <a16:rowId xmlns:a16="http://schemas.microsoft.com/office/drawing/2014/main" val="10002"/>
                  </a:ext>
                </a:extLst>
              </a:tr>
              <a:tr h="933200">
                <a:tc>
                  <a:txBody>
                    <a:bodyPr/>
                    <a:lstStyle/>
                    <a:p>
                      <a:pPr marL="0" indent="0" algn="l">
                        <a:lnSpc>
                          <a:spcPct val="104000"/>
                        </a:lnSpc>
                        <a:spcBef>
                          <a:spcPts val="30"/>
                        </a:spcBef>
                        <a:buNone/>
                      </a:pPr>
                      <a:r>
                        <a:rPr lang="es" sz="800" b="1" i="0" dirty="0">
                          <a:solidFill>
                            <a:srgbClr val="9B7BC7"/>
                          </a:solidFill>
                          <a:latin typeface="Graphik"/>
                          <a:cs typeface="Graphik"/>
                        </a:rPr>
                        <a:t>4.3  </a:t>
                      </a:r>
                      <a:r>
                        <a:rPr lang="es" sz="800" b="1" i="0" dirty="0">
                          <a:solidFill>
                            <a:srgbClr val="7500C0"/>
                          </a:solidFill>
                          <a:latin typeface="Graphik"/>
                          <a:cs typeface="Graphik"/>
                        </a:rPr>
                        <a:t>Ecosistema y ventaja de Open Banking</a:t>
                      </a:r>
                    </a:p>
                  </a:txBody>
                  <a:tcPr marL="82000" marR="82000" marT="38000" marB="38000" anchor="ctr">
                    <a:solidFill>
                      <a:srgbClr val="EFE7F7"/>
                    </a:solidFill>
                  </a:tcPr>
                </a:tc>
                <a:tc>
                  <a:txBody>
                    <a:bodyPr/>
                    <a:lstStyle/>
                    <a:p>
                      <a:pPr marL="0" indent="0" algn="l">
                        <a:lnSpc>
                          <a:spcPct val="108000"/>
                        </a:lnSpc>
                        <a:spcBef>
                          <a:spcPts val="30"/>
                        </a:spcBef>
                        <a:buNone/>
                      </a:pPr>
                      <a:r>
                        <a:rPr lang="es-ES" sz="800" b="0" i="0" dirty="0">
                          <a:solidFill>
                            <a:srgbClr val="2B2B2B"/>
                          </a:solidFill>
                          <a:latin typeface="+mn-lt"/>
                          <a:cs typeface="Graphik"/>
                        </a:rPr>
                        <a:t>Perímetros especializados orientados al exterior para el tráfico regulado de Open </a:t>
                      </a:r>
                      <a:r>
                        <a:rPr lang="es-ES" sz="800" b="0" i="0" dirty="0" err="1">
                          <a:solidFill>
                            <a:srgbClr val="2B2B2B"/>
                          </a:solidFill>
                          <a:latin typeface="+mn-lt"/>
                          <a:cs typeface="Graphik"/>
                        </a:rPr>
                        <a:t>Banking</a:t>
                      </a:r>
                      <a:r>
                        <a:rPr lang="es-ES" sz="800" b="0" i="0" dirty="0">
                          <a:solidFill>
                            <a:srgbClr val="2B2B2B"/>
                          </a:solidFill>
                          <a:latin typeface="+mn-lt"/>
                          <a:cs typeface="Graphik"/>
                        </a:rPr>
                        <a:t>, la incorporación de socios y la experimentación controlada, incluyendo perímetros de filtrado y exposición en el mercado.</a:t>
                      </a:r>
                      <a:endParaRPr lang="es" sz="800" b="0" i="0" dirty="0">
                        <a:solidFill>
                          <a:srgbClr val="2B2B2B"/>
                        </a:solidFill>
                        <a:latin typeface="Graphik"/>
                        <a:cs typeface="Graphik"/>
                      </a:endParaRPr>
                    </a:p>
                  </a:txBody>
                  <a:tcPr marL="82000" marR="82000" marT="38000" marB="38000" anchor="ctr">
                    <a:solidFill>
                      <a:srgbClr val="FFFFFF"/>
                    </a:solidFill>
                  </a:tcPr>
                </a:tc>
                <a:tc>
                  <a:txBody>
                    <a:bodyPr/>
                    <a:lstStyle/>
                    <a:p>
                      <a:pPr marL="0" indent="0" algn="l">
                        <a:lnSpc>
                          <a:spcPct val="108000"/>
                        </a:lnSpc>
                        <a:spcBef>
                          <a:spcPts val="30"/>
                        </a:spcBef>
                        <a:buNone/>
                      </a:pPr>
                      <a:r>
                        <a:rPr lang="es" sz="800" b="0" i="0">
                          <a:solidFill>
                            <a:srgbClr val="444444"/>
                          </a:solidFill>
                          <a:latin typeface="Graphik"/>
                          <a:cs typeface="Graphik"/>
                        </a:rPr>
                        <a:t>Donde la capa de interoperabilidad se convierte en un canal de negocio: convierte capacidades internas en productos consumibles y contratados para terceros.</a:t>
                      </a:r>
                    </a:p>
                  </a:txBody>
                  <a:tcPr marL="82000" marR="82000" marT="38000" marB="38000" anchor="ctr">
                    <a:solidFill>
                      <a:srgbClr val="FFFFFF"/>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No se evidencia ningún producto específico de mercado o sandbox de socios de Open Banking</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Las capacidades adyacentes utilizan </a:t>
                      </a:r>
                      <a:r>
                        <a:rPr lang="es-ES" sz="700" b="0" i="0" dirty="0" err="1">
                          <a:solidFill>
                            <a:srgbClr val="4B2E83"/>
                          </a:solidFill>
                          <a:latin typeface="Graphik"/>
                          <a:cs typeface="Graphik"/>
                        </a:rPr>
                        <a:t>APIgee</a:t>
                      </a:r>
                      <a:r>
                        <a:rPr lang="es" sz="700" b="0" i="0" dirty="0">
                          <a:solidFill>
                            <a:srgbClr val="4B2E83"/>
                          </a:solidFill>
                          <a:latin typeface="Graphik"/>
                          <a:cs typeface="Graphik"/>
                        </a:rPr>
                        <a:t>, API Gateway, APIs BIAN y entornos sandbox/UAT</a:t>
                      </a:r>
                    </a:p>
                  </a:txBody>
                  <a:tcPr marL="82000" marR="82000" marT="38000" marB="38000" anchor="ctr">
                    <a:solidFill>
                      <a:srgbClr val="FFFFFF"/>
                    </a:solidFill>
                  </a:tcPr>
                </a:tc>
                <a:extLst>
                  <a:ext uri="{0D108BD9-81ED-4DB2-BD59-A6C34878D82A}">
                    <a16:rowId xmlns:a16="http://schemas.microsoft.com/office/drawing/2014/main" val="10003"/>
                  </a:ext>
                </a:extLst>
              </a:tr>
              <a:tr h="1100840">
                <a:tc>
                  <a:txBody>
                    <a:bodyPr/>
                    <a:lstStyle/>
                    <a:p>
                      <a:pPr marL="0" indent="0" algn="l">
                        <a:lnSpc>
                          <a:spcPct val="104000"/>
                        </a:lnSpc>
                        <a:spcBef>
                          <a:spcPts val="30"/>
                        </a:spcBef>
                        <a:buNone/>
                      </a:pPr>
                      <a:r>
                        <a:rPr lang="es" sz="800" b="1" i="0">
                          <a:solidFill>
                            <a:srgbClr val="9B7BC7"/>
                          </a:solidFill>
                          <a:latin typeface="Graphik"/>
                          <a:cs typeface="Graphik"/>
                        </a:rPr>
                        <a:t>4.4  </a:t>
                      </a:r>
                      <a:r>
                        <a:rPr lang="es" sz="800" b="1" i="0">
                          <a:solidFill>
                            <a:srgbClr val="7500C0"/>
                          </a:solidFill>
                          <a:latin typeface="Graphik"/>
                          <a:cs typeface="Graphik"/>
                        </a:rPr>
                        <a:t>Zonificación perimetral y conectividad</a:t>
                      </a:r>
                    </a:p>
                  </a:txBody>
                  <a:tcPr marL="82000" marR="82000" marT="38000" marB="38000" anchor="ctr">
                    <a:solidFill>
                      <a:srgbClr val="E9DEF4"/>
                    </a:solidFill>
                  </a:tcPr>
                </a:tc>
                <a:tc>
                  <a:txBody>
                    <a:bodyPr/>
                    <a:lstStyle/>
                    <a:p>
                      <a:pPr marL="0" indent="0" algn="l">
                        <a:lnSpc>
                          <a:spcPct val="108000"/>
                        </a:lnSpc>
                        <a:spcBef>
                          <a:spcPts val="30"/>
                        </a:spcBef>
                        <a:buNone/>
                      </a:pPr>
                      <a:r>
                        <a:rPr lang="es" sz="800" b="0" i="0" dirty="0">
                          <a:solidFill>
                            <a:srgbClr val="2B2B2B"/>
                          </a:solidFill>
                          <a:latin typeface="Graphik"/>
                          <a:cs typeface="Graphik"/>
                        </a:rPr>
                        <a:t>Segmentación de red, modelo de exposición DMZ, terminación de seguridad del transporte y gestión de conectividad que sustentan todas las modalidades de pasarela.</a:t>
                      </a:r>
                    </a:p>
                  </a:txBody>
                  <a:tcPr marL="82000" marR="82000" marT="38000" marB="38000" anchor="ctr">
                    <a:solidFill>
                      <a:srgbClr val="F6F2FB"/>
                    </a:solidFill>
                  </a:tcPr>
                </a:tc>
                <a:tc>
                  <a:txBody>
                    <a:bodyPr/>
                    <a:lstStyle/>
                    <a:p>
                      <a:pPr marL="0" indent="0" algn="l">
                        <a:lnSpc>
                          <a:spcPct val="108000"/>
                        </a:lnSpc>
                        <a:spcBef>
                          <a:spcPts val="30"/>
                        </a:spcBef>
                        <a:buNone/>
                      </a:pPr>
                      <a:r>
                        <a:rPr lang="es" sz="800" b="0" i="0" dirty="0">
                          <a:solidFill>
                            <a:srgbClr val="444444"/>
                          </a:solidFill>
                          <a:latin typeface="Graphik"/>
                          <a:cs typeface="Graphik"/>
                        </a:rPr>
                        <a:t>Establece la topología de confianza dentro de la cual operan todas las demás capacidades de pasarela; Sin él, el desacoplamiento aumenta la exposición en lugar de contenerla.</a:t>
                      </a:r>
                    </a:p>
                  </a:txBody>
                  <a:tcPr marL="82000" marR="82000" marT="38000" marB="38000" anchor="ctr">
                    <a:solidFill>
                      <a:srgbClr val="F6F2FB"/>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Imperva WAF </a:t>
                      </a:r>
                      <a:r>
                        <a:rPr lang="en-US" sz="700" b="0" i="0" dirty="0">
                          <a:solidFill>
                            <a:srgbClr val="4B2E83"/>
                          </a:solidFill>
                          <a:latin typeface="Graphik"/>
                          <a:cs typeface="Graphik"/>
                        </a:rPr>
                        <a:t>/ Cloud Armor</a:t>
                      </a:r>
                      <a:endParaRPr lang="es" sz="700" b="0" i="0" dirty="0">
                        <a:solidFill>
                          <a:srgbClr val="4B2E83"/>
                        </a:solidFill>
                        <a:latin typeface="Graphik"/>
                        <a:cs typeface="Graphik"/>
                      </a:endParaRP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AWS Shield</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Terminación TLS de Zscaler</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VPN/Direct Connect</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Reglas de etración</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Zonificación de redes AWS/GCP/local</a:t>
                      </a:r>
                    </a:p>
                  </a:txBody>
                  <a:tcPr marL="82000" marR="82000" marT="38000" marB="38000" anchor="ctr">
                    <a:solidFill>
                      <a:srgbClr val="F6F2FB"/>
                    </a:solidFill>
                  </a:tcPr>
                </a:tc>
                <a:extLst>
                  <a:ext uri="{0D108BD9-81ED-4DB2-BD59-A6C34878D82A}">
                    <a16:rowId xmlns:a16="http://schemas.microsoft.com/office/drawing/2014/main" val="10004"/>
                  </a:ext>
                </a:extLst>
              </a:tr>
            </a:tbl>
          </a:graphicData>
        </a:graphic>
      </p:graphicFrame>
      <p:sp>
        <p:nvSpPr>
          <p:cNvPr id="5" name="TextBox 4">
            <a:extLst>
              <a:ext uri="{FF2B5EF4-FFF2-40B4-BE49-F238E27FC236}">
                <a16:creationId xmlns:a16="http://schemas.microsoft.com/office/drawing/2014/main" id="{E5B2F6CA-8668-9E42-6752-81C8C18B5CF1}"/>
              </a:ext>
            </a:extLst>
          </p:cNvPr>
          <p:cNvSpPr txBox="1"/>
          <p:nvPr>
            <p:extLst>
              <p:ext uri="{1162E1C5-73C7-4A58-AE30-91384D911F3F}">
                <p184:classification xmlns:p184="http://schemas.microsoft.com/office/powerpoint/2018/4/main" val="hdr"/>
              </p:ext>
            </p:extLst>
          </p:nvPr>
        </p:nvSpPr>
        <p:spPr>
          <a:xfrm>
            <a:off x="379000" y="78170"/>
            <a:ext cx="11432000" cy="154830"/>
          </a:xfrm>
          <a:prstGeom prst="rect">
            <a:avLst/>
          </a:prstGeom>
        </p:spPr>
        <p:txBody>
          <a:bodyPr horzOverflow="overflow"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000" b="0" i="0" u="none" strike="noStrike" kern="1200" cap="none" spc="0" normalizeH="0" baseline="0" noProof="0">
                <a:ln>
                  <a:noFill/>
                </a:ln>
                <a:solidFill>
                  <a:srgbClr val="000000"/>
                </a:solidFill>
                <a:effectLst/>
                <a:uLnTx/>
                <a:uFillTx/>
                <a:latin typeface="Graphik (Body)"/>
                <a:ea typeface="+mn-ea"/>
                <a:cs typeface="Calibri" panose="020F0502020204030204" pitchFamily="34" charset="0"/>
              </a:rPr>
              <a:t>*** Confidencial - Solo para uso interno de la empresa ***</a:t>
            </a:r>
          </a:p>
        </p:txBody>
      </p:sp>
      <p:grpSp>
        <p:nvGrpSpPr>
          <p:cNvPr id="6" name="Group 5">
            <a:extLst>
              <a:ext uri="{FF2B5EF4-FFF2-40B4-BE49-F238E27FC236}">
                <a16:creationId xmlns:a16="http://schemas.microsoft.com/office/drawing/2014/main" id="{0EAF775C-D7AA-5547-2536-1347A0AA1968}"/>
              </a:ext>
            </a:extLst>
          </p:cNvPr>
          <p:cNvGrpSpPr/>
          <p:nvPr/>
        </p:nvGrpSpPr>
        <p:grpSpPr>
          <a:xfrm>
            <a:off x="717042" y="6191083"/>
            <a:ext cx="4001014" cy="631639"/>
            <a:chOff x="717042" y="6191083"/>
            <a:chExt cx="4001014" cy="631639"/>
          </a:xfrm>
        </p:grpSpPr>
        <p:sp>
          <p:nvSpPr>
            <p:cNvPr id="7" name="Rectangle 6">
              <a:extLst>
                <a:ext uri="{FF2B5EF4-FFF2-40B4-BE49-F238E27FC236}">
                  <a16:creationId xmlns:a16="http://schemas.microsoft.com/office/drawing/2014/main" id="{0FD7538E-A338-A51F-A4AF-334CCEDC4299}"/>
                </a:ext>
              </a:extLst>
            </p:cNvPr>
            <p:cNvSpPr>
              <a:spLocks noChangeAspect="1"/>
            </p:cNvSpPr>
            <p:nvPr/>
          </p:nvSpPr>
          <p:spPr>
            <a:xfrm>
              <a:off x="1936749" y="6410745"/>
              <a:ext cx="774645" cy="202427"/>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GAP</a:t>
              </a:r>
            </a:p>
          </p:txBody>
        </p:sp>
        <p:sp>
          <p:nvSpPr>
            <p:cNvPr id="8" name="Rectangle 7">
              <a:extLst>
                <a:ext uri="{FF2B5EF4-FFF2-40B4-BE49-F238E27FC236}">
                  <a16:creationId xmlns:a16="http://schemas.microsoft.com/office/drawing/2014/main" id="{23031B46-6C30-2EE0-768E-BFD3EB22E12E}"/>
                </a:ext>
              </a:extLst>
            </p:cNvPr>
            <p:cNvSpPr>
              <a:spLocks noChangeAspect="1"/>
            </p:cNvSpPr>
            <p:nvPr/>
          </p:nvSpPr>
          <p:spPr>
            <a:xfrm>
              <a:off x="1936749" y="6191083"/>
              <a:ext cx="774645" cy="202427"/>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Objetivo</a:t>
              </a:r>
            </a:p>
          </p:txBody>
        </p:sp>
        <p:sp>
          <p:nvSpPr>
            <p:cNvPr id="9" name="Rectangle 8">
              <a:extLst>
                <a:ext uri="{FF2B5EF4-FFF2-40B4-BE49-F238E27FC236}">
                  <a16:creationId xmlns:a16="http://schemas.microsoft.com/office/drawing/2014/main" id="{E3D99192-2E75-E618-BD5B-6B5B2D9A6D77}"/>
                </a:ext>
              </a:extLst>
            </p:cNvPr>
            <p:cNvSpPr>
              <a:spLocks noChangeAspect="1"/>
            </p:cNvSpPr>
            <p:nvPr/>
          </p:nvSpPr>
          <p:spPr>
            <a:xfrm>
              <a:off x="1936749" y="6620295"/>
              <a:ext cx="774645" cy="202427"/>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Descartar</a:t>
              </a:r>
            </a:p>
          </p:txBody>
        </p:sp>
        <p:sp>
          <p:nvSpPr>
            <p:cNvPr id="10" name="Oval 9">
              <a:extLst>
                <a:ext uri="{FF2B5EF4-FFF2-40B4-BE49-F238E27FC236}">
                  <a16:creationId xmlns:a16="http://schemas.microsoft.com/office/drawing/2014/main" id="{EBD5E5CC-A43B-C5C2-8481-9DA4B86E0899}"/>
                </a:ext>
              </a:extLst>
            </p:cNvPr>
            <p:cNvSpPr>
              <a:spLocks noChangeAspect="1"/>
            </p:cNvSpPr>
            <p:nvPr/>
          </p:nvSpPr>
          <p:spPr>
            <a:xfrm>
              <a:off x="4077214" y="6226238"/>
              <a:ext cx="640842" cy="184507"/>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700"/>
                <a:t>Alto</a:t>
              </a:r>
            </a:p>
          </p:txBody>
        </p:sp>
        <p:sp>
          <p:nvSpPr>
            <p:cNvPr id="11" name="Rectangle 10">
              <a:extLst>
                <a:ext uri="{FF2B5EF4-FFF2-40B4-BE49-F238E27FC236}">
                  <a16:creationId xmlns:a16="http://schemas.microsoft.com/office/drawing/2014/main" id="{0A244A90-897E-822E-CDE2-240653A25374}"/>
                </a:ext>
              </a:extLst>
            </p:cNvPr>
            <p:cNvSpPr>
              <a:spLocks noChangeAspect="1"/>
            </p:cNvSpPr>
            <p:nvPr/>
          </p:nvSpPr>
          <p:spPr>
            <a:xfrm>
              <a:off x="717042" y="6283336"/>
              <a:ext cx="1022032" cy="455578"/>
            </a:xfrm>
            <a:prstGeom prst="rect">
              <a:avLst/>
            </a:prstGeom>
            <a:solidFill>
              <a:srgbClr val="7500C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Evaluación de capacidades</a:t>
              </a:r>
            </a:p>
          </p:txBody>
        </p:sp>
        <p:sp>
          <p:nvSpPr>
            <p:cNvPr id="12" name="Rectangle 11">
              <a:extLst>
                <a:ext uri="{FF2B5EF4-FFF2-40B4-BE49-F238E27FC236}">
                  <a16:creationId xmlns:a16="http://schemas.microsoft.com/office/drawing/2014/main" id="{BC32F37C-C032-F5B6-4F4E-D0F4EDFD9D59}"/>
                </a:ext>
              </a:extLst>
            </p:cNvPr>
            <p:cNvSpPr>
              <a:spLocks noChangeAspect="1"/>
            </p:cNvSpPr>
            <p:nvPr/>
          </p:nvSpPr>
          <p:spPr>
            <a:xfrm>
              <a:off x="2816387" y="6282396"/>
              <a:ext cx="1022032" cy="455578"/>
            </a:xfrm>
            <a:prstGeom prst="rect">
              <a:avLst/>
            </a:prstGeom>
            <a:solidFill>
              <a:srgbClr val="7500C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Prioridad</a:t>
              </a:r>
            </a:p>
          </p:txBody>
        </p:sp>
        <p:sp>
          <p:nvSpPr>
            <p:cNvPr id="14" name="Oval 13">
              <a:extLst>
                <a:ext uri="{FF2B5EF4-FFF2-40B4-BE49-F238E27FC236}">
                  <a16:creationId xmlns:a16="http://schemas.microsoft.com/office/drawing/2014/main" id="{2313C54C-428C-E6DA-1710-11E37F3A483C}"/>
                </a:ext>
              </a:extLst>
            </p:cNvPr>
            <p:cNvSpPr>
              <a:spLocks noChangeAspect="1"/>
            </p:cNvSpPr>
            <p:nvPr/>
          </p:nvSpPr>
          <p:spPr>
            <a:xfrm>
              <a:off x="4077214" y="6435788"/>
              <a:ext cx="640842" cy="184507"/>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700"/>
                <a:t>Medio</a:t>
              </a:r>
            </a:p>
          </p:txBody>
        </p:sp>
        <p:sp>
          <p:nvSpPr>
            <p:cNvPr id="15" name="Oval 14">
              <a:extLst>
                <a:ext uri="{FF2B5EF4-FFF2-40B4-BE49-F238E27FC236}">
                  <a16:creationId xmlns:a16="http://schemas.microsoft.com/office/drawing/2014/main" id="{822889DA-4B92-7D94-EB52-81BCC9FBEAAD}"/>
                </a:ext>
              </a:extLst>
            </p:cNvPr>
            <p:cNvSpPr>
              <a:spLocks noChangeAspect="1"/>
            </p:cNvSpPr>
            <p:nvPr/>
          </p:nvSpPr>
          <p:spPr>
            <a:xfrm>
              <a:off x="4077214" y="6633421"/>
              <a:ext cx="640842" cy="184507"/>
            </a:xfrm>
            <a:prstGeom prst="ellipse">
              <a:avLst/>
            </a:prstGeom>
            <a:solidFill>
              <a:srgbClr val="DCAFFF"/>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700"/>
                <a:t>Bajo</a:t>
              </a:r>
            </a:p>
          </p:txBody>
        </p:sp>
      </p:grpSp>
    </p:spTree>
    <p:extLst>
      <p:ext uri="{BB962C8B-B14F-4D97-AF65-F5344CB8AC3E}">
        <p14:creationId xmlns:p14="http://schemas.microsoft.com/office/powerpoint/2010/main" val="114539890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019FDD-725F-8534-EA90-E2044594B0D3}"/>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5CB0F6D9-5E92-5EB1-4799-BC6659D85A5C}"/>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alpha val="65000"/>
                  </a:srgbClr>
                </a:solidFill>
                <a:effectLst/>
                <a:uLnTx/>
                <a:uFillTx/>
                <a:latin typeface="Graphik"/>
                <a:ea typeface="+mn-ea"/>
                <a:cs typeface="+mn-cs"/>
              </a:rPr>
              <a:t>Copyright © 2026 Accenture. Todos los derechos reservados.</a:t>
            </a:r>
          </a:p>
        </p:txBody>
      </p:sp>
      <p:sp>
        <p:nvSpPr>
          <p:cNvPr id="4" name="Slide Number Placeholder 3">
            <a:extLst>
              <a:ext uri="{FF2B5EF4-FFF2-40B4-BE49-F238E27FC236}">
                <a16:creationId xmlns:a16="http://schemas.microsoft.com/office/drawing/2014/main" id="{3A721E09-FCBD-84FA-9776-B48A42155AF5}"/>
              </a:ext>
            </a:extLst>
          </p:cNvPr>
          <p:cNvSpPr>
            <a:spLocks noGrp="1"/>
          </p:cNvSpPr>
          <p:nvPr>
            <p:ph type="sldNum" sz="quarter" idx="429496729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Graphik"/>
                <a:ea typeface="+mn-ea"/>
                <a:cs typeface="+mn-cs"/>
              </a:rPr>
              <a:t> </a:t>
            </a:r>
          </a:p>
        </p:txBody>
      </p:sp>
      <p:sp>
        <p:nvSpPr>
          <p:cNvPr id="23" name="Title 1">
            <a:extLst>
              <a:ext uri="{FF2B5EF4-FFF2-40B4-BE49-F238E27FC236}">
                <a16:creationId xmlns:a16="http://schemas.microsoft.com/office/drawing/2014/main" id="{5844AA0A-B29E-375C-3DEA-15A60CE0BEC5}"/>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dirty="0">
                <a:ln>
                  <a:noFill/>
                </a:ln>
                <a:solidFill>
                  <a:srgbClr val="7500C0"/>
                </a:solidFill>
                <a:effectLst/>
                <a:uLnTx/>
                <a:uFillTx/>
                <a:latin typeface="Graphik"/>
                <a:ea typeface="+mj-ea"/>
                <a:cs typeface="+mj-cs"/>
              </a:rPr>
              <a:t>Arquitectura de Interoperabilidad </a:t>
            </a:r>
            <a:r>
              <a:rPr kumimoji="0" lang="es" sz="2400" b="1" i="0" u="none" strike="noStrike" kern="1200" cap="none" spc="0" normalizeH="0" baseline="0" noProof="0" dirty="0">
                <a:ln>
                  <a:noFill/>
                </a:ln>
                <a:solidFill>
                  <a:srgbClr val="000000"/>
                </a:solidFill>
                <a:effectLst/>
                <a:uLnTx/>
                <a:uFillTx/>
                <a:latin typeface="Graphik"/>
                <a:ea typeface="+mj-ea"/>
                <a:cs typeface="+mj-cs"/>
              </a:rPr>
              <a:t>| </a:t>
            </a:r>
            <a:r>
              <a:rPr kumimoji="0" lang="es" sz="2000" b="1" i="0" u="none" strike="noStrike" kern="1200" cap="none" spc="0" normalizeH="0" baseline="0" noProof="0" dirty="0">
                <a:ln>
                  <a:noFill/>
                </a:ln>
                <a:solidFill>
                  <a:srgbClr val="000000"/>
                </a:solidFill>
                <a:effectLst/>
                <a:uLnTx/>
                <a:uFillTx/>
                <a:latin typeface="Graphik"/>
                <a:ea typeface="+mj-ea"/>
                <a:cs typeface="+mj-cs"/>
              </a:rPr>
              <a:t>Gestión de APIs</a:t>
            </a:r>
            <a:endParaRPr kumimoji="0" lang="es" sz="2400" b="1" i="0" u="none" strike="noStrike" kern="1200" cap="none" spc="0" normalizeH="0" baseline="0" noProof="0" dirty="0">
              <a:ln>
                <a:noFill/>
              </a:ln>
              <a:solidFill>
                <a:srgbClr val="000000"/>
              </a:solidFill>
              <a:effectLst/>
              <a:uLnTx/>
              <a:uFillTx/>
              <a:latin typeface="Graphik"/>
              <a:ea typeface="+mj-ea"/>
              <a:cs typeface="+mj-cs"/>
            </a:endParaRPr>
          </a:p>
        </p:txBody>
      </p:sp>
      <p:sp>
        <p:nvSpPr>
          <p:cNvPr id="131" name="Kicker"/>
          <p:cNvSpPr txBox="1"/>
          <p:nvPr/>
        </p:nvSpPr>
        <p:spPr>
          <a:xfrm>
            <a:off x="381000" y="775000"/>
            <a:ext cx="10200000" cy="200000"/>
          </a:xfrm>
          <a:prstGeom prst="rect">
            <a:avLst/>
          </a:prstGeom>
        </p:spPr>
        <p:txBody>
          <a:bodyPr lIns="0" tIns="0" rIns="0" bIns="0"/>
          <a:lstStyle/>
          <a:p>
            <a:pPr marL="0" indent="0" algn="l">
              <a:lnSpc>
                <a:spcPct val="104000"/>
              </a:lnSpc>
              <a:spcBef>
                <a:spcPts val="30"/>
              </a:spcBef>
              <a:buNone/>
            </a:pPr>
            <a:r>
              <a:rPr lang="es" sz="1000" b="1" i="0" dirty="0">
                <a:solidFill>
                  <a:srgbClr val="C00000"/>
                </a:solidFill>
                <a:latin typeface="Graphik"/>
                <a:cs typeface="Graphik"/>
              </a:rPr>
              <a:t>KERNEL &amp; PLATAFORMA |    4 SUBCAPACIDADES</a:t>
            </a:r>
          </a:p>
        </p:txBody>
      </p:sp>
      <p:sp>
        <p:nvSpPr>
          <p:cNvPr id="130" name="KBadge"/>
          <p:cNvSpPr/>
          <p:nvPr/>
        </p:nvSpPr>
        <p:spPr>
          <a:xfrm>
            <a:off x="10980000" y="392000"/>
            <a:ext cx="300000" cy="300000"/>
          </a:xfrm>
          <a:prstGeom prst="ellipse">
            <a:avLst/>
          </a:prstGeom>
          <a:solidFill>
            <a:srgbClr val="C00000"/>
          </a:solidFill>
        </p:spPr>
        <p:txBody>
          <a:bodyPr anchor="ctr"/>
          <a:lstStyle/>
          <a:p>
            <a:pPr marL="0" indent="0" algn="ctr">
              <a:lnSpc>
                <a:spcPct val="104000"/>
              </a:lnSpc>
              <a:spcBef>
                <a:spcPts val="30"/>
              </a:spcBef>
              <a:buNone/>
            </a:pPr>
            <a:r>
              <a:rPr lang="es" sz="1400" b="1" i="0">
                <a:solidFill>
                  <a:srgbClr val="FFFFFF"/>
                </a:solidFill>
                <a:latin typeface="Graphik"/>
                <a:cs typeface="Graphik"/>
              </a:rPr>
              <a:t>K</a:t>
            </a:r>
          </a:p>
        </p:txBody>
      </p:sp>
      <p:graphicFrame>
        <p:nvGraphicFramePr>
          <p:cNvPr id="100" name="DetailTable"/>
          <p:cNvGraphicFramePr>
            <a:graphicFrameLocks noGrp="1"/>
          </p:cNvGraphicFramePr>
          <p:nvPr>
            <p:extLst>
              <p:ext uri="{D42A27DB-BD31-4B8C-83A1-F6EECF244321}">
                <p14:modId xmlns:p14="http://schemas.microsoft.com/office/powerpoint/2010/main" val="3988262963"/>
              </p:ext>
            </p:extLst>
          </p:nvPr>
        </p:nvGraphicFramePr>
        <p:xfrm>
          <a:off x="381000" y="1015000"/>
          <a:ext cx="11430000" cy="4368080"/>
        </p:xfrm>
        <a:graphic>
          <a:graphicData uri="http://schemas.openxmlformats.org/drawingml/2006/table">
            <a:tbl>
              <a:tblPr firstRow="1"/>
              <a:tblGrid>
                <a:gridCol w="1950000">
                  <a:extLst>
                    <a:ext uri="{9D8B030D-6E8A-4147-A177-3AD203B41FA5}">
                      <a16:colId xmlns:a16="http://schemas.microsoft.com/office/drawing/2014/main" val="20000"/>
                    </a:ext>
                  </a:extLst>
                </a:gridCol>
                <a:gridCol w="3450000">
                  <a:extLst>
                    <a:ext uri="{9D8B030D-6E8A-4147-A177-3AD203B41FA5}">
                      <a16:colId xmlns:a16="http://schemas.microsoft.com/office/drawing/2014/main" val="20001"/>
                    </a:ext>
                  </a:extLst>
                </a:gridCol>
                <a:gridCol w="3150000">
                  <a:extLst>
                    <a:ext uri="{9D8B030D-6E8A-4147-A177-3AD203B41FA5}">
                      <a16:colId xmlns:a16="http://schemas.microsoft.com/office/drawing/2014/main" val="20002"/>
                    </a:ext>
                  </a:extLst>
                </a:gridCol>
                <a:gridCol w="2880000">
                  <a:extLst>
                    <a:ext uri="{9D8B030D-6E8A-4147-A177-3AD203B41FA5}">
                      <a16:colId xmlns:a16="http://schemas.microsoft.com/office/drawing/2014/main" val="20003"/>
                    </a:ext>
                  </a:extLst>
                </a:gridCol>
              </a:tblGrid>
              <a:tr h="300000">
                <a:tc>
                  <a:txBody>
                    <a:bodyPr/>
                    <a:lstStyle/>
                    <a:p>
                      <a:pPr marL="0" indent="0" algn="l">
                        <a:lnSpc>
                          <a:spcPct val="104000"/>
                        </a:lnSpc>
                        <a:spcBef>
                          <a:spcPts val="30"/>
                        </a:spcBef>
                        <a:buNone/>
                      </a:pPr>
                      <a:r>
                        <a:rPr lang="es" sz="1000" b="1" i="0" dirty="0">
                          <a:solidFill>
                            <a:srgbClr val="FFFFFF"/>
                          </a:solidFill>
                          <a:latin typeface="Graphik"/>
                          <a:cs typeface="Graphik"/>
                        </a:rPr>
                        <a:t>Subcapacidad</a:t>
                      </a:r>
                    </a:p>
                  </a:txBody>
                  <a:tcPr marL="82000" marR="82000" marT="38000" marB="38000" anchor="ctr">
                    <a:solidFill>
                      <a:srgbClr val="7500C0"/>
                    </a:solidFill>
                  </a:tcPr>
                </a:tc>
                <a:tc>
                  <a:txBody>
                    <a:bodyPr/>
                    <a:lstStyle/>
                    <a:p>
                      <a:pPr marL="0" indent="0" algn="l">
                        <a:lnSpc>
                          <a:spcPct val="104000"/>
                        </a:lnSpc>
                        <a:spcBef>
                          <a:spcPts val="30"/>
                        </a:spcBef>
                        <a:buNone/>
                      </a:pPr>
                      <a:r>
                        <a:rPr lang="es" sz="1000" b="1" i="0">
                          <a:solidFill>
                            <a:srgbClr val="FFFFFF"/>
                          </a:solidFill>
                          <a:latin typeface="Graphik"/>
                          <a:cs typeface="Graphik"/>
                        </a:rPr>
                        <a:t>Descripción</a:t>
                      </a:r>
                    </a:p>
                  </a:txBody>
                  <a:tcPr marL="82000" marR="82000" marT="38000" marB="38000" anchor="ctr">
                    <a:solidFill>
                      <a:srgbClr val="7500C0"/>
                    </a:solidFill>
                  </a:tcPr>
                </a:tc>
                <a:tc>
                  <a:txBody>
                    <a:bodyPr/>
                    <a:lstStyle/>
                    <a:p>
                      <a:pPr marL="0" indent="0" algn="l">
                        <a:lnSpc>
                          <a:spcPct val="104000"/>
                        </a:lnSpc>
                        <a:spcBef>
                          <a:spcPts val="30"/>
                        </a:spcBef>
                        <a:buNone/>
                      </a:pPr>
                      <a:r>
                        <a:rPr lang="es" sz="1000" b="1" i="0">
                          <a:solidFill>
                            <a:srgbClr val="FFFFFF"/>
                          </a:solidFill>
                          <a:latin typeface="Graphik"/>
                          <a:cs typeface="Graphik"/>
                        </a:rPr>
                        <a:t>Propósito</a:t>
                      </a:r>
                    </a:p>
                  </a:txBody>
                  <a:tcPr marL="82000" marR="82000" marT="38000" marB="38000" anchor="ctr">
                    <a:solidFill>
                      <a:srgbClr val="7500C0"/>
                    </a:solidFill>
                  </a:tcPr>
                </a:tc>
                <a:tc>
                  <a:txBody>
                    <a:bodyPr/>
                    <a:lstStyle/>
                    <a:p>
                      <a:pPr marL="0" indent="0" algn="l">
                        <a:lnSpc>
                          <a:spcPct val="104000"/>
                        </a:lnSpc>
                        <a:spcBef>
                          <a:spcPts val="30"/>
                        </a:spcBef>
                        <a:buNone/>
                      </a:pPr>
                      <a:r>
                        <a:rPr lang="es" sz="1000" b="1" i="0">
                          <a:solidFill>
                            <a:srgbClr val="FFFFFF"/>
                          </a:solidFill>
                          <a:latin typeface="Graphik"/>
                          <a:cs typeface="Graphik"/>
                        </a:rPr>
                        <a:t>Soluciones en Coppel</a:t>
                      </a:r>
                    </a:p>
                  </a:txBody>
                  <a:tcPr marL="82000" marR="82000" marT="38000" marB="38000" anchor="ctr">
                    <a:solidFill>
                      <a:srgbClr val="7500C0"/>
                    </a:solidFill>
                  </a:tcPr>
                </a:tc>
                <a:extLst>
                  <a:ext uri="{0D108BD9-81ED-4DB2-BD59-A6C34878D82A}">
                    <a16:rowId xmlns:a16="http://schemas.microsoft.com/office/drawing/2014/main" val="10000"/>
                  </a:ext>
                </a:extLst>
              </a:tr>
              <a:tr h="933200">
                <a:tc>
                  <a:txBody>
                    <a:bodyPr/>
                    <a:lstStyle/>
                    <a:p>
                      <a:pPr marL="0" indent="0" algn="l">
                        <a:lnSpc>
                          <a:spcPct val="104000"/>
                        </a:lnSpc>
                        <a:spcBef>
                          <a:spcPts val="30"/>
                        </a:spcBef>
                        <a:buNone/>
                      </a:pPr>
                      <a:r>
                        <a:rPr lang="es" sz="800" b="1" i="0" dirty="0">
                          <a:solidFill>
                            <a:srgbClr val="9B7BC7"/>
                          </a:solidFill>
                          <a:latin typeface="Graphik"/>
                          <a:cs typeface="Graphik"/>
                        </a:rPr>
                        <a:t>5.1  </a:t>
                      </a:r>
                      <a:r>
                        <a:rPr lang="es" sz="800" b="1" i="0" dirty="0">
                          <a:solidFill>
                            <a:srgbClr val="7500C0"/>
                          </a:solidFill>
                          <a:latin typeface="Graphik"/>
                          <a:cs typeface="Graphik"/>
                        </a:rPr>
                        <a:t>Gateway API y Mediación en Tiempo de Ejecución</a:t>
                      </a:r>
                    </a:p>
                  </a:txBody>
                  <a:tcPr marL="82000" marR="82000" marT="38000" marB="38000" anchor="ctr">
                    <a:solidFill>
                      <a:srgbClr val="EFE7F7"/>
                    </a:solidFill>
                  </a:tcPr>
                </a:tc>
                <a:tc>
                  <a:txBody>
                    <a:bodyPr/>
                    <a:lstStyle/>
                    <a:p>
                      <a:pPr marL="0" indent="0" algn="l">
                        <a:lnSpc>
                          <a:spcPct val="108000"/>
                        </a:lnSpc>
                        <a:spcBef>
                          <a:spcPts val="30"/>
                        </a:spcBef>
                        <a:buNone/>
                      </a:pPr>
                      <a:r>
                        <a:rPr lang="es" sz="800" b="0" i="0">
                          <a:solidFill>
                            <a:srgbClr val="2B2B2B"/>
                          </a:solidFill>
                          <a:latin typeface="Graphik"/>
                          <a:cs typeface="Graphik"/>
                        </a:rPr>
                        <a:t>Plano de ejecución que termina, valida, media y enruta el tráfico API entre consumidores y proveedores, aplicando la política en el punto de invocación en lugar de dentro del código de la aplicación.</a:t>
                      </a:r>
                    </a:p>
                  </a:txBody>
                  <a:tcPr marL="82000" marR="82000" marT="38000" marB="38000" anchor="ctr">
                    <a:solidFill>
                      <a:srgbClr val="FFFFFF"/>
                    </a:solidFill>
                  </a:tcPr>
                </a:tc>
                <a:tc>
                  <a:txBody>
                    <a:bodyPr/>
                    <a:lstStyle/>
                    <a:p>
                      <a:pPr marL="0" indent="0" algn="l">
                        <a:lnSpc>
                          <a:spcPct val="108000"/>
                        </a:lnSpc>
                        <a:spcBef>
                          <a:spcPts val="30"/>
                        </a:spcBef>
                        <a:buNone/>
                      </a:pPr>
                      <a:r>
                        <a:rPr lang="es" sz="800" b="0" i="0">
                          <a:solidFill>
                            <a:srgbClr val="444444"/>
                          </a:solidFill>
                          <a:latin typeface="Graphik"/>
                          <a:cs typeface="Graphik"/>
                        </a:rPr>
                        <a:t>Hace cumplir el contrato en tiempo de ejecución, así que el desacoplamiento está garantizado por la plataforma en lugar de por la disciplina del desarrollador.</a:t>
                      </a:r>
                    </a:p>
                  </a:txBody>
                  <a:tcPr marL="82000" marR="82000" marT="38000" marB="38000" anchor="ctr">
                    <a:solidFill>
                      <a:srgbClr val="FFFFFF"/>
                    </a:solidFill>
                  </a:tcPr>
                </a:tc>
                <a:tc>
                  <a:txBody>
                    <a:bodyPr/>
                    <a:lstStyle/>
                    <a:p>
                      <a:pPr marL="150000" indent="-150000" algn="l">
                        <a:lnSpc>
                          <a:spcPct val="104000"/>
                        </a:lnSpc>
                        <a:spcBef>
                          <a:spcPts val="45"/>
                        </a:spcBef>
                        <a:buClr>
                          <a:srgbClr val="7500C0"/>
                        </a:buClr>
                        <a:buFont typeface="Arial"/>
                        <a:buChar char="▪"/>
                      </a:pPr>
                      <a:r>
                        <a:rPr lang="es-ES" sz="700" b="0" i="0" dirty="0" err="1">
                          <a:solidFill>
                            <a:srgbClr val="4B2E83"/>
                          </a:solidFill>
                          <a:latin typeface="Graphik"/>
                          <a:cs typeface="Graphik"/>
                        </a:rPr>
                        <a:t>APIgee</a:t>
                      </a:r>
                      <a:r>
                        <a:rPr lang="es" sz="700" b="0" i="0" dirty="0">
                          <a:solidFill>
                            <a:srgbClr val="4B2E83"/>
                          </a:solidFill>
                          <a:latin typeface="Graphik"/>
                          <a:cs typeface="Graphik"/>
                        </a:rPr>
                        <a:t> API Gateway/API Management</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Integración/orquestación con MuleSoft</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WebMethods BPM/BRM</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APIs alineadas con BIAN</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Transacciones con APIs REST de OFS/IRIS</a:t>
                      </a:r>
                    </a:p>
                  </a:txBody>
                  <a:tcPr marL="82000" marR="82000" marT="38000" marB="38000" anchor="ctr">
                    <a:solidFill>
                      <a:srgbClr val="FFFFFF"/>
                    </a:solidFill>
                  </a:tcPr>
                </a:tc>
                <a:extLst>
                  <a:ext uri="{0D108BD9-81ED-4DB2-BD59-A6C34878D82A}">
                    <a16:rowId xmlns:a16="http://schemas.microsoft.com/office/drawing/2014/main" val="10001"/>
                  </a:ext>
                </a:extLst>
              </a:tr>
              <a:tr h="1100840">
                <a:tc>
                  <a:txBody>
                    <a:bodyPr/>
                    <a:lstStyle/>
                    <a:p>
                      <a:pPr marL="0" indent="0" algn="l">
                        <a:lnSpc>
                          <a:spcPct val="104000"/>
                        </a:lnSpc>
                        <a:spcBef>
                          <a:spcPts val="30"/>
                        </a:spcBef>
                        <a:buNone/>
                      </a:pPr>
                      <a:r>
                        <a:rPr lang="es" sz="800" b="1" i="0">
                          <a:solidFill>
                            <a:srgbClr val="9B7BC7"/>
                          </a:solidFill>
                          <a:latin typeface="Graphik"/>
                          <a:cs typeface="Graphik"/>
                        </a:rPr>
                        <a:t>5.2  </a:t>
                      </a:r>
                      <a:r>
                        <a:rPr lang="es" sz="800" b="1" i="0">
                          <a:solidFill>
                            <a:srgbClr val="7500C0"/>
                          </a:solidFill>
                          <a:latin typeface="Graphik"/>
                          <a:cs typeface="Graphik"/>
                        </a:rPr>
                        <a:t>Gestión del ciclo de vida de la API</a:t>
                      </a:r>
                    </a:p>
                  </a:txBody>
                  <a:tcPr marL="82000" marR="82000" marT="38000" marB="38000" anchor="ctr">
                    <a:solidFill>
                      <a:srgbClr val="E9DEF4"/>
                    </a:solidFill>
                  </a:tcPr>
                </a:tc>
                <a:tc>
                  <a:txBody>
                    <a:bodyPr/>
                    <a:lstStyle/>
                    <a:p>
                      <a:pPr marL="0" indent="0" algn="l">
                        <a:lnSpc>
                          <a:spcPct val="108000"/>
                        </a:lnSpc>
                        <a:spcBef>
                          <a:spcPts val="30"/>
                        </a:spcBef>
                        <a:buNone/>
                      </a:pPr>
                      <a:r>
                        <a:rPr lang="es" sz="800" b="0" i="0" dirty="0">
                          <a:solidFill>
                            <a:srgbClr val="2B2B2B"/>
                          </a:solidFill>
                          <a:latin typeface="Graphik"/>
                          <a:cs typeface="Graphik"/>
                        </a:rPr>
                        <a:t>Plano de control que gobierna una API desde el diseño y la definición del contrato hasta la publicación, la versión de versión, la notificación de cambios y la eventual retirada.</a:t>
                      </a:r>
                    </a:p>
                  </a:txBody>
                  <a:tcPr marL="82000" marR="82000" marT="38000" marB="38000" anchor="ctr">
                    <a:solidFill>
                      <a:srgbClr val="F6F2FB"/>
                    </a:solidFill>
                  </a:tcPr>
                </a:tc>
                <a:tc>
                  <a:txBody>
                    <a:bodyPr/>
                    <a:lstStyle/>
                    <a:p>
                      <a:pPr marL="0" indent="0" algn="l">
                        <a:lnSpc>
                          <a:spcPct val="108000"/>
                        </a:lnSpc>
                        <a:spcBef>
                          <a:spcPts val="30"/>
                        </a:spcBef>
                        <a:buNone/>
                      </a:pPr>
                      <a:r>
                        <a:rPr lang="es" sz="800" b="0" i="0" dirty="0">
                          <a:solidFill>
                            <a:srgbClr val="444444"/>
                          </a:solidFill>
                          <a:latin typeface="Graphik"/>
                          <a:cs typeface="Graphik"/>
                        </a:rPr>
                        <a:t>Convierte las interfaces en activos empresariales gestionados con una ruta de cambio controlada, que es la condición previa para su reutilización entre entidades y países.</a:t>
                      </a:r>
                    </a:p>
                  </a:txBody>
                  <a:tcPr marL="82000" marR="82000" marT="38000" marB="38000" anchor="ctr">
                    <a:solidFill>
                      <a:srgbClr val="F6F2FB"/>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Estándares API BIAN</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Ciclo de vida/gobernanza de la API </a:t>
                      </a:r>
                      <a:r>
                        <a:rPr lang="es-ES" sz="700" b="0" i="0" dirty="0" err="1">
                          <a:solidFill>
                            <a:srgbClr val="4B2E83"/>
                          </a:solidFill>
                          <a:latin typeface="Graphik"/>
                          <a:cs typeface="Graphik"/>
                        </a:rPr>
                        <a:t>APIgee</a:t>
                      </a:r>
                      <a:endParaRPr lang="es" sz="700" b="0" i="0" dirty="0">
                        <a:solidFill>
                          <a:srgbClr val="4B2E83"/>
                        </a:solidFill>
                        <a:latin typeface="Graphik"/>
                        <a:cs typeface="Graphik"/>
                      </a:endParaRP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Documentación de API estilo OpenAPI/Swagger para OfiWeb/Canales</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El cambio de API está controlado por la gobernanza arquitectónica</a:t>
                      </a:r>
                    </a:p>
                  </a:txBody>
                  <a:tcPr marL="82000" marR="82000" marT="38000" marB="38000" anchor="ctr">
                    <a:solidFill>
                      <a:srgbClr val="F6F2FB"/>
                    </a:solidFill>
                  </a:tcPr>
                </a:tc>
                <a:extLst>
                  <a:ext uri="{0D108BD9-81ED-4DB2-BD59-A6C34878D82A}">
                    <a16:rowId xmlns:a16="http://schemas.microsoft.com/office/drawing/2014/main" val="10002"/>
                  </a:ext>
                </a:extLst>
              </a:tr>
              <a:tr h="1100840">
                <a:tc>
                  <a:txBody>
                    <a:bodyPr/>
                    <a:lstStyle/>
                    <a:p>
                      <a:pPr marL="0" indent="0" algn="l">
                        <a:lnSpc>
                          <a:spcPct val="104000"/>
                        </a:lnSpc>
                        <a:spcBef>
                          <a:spcPts val="30"/>
                        </a:spcBef>
                        <a:buNone/>
                      </a:pPr>
                      <a:r>
                        <a:rPr lang="es" sz="800" b="1" i="0" dirty="0">
                          <a:solidFill>
                            <a:srgbClr val="9B7BC7"/>
                          </a:solidFill>
                          <a:latin typeface="Graphik"/>
                          <a:cs typeface="Graphik"/>
                        </a:rPr>
                        <a:t>5.3  </a:t>
                      </a:r>
                      <a:r>
                        <a:rPr lang="es" sz="800" b="1" i="0" dirty="0">
                          <a:solidFill>
                            <a:srgbClr val="7500C0"/>
                          </a:solidFill>
                          <a:latin typeface="Graphik"/>
                          <a:cs typeface="Graphik"/>
                        </a:rPr>
                        <a:t>API Manager (Administración de Plataforma)</a:t>
                      </a:r>
                    </a:p>
                  </a:txBody>
                  <a:tcPr marL="82000" marR="82000" marT="38000" marB="38000" anchor="ctr">
                    <a:solidFill>
                      <a:srgbClr val="EFE7F7"/>
                    </a:solidFill>
                  </a:tcPr>
                </a:tc>
                <a:tc>
                  <a:txBody>
                    <a:bodyPr/>
                    <a:lstStyle/>
                    <a:p>
                      <a:pPr marL="0" indent="0" algn="l">
                        <a:lnSpc>
                          <a:spcPct val="108000"/>
                        </a:lnSpc>
                        <a:spcBef>
                          <a:spcPts val="30"/>
                        </a:spcBef>
                        <a:buNone/>
                      </a:pPr>
                      <a:r>
                        <a:rPr lang="es" sz="800" b="0" i="0" dirty="0">
                          <a:solidFill>
                            <a:srgbClr val="2B2B2B"/>
                          </a:solidFill>
                          <a:latin typeface="Graphik"/>
                          <a:cs typeface="Graphik"/>
                        </a:rPr>
                        <a:t>Administración, configuración de políticas, operación e instrumentación comercial de la propia plataforma de gestión de APIs, tanto en topologías on-site, cloud como híbridas.</a:t>
                      </a:r>
                    </a:p>
                  </a:txBody>
                  <a:tcPr marL="82000" marR="82000" marT="38000" marB="38000" anchor="ctr">
                    <a:solidFill>
                      <a:srgbClr val="FFFFFF"/>
                    </a:solidFill>
                  </a:tcPr>
                </a:tc>
                <a:tc>
                  <a:txBody>
                    <a:bodyPr/>
                    <a:lstStyle/>
                    <a:p>
                      <a:pPr marL="0" indent="0" algn="l">
                        <a:lnSpc>
                          <a:spcPct val="108000"/>
                        </a:lnSpc>
                        <a:spcBef>
                          <a:spcPts val="30"/>
                        </a:spcBef>
                        <a:buNone/>
                      </a:pPr>
                      <a:r>
                        <a:rPr lang="es" sz="800" b="0" i="0" dirty="0">
                          <a:solidFill>
                            <a:srgbClr val="444444"/>
                          </a:solidFill>
                          <a:latin typeface="Graphik"/>
                          <a:cs typeface="Graphik"/>
                        </a:rPr>
                        <a:t>Mantiene la política administrada de forma centralizada y aplicada de forma consistente, para que las reglas de seguridad y tráfico no se fragmenten por equipo de API.</a:t>
                      </a:r>
                    </a:p>
                  </a:txBody>
                  <a:tcPr marL="82000" marR="82000" marT="38000" marB="38000" anchor="ctr">
                    <a:solidFill>
                      <a:srgbClr val="FFFFFF"/>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Administración y políticas de la plataforma </a:t>
                      </a:r>
                      <a:r>
                        <a:rPr lang="es-ES" sz="700" b="0" i="0" dirty="0" err="1">
                          <a:solidFill>
                            <a:srgbClr val="4B2E83"/>
                          </a:solidFill>
                          <a:latin typeface="Graphik"/>
                          <a:cs typeface="Graphik"/>
                        </a:rPr>
                        <a:t>APIgee</a:t>
                      </a:r>
                      <a:endParaRPr lang="es" sz="700" b="0" i="0" dirty="0">
                        <a:solidFill>
                          <a:srgbClr val="4B2E83"/>
                        </a:solidFill>
                        <a:latin typeface="Graphik"/>
                        <a:cs typeface="Graphik"/>
                      </a:endParaRP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Monitorización de DataDog/API</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Canalizaciones de DevSecOps</a:t>
                      </a:r>
                    </a:p>
                    <a:p>
                      <a:pPr marL="150000" indent="-150000" algn="l">
                        <a:lnSpc>
                          <a:spcPct val="104000"/>
                        </a:lnSpc>
                        <a:spcBef>
                          <a:spcPts val="45"/>
                        </a:spcBef>
                        <a:buClr>
                          <a:srgbClr val="7500C0"/>
                        </a:buClr>
                        <a:buFont typeface="Arial"/>
                        <a:buChar char="▪"/>
                      </a:pPr>
                      <a:r>
                        <a:rPr lang="es-ES" sz="700" b="0" i="0" dirty="0" err="1">
                          <a:solidFill>
                            <a:srgbClr val="4B2E83"/>
                          </a:solidFill>
                          <a:latin typeface="Graphik"/>
                          <a:cs typeface="Graphik"/>
                        </a:rPr>
                        <a:t>APIgee</a:t>
                      </a:r>
                      <a:r>
                        <a:rPr lang="es" sz="700" b="0" i="0" dirty="0">
                          <a:solidFill>
                            <a:srgbClr val="4B2E83"/>
                          </a:solidFill>
                          <a:latin typeface="Graphik"/>
                          <a:cs typeface="Graphik"/>
                        </a:rPr>
                        <a:t> alojado por GCP con proveedores AWS/locales</a:t>
                      </a:r>
                    </a:p>
                  </a:txBody>
                  <a:tcPr marL="82000" marR="82000" marT="38000" marB="38000" anchor="ctr">
                    <a:solidFill>
                      <a:srgbClr val="FFFFFF"/>
                    </a:solidFill>
                  </a:tcPr>
                </a:tc>
                <a:extLst>
                  <a:ext uri="{0D108BD9-81ED-4DB2-BD59-A6C34878D82A}">
                    <a16:rowId xmlns:a16="http://schemas.microsoft.com/office/drawing/2014/main" val="10003"/>
                  </a:ext>
                </a:extLst>
              </a:tr>
              <a:tr h="933200">
                <a:tc>
                  <a:txBody>
                    <a:bodyPr/>
                    <a:lstStyle/>
                    <a:p>
                      <a:pPr marL="0" indent="0" algn="l">
                        <a:lnSpc>
                          <a:spcPct val="104000"/>
                        </a:lnSpc>
                        <a:spcBef>
                          <a:spcPts val="30"/>
                        </a:spcBef>
                        <a:buNone/>
                      </a:pPr>
                      <a:r>
                        <a:rPr lang="es" sz="800" b="1" i="0">
                          <a:solidFill>
                            <a:srgbClr val="9B7BC7"/>
                          </a:solidFill>
                          <a:latin typeface="Graphik"/>
                          <a:cs typeface="Graphik"/>
                        </a:rPr>
                        <a:t>5.4  </a:t>
                      </a:r>
                      <a:r>
                        <a:rPr lang="es" sz="800" b="1" i="0">
                          <a:solidFill>
                            <a:srgbClr val="7500C0"/>
                          </a:solidFill>
                          <a:latin typeface="Graphik"/>
                          <a:cs typeface="Graphik"/>
                        </a:rPr>
                        <a:t>Portal y catálogo para desarrolladores</a:t>
                      </a:r>
                    </a:p>
                  </a:txBody>
                  <a:tcPr marL="82000" marR="82000" marT="38000" marB="38000" anchor="ctr">
                    <a:solidFill>
                      <a:srgbClr val="E9DEF4"/>
                    </a:solidFill>
                  </a:tcPr>
                </a:tc>
                <a:tc>
                  <a:txBody>
                    <a:bodyPr/>
                    <a:lstStyle/>
                    <a:p>
                      <a:pPr marL="0" indent="0" algn="l">
                        <a:lnSpc>
                          <a:spcPct val="108000"/>
                        </a:lnSpc>
                        <a:spcBef>
                          <a:spcPts val="30"/>
                        </a:spcBef>
                        <a:buNone/>
                      </a:pPr>
                      <a:r>
                        <a:rPr lang="es" sz="800" b="0" i="0" dirty="0">
                          <a:solidFill>
                            <a:srgbClr val="2B2B2B"/>
                          </a:solidFill>
                          <a:latin typeface="Graphik"/>
                          <a:cs typeface="Graphik"/>
                        </a:rPr>
                        <a:t>Superficie de autoservicio donde desarrolladores internos y externos descubren, evalúan, se registran y se apoyan en interfaces publicadas.</a:t>
                      </a:r>
                    </a:p>
                  </a:txBody>
                  <a:tcPr marL="82000" marR="82000" marT="38000" marB="38000" anchor="ctr">
                    <a:solidFill>
                      <a:srgbClr val="F6F2FB"/>
                    </a:solidFill>
                  </a:tcPr>
                </a:tc>
                <a:tc>
                  <a:txBody>
                    <a:bodyPr/>
                    <a:lstStyle/>
                    <a:p>
                      <a:pPr marL="0" indent="0" algn="l">
                        <a:lnSpc>
                          <a:spcPct val="108000"/>
                        </a:lnSpc>
                        <a:spcBef>
                          <a:spcPts val="30"/>
                        </a:spcBef>
                        <a:buNone/>
                      </a:pPr>
                      <a:r>
                        <a:rPr lang="es" sz="800" b="0" i="0" dirty="0">
                          <a:solidFill>
                            <a:srgbClr val="444444"/>
                          </a:solidFill>
                          <a:latin typeface="Graphik"/>
                          <a:cs typeface="Graphik"/>
                        </a:rPr>
                        <a:t>La reutilización solo ocurre si se pueden encontrar capacidades. El portal convierte un inventario técnico en un catálogo de productos consumibles.</a:t>
                      </a:r>
                    </a:p>
                  </a:txBody>
                  <a:tcPr marL="82000" marR="82000" marT="38000" marB="38000" anchor="ctr">
                    <a:solidFill>
                      <a:srgbClr val="F6F2FB"/>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Catálogo/gobernanza API para Apificación de Canales y OfiWeb</a:t>
                      </a:r>
                    </a:p>
                    <a:p>
                      <a:pPr marL="150000" indent="-150000" algn="l">
                        <a:lnSpc>
                          <a:spcPct val="104000"/>
                        </a:lnSpc>
                        <a:spcBef>
                          <a:spcPts val="45"/>
                        </a:spcBef>
                        <a:buClr>
                          <a:srgbClr val="7500C0"/>
                        </a:buClr>
                        <a:buFont typeface="Arial"/>
                        <a:buChar char="▪"/>
                      </a:pPr>
                      <a:r>
                        <a:rPr lang="es-ES" sz="700" b="0" i="0" dirty="0" err="1">
                          <a:solidFill>
                            <a:srgbClr val="4B2E83"/>
                          </a:solidFill>
                          <a:latin typeface="Graphik"/>
                          <a:cs typeface="Graphik"/>
                        </a:rPr>
                        <a:t>APIgee</a:t>
                      </a:r>
                      <a:r>
                        <a:rPr lang="es" sz="700" b="0" i="0" dirty="0">
                          <a:solidFill>
                            <a:srgbClr val="4B2E83"/>
                          </a:solidFill>
                          <a:latin typeface="Graphik"/>
                          <a:cs typeface="Graphik"/>
                        </a:rPr>
                        <a:t> como plano de gestión de API. No se evidencia explícitamente ninguna herramienta de portal para desarrolladores independiente</a:t>
                      </a:r>
                    </a:p>
                  </a:txBody>
                  <a:tcPr marL="82000" marR="82000" marT="38000" marB="38000" anchor="ctr">
                    <a:solidFill>
                      <a:srgbClr val="F6F2FB"/>
                    </a:solidFill>
                  </a:tcPr>
                </a:tc>
                <a:extLst>
                  <a:ext uri="{0D108BD9-81ED-4DB2-BD59-A6C34878D82A}">
                    <a16:rowId xmlns:a16="http://schemas.microsoft.com/office/drawing/2014/main" val="10004"/>
                  </a:ext>
                </a:extLst>
              </a:tr>
            </a:tbl>
          </a:graphicData>
        </a:graphic>
      </p:graphicFrame>
      <p:sp>
        <p:nvSpPr>
          <p:cNvPr id="5" name="TextBox 4">
            <a:extLst>
              <a:ext uri="{FF2B5EF4-FFF2-40B4-BE49-F238E27FC236}">
                <a16:creationId xmlns:a16="http://schemas.microsoft.com/office/drawing/2014/main" id="{7895CE96-888A-40DC-CAA1-8A9547280CD4}"/>
              </a:ext>
            </a:extLst>
          </p:cNvPr>
          <p:cNvSpPr txBox="1"/>
          <p:nvPr>
            <p:extLst>
              <p:ext uri="{1162E1C5-73C7-4A58-AE30-91384D911F3F}">
                <p184:classification xmlns:p184="http://schemas.microsoft.com/office/powerpoint/2018/4/main" val="hdr"/>
              </p:ext>
            </p:extLst>
          </p:nvPr>
        </p:nvSpPr>
        <p:spPr>
          <a:xfrm>
            <a:off x="379000" y="78170"/>
            <a:ext cx="11432000" cy="154830"/>
          </a:xfrm>
          <a:prstGeom prst="rect">
            <a:avLst/>
          </a:prstGeom>
        </p:spPr>
        <p:txBody>
          <a:bodyPr horzOverflow="overflow"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000" b="0" i="0" u="none" strike="noStrike" kern="1200" cap="none" spc="0" normalizeH="0" baseline="0" noProof="0">
                <a:ln>
                  <a:noFill/>
                </a:ln>
                <a:solidFill>
                  <a:srgbClr val="000000"/>
                </a:solidFill>
                <a:effectLst/>
                <a:uLnTx/>
                <a:uFillTx/>
                <a:latin typeface="Graphik (Body)"/>
                <a:ea typeface="+mn-ea"/>
                <a:cs typeface="Calibri" panose="020F0502020204030204" pitchFamily="34" charset="0"/>
              </a:rPr>
              <a:t>*** Confidencial - Solo para uso interno de la empresa ***</a:t>
            </a:r>
          </a:p>
        </p:txBody>
      </p:sp>
      <p:grpSp>
        <p:nvGrpSpPr>
          <p:cNvPr id="6" name="Group 5">
            <a:extLst>
              <a:ext uri="{FF2B5EF4-FFF2-40B4-BE49-F238E27FC236}">
                <a16:creationId xmlns:a16="http://schemas.microsoft.com/office/drawing/2014/main" id="{CD8FD90D-DB31-5C8C-A858-7752A5F03965}"/>
              </a:ext>
            </a:extLst>
          </p:cNvPr>
          <p:cNvGrpSpPr/>
          <p:nvPr/>
        </p:nvGrpSpPr>
        <p:grpSpPr>
          <a:xfrm>
            <a:off x="717042" y="6191083"/>
            <a:ext cx="4001014" cy="631639"/>
            <a:chOff x="717042" y="6191083"/>
            <a:chExt cx="4001014" cy="631639"/>
          </a:xfrm>
        </p:grpSpPr>
        <p:sp>
          <p:nvSpPr>
            <p:cNvPr id="7" name="Rectangle 6">
              <a:extLst>
                <a:ext uri="{FF2B5EF4-FFF2-40B4-BE49-F238E27FC236}">
                  <a16:creationId xmlns:a16="http://schemas.microsoft.com/office/drawing/2014/main" id="{A6089CC3-AAE2-6201-82DC-BAAAEAA60422}"/>
                </a:ext>
              </a:extLst>
            </p:cNvPr>
            <p:cNvSpPr>
              <a:spLocks noChangeAspect="1"/>
            </p:cNvSpPr>
            <p:nvPr/>
          </p:nvSpPr>
          <p:spPr>
            <a:xfrm>
              <a:off x="1936749" y="6410745"/>
              <a:ext cx="774645" cy="202427"/>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GAP</a:t>
              </a:r>
            </a:p>
          </p:txBody>
        </p:sp>
        <p:sp>
          <p:nvSpPr>
            <p:cNvPr id="8" name="Rectangle 7">
              <a:extLst>
                <a:ext uri="{FF2B5EF4-FFF2-40B4-BE49-F238E27FC236}">
                  <a16:creationId xmlns:a16="http://schemas.microsoft.com/office/drawing/2014/main" id="{1481E370-DFB4-33AC-BAA8-BB79102C4EB6}"/>
                </a:ext>
              </a:extLst>
            </p:cNvPr>
            <p:cNvSpPr>
              <a:spLocks noChangeAspect="1"/>
            </p:cNvSpPr>
            <p:nvPr/>
          </p:nvSpPr>
          <p:spPr>
            <a:xfrm>
              <a:off x="1936749" y="6191083"/>
              <a:ext cx="774645" cy="202427"/>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Objetivo</a:t>
              </a:r>
            </a:p>
          </p:txBody>
        </p:sp>
        <p:sp>
          <p:nvSpPr>
            <p:cNvPr id="9" name="Rectangle 8">
              <a:extLst>
                <a:ext uri="{FF2B5EF4-FFF2-40B4-BE49-F238E27FC236}">
                  <a16:creationId xmlns:a16="http://schemas.microsoft.com/office/drawing/2014/main" id="{A7E0D715-57E9-EC05-B9B4-FE53986E0972}"/>
                </a:ext>
              </a:extLst>
            </p:cNvPr>
            <p:cNvSpPr>
              <a:spLocks noChangeAspect="1"/>
            </p:cNvSpPr>
            <p:nvPr/>
          </p:nvSpPr>
          <p:spPr>
            <a:xfrm>
              <a:off x="1936749" y="6620295"/>
              <a:ext cx="774645" cy="202427"/>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Descartar</a:t>
              </a:r>
            </a:p>
          </p:txBody>
        </p:sp>
        <p:sp>
          <p:nvSpPr>
            <p:cNvPr id="10" name="Oval 9">
              <a:extLst>
                <a:ext uri="{FF2B5EF4-FFF2-40B4-BE49-F238E27FC236}">
                  <a16:creationId xmlns:a16="http://schemas.microsoft.com/office/drawing/2014/main" id="{3F797AA5-C423-F48C-6505-4A7309B4F689}"/>
                </a:ext>
              </a:extLst>
            </p:cNvPr>
            <p:cNvSpPr>
              <a:spLocks noChangeAspect="1"/>
            </p:cNvSpPr>
            <p:nvPr/>
          </p:nvSpPr>
          <p:spPr>
            <a:xfrm>
              <a:off x="4077214" y="6226238"/>
              <a:ext cx="640842" cy="184507"/>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700"/>
                <a:t>Alto</a:t>
              </a:r>
            </a:p>
          </p:txBody>
        </p:sp>
        <p:sp>
          <p:nvSpPr>
            <p:cNvPr id="11" name="Rectangle 10">
              <a:extLst>
                <a:ext uri="{FF2B5EF4-FFF2-40B4-BE49-F238E27FC236}">
                  <a16:creationId xmlns:a16="http://schemas.microsoft.com/office/drawing/2014/main" id="{F4BDF558-8398-761A-E974-16832AE3B709}"/>
                </a:ext>
              </a:extLst>
            </p:cNvPr>
            <p:cNvSpPr>
              <a:spLocks noChangeAspect="1"/>
            </p:cNvSpPr>
            <p:nvPr/>
          </p:nvSpPr>
          <p:spPr>
            <a:xfrm>
              <a:off x="717042" y="6283336"/>
              <a:ext cx="1022032" cy="455578"/>
            </a:xfrm>
            <a:prstGeom prst="rect">
              <a:avLst/>
            </a:prstGeom>
            <a:solidFill>
              <a:srgbClr val="7500C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Evaluación de capacidades</a:t>
              </a:r>
            </a:p>
          </p:txBody>
        </p:sp>
        <p:sp>
          <p:nvSpPr>
            <p:cNvPr id="12" name="Rectangle 11">
              <a:extLst>
                <a:ext uri="{FF2B5EF4-FFF2-40B4-BE49-F238E27FC236}">
                  <a16:creationId xmlns:a16="http://schemas.microsoft.com/office/drawing/2014/main" id="{992C57D0-0B15-F8E8-5811-1B97BF1AC8C7}"/>
                </a:ext>
              </a:extLst>
            </p:cNvPr>
            <p:cNvSpPr>
              <a:spLocks noChangeAspect="1"/>
            </p:cNvSpPr>
            <p:nvPr/>
          </p:nvSpPr>
          <p:spPr>
            <a:xfrm>
              <a:off x="2816387" y="6282396"/>
              <a:ext cx="1022032" cy="455578"/>
            </a:xfrm>
            <a:prstGeom prst="rect">
              <a:avLst/>
            </a:prstGeom>
            <a:solidFill>
              <a:srgbClr val="7500C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Prioridad</a:t>
              </a:r>
            </a:p>
          </p:txBody>
        </p:sp>
        <p:sp>
          <p:nvSpPr>
            <p:cNvPr id="13" name="Oval 12">
              <a:extLst>
                <a:ext uri="{FF2B5EF4-FFF2-40B4-BE49-F238E27FC236}">
                  <a16:creationId xmlns:a16="http://schemas.microsoft.com/office/drawing/2014/main" id="{AEADAB12-66AB-0A3F-446E-3651164EFFEE}"/>
                </a:ext>
              </a:extLst>
            </p:cNvPr>
            <p:cNvSpPr>
              <a:spLocks noChangeAspect="1"/>
            </p:cNvSpPr>
            <p:nvPr/>
          </p:nvSpPr>
          <p:spPr>
            <a:xfrm>
              <a:off x="4077214" y="6435788"/>
              <a:ext cx="640842" cy="184507"/>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700"/>
                <a:t>Medio</a:t>
              </a:r>
            </a:p>
          </p:txBody>
        </p:sp>
        <p:sp>
          <p:nvSpPr>
            <p:cNvPr id="14" name="Oval 13">
              <a:extLst>
                <a:ext uri="{FF2B5EF4-FFF2-40B4-BE49-F238E27FC236}">
                  <a16:creationId xmlns:a16="http://schemas.microsoft.com/office/drawing/2014/main" id="{04FB3089-2F79-D0B6-4BCF-EB1B34469344}"/>
                </a:ext>
              </a:extLst>
            </p:cNvPr>
            <p:cNvSpPr>
              <a:spLocks noChangeAspect="1"/>
            </p:cNvSpPr>
            <p:nvPr/>
          </p:nvSpPr>
          <p:spPr>
            <a:xfrm>
              <a:off x="4077214" y="6633421"/>
              <a:ext cx="640842" cy="184507"/>
            </a:xfrm>
            <a:prstGeom prst="ellipse">
              <a:avLst/>
            </a:prstGeom>
            <a:solidFill>
              <a:srgbClr val="DCAFFF"/>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700"/>
                <a:t>Bajo</a:t>
              </a:r>
            </a:p>
          </p:txBody>
        </p:sp>
      </p:grpSp>
    </p:spTree>
    <p:extLst>
      <p:ext uri="{BB962C8B-B14F-4D97-AF65-F5344CB8AC3E}">
        <p14:creationId xmlns:p14="http://schemas.microsoft.com/office/powerpoint/2010/main" val="114539890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019FDD-725F-8534-EA90-E2044594B0D3}"/>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5CB0F6D9-5E92-5EB1-4799-BC6659D85A5C}"/>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dirty="0">
                <a:ln>
                  <a:noFill/>
                </a:ln>
                <a:solidFill>
                  <a:srgbClr val="000000">
                    <a:alpha val="65000"/>
                  </a:srgbClr>
                </a:solidFill>
                <a:effectLst/>
                <a:uLnTx/>
                <a:uFillTx/>
                <a:latin typeface="Graphik"/>
                <a:ea typeface="+mn-ea"/>
                <a:cs typeface="+mn-cs"/>
              </a:rPr>
              <a:t>Copyright © 2026 Accenture. Todos los derechos reservados.</a:t>
            </a:r>
          </a:p>
        </p:txBody>
      </p:sp>
      <p:sp>
        <p:nvSpPr>
          <p:cNvPr id="4" name="Slide Number Placeholder 3">
            <a:extLst>
              <a:ext uri="{FF2B5EF4-FFF2-40B4-BE49-F238E27FC236}">
                <a16:creationId xmlns:a16="http://schemas.microsoft.com/office/drawing/2014/main" id="{3A721E09-FCBD-84FA-9776-B48A42155AF5}"/>
              </a:ext>
            </a:extLst>
          </p:cNvPr>
          <p:cNvSpPr>
            <a:spLocks noGrp="1"/>
          </p:cNvSpPr>
          <p:nvPr>
            <p:ph type="sldNum" sz="quarter" idx="429496729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Graphik"/>
                <a:ea typeface="+mn-ea"/>
                <a:cs typeface="+mn-cs"/>
              </a:rPr>
              <a:t> </a:t>
            </a:r>
          </a:p>
        </p:txBody>
      </p:sp>
      <p:sp>
        <p:nvSpPr>
          <p:cNvPr id="23" name="Title 1">
            <a:extLst>
              <a:ext uri="{FF2B5EF4-FFF2-40B4-BE49-F238E27FC236}">
                <a16:creationId xmlns:a16="http://schemas.microsoft.com/office/drawing/2014/main" id="{5844AA0A-B29E-375C-3DEA-15A60CE0BEC5}"/>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a:ln>
                  <a:noFill/>
                </a:ln>
                <a:solidFill>
                  <a:srgbClr val="7500C0"/>
                </a:solidFill>
                <a:effectLst/>
                <a:uLnTx/>
                <a:uFillTx/>
                <a:latin typeface="Graphik"/>
                <a:ea typeface="+mj-ea"/>
                <a:cs typeface="+mj-cs"/>
              </a:rPr>
              <a:t>Arquitectura de Interoperabilidad </a:t>
            </a:r>
            <a:r>
              <a:rPr kumimoji="0" lang="es" sz="2400" b="1" i="0" u="none" strike="noStrike" kern="1200" cap="none" spc="0" normalizeH="0" baseline="0" noProof="0">
                <a:ln>
                  <a:noFill/>
                </a:ln>
                <a:solidFill>
                  <a:srgbClr val="000000"/>
                </a:solidFill>
                <a:effectLst/>
                <a:uLnTx/>
                <a:uFillTx/>
                <a:latin typeface="Graphik"/>
                <a:ea typeface="+mj-ea"/>
                <a:cs typeface="+mj-cs"/>
              </a:rPr>
              <a:t>| </a:t>
            </a:r>
            <a:r>
              <a:rPr kumimoji="0" lang="es" sz="2000" b="1" i="0" u="none" strike="noStrike" kern="1200" cap="none" spc="0" normalizeH="0" baseline="0" noProof="0">
                <a:ln>
                  <a:noFill/>
                </a:ln>
                <a:solidFill>
                  <a:srgbClr val="000000"/>
                </a:solidFill>
                <a:effectLst/>
                <a:uLnTx/>
                <a:uFillTx/>
                <a:latin typeface="Graphik"/>
                <a:ea typeface="+mj-ea"/>
                <a:cs typeface="+mj-cs"/>
              </a:rPr>
              <a:t>Omnicanal y componentes de caché</a:t>
            </a:r>
            <a:endParaRPr kumimoji="0" lang="es" sz="2400" b="1" i="0" u="none" strike="noStrike" kern="1200" cap="none" spc="0" normalizeH="0" baseline="0" noProof="0">
              <a:ln>
                <a:noFill/>
              </a:ln>
              <a:solidFill>
                <a:srgbClr val="000000"/>
              </a:solidFill>
              <a:effectLst/>
              <a:uLnTx/>
              <a:uFillTx/>
              <a:latin typeface="Graphik"/>
              <a:ea typeface="+mj-ea"/>
              <a:cs typeface="+mj-cs"/>
            </a:endParaRPr>
          </a:p>
        </p:txBody>
      </p:sp>
      <p:sp>
        <p:nvSpPr>
          <p:cNvPr id="131" name="Kicker"/>
          <p:cNvSpPr txBox="1"/>
          <p:nvPr/>
        </p:nvSpPr>
        <p:spPr>
          <a:xfrm>
            <a:off x="381000" y="775000"/>
            <a:ext cx="10200000" cy="200000"/>
          </a:xfrm>
          <a:prstGeom prst="rect">
            <a:avLst/>
          </a:prstGeom>
        </p:spPr>
        <p:txBody>
          <a:bodyPr lIns="0" tIns="0" rIns="0" bIns="0"/>
          <a:lstStyle/>
          <a:p>
            <a:pPr marL="0" indent="0" algn="l">
              <a:lnSpc>
                <a:spcPct val="104000"/>
              </a:lnSpc>
              <a:spcBef>
                <a:spcPts val="30"/>
              </a:spcBef>
              <a:buNone/>
            </a:pPr>
            <a:r>
              <a:rPr lang="es" sz="1000" b="1" i="0" dirty="0">
                <a:solidFill>
                  <a:srgbClr val="7500C0"/>
                </a:solidFill>
                <a:latin typeface="Graphik"/>
                <a:cs typeface="Graphik"/>
              </a:rPr>
              <a:t>CAPACIDAD DE DOMINIO | 4 SUBCAPACIDADES</a:t>
            </a:r>
          </a:p>
        </p:txBody>
      </p:sp>
      <p:graphicFrame>
        <p:nvGraphicFramePr>
          <p:cNvPr id="100" name="DetailTable"/>
          <p:cNvGraphicFramePr>
            <a:graphicFrameLocks noGrp="1"/>
          </p:cNvGraphicFramePr>
          <p:nvPr>
            <p:extLst>
              <p:ext uri="{D42A27DB-BD31-4B8C-83A1-F6EECF244321}">
                <p14:modId xmlns:p14="http://schemas.microsoft.com/office/powerpoint/2010/main" val="497837904"/>
              </p:ext>
            </p:extLst>
          </p:nvPr>
        </p:nvGraphicFramePr>
        <p:xfrm>
          <a:off x="381000" y="1015000"/>
          <a:ext cx="11430000" cy="3865160"/>
        </p:xfrm>
        <a:graphic>
          <a:graphicData uri="http://schemas.openxmlformats.org/drawingml/2006/table">
            <a:tbl>
              <a:tblPr firstRow="1"/>
              <a:tblGrid>
                <a:gridCol w="1950000">
                  <a:extLst>
                    <a:ext uri="{9D8B030D-6E8A-4147-A177-3AD203B41FA5}">
                      <a16:colId xmlns:a16="http://schemas.microsoft.com/office/drawing/2014/main" val="20000"/>
                    </a:ext>
                  </a:extLst>
                </a:gridCol>
                <a:gridCol w="3450000">
                  <a:extLst>
                    <a:ext uri="{9D8B030D-6E8A-4147-A177-3AD203B41FA5}">
                      <a16:colId xmlns:a16="http://schemas.microsoft.com/office/drawing/2014/main" val="20001"/>
                    </a:ext>
                  </a:extLst>
                </a:gridCol>
                <a:gridCol w="3150000">
                  <a:extLst>
                    <a:ext uri="{9D8B030D-6E8A-4147-A177-3AD203B41FA5}">
                      <a16:colId xmlns:a16="http://schemas.microsoft.com/office/drawing/2014/main" val="20002"/>
                    </a:ext>
                  </a:extLst>
                </a:gridCol>
                <a:gridCol w="2880000">
                  <a:extLst>
                    <a:ext uri="{9D8B030D-6E8A-4147-A177-3AD203B41FA5}">
                      <a16:colId xmlns:a16="http://schemas.microsoft.com/office/drawing/2014/main" val="20003"/>
                    </a:ext>
                  </a:extLst>
                </a:gridCol>
              </a:tblGrid>
              <a:tr h="300000">
                <a:tc>
                  <a:txBody>
                    <a:bodyPr/>
                    <a:lstStyle/>
                    <a:p>
                      <a:pPr marL="0" indent="0" algn="l">
                        <a:lnSpc>
                          <a:spcPct val="104000"/>
                        </a:lnSpc>
                        <a:spcBef>
                          <a:spcPts val="30"/>
                        </a:spcBef>
                        <a:buNone/>
                      </a:pPr>
                      <a:r>
                        <a:rPr lang="es" sz="1000" b="1" i="0" dirty="0">
                          <a:solidFill>
                            <a:srgbClr val="FFFFFF"/>
                          </a:solidFill>
                          <a:latin typeface="Graphik"/>
                          <a:cs typeface="Graphik"/>
                        </a:rPr>
                        <a:t>Subcapacidad</a:t>
                      </a:r>
                    </a:p>
                  </a:txBody>
                  <a:tcPr marL="82000" marR="82000" marT="38000" marB="38000" anchor="ctr">
                    <a:solidFill>
                      <a:srgbClr val="7500C0"/>
                    </a:solidFill>
                  </a:tcPr>
                </a:tc>
                <a:tc>
                  <a:txBody>
                    <a:bodyPr/>
                    <a:lstStyle/>
                    <a:p>
                      <a:pPr marL="0" indent="0" algn="l">
                        <a:lnSpc>
                          <a:spcPct val="104000"/>
                        </a:lnSpc>
                        <a:spcBef>
                          <a:spcPts val="30"/>
                        </a:spcBef>
                        <a:buNone/>
                      </a:pPr>
                      <a:r>
                        <a:rPr lang="es" sz="1000" b="1" i="0">
                          <a:solidFill>
                            <a:srgbClr val="FFFFFF"/>
                          </a:solidFill>
                          <a:latin typeface="Graphik"/>
                          <a:cs typeface="Graphik"/>
                        </a:rPr>
                        <a:t>Descripción</a:t>
                      </a:r>
                    </a:p>
                  </a:txBody>
                  <a:tcPr marL="82000" marR="82000" marT="38000" marB="38000" anchor="ctr">
                    <a:solidFill>
                      <a:srgbClr val="7500C0"/>
                    </a:solidFill>
                  </a:tcPr>
                </a:tc>
                <a:tc>
                  <a:txBody>
                    <a:bodyPr/>
                    <a:lstStyle/>
                    <a:p>
                      <a:pPr marL="0" indent="0" algn="l">
                        <a:lnSpc>
                          <a:spcPct val="104000"/>
                        </a:lnSpc>
                        <a:spcBef>
                          <a:spcPts val="30"/>
                        </a:spcBef>
                        <a:buNone/>
                      </a:pPr>
                      <a:r>
                        <a:rPr lang="es" sz="1000" b="1" i="0">
                          <a:solidFill>
                            <a:srgbClr val="FFFFFF"/>
                          </a:solidFill>
                          <a:latin typeface="Graphik"/>
                          <a:cs typeface="Graphik"/>
                        </a:rPr>
                        <a:t>Propósito</a:t>
                      </a:r>
                    </a:p>
                  </a:txBody>
                  <a:tcPr marL="82000" marR="82000" marT="38000" marB="38000" anchor="ctr">
                    <a:solidFill>
                      <a:srgbClr val="7500C0"/>
                    </a:solidFill>
                  </a:tcPr>
                </a:tc>
                <a:tc>
                  <a:txBody>
                    <a:bodyPr/>
                    <a:lstStyle/>
                    <a:p>
                      <a:pPr marL="0" indent="0" algn="l">
                        <a:lnSpc>
                          <a:spcPct val="104000"/>
                        </a:lnSpc>
                        <a:spcBef>
                          <a:spcPts val="30"/>
                        </a:spcBef>
                        <a:buNone/>
                      </a:pPr>
                      <a:r>
                        <a:rPr lang="es" sz="1000" b="1" i="0">
                          <a:solidFill>
                            <a:srgbClr val="FFFFFF"/>
                          </a:solidFill>
                          <a:latin typeface="Graphik"/>
                          <a:cs typeface="Graphik"/>
                        </a:rPr>
                        <a:t>Soluciones en Coppel</a:t>
                      </a:r>
                    </a:p>
                  </a:txBody>
                  <a:tcPr marL="82000" marR="82000" marT="38000" marB="38000" anchor="ctr">
                    <a:solidFill>
                      <a:srgbClr val="7500C0"/>
                    </a:solidFill>
                  </a:tcPr>
                </a:tc>
                <a:extLst>
                  <a:ext uri="{0D108BD9-81ED-4DB2-BD59-A6C34878D82A}">
                    <a16:rowId xmlns:a16="http://schemas.microsoft.com/office/drawing/2014/main" val="10000"/>
                  </a:ext>
                </a:extLst>
              </a:tr>
              <a:tr h="933200">
                <a:tc>
                  <a:txBody>
                    <a:bodyPr/>
                    <a:lstStyle/>
                    <a:p>
                      <a:pPr marL="0" indent="0" algn="l">
                        <a:lnSpc>
                          <a:spcPct val="104000"/>
                        </a:lnSpc>
                        <a:spcBef>
                          <a:spcPts val="30"/>
                        </a:spcBef>
                        <a:buNone/>
                      </a:pPr>
                      <a:r>
                        <a:rPr lang="es" sz="800" b="1" i="0">
                          <a:solidFill>
                            <a:srgbClr val="9B7BC7"/>
                          </a:solidFill>
                          <a:latin typeface="Graphik"/>
                          <a:cs typeface="Graphik"/>
                        </a:rPr>
                        <a:t>6.1  </a:t>
                      </a:r>
                      <a:r>
                        <a:rPr lang="es" sz="800" b="1" i="0">
                          <a:solidFill>
                            <a:srgbClr val="7500C0"/>
                          </a:solidFill>
                          <a:latin typeface="Graphik"/>
                          <a:cs typeface="Graphik"/>
                        </a:rPr>
                        <a:t>Gestión de Datos Omnicanal</a:t>
                      </a:r>
                    </a:p>
                  </a:txBody>
                  <a:tcPr marL="82000" marR="82000" marT="38000" marB="38000" anchor="ctr">
                    <a:solidFill>
                      <a:srgbClr val="EFE7F7"/>
                    </a:solidFill>
                  </a:tcPr>
                </a:tc>
                <a:tc>
                  <a:txBody>
                    <a:bodyPr/>
                    <a:lstStyle/>
                    <a:p>
                      <a:pPr marL="0" indent="0" algn="l">
                        <a:lnSpc>
                          <a:spcPct val="108000"/>
                        </a:lnSpc>
                        <a:spcBef>
                          <a:spcPts val="30"/>
                        </a:spcBef>
                        <a:buNone/>
                      </a:pPr>
                      <a:r>
                        <a:rPr lang="es" sz="800" b="0" i="0" dirty="0">
                          <a:solidFill>
                            <a:srgbClr val="2B2B2B"/>
                          </a:solidFill>
                          <a:latin typeface="Graphik"/>
                          <a:cs typeface="Graphik"/>
                        </a:rPr>
                        <a:t>Almacenamiento temporal y funcional de datos de interacción en curso, con servicios de acceso que permiten a cualquier canal leer y continuar un journey iniciado en otro lugar.</a:t>
                      </a:r>
                    </a:p>
                  </a:txBody>
                  <a:tcPr marL="82000" marR="82000" marT="38000" marB="38000" anchor="ctr">
                    <a:solidFill>
                      <a:srgbClr val="FFFFFF"/>
                    </a:solidFill>
                  </a:tcPr>
                </a:tc>
                <a:tc>
                  <a:txBody>
                    <a:bodyPr/>
                    <a:lstStyle/>
                    <a:p>
                      <a:pPr marL="0" indent="0" algn="l">
                        <a:lnSpc>
                          <a:spcPct val="108000"/>
                        </a:lnSpc>
                        <a:spcBef>
                          <a:spcPts val="30"/>
                        </a:spcBef>
                        <a:buNone/>
                      </a:pPr>
                      <a:r>
                        <a:rPr lang="es" sz="800" b="0" i="0" dirty="0">
                          <a:solidFill>
                            <a:srgbClr val="444444"/>
                          </a:solidFill>
                          <a:latin typeface="Graphik"/>
                          <a:cs typeface="Graphik"/>
                        </a:rPr>
                        <a:t>Convierte el journey, más que el canal, en la unidad de diseño: la base práctica de una propuesta omnicanal genuina.</a:t>
                      </a:r>
                    </a:p>
                  </a:txBody>
                  <a:tcPr marL="82000" marR="82000" marT="38000" marB="38000" anchor="ctr">
                    <a:solidFill>
                      <a:srgbClr val="FFFFFF"/>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App BanCoppel, Web/OFI, Sucursal, ATM, CAT y Teller Multi Core</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Apificación de Canales</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Golden Record/Party-CIF</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Incorporación de Apolo</a:t>
                      </a:r>
                    </a:p>
                  </a:txBody>
                  <a:tcPr marL="82000" marR="82000" marT="38000" marB="38000" anchor="ctr">
                    <a:solidFill>
                      <a:srgbClr val="FFFFFF"/>
                    </a:solidFill>
                  </a:tcPr>
                </a:tc>
                <a:extLst>
                  <a:ext uri="{0D108BD9-81ED-4DB2-BD59-A6C34878D82A}">
                    <a16:rowId xmlns:a16="http://schemas.microsoft.com/office/drawing/2014/main" val="10001"/>
                  </a:ext>
                </a:extLst>
              </a:tr>
              <a:tr h="1100840">
                <a:tc>
                  <a:txBody>
                    <a:bodyPr/>
                    <a:lstStyle/>
                    <a:p>
                      <a:pPr marL="0" indent="0" algn="l">
                        <a:lnSpc>
                          <a:spcPct val="104000"/>
                        </a:lnSpc>
                        <a:spcBef>
                          <a:spcPts val="30"/>
                        </a:spcBef>
                        <a:buNone/>
                      </a:pPr>
                      <a:r>
                        <a:rPr lang="es" sz="800" b="1" i="0">
                          <a:solidFill>
                            <a:srgbClr val="9B7BC7"/>
                          </a:solidFill>
                          <a:latin typeface="Graphik"/>
                          <a:cs typeface="Graphik"/>
                        </a:rPr>
                        <a:t>6.2  </a:t>
                      </a:r>
                      <a:r>
                        <a:rPr lang="es" sz="800" b="1" i="0">
                          <a:solidFill>
                            <a:srgbClr val="7500C0"/>
                          </a:solidFill>
                          <a:latin typeface="Graphik"/>
                          <a:cs typeface="Graphik"/>
                        </a:rPr>
                        <a:t>Componentes de caché</a:t>
                      </a:r>
                    </a:p>
                  </a:txBody>
                  <a:tcPr marL="82000" marR="82000" marT="38000" marB="38000" anchor="ctr">
                    <a:solidFill>
                      <a:srgbClr val="E9DEF4"/>
                    </a:solidFill>
                  </a:tcPr>
                </a:tc>
                <a:tc>
                  <a:txBody>
                    <a:bodyPr/>
                    <a:lstStyle/>
                    <a:p>
                      <a:pPr marL="0" indent="0" algn="l">
                        <a:lnSpc>
                          <a:spcPct val="108000"/>
                        </a:lnSpc>
                        <a:spcBef>
                          <a:spcPts val="30"/>
                        </a:spcBef>
                        <a:buNone/>
                      </a:pPr>
                      <a:r>
                        <a:rPr lang="es" sz="800" b="0" i="0">
                          <a:solidFill>
                            <a:srgbClr val="2B2B2B"/>
                          </a:solidFill>
                          <a:latin typeface="Graphik"/>
                          <a:cs typeface="Graphik"/>
                        </a:rPr>
                        <a:t>Caché distribuida y en memoria de datos de referencia y de acceso frecuente, con control de invalidación y refresco, además de aceleración de la entrega de contenido estático.</a:t>
                      </a:r>
                    </a:p>
                  </a:txBody>
                  <a:tcPr marL="82000" marR="82000" marT="38000" marB="38000" anchor="ctr">
                    <a:solidFill>
                      <a:srgbClr val="F6F2FB"/>
                    </a:solidFill>
                  </a:tcPr>
                </a:tc>
                <a:tc>
                  <a:txBody>
                    <a:bodyPr/>
                    <a:lstStyle/>
                    <a:p>
                      <a:pPr marL="0" indent="0" algn="l">
                        <a:lnSpc>
                          <a:spcPct val="108000"/>
                        </a:lnSpc>
                        <a:spcBef>
                          <a:spcPts val="30"/>
                        </a:spcBef>
                        <a:buNone/>
                      </a:pPr>
                      <a:r>
                        <a:rPr lang="es" sz="800" b="0" i="0" dirty="0">
                          <a:solidFill>
                            <a:srgbClr val="444444"/>
                          </a:solidFill>
                          <a:latin typeface="Graphik"/>
                          <a:cs typeface="Graphik"/>
                        </a:rPr>
                        <a:t>Desacopla la capacidad de respuesta del canal de la capacidad de backend, lo que protege los sistemas heredados y mejora la experiencia del cliente al mismo tiempo.</a:t>
                      </a:r>
                    </a:p>
                  </a:txBody>
                  <a:tcPr marL="82000" marR="82000" marT="38000" marB="38000" anchor="ctr">
                    <a:solidFill>
                      <a:srgbClr val="F6F2FB"/>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App BanCoppel/Web/Sucursal/ATM/CAT/Cajero</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Apolo/Modyo</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Apificación de Canales</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Redis</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CloudFront</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Golden Record</a:t>
                      </a:r>
                    </a:p>
                  </a:txBody>
                  <a:tcPr marL="82000" marR="82000" marT="38000" marB="38000" anchor="ctr">
                    <a:solidFill>
                      <a:srgbClr val="F6F2FB"/>
                    </a:solidFill>
                  </a:tcPr>
                </a:tc>
                <a:extLst>
                  <a:ext uri="{0D108BD9-81ED-4DB2-BD59-A6C34878D82A}">
                    <a16:rowId xmlns:a16="http://schemas.microsoft.com/office/drawing/2014/main" val="10002"/>
                  </a:ext>
                </a:extLst>
              </a:tr>
              <a:tr h="765560">
                <a:tc>
                  <a:txBody>
                    <a:bodyPr/>
                    <a:lstStyle/>
                    <a:p>
                      <a:pPr marL="0" indent="0" algn="l">
                        <a:lnSpc>
                          <a:spcPct val="104000"/>
                        </a:lnSpc>
                        <a:spcBef>
                          <a:spcPts val="30"/>
                        </a:spcBef>
                        <a:buNone/>
                      </a:pPr>
                      <a:r>
                        <a:rPr lang="es" sz="800" b="1" i="0">
                          <a:solidFill>
                            <a:srgbClr val="9B7BC7"/>
                          </a:solidFill>
                          <a:latin typeface="Graphik"/>
                          <a:cs typeface="Graphik"/>
                        </a:rPr>
                        <a:t>6.3  </a:t>
                      </a:r>
                      <a:r>
                        <a:rPr lang="es" sz="800" b="1" i="0">
                          <a:solidFill>
                            <a:srgbClr val="7500C0"/>
                          </a:solidFill>
                          <a:latin typeface="Graphik"/>
                          <a:cs typeface="Graphik"/>
                        </a:rPr>
                        <a:t>Gestión y replicación de sesiones</a:t>
                      </a:r>
                    </a:p>
                  </a:txBody>
                  <a:tcPr marL="82000" marR="82000" marT="38000" marB="38000" anchor="ctr">
                    <a:solidFill>
                      <a:srgbClr val="EFE7F7"/>
                    </a:solidFill>
                  </a:tcPr>
                </a:tc>
                <a:tc>
                  <a:txBody>
                    <a:bodyPr/>
                    <a:lstStyle/>
                    <a:p>
                      <a:pPr marL="0" indent="0" algn="l">
                        <a:lnSpc>
                          <a:spcPct val="108000"/>
                        </a:lnSpc>
                        <a:spcBef>
                          <a:spcPts val="30"/>
                        </a:spcBef>
                        <a:buNone/>
                      </a:pPr>
                      <a:r>
                        <a:rPr lang="es" sz="800" b="0" i="0">
                          <a:solidFill>
                            <a:srgbClr val="2B2B2B"/>
                          </a:solidFill>
                          <a:latin typeface="Graphik"/>
                          <a:cs typeface="Graphik"/>
                        </a:rPr>
                        <a:t>Almacenamiento en caché y replicación del estado de la sesión entre instancias, zonas de disponibilidad y dominios para que las sesiones de canal sobrevivan a fallos y crucen límites de dominio.</a:t>
                      </a:r>
                    </a:p>
                  </a:txBody>
                  <a:tcPr marL="82000" marR="82000" marT="38000" marB="38000" anchor="ctr">
                    <a:solidFill>
                      <a:srgbClr val="FFFFFF"/>
                    </a:solidFill>
                  </a:tcPr>
                </a:tc>
                <a:tc>
                  <a:txBody>
                    <a:bodyPr/>
                    <a:lstStyle/>
                    <a:p>
                      <a:pPr marL="0" indent="0" algn="l">
                        <a:lnSpc>
                          <a:spcPct val="108000"/>
                        </a:lnSpc>
                        <a:spcBef>
                          <a:spcPts val="30"/>
                        </a:spcBef>
                        <a:buNone/>
                      </a:pPr>
                      <a:r>
                        <a:rPr lang="es" sz="800" b="0" i="0">
                          <a:solidFill>
                            <a:srgbClr val="444444"/>
                          </a:solidFill>
                          <a:latin typeface="Graphik"/>
                          <a:cs typeface="Graphik"/>
                        </a:rPr>
                        <a:t>Proporciona continuidad de interacción autenticada, sin la cual el escalado elástico y el despliegue rolling serían visibles para los clientes como sesiones eliminadas.</a:t>
                      </a:r>
                    </a:p>
                  </a:txBody>
                  <a:tcPr marL="82000" marR="82000" marT="38000" marB="38000" anchor="ctr">
                    <a:solidFill>
                      <a:srgbClr val="FFFFFF"/>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Se evidencian el soporte de Redis y las sesiones de Modyo/Apolo</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No se nombra ningún producto de replicación de sesiones empresariales separado</a:t>
                      </a:r>
                    </a:p>
                  </a:txBody>
                  <a:tcPr marL="82000" marR="82000" marT="38000" marB="38000" anchor="ctr">
                    <a:solidFill>
                      <a:srgbClr val="FFFFFF"/>
                    </a:solidFill>
                  </a:tcPr>
                </a:tc>
                <a:extLst>
                  <a:ext uri="{0D108BD9-81ED-4DB2-BD59-A6C34878D82A}">
                    <a16:rowId xmlns:a16="http://schemas.microsoft.com/office/drawing/2014/main" val="10003"/>
                  </a:ext>
                </a:extLst>
              </a:tr>
              <a:tr h="765560">
                <a:tc>
                  <a:txBody>
                    <a:bodyPr/>
                    <a:lstStyle/>
                    <a:p>
                      <a:pPr marL="0" indent="0" algn="l">
                        <a:lnSpc>
                          <a:spcPct val="104000"/>
                        </a:lnSpc>
                        <a:spcBef>
                          <a:spcPts val="30"/>
                        </a:spcBef>
                        <a:buNone/>
                      </a:pPr>
                      <a:r>
                        <a:rPr lang="es" sz="800" b="1" i="0">
                          <a:solidFill>
                            <a:srgbClr val="9B7BC7"/>
                          </a:solidFill>
                          <a:latin typeface="Graphik"/>
                          <a:cs typeface="Graphik"/>
                        </a:rPr>
                        <a:t>6.4  </a:t>
                      </a:r>
                      <a:r>
                        <a:rPr lang="es" sz="800" b="1" i="0">
                          <a:solidFill>
                            <a:srgbClr val="7500C0"/>
                          </a:solidFill>
                          <a:latin typeface="Graphik"/>
                          <a:cs typeface="Graphik"/>
                        </a:rPr>
                        <a:t>Caché de transacciones y servicio de lectura con baja latencia</a:t>
                      </a:r>
                    </a:p>
                  </a:txBody>
                  <a:tcPr marL="82000" marR="82000" marT="38000" marB="38000" anchor="ctr">
                    <a:solidFill>
                      <a:srgbClr val="E9DEF4"/>
                    </a:solidFill>
                  </a:tcPr>
                </a:tc>
                <a:tc>
                  <a:txBody>
                    <a:bodyPr/>
                    <a:lstStyle/>
                    <a:p>
                      <a:pPr marL="0" indent="0" algn="l">
                        <a:lnSpc>
                          <a:spcPct val="108000"/>
                        </a:lnSpc>
                        <a:spcBef>
                          <a:spcPts val="30"/>
                        </a:spcBef>
                        <a:buNone/>
                      </a:pPr>
                      <a:r>
                        <a:rPr lang="es" sz="800" b="0" i="0" dirty="0">
                          <a:solidFill>
                            <a:srgbClr val="2B2B2B"/>
                          </a:solidFill>
                          <a:latin typeface="Graphik"/>
                          <a:cs typeface="Graphik"/>
                        </a:rPr>
                        <a:t>El almacenamiento en caché de los datos de transacciones en vuelo y de las vistas de lectura frecuentemente solicitadas, servía a los canales de forma independiente del sistema de registro.</a:t>
                      </a:r>
                    </a:p>
                  </a:txBody>
                  <a:tcPr marL="82000" marR="82000" marT="38000" marB="38000" anchor="ctr">
                    <a:solidFill>
                      <a:srgbClr val="F6F2FB"/>
                    </a:solidFill>
                  </a:tcPr>
                </a:tc>
                <a:tc>
                  <a:txBody>
                    <a:bodyPr/>
                    <a:lstStyle/>
                    <a:p>
                      <a:pPr marL="0" indent="0" algn="l">
                        <a:lnSpc>
                          <a:spcPct val="108000"/>
                        </a:lnSpc>
                        <a:spcBef>
                          <a:spcPts val="30"/>
                        </a:spcBef>
                        <a:buNone/>
                      </a:pPr>
                      <a:r>
                        <a:rPr lang="es" sz="800" b="0" i="0" dirty="0">
                          <a:solidFill>
                            <a:srgbClr val="444444"/>
                          </a:solidFill>
                          <a:latin typeface="Graphik"/>
                          <a:cs typeface="Graphik"/>
                        </a:rPr>
                        <a:t>El mecanismo práctico para descargar tráfico de lectura de núcleos restringidos —normalmente la palanca más rápida disponible en MIPS y tiempo de respuesta, sin necesidad de cambio de núcleo.</a:t>
                      </a:r>
                    </a:p>
                  </a:txBody>
                  <a:tcPr marL="82000" marR="82000" marT="38000" marB="38000" anchor="ctr">
                    <a:solidFill>
                      <a:srgbClr val="F6F2FB"/>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Redis en la pila de Apolo</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Modyo/AWS CloudFront para contenido estático</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YugabyteDB para datos operativos. Herramienta de invalidación de caché no especificamente nombrada</a:t>
                      </a:r>
                    </a:p>
                  </a:txBody>
                  <a:tcPr marL="82000" marR="82000" marT="38000" marB="38000" anchor="ctr">
                    <a:solidFill>
                      <a:srgbClr val="F6F2FB"/>
                    </a:solidFill>
                  </a:tcPr>
                </a:tc>
                <a:extLst>
                  <a:ext uri="{0D108BD9-81ED-4DB2-BD59-A6C34878D82A}">
                    <a16:rowId xmlns:a16="http://schemas.microsoft.com/office/drawing/2014/main" val="10004"/>
                  </a:ext>
                </a:extLst>
              </a:tr>
            </a:tbl>
          </a:graphicData>
        </a:graphic>
      </p:graphicFrame>
      <p:sp>
        <p:nvSpPr>
          <p:cNvPr id="5" name="TextBox 4">
            <a:extLst>
              <a:ext uri="{FF2B5EF4-FFF2-40B4-BE49-F238E27FC236}">
                <a16:creationId xmlns:a16="http://schemas.microsoft.com/office/drawing/2014/main" id="{BF29D682-8D81-78DF-CF3B-69C5F2A115BE}"/>
              </a:ext>
            </a:extLst>
          </p:cNvPr>
          <p:cNvSpPr txBox="1"/>
          <p:nvPr>
            <p:extLst>
              <p:ext uri="{1162E1C5-73C7-4A58-AE30-91384D911F3F}">
                <p184:classification xmlns:p184="http://schemas.microsoft.com/office/powerpoint/2018/4/main" val="hdr"/>
              </p:ext>
            </p:extLst>
          </p:nvPr>
        </p:nvSpPr>
        <p:spPr>
          <a:xfrm>
            <a:off x="379000" y="78170"/>
            <a:ext cx="11432000" cy="154830"/>
          </a:xfrm>
          <a:prstGeom prst="rect">
            <a:avLst/>
          </a:prstGeom>
        </p:spPr>
        <p:txBody>
          <a:bodyPr horzOverflow="overflow"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000" b="0" i="0" u="none" strike="noStrike" kern="1200" cap="none" spc="0" normalizeH="0" baseline="0" noProof="0">
                <a:ln>
                  <a:noFill/>
                </a:ln>
                <a:solidFill>
                  <a:srgbClr val="000000"/>
                </a:solidFill>
                <a:effectLst/>
                <a:uLnTx/>
                <a:uFillTx/>
                <a:latin typeface="Graphik (Body)"/>
                <a:ea typeface="+mn-ea"/>
                <a:cs typeface="Calibri" panose="020F0502020204030204" pitchFamily="34" charset="0"/>
              </a:rPr>
              <a:t>*** Confidencial - Solo para uso interno de la empresa ***</a:t>
            </a:r>
          </a:p>
        </p:txBody>
      </p:sp>
      <p:grpSp>
        <p:nvGrpSpPr>
          <p:cNvPr id="6" name="Group 5">
            <a:extLst>
              <a:ext uri="{FF2B5EF4-FFF2-40B4-BE49-F238E27FC236}">
                <a16:creationId xmlns:a16="http://schemas.microsoft.com/office/drawing/2014/main" id="{8500B439-78A7-A237-F7CD-743BFC5CB26B}"/>
              </a:ext>
            </a:extLst>
          </p:cNvPr>
          <p:cNvGrpSpPr/>
          <p:nvPr/>
        </p:nvGrpSpPr>
        <p:grpSpPr>
          <a:xfrm>
            <a:off x="717042" y="6191083"/>
            <a:ext cx="4001014" cy="631639"/>
            <a:chOff x="717042" y="6191083"/>
            <a:chExt cx="4001014" cy="631639"/>
          </a:xfrm>
        </p:grpSpPr>
        <p:sp>
          <p:nvSpPr>
            <p:cNvPr id="7" name="Rectangle 6">
              <a:extLst>
                <a:ext uri="{FF2B5EF4-FFF2-40B4-BE49-F238E27FC236}">
                  <a16:creationId xmlns:a16="http://schemas.microsoft.com/office/drawing/2014/main" id="{7C243356-DA74-5BDA-B481-199BEFD77014}"/>
                </a:ext>
              </a:extLst>
            </p:cNvPr>
            <p:cNvSpPr>
              <a:spLocks noChangeAspect="1"/>
            </p:cNvSpPr>
            <p:nvPr/>
          </p:nvSpPr>
          <p:spPr>
            <a:xfrm>
              <a:off x="1936749" y="6410745"/>
              <a:ext cx="774645" cy="202427"/>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GAP</a:t>
              </a:r>
            </a:p>
          </p:txBody>
        </p:sp>
        <p:sp>
          <p:nvSpPr>
            <p:cNvPr id="8" name="Rectangle 7">
              <a:extLst>
                <a:ext uri="{FF2B5EF4-FFF2-40B4-BE49-F238E27FC236}">
                  <a16:creationId xmlns:a16="http://schemas.microsoft.com/office/drawing/2014/main" id="{8DA6390A-78A3-D017-BE0C-445C861EB882}"/>
                </a:ext>
              </a:extLst>
            </p:cNvPr>
            <p:cNvSpPr>
              <a:spLocks noChangeAspect="1"/>
            </p:cNvSpPr>
            <p:nvPr/>
          </p:nvSpPr>
          <p:spPr>
            <a:xfrm>
              <a:off x="1936749" y="6191083"/>
              <a:ext cx="774645" cy="202427"/>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Objetivo</a:t>
              </a:r>
            </a:p>
          </p:txBody>
        </p:sp>
        <p:sp>
          <p:nvSpPr>
            <p:cNvPr id="9" name="Rectangle 8">
              <a:extLst>
                <a:ext uri="{FF2B5EF4-FFF2-40B4-BE49-F238E27FC236}">
                  <a16:creationId xmlns:a16="http://schemas.microsoft.com/office/drawing/2014/main" id="{A1ECF3BB-111E-DF7A-6087-D7952FDA74A7}"/>
                </a:ext>
              </a:extLst>
            </p:cNvPr>
            <p:cNvSpPr>
              <a:spLocks noChangeAspect="1"/>
            </p:cNvSpPr>
            <p:nvPr/>
          </p:nvSpPr>
          <p:spPr>
            <a:xfrm>
              <a:off x="1936749" y="6620295"/>
              <a:ext cx="774645" cy="202427"/>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Descartar</a:t>
              </a:r>
            </a:p>
          </p:txBody>
        </p:sp>
        <p:sp>
          <p:nvSpPr>
            <p:cNvPr id="10" name="Oval 9">
              <a:extLst>
                <a:ext uri="{FF2B5EF4-FFF2-40B4-BE49-F238E27FC236}">
                  <a16:creationId xmlns:a16="http://schemas.microsoft.com/office/drawing/2014/main" id="{6128E720-DFC1-EC31-9940-45DF93B9E4D9}"/>
                </a:ext>
              </a:extLst>
            </p:cNvPr>
            <p:cNvSpPr>
              <a:spLocks noChangeAspect="1"/>
            </p:cNvSpPr>
            <p:nvPr/>
          </p:nvSpPr>
          <p:spPr>
            <a:xfrm>
              <a:off x="4077214" y="6226238"/>
              <a:ext cx="640842" cy="184507"/>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700"/>
                <a:t>Alto</a:t>
              </a:r>
            </a:p>
          </p:txBody>
        </p:sp>
        <p:sp>
          <p:nvSpPr>
            <p:cNvPr id="11" name="Rectangle 10">
              <a:extLst>
                <a:ext uri="{FF2B5EF4-FFF2-40B4-BE49-F238E27FC236}">
                  <a16:creationId xmlns:a16="http://schemas.microsoft.com/office/drawing/2014/main" id="{73DB09E4-DF3C-80CD-92C4-7534E828DDBE}"/>
                </a:ext>
              </a:extLst>
            </p:cNvPr>
            <p:cNvSpPr>
              <a:spLocks noChangeAspect="1"/>
            </p:cNvSpPr>
            <p:nvPr/>
          </p:nvSpPr>
          <p:spPr>
            <a:xfrm>
              <a:off x="717042" y="6283336"/>
              <a:ext cx="1022032" cy="455578"/>
            </a:xfrm>
            <a:prstGeom prst="rect">
              <a:avLst/>
            </a:prstGeom>
            <a:solidFill>
              <a:srgbClr val="7500C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Evaluación de capacidades</a:t>
              </a:r>
            </a:p>
          </p:txBody>
        </p:sp>
        <p:sp>
          <p:nvSpPr>
            <p:cNvPr id="12" name="Rectangle 11">
              <a:extLst>
                <a:ext uri="{FF2B5EF4-FFF2-40B4-BE49-F238E27FC236}">
                  <a16:creationId xmlns:a16="http://schemas.microsoft.com/office/drawing/2014/main" id="{87248145-19A1-DB9C-B1A7-000AC53E0CAA}"/>
                </a:ext>
              </a:extLst>
            </p:cNvPr>
            <p:cNvSpPr>
              <a:spLocks noChangeAspect="1"/>
            </p:cNvSpPr>
            <p:nvPr/>
          </p:nvSpPr>
          <p:spPr>
            <a:xfrm>
              <a:off x="2816387" y="6282396"/>
              <a:ext cx="1022032" cy="455578"/>
            </a:xfrm>
            <a:prstGeom prst="rect">
              <a:avLst/>
            </a:prstGeom>
            <a:solidFill>
              <a:srgbClr val="7500C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Prioridad</a:t>
              </a:r>
            </a:p>
          </p:txBody>
        </p:sp>
        <p:sp>
          <p:nvSpPr>
            <p:cNvPr id="13" name="Oval 12">
              <a:extLst>
                <a:ext uri="{FF2B5EF4-FFF2-40B4-BE49-F238E27FC236}">
                  <a16:creationId xmlns:a16="http://schemas.microsoft.com/office/drawing/2014/main" id="{42DFA139-8638-A2F9-13AD-1622C7B08361}"/>
                </a:ext>
              </a:extLst>
            </p:cNvPr>
            <p:cNvSpPr>
              <a:spLocks noChangeAspect="1"/>
            </p:cNvSpPr>
            <p:nvPr/>
          </p:nvSpPr>
          <p:spPr>
            <a:xfrm>
              <a:off x="4077214" y="6435788"/>
              <a:ext cx="640842" cy="184507"/>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700"/>
                <a:t>Medio</a:t>
              </a:r>
            </a:p>
          </p:txBody>
        </p:sp>
        <p:sp>
          <p:nvSpPr>
            <p:cNvPr id="14" name="Oval 13">
              <a:extLst>
                <a:ext uri="{FF2B5EF4-FFF2-40B4-BE49-F238E27FC236}">
                  <a16:creationId xmlns:a16="http://schemas.microsoft.com/office/drawing/2014/main" id="{4784CF03-FE16-0A24-70FC-9B6A6C268FFC}"/>
                </a:ext>
              </a:extLst>
            </p:cNvPr>
            <p:cNvSpPr>
              <a:spLocks noChangeAspect="1"/>
            </p:cNvSpPr>
            <p:nvPr/>
          </p:nvSpPr>
          <p:spPr>
            <a:xfrm>
              <a:off x="4077214" y="6633421"/>
              <a:ext cx="640842" cy="184507"/>
            </a:xfrm>
            <a:prstGeom prst="ellipse">
              <a:avLst/>
            </a:prstGeom>
            <a:solidFill>
              <a:srgbClr val="DCAFFF"/>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700"/>
                <a:t>Bajo</a:t>
              </a:r>
            </a:p>
          </p:txBody>
        </p:sp>
      </p:grpSp>
    </p:spTree>
    <p:extLst>
      <p:ext uri="{BB962C8B-B14F-4D97-AF65-F5344CB8AC3E}">
        <p14:creationId xmlns:p14="http://schemas.microsoft.com/office/powerpoint/2010/main" val="114539890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019FDD-725F-8534-EA90-E2044594B0D3}"/>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5CB0F6D9-5E92-5EB1-4799-BC6659D85A5C}"/>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alpha val="65000"/>
                  </a:srgbClr>
                </a:solidFill>
                <a:effectLst/>
                <a:uLnTx/>
                <a:uFillTx/>
                <a:latin typeface="Graphik"/>
                <a:ea typeface="+mn-ea"/>
                <a:cs typeface="+mn-cs"/>
              </a:rPr>
              <a:t>Copyright © 2026 Accenture. Todos los derechos reservados.</a:t>
            </a:r>
          </a:p>
        </p:txBody>
      </p:sp>
      <p:sp>
        <p:nvSpPr>
          <p:cNvPr id="4" name="Slide Number Placeholder 3">
            <a:extLst>
              <a:ext uri="{FF2B5EF4-FFF2-40B4-BE49-F238E27FC236}">
                <a16:creationId xmlns:a16="http://schemas.microsoft.com/office/drawing/2014/main" id="{3A721E09-FCBD-84FA-9776-B48A42155AF5}"/>
              </a:ext>
            </a:extLst>
          </p:cNvPr>
          <p:cNvSpPr>
            <a:spLocks noGrp="1"/>
          </p:cNvSpPr>
          <p:nvPr>
            <p:ph type="sldNum" sz="quarter" idx="429496729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Graphik"/>
                <a:ea typeface="+mn-ea"/>
                <a:cs typeface="+mn-cs"/>
              </a:rPr>
              <a:t> </a:t>
            </a:r>
          </a:p>
        </p:txBody>
      </p:sp>
      <p:sp>
        <p:nvSpPr>
          <p:cNvPr id="23" name="Title 1">
            <a:extLst>
              <a:ext uri="{FF2B5EF4-FFF2-40B4-BE49-F238E27FC236}">
                <a16:creationId xmlns:a16="http://schemas.microsoft.com/office/drawing/2014/main" id="{5844AA0A-B29E-375C-3DEA-15A60CE0BEC5}"/>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dirty="0">
                <a:ln>
                  <a:noFill/>
                </a:ln>
                <a:solidFill>
                  <a:srgbClr val="7500C0"/>
                </a:solidFill>
                <a:effectLst/>
                <a:uLnTx/>
                <a:uFillTx/>
                <a:latin typeface="Graphik"/>
                <a:ea typeface="+mj-ea"/>
                <a:cs typeface="+mj-cs"/>
              </a:rPr>
              <a:t>Arquitectura de Interoperabilidad </a:t>
            </a:r>
            <a:r>
              <a:rPr kumimoji="0" lang="es" sz="2400" b="1" i="0" u="none" strike="noStrike" kern="1200" cap="none" spc="0" normalizeH="0" baseline="0" noProof="0" dirty="0">
                <a:ln>
                  <a:noFill/>
                </a:ln>
                <a:solidFill>
                  <a:srgbClr val="000000"/>
                </a:solidFill>
                <a:effectLst/>
                <a:uLnTx/>
                <a:uFillTx/>
                <a:latin typeface="Graphik"/>
                <a:ea typeface="+mj-ea"/>
                <a:cs typeface="+mj-cs"/>
              </a:rPr>
              <a:t>| </a:t>
            </a:r>
            <a:r>
              <a:rPr kumimoji="0" lang="es" sz="2000" b="1" i="0" u="none" strike="noStrike" kern="1200" cap="none" spc="0" normalizeH="0" baseline="0" noProof="0" dirty="0">
                <a:ln>
                  <a:noFill/>
                </a:ln>
                <a:solidFill>
                  <a:srgbClr val="000000"/>
                </a:solidFill>
                <a:effectLst/>
                <a:uLnTx/>
                <a:uFillTx/>
                <a:latin typeface="Graphik"/>
                <a:ea typeface="+mj-ea"/>
                <a:cs typeface="+mj-cs"/>
              </a:rPr>
              <a:t>Trxs distribuidos – Gestión de Trxs</a:t>
            </a:r>
            <a:endParaRPr kumimoji="0" lang="es" sz="2400" b="1" i="0" u="none" strike="noStrike" kern="1200" cap="none" spc="0" normalizeH="0" baseline="0" noProof="0" dirty="0">
              <a:ln>
                <a:noFill/>
              </a:ln>
              <a:solidFill>
                <a:srgbClr val="000000"/>
              </a:solidFill>
              <a:effectLst/>
              <a:uLnTx/>
              <a:uFillTx/>
              <a:latin typeface="Graphik"/>
              <a:ea typeface="+mj-ea"/>
              <a:cs typeface="+mj-cs"/>
            </a:endParaRPr>
          </a:p>
        </p:txBody>
      </p:sp>
      <p:sp>
        <p:nvSpPr>
          <p:cNvPr id="131" name="Kicker"/>
          <p:cNvSpPr txBox="1"/>
          <p:nvPr/>
        </p:nvSpPr>
        <p:spPr>
          <a:xfrm>
            <a:off x="381000" y="775000"/>
            <a:ext cx="10200000" cy="200000"/>
          </a:xfrm>
          <a:prstGeom prst="rect">
            <a:avLst/>
          </a:prstGeom>
        </p:spPr>
        <p:txBody>
          <a:bodyPr lIns="0" tIns="0" rIns="0" bIns="0"/>
          <a:lstStyle/>
          <a:p>
            <a:pPr marL="0" indent="0" algn="l">
              <a:lnSpc>
                <a:spcPct val="104000"/>
              </a:lnSpc>
              <a:spcBef>
                <a:spcPts val="30"/>
              </a:spcBef>
              <a:buNone/>
            </a:pPr>
            <a:r>
              <a:rPr lang="es" sz="1000" b="1" i="0">
                <a:solidFill>
                  <a:srgbClr val="7500C0"/>
                </a:solidFill>
                <a:latin typeface="Graphik"/>
                <a:cs typeface="Graphik"/>
              </a:rPr>
              <a:t>CAPACIDAD DE DOMINIO | 4 SUBCAPACIDADES</a:t>
            </a:r>
          </a:p>
        </p:txBody>
      </p:sp>
      <p:graphicFrame>
        <p:nvGraphicFramePr>
          <p:cNvPr id="100" name="DetailTable"/>
          <p:cNvGraphicFramePr>
            <a:graphicFrameLocks noGrp="1"/>
          </p:cNvGraphicFramePr>
          <p:nvPr>
            <p:extLst>
              <p:ext uri="{D42A27DB-BD31-4B8C-83A1-F6EECF244321}">
                <p14:modId xmlns:p14="http://schemas.microsoft.com/office/powerpoint/2010/main" val="3306229359"/>
              </p:ext>
            </p:extLst>
          </p:nvPr>
        </p:nvGraphicFramePr>
        <p:xfrm>
          <a:off x="381000" y="1015000"/>
          <a:ext cx="11430000" cy="4535720"/>
        </p:xfrm>
        <a:graphic>
          <a:graphicData uri="http://schemas.openxmlformats.org/drawingml/2006/table">
            <a:tbl>
              <a:tblPr firstRow="1"/>
              <a:tblGrid>
                <a:gridCol w="1950000">
                  <a:extLst>
                    <a:ext uri="{9D8B030D-6E8A-4147-A177-3AD203B41FA5}">
                      <a16:colId xmlns:a16="http://schemas.microsoft.com/office/drawing/2014/main" val="20000"/>
                    </a:ext>
                  </a:extLst>
                </a:gridCol>
                <a:gridCol w="3450000">
                  <a:extLst>
                    <a:ext uri="{9D8B030D-6E8A-4147-A177-3AD203B41FA5}">
                      <a16:colId xmlns:a16="http://schemas.microsoft.com/office/drawing/2014/main" val="20001"/>
                    </a:ext>
                  </a:extLst>
                </a:gridCol>
                <a:gridCol w="3150000">
                  <a:extLst>
                    <a:ext uri="{9D8B030D-6E8A-4147-A177-3AD203B41FA5}">
                      <a16:colId xmlns:a16="http://schemas.microsoft.com/office/drawing/2014/main" val="20002"/>
                    </a:ext>
                  </a:extLst>
                </a:gridCol>
                <a:gridCol w="2880000">
                  <a:extLst>
                    <a:ext uri="{9D8B030D-6E8A-4147-A177-3AD203B41FA5}">
                      <a16:colId xmlns:a16="http://schemas.microsoft.com/office/drawing/2014/main" val="20003"/>
                    </a:ext>
                  </a:extLst>
                </a:gridCol>
              </a:tblGrid>
              <a:tr h="300000">
                <a:tc>
                  <a:txBody>
                    <a:bodyPr/>
                    <a:lstStyle/>
                    <a:p>
                      <a:pPr marL="0" indent="0" algn="l">
                        <a:lnSpc>
                          <a:spcPct val="104000"/>
                        </a:lnSpc>
                        <a:spcBef>
                          <a:spcPts val="30"/>
                        </a:spcBef>
                        <a:buNone/>
                      </a:pPr>
                      <a:r>
                        <a:rPr lang="es" sz="1000" b="1" i="0" dirty="0">
                          <a:solidFill>
                            <a:srgbClr val="FFFFFF"/>
                          </a:solidFill>
                          <a:latin typeface="Graphik"/>
                          <a:cs typeface="Graphik"/>
                        </a:rPr>
                        <a:t>Subcapacidad</a:t>
                      </a:r>
                    </a:p>
                  </a:txBody>
                  <a:tcPr marL="82000" marR="82000" marT="38000" marB="38000" anchor="ctr">
                    <a:solidFill>
                      <a:srgbClr val="7500C0"/>
                    </a:solidFill>
                  </a:tcPr>
                </a:tc>
                <a:tc>
                  <a:txBody>
                    <a:bodyPr/>
                    <a:lstStyle/>
                    <a:p>
                      <a:pPr marL="0" indent="0" algn="l">
                        <a:lnSpc>
                          <a:spcPct val="104000"/>
                        </a:lnSpc>
                        <a:spcBef>
                          <a:spcPts val="30"/>
                        </a:spcBef>
                        <a:buNone/>
                      </a:pPr>
                      <a:r>
                        <a:rPr lang="es" sz="1000" b="1" i="0">
                          <a:solidFill>
                            <a:srgbClr val="FFFFFF"/>
                          </a:solidFill>
                          <a:latin typeface="Graphik"/>
                          <a:cs typeface="Graphik"/>
                        </a:rPr>
                        <a:t>Descripción</a:t>
                      </a:r>
                    </a:p>
                  </a:txBody>
                  <a:tcPr marL="82000" marR="82000" marT="38000" marB="38000" anchor="ctr">
                    <a:solidFill>
                      <a:srgbClr val="7500C0"/>
                    </a:solidFill>
                  </a:tcPr>
                </a:tc>
                <a:tc>
                  <a:txBody>
                    <a:bodyPr/>
                    <a:lstStyle/>
                    <a:p>
                      <a:pPr marL="0" indent="0" algn="l">
                        <a:lnSpc>
                          <a:spcPct val="104000"/>
                        </a:lnSpc>
                        <a:spcBef>
                          <a:spcPts val="30"/>
                        </a:spcBef>
                        <a:buNone/>
                      </a:pPr>
                      <a:r>
                        <a:rPr lang="es" sz="1000" b="1" i="0">
                          <a:solidFill>
                            <a:srgbClr val="FFFFFF"/>
                          </a:solidFill>
                          <a:latin typeface="Graphik"/>
                          <a:cs typeface="Graphik"/>
                        </a:rPr>
                        <a:t>Propósito</a:t>
                      </a:r>
                    </a:p>
                  </a:txBody>
                  <a:tcPr marL="82000" marR="82000" marT="38000" marB="38000" anchor="ctr">
                    <a:solidFill>
                      <a:srgbClr val="7500C0"/>
                    </a:solidFill>
                  </a:tcPr>
                </a:tc>
                <a:tc>
                  <a:txBody>
                    <a:bodyPr/>
                    <a:lstStyle/>
                    <a:p>
                      <a:pPr marL="0" indent="0" algn="l">
                        <a:lnSpc>
                          <a:spcPct val="104000"/>
                        </a:lnSpc>
                        <a:spcBef>
                          <a:spcPts val="30"/>
                        </a:spcBef>
                        <a:buNone/>
                      </a:pPr>
                      <a:r>
                        <a:rPr lang="es" sz="1000" b="1" i="0">
                          <a:solidFill>
                            <a:srgbClr val="FFFFFF"/>
                          </a:solidFill>
                          <a:latin typeface="Graphik"/>
                          <a:cs typeface="Graphik"/>
                        </a:rPr>
                        <a:t>Soluciones en Coppel</a:t>
                      </a:r>
                    </a:p>
                  </a:txBody>
                  <a:tcPr marL="82000" marR="82000" marT="38000" marB="38000" anchor="ctr">
                    <a:solidFill>
                      <a:srgbClr val="7500C0"/>
                    </a:solidFill>
                  </a:tcPr>
                </a:tc>
                <a:extLst>
                  <a:ext uri="{0D108BD9-81ED-4DB2-BD59-A6C34878D82A}">
                    <a16:rowId xmlns:a16="http://schemas.microsoft.com/office/drawing/2014/main" val="10000"/>
                  </a:ext>
                </a:extLst>
              </a:tr>
              <a:tr h="1100840">
                <a:tc>
                  <a:txBody>
                    <a:bodyPr/>
                    <a:lstStyle/>
                    <a:p>
                      <a:pPr marL="0" indent="0" algn="l">
                        <a:lnSpc>
                          <a:spcPct val="104000"/>
                        </a:lnSpc>
                        <a:spcBef>
                          <a:spcPts val="30"/>
                        </a:spcBef>
                        <a:buNone/>
                      </a:pPr>
                      <a:r>
                        <a:rPr lang="es" sz="800" b="1" i="0">
                          <a:solidFill>
                            <a:srgbClr val="9B7BC7"/>
                          </a:solidFill>
                          <a:latin typeface="Graphik"/>
                          <a:cs typeface="Graphik"/>
                        </a:rPr>
                        <a:t>7.1  </a:t>
                      </a:r>
                      <a:r>
                        <a:rPr lang="es" sz="800" b="1" i="0">
                          <a:solidFill>
                            <a:srgbClr val="7500C0"/>
                          </a:solidFill>
                          <a:latin typeface="Graphik"/>
                          <a:cs typeface="Graphik"/>
                        </a:rPr>
                        <a:t>Gestión de transacciones</a:t>
                      </a:r>
                    </a:p>
                  </a:txBody>
                  <a:tcPr marL="82000" marR="82000" marT="38000" marB="38000" anchor="ctr">
                    <a:solidFill>
                      <a:srgbClr val="EFE7F7"/>
                    </a:solidFill>
                  </a:tcPr>
                </a:tc>
                <a:tc>
                  <a:txBody>
                    <a:bodyPr/>
                    <a:lstStyle/>
                    <a:p>
                      <a:pPr marL="0" indent="0" algn="l">
                        <a:lnSpc>
                          <a:spcPct val="108000"/>
                        </a:lnSpc>
                        <a:spcBef>
                          <a:spcPts val="30"/>
                        </a:spcBef>
                        <a:buNone/>
                      </a:pPr>
                      <a:r>
                        <a:rPr lang="es" sz="800" b="0" i="0">
                          <a:solidFill>
                            <a:srgbClr val="2B2B2B"/>
                          </a:solidFill>
                          <a:latin typeface="Graphik"/>
                          <a:cs typeface="Graphik"/>
                        </a:rPr>
                        <a:t>Coordinación de operaciones empresariales con múltiples participantes, seguimiento del éxito o fracaso de cada paso y impulsando la reversión completa o compensatoria, con registro duradero del estado y la historia.</a:t>
                      </a:r>
                    </a:p>
                  </a:txBody>
                  <a:tcPr marL="82000" marR="82000" marT="38000" marB="38000" anchor="ctr">
                    <a:solidFill>
                      <a:srgbClr val="FFFFFF"/>
                    </a:solidFill>
                  </a:tcPr>
                </a:tc>
                <a:tc>
                  <a:txBody>
                    <a:bodyPr/>
                    <a:lstStyle/>
                    <a:p>
                      <a:pPr marL="0" indent="0" algn="l">
                        <a:lnSpc>
                          <a:spcPct val="108000"/>
                        </a:lnSpc>
                        <a:spcBef>
                          <a:spcPts val="30"/>
                        </a:spcBef>
                        <a:buNone/>
                      </a:pPr>
                      <a:r>
                        <a:rPr lang="es" sz="800" b="0" i="0" dirty="0">
                          <a:solidFill>
                            <a:srgbClr val="444444"/>
                          </a:solidFill>
                          <a:latin typeface="Graphik"/>
                          <a:cs typeface="Graphik"/>
                        </a:rPr>
                        <a:t>Garantiza que una transacción comercial que abarque sistemas legados, de nueva generación y de terceros se complete o se deshace por completo, con pruebas.</a:t>
                      </a:r>
                    </a:p>
                  </a:txBody>
                  <a:tcPr marL="82000" marR="82000" marT="38000" marB="38000" anchor="ctr">
                    <a:solidFill>
                      <a:srgbClr val="FFFFFF"/>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Temenos Transacciones a tiempo completo/pagos/GL</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BPC SmartVista/SVIP</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Hub de Pagos</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Kafka/Confluent</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Amazon MQ/Kinesis</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Interfaces Temporales</a:t>
                      </a:r>
                    </a:p>
                  </a:txBody>
                  <a:tcPr marL="82000" marR="82000" marT="38000" marB="38000" anchor="ctr">
                    <a:solidFill>
                      <a:srgbClr val="FFFFFF"/>
                    </a:solidFill>
                  </a:tcPr>
                </a:tc>
                <a:extLst>
                  <a:ext uri="{0D108BD9-81ED-4DB2-BD59-A6C34878D82A}">
                    <a16:rowId xmlns:a16="http://schemas.microsoft.com/office/drawing/2014/main" val="10001"/>
                  </a:ext>
                </a:extLst>
              </a:tr>
              <a:tr h="1100840">
                <a:tc>
                  <a:txBody>
                    <a:bodyPr/>
                    <a:lstStyle/>
                    <a:p>
                      <a:pPr marL="0" indent="0" algn="l">
                        <a:lnSpc>
                          <a:spcPct val="104000"/>
                        </a:lnSpc>
                        <a:spcBef>
                          <a:spcPts val="30"/>
                        </a:spcBef>
                        <a:buNone/>
                      </a:pPr>
                      <a:r>
                        <a:rPr lang="es" sz="800" b="1" i="0">
                          <a:solidFill>
                            <a:srgbClr val="9B7BC7"/>
                          </a:solidFill>
                          <a:latin typeface="Graphik"/>
                          <a:cs typeface="Graphik"/>
                        </a:rPr>
                        <a:t>7.2  </a:t>
                      </a:r>
                      <a:r>
                        <a:rPr lang="es" sz="800" b="1" i="0">
                          <a:solidFill>
                            <a:srgbClr val="7500C0"/>
                          </a:solidFill>
                          <a:latin typeface="Graphik"/>
                          <a:cs typeface="Graphik"/>
                        </a:rPr>
                        <a:t>Operaciones y Control de Transacciones</a:t>
                      </a:r>
                    </a:p>
                  </a:txBody>
                  <a:tcPr marL="82000" marR="82000" marT="38000" marB="38000" anchor="ctr">
                    <a:solidFill>
                      <a:srgbClr val="E9DEF4"/>
                    </a:solidFill>
                  </a:tcPr>
                </a:tc>
                <a:tc>
                  <a:txBody>
                    <a:bodyPr/>
                    <a:lstStyle/>
                    <a:p>
                      <a:pPr marL="0" indent="0" algn="l">
                        <a:lnSpc>
                          <a:spcPct val="108000"/>
                        </a:lnSpc>
                        <a:spcBef>
                          <a:spcPts val="30"/>
                        </a:spcBef>
                        <a:buNone/>
                      </a:pPr>
                      <a:r>
                        <a:rPr lang="es" sz="800" b="0" i="0" dirty="0">
                          <a:solidFill>
                            <a:srgbClr val="2B2B2B"/>
                          </a:solidFill>
                          <a:latin typeface="Graphik"/>
                          <a:cs typeface="Graphik"/>
                        </a:rPr>
                        <a:t>Herramientas orientadas al operador para observar, intervenir e informar sobre transacciones complejas, incluyendo reintentos, cancelaciones y reversiones de acciones, así como la monitorización de eventos técnicos y operativos.</a:t>
                      </a:r>
                    </a:p>
                  </a:txBody>
                  <a:tcPr marL="82000" marR="82000" marT="38000" marB="38000" anchor="ctr">
                    <a:solidFill>
                      <a:srgbClr val="F6F2FB"/>
                    </a:solidFill>
                  </a:tcPr>
                </a:tc>
                <a:tc>
                  <a:txBody>
                    <a:bodyPr/>
                    <a:lstStyle/>
                    <a:p>
                      <a:pPr marL="0" indent="0" algn="l">
                        <a:lnSpc>
                          <a:spcPct val="108000"/>
                        </a:lnSpc>
                        <a:spcBef>
                          <a:spcPts val="30"/>
                        </a:spcBef>
                        <a:buNone/>
                      </a:pPr>
                      <a:r>
                        <a:rPr lang="es" sz="800" b="0" i="0">
                          <a:solidFill>
                            <a:srgbClr val="444444"/>
                          </a:solidFill>
                          <a:latin typeface="Graphik"/>
                          <a:cs typeface="Graphik"/>
                        </a:rPr>
                        <a:t>Hace que la consistencia distribuida sea operativa por equipos nombrados; Sin él, la corrección depende de la escalada de ingeniería para cada anomalía.</a:t>
                      </a:r>
                    </a:p>
                  </a:txBody>
                  <a:tcPr marL="82000" marR="82000" marT="38000" marB="38000" anchor="ctr">
                    <a:solidFill>
                      <a:srgbClr val="F6F2FB"/>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Temenos Transacciones a tiempo completo/pagos/GL</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BPC SmartVista/SVIP</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Hub de Pagos</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Kafka/Confluent</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Amazon MQ/Kinesis</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Interfaces Temporales</a:t>
                      </a:r>
                    </a:p>
                  </a:txBody>
                  <a:tcPr marL="82000" marR="82000" marT="38000" marB="38000" anchor="ctr">
                    <a:solidFill>
                      <a:srgbClr val="F6F2FB"/>
                    </a:solidFill>
                  </a:tcPr>
                </a:tc>
                <a:extLst>
                  <a:ext uri="{0D108BD9-81ED-4DB2-BD59-A6C34878D82A}">
                    <a16:rowId xmlns:a16="http://schemas.microsoft.com/office/drawing/2014/main" val="10002"/>
                  </a:ext>
                </a:extLst>
              </a:tr>
              <a:tr h="1100840">
                <a:tc>
                  <a:txBody>
                    <a:bodyPr/>
                    <a:lstStyle/>
                    <a:p>
                      <a:pPr marL="0" indent="0" algn="l">
                        <a:lnSpc>
                          <a:spcPct val="104000"/>
                        </a:lnSpc>
                        <a:spcBef>
                          <a:spcPts val="30"/>
                        </a:spcBef>
                        <a:buNone/>
                      </a:pPr>
                      <a:r>
                        <a:rPr lang="es" sz="800" b="1" i="0" dirty="0">
                          <a:solidFill>
                            <a:srgbClr val="9B7BC7"/>
                          </a:solidFill>
                          <a:latin typeface="Graphik"/>
                          <a:cs typeface="Graphik"/>
                        </a:rPr>
                        <a:t>7.3  </a:t>
                      </a:r>
                      <a:r>
                        <a:rPr lang="es" sz="800" b="1" i="0" dirty="0">
                          <a:solidFill>
                            <a:srgbClr val="7500C0"/>
                          </a:solidFill>
                          <a:latin typeface="Graphik"/>
                          <a:cs typeface="Graphik"/>
                        </a:rPr>
                        <a:t>Store &amp; Forward</a:t>
                      </a:r>
                    </a:p>
                  </a:txBody>
                  <a:tcPr marL="82000" marR="82000" marT="38000" marB="38000" anchor="ctr">
                    <a:solidFill>
                      <a:srgbClr val="EFE7F7"/>
                    </a:solidFill>
                  </a:tcPr>
                </a:tc>
                <a:tc>
                  <a:txBody>
                    <a:bodyPr/>
                    <a:lstStyle/>
                    <a:p>
                      <a:pPr marL="0" indent="0" algn="l">
                        <a:lnSpc>
                          <a:spcPct val="108000"/>
                        </a:lnSpc>
                        <a:spcBef>
                          <a:spcPts val="30"/>
                        </a:spcBef>
                        <a:buNone/>
                      </a:pPr>
                      <a:r>
                        <a:rPr lang="es" sz="800" b="0" i="0">
                          <a:solidFill>
                            <a:srgbClr val="2B2B2B"/>
                          </a:solidFill>
                          <a:latin typeface="Graphik"/>
                          <a:cs typeface="Graphik"/>
                        </a:rPr>
                        <a:t>Persistencia y ejecución posterior controlada de peticiones que no pueden completarse ahora —porque un sistema alojador no está disponible, o porque el usuario programó la acción para una fecha futura— que incluye gestor de solicitudes, registro, procesador, router y consola.</a:t>
                      </a:r>
                    </a:p>
                  </a:txBody>
                  <a:tcPr marL="82000" marR="82000" marT="38000" marB="38000" anchor="ctr">
                    <a:solidFill>
                      <a:srgbClr val="FFFFFF"/>
                    </a:solidFill>
                  </a:tcPr>
                </a:tc>
                <a:tc>
                  <a:txBody>
                    <a:bodyPr/>
                    <a:lstStyle/>
                    <a:p>
                      <a:pPr marL="0" indent="0" algn="l">
                        <a:lnSpc>
                          <a:spcPct val="108000"/>
                        </a:lnSpc>
                        <a:spcBef>
                          <a:spcPts val="30"/>
                        </a:spcBef>
                        <a:buNone/>
                      </a:pPr>
                      <a:r>
                        <a:rPr lang="es" sz="800" b="0" i="0">
                          <a:solidFill>
                            <a:srgbClr val="444444"/>
                          </a:solidFill>
                          <a:latin typeface="Graphik"/>
                          <a:cs typeface="Graphik"/>
                        </a:rPr>
                        <a:t>Ofrece continuidad del servicio cuando parte del entorno está caída y, reutilizando el mismo mecanismo, soporta instrucciones con fecha futura como pagos programados. Es una razón principal por la que los clientes no experimentan directamente los límites de disponibilidad heredados.</a:t>
                      </a:r>
                    </a:p>
                  </a:txBody>
                  <a:tcPr marL="82000" marR="82000" marT="38000" marB="38000" anchor="ctr">
                    <a:solidFill>
                      <a:srgbClr val="FFFFFF"/>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Amazon MQ/Kinesis y Kafka/Confluent para un intercambio fiable</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Interfaces Temporales con reintento/respaldo a PISA</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Batch/COB donde el procesamiento síncrono no es posible</a:t>
                      </a:r>
                    </a:p>
                  </a:txBody>
                  <a:tcPr marL="82000" marR="82000" marT="38000" marB="38000" anchor="ctr">
                    <a:solidFill>
                      <a:srgbClr val="FFFFFF"/>
                    </a:solidFill>
                  </a:tcPr>
                </a:tc>
                <a:extLst>
                  <a:ext uri="{0D108BD9-81ED-4DB2-BD59-A6C34878D82A}">
                    <a16:rowId xmlns:a16="http://schemas.microsoft.com/office/drawing/2014/main" val="10003"/>
                  </a:ext>
                </a:extLst>
              </a:tr>
              <a:tr h="933200">
                <a:tc>
                  <a:txBody>
                    <a:bodyPr/>
                    <a:lstStyle/>
                    <a:p>
                      <a:pPr marL="0" indent="0" algn="l">
                        <a:lnSpc>
                          <a:spcPct val="104000"/>
                        </a:lnSpc>
                        <a:spcBef>
                          <a:spcPts val="30"/>
                        </a:spcBef>
                        <a:buNone/>
                      </a:pPr>
                      <a:r>
                        <a:rPr lang="es" sz="800" b="1" i="0">
                          <a:solidFill>
                            <a:srgbClr val="9B7BC7"/>
                          </a:solidFill>
                          <a:latin typeface="Graphik"/>
                          <a:cs typeface="Graphik"/>
                        </a:rPr>
                        <a:t>7.4  </a:t>
                      </a:r>
                      <a:r>
                        <a:rPr lang="es" sz="800" b="1" i="0">
                          <a:solidFill>
                            <a:srgbClr val="7500C0"/>
                          </a:solidFill>
                          <a:latin typeface="Graphik"/>
                          <a:cs typeface="Graphik"/>
                        </a:rPr>
                        <a:t>Administración de Servicios Transaccionales (Administración en línea)</a:t>
                      </a:r>
                    </a:p>
                  </a:txBody>
                  <a:tcPr marL="82000" marR="82000" marT="38000" marB="38000" anchor="ctr">
                    <a:solidFill>
                      <a:srgbClr val="E9DEF4"/>
                    </a:solidFill>
                  </a:tcPr>
                </a:tc>
                <a:tc>
                  <a:txBody>
                    <a:bodyPr/>
                    <a:lstStyle/>
                    <a:p>
                      <a:pPr marL="0" indent="0" algn="l">
                        <a:lnSpc>
                          <a:spcPct val="108000"/>
                        </a:lnSpc>
                        <a:spcBef>
                          <a:spcPts val="30"/>
                        </a:spcBef>
                        <a:buNone/>
                      </a:pPr>
                      <a:r>
                        <a:rPr lang="es" sz="800" b="0" i="0">
                          <a:solidFill>
                            <a:srgbClr val="2B2B2B"/>
                          </a:solidFill>
                          <a:latin typeface="Graphik"/>
                          <a:cs typeface="Graphik"/>
                        </a:rPr>
                        <a:t>Administración en tiempo de ejecución del comportamiento transaccional: qué servicios son atómicos, cuáles son elegibles para almacenar y reenviar, cuáles requieren aprobaciones y las sobreescrituras operativas disponibles para las funciones de control.</a:t>
                      </a:r>
                    </a:p>
                  </a:txBody>
                  <a:tcPr marL="82000" marR="82000" marT="38000" marB="38000" anchor="ctr">
                    <a:solidFill>
                      <a:srgbClr val="F6F2FB"/>
                    </a:solidFill>
                  </a:tcPr>
                </a:tc>
                <a:tc>
                  <a:txBody>
                    <a:bodyPr/>
                    <a:lstStyle/>
                    <a:p>
                      <a:pPr marL="0" indent="0" algn="l">
                        <a:lnSpc>
                          <a:spcPct val="108000"/>
                        </a:lnSpc>
                        <a:spcBef>
                          <a:spcPts val="30"/>
                        </a:spcBef>
                        <a:buNone/>
                      </a:pPr>
                      <a:r>
                        <a:rPr lang="es" sz="800" b="0" i="0" dirty="0">
                          <a:solidFill>
                            <a:srgbClr val="444444"/>
                          </a:solidFill>
                          <a:latin typeface="Graphik"/>
                          <a:cs typeface="Graphik"/>
                        </a:rPr>
                        <a:t>Hace que las características transaccionales sean declarativas y gobernadas centralmente, para que el comportamiento pueda ajustarse operativamente sin cambiar el código durante las ventanas de migración.</a:t>
                      </a:r>
                    </a:p>
                  </a:txBody>
                  <a:tcPr marL="82000" marR="82000" marT="38000" marB="38000" anchor="ctr">
                    <a:solidFill>
                      <a:srgbClr val="F6F2FB"/>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Administración de SmartVista</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Catálogo de Productos/Marco AA de Transact</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Controles de política de </a:t>
                      </a:r>
                      <a:r>
                        <a:rPr lang="es-ES" sz="700" b="0" i="0" dirty="0" err="1">
                          <a:solidFill>
                            <a:srgbClr val="4B2E83"/>
                          </a:solidFill>
                          <a:latin typeface="Graphik"/>
                          <a:cs typeface="Graphik"/>
                        </a:rPr>
                        <a:t>APIgee</a:t>
                      </a:r>
                      <a:endParaRPr lang="es" sz="700" b="0" i="0" dirty="0">
                        <a:solidFill>
                          <a:srgbClr val="4B2E83"/>
                        </a:solidFill>
                        <a:latin typeface="Graphik"/>
                        <a:cs typeface="Graphik"/>
                      </a:endParaRP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Anulaciones operativas a través de las consolas de administración de la plataforma</a:t>
                      </a:r>
                    </a:p>
                  </a:txBody>
                  <a:tcPr marL="82000" marR="82000" marT="38000" marB="38000" anchor="ctr">
                    <a:solidFill>
                      <a:srgbClr val="F6F2FB"/>
                    </a:solidFill>
                  </a:tcPr>
                </a:tc>
                <a:extLst>
                  <a:ext uri="{0D108BD9-81ED-4DB2-BD59-A6C34878D82A}">
                    <a16:rowId xmlns:a16="http://schemas.microsoft.com/office/drawing/2014/main" val="10004"/>
                  </a:ext>
                </a:extLst>
              </a:tr>
            </a:tbl>
          </a:graphicData>
        </a:graphic>
      </p:graphicFrame>
      <p:sp>
        <p:nvSpPr>
          <p:cNvPr id="5" name="TextBox 4">
            <a:extLst>
              <a:ext uri="{FF2B5EF4-FFF2-40B4-BE49-F238E27FC236}">
                <a16:creationId xmlns:a16="http://schemas.microsoft.com/office/drawing/2014/main" id="{FA1FE7A6-EAA7-5071-D661-18BA24CD055D}"/>
              </a:ext>
            </a:extLst>
          </p:cNvPr>
          <p:cNvSpPr txBox="1"/>
          <p:nvPr>
            <p:extLst>
              <p:ext uri="{1162E1C5-73C7-4A58-AE30-91384D911F3F}">
                <p184:classification xmlns:p184="http://schemas.microsoft.com/office/powerpoint/2018/4/main" val="hdr"/>
              </p:ext>
            </p:extLst>
          </p:nvPr>
        </p:nvSpPr>
        <p:spPr>
          <a:xfrm>
            <a:off x="379000" y="78170"/>
            <a:ext cx="11432000" cy="154830"/>
          </a:xfrm>
          <a:prstGeom prst="rect">
            <a:avLst/>
          </a:prstGeom>
        </p:spPr>
        <p:txBody>
          <a:bodyPr horzOverflow="overflow"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000" b="0" i="0" u="none" strike="noStrike" kern="1200" cap="none" spc="0" normalizeH="0" baseline="0" noProof="0">
                <a:ln>
                  <a:noFill/>
                </a:ln>
                <a:solidFill>
                  <a:srgbClr val="000000"/>
                </a:solidFill>
                <a:effectLst/>
                <a:uLnTx/>
                <a:uFillTx/>
                <a:latin typeface="Graphik (Body)"/>
                <a:ea typeface="+mn-ea"/>
                <a:cs typeface="Calibri" panose="020F0502020204030204" pitchFamily="34" charset="0"/>
              </a:rPr>
              <a:t>*** Confidencial - Solo para uso interno de la empresa ***</a:t>
            </a:r>
          </a:p>
        </p:txBody>
      </p:sp>
      <p:grpSp>
        <p:nvGrpSpPr>
          <p:cNvPr id="6" name="Group 5">
            <a:extLst>
              <a:ext uri="{FF2B5EF4-FFF2-40B4-BE49-F238E27FC236}">
                <a16:creationId xmlns:a16="http://schemas.microsoft.com/office/drawing/2014/main" id="{C9114470-0AF5-CA31-D4E9-3AC233CE83E2}"/>
              </a:ext>
            </a:extLst>
          </p:cNvPr>
          <p:cNvGrpSpPr/>
          <p:nvPr/>
        </p:nvGrpSpPr>
        <p:grpSpPr>
          <a:xfrm>
            <a:off x="717042" y="6191083"/>
            <a:ext cx="4001014" cy="631639"/>
            <a:chOff x="717042" y="6191083"/>
            <a:chExt cx="4001014" cy="631639"/>
          </a:xfrm>
        </p:grpSpPr>
        <p:sp>
          <p:nvSpPr>
            <p:cNvPr id="7" name="Rectangle 6">
              <a:extLst>
                <a:ext uri="{FF2B5EF4-FFF2-40B4-BE49-F238E27FC236}">
                  <a16:creationId xmlns:a16="http://schemas.microsoft.com/office/drawing/2014/main" id="{57F855CC-91EB-D96B-E2B5-37A88046445D}"/>
                </a:ext>
              </a:extLst>
            </p:cNvPr>
            <p:cNvSpPr>
              <a:spLocks noChangeAspect="1"/>
            </p:cNvSpPr>
            <p:nvPr/>
          </p:nvSpPr>
          <p:spPr>
            <a:xfrm>
              <a:off x="1936749" y="6410745"/>
              <a:ext cx="774645" cy="202427"/>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GAP</a:t>
              </a:r>
            </a:p>
          </p:txBody>
        </p:sp>
        <p:sp>
          <p:nvSpPr>
            <p:cNvPr id="8" name="Rectangle 7">
              <a:extLst>
                <a:ext uri="{FF2B5EF4-FFF2-40B4-BE49-F238E27FC236}">
                  <a16:creationId xmlns:a16="http://schemas.microsoft.com/office/drawing/2014/main" id="{FE1A2517-0F59-F22B-7BB1-90F55F72904D}"/>
                </a:ext>
              </a:extLst>
            </p:cNvPr>
            <p:cNvSpPr>
              <a:spLocks noChangeAspect="1"/>
            </p:cNvSpPr>
            <p:nvPr/>
          </p:nvSpPr>
          <p:spPr>
            <a:xfrm>
              <a:off x="1936749" y="6191083"/>
              <a:ext cx="774645" cy="202427"/>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Objetivo</a:t>
              </a:r>
            </a:p>
          </p:txBody>
        </p:sp>
        <p:sp>
          <p:nvSpPr>
            <p:cNvPr id="9" name="Rectangle 8">
              <a:extLst>
                <a:ext uri="{FF2B5EF4-FFF2-40B4-BE49-F238E27FC236}">
                  <a16:creationId xmlns:a16="http://schemas.microsoft.com/office/drawing/2014/main" id="{E12A6D1B-B8B9-D6A6-712A-309922DD68E9}"/>
                </a:ext>
              </a:extLst>
            </p:cNvPr>
            <p:cNvSpPr>
              <a:spLocks noChangeAspect="1"/>
            </p:cNvSpPr>
            <p:nvPr/>
          </p:nvSpPr>
          <p:spPr>
            <a:xfrm>
              <a:off x="1936749" y="6620295"/>
              <a:ext cx="774645" cy="202427"/>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Descartar</a:t>
              </a:r>
            </a:p>
          </p:txBody>
        </p:sp>
        <p:sp>
          <p:nvSpPr>
            <p:cNvPr id="10" name="Oval 9">
              <a:extLst>
                <a:ext uri="{FF2B5EF4-FFF2-40B4-BE49-F238E27FC236}">
                  <a16:creationId xmlns:a16="http://schemas.microsoft.com/office/drawing/2014/main" id="{16BF0559-6C07-F0C1-9121-3BB4FCAE0EC8}"/>
                </a:ext>
              </a:extLst>
            </p:cNvPr>
            <p:cNvSpPr>
              <a:spLocks noChangeAspect="1"/>
            </p:cNvSpPr>
            <p:nvPr/>
          </p:nvSpPr>
          <p:spPr>
            <a:xfrm>
              <a:off x="4077214" y="6226238"/>
              <a:ext cx="640842" cy="184507"/>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700"/>
                <a:t>Alto</a:t>
              </a:r>
            </a:p>
          </p:txBody>
        </p:sp>
        <p:sp>
          <p:nvSpPr>
            <p:cNvPr id="11" name="Rectangle 10">
              <a:extLst>
                <a:ext uri="{FF2B5EF4-FFF2-40B4-BE49-F238E27FC236}">
                  <a16:creationId xmlns:a16="http://schemas.microsoft.com/office/drawing/2014/main" id="{7D859657-F0F8-0FD6-B886-A029E5971E42}"/>
                </a:ext>
              </a:extLst>
            </p:cNvPr>
            <p:cNvSpPr>
              <a:spLocks noChangeAspect="1"/>
            </p:cNvSpPr>
            <p:nvPr/>
          </p:nvSpPr>
          <p:spPr>
            <a:xfrm>
              <a:off x="717042" y="6283336"/>
              <a:ext cx="1022032" cy="455578"/>
            </a:xfrm>
            <a:prstGeom prst="rect">
              <a:avLst/>
            </a:prstGeom>
            <a:solidFill>
              <a:srgbClr val="7500C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Evaluación de capacidades</a:t>
              </a:r>
            </a:p>
          </p:txBody>
        </p:sp>
        <p:sp>
          <p:nvSpPr>
            <p:cNvPr id="12" name="Rectangle 11">
              <a:extLst>
                <a:ext uri="{FF2B5EF4-FFF2-40B4-BE49-F238E27FC236}">
                  <a16:creationId xmlns:a16="http://schemas.microsoft.com/office/drawing/2014/main" id="{E95B7FA6-90CF-8AE5-8D86-3284A77011A8}"/>
                </a:ext>
              </a:extLst>
            </p:cNvPr>
            <p:cNvSpPr>
              <a:spLocks noChangeAspect="1"/>
            </p:cNvSpPr>
            <p:nvPr/>
          </p:nvSpPr>
          <p:spPr>
            <a:xfrm>
              <a:off x="2816387" y="6282396"/>
              <a:ext cx="1022032" cy="455578"/>
            </a:xfrm>
            <a:prstGeom prst="rect">
              <a:avLst/>
            </a:prstGeom>
            <a:solidFill>
              <a:srgbClr val="7500C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Prioridad</a:t>
              </a:r>
            </a:p>
          </p:txBody>
        </p:sp>
        <p:sp>
          <p:nvSpPr>
            <p:cNvPr id="13" name="Oval 12">
              <a:extLst>
                <a:ext uri="{FF2B5EF4-FFF2-40B4-BE49-F238E27FC236}">
                  <a16:creationId xmlns:a16="http://schemas.microsoft.com/office/drawing/2014/main" id="{9AF73679-C6D1-A48F-8D1C-EEF5AA99C55F}"/>
                </a:ext>
              </a:extLst>
            </p:cNvPr>
            <p:cNvSpPr>
              <a:spLocks noChangeAspect="1"/>
            </p:cNvSpPr>
            <p:nvPr/>
          </p:nvSpPr>
          <p:spPr>
            <a:xfrm>
              <a:off x="4077214" y="6435788"/>
              <a:ext cx="640842" cy="184507"/>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700"/>
                <a:t>Medio</a:t>
              </a:r>
            </a:p>
          </p:txBody>
        </p:sp>
        <p:sp>
          <p:nvSpPr>
            <p:cNvPr id="14" name="Oval 13">
              <a:extLst>
                <a:ext uri="{FF2B5EF4-FFF2-40B4-BE49-F238E27FC236}">
                  <a16:creationId xmlns:a16="http://schemas.microsoft.com/office/drawing/2014/main" id="{8E1294F1-EF24-1FC4-E13E-6F51D6BC3AFF}"/>
                </a:ext>
              </a:extLst>
            </p:cNvPr>
            <p:cNvSpPr>
              <a:spLocks noChangeAspect="1"/>
            </p:cNvSpPr>
            <p:nvPr/>
          </p:nvSpPr>
          <p:spPr>
            <a:xfrm>
              <a:off x="4077214" y="6633421"/>
              <a:ext cx="640842" cy="184507"/>
            </a:xfrm>
            <a:prstGeom prst="ellipse">
              <a:avLst/>
            </a:prstGeom>
            <a:solidFill>
              <a:srgbClr val="DCAFFF"/>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700"/>
                <a:t>Bajo</a:t>
              </a:r>
            </a:p>
          </p:txBody>
        </p:sp>
      </p:grpSp>
    </p:spTree>
    <p:extLst>
      <p:ext uri="{BB962C8B-B14F-4D97-AF65-F5344CB8AC3E}">
        <p14:creationId xmlns:p14="http://schemas.microsoft.com/office/powerpoint/2010/main" val="114539890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019FDD-725F-8534-EA90-E2044594B0D3}"/>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5CB0F6D9-5E92-5EB1-4799-BC6659D85A5C}"/>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dirty="0">
                <a:ln>
                  <a:noFill/>
                </a:ln>
                <a:solidFill>
                  <a:srgbClr val="000000">
                    <a:alpha val="65000"/>
                  </a:srgbClr>
                </a:solidFill>
                <a:effectLst/>
                <a:uLnTx/>
                <a:uFillTx/>
                <a:latin typeface="Graphik"/>
                <a:ea typeface="+mn-ea"/>
                <a:cs typeface="+mn-cs"/>
              </a:rPr>
              <a:t>Copyright © 2026 Accenture. Todos los derechos reservados.</a:t>
            </a:r>
          </a:p>
        </p:txBody>
      </p:sp>
      <p:sp>
        <p:nvSpPr>
          <p:cNvPr id="4" name="Slide Number Placeholder 3">
            <a:extLst>
              <a:ext uri="{FF2B5EF4-FFF2-40B4-BE49-F238E27FC236}">
                <a16:creationId xmlns:a16="http://schemas.microsoft.com/office/drawing/2014/main" id="{3A721E09-FCBD-84FA-9776-B48A42155AF5}"/>
              </a:ext>
            </a:extLst>
          </p:cNvPr>
          <p:cNvSpPr>
            <a:spLocks noGrp="1"/>
          </p:cNvSpPr>
          <p:nvPr>
            <p:ph type="sldNum" sz="quarter" idx="429496729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Graphik"/>
                <a:ea typeface="+mn-ea"/>
                <a:cs typeface="+mn-cs"/>
              </a:rPr>
              <a:t> </a:t>
            </a:r>
          </a:p>
        </p:txBody>
      </p:sp>
      <p:sp>
        <p:nvSpPr>
          <p:cNvPr id="23" name="Title 1">
            <a:extLst>
              <a:ext uri="{FF2B5EF4-FFF2-40B4-BE49-F238E27FC236}">
                <a16:creationId xmlns:a16="http://schemas.microsoft.com/office/drawing/2014/main" id="{5844AA0A-B29E-375C-3DEA-15A60CE0BEC5}"/>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lvl="0">
              <a:defRPr/>
            </a:pPr>
            <a:r>
              <a:rPr kumimoji="0" lang="es" sz="2400" b="1" i="0" u="none" strike="noStrike" kern="1200" cap="none" spc="0" normalizeH="0" baseline="0" noProof="0" dirty="0">
                <a:ln>
                  <a:noFill/>
                </a:ln>
                <a:solidFill>
                  <a:srgbClr val="7500C0"/>
                </a:solidFill>
                <a:effectLst/>
                <a:uLnTx/>
                <a:uFillTx/>
                <a:latin typeface="Graphik"/>
                <a:ea typeface="+mj-ea"/>
                <a:cs typeface="+mj-cs"/>
              </a:rPr>
              <a:t>Arquitectura de Interoperabilidad </a:t>
            </a:r>
            <a:r>
              <a:rPr kumimoji="0" lang="es" sz="2400" b="1" i="0" u="none" strike="noStrike" kern="1200" cap="none" spc="0" normalizeH="0" baseline="0" noProof="0" dirty="0">
                <a:ln>
                  <a:noFill/>
                </a:ln>
                <a:solidFill>
                  <a:srgbClr val="000000"/>
                </a:solidFill>
                <a:effectLst/>
                <a:uLnTx/>
                <a:uFillTx/>
                <a:latin typeface="Graphik"/>
                <a:ea typeface="+mj-ea"/>
                <a:cs typeface="+mj-cs"/>
              </a:rPr>
              <a:t>| </a:t>
            </a:r>
            <a:r>
              <a:rPr lang="es" sz="2000" dirty="0">
                <a:solidFill>
                  <a:srgbClr val="000000"/>
                </a:solidFill>
              </a:rPr>
              <a:t>Trxs distribuidos </a:t>
            </a:r>
            <a:r>
              <a:rPr kumimoji="0" lang="es" sz="2000" b="1" i="0" u="none" strike="noStrike" kern="1200" cap="none" spc="0" normalizeH="0" baseline="0" noProof="0" dirty="0">
                <a:ln>
                  <a:noFill/>
                </a:ln>
                <a:solidFill>
                  <a:srgbClr val="000000"/>
                </a:solidFill>
                <a:effectLst/>
                <a:uLnTx/>
                <a:uFillTx/>
                <a:latin typeface="Graphik"/>
                <a:ea typeface="+mj-ea"/>
                <a:cs typeface="+mj-cs"/>
              </a:rPr>
              <a:t>- Orquestación de Servicios</a:t>
            </a:r>
            <a:endParaRPr kumimoji="0" lang="es" sz="2400" b="1" i="0" u="none" strike="noStrike" kern="1200" cap="none" spc="0" normalizeH="0" baseline="0" noProof="0" dirty="0">
              <a:ln>
                <a:noFill/>
              </a:ln>
              <a:solidFill>
                <a:srgbClr val="000000"/>
              </a:solidFill>
              <a:effectLst/>
              <a:uLnTx/>
              <a:uFillTx/>
              <a:latin typeface="Graphik"/>
              <a:ea typeface="+mj-ea"/>
              <a:cs typeface="+mj-cs"/>
            </a:endParaRPr>
          </a:p>
        </p:txBody>
      </p:sp>
      <p:sp>
        <p:nvSpPr>
          <p:cNvPr id="131" name="Kicker"/>
          <p:cNvSpPr txBox="1"/>
          <p:nvPr/>
        </p:nvSpPr>
        <p:spPr>
          <a:xfrm>
            <a:off x="381000" y="775000"/>
            <a:ext cx="10200000" cy="200000"/>
          </a:xfrm>
          <a:prstGeom prst="rect">
            <a:avLst/>
          </a:prstGeom>
        </p:spPr>
        <p:txBody>
          <a:bodyPr lIns="0" tIns="0" rIns="0" bIns="0"/>
          <a:lstStyle/>
          <a:p>
            <a:pPr marL="0" indent="0" algn="l">
              <a:lnSpc>
                <a:spcPct val="104000"/>
              </a:lnSpc>
              <a:spcBef>
                <a:spcPts val="30"/>
              </a:spcBef>
              <a:buNone/>
            </a:pPr>
            <a:r>
              <a:rPr lang="es" sz="1000" b="1" i="0" dirty="0">
                <a:solidFill>
                  <a:srgbClr val="7500C0"/>
                </a:solidFill>
                <a:latin typeface="Graphik"/>
                <a:cs typeface="Graphik"/>
              </a:rPr>
              <a:t>CAPACIDAD DE DOMINIO |    DOMINIO 6.0 |    4 SUBCAPACIDADES</a:t>
            </a:r>
          </a:p>
        </p:txBody>
      </p:sp>
      <p:graphicFrame>
        <p:nvGraphicFramePr>
          <p:cNvPr id="100" name="DetailTable"/>
          <p:cNvGraphicFramePr>
            <a:graphicFrameLocks noGrp="1"/>
          </p:cNvGraphicFramePr>
          <p:nvPr>
            <p:extLst>
              <p:ext uri="{D42A27DB-BD31-4B8C-83A1-F6EECF244321}">
                <p14:modId xmlns:p14="http://schemas.microsoft.com/office/powerpoint/2010/main" val="2493200469"/>
              </p:ext>
            </p:extLst>
          </p:nvPr>
        </p:nvGraphicFramePr>
        <p:xfrm>
          <a:off x="381000" y="1015000"/>
          <a:ext cx="11430000" cy="4451900"/>
        </p:xfrm>
        <a:graphic>
          <a:graphicData uri="http://schemas.openxmlformats.org/drawingml/2006/table">
            <a:tbl>
              <a:tblPr firstRow="1"/>
              <a:tblGrid>
                <a:gridCol w="1950000">
                  <a:extLst>
                    <a:ext uri="{9D8B030D-6E8A-4147-A177-3AD203B41FA5}">
                      <a16:colId xmlns:a16="http://schemas.microsoft.com/office/drawing/2014/main" val="20000"/>
                    </a:ext>
                  </a:extLst>
                </a:gridCol>
                <a:gridCol w="3450000">
                  <a:extLst>
                    <a:ext uri="{9D8B030D-6E8A-4147-A177-3AD203B41FA5}">
                      <a16:colId xmlns:a16="http://schemas.microsoft.com/office/drawing/2014/main" val="20001"/>
                    </a:ext>
                  </a:extLst>
                </a:gridCol>
                <a:gridCol w="3150000">
                  <a:extLst>
                    <a:ext uri="{9D8B030D-6E8A-4147-A177-3AD203B41FA5}">
                      <a16:colId xmlns:a16="http://schemas.microsoft.com/office/drawing/2014/main" val="20002"/>
                    </a:ext>
                  </a:extLst>
                </a:gridCol>
                <a:gridCol w="2880000">
                  <a:extLst>
                    <a:ext uri="{9D8B030D-6E8A-4147-A177-3AD203B41FA5}">
                      <a16:colId xmlns:a16="http://schemas.microsoft.com/office/drawing/2014/main" val="20003"/>
                    </a:ext>
                  </a:extLst>
                </a:gridCol>
              </a:tblGrid>
              <a:tr h="300000">
                <a:tc>
                  <a:txBody>
                    <a:bodyPr/>
                    <a:lstStyle/>
                    <a:p>
                      <a:pPr marL="0" indent="0" algn="l">
                        <a:lnSpc>
                          <a:spcPct val="104000"/>
                        </a:lnSpc>
                        <a:spcBef>
                          <a:spcPts val="30"/>
                        </a:spcBef>
                        <a:buNone/>
                      </a:pPr>
                      <a:r>
                        <a:rPr lang="es" sz="1000" b="1" i="0" dirty="0">
                          <a:solidFill>
                            <a:srgbClr val="FFFFFF"/>
                          </a:solidFill>
                          <a:latin typeface="Graphik"/>
                          <a:cs typeface="Graphik"/>
                        </a:rPr>
                        <a:t>Subcapacidad</a:t>
                      </a:r>
                    </a:p>
                  </a:txBody>
                  <a:tcPr marL="82000" marR="82000" marT="38000" marB="38000" anchor="ctr">
                    <a:solidFill>
                      <a:srgbClr val="7500C0"/>
                    </a:solidFill>
                  </a:tcPr>
                </a:tc>
                <a:tc>
                  <a:txBody>
                    <a:bodyPr/>
                    <a:lstStyle/>
                    <a:p>
                      <a:pPr marL="0" indent="0" algn="l">
                        <a:lnSpc>
                          <a:spcPct val="104000"/>
                        </a:lnSpc>
                        <a:spcBef>
                          <a:spcPts val="30"/>
                        </a:spcBef>
                        <a:buNone/>
                      </a:pPr>
                      <a:r>
                        <a:rPr lang="es" sz="1000" b="1" i="0">
                          <a:solidFill>
                            <a:srgbClr val="FFFFFF"/>
                          </a:solidFill>
                          <a:latin typeface="Graphik"/>
                          <a:cs typeface="Graphik"/>
                        </a:rPr>
                        <a:t>Descripción</a:t>
                      </a:r>
                    </a:p>
                  </a:txBody>
                  <a:tcPr marL="82000" marR="82000" marT="38000" marB="38000" anchor="ctr">
                    <a:solidFill>
                      <a:srgbClr val="7500C0"/>
                    </a:solidFill>
                  </a:tcPr>
                </a:tc>
                <a:tc>
                  <a:txBody>
                    <a:bodyPr/>
                    <a:lstStyle/>
                    <a:p>
                      <a:pPr marL="0" indent="0" algn="l">
                        <a:lnSpc>
                          <a:spcPct val="104000"/>
                        </a:lnSpc>
                        <a:spcBef>
                          <a:spcPts val="30"/>
                        </a:spcBef>
                        <a:buNone/>
                      </a:pPr>
                      <a:r>
                        <a:rPr lang="es" sz="1000" b="1" i="0">
                          <a:solidFill>
                            <a:srgbClr val="FFFFFF"/>
                          </a:solidFill>
                          <a:latin typeface="Graphik"/>
                          <a:cs typeface="Graphik"/>
                        </a:rPr>
                        <a:t>Propósito</a:t>
                      </a:r>
                    </a:p>
                  </a:txBody>
                  <a:tcPr marL="82000" marR="82000" marT="38000" marB="38000" anchor="ctr">
                    <a:solidFill>
                      <a:srgbClr val="7500C0"/>
                    </a:solidFill>
                  </a:tcPr>
                </a:tc>
                <a:tc>
                  <a:txBody>
                    <a:bodyPr/>
                    <a:lstStyle/>
                    <a:p>
                      <a:pPr marL="0" indent="0" algn="l">
                        <a:lnSpc>
                          <a:spcPct val="104000"/>
                        </a:lnSpc>
                        <a:spcBef>
                          <a:spcPts val="30"/>
                        </a:spcBef>
                        <a:buNone/>
                      </a:pPr>
                      <a:r>
                        <a:rPr lang="es" sz="1000" b="1" i="0">
                          <a:solidFill>
                            <a:srgbClr val="FFFFFF"/>
                          </a:solidFill>
                          <a:latin typeface="Graphik"/>
                          <a:cs typeface="Graphik"/>
                        </a:rPr>
                        <a:t>Soluciones en Coppel</a:t>
                      </a:r>
                    </a:p>
                  </a:txBody>
                  <a:tcPr marL="82000" marR="82000" marT="38000" marB="38000" anchor="ctr">
                    <a:solidFill>
                      <a:srgbClr val="7500C0"/>
                    </a:solidFill>
                  </a:tcPr>
                </a:tc>
                <a:extLst>
                  <a:ext uri="{0D108BD9-81ED-4DB2-BD59-A6C34878D82A}">
                    <a16:rowId xmlns:a16="http://schemas.microsoft.com/office/drawing/2014/main" val="10000"/>
                  </a:ext>
                </a:extLst>
              </a:tr>
              <a:tr h="1000256">
                <a:tc>
                  <a:txBody>
                    <a:bodyPr/>
                    <a:lstStyle/>
                    <a:p>
                      <a:pPr marL="0" indent="0" algn="l">
                        <a:lnSpc>
                          <a:spcPct val="104000"/>
                        </a:lnSpc>
                        <a:spcBef>
                          <a:spcPts val="30"/>
                        </a:spcBef>
                        <a:buNone/>
                      </a:pPr>
                      <a:r>
                        <a:rPr lang="es" sz="800" b="1" i="0" dirty="0">
                          <a:solidFill>
                            <a:srgbClr val="9B7BC7"/>
                          </a:solidFill>
                          <a:latin typeface="Graphik"/>
                          <a:cs typeface="Graphik"/>
                        </a:rPr>
                        <a:t>8.1  </a:t>
                      </a:r>
                      <a:r>
                        <a:rPr lang="es" sz="800" b="1" i="0" dirty="0">
                          <a:solidFill>
                            <a:srgbClr val="7500C0"/>
                          </a:solidFill>
                          <a:latin typeface="Graphik"/>
                          <a:cs typeface="Graphik"/>
                        </a:rPr>
                        <a:t>Orquestador de Servicio</a:t>
                      </a:r>
                    </a:p>
                  </a:txBody>
                  <a:tcPr marL="82000" marR="82000" marT="38000" marB="38000" anchor="ctr">
                    <a:solidFill>
                      <a:srgbClr val="EFE7F7"/>
                    </a:solidFill>
                  </a:tcPr>
                </a:tc>
                <a:tc>
                  <a:txBody>
                    <a:bodyPr/>
                    <a:lstStyle/>
                    <a:p>
                      <a:pPr marL="0" indent="0" algn="l">
                        <a:lnSpc>
                          <a:spcPct val="108000"/>
                        </a:lnSpc>
                        <a:spcBef>
                          <a:spcPts val="30"/>
                        </a:spcBef>
                        <a:buNone/>
                      </a:pPr>
                      <a:r>
                        <a:rPr lang="es" sz="800" b="0" i="0" dirty="0">
                          <a:solidFill>
                            <a:srgbClr val="2B2B2B"/>
                          </a:solidFill>
                          <a:latin typeface="Graphik"/>
                          <a:cs typeface="Graphik"/>
                        </a:rPr>
                        <a:t>El motor que descompone un servicio complejo en un conjunto ordenado o paralelo de invocaciones de servicio de grano minucioso y gestiona su ejecución, resultados y excepciones.</a:t>
                      </a:r>
                    </a:p>
                  </a:txBody>
                  <a:tcPr marL="82000" marR="82000" marT="38000" marB="38000" anchor="ctr">
                    <a:solidFill>
                      <a:srgbClr val="FFFFFF"/>
                    </a:solidFill>
                  </a:tcPr>
                </a:tc>
                <a:tc>
                  <a:txBody>
                    <a:bodyPr/>
                    <a:lstStyle/>
                    <a:p>
                      <a:pPr marL="0" indent="0" algn="l">
                        <a:lnSpc>
                          <a:spcPct val="108000"/>
                        </a:lnSpc>
                        <a:spcBef>
                          <a:spcPts val="30"/>
                        </a:spcBef>
                        <a:buNone/>
                      </a:pPr>
                      <a:r>
                        <a:rPr lang="es" sz="800" b="0" i="0" dirty="0">
                          <a:solidFill>
                            <a:srgbClr val="444444"/>
                          </a:solidFill>
                          <a:latin typeface="Graphik"/>
                          <a:cs typeface="Graphik"/>
                        </a:rPr>
                        <a:t>Concentra la lógica de negocio entre sistemas en un solo lugar gobernado y visible en lugar de dispersarla entre canales y núcleos.</a:t>
                      </a:r>
                    </a:p>
                  </a:txBody>
                  <a:tcPr marL="82000" marR="82000" marT="38000" marB="38000" anchor="ctr">
                    <a:solidFill>
                      <a:srgbClr val="FFFFFF"/>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Orquestación MuleSoft</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Software AG WebMethods BPM/BRM</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Gestión de invocaciones de </a:t>
                      </a:r>
                      <a:r>
                        <a:rPr lang="es-ES" sz="700" b="0" i="0" dirty="0" err="1">
                          <a:solidFill>
                            <a:srgbClr val="4B2E83"/>
                          </a:solidFill>
                          <a:latin typeface="Graphik"/>
                          <a:cs typeface="Graphik"/>
                        </a:rPr>
                        <a:t>APIgee</a:t>
                      </a:r>
                      <a:endParaRPr lang="es" sz="700" b="0" i="0" dirty="0">
                        <a:solidFill>
                          <a:srgbClr val="4B2E83"/>
                        </a:solidFill>
                        <a:latin typeface="Graphik"/>
                        <a:cs typeface="Graphik"/>
                      </a:endParaRP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Orquestación de flujo estilo máquina de estados Modyo Connect</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Diagnóstico de DataDog</a:t>
                      </a:r>
                    </a:p>
                  </a:txBody>
                  <a:tcPr marL="82000" marR="82000" marT="38000" marB="38000" anchor="ctr">
                    <a:solidFill>
                      <a:srgbClr val="FFFFFF"/>
                    </a:solidFill>
                  </a:tcPr>
                </a:tc>
                <a:extLst>
                  <a:ext uri="{0D108BD9-81ED-4DB2-BD59-A6C34878D82A}">
                    <a16:rowId xmlns:a16="http://schemas.microsoft.com/office/drawing/2014/main" val="10001"/>
                  </a:ext>
                </a:extLst>
              </a:tr>
              <a:tr h="1151132">
                <a:tc>
                  <a:txBody>
                    <a:bodyPr/>
                    <a:lstStyle/>
                    <a:p>
                      <a:pPr marL="0" indent="0" algn="l">
                        <a:lnSpc>
                          <a:spcPct val="104000"/>
                        </a:lnSpc>
                        <a:spcBef>
                          <a:spcPts val="30"/>
                        </a:spcBef>
                        <a:buNone/>
                      </a:pPr>
                      <a:r>
                        <a:rPr lang="es" sz="800" b="1" i="0" dirty="0">
                          <a:solidFill>
                            <a:srgbClr val="9B7BC7"/>
                          </a:solidFill>
                          <a:latin typeface="Graphik"/>
                          <a:cs typeface="Graphik"/>
                        </a:rPr>
                        <a:t>8.2  </a:t>
                      </a:r>
                      <a:r>
                        <a:rPr lang="es" sz="800" b="1" i="0" dirty="0">
                          <a:solidFill>
                            <a:srgbClr val="7500C0"/>
                          </a:solidFill>
                          <a:latin typeface="Graphik"/>
                          <a:cs typeface="Graphik"/>
                        </a:rPr>
                        <a:t>Marco de Integración y Mediación</a:t>
                      </a:r>
                    </a:p>
                  </a:txBody>
                  <a:tcPr marL="82000" marR="82000" marT="38000" marB="38000" anchor="ctr">
                    <a:solidFill>
                      <a:srgbClr val="E9DEF4"/>
                    </a:solidFill>
                  </a:tcPr>
                </a:tc>
                <a:tc>
                  <a:txBody>
                    <a:bodyPr/>
                    <a:lstStyle/>
                    <a:p>
                      <a:pPr marL="0" indent="0" algn="l">
                        <a:lnSpc>
                          <a:spcPct val="108000"/>
                        </a:lnSpc>
                        <a:spcBef>
                          <a:spcPts val="30"/>
                        </a:spcBef>
                        <a:buNone/>
                      </a:pPr>
                      <a:r>
                        <a:rPr lang="es" sz="800" b="0" i="0" dirty="0">
                          <a:solidFill>
                            <a:srgbClr val="2B2B2B"/>
                          </a:solidFill>
                          <a:latin typeface="Graphik"/>
                          <a:cs typeface="Graphik"/>
                        </a:rPr>
                        <a:t>Servicios de transformación, mapeo y puente de protocolos que reconcilian diferentes contratos, formatos y mecanismos de comunicación entre plataformas participantes.</a:t>
                      </a:r>
                    </a:p>
                  </a:txBody>
                  <a:tcPr marL="82000" marR="82000" marT="38000" marB="38000" anchor="ctr">
                    <a:solidFill>
                      <a:srgbClr val="F6F2FB"/>
                    </a:solidFill>
                  </a:tcPr>
                </a:tc>
                <a:tc>
                  <a:txBody>
                    <a:bodyPr/>
                    <a:lstStyle/>
                    <a:p>
                      <a:pPr marL="0" indent="0" algn="l">
                        <a:lnSpc>
                          <a:spcPct val="108000"/>
                        </a:lnSpc>
                        <a:spcBef>
                          <a:spcPts val="30"/>
                        </a:spcBef>
                        <a:buNone/>
                      </a:pPr>
                      <a:r>
                        <a:rPr lang="es" sz="800" b="0" i="0" dirty="0">
                          <a:solidFill>
                            <a:srgbClr val="444444"/>
                          </a:solidFill>
                          <a:latin typeface="Graphik"/>
                          <a:cs typeface="Graphik"/>
                        </a:rPr>
                        <a:t>Absorbe la heterogeneidad, de modo que añadir un nuevo procesador o proveedor es un ejercicio de adaptación en lugar de un cambio en el estado consumidor.</a:t>
                      </a:r>
                    </a:p>
                  </a:txBody>
                  <a:tcPr marL="82000" marR="82000" marT="38000" marB="38000" anchor="ctr">
                    <a:solidFill>
                      <a:srgbClr val="F6F2FB"/>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MuleSoft</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WebMethods</a:t>
                      </a:r>
                    </a:p>
                    <a:p>
                      <a:pPr marL="150000" indent="-150000" algn="l">
                        <a:lnSpc>
                          <a:spcPct val="104000"/>
                        </a:lnSpc>
                        <a:spcBef>
                          <a:spcPts val="45"/>
                        </a:spcBef>
                        <a:buClr>
                          <a:srgbClr val="7500C0"/>
                        </a:buClr>
                        <a:buFont typeface="Arial"/>
                        <a:buChar char="▪"/>
                      </a:pPr>
                      <a:r>
                        <a:rPr lang="es-ES" sz="700" b="0" i="0" dirty="0" err="1">
                          <a:solidFill>
                            <a:srgbClr val="4B2E83"/>
                          </a:solidFill>
                          <a:latin typeface="Graphik"/>
                          <a:cs typeface="Graphik"/>
                        </a:rPr>
                        <a:t>APIgee</a:t>
                      </a:r>
                      <a:endParaRPr lang="es" sz="700" b="0" i="0" dirty="0">
                        <a:solidFill>
                          <a:srgbClr val="4B2E83"/>
                        </a:solidFill>
                        <a:latin typeface="Graphik"/>
                        <a:cs typeface="Graphik"/>
                      </a:endParaRP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Modyo Connect</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Servicios BIAN</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Interfaces Temporales/Fig </a:t>
                      </a:r>
                      <a:r>
                        <a:rPr lang="es-ES" sz="700" b="0" i="0" dirty="0" err="1">
                          <a:solidFill>
                            <a:srgbClr val="4B2E83"/>
                          </a:solidFill>
                          <a:latin typeface="+mn-lt"/>
                          <a:cs typeface="Graphik"/>
                        </a:rPr>
                        <a:t>Strangler</a:t>
                      </a:r>
                      <a:endParaRPr lang="es" sz="700" b="0" i="0" dirty="0">
                        <a:solidFill>
                          <a:srgbClr val="4B2E83"/>
                        </a:solidFill>
                        <a:latin typeface="Graphik"/>
                        <a:cs typeface="Graphik"/>
                      </a:endParaRPr>
                    </a:p>
                    <a:p>
                      <a:pPr marL="150000" indent="-150000" algn="l">
                        <a:lnSpc>
                          <a:spcPct val="104000"/>
                        </a:lnSpc>
                        <a:spcBef>
                          <a:spcPts val="45"/>
                        </a:spcBef>
                        <a:buClr>
                          <a:srgbClr val="7500C0"/>
                        </a:buClr>
                        <a:buFont typeface="Arial"/>
                        <a:buChar char="▪"/>
                      </a:pPr>
                      <a:r>
                        <a:rPr lang="es-ES" sz="700" b="0" i="0" dirty="0" err="1">
                          <a:solidFill>
                            <a:srgbClr val="4B2E83"/>
                          </a:solidFill>
                          <a:latin typeface="+mn-lt"/>
                          <a:cs typeface="Graphik"/>
                        </a:rPr>
                        <a:t>Transact</a:t>
                      </a:r>
                      <a:r>
                        <a:rPr lang="es-ES" sz="700" b="0" i="0" dirty="0">
                          <a:solidFill>
                            <a:srgbClr val="4B2E83"/>
                          </a:solidFill>
                          <a:latin typeface="+mn-lt"/>
                          <a:cs typeface="Graphik"/>
                        </a:rPr>
                        <a:t> OFS/IRIS </a:t>
                      </a:r>
                      <a:r>
                        <a:rPr lang="es-ES" sz="700" b="0" i="0" dirty="0" err="1">
                          <a:solidFill>
                            <a:srgbClr val="4B2E83"/>
                          </a:solidFill>
                          <a:latin typeface="+mn-lt"/>
                          <a:cs typeface="Graphik"/>
                        </a:rPr>
                        <a:t>APIs</a:t>
                      </a:r>
                      <a:endParaRPr lang="es-ES" sz="700" b="0" i="0" dirty="0">
                        <a:solidFill>
                          <a:srgbClr val="4B2E83"/>
                        </a:solidFill>
                        <a:latin typeface="+mn-lt"/>
                        <a:cs typeface="Graphik"/>
                      </a:endParaRPr>
                    </a:p>
                  </a:txBody>
                  <a:tcPr marL="82000" marR="82000" marT="38000" marB="38000" anchor="ctr">
                    <a:solidFill>
                      <a:srgbClr val="F6F2FB"/>
                    </a:solidFill>
                  </a:tcPr>
                </a:tc>
                <a:extLst>
                  <a:ext uri="{0D108BD9-81ED-4DB2-BD59-A6C34878D82A}">
                    <a16:rowId xmlns:a16="http://schemas.microsoft.com/office/drawing/2014/main" val="10002"/>
                  </a:ext>
                </a:extLst>
              </a:tr>
              <a:tr h="849380">
                <a:tc>
                  <a:txBody>
                    <a:bodyPr/>
                    <a:lstStyle/>
                    <a:p>
                      <a:pPr marL="0" indent="0" algn="l">
                        <a:lnSpc>
                          <a:spcPct val="104000"/>
                        </a:lnSpc>
                        <a:spcBef>
                          <a:spcPts val="30"/>
                        </a:spcBef>
                        <a:buNone/>
                      </a:pPr>
                      <a:r>
                        <a:rPr lang="es" sz="800" b="1" i="0" dirty="0">
                          <a:solidFill>
                            <a:srgbClr val="9B7BC7"/>
                          </a:solidFill>
                          <a:latin typeface="Graphik"/>
                          <a:cs typeface="Graphik"/>
                        </a:rPr>
                        <a:t>8.3  </a:t>
                      </a:r>
                      <a:r>
                        <a:rPr lang="es" sz="800" b="1" i="0" dirty="0">
                          <a:solidFill>
                            <a:srgbClr val="7500C0"/>
                          </a:solidFill>
                          <a:latin typeface="Graphik"/>
                          <a:cs typeface="Graphik"/>
                        </a:rPr>
                        <a:t>Gestión del contexto</a:t>
                      </a:r>
                    </a:p>
                  </a:txBody>
                  <a:tcPr marL="82000" marR="82000" marT="38000" marB="38000" anchor="ctr">
                    <a:solidFill>
                      <a:srgbClr val="EFE7F7"/>
                    </a:solidFill>
                  </a:tcPr>
                </a:tc>
                <a:tc>
                  <a:txBody>
                    <a:bodyPr/>
                    <a:lstStyle/>
                    <a:p>
                      <a:pPr marL="0" indent="0" algn="l">
                        <a:lnSpc>
                          <a:spcPct val="108000"/>
                        </a:lnSpc>
                        <a:spcBef>
                          <a:spcPts val="30"/>
                        </a:spcBef>
                        <a:buNone/>
                      </a:pPr>
                      <a:r>
                        <a:rPr lang="es" sz="800" b="0" i="0">
                          <a:solidFill>
                            <a:srgbClr val="2B2B2B"/>
                          </a:solidFill>
                          <a:latin typeface="Graphik"/>
                          <a:cs typeface="Graphik"/>
                        </a:rPr>
                        <a:t>Captura, propagación y disponibilidad consistente del contexto de ejecución —identidad, canal, entidad, ubicación, correlación, derechos— en cada salto de un servicio compuesto.</a:t>
                      </a:r>
                    </a:p>
                  </a:txBody>
                  <a:tcPr marL="82000" marR="82000" marT="38000" marB="38000" anchor="ctr">
                    <a:solidFill>
                      <a:srgbClr val="FFFFFF"/>
                    </a:solidFill>
                  </a:tcPr>
                </a:tc>
                <a:tc>
                  <a:txBody>
                    <a:bodyPr/>
                    <a:lstStyle/>
                    <a:p>
                      <a:pPr marL="0" indent="0" algn="l">
                        <a:lnSpc>
                          <a:spcPct val="108000"/>
                        </a:lnSpc>
                        <a:spcBef>
                          <a:spcPts val="30"/>
                        </a:spcBef>
                        <a:buNone/>
                      </a:pPr>
                      <a:r>
                        <a:rPr lang="es" sz="800" b="0" i="0">
                          <a:solidFill>
                            <a:srgbClr val="444444"/>
                          </a:solidFill>
                          <a:latin typeface="Graphik"/>
                          <a:cs typeface="Graphik"/>
                        </a:rPr>
                        <a:t>Sin contexto propagado, la auditoría distribuida, la aplicación de derechos y el rastreo se rompen en el primer límite del sistema.</a:t>
                      </a:r>
                    </a:p>
                  </a:txBody>
                  <a:tcPr marL="82000" marR="82000" marT="38000" marB="38000" anchor="ctr">
                    <a:solidFill>
                      <a:srgbClr val="FFFFFF"/>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Golden Record / Party-CIF</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Catálogo de productos Transact y marco AA</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BRM</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Propagación del contexto </a:t>
                      </a:r>
                      <a:r>
                        <a:rPr lang="es-ES" sz="700" b="0" i="0" dirty="0" err="1">
                          <a:solidFill>
                            <a:srgbClr val="4B2E83"/>
                          </a:solidFill>
                          <a:latin typeface="Graphik"/>
                          <a:cs typeface="Graphik"/>
                        </a:rPr>
                        <a:t>APIgee</a:t>
                      </a:r>
                      <a:r>
                        <a:rPr lang="es" sz="700" b="0" i="0" dirty="0">
                          <a:solidFill>
                            <a:srgbClr val="4B2E83"/>
                          </a:solidFill>
                          <a:latin typeface="Graphik"/>
                          <a:cs typeface="Graphik"/>
                        </a:rPr>
                        <a:t>/MuleSoft</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No es un producto de registro separado en las fuentes</a:t>
                      </a:r>
                    </a:p>
                  </a:txBody>
                  <a:tcPr marL="82000" marR="82000" marT="38000" marB="38000" anchor="ctr">
                    <a:solidFill>
                      <a:srgbClr val="FFFFFF"/>
                    </a:solidFill>
                  </a:tcPr>
                </a:tc>
                <a:extLst>
                  <a:ext uri="{0D108BD9-81ED-4DB2-BD59-A6C34878D82A}">
                    <a16:rowId xmlns:a16="http://schemas.microsoft.com/office/drawing/2014/main" val="10003"/>
                  </a:ext>
                </a:extLst>
              </a:tr>
              <a:tr h="1151132">
                <a:tc>
                  <a:txBody>
                    <a:bodyPr/>
                    <a:lstStyle/>
                    <a:p>
                      <a:pPr marL="0" indent="0" algn="l">
                        <a:lnSpc>
                          <a:spcPct val="104000"/>
                        </a:lnSpc>
                        <a:spcBef>
                          <a:spcPts val="30"/>
                        </a:spcBef>
                        <a:buNone/>
                      </a:pPr>
                      <a:r>
                        <a:rPr lang="es" sz="800" b="1" i="0">
                          <a:solidFill>
                            <a:srgbClr val="9B7BC7"/>
                          </a:solidFill>
                          <a:latin typeface="Graphik"/>
                          <a:cs typeface="Graphik"/>
                        </a:rPr>
                        <a:t>8.4  </a:t>
                      </a:r>
                      <a:r>
                        <a:rPr lang="es" sz="800" b="1" i="0">
                          <a:solidFill>
                            <a:srgbClr val="7500C0"/>
                          </a:solidFill>
                          <a:latin typeface="Graphik"/>
                          <a:cs typeface="Graphik"/>
                        </a:rPr>
                        <a:t>Adaptadores heredados</a:t>
                      </a:r>
                    </a:p>
                  </a:txBody>
                  <a:tcPr marL="82000" marR="82000" marT="38000" marB="38000" anchor="ctr">
                    <a:solidFill>
                      <a:srgbClr val="E9DEF4"/>
                    </a:solidFill>
                  </a:tcPr>
                </a:tc>
                <a:tc>
                  <a:txBody>
                    <a:bodyPr/>
                    <a:lstStyle/>
                    <a:p>
                      <a:pPr marL="0" indent="0" algn="l">
                        <a:lnSpc>
                          <a:spcPct val="108000"/>
                        </a:lnSpc>
                        <a:spcBef>
                          <a:spcPts val="30"/>
                        </a:spcBef>
                        <a:buNone/>
                      </a:pPr>
                      <a:r>
                        <a:rPr lang="es" sz="800" b="0" i="0">
                          <a:solidFill>
                            <a:srgbClr val="2B2B2B"/>
                          </a:solidFill>
                          <a:latin typeface="Graphik"/>
                          <a:cs typeface="Graphik"/>
                        </a:rPr>
                        <a:t>Envoltorios de servicio y adaptadores específicos de plataforma que exponen funciones residentes legadas como APIs y eventos estándar, conectando desde la arquitectura de microservicios hasta mainframes y plataformas propietarias.</a:t>
                      </a:r>
                    </a:p>
                  </a:txBody>
                  <a:tcPr marL="82000" marR="82000" marT="38000" marB="38000" anchor="ctr">
                    <a:solidFill>
                      <a:srgbClr val="F6F2FB"/>
                    </a:solidFill>
                  </a:tcPr>
                </a:tc>
                <a:tc>
                  <a:txBody>
                    <a:bodyPr/>
                    <a:lstStyle/>
                    <a:p>
                      <a:pPr marL="0" indent="0" algn="l">
                        <a:lnSpc>
                          <a:spcPct val="108000"/>
                        </a:lnSpc>
                        <a:spcBef>
                          <a:spcPts val="30"/>
                        </a:spcBef>
                        <a:buNone/>
                      </a:pPr>
                      <a:r>
                        <a:rPr lang="es" sz="800" b="0" i="0" dirty="0">
                          <a:solidFill>
                            <a:srgbClr val="444444"/>
                          </a:solidFill>
                          <a:latin typeface="Graphik"/>
                          <a:cs typeface="Graphik"/>
                        </a:rPr>
                        <a:t>La capacidad de coexistencia de caballo de batalla: hace que la función heredada sea consumible por los journeys modernos sin modificar el código heredado, lo que permite que la modernización sea incremental y reversible.</a:t>
                      </a:r>
                    </a:p>
                  </a:txBody>
                  <a:tcPr marL="82000" marR="82000" marT="38000" marB="38000" anchor="ctr">
                    <a:solidFill>
                      <a:srgbClr val="F6F2FB"/>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Interfaces temporales usando Strangler Fig/ByPass</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Envoltorios PISA/Informix</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Apificación OfiWeb</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Teller Multi Core</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Interfaces por lotes/COB y hoja de ruta para la desmantelación</a:t>
                      </a:r>
                    </a:p>
                  </a:txBody>
                  <a:tcPr marL="82000" marR="82000" marT="38000" marB="38000" anchor="ctr">
                    <a:solidFill>
                      <a:srgbClr val="F6F2FB"/>
                    </a:solidFill>
                  </a:tcPr>
                </a:tc>
                <a:extLst>
                  <a:ext uri="{0D108BD9-81ED-4DB2-BD59-A6C34878D82A}">
                    <a16:rowId xmlns:a16="http://schemas.microsoft.com/office/drawing/2014/main" val="10004"/>
                  </a:ext>
                </a:extLst>
              </a:tr>
            </a:tbl>
          </a:graphicData>
        </a:graphic>
      </p:graphicFrame>
      <p:sp>
        <p:nvSpPr>
          <p:cNvPr id="5" name="TextBox 4">
            <a:extLst>
              <a:ext uri="{FF2B5EF4-FFF2-40B4-BE49-F238E27FC236}">
                <a16:creationId xmlns:a16="http://schemas.microsoft.com/office/drawing/2014/main" id="{03B95B1C-165E-3253-9E95-605AB201EC7C}"/>
              </a:ext>
            </a:extLst>
          </p:cNvPr>
          <p:cNvSpPr txBox="1"/>
          <p:nvPr>
            <p:extLst>
              <p:ext uri="{1162E1C5-73C7-4A58-AE30-91384D911F3F}">
                <p184:classification xmlns:p184="http://schemas.microsoft.com/office/powerpoint/2018/4/main" val="hdr"/>
              </p:ext>
            </p:extLst>
          </p:nvPr>
        </p:nvSpPr>
        <p:spPr>
          <a:xfrm>
            <a:off x="379000" y="78170"/>
            <a:ext cx="11432000" cy="154830"/>
          </a:xfrm>
          <a:prstGeom prst="rect">
            <a:avLst/>
          </a:prstGeom>
        </p:spPr>
        <p:txBody>
          <a:bodyPr horzOverflow="overflow"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000" b="0" i="0" u="none" strike="noStrike" kern="1200" cap="none" spc="0" normalizeH="0" baseline="0" noProof="0">
                <a:ln>
                  <a:noFill/>
                </a:ln>
                <a:solidFill>
                  <a:srgbClr val="000000"/>
                </a:solidFill>
                <a:effectLst/>
                <a:uLnTx/>
                <a:uFillTx/>
                <a:latin typeface="Graphik (Body)"/>
                <a:ea typeface="+mn-ea"/>
                <a:cs typeface="Calibri" panose="020F0502020204030204" pitchFamily="34" charset="0"/>
              </a:rPr>
              <a:t>*** Confidencial - Solo para uso interno de la empresa ***</a:t>
            </a:r>
          </a:p>
        </p:txBody>
      </p:sp>
      <p:grpSp>
        <p:nvGrpSpPr>
          <p:cNvPr id="6" name="Group 5">
            <a:extLst>
              <a:ext uri="{FF2B5EF4-FFF2-40B4-BE49-F238E27FC236}">
                <a16:creationId xmlns:a16="http://schemas.microsoft.com/office/drawing/2014/main" id="{06BDF027-2575-FCAA-3592-014A3E40A29B}"/>
              </a:ext>
            </a:extLst>
          </p:cNvPr>
          <p:cNvGrpSpPr/>
          <p:nvPr/>
        </p:nvGrpSpPr>
        <p:grpSpPr>
          <a:xfrm>
            <a:off x="717042" y="6191083"/>
            <a:ext cx="4001014" cy="631639"/>
            <a:chOff x="717042" y="6191083"/>
            <a:chExt cx="4001014" cy="631639"/>
          </a:xfrm>
        </p:grpSpPr>
        <p:sp>
          <p:nvSpPr>
            <p:cNvPr id="7" name="Rectangle 6">
              <a:extLst>
                <a:ext uri="{FF2B5EF4-FFF2-40B4-BE49-F238E27FC236}">
                  <a16:creationId xmlns:a16="http://schemas.microsoft.com/office/drawing/2014/main" id="{8B91CDB9-EF5B-C615-5763-AC21C4F13753}"/>
                </a:ext>
              </a:extLst>
            </p:cNvPr>
            <p:cNvSpPr>
              <a:spLocks noChangeAspect="1"/>
            </p:cNvSpPr>
            <p:nvPr/>
          </p:nvSpPr>
          <p:spPr>
            <a:xfrm>
              <a:off x="1936749" y="6410745"/>
              <a:ext cx="774645" cy="202427"/>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GAP</a:t>
              </a:r>
            </a:p>
          </p:txBody>
        </p:sp>
        <p:sp>
          <p:nvSpPr>
            <p:cNvPr id="8" name="Rectangle 7">
              <a:extLst>
                <a:ext uri="{FF2B5EF4-FFF2-40B4-BE49-F238E27FC236}">
                  <a16:creationId xmlns:a16="http://schemas.microsoft.com/office/drawing/2014/main" id="{BC149C74-A4DA-7F57-E65C-16D2E1887F2D}"/>
                </a:ext>
              </a:extLst>
            </p:cNvPr>
            <p:cNvSpPr>
              <a:spLocks noChangeAspect="1"/>
            </p:cNvSpPr>
            <p:nvPr/>
          </p:nvSpPr>
          <p:spPr>
            <a:xfrm>
              <a:off x="1936749" y="6191083"/>
              <a:ext cx="774645" cy="202427"/>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Objetivo</a:t>
              </a:r>
            </a:p>
          </p:txBody>
        </p:sp>
        <p:sp>
          <p:nvSpPr>
            <p:cNvPr id="9" name="Rectangle 8">
              <a:extLst>
                <a:ext uri="{FF2B5EF4-FFF2-40B4-BE49-F238E27FC236}">
                  <a16:creationId xmlns:a16="http://schemas.microsoft.com/office/drawing/2014/main" id="{5877CEC7-9BFF-B9AD-E1DA-F3DFE3A11972}"/>
                </a:ext>
              </a:extLst>
            </p:cNvPr>
            <p:cNvSpPr>
              <a:spLocks noChangeAspect="1"/>
            </p:cNvSpPr>
            <p:nvPr/>
          </p:nvSpPr>
          <p:spPr>
            <a:xfrm>
              <a:off x="1936749" y="6620295"/>
              <a:ext cx="774645" cy="202427"/>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Descartar</a:t>
              </a:r>
            </a:p>
          </p:txBody>
        </p:sp>
        <p:sp>
          <p:nvSpPr>
            <p:cNvPr id="10" name="Oval 9">
              <a:extLst>
                <a:ext uri="{FF2B5EF4-FFF2-40B4-BE49-F238E27FC236}">
                  <a16:creationId xmlns:a16="http://schemas.microsoft.com/office/drawing/2014/main" id="{84FEFE60-FF51-EE30-9848-C3FF9E3730B0}"/>
                </a:ext>
              </a:extLst>
            </p:cNvPr>
            <p:cNvSpPr>
              <a:spLocks noChangeAspect="1"/>
            </p:cNvSpPr>
            <p:nvPr/>
          </p:nvSpPr>
          <p:spPr>
            <a:xfrm>
              <a:off x="4077214" y="6226238"/>
              <a:ext cx="640842" cy="184507"/>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700"/>
                <a:t>Alto</a:t>
              </a:r>
            </a:p>
          </p:txBody>
        </p:sp>
        <p:sp>
          <p:nvSpPr>
            <p:cNvPr id="11" name="Rectangle 10">
              <a:extLst>
                <a:ext uri="{FF2B5EF4-FFF2-40B4-BE49-F238E27FC236}">
                  <a16:creationId xmlns:a16="http://schemas.microsoft.com/office/drawing/2014/main" id="{A074D6BC-E5AB-06D6-C8DE-30482D5D6A8A}"/>
                </a:ext>
              </a:extLst>
            </p:cNvPr>
            <p:cNvSpPr>
              <a:spLocks noChangeAspect="1"/>
            </p:cNvSpPr>
            <p:nvPr/>
          </p:nvSpPr>
          <p:spPr>
            <a:xfrm>
              <a:off x="717042" y="6283336"/>
              <a:ext cx="1022032" cy="455578"/>
            </a:xfrm>
            <a:prstGeom prst="rect">
              <a:avLst/>
            </a:prstGeom>
            <a:solidFill>
              <a:srgbClr val="7500C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Evaluación de capacidades</a:t>
              </a:r>
            </a:p>
          </p:txBody>
        </p:sp>
        <p:sp>
          <p:nvSpPr>
            <p:cNvPr id="12" name="Rectangle 11">
              <a:extLst>
                <a:ext uri="{FF2B5EF4-FFF2-40B4-BE49-F238E27FC236}">
                  <a16:creationId xmlns:a16="http://schemas.microsoft.com/office/drawing/2014/main" id="{DABFF9EB-C92D-FF96-14B5-FF0B793F629B}"/>
                </a:ext>
              </a:extLst>
            </p:cNvPr>
            <p:cNvSpPr>
              <a:spLocks noChangeAspect="1"/>
            </p:cNvSpPr>
            <p:nvPr/>
          </p:nvSpPr>
          <p:spPr>
            <a:xfrm>
              <a:off x="2816387" y="6282396"/>
              <a:ext cx="1022032" cy="455578"/>
            </a:xfrm>
            <a:prstGeom prst="rect">
              <a:avLst/>
            </a:prstGeom>
            <a:solidFill>
              <a:srgbClr val="7500C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Prioridad</a:t>
              </a:r>
            </a:p>
          </p:txBody>
        </p:sp>
        <p:sp>
          <p:nvSpPr>
            <p:cNvPr id="13" name="Oval 12">
              <a:extLst>
                <a:ext uri="{FF2B5EF4-FFF2-40B4-BE49-F238E27FC236}">
                  <a16:creationId xmlns:a16="http://schemas.microsoft.com/office/drawing/2014/main" id="{EC405343-1E28-0489-227A-C675E8D5689E}"/>
                </a:ext>
              </a:extLst>
            </p:cNvPr>
            <p:cNvSpPr>
              <a:spLocks noChangeAspect="1"/>
            </p:cNvSpPr>
            <p:nvPr/>
          </p:nvSpPr>
          <p:spPr>
            <a:xfrm>
              <a:off x="4077214" y="6435788"/>
              <a:ext cx="640842" cy="184507"/>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700"/>
                <a:t>Medio</a:t>
              </a:r>
            </a:p>
          </p:txBody>
        </p:sp>
        <p:sp>
          <p:nvSpPr>
            <p:cNvPr id="14" name="Oval 13">
              <a:extLst>
                <a:ext uri="{FF2B5EF4-FFF2-40B4-BE49-F238E27FC236}">
                  <a16:creationId xmlns:a16="http://schemas.microsoft.com/office/drawing/2014/main" id="{B1A90C31-1403-F2DD-7777-92CDEF8EA35A}"/>
                </a:ext>
              </a:extLst>
            </p:cNvPr>
            <p:cNvSpPr>
              <a:spLocks noChangeAspect="1"/>
            </p:cNvSpPr>
            <p:nvPr/>
          </p:nvSpPr>
          <p:spPr>
            <a:xfrm>
              <a:off x="4077214" y="6633421"/>
              <a:ext cx="640842" cy="184507"/>
            </a:xfrm>
            <a:prstGeom prst="ellipse">
              <a:avLst/>
            </a:prstGeom>
            <a:solidFill>
              <a:srgbClr val="DCAFFF"/>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700"/>
                <a:t>Bajo</a:t>
              </a:r>
            </a:p>
          </p:txBody>
        </p:sp>
      </p:grpSp>
    </p:spTree>
    <p:extLst>
      <p:ext uri="{BB962C8B-B14F-4D97-AF65-F5344CB8AC3E}">
        <p14:creationId xmlns:p14="http://schemas.microsoft.com/office/powerpoint/2010/main" val="114539890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019FDD-725F-8534-EA90-E2044594B0D3}"/>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5CB0F6D9-5E92-5EB1-4799-BC6659D85A5C}"/>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alpha val="65000"/>
                  </a:srgbClr>
                </a:solidFill>
                <a:effectLst/>
                <a:uLnTx/>
                <a:uFillTx/>
                <a:latin typeface="Graphik"/>
                <a:ea typeface="+mn-ea"/>
                <a:cs typeface="+mn-cs"/>
              </a:rPr>
              <a:t>Copyright © 2026 Accenture. Todos los derechos reservados.</a:t>
            </a:r>
          </a:p>
        </p:txBody>
      </p:sp>
      <p:sp>
        <p:nvSpPr>
          <p:cNvPr id="4" name="Slide Number Placeholder 3">
            <a:extLst>
              <a:ext uri="{FF2B5EF4-FFF2-40B4-BE49-F238E27FC236}">
                <a16:creationId xmlns:a16="http://schemas.microsoft.com/office/drawing/2014/main" id="{3A721E09-FCBD-84FA-9776-B48A42155AF5}"/>
              </a:ext>
            </a:extLst>
          </p:cNvPr>
          <p:cNvSpPr>
            <a:spLocks noGrp="1"/>
          </p:cNvSpPr>
          <p:nvPr>
            <p:ph type="sldNum" sz="quarter" idx="429496729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Graphik"/>
                <a:ea typeface="+mn-ea"/>
                <a:cs typeface="+mn-cs"/>
              </a:rPr>
              <a:t> </a:t>
            </a:r>
          </a:p>
        </p:txBody>
      </p:sp>
      <p:sp>
        <p:nvSpPr>
          <p:cNvPr id="23" name="Title 1">
            <a:extLst>
              <a:ext uri="{FF2B5EF4-FFF2-40B4-BE49-F238E27FC236}">
                <a16:creationId xmlns:a16="http://schemas.microsoft.com/office/drawing/2014/main" id="{5844AA0A-B29E-375C-3DEA-15A60CE0BEC5}"/>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a:ln>
                  <a:noFill/>
                </a:ln>
                <a:solidFill>
                  <a:srgbClr val="7500C0"/>
                </a:solidFill>
                <a:effectLst/>
                <a:uLnTx/>
                <a:uFillTx/>
                <a:latin typeface="Graphik"/>
                <a:ea typeface="+mj-ea"/>
                <a:cs typeface="+mj-cs"/>
              </a:rPr>
              <a:t>Arquitectura de Interoperabilidad </a:t>
            </a:r>
            <a:r>
              <a:rPr kumimoji="0" lang="es" sz="2400" b="1" i="0" u="none" strike="noStrike" kern="1200" cap="none" spc="0" normalizeH="0" baseline="0" noProof="0">
                <a:ln>
                  <a:noFill/>
                </a:ln>
                <a:solidFill>
                  <a:srgbClr val="000000"/>
                </a:solidFill>
                <a:effectLst/>
                <a:uLnTx/>
                <a:uFillTx/>
                <a:latin typeface="Graphik"/>
                <a:ea typeface="+mj-ea"/>
                <a:cs typeface="+mj-cs"/>
              </a:rPr>
              <a:t>| </a:t>
            </a:r>
            <a:r>
              <a:rPr kumimoji="0" lang="es" sz="2000" b="1" i="0" u="none" strike="noStrike" kern="1200" cap="none" spc="0" normalizeH="0" baseline="0" noProof="0">
                <a:ln>
                  <a:noFill/>
                </a:ln>
                <a:solidFill>
                  <a:srgbClr val="000000"/>
                </a:solidFill>
                <a:effectLst/>
                <a:uLnTx/>
                <a:uFillTx/>
                <a:latin typeface="Graphik"/>
                <a:ea typeface="+mj-ea"/>
                <a:cs typeface="+mj-cs"/>
              </a:rPr>
              <a:t>Orquestación de procesos</a:t>
            </a:r>
            <a:endParaRPr kumimoji="0" lang="es" sz="2400" b="1" i="0" u="none" strike="noStrike" kern="1200" cap="none" spc="0" normalizeH="0" baseline="0" noProof="0">
              <a:ln>
                <a:noFill/>
              </a:ln>
              <a:solidFill>
                <a:srgbClr val="000000"/>
              </a:solidFill>
              <a:effectLst/>
              <a:uLnTx/>
              <a:uFillTx/>
              <a:latin typeface="Graphik"/>
              <a:ea typeface="+mj-ea"/>
              <a:cs typeface="+mj-cs"/>
            </a:endParaRPr>
          </a:p>
        </p:txBody>
      </p:sp>
      <p:sp>
        <p:nvSpPr>
          <p:cNvPr id="131" name="Kicker"/>
          <p:cNvSpPr txBox="1"/>
          <p:nvPr/>
        </p:nvSpPr>
        <p:spPr>
          <a:xfrm>
            <a:off x="381000" y="775000"/>
            <a:ext cx="10200000" cy="200000"/>
          </a:xfrm>
          <a:prstGeom prst="rect">
            <a:avLst/>
          </a:prstGeom>
        </p:spPr>
        <p:txBody>
          <a:bodyPr lIns="0" tIns="0" rIns="0" bIns="0"/>
          <a:lstStyle/>
          <a:p>
            <a:pPr marL="0" indent="0" algn="l">
              <a:lnSpc>
                <a:spcPct val="104000"/>
              </a:lnSpc>
              <a:spcBef>
                <a:spcPts val="30"/>
              </a:spcBef>
              <a:buNone/>
            </a:pPr>
            <a:r>
              <a:rPr lang="es" sz="1000" b="1" i="0">
                <a:solidFill>
                  <a:srgbClr val="7500C0"/>
                </a:solidFill>
                <a:latin typeface="Graphik"/>
                <a:cs typeface="Graphik"/>
              </a:rPr>
              <a:t>CAPACIDAD DE DOMINIO |    4 SUBCAPACIDADES</a:t>
            </a:r>
          </a:p>
        </p:txBody>
      </p:sp>
      <p:graphicFrame>
        <p:nvGraphicFramePr>
          <p:cNvPr id="100" name="DetailTable"/>
          <p:cNvGraphicFramePr>
            <a:graphicFrameLocks noGrp="1"/>
          </p:cNvGraphicFramePr>
          <p:nvPr>
            <p:extLst>
              <p:ext uri="{D42A27DB-BD31-4B8C-83A1-F6EECF244321}">
                <p14:modId xmlns:p14="http://schemas.microsoft.com/office/powerpoint/2010/main" val="4179626190"/>
              </p:ext>
            </p:extLst>
          </p:nvPr>
        </p:nvGraphicFramePr>
        <p:xfrm>
          <a:off x="381000" y="1015000"/>
          <a:ext cx="11430000" cy="4200440"/>
        </p:xfrm>
        <a:graphic>
          <a:graphicData uri="http://schemas.openxmlformats.org/drawingml/2006/table">
            <a:tbl>
              <a:tblPr firstRow="1"/>
              <a:tblGrid>
                <a:gridCol w="1950000">
                  <a:extLst>
                    <a:ext uri="{9D8B030D-6E8A-4147-A177-3AD203B41FA5}">
                      <a16:colId xmlns:a16="http://schemas.microsoft.com/office/drawing/2014/main" val="20000"/>
                    </a:ext>
                  </a:extLst>
                </a:gridCol>
                <a:gridCol w="3450000">
                  <a:extLst>
                    <a:ext uri="{9D8B030D-6E8A-4147-A177-3AD203B41FA5}">
                      <a16:colId xmlns:a16="http://schemas.microsoft.com/office/drawing/2014/main" val="20001"/>
                    </a:ext>
                  </a:extLst>
                </a:gridCol>
                <a:gridCol w="3150000">
                  <a:extLst>
                    <a:ext uri="{9D8B030D-6E8A-4147-A177-3AD203B41FA5}">
                      <a16:colId xmlns:a16="http://schemas.microsoft.com/office/drawing/2014/main" val="20002"/>
                    </a:ext>
                  </a:extLst>
                </a:gridCol>
                <a:gridCol w="2880000">
                  <a:extLst>
                    <a:ext uri="{9D8B030D-6E8A-4147-A177-3AD203B41FA5}">
                      <a16:colId xmlns:a16="http://schemas.microsoft.com/office/drawing/2014/main" val="20003"/>
                    </a:ext>
                  </a:extLst>
                </a:gridCol>
              </a:tblGrid>
              <a:tr h="300000">
                <a:tc>
                  <a:txBody>
                    <a:bodyPr/>
                    <a:lstStyle/>
                    <a:p>
                      <a:pPr marL="0" indent="0" algn="l">
                        <a:lnSpc>
                          <a:spcPct val="104000"/>
                        </a:lnSpc>
                        <a:spcBef>
                          <a:spcPts val="30"/>
                        </a:spcBef>
                        <a:buNone/>
                      </a:pPr>
                      <a:r>
                        <a:rPr lang="es" sz="1000" b="1" i="0" dirty="0">
                          <a:solidFill>
                            <a:srgbClr val="FFFFFF"/>
                          </a:solidFill>
                          <a:latin typeface="Graphik"/>
                          <a:cs typeface="Graphik"/>
                        </a:rPr>
                        <a:t>Subcapacidad</a:t>
                      </a:r>
                    </a:p>
                  </a:txBody>
                  <a:tcPr marL="82000" marR="82000" marT="38000" marB="38000" anchor="ctr">
                    <a:solidFill>
                      <a:srgbClr val="7500C0"/>
                    </a:solidFill>
                  </a:tcPr>
                </a:tc>
                <a:tc>
                  <a:txBody>
                    <a:bodyPr/>
                    <a:lstStyle/>
                    <a:p>
                      <a:pPr marL="0" indent="0" algn="l">
                        <a:lnSpc>
                          <a:spcPct val="104000"/>
                        </a:lnSpc>
                        <a:spcBef>
                          <a:spcPts val="30"/>
                        </a:spcBef>
                        <a:buNone/>
                      </a:pPr>
                      <a:r>
                        <a:rPr lang="es" sz="1000" b="1" i="0">
                          <a:solidFill>
                            <a:srgbClr val="FFFFFF"/>
                          </a:solidFill>
                          <a:latin typeface="Graphik"/>
                          <a:cs typeface="Graphik"/>
                        </a:rPr>
                        <a:t>Descripción</a:t>
                      </a:r>
                    </a:p>
                  </a:txBody>
                  <a:tcPr marL="82000" marR="82000" marT="38000" marB="38000" anchor="ctr">
                    <a:solidFill>
                      <a:srgbClr val="7500C0"/>
                    </a:solidFill>
                  </a:tcPr>
                </a:tc>
                <a:tc>
                  <a:txBody>
                    <a:bodyPr/>
                    <a:lstStyle/>
                    <a:p>
                      <a:pPr marL="0" indent="0" algn="l">
                        <a:lnSpc>
                          <a:spcPct val="104000"/>
                        </a:lnSpc>
                        <a:spcBef>
                          <a:spcPts val="30"/>
                        </a:spcBef>
                        <a:buNone/>
                      </a:pPr>
                      <a:r>
                        <a:rPr lang="es" sz="1000" b="1" i="0">
                          <a:solidFill>
                            <a:srgbClr val="FFFFFF"/>
                          </a:solidFill>
                          <a:latin typeface="Graphik"/>
                          <a:cs typeface="Graphik"/>
                        </a:rPr>
                        <a:t>Propósito</a:t>
                      </a:r>
                    </a:p>
                  </a:txBody>
                  <a:tcPr marL="82000" marR="82000" marT="38000" marB="38000" anchor="ctr">
                    <a:solidFill>
                      <a:srgbClr val="7500C0"/>
                    </a:solidFill>
                  </a:tcPr>
                </a:tc>
                <a:tc>
                  <a:txBody>
                    <a:bodyPr/>
                    <a:lstStyle/>
                    <a:p>
                      <a:pPr marL="0" indent="0" algn="l">
                        <a:lnSpc>
                          <a:spcPct val="104000"/>
                        </a:lnSpc>
                        <a:spcBef>
                          <a:spcPts val="30"/>
                        </a:spcBef>
                        <a:buNone/>
                      </a:pPr>
                      <a:r>
                        <a:rPr lang="es" sz="1000" b="1" i="0">
                          <a:solidFill>
                            <a:srgbClr val="FFFFFF"/>
                          </a:solidFill>
                          <a:latin typeface="Graphik"/>
                          <a:cs typeface="Graphik"/>
                        </a:rPr>
                        <a:t>Soluciones en Coppel</a:t>
                      </a:r>
                    </a:p>
                  </a:txBody>
                  <a:tcPr marL="82000" marR="82000" marT="38000" marB="38000" anchor="ctr">
                    <a:solidFill>
                      <a:srgbClr val="7500C0"/>
                    </a:solidFill>
                  </a:tcPr>
                </a:tc>
                <a:extLst>
                  <a:ext uri="{0D108BD9-81ED-4DB2-BD59-A6C34878D82A}">
                    <a16:rowId xmlns:a16="http://schemas.microsoft.com/office/drawing/2014/main" val="10000"/>
                  </a:ext>
                </a:extLst>
              </a:tr>
              <a:tr h="1100840">
                <a:tc>
                  <a:txBody>
                    <a:bodyPr/>
                    <a:lstStyle/>
                    <a:p>
                      <a:pPr marL="0" indent="0" algn="l">
                        <a:lnSpc>
                          <a:spcPct val="104000"/>
                        </a:lnSpc>
                        <a:spcBef>
                          <a:spcPts val="30"/>
                        </a:spcBef>
                        <a:buNone/>
                      </a:pPr>
                      <a:r>
                        <a:rPr lang="es" sz="800" b="1" i="0">
                          <a:solidFill>
                            <a:srgbClr val="9B7BC7"/>
                          </a:solidFill>
                          <a:latin typeface="Graphik"/>
                          <a:cs typeface="Graphik"/>
                        </a:rPr>
                        <a:t>9.1  </a:t>
                      </a:r>
                      <a:r>
                        <a:rPr lang="es" sz="800" b="1" i="0">
                          <a:solidFill>
                            <a:srgbClr val="7500C0"/>
                          </a:solidFill>
                          <a:latin typeface="Graphik"/>
                          <a:cs typeface="Graphik"/>
                        </a:rPr>
                        <a:t>Servicios de flujo de trabajo</a:t>
                      </a:r>
                    </a:p>
                  </a:txBody>
                  <a:tcPr marL="82000" marR="82000" marT="38000" marB="38000" anchor="ctr">
                    <a:solidFill>
                      <a:srgbClr val="EFE7F7"/>
                    </a:solidFill>
                  </a:tcPr>
                </a:tc>
                <a:tc>
                  <a:txBody>
                    <a:bodyPr/>
                    <a:lstStyle/>
                    <a:p>
                      <a:pPr marL="0" indent="0" algn="l">
                        <a:lnSpc>
                          <a:spcPct val="108000"/>
                        </a:lnSpc>
                        <a:spcBef>
                          <a:spcPts val="30"/>
                        </a:spcBef>
                        <a:buNone/>
                      </a:pPr>
                      <a:r>
                        <a:rPr lang="es" sz="800" b="0" i="0">
                          <a:solidFill>
                            <a:srgbClr val="2B2B2B"/>
                          </a:solidFill>
                          <a:latin typeface="Graphik"/>
                          <a:cs typeface="Graphik"/>
                        </a:rPr>
                        <a:t>Definición, versión y ejecución de procesos empresariales de varios pasos que abarcan servicios, sistemas y participantes humanos.</a:t>
                      </a:r>
                    </a:p>
                  </a:txBody>
                  <a:tcPr marL="82000" marR="82000" marT="38000" marB="38000" anchor="ctr">
                    <a:solidFill>
                      <a:srgbClr val="FFFFFF"/>
                    </a:solidFill>
                  </a:tcPr>
                </a:tc>
                <a:tc>
                  <a:txBody>
                    <a:bodyPr/>
                    <a:lstStyle/>
                    <a:p>
                      <a:pPr marL="0" indent="0" algn="l">
                        <a:lnSpc>
                          <a:spcPct val="108000"/>
                        </a:lnSpc>
                        <a:spcBef>
                          <a:spcPts val="30"/>
                        </a:spcBef>
                        <a:buNone/>
                      </a:pPr>
                      <a:r>
                        <a:rPr lang="es" sz="800" b="0" i="0">
                          <a:solidFill>
                            <a:srgbClr val="444444"/>
                          </a:solidFill>
                          <a:latin typeface="Graphik"/>
                          <a:cs typeface="Graphik"/>
                        </a:rPr>
                        <a:t>Hace que la lógica de procesos sea explícita y modificable según la autoridad de diseño en lugar de implícita en el código entre varios sistemas.</a:t>
                      </a:r>
                    </a:p>
                  </a:txBody>
                  <a:tcPr marL="82000" marR="82000" marT="38000" marB="38000" anchor="ctr">
                    <a:solidFill>
                      <a:srgbClr val="FFFFFF"/>
                    </a:solidFill>
                  </a:tcPr>
                </a:tc>
                <a:tc>
                  <a:txBody>
                    <a:bodyPr/>
                    <a:lstStyle/>
                    <a:p>
                      <a:pPr marL="150000" indent="-150000" algn="l">
                        <a:lnSpc>
                          <a:spcPct val="104000"/>
                        </a:lnSpc>
                        <a:spcBef>
                          <a:spcPts val="45"/>
                        </a:spcBef>
                        <a:buClr>
                          <a:srgbClr val="7500C0"/>
                        </a:buClr>
                        <a:buFont typeface="Arial"/>
                        <a:buChar char="▪"/>
                      </a:pPr>
                      <a:r>
                        <a:rPr lang="es" sz="700" b="0" i="0">
                          <a:solidFill>
                            <a:srgbClr val="4B2E83"/>
                          </a:solidFill>
                          <a:latin typeface="Graphik"/>
                          <a:cs typeface="Graphik"/>
                        </a:rPr>
                        <a:t>WebMethods BPM</a:t>
                      </a:r>
                    </a:p>
                    <a:p>
                      <a:pPr marL="150000" indent="-150000" algn="l">
                        <a:lnSpc>
                          <a:spcPct val="104000"/>
                        </a:lnSpc>
                        <a:spcBef>
                          <a:spcPts val="45"/>
                        </a:spcBef>
                        <a:buClr>
                          <a:srgbClr val="7500C0"/>
                        </a:buClr>
                        <a:buFont typeface="Arial"/>
                        <a:buChar char="▪"/>
                      </a:pPr>
                      <a:r>
                        <a:rPr lang="es" sz="700" b="0" i="0">
                          <a:solidFill>
                            <a:srgbClr val="4B2E83"/>
                          </a:solidFill>
                          <a:latin typeface="Graphik"/>
                          <a:cs typeface="Graphik"/>
                        </a:rPr>
                        <a:t>Flujo de trabajo/máquina de estados Modyo Connect</a:t>
                      </a:r>
                    </a:p>
                    <a:p>
                      <a:pPr marL="150000" indent="-150000" algn="l">
                        <a:lnSpc>
                          <a:spcPct val="104000"/>
                        </a:lnSpc>
                        <a:spcBef>
                          <a:spcPts val="45"/>
                        </a:spcBef>
                        <a:buClr>
                          <a:srgbClr val="7500C0"/>
                        </a:buClr>
                        <a:buFont typeface="Arial"/>
                        <a:buChar char="▪"/>
                      </a:pPr>
                      <a:r>
                        <a:rPr lang="es" sz="700" b="0" i="0">
                          <a:solidFill>
                            <a:srgbClr val="4B2E83"/>
                          </a:solidFill>
                          <a:latin typeface="Graphik"/>
                          <a:cs typeface="Graphik"/>
                        </a:rPr>
                        <a:t>Gestión de trabajo en Ingeniería de Flujos/Jira para la entrega</a:t>
                      </a:r>
                    </a:p>
                    <a:p>
                      <a:pPr marL="150000" indent="-150000" algn="l">
                        <a:lnSpc>
                          <a:spcPct val="104000"/>
                        </a:lnSpc>
                        <a:spcBef>
                          <a:spcPts val="45"/>
                        </a:spcBef>
                        <a:buClr>
                          <a:srgbClr val="7500C0"/>
                        </a:buClr>
                        <a:buFont typeface="Arial"/>
                        <a:buChar char="▪"/>
                      </a:pPr>
                      <a:r>
                        <a:rPr lang="es" sz="700" b="0" i="0">
                          <a:solidFill>
                            <a:srgbClr val="4B2E83"/>
                          </a:solidFill>
                          <a:latin typeface="Graphik"/>
                          <a:cs typeface="Graphik"/>
                        </a:rPr>
                        <a:t>los flujos de proceso a través de Apolo, SmartVista y Transact</a:t>
                      </a:r>
                    </a:p>
                  </a:txBody>
                  <a:tcPr marL="82000" marR="82000" marT="38000" marB="38000" anchor="ctr">
                    <a:solidFill>
                      <a:srgbClr val="FFFFFF"/>
                    </a:solidFill>
                  </a:tcPr>
                </a:tc>
                <a:extLst>
                  <a:ext uri="{0D108BD9-81ED-4DB2-BD59-A6C34878D82A}">
                    <a16:rowId xmlns:a16="http://schemas.microsoft.com/office/drawing/2014/main" val="10001"/>
                  </a:ext>
                </a:extLst>
              </a:tr>
              <a:tr h="1100840">
                <a:tc>
                  <a:txBody>
                    <a:bodyPr/>
                    <a:lstStyle/>
                    <a:p>
                      <a:pPr marL="0" indent="0" algn="l">
                        <a:lnSpc>
                          <a:spcPct val="104000"/>
                        </a:lnSpc>
                        <a:spcBef>
                          <a:spcPts val="30"/>
                        </a:spcBef>
                        <a:buNone/>
                      </a:pPr>
                      <a:r>
                        <a:rPr lang="es" sz="800" b="1" i="0" dirty="0">
                          <a:solidFill>
                            <a:srgbClr val="9B7BC7"/>
                          </a:solidFill>
                          <a:latin typeface="Graphik"/>
                          <a:cs typeface="Graphik"/>
                        </a:rPr>
                        <a:t>9.2  </a:t>
                      </a:r>
                      <a:r>
                        <a:rPr lang="es" sz="800" b="1" i="0" dirty="0">
                          <a:solidFill>
                            <a:srgbClr val="7500C0"/>
                          </a:solidFill>
                          <a:latin typeface="Graphik"/>
                          <a:cs typeface="Graphik"/>
                        </a:rPr>
                        <a:t>Gestión de tareas humanas</a:t>
                      </a:r>
                    </a:p>
                  </a:txBody>
                  <a:tcPr marL="82000" marR="82000" marT="38000" marB="38000" anchor="ctr">
                    <a:solidFill>
                      <a:srgbClr val="E9DEF4"/>
                    </a:solidFill>
                  </a:tcPr>
                </a:tc>
                <a:tc>
                  <a:txBody>
                    <a:bodyPr/>
                    <a:lstStyle/>
                    <a:p>
                      <a:pPr marL="0" indent="0" algn="l">
                        <a:lnSpc>
                          <a:spcPct val="108000"/>
                        </a:lnSpc>
                        <a:spcBef>
                          <a:spcPts val="30"/>
                        </a:spcBef>
                        <a:buNone/>
                      </a:pPr>
                      <a:r>
                        <a:rPr lang="es" sz="800" b="0" i="0">
                          <a:solidFill>
                            <a:srgbClr val="2B2B2B"/>
                          </a:solidFill>
                          <a:latin typeface="Graphik"/>
                          <a:cs typeface="Graphik"/>
                        </a:rPr>
                        <a:t>Creación, asignación, priorización y finalización de tareas humanas derivadas de procesos automatizados, incluyendo listas de trabajo y delegación.</a:t>
                      </a:r>
                    </a:p>
                  </a:txBody>
                  <a:tcPr marL="82000" marR="82000" marT="38000" marB="38000" anchor="ctr">
                    <a:solidFill>
                      <a:srgbClr val="F6F2FB"/>
                    </a:solidFill>
                  </a:tcPr>
                </a:tc>
                <a:tc>
                  <a:txBody>
                    <a:bodyPr/>
                    <a:lstStyle/>
                    <a:p>
                      <a:pPr marL="0" indent="0" algn="l">
                        <a:lnSpc>
                          <a:spcPct val="108000"/>
                        </a:lnSpc>
                        <a:spcBef>
                          <a:spcPts val="30"/>
                        </a:spcBef>
                        <a:buNone/>
                      </a:pPr>
                      <a:r>
                        <a:rPr lang="es" sz="800" b="0" i="0">
                          <a:solidFill>
                            <a:srgbClr val="444444"/>
                          </a:solidFill>
                          <a:latin typeface="Graphik"/>
                          <a:cs typeface="Graphik"/>
                        </a:rPr>
                        <a:t>Integra los pasos humanos que permanecen en los procesos bancarios regulados sin empujarlos de nuevo a las aplicaciones de canal.</a:t>
                      </a:r>
                    </a:p>
                  </a:txBody>
                  <a:tcPr marL="82000" marR="82000" marT="38000" marB="38000" anchor="ctr">
                    <a:solidFill>
                      <a:srgbClr val="F6F2FB"/>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Teller Multi Core para tareas de ramificación asistidas</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Flujos de trabajo OnBase/documentos</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Colas de trabajo SIWEB/OFI y sucursales/centros de llamadas. No existe una sola herramienta de tarea BPM completamente evidenciada</a:t>
                      </a:r>
                    </a:p>
                  </a:txBody>
                  <a:tcPr marL="82000" marR="82000" marT="38000" marB="38000" anchor="ctr">
                    <a:solidFill>
                      <a:srgbClr val="F6F2FB"/>
                    </a:solidFill>
                  </a:tcPr>
                </a:tc>
                <a:extLst>
                  <a:ext uri="{0D108BD9-81ED-4DB2-BD59-A6C34878D82A}">
                    <a16:rowId xmlns:a16="http://schemas.microsoft.com/office/drawing/2014/main" val="10002"/>
                  </a:ext>
                </a:extLst>
              </a:tr>
              <a:tr h="933200">
                <a:tc>
                  <a:txBody>
                    <a:bodyPr/>
                    <a:lstStyle/>
                    <a:p>
                      <a:pPr marL="0" indent="0" algn="l">
                        <a:lnSpc>
                          <a:spcPct val="104000"/>
                        </a:lnSpc>
                        <a:spcBef>
                          <a:spcPts val="30"/>
                        </a:spcBef>
                        <a:buNone/>
                      </a:pPr>
                      <a:r>
                        <a:rPr lang="es" sz="800" b="1" i="0">
                          <a:solidFill>
                            <a:srgbClr val="9B7BC7"/>
                          </a:solidFill>
                          <a:latin typeface="Graphik"/>
                          <a:cs typeface="Graphik"/>
                        </a:rPr>
                        <a:t>9.3  </a:t>
                      </a:r>
                      <a:r>
                        <a:rPr lang="es" sz="800" b="1" i="0">
                          <a:solidFill>
                            <a:srgbClr val="7500C0"/>
                          </a:solidFill>
                          <a:latin typeface="Graphik"/>
                          <a:cs typeface="Graphik"/>
                        </a:rPr>
                        <a:t>Gestión del Estado de Procesos y Excepciones</a:t>
                      </a:r>
                    </a:p>
                  </a:txBody>
                  <a:tcPr marL="82000" marR="82000" marT="38000" marB="38000" anchor="ctr">
                    <a:solidFill>
                      <a:srgbClr val="EFE7F7"/>
                    </a:solidFill>
                  </a:tcPr>
                </a:tc>
                <a:tc>
                  <a:txBody>
                    <a:bodyPr/>
                    <a:lstStyle/>
                    <a:p>
                      <a:pPr marL="0" indent="0" algn="l">
                        <a:lnSpc>
                          <a:spcPct val="108000"/>
                        </a:lnSpc>
                        <a:spcBef>
                          <a:spcPts val="30"/>
                        </a:spcBef>
                        <a:buNone/>
                      </a:pPr>
                      <a:r>
                        <a:rPr lang="es" sz="800" b="0" i="0">
                          <a:solidFill>
                            <a:srgbClr val="2B2B2B"/>
                          </a:solidFill>
                          <a:latin typeface="Graphik"/>
                          <a:cs typeface="Graphik"/>
                        </a:rPr>
                        <a:t>Persistencia duradera del estado de proceso de larga duración, junto con el tiempo de espera, la escalada, el reintento y la gestión de excepciones para instancias estancadas o fallidas.</a:t>
                      </a:r>
                    </a:p>
                  </a:txBody>
                  <a:tcPr marL="82000" marR="82000" marT="38000" marB="38000" anchor="ctr">
                    <a:solidFill>
                      <a:srgbClr val="FFFFFF"/>
                    </a:solidFill>
                  </a:tcPr>
                </a:tc>
                <a:tc>
                  <a:txBody>
                    <a:bodyPr/>
                    <a:lstStyle/>
                    <a:p>
                      <a:pPr marL="0" indent="0" algn="l">
                        <a:lnSpc>
                          <a:spcPct val="108000"/>
                        </a:lnSpc>
                        <a:spcBef>
                          <a:spcPts val="30"/>
                        </a:spcBef>
                        <a:buNone/>
                      </a:pPr>
                      <a:r>
                        <a:rPr lang="es" sz="800" b="0" i="0">
                          <a:solidFill>
                            <a:srgbClr val="444444"/>
                          </a:solidFill>
                          <a:latin typeface="Graphik"/>
                          <a:cs typeface="Graphik"/>
                        </a:rPr>
                        <a:t>Los procesos de larga duración fallan de forma diferente a las transacciones; La gestión explícita del estado y la escalada es lo que evita la pérdida silenciosa de clientes a bordo.</a:t>
                      </a:r>
                    </a:p>
                  </a:txBody>
                  <a:tcPr marL="82000" marR="82000" marT="38000" marB="38000" anchor="ctr">
                    <a:solidFill>
                      <a:srgbClr val="FFFFFF"/>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WebMethods BPM/BRM y Modyo Connect para el estado del proceso</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Escalada PMO/RAID</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Respaldo/contingencia con Interfaces Temporales y PISA</a:t>
                      </a:r>
                    </a:p>
                  </a:txBody>
                  <a:tcPr marL="82000" marR="82000" marT="38000" marB="38000" anchor="ctr">
                    <a:solidFill>
                      <a:srgbClr val="FFFFFF"/>
                    </a:solidFill>
                  </a:tcPr>
                </a:tc>
                <a:extLst>
                  <a:ext uri="{0D108BD9-81ED-4DB2-BD59-A6C34878D82A}">
                    <a16:rowId xmlns:a16="http://schemas.microsoft.com/office/drawing/2014/main" val="10003"/>
                  </a:ext>
                </a:extLst>
              </a:tr>
              <a:tr h="765560">
                <a:tc>
                  <a:txBody>
                    <a:bodyPr/>
                    <a:lstStyle/>
                    <a:p>
                      <a:pPr marL="0" indent="0" algn="l">
                        <a:lnSpc>
                          <a:spcPct val="104000"/>
                        </a:lnSpc>
                        <a:spcBef>
                          <a:spcPts val="30"/>
                        </a:spcBef>
                        <a:buNone/>
                      </a:pPr>
                      <a:r>
                        <a:rPr lang="es" sz="800" b="1" i="0">
                          <a:solidFill>
                            <a:srgbClr val="9B7BC7"/>
                          </a:solidFill>
                          <a:latin typeface="Graphik"/>
                          <a:cs typeface="Graphik"/>
                        </a:rPr>
                        <a:t>9.4  </a:t>
                      </a:r>
                      <a:r>
                        <a:rPr lang="es" sz="800" b="1" i="0">
                          <a:solidFill>
                            <a:srgbClr val="7500C0"/>
                          </a:solidFill>
                          <a:latin typeface="Graphik"/>
                          <a:cs typeface="Graphik"/>
                        </a:rPr>
                        <a:t>Supervisión y administración de procesos</a:t>
                      </a:r>
                    </a:p>
                  </a:txBody>
                  <a:tcPr marL="82000" marR="82000" marT="38000" marB="38000" anchor="ctr">
                    <a:solidFill>
                      <a:srgbClr val="E9DEF4"/>
                    </a:solidFill>
                  </a:tcPr>
                </a:tc>
                <a:tc>
                  <a:txBody>
                    <a:bodyPr/>
                    <a:lstStyle/>
                    <a:p>
                      <a:pPr marL="0" indent="0" algn="l">
                        <a:lnSpc>
                          <a:spcPct val="108000"/>
                        </a:lnSpc>
                        <a:spcBef>
                          <a:spcPts val="30"/>
                        </a:spcBef>
                        <a:buNone/>
                      </a:pPr>
                      <a:r>
                        <a:rPr lang="es" sz="800" b="0" i="0">
                          <a:solidFill>
                            <a:srgbClr val="2B2B2B"/>
                          </a:solidFill>
                          <a:latin typeface="Graphik"/>
                          <a:cs typeface="Graphik"/>
                        </a:rPr>
                        <a:t>Visibilidad operativa de instancias en vuelo y de procesos completados, con intervención administrativa e informes sobre tiempos de ciclo y cuellos de botella.</a:t>
                      </a:r>
                    </a:p>
                  </a:txBody>
                  <a:tcPr marL="82000" marR="82000" marT="38000" marB="38000" anchor="ctr">
                    <a:solidFill>
                      <a:srgbClr val="F6F2FB"/>
                    </a:solidFill>
                  </a:tcPr>
                </a:tc>
                <a:tc>
                  <a:txBody>
                    <a:bodyPr/>
                    <a:lstStyle/>
                    <a:p>
                      <a:pPr marL="0" indent="0" algn="l">
                        <a:lnSpc>
                          <a:spcPct val="108000"/>
                        </a:lnSpc>
                        <a:spcBef>
                          <a:spcPts val="30"/>
                        </a:spcBef>
                        <a:buNone/>
                      </a:pPr>
                      <a:r>
                        <a:rPr lang="es" sz="800" b="0" i="0" dirty="0">
                          <a:solidFill>
                            <a:srgbClr val="444444"/>
                          </a:solidFill>
                          <a:latin typeface="Graphik"/>
                          <a:cs typeface="Graphik"/>
                        </a:rPr>
                        <a:t>Proporciona el equivalente a nivel de proceso del trazado distribuido y la base de medición para la mejora del procesamiento directo.</a:t>
                      </a:r>
                    </a:p>
                  </a:txBody>
                  <a:tcPr marL="82000" marR="82000" marT="38000" marB="38000" anchor="ctr">
                    <a:solidFill>
                      <a:srgbClr val="F6F2FB"/>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DataDog para monitorización de procesos/plataformas</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SmartVista Back Office</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Administración de transacciones</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Paneles PMO para el rendimiento de procesos</a:t>
                      </a:r>
                    </a:p>
                  </a:txBody>
                  <a:tcPr marL="82000" marR="82000" marT="38000" marB="38000" anchor="ctr">
                    <a:solidFill>
                      <a:srgbClr val="F6F2FB"/>
                    </a:solidFill>
                  </a:tcPr>
                </a:tc>
                <a:extLst>
                  <a:ext uri="{0D108BD9-81ED-4DB2-BD59-A6C34878D82A}">
                    <a16:rowId xmlns:a16="http://schemas.microsoft.com/office/drawing/2014/main" val="10004"/>
                  </a:ext>
                </a:extLst>
              </a:tr>
            </a:tbl>
          </a:graphicData>
        </a:graphic>
      </p:graphicFrame>
      <p:sp>
        <p:nvSpPr>
          <p:cNvPr id="5" name="TextBox 4">
            <a:extLst>
              <a:ext uri="{FF2B5EF4-FFF2-40B4-BE49-F238E27FC236}">
                <a16:creationId xmlns:a16="http://schemas.microsoft.com/office/drawing/2014/main" id="{79B461EB-09F9-A5D6-56C1-629626E3415B}"/>
              </a:ext>
            </a:extLst>
          </p:cNvPr>
          <p:cNvSpPr txBox="1"/>
          <p:nvPr>
            <p:extLst>
              <p:ext uri="{1162E1C5-73C7-4A58-AE30-91384D911F3F}">
                <p184:classification xmlns:p184="http://schemas.microsoft.com/office/powerpoint/2018/4/main" val="hdr"/>
              </p:ext>
            </p:extLst>
          </p:nvPr>
        </p:nvSpPr>
        <p:spPr>
          <a:xfrm>
            <a:off x="379000" y="78170"/>
            <a:ext cx="11432000" cy="154830"/>
          </a:xfrm>
          <a:prstGeom prst="rect">
            <a:avLst/>
          </a:prstGeom>
        </p:spPr>
        <p:txBody>
          <a:bodyPr horzOverflow="overflow"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000" b="0" i="0" u="none" strike="noStrike" kern="1200" cap="none" spc="0" normalizeH="0" baseline="0" noProof="0">
                <a:ln>
                  <a:noFill/>
                </a:ln>
                <a:solidFill>
                  <a:srgbClr val="000000"/>
                </a:solidFill>
                <a:effectLst/>
                <a:uLnTx/>
                <a:uFillTx/>
                <a:latin typeface="Graphik (Body)"/>
                <a:ea typeface="+mn-ea"/>
                <a:cs typeface="Calibri" panose="020F0502020204030204" pitchFamily="34" charset="0"/>
              </a:rPr>
              <a:t>*** Confidencial - Solo para uso interno de la empresa ***</a:t>
            </a:r>
          </a:p>
        </p:txBody>
      </p:sp>
      <p:grpSp>
        <p:nvGrpSpPr>
          <p:cNvPr id="6" name="Group 5">
            <a:extLst>
              <a:ext uri="{FF2B5EF4-FFF2-40B4-BE49-F238E27FC236}">
                <a16:creationId xmlns:a16="http://schemas.microsoft.com/office/drawing/2014/main" id="{502A4CCB-DCAB-CC6E-E8D0-8BF517AF697A}"/>
              </a:ext>
            </a:extLst>
          </p:cNvPr>
          <p:cNvGrpSpPr/>
          <p:nvPr/>
        </p:nvGrpSpPr>
        <p:grpSpPr>
          <a:xfrm>
            <a:off x="717042" y="6191083"/>
            <a:ext cx="4001014" cy="631639"/>
            <a:chOff x="717042" y="6191083"/>
            <a:chExt cx="4001014" cy="631639"/>
          </a:xfrm>
        </p:grpSpPr>
        <p:sp>
          <p:nvSpPr>
            <p:cNvPr id="7" name="Rectangle 6">
              <a:extLst>
                <a:ext uri="{FF2B5EF4-FFF2-40B4-BE49-F238E27FC236}">
                  <a16:creationId xmlns:a16="http://schemas.microsoft.com/office/drawing/2014/main" id="{E38B5A23-DC8A-6D03-29EA-A4D9DE903FAE}"/>
                </a:ext>
              </a:extLst>
            </p:cNvPr>
            <p:cNvSpPr>
              <a:spLocks noChangeAspect="1"/>
            </p:cNvSpPr>
            <p:nvPr/>
          </p:nvSpPr>
          <p:spPr>
            <a:xfrm>
              <a:off x="1936749" y="6410745"/>
              <a:ext cx="774645" cy="202427"/>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GAP</a:t>
              </a:r>
            </a:p>
          </p:txBody>
        </p:sp>
        <p:sp>
          <p:nvSpPr>
            <p:cNvPr id="8" name="Rectangle 7">
              <a:extLst>
                <a:ext uri="{FF2B5EF4-FFF2-40B4-BE49-F238E27FC236}">
                  <a16:creationId xmlns:a16="http://schemas.microsoft.com/office/drawing/2014/main" id="{D1405CEE-8BAC-087B-4024-F62B168AD335}"/>
                </a:ext>
              </a:extLst>
            </p:cNvPr>
            <p:cNvSpPr>
              <a:spLocks noChangeAspect="1"/>
            </p:cNvSpPr>
            <p:nvPr/>
          </p:nvSpPr>
          <p:spPr>
            <a:xfrm>
              <a:off x="1936749" y="6191083"/>
              <a:ext cx="774645" cy="202427"/>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Objetivo</a:t>
              </a:r>
            </a:p>
          </p:txBody>
        </p:sp>
        <p:sp>
          <p:nvSpPr>
            <p:cNvPr id="9" name="Rectangle 8">
              <a:extLst>
                <a:ext uri="{FF2B5EF4-FFF2-40B4-BE49-F238E27FC236}">
                  <a16:creationId xmlns:a16="http://schemas.microsoft.com/office/drawing/2014/main" id="{3D91EB81-09DC-E20E-3A37-7E3E8A2EC355}"/>
                </a:ext>
              </a:extLst>
            </p:cNvPr>
            <p:cNvSpPr>
              <a:spLocks noChangeAspect="1"/>
            </p:cNvSpPr>
            <p:nvPr/>
          </p:nvSpPr>
          <p:spPr>
            <a:xfrm>
              <a:off x="1936749" y="6620295"/>
              <a:ext cx="774645" cy="202427"/>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Descartar</a:t>
              </a:r>
            </a:p>
          </p:txBody>
        </p:sp>
        <p:sp>
          <p:nvSpPr>
            <p:cNvPr id="10" name="Oval 9">
              <a:extLst>
                <a:ext uri="{FF2B5EF4-FFF2-40B4-BE49-F238E27FC236}">
                  <a16:creationId xmlns:a16="http://schemas.microsoft.com/office/drawing/2014/main" id="{5D84E9F8-07C2-6EA4-A30E-6AD028CE8143}"/>
                </a:ext>
              </a:extLst>
            </p:cNvPr>
            <p:cNvSpPr>
              <a:spLocks noChangeAspect="1"/>
            </p:cNvSpPr>
            <p:nvPr/>
          </p:nvSpPr>
          <p:spPr>
            <a:xfrm>
              <a:off x="4077214" y="6226238"/>
              <a:ext cx="640842" cy="184507"/>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700"/>
                <a:t>Alto</a:t>
              </a:r>
            </a:p>
          </p:txBody>
        </p:sp>
        <p:sp>
          <p:nvSpPr>
            <p:cNvPr id="11" name="Rectangle 10">
              <a:extLst>
                <a:ext uri="{FF2B5EF4-FFF2-40B4-BE49-F238E27FC236}">
                  <a16:creationId xmlns:a16="http://schemas.microsoft.com/office/drawing/2014/main" id="{8160D8D6-5847-1B50-FEA2-330B4E3D1282}"/>
                </a:ext>
              </a:extLst>
            </p:cNvPr>
            <p:cNvSpPr>
              <a:spLocks noChangeAspect="1"/>
            </p:cNvSpPr>
            <p:nvPr/>
          </p:nvSpPr>
          <p:spPr>
            <a:xfrm>
              <a:off x="717042" y="6283336"/>
              <a:ext cx="1022032" cy="455578"/>
            </a:xfrm>
            <a:prstGeom prst="rect">
              <a:avLst/>
            </a:prstGeom>
            <a:solidFill>
              <a:srgbClr val="7500C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Evaluación de capacidades</a:t>
              </a:r>
            </a:p>
          </p:txBody>
        </p:sp>
        <p:sp>
          <p:nvSpPr>
            <p:cNvPr id="12" name="Rectangle 11">
              <a:extLst>
                <a:ext uri="{FF2B5EF4-FFF2-40B4-BE49-F238E27FC236}">
                  <a16:creationId xmlns:a16="http://schemas.microsoft.com/office/drawing/2014/main" id="{50022B38-A678-BFBE-7F7D-025AF73DAB5D}"/>
                </a:ext>
              </a:extLst>
            </p:cNvPr>
            <p:cNvSpPr>
              <a:spLocks noChangeAspect="1"/>
            </p:cNvSpPr>
            <p:nvPr/>
          </p:nvSpPr>
          <p:spPr>
            <a:xfrm>
              <a:off x="2816387" y="6282396"/>
              <a:ext cx="1022032" cy="455578"/>
            </a:xfrm>
            <a:prstGeom prst="rect">
              <a:avLst/>
            </a:prstGeom>
            <a:solidFill>
              <a:srgbClr val="7500C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Prioridad</a:t>
              </a:r>
            </a:p>
          </p:txBody>
        </p:sp>
        <p:sp>
          <p:nvSpPr>
            <p:cNvPr id="13" name="Oval 12">
              <a:extLst>
                <a:ext uri="{FF2B5EF4-FFF2-40B4-BE49-F238E27FC236}">
                  <a16:creationId xmlns:a16="http://schemas.microsoft.com/office/drawing/2014/main" id="{C0C816D6-3573-2BA9-458B-BDA896919AED}"/>
                </a:ext>
              </a:extLst>
            </p:cNvPr>
            <p:cNvSpPr>
              <a:spLocks noChangeAspect="1"/>
            </p:cNvSpPr>
            <p:nvPr/>
          </p:nvSpPr>
          <p:spPr>
            <a:xfrm>
              <a:off x="4077214" y="6435788"/>
              <a:ext cx="640842" cy="184507"/>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700"/>
                <a:t>Medio</a:t>
              </a:r>
            </a:p>
          </p:txBody>
        </p:sp>
        <p:sp>
          <p:nvSpPr>
            <p:cNvPr id="14" name="Oval 13">
              <a:extLst>
                <a:ext uri="{FF2B5EF4-FFF2-40B4-BE49-F238E27FC236}">
                  <a16:creationId xmlns:a16="http://schemas.microsoft.com/office/drawing/2014/main" id="{899FBAEF-8290-CFC2-E9A4-377D0CB6EB53}"/>
                </a:ext>
              </a:extLst>
            </p:cNvPr>
            <p:cNvSpPr>
              <a:spLocks noChangeAspect="1"/>
            </p:cNvSpPr>
            <p:nvPr/>
          </p:nvSpPr>
          <p:spPr>
            <a:xfrm>
              <a:off x="4077214" y="6633421"/>
              <a:ext cx="640842" cy="184507"/>
            </a:xfrm>
            <a:prstGeom prst="ellipse">
              <a:avLst/>
            </a:prstGeom>
            <a:solidFill>
              <a:srgbClr val="DCAFFF"/>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700"/>
                <a:t>Bajo</a:t>
              </a:r>
            </a:p>
          </p:txBody>
        </p:sp>
      </p:grpSp>
    </p:spTree>
    <p:extLst>
      <p:ext uri="{BB962C8B-B14F-4D97-AF65-F5344CB8AC3E}">
        <p14:creationId xmlns:p14="http://schemas.microsoft.com/office/powerpoint/2010/main" val="114539890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019FDD-725F-8534-EA90-E2044594B0D3}"/>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5CB0F6D9-5E92-5EB1-4799-BC6659D85A5C}"/>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dirty="0">
                <a:ln>
                  <a:noFill/>
                </a:ln>
                <a:solidFill>
                  <a:srgbClr val="000000">
                    <a:alpha val="65000"/>
                  </a:srgbClr>
                </a:solidFill>
                <a:effectLst/>
                <a:uLnTx/>
                <a:uFillTx/>
                <a:latin typeface="Graphik"/>
                <a:ea typeface="+mn-ea"/>
                <a:cs typeface="+mn-cs"/>
              </a:rPr>
              <a:t>Copyright © 2026 Accenture. Todos los derechos reservados.</a:t>
            </a:r>
          </a:p>
        </p:txBody>
      </p:sp>
      <p:sp>
        <p:nvSpPr>
          <p:cNvPr id="4" name="Slide Number Placeholder 3">
            <a:extLst>
              <a:ext uri="{FF2B5EF4-FFF2-40B4-BE49-F238E27FC236}">
                <a16:creationId xmlns:a16="http://schemas.microsoft.com/office/drawing/2014/main" id="{3A721E09-FCBD-84FA-9776-B48A42155AF5}"/>
              </a:ext>
            </a:extLst>
          </p:cNvPr>
          <p:cNvSpPr>
            <a:spLocks noGrp="1"/>
          </p:cNvSpPr>
          <p:nvPr>
            <p:ph type="sldNum" sz="quarter" idx="429496729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Graphik"/>
                <a:ea typeface="+mn-ea"/>
                <a:cs typeface="+mn-cs"/>
              </a:rPr>
              <a:t> </a:t>
            </a:r>
          </a:p>
        </p:txBody>
      </p:sp>
      <p:sp>
        <p:nvSpPr>
          <p:cNvPr id="23" name="Title 1">
            <a:extLst>
              <a:ext uri="{FF2B5EF4-FFF2-40B4-BE49-F238E27FC236}">
                <a16:creationId xmlns:a16="http://schemas.microsoft.com/office/drawing/2014/main" id="{5844AA0A-B29E-375C-3DEA-15A60CE0BEC5}"/>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a:ln>
                  <a:noFill/>
                </a:ln>
                <a:solidFill>
                  <a:srgbClr val="7500C0"/>
                </a:solidFill>
                <a:effectLst/>
                <a:uLnTx/>
                <a:uFillTx/>
                <a:latin typeface="Graphik"/>
                <a:ea typeface="+mj-ea"/>
                <a:cs typeface="+mj-cs"/>
              </a:rPr>
              <a:t>Arquitectura de Interoperabilidad </a:t>
            </a:r>
            <a:r>
              <a:rPr kumimoji="0" lang="es" sz="2400" b="1" i="0" u="none" strike="noStrike" kern="1200" cap="none" spc="0" normalizeH="0" baseline="0" noProof="0">
                <a:ln>
                  <a:noFill/>
                </a:ln>
                <a:solidFill>
                  <a:srgbClr val="000000"/>
                </a:solidFill>
                <a:effectLst/>
                <a:uLnTx/>
                <a:uFillTx/>
                <a:latin typeface="Graphik"/>
                <a:ea typeface="+mj-ea"/>
                <a:cs typeface="+mj-cs"/>
              </a:rPr>
              <a:t>| </a:t>
            </a:r>
            <a:r>
              <a:rPr kumimoji="0" lang="es" sz="2000" b="1" i="0" u="none" strike="noStrike" kern="1200" cap="none" spc="0" normalizeH="0" baseline="0" noProof="0">
                <a:ln>
                  <a:noFill/>
                </a:ln>
                <a:solidFill>
                  <a:srgbClr val="000000"/>
                </a:solidFill>
                <a:effectLst/>
                <a:uLnTx/>
                <a:uFillTx/>
                <a:latin typeface="Graphik"/>
                <a:ea typeface="+mj-ea"/>
                <a:cs typeface="+mj-cs"/>
              </a:rPr>
              <a:t>Servicios Empresariales Comunes</a:t>
            </a:r>
            <a:endParaRPr kumimoji="0" lang="es" sz="2400" b="1" i="0" u="none" strike="noStrike" kern="1200" cap="none" spc="0" normalizeH="0" baseline="0" noProof="0">
              <a:ln>
                <a:noFill/>
              </a:ln>
              <a:solidFill>
                <a:srgbClr val="000000"/>
              </a:solidFill>
              <a:effectLst/>
              <a:uLnTx/>
              <a:uFillTx/>
              <a:latin typeface="Graphik"/>
              <a:ea typeface="+mj-ea"/>
              <a:cs typeface="+mj-cs"/>
            </a:endParaRPr>
          </a:p>
        </p:txBody>
      </p:sp>
      <p:sp>
        <p:nvSpPr>
          <p:cNvPr id="131" name="Kicker"/>
          <p:cNvSpPr txBox="1"/>
          <p:nvPr/>
        </p:nvSpPr>
        <p:spPr>
          <a:xfrm>
            <a:off x="381000" y="775000"/>
            <a:ext cx="10200000" cy="200000"/>
          </a:xfrm>
          <a:prstGeom prst="rect">
            <a:avLst/>
          </a:prstGeom>
        </p:spPr>
        <p:txBody>
          <a:bodyPr lIns="0" tIns="0" rIns="0" bIns="0"/>
          <a:lstStyle/>
          <a:p>
            <a:pPr marL="0" indent="0" algn="l">
              <a:lnSpc>
                <a:spcPct val="104000"/>
              </a:lnSpc>
              <a:spcBef>
                <a:spcPts val="30"/>
              </a:spcBef>
              <a:buNone/>
            </a:pPr>
            <a:r>
              <a:rPr lang="es" sz="1000" b="1" i="0">
                <a:solidFill>
                  <a:srgbClr val="7500C0"/>
                </a:solidFill>
                <a:latin typeface="Graphik"/>
                <a:cs typeface="Graphik"/>
              </a:rPr>
              <a:t>CAPACIDAD DE DOMINIO |    6 SUBCAPACIDADES</a:t>
            </a:r>
          </a:p>
        </p:txBody>
      </p:sp>
      <p:graphicFrame>
        <p:nvGraphicFramePr>
          <p:cNvPr id="100" name="DetailTable"/>
          <p:cNvGraphicFramePr>
            <a:graphicFrameLocks noGrp="1"/>
          </p:cNvGraphicFramePr>
          <p:nvPr>
            <p:extLst>
              <p:ext uri="{D42A27DB-BD31-4B8C-83A1-F6EECF244321}">
                <p14:modId xmlns:p14="http://schemas.microsoft.com/office/powerpoint/2010/main" val="869980797"/>
              </p:ext>
            </p:extLst>
          </p:nvPr>
        </p:nvGraphicFramePr>
        <p:xfrm>
          <a:off x="381000" y="1015000"/>
          <a:ext cx="11430000" cy="5154840"/>
        </p:xfrm>
        <a:graphic>
          <a:graphicData uri="http://schemas.openxmlformats.org/drawingml/2006/table">
            <a:tbl>
              <a:tblPr firstRow="1"/>
              <a:tblGrid>
                <a:gridCol w="1950000">
                  <a:extLst>
                    <a:ext uri="{9D8B030D-6E8A-4147-A177-3AD203B41FA5}">
                      <a16:colId xmlns:a16="http://schemas.microsoft.com/office/drawing/2014/main" val="20000"/>
                    </a:ext>
                  </a:extLst>
                </a:gridCol>
                <a:gridCol w="3450000">
                  <a:extLst>
                    <a:ext uri="{9D8B030D-6E8A-4147-A177-3AD203B41FA5}">
                      <a16:colId xmlns:a16="http://schemas.microsoft.com/office/drawing/2014/main" val="20001"/>
                    </a:ext>
                  </a:extLst>
                </a:gridCol>
                <a:gridCol w="3150000">
                  <a:extLst>
                    <a:ext uri="{9D8B030D-6E8A-4147-A177-3AD203B41FA5}">
                      <a16:colId xmlns:a16="http://schemas.microsoft.com/office/drawing/2014/main" val="20002"/>
                    </a:ext>
                  </a:extLst>
                </a:gridCol>
                <a:gridCol w="2880000">
                  <a:extLst>
                    <a:ext uri="{9D8B030D-6E8A-4147-A177-3AD203B41FA5}">
                      <a16:colId xmlns:a16="http://schemas.microsoft.com/office/drawing/2014/main" val="20003"/>
                    </a:ext>
                  </a:extLst>
                </a:gridCol>
              </a:tblGrid>
              <a:tr h="300000">
                <a:tc>
                  <a:txBody>
                    <a:bodyPr/>
                    <a:lstStyle/>
                    <a:p>
                      <a:pPr marL="0" indent="0" algn="l">
                        <a:lnSpc>
                          <a:spcPct val="104000"/>
                        </a:lnSpc>
                        <a:spcBef>
                          <a:spcPts val="30"/>
                        </a:spcBef>
                        <a:buNone/>
                      </a:pPr>
                      <a:r>
                        <a:rPr lang="es" sz="1000" b="1" i="0" dirty="0">
                          <a:solidFill>
                            <a:srgbClr val="FFFFFF"/>
                          </a:solidFill>
                          <a:latin typeface="Graphik"/>
                          <a:cs typeface="Graphik"/>
                        </a:rPr>
                        <a:t>Subcapacidad</a:t>
                      </a:r>
                    </a:p>
                  </a:txBody>
                  <a:tcPr marL="82000" marR="82000" marT="38000" marB="38000" anchor="ctr">
                    <a:solidFill>
                      <a:srgbClr val="7500C0"/>
                    </a:solidFill>
                  </a:tcPr>
                </a:tc>
                <a:tc>
                  <a:txBody>
                    <a:bodyPr/>
                    <a:lstStyle/>
                    <a:p>
                      <a:pPr marL="0" indent="0" algn="l">
                        <a:lnSpc>
                          <a:spcPct val="104000"/>
                        </a:lnSpc>
                        <a:spcBef>
                          <a:spcPts val="30"/>
                        </a:spcBef>
                        <a:buNone/>
                      </a:pPr>
                      <a:r>
                        <a:rPr lang="es" sz="1000" b="1" i="0">
                          <a:solidFill>
                            <a:srgbClr val="FFFFFF"/>
                          </a:solidFill>
                          <a:latin typeface="Graphik"/>
                          <a:cs typeface="Graphik"/>
                        </a:rPr>
                        <a:t>Descripción</a:t>
                      </a:r>
                    </a:p>
                  </a:txBody>
                  <a:tcPr marL="82000" marR="82000" marT="38000" marB="38000" anchor="ctr">
                    <a:solidFill>
                      <a:srgbClr val="7500C0"/>
                    </a:solidFill>
                  </a:tcPr>
                </a:tc>
                <a:tc>
                  <a:txBody>
                    <a:bodyPr/>
                    <a:lstStyle/>
                    <a:p>
                      <a:pPr marL="0" indent="0" algn="l">
                        <a:lnSpc>
                          <a:spcPct val="104000"/>
                        </a:lnSpc>
                        <a:spcBef>
                          <a:spcPts val="30"/>
                        </a:spcBef>
                        <a:buNone/>
                      </a:pPr>
                      <a:r>
                        <a:rPr lang="es" sz="1000" b="1" i="0">
                          <a:solidFill>
                            <a:srgbClr val="FFFFFF"/>
                          </a:solidFill>
                          <a:latin typeface="Graphik"/>
                          <a:cs typeface="Graphik"/>
                        </a:rPr>
                        <a:t>Propósito</a:t>
                      </a:r>
                    </a:p>
                  </a:txBody>
                  <a:tcPr marL="82000" marR="82000" marT="38000" marB="38000" anchor="ctr">
                    <a:solidFill>
                      <a:srgbClr val="7500C0"/>
                    </a:solidFill>
                  </a:tcPr>
                </a:tc>
                <a:tc>
                  <a:txBody>
                    <a:bodyPr/>
                    <a:lstStyle/>
                    <a:p>
                      <a:pPr marL="0" indent="0" algn="l">
                        <a:lnSpc>
                          <a:spcPct val="104000"/>
                        </a:lnSpc>
                        <a:spcBef>
                          <a:spcPts val="30"/>
                        </a:spcBef>
                        <a:buNone/>
                      </a:pPr>
                      <a:r>
                        <a:rPr lang="es" sz="1000" b="1" i="0">
                          <a:solidFill>
                            <a:srgbClr val="FFFFFF"/>
                          </a:solidFill>
                          <a:latin typeface="Graphik"/>
                          <a:cs typeface="Graphik"/>
                        </a:rPr>
                        <a:t>Soluciones en Coppel</a:t>
                      </a:r>
                    </a:p>
                  </a:txBody>
                  <a:tcPr marL="82000" marR="82000" marT="38000" marB="38000" anchor="ctr">
                    <a:solidFill>
                      <a:srgbClr val="7500C0"/>
                    </a:solidFill>
                  </a:tcPr>
                </a:tc>
                <a:extLst>
                  <a:ext uri="{0D108BD9-81ED-4DB2-BD59-A6C34878D82A}">
                    <a16:rowId xmlns:a16="http://schemas.microsoft.com/office/drawing/2014/main" val="10000"/>
                  </a:ext>
                </a:extLst>
              </a:tr>
              <a:tr h="723650">
                <a:tc>
                  <a:txBody>
                    <a:bodyPr/>
                    <a:lstStyle/>
                    <a:p>
                      <a:pPr marL="0" indent="0" algn="l">
                        <a:lnSpc>
                          <a:spcPct val="104000"/>
                        </a:lnSpc>
                        <a:spcBef>
                          <a:spcPts val="30"/>
                        </a:spcBef>
                        <a:buNone/>
                      </a:pPr>
                      <a:r>
                        <a:rPr lang="es" sz="800" b="1" i="0" dirty="0">
                          <a:solidFill>
                            <a:srgbClr val="9B7BC7"/>
                          </a:solidFill>
                          <a:latin typeface="Graphik"/>
                          <a:cs typeface="Graphik"/>
                        </a:rPr>
                        <a:t>10.1  </a:t>
                      </a:r>
                      <a:r>
                        <a:rPr lang="es" sz="800" b="1" i="0" dirty="0">
                          <a:solidFill>
                            <a:srgbClr val="7500C0"/>
                          </a:solidFill>
                          <a:latin typeface="Graphik"/>
                          <a:cs typeface="Graphik"/>
                        </a:rPr>
                        <a:t>Servicios al Cliente y las partes</a:t>
                      </a:r>
                    </a:p>
                  </a:txBody>
                  <a:tcPr marL="82000" marR="82000" marT="38000" marB="38000" anchor="ctr">
                    <a:solidFill>
                      <a:srgbClr val="EFE7F7"/>
                    </a:solidFill>
                  </a:tcPr>
                </a:tc>
                <a:tc>
                  <a:txBody>
                    <a:bodyPr/>
                    <a:lstStyle/>
                    <a:p>
                      <a:pPr marL="0" indent="0" algn="l">
                        <a:lnSpc>
                          <a:spcPct val="108000"/>
                        </a:lnSpc>
                        <a:spcBef>
                          <a:spcPts val="30"/>
                        </a:spcBef>
                        <a:buNone/>
                      </a:pPr>
                      <a:r>
                        <a:rPr lang="es" sz="800" b="0" i="0" dirty="0">
                          <a:solidFill>
                            <a:srgbClr val="2B2B2B"/>
                          </a:solidFill>
                          <a:latin typeface="Graphik"/>
                          <a:cs typeface="Graphik"/>
                        </a:rPr>
                        <a:t>Servicios compartidos que proporcionan datos maestros de clientes y partes, relaciones y atributos derivados a todos los dominios y canales de producto.</a:t>
                      </a:r>
                    </a:p>
                  </a:txBody>
                  <a:tcPr marL="82000" marR="82000" marT="38000" marB="38000" anchor="ctr">
                    <a:solidFill>
                      <a:srgbClr val="FFFFFF"/>
                    </a:solidFill>
                  </a:tcPr>
                </a:tc>
                <a:tc>
                  <a:txBody>
                    <a:bodyPr/>
                    <a:lstStyle/>
                    <a:p>
                      <a:pPr marL="0" indent="0" algn="l">
                        <a:lnSpc>
                          <a:spcPct val="108000"/>
                        </a:lnSpc>
                        <a:spcBef>
                          <a:spcPts val="30"/>
                        </a:spcBef>
                        <a:buNone/>
                      </a:pPr>
                      <a:r>
                        <a:rPr lang="es" sz="800" b="0" i="0" dirty="0">
                          <a:solidFill>
                            <a:srgbClr val="444444"/>
                          </a:solidFill>
                          <a:latin typeface="Graphik"/>
                          <a:cs typeface="Graphik"/>
                        </a:rPr>
                        <a:t>Ofrece la visión única del cliente que los núcleos aislados no pueden ofrecer, y que toda personalización y ambición de un banco de uno presupone.</a:t>
                      </a:r>
                    </a:p>
                  </a:txBody>
                  <a:tcPr marL="82000" marR="82000" marT="38000" marB="38000" anchor="ctr">
                    <a:solidFill>
                      <a:srgbClr val="FFFFFF"/>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Golden Record</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Partido Temenos/CIF</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Informix/PISA Customer Master</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Incode KYC con INE/RENAPO</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Incorporación de Apolo</a:t>
                      </a:r>
                    </a:p>
                  </a:txBody>
                  <a:tcPr marL="82000" marR="82000" marT="38000" marB="38000" anchor="ctr">
                    <a:solidFill>
                      <a:srgbClr val="FFFFFF"/>
                    </a:solidFill>
                  </a:tcPr>
                </a:tc>
                <a:extLst>
                  <a:ext uri="{0D108BD9-81ED-4DB2-BD59-A6C34878D82A}">
                    <a16:rowId xmlns:a16="http://schemas.microsoft.com/office/drawing/2014/main" val="10001"/>
                  </a:ext>
                </a:extLst>
              </a:tr>
              <a:tr h="723650">
                <a:tc>
                  <a:txBody>
                    <a:bodyPr/>
                    <a:lstStyle/>
                    <a:p>
                      <a:pPr marL="0" indent="0" algn="l">
                        <a:lnSpc>
                          <a:spcPct val="104000"/>
                        </a:lnSpc>
                        <a:spcBef>
                          <a:spcPts val="30"/>
                        </a:spcBef>
                        <a:buNone/>
                      </a:pPr>
                      <a:r>
                        <a:rPr lang="es" sz="800" b="1" i="0" dirty="0">
                          <a:solidFill>
                            <a:srgbClr val="9B7BC7"/>
                          </a:solidFill>
                          <a:latin typeface="+mn-lt"/>
                          <a:cs typeface="Graphik"/>
                        </a:rPr>
                        <a:t>10.2 </a:t>
                      </a:r>
                      <a:r>
                        <a:rPr lang="es" sz="800" b="1" i="0" dirty="0">
                          <a:solidFill>
                            <a:srgbClr val="7500C0"/>
                          </a:solidFill>
                          <a:latin typeface="Graphik"/>
                          <a:cs typeface="Graphik"/>
                        </a:rPr>
                        <a:t>Productos y Servicios de Precios</a:t>
                      </a:r>
                    </a:p>
                  </a:txBody>
                  <a:tcPr marL="82000" marR="82000" marT="38000" marB="38000" anchor="ctr">
                    <a:solidFill>
                      <a:srgbClr val="E9DEF4"/>
                    </a:solidFill>
                  </a:tcPr>
                </a:tc>
                <a:tc>
                  <a:txBody>
                    <a:bodyPr/>
                    <a:lstStyle/>
                    <a:p>
                      <a:pPr marL="0" indent="0" algn="l">
                        <a:lnSpc>
                          <a:spcPct val="108000"/>
                        </a:lnSpc>
                        <a:spcBef>
                          <a:spcPts val="30"/>
                        </a:spcBef>
                        <a:buNone/>
                      </a:pPr>
                      <a:r>
                        <a:rPr lang="es" sz="800" b="0" i="0">
                          <a:solidFill>
                            <a:srgbClr val="2B2B2B"/>
                          </a:solidFill>
                          <a:latin typeface="Graphik"/>
                          <a:cs typeface="Graphik"/>
                        </a:rPr>
                        <a:t>Catálogo compartido de productos, términos, requisitos y servicios de cálculo de tarifas y precios utilizables por cualquier procesador o canal de productos.</a:t>
                      </a:r>
                    </a:p>
                  </a:txBody>
                  <a:tcPr marL="82000" marR="82000" marT="38000" marB="38000" anchor="ctr">
                    <a:solidFill>
                      <a:srgbClr val="F6F2FB"/>
                    </a:solidFill>
                  </a:tcPr>
                </a:tc>
                <a:tc>
                  <a:txBody>
                    <a:bodyPr/>
                    <a:lstStyle/>
                    <a:p>
                      <a:pPr marL="0" indent="0" algn="l">
                        <a:lnSpc>
                          <a:spcPct val="108000"/>
                        </a:lnSpc>
                        <a:spcBef>
                          <a:spcPts val="30"/>
                        </a:spcBef>
                        <a:buNone/>
                      </a:pPr>
                      <a:r>
                        <a:rPr lang="es" sz="800" b="0" i="0" dirty="0">
                          <a:solidFill>
                            <a:srgbClr val="444444"/>
                          </a:solidFill>
                          <a:latin typeface="Graphik"/>
                          <a:cs typeface="Graphik"/>
                        </a:rPr>
                        <a:t>Externalizar la definición del producto desde el núcleo es lo que permite lanzar nuevas propuestas sin un lanzamiento central, que es la principal fuente de ganancia en el tiempo de salida al mercado.</a:t>
                      </a:r>
                    </a:p>
                  </a:txBody>
                  <a:tcPr marL="82000" marR="82000" marT="38000" marB="38000" anchor="ctr">
                    <a:solidFill>
                      <a:srgbClr val="F6F2FB"/>
                    </a:solidFill>
                  </a:tcPr>
                </a:tc>
                <a:tc>
                  <a:txBody>
                    <a:bodyPr/>
                    <a:lstStyle/>
                    <a:p>
                      <a:pPr marL="150000" indent="-150000" algn="l">
                        <a:lnSpc>
                          <a:spcPct val="104000"/>
                        </a:lnSpc>
                        <a:spcBef>
                          <a:spcPts val="45"/>
                        </a:spcBef>
                        <a:buClr>
                          <a:srgbClr val="7500C0"/>
                        </a:buClr>
                        <a:buFont typeface="Arial"/>
                        <a:buChar char="▪"/>
                      </a:pPr>
                      <a:r>
                        <a:rPr lang="es" sz="700" b="0" i="0">
                          <a:solidFill>
                            <a:srgbClr val="4B2E83"/>
                          </a:solidFill>
                          <a:latin typeface="Graphik"/>
                          <a:cs typeface="Graphik"/>
                        </a:rPr>
                        <a:t>Temenos AA Framework y Catálogo de Productos</a:t>
                      </a:r>
                    </a:p>
                    <a:p>
                      <a:pPr marL="150000" indent="-150000" algn="l">
                        <a:lnSpc>
                          <a:spcPct val="104000"/>
                        </a:lnSpc>
                        <a:spcBef>
                          <a:spcPts val="45"/>
                        </a:spcBef>
                        <a:buClr>
                          <a:srgbClr val="7500C0"/>
                        </a:buClr>
                        <a:buFont typeface="Arial"/>
                        <a:buChar char="▪"/>
                      </a:pPr>
                      <a:r>
                        <a:rPr lang="es" sz="700" b="0" i="0">
                          <a:solidFill>
                            <a:srgbClr val="4B2E83"/>
                          </a:solidFill>
                          <a:latin typeface="Graphik"/>
                          <a:cs typeface="Graphik"/>
                        </a:rPr>
                        <a:t>Motor de interés</a:t>
                      </a:r>
                    </a:p>
                    <a:p>
                      <a:pPr marL="150000" indent="-150000" algn="l">
                        <a:lnSpc>
                          <a:spcPct val="104000"/>
                        </a:lnSpc>
                        <a:spcBef>
                          <a:spcPts val="45"/>
                        </a:spcBef>
                        <a:buClr>
                          <a:srgbClr val="7500C0"/>
                        </a:buClr>
                        <a:buFont typeface="Arial"/>
                        <a:buChar char="▪"/>
                      </a:pPr>
                      <a:r>
                        <a:rPr lang="es" sz="700" b="0" i="0">
                          <a:solidFill>
                            <a:srgbClr val="4B2E83"/>
                          </a:solidFill>
                          <a:latin typeface="Graphik"/>
                          <a:cs typeface="Graphik"/>
                        </a:rPr>
                        <a:t>Cargos</a:t>
                      </a:r>
                    </a:p>
                    <a:p>
                      <a:pPr marL="150000" indent="-150000" algn="l">
                        <a:lnSpc>
                          <a:spcPct val="104000"/>
                        </a:lnSpc>
                        <a:spcBef>
                          <a:spcPts val="45"/>
                        </a:spcBef>
                        <a:buClr>
                          <a:srgbClr val="7500C0"/>
                        </a:buClr>
                        <a:buFont typeface="Arial"/>
                        <a:buChar char="▪"/>
                      </a:pPr>
                      <a:r>
                        <a:rPr lang="es" sz="700" b="0" i="0">
                          <a:solidFill>
                            <a:srgbClr val="4B2E83"/>
                          </a:solidFill>
                          <a:latin typeface="Graphik"/>
                          <a:cs typeface="Graphik"/>
                        </a:rPr>
                        <a:t>Configuración del producto SmartVista</a:t>
                      </a:r>
                    </a:p>
                    <a:p>
                      <a:pPr marL="150000" indent="-150000" algn="l">
                        <a:lnSpc>
                          <a:spcPct val="104000"/>
                        </a:lnSpc>
                        <a:spcBef>
                          <a:spcPts val="45"/>
                        </a:spcBef>
                        <a:buClr>
                          <a:srgbClr val="7500C0"/>
                        </a:buClr>
                        <a:buFont typeface="Arial"/>
                        <a:buChar char="▪"/>
                      </a:pPr>
                      <a:r>
                        <a:rPr lang="es" sz="700" b="0" i="0">
                          <a:solidFill>
                            <a:srgbClr val="4B2E83"/>
                          </a:solidFill>
                          <a:latin typeface="Graphik"/>
                          <a:cs typeface="Graphik"/>
                        </a:rPr>
                        <a:t>BRM para reglas de precios/riesgo</a:t>
                      </a:r>
                    </a:p>
                  </a:txBody>
                  <a:tcPr marL="82000" marR="82000" marT="38000" marB="38000" anchor="ctr">
                    <a:solidFill>
                      <a:srgbClr val="F6F2FB"/>
                    </a:solidFill>
                  </a:tcPr>
                </a:tc>
                <a:extLst>
                  <a:ext uri="{0D108BD9-81ED-4DB2-BD59-A6C34878D82A}">
                    <a16:rowId xmlns:a16="http://schemas.microsoft.com/office/drawing/2014/main" val="10002"/>
                  </a:ext>
                </a:extLst>
              </a:tr>
              <a:tr h="975110">
                <a:tc>
                  <a:txBody>
                    <a:bodyPr/>
                    <a:lstStyle/>
                    <a:p>
                      <a:pPr marL="0" indent="0" algn="l">
                        <a:lnSpc>
                          <a:spcPct val="104000"/>
                        </a:lnSpc>
                        <a:spcBef>
                          <a:spcPts val="30"/>
                        </a:spcBef>
                        <a:buNone/>
                      </a:pPr>
                      <a:r>
                        <a:rPr lang="es" sz="800" b="1" i="0" dirty="0">
                          <a:solidFill>
                            <a:srgbClr val="9B7BC7"/>
                          </a:solidFill>
                          <a:latin typeface="+mn-lt"/>
                          <a:cs typeface="Graphik"/>
                        </a:rPr>
                        <a:t>10.3  </a:t>
                      </a:r>
                      <a:r>
                        <a:rPr lang="es" sz="800" b="1" i="0" dirty="0">
                          <a:solidFill>
                            <a:srgbClr val="7500C0"/>
                          </a:solidFill>
                          <a:latin typeface="Graphik"/>
                          <a:cs typeface="Graphik"/>
                        </a:rPr>
                        <a:t>Servicios de Límites y Riesgos</a:t>
                      </a:r>
                    </a:p>
                  </a:txBody>
                  <a:tcPr marL="82000" marR="82000" marT="38000" marB="38000" anchor="ctr">
                    <a:solidFill>
                      <a:srgbClr val="EFE7F7"/>
                    </a:solidFill>
                  </a:tcPr>
                </a:tc>
                <a:tc>
                  <a:txBody>
                    <a:bodyPr/>
                    <a:lstStyle/>
                    <a:p>
                      <a:pPr marL="0" indent="0" algn="l">
                        <a:lnSpc>
                          <a:spcPct val="108000"/>
                        </a:lnSpc>
                        <a:spcBef>
                          <a:spcPts val="30"/>
                        </a:spcBef>
                        <a:buNone/>
                      </a:pPr>
                      <a:r>
                        <a:rPr lang="es" sz="800" b="0" i="0" dirty="0">
                          <a:solidFill>
                            <a:srgbClr val="2B2B2B"/>
                          </a:solidFill>
                          <a:latin typeface="Graphik"/>
                          <a:cs typeface="Graphik"/>
                        </a:rPr>
                        <a:t>Definición de límite compartido, control de cuentas y seguimiento de consumo, y servicios de evaluación de riesgos y crédito que se pueden llamar desde cualquier journey.</a:t>
                      </a:r>
                    </a:p>
                  </a:txBody>
                  <a:tcPr marL="82000" marR="82000" marT="38000" marB="38000" anchor="ctr">
                    <a:solidFill>
                      <a:srgbClr val="FFFFFF"/>
                    </a:solidFill>
                  </a:tcPr>
                </a:tc>
                <a:tc>
                  <a:txBody>
                    <a:bodyPr/>
                    <a:lstStyle/>
                    <a:p>
                      <a:pPr marL="0" indent="0" algn="l">
                        <a:lnSpc>
                          <a:spcPct val="108000"/>
                        </a:lnSpc>
                        <a:spcBef>
                          <a:spcPts val="30"/>
                        </a:spcBef>
                        <a:buNone/>
                      </a:pPr>
                      <a:r>
                        <a:rPr lang="es" sz="800" b="0" i="0" dirty="0">
                          <a:solidFill>
                            <a:srgbClr val="444444"/>
                          </a:solidFill>
                          <a:latin typeface="Graphik"/>
                          <a:cs typeface="Graphik"/>
                        </a:rPr>
                        <a:t>Coloca los controles de riesgo en la capa de interoperabilidad para que se apliquen de forma uniforme independientemente de qué núcleo o canal origina la transacción.</a:t>
                      </a:r>
                    </a:p>
                  </a:txBody>
                  <a:tcPr marL="82000" marR="82000" marT="38000" marB="38000" anchor="ctr">
                    <a:solidFill>
                      <a:srgbClr val="FFFFFF"/>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BRM</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Merit Crediticio</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Límites de Transact</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Risklogic</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Integraciones Buró/SIC</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Control de fraude/riesgo en SmartVista</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Colecciones PAST DUE</a:t>
                      </a:r>
                    </a:p>
                  </a:txBody>
                  <a:tcPr marL="82000" marR="82000" marT="38000" marB="38000" anchor="ctr">
                    <a:solidFill>
                      <a:srgbClr val="FFFFFF"/>
                    </a:solidFill>
                  </a:tcPr>
                </a:tc>
                <a:extLst>
                  <a:ext uri="{0D108BD9-81ED-4DB2-BD59-A6C34878D82A}">
                    <a16:rowId xmlns:a16="http://schemas.microsoft.com/office/drawing/2014/main" val="10003"/>
                  </a:ext>
                </a:extLst>
              </a:tr>
              <a:tr h="723650">
                <a:tc>
                  <a:txBody>
                    <a:bodyPr/>
                    <a:lstStyle/>
                    <a:p>
                      <a:pPr marL="0" indent="0" algn="l">
                        <a:lnSpc>
                          <a:spcPct val="104000"/>
                        </a:lnSpc>
                        <a:spcBef>
                          <a:spcPts val="30"/>
                        </a:spcBef>
                        <a:buNone/>
                      </a:pPr>
                      <a:r>
                        <a:rPr lang="es" sz="800" b="1" i="0" dirty="0">
                          <a:solidFill>
                            <a:srgbClr val="9B7BC7"/>
                          </a:solidFill>
                          <a:latin typeface="+mn-lt"/>
                          <a:cs typeface="Graphik"/>
                        </a:rPr>
                        <a:t>10.4  </a:t>
                      </a:r>
                      <a:r>
                        <a:rPr lang="es" sz="800" b="1" i="0" dirty="0">
                          <a:solidFill>
                            <a:srgbClr val="7500C0"/>
                          </a:solidFill>
                          <a:latin typeface="Graphik"/>
                          <a:cs typeface="Graphik"/>
                        </a:rPr>
                        <a:t>Servicios financieros y contables</a:t>
                      </a:r>
                    </a:p>
                  </a:txBody>
                  <a:tcPr marL="82000" marR="82000" marT="38000" marB="38000" anchor="ctr">
                    <a:solidFill>
                      <a:srgbClr val="E9DEF4"/>
                    </a:solidFill>
                  </a:tcPr>
                </a:tc>
                <a:tc>
                  <a:txBody>
                    <a:bodyPr/>
                    <a:lstStyle/>
                    <a:p>
                      <a:pPr marL="0" indent="0" algn="l">
                        <a:lnSpc>
                          <a:spcPct val="108000"/>
                        </a:lnSpc>
                        <a:spcBef>
                          <a:spcPts val="30"/>
                        </a:spcBef>
                        <a:buNone/>
                      </a:pPr>
                      <a:r>
                        <a:rPr lang="es" sz="800" b="0" i="0" dirty="0">
                          <a:solidFill>
                            <a:srgbClr val="2B2B2B"/>
                          </a:solidFill>
                          <a:latin typeface="Graphik"/>
                          <a:cs typeface="Graphik"/>
                        </a:rPr>
                        <a:t>Generación de eventos contables compartidos y publicación de libros mayores, conversión de divisas y servicios de ejecución de pagos utilizados entre dominios de producto.</a:t>
                      </a:r>
                    </a:p>
                  </a:txBody>
                  <a:tcPr marL="82000" marR="82000" marT="38000" marB="38000" anchor="ctr">
                    <a:solidFill>
                      <a:srgbClr val="F6F2FB"/>
                    </a:solidFill>
                  </a:tcPr>
                </a:tc>
                <a:tc>
                  <a:txBody>
                    <a:bodyPr/>
                    <a:lstStyle/>
                    <a:p>
                      <a:pPr marL="0" indent="0" algn="l">
                        <a:lnSpc>
                          <a:spcPct val="108000"/>
                        </a:lnSpc>
                        <a:spcBef>
                          <a:spcPts val="30"/>
                        </a:spcBef>
                        <a:buNone/>
                      </a:pPr>
                      <a:r>
                        <a:rPr lang="es" sz="800" b="0" i="0">
                          <a:solidFill>
                            <a:srgbClr val="444444"/>
                          </a:solidFill>
                          <a:latin typeface="Graphik"/>
                          <a:cs typeface="Graphik"/>
                        </a:rPr>
                        <a:t>Preserva la integridad financiera y una verdad contable mientras el entorno de procesamiento se descompone y se reemplaza parcialmente.</a:t>
                      </a:r>
                    </a:p>
                  </a:txBody>
                  <a:tcPr marL="82000" marR="82000" marT="38000" marB="38000" anchor="ctr">
                    <a:solidFill>
                      <a:srgbClr val="F6F2FB"/>
                    </a:solidFill>
                  </a:tcPr>
                </a:tc>
                <a:tc>
                  <a:txBody>
                    <a:bodyPr/>
                    <a:lstStyle/>
                    <a:p>
                      <a:pPr marL="150000" indent="-150000" algn="l">
                        <a:lnSpc>
                          <a:spcPct val="104000"/>
                        </a:lnSpc>
                        <a:spcBef>
                          <a:spcPts val="45"/>
                        </a:spcBef>
                        <a:buClr>
                          <a:srgbClr val="7500C0"/>
                        </a:buClr>
                        <a:buFont typeface="Arial"/>
                        <a:buChar char="▪"/>
                      </a:pPr>
                      <a:r>
                        <a:rPr lang="es" sz="700" b="0" i="0">
                          <a:solidFill>
                            <a:srgbClr val="4B2E83"/>
                          </a:solidFill>
                          <a:latin typeface="Graphik"/>
                          <a:cs typeface="Graphik"/>
                        </a:rPr>
                        <a:t>Realizar transacciones de GL/Contabilidad y PRD. DES. CONTABILIDAD</a:t>
                      </a:r>
                    </a:p>
                    <a:p>
                      <a:pPr marL="150000" indent="-150000" algn="l">
                        <a:lnSpc>
                          <a:spcPct val="104000"/>
                        </a:lnSpc>
                        <a:spcBef>
                          <a:spcPts val="45"/>
                        </a:spcBef>
                        <a:buClr>
                          <a:srgbClr val="7500C0"/>
                        </a:buClr>
                        <a:buFont typeface="Arial"/>
                        <a:buChar char="▪"/>
                      </a:pPr>
                      <a:r>
                        <a:rPr lang="es" sz="700" b="0" i="0">
                          <a:solidFill>
                            <a:srgbClr val="4B2E83"/>
                          </a:solidFill>
                          <a:latin typeface="Graphik"/>
                          <a:cs typeface="Graphik"/>
                        </a:rPr>
                        <a:t>Transferencia de fondos/FT</a:t>
                      </a:r>
                    </a:p>
                    <a:p>
                      <a:pPr marL="150000" indent="-150000" algn="l">
                        <a:lnSpc>
                          <a:spcPct val="104000"/>
                        </a:lnSpc>
                        <a:spcBef>
                          <a:spcPts val="45"/>
                        </a:spcBef>
                        <a:buClr>
                          <a:srgbClr val="7500C0"/>
                        </a:buClr>
                        <a:buFont typeface="Arial"/>
                        <a:buChar char="▪"/>
                      </a:pPr>
                      <a:r>
                        <a:rPr lang="es" sz="700" b="0" i="0">
                          <a:solidFill>
                            <a:srgbClr val="4B2E83"/>
                          </a:solidFill>
                          <a:latin typeface="Graphik"/>
                          <a:cs typeface="Graphik"/>
                        </a:rPr>
                        <a:t>Hub de Pagos/SPEI</a:t>
                      </a:r>
                    </a:p>
                    <a:p>
                      <a:pPr marL="150000" indent="-150000" algn="l">
                        <a:lnSpc>
                          <a:spcPct val="104000"/>
                        </a:lnSpc>
                        <a:spcBef>
                          <a:spcPts val="45"/>
                        </a:spcBef>
                        <a:buClr>
                          <a:srgbClr val="7500C0"/>
                        </a:buClr>
                        <a:buFont typeface="Arial"/>
                        <a:buChar char="▪"/>
                      </a:pPr>
                      <a:r>
                        <a:rPr lang="es" sz="700" b="0" i="0">
                          <a:solidFill>
                            <a:srgbClr val="4B2E83"/>
                          </a:solidFill>
                          <a:latin typeface="Graphik"/>
                          <a:cs typeface="Graphik"/>
                        </a:rPr>
                        <a:t>Pagos SmartVista</a:t>
                      </a:r>
                    </a:p>
                    <a:p>
                      <a:pPr marL="150000" indent="-150000" algn="l">
                        <a:lnSpc>
                          <a:spcPct val="104000"/>
                        </a:lnSpc>
                        <a:spcBef>
                          <a:spcPts val="45"/>
                        </a:spcBef>
                        <a:buClr>
                          <a:srgbClr val="7500C0"/>
                        </a:buClr>
                        <a:buFont typeface="Arial"/>
                        <a:buChar char="▪"/>
                      </a:pPr>
                      <a:r>
                        <a:rPr lang="es" sz="700" b="0" i="0">
                          <a:solidFill>
                            <a:srgbClr val="4B2E83"/>
                          </a:solidFill>
                          <a:latin typeface="Graphik"/>
                          <a:cs typeface="Graphik"/>
                        </a:rPr>
                        <a:t>Libro mayor PISA durante la convivencia</a:t>
                      </a:r>
                    </a:p>
                  </a:txBody>
                  <a:tcPr marL="82000" marR="82000" marT="38000" marB="38000" anchor="ctr">
                    <a:solidFill>
                      <a:srgbClr val="F6F2FB"/>
                    </a:solidFill>
                  </a:tcPr>
                </a:tc>
                <a:extLst>
                  <a:ext uri="{0D108BD9-81ED-4DB2-BD59-A6C34878D82A}">
                    <a16:rowId xmlns:a16="http://schemas.microsoft.com/office/drawing/2014/main" val="10004"/>
                  </a:ext>
                </a:extLst>
              </a:tr>
              <a:tr h="597920">
                <a:tc>
                  <a:txBody>
                    <a:bodyPr/>
                    <a:lstStyle/>
                    <a:p>
                      <a:pPr marL="0" indent="0" algn="l">
                        <a:lnSpc>
                          <a:spcPct val="104000"/>
                        </a:lnSpc>
                        <a:spcBef>
                          <a:spcPts val="30"/>
                        </a:spcBef>
                        <a:buNone/>
                      </a:pPr>
                      <a:r>
                        <a:rPr lang="es" sz="800" b="1" i="0" dirty="0">
                          <a:solidFill>
                            <a:srgbClr val="9B7BC7"/>
                          </a:solidFill>
                          <a:latin typeface="+mn-lt"/>
                          <a:cs typeface="Graphik"/>
                        </a:rPr>
                        <a:t>10.5  </a:t>
                      </a:r>
                      <a:r>
                        <a:rPr lang="es" sz="800" b="1" i="0" dirty="0">
                          <a:solidFill>
                            <a:srgbClr val="7500C0"/>
                          </a:solidFill>
                          <a:latin typeface="Graphik"/>
                          <a:cs typeface="Graphik"/>
                        </a:rPr>
                        <a:t>Servicios de Documentos y Contenidos</a:t>
                      </a:r>
                    </a:p>
                  </a:txBody>
                  <a:tcPr marL="82000" marR="82000" marT="38000" marB="38000" anchor="ctr">
                    <a:solidFill>
                      <a:srgbClr val="EFE7F7"/>
                    </a:solidFill>
                  </a:tcPr>
                </a:tc>
                <a:tc>
                  <a:txBody>
                    <a:bodyPr/>
                    <a:lstStyle/>
                    <a:p>
                      <a:pPr marL="0" indent="0" algn="l">
                        <a:lnSpc>
                          <a:spcPct val="108000"/>
                        </a:lnSpc>
                        <a:spcBef>
                          <a:spcPts val="30"/>
                        </a:spcBef>
                        <a:buNone/>
                      </a:pPr>
                      <a:r>
                        <a:rPr lang="es" sz="800" b="0" i="0" dirty="0">
                          <a:solidFill>
                            <a:srgbClr val="2B2B2B"/>
                          </a:solidFill>
                          <a:latin typeface="Graphik"/>
                          <a:cs typeface="Graphik"/>
                        </a:rPr>
                        <a:t>Servicios compartidos de generación, captura, almacenamiento, recuperación y retención de documentos que apoyan la documentación del cliente y regulatoria en todos los productos.</a:t>
                      </a:r>
                    </a:p>
                  </a:txBody>
                  <a:tcPr marL="82000" marR="82000" marT="38000" marB="38000" anchor="ctr">
                    <a:solidFill>
                      <a:srgbClr val="FFFFFF"/>
                    </a:solidFill>
                  </a:tcPr>
                </a:tc>
                <a:tc>
                  <a:txBody>
                    <a:bodyPr/>
                    <a:lstStyle/>
                    <a:p>
                      <a:pPr marL="0" indent="0" algn="l">
                        <a:lnSpc>
                          <a:spcPct val="108000"/>
                        </a:lnSpc>
                        <a:spcBef>
                          <a:spcPts val="30"/>
                        </a:spcBef>
                        <a:buNone/>
                      </a:pPr>
                      <a:r>
                        <a:rPr lang="es" sz="800" b="0" i="0" dirty="0">
                          <a:solidFill>
                            <a:srgbClr val="444444"/>
                          </a:solidFill>
                          <a:latin typeface="Graphik"/>
                          <a:cs typeface="Graphik"/>
                        </a:rPr>
                        <a:t>Elimina la gestión de documentos por producto, que es una de las funciones más duplicadas y menos diferenciatorias en un entorno bancario.</a:t>
                      </a:r>
                    </a:p>
                  </a:txBody>
                  <a:tcPr marL="82000" marR="82000" marT="38000" marB="38000" anchor="ctr">
                    <a:solidFill>
                      <a:srgbClr val="FFFFFF"/>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OnBase de Hyland para archivos digitales</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Captura de documentos Modyo/Apolo</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Amazon Pinpoint para WelcomeKit</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Captura de documentos en Incode</a:t>
                      </a:r>
                    </a:p>
                  </a:txBody>
                  <a:tcPr marL="82000" marR="82000" marT="38000" marB="38000" anchor="ctr">
                    <a:solidFill>
                      <a:srgbClr val="FFFFFF"/>
                    </a:solidFill>
                  </a:tcPr>
                </a:tc>
                <a:extLst>
                  <a:ext uri="{0D108BD9-81ED-4DB2-BD59-A6C34878D82A}">
                    <a16:rowId xmlns:a16="http://schemas.microsoft.com/office/drawing/2014/main" val="10005"/>
                  </a:ext>
                </a:extLst>
              </a:tr>
              <a:tr h="1100840">
                <a:tc>
                  <a:txBody>
                    <a:bodyPr/>
                    <a:lstStyle/>
                    <a:p>
                      <a:pPr marL="0" indent="0" algn="l">
                        <a:lnSpc>
                          <a:spcPct val="104000"/>
                        </a:lnSpc>
                        <a:spcBef>
                          <a:spcPts val="30"/>
                        </a:spcBef>
                        <a:buNone/>
                      </a:pPr>
                      <a:r>
                        <a:rPr lang="es" sz="800" b="1" i="0">
                          <a:solidFill>
                            <a:srgbClr val="9B7BC7"/>
                          </a:solidFill>
                          <a:latin typeface="+mn-lt"/>
                          <a:cs typeface="Graphik"/>
                        </a:rPr>
                        <a:t>10.6  </a:t>
                      </a:r>
                      <a:r>
                        <a:rPr lang="es" sz="800" b="1" i="0">
                          <a:solidFill>
                            <a:srgbClr val="7500C0"/>
                          </a:solidFill>
                          <a:latin typeface="Graphik"/>
                          <a:cs typeface="Graphik"/>
                        </a:rPr>
                        <a:t>Control y Servicios de Confianza</a:t>
                      </a:r>
                    </a:p>
                  </a:txBody>
                  <a:tcPr marL="82000" marR="82000" marT="38000" marB="38000" anchor="ctr">
                    <a:solidFill>
                      <a:srgbClr val="E9DEF4"/>
                    </a:solidFill>
                  </a:tcPr>
                </a:tc>
                <a:tc>
                  <a:txBody>
                    <a:bodyPr/>
                    <a:lstStyle/>
                    <a:p>
                      <a:pPr marL="0" indent="0" algn="l">
                        <a:lnSpc>
                          <a:spcPct val="108000"/>
                        </a:lnSpc>
                        <a:spcBef>
                          <a:spcPts val="30"/>
                        </a:spcBef>
                        <a:buNone/>
                      </a:pPr>
                      <a:r>
                        <a:rPr lang="es" sz="800" b="0" i="0" dirty="0">
                          <a:solidFill>
                            <a:srgbClr val="2B2B2B"/>
                          </a:solidFill>
                          <a:latin typeface="Graphik"/>
                          <a:cs typeface="Graphik"/>
                        </a:rPr>
                        <a:t>Servicios de control compartido aplicados a lo largo de los journeys empresariales: aprobaciones y jerarquías de autorizaciones, y firma y verificación respaldadas por HSM de instrucciones empresariales.</a:t>
                      </a:r>
                    </a:p>
                  </a:txBody>
                  <a:tcPr marL="82000" marR="82000" marT="38000" marB="38000" anchor="ctr">
                    <a:solidFill>
                      <a:srgbClr val="F6F2FB"/>
                    </a:solidFill>
                  </a:tcPr>
                </a:tc>
                <a:tc>
                  <a:txBody>
                    <a:bodyPr/>
                    <a:lstStyle/>
                    <a:p>
                      <a:pPr marL="0" indent="0" algn="l">
                        <a:lnSpc>
                          <a:spcPct val="108000"/>
                        </a:lnSpc>
                        <a:spcBef>
                          <a:spcPts val="30"/>
                        </a:spcBef>
                        <a:buNone/>
                      </a:pPr>
                      <a:r>
                        <a:rPr lang="es" sz="800" b="0" i="0" dirty="0">
                          <a:solidFill>
                            <a:srgbClr val="444444"/>
                          </a:solidFill>
                          <a:latin typeface="Graphik"/>
                          <a:cs typeface="Graphik"/>
                        </a:rPr>
                        <a:t>Convierte los controles obligatorios en un servicio reutilizable invocado por cualquier journey, de modo que la potencia del control no depende del producto o canal que los implemente.</a:t>
                      </a:r>
                    </a:p>
                  </a:txBody>
                  <a:tcPr marL="82000" marR="82000" marT="38000" marB="38000" anchor="ctr">
                    <a:solidFill>
                      <a:srgbClr val="F6F2FB"/>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Golden Record</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Transact Party/CIF/AA/Catálogo de productos/GL/FT</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SmartVista</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OnBase</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Incode</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Hub de Pagos</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BRM</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Risklogic</a:t>
                      </a:r>
                    </a:p>
                  </a:txBody>
                  <a:tcPr marL="82000" marR="82000" marT="38000" marB="38000" anchor="ctr">
                    <a:solidFill>
                      <a:srgbClr val="F6F2FB"/>
                    </a:solidFill>
                  </a:tcPr>
                </a:tc>
                <a:extLst>
                  <a:ext uri="{0D108BD9-81ED-4DB2-BD59-A6C34878D82A}">
                    <a16:rowId xmlns:a16="http://schemas.microsoft.com/office/drawing/2014/main" val="10006"/>
                  </a:ext>
                </a:extLst>
              </a:tr>
            </a:tbl>
          </a:graphicData>
        </a:graphic>
      </p:graphicFrame>
      <p:sp>
        <p:nvSpPr>
          <p:cNvPr id="6" name="TextBox 5">
            <a:extLst>
              <a:ext uri="{FF2B5EF4-FFF2-40B4-BE49-F238E27FC236}">
                <a16:creationId xmlns:a16="http://schemas.microsoft.com/office/drawing/2014/main" id="{47A16FD5-791F-329F-0C58-617978CEB219}"/>
              </a:ext>
            </a:extLst>
          </p:cNvPr>
          <p:cNvSpPr txBox="1"/>
          <p:nvPr>
            <p:extLst>
              <p:ext uri="{1162E1C5-73C7-4A58-AE30-91384D911F3F}">
                <p184:classification xmlns:p184="http://schemas.microsoft.com/office/powerpoint/2018/4/main" val="hdr"/>
              </p:ext>
            </p:extLst>
          </p:nvPr>
        </p:nvSpPr>
        <p:spPr>
          <a:xfrm>
            <a:off x="379000" y="78170"/>
            <a:ext cx="11432000" cy="154830"/>
          </a:xfrm>
          <a:prstGeom prst="rect">
            <a:avLst/>
          </a:prstGeom>
        </p:spPr>
        <p:txBody>
          <a:bodyPr horzOverflow="overflow"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000" b="0" i="0" u="none" strike="noStrike" kern="1200" cap="none" spc="0" normalizeH="0" baseline="0" noProof="0">
                <a:ln>
                  <a:noFill/>
                </a:ln>
                <a:solidFill>
                  <a:srgbClr val="000000"/>
                </a:solidFill>
                <a:effectLst/>
                <a:uLnTx/>
                <a:uFillTx/>
                <a:latin typeface="Graphik (Body)"/>
                <a:ea typeface="+mn-ea"/>
                <a:cs typeface="Calibri" panose="020F0502020204030204" pitchFamily="34" charset="0"/>
              </a:rPr>
              <a:t>*** Confidencial - Solo para uso interno de la empresa ***</a:t>
            </a:r>
          </a:p>
        </p:txBody>
      </p:sp>
      <p:grpSp>
        <p:nvGrpSpPr>
          <p:cNvPr id="8" name="Group 7">
            <a:extLst>
              <a:ext uri="{FF2B5EF4-FFF2-40B4-BE49-F238E27FC236}">
                <a16:creationId xmlns:a16="http://schemas.microsoft.com/office/drawing/2014/main" id="{8BEFC77D-DF89-2B5B-B2A2-A1817D2E3E56}"/>
              </a:ext>
            </a:extLst>
          </p:cNvPr>
          <p:cNvGrpSpPr/>
          <p:nvPr/>
        </p:nvGrpSpPr>
        <p:grpSpPr>
          <a:xfrm>
            <a:off x="717042" y="6191083"/>
            <a:ext cx="4001014" cy="631639"/>
            <a:chOff x="717042" y="6191083"/>
            <a:chExt cx="4001014" cy="631639"/>
          </a:xfrm>
        </p:grpSpPr>
        <p:sp>
          <p:nvSpPr>
            <p:cNvPr id="10" name="Rectangle 9">
              <a:extLst>
                <a:ext uri="{FF2B5EF4-FFF2-40B4-BE49-F238E27FC236}">
                  <a16:creationId xmlns:a16="http://schemas.microsoft.com/office/drawing/2014/main" id="{7C39E3D0-651A-1975-A3BC-614800B9BCFB}"/>
                </a:ext>
              </a:extLst>
            </p:cNvPr>
            <p:cNvSpPr>
              <a:spLocks noChangeAspect="1"/>
            </p:cNvSpPr>
            <p:nvPr/>
          </p:nvSpPr>
          <p:spPr>
            <a:xfrm>
              <a:off x="1936749" y="6410745"/>
              <a:ext cx="774645" cy="202427"/>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GAP</a:t>
              </a:r>
            </a:p>
          </p:txBody>
        </p:sp>
        <p:sp>
          <p:nvSpPr>
            <p:cNvPr id="12" name="Rectangle 11">
              <a:extLst>
                <a:ext uri="{FF2B5EF4-FFF2-40B4-BE49-F238E27FC236}">
                  <a16:creationId xmlns:a16="http://schemas.microsoft.com/office/drawing/2014/main" id="{E51C61B2-5986-2B72-D138-FC9B30F30ED9}"/>
                </a:ext>
              </a:extLst>
            </p:cNvPr>
            <p:cNvSpPr>
              <a:spLocks noChangeAspect="1"/>
            </p:cNvSpPr>
            <p:nvPr/>
          </p:nvSpPr>
          <p:spPr>
            <a:xfrm>
              <a:off x="1936749" y="6191083"/>
              <a:ext cx="774645" cy="202427"/>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Objetivo</a:t>
              </a:r>
            </a:p>
          </p:txBody>
        </p:sp>
        <p:sp>
          <p:nvSpPr>
            <p:cNvPr id="14" name="Rectangle 13">
              <a:extLst>
                <a:ext uri="{FF2B5EF4-FFF2-40B4-BE49-F238E27FC236}">
                  <a16:creationId xmlns:a16="http://schemas.microsoft.com/office/drawing/2014/main" id="{CFD72043-DAA0-638E-905D-5731700CF1FF}"/>
                </a:ext>
              </a:extLst>
            </p:cNvPr>
            <p:cNvSpPr>
              <a:spLocks noChangeAspect="1"/>
            </p:cNvSpPr>
            <p:nvPr/>
          </p:nvSpPr>
          <p:spPr>
            <a:xfrm>
              <a:off x="1936749" y="6620295"/>
              <a:ext cx="774645" cy="202427"/>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Descartar</a:t>
              </a:r>
            </a:p>
          </p:txBody>
        </p:sp>
        <p:sp>
          <p:nvSpPr>
            <p:cNvPr id="16" name="Oval 15">
              <a:extLst>
                <a:ext uri="{FF2B5EF4-FFF2-40B4-BE49-F238E27FC236}">
                  <a16:creationId xmlns:a16="http://schemas.microsoft.com/office/drawing/2014/main" id="{610590B2-56A2-B10F-D3FB-F551C4D646E3}"/>
                </a:ext>
              </a:extLst>
            </p:cNvPr>
            <p:cNvSpPr>
              <a:spLocks noChangeAspect="1"/>
            </p:cNvSpPr>
            <p:nvPr/>
          </p:nvSpPr>
          <p:spPr>
            <a:xfrm>
              <a:off x="4077214" y="6226238"/>
              <a:ext cx="640842" cy="184507"/>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700"/>
                <a:t>Alto</a:t>
              </a:r>
            </a:p>
          </p:txBody>
        </p:sp>
        <p:sp>
          <p:nvSpPr>
            <p:cNvPr id="18" name="Rectangle 17">
              <a:extLst>
                <a:ext uri="{FF2B5EF4-FFF2-40B4-BE49-F238E27FC236}">
                  <a16:creationId xmlns:a16="http://schemas.microsoft.com/office/drawing/2014/main" id="{F0A2D9CD-C2DD-29E6-9380-EF6815BE4B34}"/>
                </a:ext>
              </a:extLst>
            </p:cNvPr>
            <p:cNvSpPr>
              <a:spLocks noChangeAspect="1"/>
            </p:cNvSpPr>
            <p:nvPr/>
          </p:nvSpPr>
          <p:spPr>
            <a:xfrm>
              <a:off x="717042" y="6283336"/>
              <a:ext cx="1022032" cy="455578"/>
            </a:xfrm>
            <a:prstGeom prst="rect">
              <a:avLst/>
            </a:prstGeom>
            <a:solidFill>
              <a:srgbClr val="7500C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Evaluación de capacidades</a:t>
              </a:r>
            </a:p>
          </p:txBody>
        </p:sp>
        <p:sp>
          <p:nvSpPr>
            <p:cNvPr id="20" name="Rectangle 19">
              <a:extLst>
                <a:ext uri="{FF2B5EF4-FFF2-40B4-BE49-F238E27FC236}">
                  <a16:creationId xmlns:a16="http://schemas.microsoft.com/office/drawing/2014/main" id="{6287D80F-4125-8FEA-1718-A7415280D208}"/>
                </a:ext>
              </a:extLst>
            </p:cNvPr>
            <p:cNvSpPr>
              <a:spLocks noChangeAspect="1"/>
            </p:cNvSpPr>
            <p:nvPr/>
          </p:nvSpPr>
          <p:spPr>
            <a:xfrm>
              <a:off x="2816387" y="6282396"/>
              <a:ext cx="1022032" cy="455578"/>
            </a:xfrm>
            <a:prstGeom prst="rect">
              <a:avLst/>
            </a:prstGeom>
            <a:solidFill>
              <a:srgbClr val="7500C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Prioridad</a:t>
              </a:r>
            </a:p>
          </p:txBody>
        </p:sp>
        <p:sp>
          <p:nvSpPr>
            <p:cNvPr id="21" name="Oval 20">
              <a:extLst>
                <a:ext uri="{FF2B5EF4-FFF2-40B4-BE49-F238E27FC236}">
                  <a16:creationId xmlns:a16="http://schemas.microsoft.com/office/drawing/2014/main" id="{22629DFD-4497-38C2-CF56-0736D85B3659}"/>
                </a:ext>
              </a:extLst>
            </p:cNvPr>
            <p:cNvSpPr>
              <a:spLocks noChangeAspect="1"/>
            </p:cNvSpPr>
            <p:nvPr/>
          </p:nvSpPr>
          <p:spPr>
            <a:xfrm>
              <a:off x="4077214" y="6435788"/>
              <a:ext cx="640842" cy="184507"/>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700"/>
                <a:t>Medio</a:t>
              </a:r>
            </a:p>
          </p:txBody>
        </p:sp>
        <p:sp>
          <p:nvSpPr>
            <p:cNvPr id="22" name="Oval 21">
              <a:extLst>
                <a:ext uri="{FF2B5EF4-FFF2-40B4-BE49-F238E27FC236}">
                  <a16:creationId xmlns:a16="http://schemas.microsoft.com/office/drawing/2014/main" id="{67D1177D-12E2-050E-9E26-D38A2CCF56C1}"/>
                </a:ext>
              </a:extLst>
            </p:cNvPr>
            <p:cNvSpPr>
              <a:spLocks noChangeAspect="1"/>
            </p:cNvSpPr>
            <p:nvPr/>
          </p:nvSpPr>
          <p:spPr>
            <a:xfrm>
              <a:off x="4077214" y="6633421"/>
              <a:ext cx="640842" cy="184507"/>
            </a:xfrm>
            <a:prstGeom prst="ellipse">
              <a:avLst/>
            </a:prstGeom>
            <a:solidFill>
              <a:srgbClr val="DCAFFF"/>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700"/>
                <a:t>Bajo</a:t>
              </a:r>
            </a:p>
          </p:txBody>
        </p:sp>
      </p:grpSp>
    </p:spTree>
    <p:extLst>
      <p:ext uri="{BB962C8B-B14F-4D97-AF65-F5344CB8AC3E}">
        <p14:creationId xmlns:p14="http://schemas.microsoft.com/office/powerpoint/2010/main" val="114539890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019FDD-725F-8534-EA90-E2044594B0D3}"/>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5CB0F6D9-5E92-5EB1-4799-BC6659D85A5C}"/>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alpha val="65000"/>
                  </a:srgbClr>
                </a:solidFill>
                <a:effectLst/>
                <a:uLnTx/>
                <a:uFillTx/>
                <a:latin typeface="Graphik"/>
                <a:ea typeface="+mn-ea"/>
                <a:cs typeface="+mn-cs"/>
              </a:rPr>
              <a:t>Copyright © 2026 Accenture. Todos los derechos reservados.</a:t>
            </a:r>
          </a:p>
        </p:txBody>
      </p:sp>
      <p:sp>
        <p:nvSpPr>
          <p:cNvPr id="4" name="Slide Number Placeholder 3">
            <a:extLst>
              <a:ext uri="{FF2B5EF4-FFF2-40B4-BE49-F238E27FC236}">
                <a16:creationId xmlns:a16="http://schemas.microsoft.com/office/drawing/2014/main" id="{3A721E09-FCBD-84FA-9776-B48A42155AF5}"/>
              </a:ext>
            </a:extLst>
          </p:cNvPr>
          <p:cNvSpPr>
            <a:spLocks noGrp="1"/>
          </p:cNvSpPr>
          <p:nvPr>
            <p:ph type="sldNum" sz="quarter" idx="429496729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Graphik"/>
                <a:ea typeface="+mn-ea"/>
                <a:cs typeface="+mn-cs"/>
              </a:rPr>
              <a:t> </a:t>
            </a:r>
          </a:p>
        </p:txBody>
      </p:sp>
      <p:sp>
        <p:nvSpPr>
          <p:cNvPr id="23" name="Title 1">
            <a:extLst>
              <a:ext uri="{FF2B5EF4-FFF2-40B4-BE49-F238E27FC236}">
                <a16:creationId xmlns:a16="http://schemas.microsoft.com/office/drawing/2014/main" id="{5844AA0A-B29E-375C-3DEA-15A60CE0BEC5}"/>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dirty="0">
                <a:ln>
                  <a:noFill/>
                </a:ln>
                <a:solidFill>
                  <a:srgbClr val="7500C0"/>
                </a:solidFill>
                <a:effectLst/>
                <a:uLnTx/>
                <a:uFillTx/>
                <a:latin typeface="Graphik"/>
                <a:ea typeface="+mj-ea"/>
                <a:cs typeface="+mj-cs"/>
              </a:rPr>
              <a:t>Arquitectura de Interoperabilidad </a:t>
            </a:r>
            <a:r>
              <a:rPr kumimoji="0" lang="es" sz="2400" b="1" i="0" u="none" strike="noStrike" kern="1200" cap="none" spc="0" normalizeH="0" baseline="0" noProof="0" dirty="0">
                <a:ln>
                  <a:noFill/>
                </a:ln>
                <a:solidFill>
                  <a:srgbClr val="000000"/>
                </a:solidFill>
                <a:effectLst/>
                <a:uLnTx/>
                <a:uFillTx/>
                <a:latin typeface="Graphik"/>
                <a:ea typeface="+mj-ea"/>
                <a:cs typeface="+mj-cs"/>
              </a:rPr>
              <a:t>| </a:t>
            </a:r>
            <a:r>
              <a:rPr kumimoji="0" lang="es" sz="2000" b="1" i="0" u="none" strike="noStrike" kern="1200" cap="none" spc="0" normalizeH="0" baseline="0" noProof="0" dirty="0">
                <a:ln>
                  <a:noFill/>
                </a:ln>
                <a:solidFill>
                  <a:srgbClr val="000000"/>
                </a:solidFill>
                <a:effectLst/>
                <a:uLnTx/>
                <a:uFillTx/>
                <a:latin typeface="Graphik"/>
                <a:ea typeface="+mj-ea"/>
                <a:cs typeface="+mj-cs"/>
              </a:rPr>
              <a:t>Entrega de datos</a:t>
            </a:r>
            <a:endParaRPr kumimoji="0" lang="es" sz="2400" b="1" i="0" u="none" strike="noStrike" kern="1200" cap="none" spc="0" normalizeH="0" baseline="0" noProof="0" dirty="0">
              <a:ln>
                <a:noFill/>
              </a:ln>
              <a:solidFill>
                <a:srgbClr val="000000"/>
              </a:solidFill>
              <a:effectLst/>
              <a:uLnTx/>
              <a:uFillTx/>
              <a:latin typeface="Graphik"/>
              <a:ea typeface="+mj-ea"/>
              <a:cs typeface="+mj-cs"/>
            </a:endParaRPr>
          </a:p>
        </p:txBody>
      </p:sp>
      <p:sp>
        <p:nvSpPr>
          <p:cNvPr id="131" name="Kicker"/>
          <p:cNvSpPr txBox="1"/>
          <p:nvPr/>
        </p:nvSpPr>
        <p:spPr>
          <a:xfrm>
            <a:off x="381000" y="775000"/>
            <a:ext cx="10200000" cy="200000"/>
          </a:xfrm>
          <a:prstGeom prst="rect">
            <a:avLst/>
          </a:prstGeom>
        </p:spPr>
        <p:txBody>
          <a:bodyPr lIns="0" tIns="0" rIns="0" bIns="0"/>
          <a:lstStyle/>
          <a:p>
            <a:pPr marL="0" indent="0" algn="l">
              <a:lnSpc>
                <a:spcPct val="104000"/>
              </a:lnSpc>
              <a:spcBef>
                <a:spcPts val="30"/>
              </a:spcBef>
              <a:buNone/>
            </a:pPr>
            <a:r>
              <a:rPr lang="es" sz="1000" b="1" i="0">
                <a:solidFill>
                  <a:srgbClr val="7500C0"/>
                </a:solidFill>
                <a:latin typeface="Graphik"/>
                <a:cs typeface="Graphik"/>
              </a:rPr>
              <a:t>CAPACIDAD DE DOMINIO |    4 SUBCAPACIDADES</a:t>
            </a:r>
          </a:p>
        </p:txBody>
      </p:sp>
      <p:graphicFrame>
        <p:nvGraphicFramePr>
          <p:cNvPr id="100" name="DetailTable"/>
          <p:cNvGraphicFramePr>
            <a:graphicFrameLocks noGrp="1"/>
          </p:cNvGraphicFramePr>
          <p:nvPr>
            <p:extLst>
              <p:ext uri="{D42A27DB-BD31-4B8C-83A1-F6EECF244321}">
                <p14:modId xmlns:p14="http://schemas.microsoft.com/office/powerpoint/2010/main" val="1155887318"/>
              </p:ext>
            </p:extLst>
          </p:nvPr>
        </p:nvGraphicFramePr>
        <p:xfrm>
          <a:off x="381000" y="1015000"/>
          <a:ext cx="11430000" cy="5055404"/>
        </p:xfrm>
        <a:graphic>
          <a:graphicData uri="http://schemas.openxmlformats.org/drawingml/2006/table">
            <a:tbl>
              <a:tblPr firstRow="1"/>
              <a:tblGrid>
                <a:gridCol w="1950000">
                  <a:extLst>
                    <a:ext uri="{9D8B030D-6E8A-4147-A177-3AD203B41FA5}">
                      <a16:colId xmlns:a16="http://schemas.microsoft.com/office/drawing/2014/main" val="20000"/>
                    </a:ext>
                  </a:extLst>
                </a:gridCol>
                <a:gridCol w="3450000">
                  <a:extLst>
                    <a:ext uri="{9D8B030D-6E8A-4147-A177-3AD203B41FA5}">
                      <a16:colId xmlns:a16="http://schemas.microsoft.com/office/drawing/2014/main" val="20001"/>
                    </a:ext>
                  </a:extLst>
                </a:gridCol>
                <a:gridCol w="3150000">
                  <a:extLst>
                    <a:ext uri="{9D8B030D-6E8A-4147-A177-3AD203B41FA5}">
                      <a16:colId xmlns:a16="http://schemas.microsoft.com/office/drawing/2014/main" val="20002"/>
                    </a:ext>
                  </a:extLst>
                </a:gridCol>
                <a:gridCol w="2880000">
                  <a:extLst>
                    <a:ext uri="{9D8B030D-6E8A-4147-A177-3AD203B41FA5}">
                      <a16:colId xmlns:a16="http://schemas.microsoft.com/office/drawing/2014/main" val="20003"/>
                    </a:ext>
                  </a:extLst>
                </a:gridCol>
              </a:tblGrid>
              <a:tr h="300000">
                <a:tc>
                  <a:txBody>
                    <a:bodyPr/>
                    <a:lstStyle/>
                    <a:p>
                      <a:pPr marL="0" indent="0" algn="l">
                        <a:lnSpc>
                          <a:spcPct val="104000"/>
                        </a:lnSpc>
                        <a:spcBef>
                          <a:spcPts val="30"/>
                        </a:spcBef>
                        <a:buNone/>
                      </a:pPr>
                      <a:r>
                        <a:rPr lang="es" sz="1000" b="1" i="0" dirty="0">
                          <a:solidFill>
                            <a:srgbClr val="FFFFFF"/>
                          </a:solidFill>
                          <a:latin typeface="Graphik"/>
                          <a:cs typeface="Graphik"/>
                        </a:rPr>
                        <a:t>Subcapacidad</a:t>
                      </a:r>
                    </a:p>
                  </a:txBody>
                  <a:tcPr marL="82000" marR="82000" marT="38000" marB="38000" anchor="ctr">
                    <a:solidFill>
                      <a:srgbClr val="7500C0"/>
                    </a:solidFill>
                  </a:tcPr>
                </a:tc>
                <a:tc>
                  <a:txBody>
                    <a:bodyPr/>
                    <a:lstStyle/>
                    <a:p>
                      <a:pPr marL="0" indent="0" algn="l">
                        <a:lnSpc>
                          <a:spcPct val="104000"/>
                        </a:lnSpc>
                        <a:spcBef>
                          <a:spcPts val="30"/>
                        </a:spcBef>
                        <a:buNone/>
                      </a:pPr>
                      <a:r>
                        <a:rPr lang="es" sz="1000" b="1" i="0">
                          <a:solidFill>
                            <a:srgbClr val="FFFFFF"/>
                          </a:solidFill>
                          <a:latin typeface="Graphik"/>
                          <a:cs typeface="Graphik"/>
                        </a:rPr>
                        <a:t>Descripción</a:t>
                      </a:r>
                    </a:p>
                  </a:txBody>
                  <a:tcPr marL="82000" marR="82000" marT="38000" marB="38000" anchor="ctr">
                    <a:solidFill>
                      <a:srgbClr val="7500C0"/>
                    </a:solidFill>
                  </a:tcPr>
                </a:tc>
                <a:tc>
                  <a:txBody>
                    <a:bodyPr/>
                    <a:lstStyle/>
                    <a:p>
                      <a:pPr marL="0" indent="0" algn="l">
                        <a:lnSpc>
                          <a:spcPct val="104000"/>
                        </a:lnSpc>
                        <a:spcBef>
                          <a:spcPts val="30"/>
                        </a:spcBef>
                        <a:buNone/>
                      </a:pPr>
                      <a:r>
                        <a:rPr lang="es" sz="1000" b="1" i="0">
                          <a:solidFill>
                            <a:srgbClr val="FFFFFF"/>
                          </a:solidFill>
                          <a:latin typeface="Graphik"/>
                          <a:cs typeface="Graphik"/>
                        </a:rPr>
                        <a:t>Propósito</a:t>
                      </a:r>
                    </a:p>
                  </a:txBody>
                  <a:tcPr marL="82000" marR="82000" marT="38000" marB="38000" anchor="ctr">
                    <a:solidFill>
                      <a:srgbClr val="7500C0"/>
                    </a:solidFill>
                  </a:tcPr>
                </a:tc>
                <a:tc>
                  <a:txBody>
                    <a:bodyPr/>
                    <a:lstStyle/>
                    <a:p>
                      <a:pPr marL="0" indent="0" algn="l">
                        <a:lnSpc>
                          <a:spcPct val="104000"/>
                        </a:lnSpc>
                        <a:spcBef>
                          <a:spcPts val="30"/>
                        </a:spcBef>
                        <a:buNone/>
                      </a:pPr>
                      <a:r>
                        <a:rPr lang="es" sz="1000" b="1" i="0">
                          <a:solidFill>
                            <a:srgbClr val="FFFFFF"/>
                          </a:solidFill>
                          <a:latin typeface="Graphik"/>
                          <a:cs typeface="Graphik"/>
                        </a:rPr>
                        <a:t>Soluciones en Coppel</a:t>
                      </a:r>
                    </a:p>
                  </a:txBody>
                  <a:tcPr marL="82000" marR="82000" marT="38000" marB="38000" anchor="ctr">
                    <a:solidFill>
                      <a:srgbClr val="7500C0"/>
                    </a:solidFill>
                  </a:tcPr>
                </a:tc>
                <a:extLst>
                  <a:ext uri="{0D108BD9-81ED-4DB2-BD59-A6C34878D82A}">
                    <a16:rowId xmlns:a16="http://schemas.microsoft.com/office/drawing/2014/main" val="10000"/>
                  </a:ext>
                </a:extLst>
              </a:tr>
              <a:tr h="1000256">
                <a:tc>
                  <a:txBody>
                    <a:bodyPr/>
                    <a:lstStyle/>
                    <a:p>
                      <a:pPr marL="0" indent="0" algn="l">
                        <a:lnSpc>
                          <a:spcPct val="104000"/>
                        </a:lnSpc>
                        <a:spcBef>
                          <a:spcPts val="30"/>
                        </a:spcBef>
                        <a:buNone/>
                      </a:pPr>
                      <a:r>
                        <a:rPr lang="es" sz="800" b="1" i="0" dirty="0">
                          <a:solidFill>
                            <a:srgbClr val="9B7BC7"/>
                          </a:solidFill>
                          <a:latin typeface="Graphik"/>
                          <a:cs typeface="Graphik"/>
                        </a:rPr>
                        <a:t>11.1  </a:t>
                      </a:r>
                      <a:r>
                        <a:rPr lang="es" sz="800" b="1" i="0" dirty="0">
                          <a:solidFill>
                            <a:srgbClr val="7500C0"/>
                          </a:solidFill>
                          <a:latin typeface="Graphik"/>
                          <a:cs typeface="Graphik"/>
                        </a:rPr>
                        <a:t>Catálogo de datos y modelado</a:t>
                      </a:r>
                    </a:p>
                  </a:txBody>
                  <a:tcPr marL="82000" marR="82000" marT="38000" marB="38000" anchor="ctr">
                    <a:solidFill>
                      <a:srgbClr val="EFE7F7"/>
                    </a:solidFill>
                  </a:tcPr>
                </a:tc>
                <a:tc>
                  <a:txBody>
                    <a:bodyPr/>
                    <a:lstStyle/>
                    <a:p>
                      <a:pPr marL="0" indent="0" algn="l">
                        <a:lnSpc>
                          <a:spcPct val="108000"/>
                        </a:lnSpc>
                        <a:spcBef>
                          <a:spcPts val="30"/>
                        </a:spcBef>
                        <a:buNone/>
                      </a:pPr>
                      <a:r>
                        <a:rPr lang="es" sz="800" b="0" i="0">
                          <a:solidFill>
                            <a:srgbClr val="2B2B2B"/>
                          </a:solidFill>
                          <a:latin typeface="Graphik"/>
                          <a:cs typeface="Graphik"/>
                        </a:rPr>
                        <a:t>Descubrimiento, descripción, gobernanza y gestión de calidad de los activos de datos: catálogo e inventario, metadatos (pasivos, en tiempo de ejecución y activos), linaje, enriquecimiento semántico, perfilado y control de acceso y privacidad.</a:t>
                      </a:r>
                    </a:p>
                  </a:txBody>
                  <a:tcPr marL="82000" marR="82000" marT="38000" marB="38000" anchor="ctr">
                    <a:solidFill>
                      <a:srgbClr val="FFFFFF"/>
                    </a:solidFill>
                  </a:tcPr>
                </a:tc>
                <a:tc>
                  <a:txBody>
                    <a:bodyPr/>
                    <a:lstStyle/>
                    <a:p>
                      <a:pPr marL="0" indent="0" algn="l">
                        <a:lnSpc>
                          <a:spcPct val="108000"/>
                        </a:lnSpc>
                        <a:spcBef>
                          <a:spcPts val="30"/>
                        </a:spcBef>
                        <a:buNone/>
                      </a:pPr>
                      <a:r>
                        <a:rPr lang="es" sz="800" b="0" i="0">
                          <a:solidFill>
                            <a:srgbClr val="444444"/>
                          </a:solidFill>
                          <a:latin typeface="Graphik"/>
                          <a:cs typeface="Graphik"/>
                        </a:rPr>
                        <a:t>Los datos solo pueden compartirse de forma segura si están descritos y regulados; El catálogo es lo que hace que una capa de datos compartida sea utilizable por equipos que no crearon los datos.</a:t>
                      </a:r>
                    </a:p>
                  </a:txBody>
                  <a:tcPr marL="82000" marR="82000" marT="38000" marB="38000" anchor="ctr">
                    <a:solidFill>
                      <a:srgbClr val="FFFFFF"/>
                    </a:solidFill>
                  </a:tcPr>
                </a:tc>
                <a:tc>
                  <a:txBody>
                    <a:bodyPr/>
                    <a:lstStyle/>
                    <a:p>
                      <a:pPr marL="150000" indent="-150000" algn="l">
                        <a:lnSpc>
                          <a:spcPct val="104000"/>
                        </a:lnSpc>
                        <a:spcBef>
                          <a:spcPts val="45"/>
                        </a:spcBef>
                        <a:buClr>
                          <a:srgbClr val="7500C0"/>
                        </a:buClr>
                        <a:buFont typeface="Arial"/>
                        <a:buChar char="▪"/>
                      </a:pPr>
                      <a:r>
                        <a:rPr lang="es-ES" sz="700" b="0" i="0" dirty="0">
                          <a:solidFill>
                            <a:srgbClr val="4B2E83"/>
                          </a:solidFill>
                          <a:latin typeface="+mn-lt"/>
                          <a:cs typeface="Graphik"/>
                        </a:rPr>
                        <a:t>Data </a:t>
                      </a:r>
                      <a:r>
                        <a:rPr lang="es-ES" sz="700" b="0" i="0" dirty="0" err="1">
                          <a:solidFill>
                            <a:srgbClr val="4B2E83"/>
                          </a:solidFill>
                          <a:latin typeface="+mn-lt"/>
                          <a:cs typeface="Graphik"/>
                        </a:rPr>
                        <a:t>Warehouse</a:t>
                      </a:r>
                      <a:endParaRPr lang="es-ES" sz="700" b="0" i="0" dirty="0">
                        <a:solidFill>
                          <a:srgbClr val="4B2E83"/>
                        </a:solidFill>
                        <a:latin typeface="+mn-lt"/>
                        <a:cs typeface="Graphik"/>
                      </a:endParaRP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DataStage ETL</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Centro de Datos de Temenos (TDH)</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Golden Record/Party-CIF</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Feeds Risklogic/Bajaware</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Gobernanza de datos/controles de privacidad</a:t>
                      </a:r>
                    </a:p>
                  </a:txBody>
                  <a:tcPr marL="82000" marR="82000" marT="38000" marB="38000" anchor="ctr">
                    <a:solidFill>
                      <a:srgbClr val="FFFFFF"/>
                    </a:solidFill>
                  </a:tcPr>
                </a:tc>
                <a:extLst>
                  <a:ext uri="{0D108BD9-81ED-4DB2-BD59-A6C34878D82A}">
                    <a16:rowId xmlns:a16="http://schemas.microsoft.com/office/drawing/2014/main" val="10001"/>
                  </a:ext>
                </a:extLst>
              </a:tr>
              <a:tr h="1151132">
                <a:tc>
                  <a:txBody>
                    <a:bodyPr/>
                    <a:lstStyle/>
                    <a:p>
                      <a:pPr marL="0" indent="0" algn="l">
                        <a:lnSpc>
                          <a:spcPct val="104000"/>
                        </a:lnSpc>
                        <a:spcBef>
                          <a:spcPts val="30"/>
                        </a:spcBef>
                        <a:buNone/>
                      </a:pPr>
                      <a:r>
                        <a:rPr lang="es" sz="800" b="1" i="0" dirty="0">
                          <a:solidFill>
                            <a:srgbClr val="9B7BC7"/>
                          </a:solidFill>
                          <a:latin typeface="Graphik"/>
                          <a:cs typeface="Graphik"/>
                        </a:rPr>
                        <a:t>11.2  </a:t>
                      </a:r>
                      <a:r>
                        <a:rPr lang="es" sz="800" b="1" i="0" dirty="0">
                          <a:solidFill>
                            <a:srgbClr val="7500C0"/>
                          </a:solidFill>
                          <a:latin typeface="Graphik"/>
                          <a:cs typeface="Graphik"/>
                        </a:rPr>
                        <a:t>Canalizaciones y Entrega de Datos</a:t>
                      </a:r>
                    </a:p>
                  </a:txBody>
                  <a:tcPr marL="82000" marR="82000" marT="38000" marB="38000" anchor="ctr">
                    <a:solidFill>
                      <a:srgbClr val="E9DEF4"/>
                    </a:solidFill>
                  </a:tcPr>
                </a:tc>
                <a:tc>
                  <a:txBody>
                    <a:bodyPr/>
                    <a:lstStyle/>
                    <a:p>
                      <a:pPr marL="0" indent="0" algn="l">
                        <a:lnSpc>
                          <a:spcPct val="108000"/>
                        </a:lnSpc>
                        <a:spcBef>
                          <a:spcPts val="30"/>
                        </a:spcBef>
                        <a:buNone/>
                      </a:pPr>
                      <a:r>
                        <a:rPr lang="es" sz="800" b="0" i="0" dirty="0">
                          <a:solidFill>
                            <a:srgbClr val="2B2B2B"/>
                          </a:solidFill>
                          <a:latin typeface="Graphik"/>
                          <a:cs typeface="Graphik"/>
                        </a:rPr>
                        <a:t>Movimiento de datos entre fuentes, almacenes y consumidores con la latencia requerida: integración por lotes, integración de flujos, replicación y acceso virtualizado, desde sistemas heredados, archivos, lagos, almacenes en la nube y proveedores externos.</a:t>
                      </a:r>
                    </a:p>
                  </a:txBody>
                  <a:tcPr marL="82000" marR="82000" marT="38000" marB="38000" anchor="ctr">
                    <a:solidFill>
                      <a:srgbClr val="F6F2FB"/>
                    </a:solidFill>
                  </a:tcPr>
                </a:tc>
                <a:tc>
                  <a:txBody>
                    <a:bodyPr/>
                    <a:lstStyle/>
                    <a:p>
                      <a:pPr marL="0" indent="0" algn="l">
                        <a:lnSpc>
                          <a:spcPct val="108000"/>
                        </a:lnSpc>
                        <a:spcBef>
                          <a:spcPts val="30"/>
                        </a:spcBef>
                        <a:buNone/>
                      </a:pPr>
                      <a:r>
                        <a:rPr lang="es" sz="800" b="0" i="0">
                          <a:solidFill>
                            <a:srgbClr val="444444"/>
                          </a:solidFill>
                          <a:latin typeface="Graphik"/>
                          <a:cs typeface="Graphik"/>
                        </a:rPr>
                        <a:t>La tubería física del desacoplamiento de datos; Es lo que permite que los consumidores sean atendidos sin darles acceso a los sistemas de registro.</a:t>
                      </a:r>
                    </a:p>
                  </a:txBody>
                  <a:tcPr marL="82000" marR="82000" marT="38000" marB="38000" anchor="ctr">
                    <a:solidFill>
                      <a:srgbClr val="F6F2FB"/>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DataStage ETL/ELT</a:t>
                      </a:r>
                    </a:p>
                    <a:p>
                      <a:pPr marL="150000" indent="-150000" algn="l">
                        <a:lnSpc>
                          <a:spcPct val="104000"/>
                        </a:lnSpc>
                        <a:spcBef>
                          <a:spcPts val="45"/>
                        </a:spcBef>
                        <a:buClr>
                          <a:srgbClr val="7500C0"/>
                        </a:buClr>
                        <a:buFont typeface="Arial"/>
                        <a:buChar char="▪"/>
                      </a:pPr>
                      <a:r>
                        <a:rPr lang="es-ES" sz="700" b="0" i="0" dirty="0">
                          <a:solidFill>
                            <a:srgbClr val="4B2E83"/>
                          </a:solidFill>
                          <a:latin typeface="+mn-lt"/>
                          <a:cs typeface="Graphik"/>
                        </a:rPr>
                        <a:t>Data </a:t>
                      </a:r>
                      <a:r>
                        <a:rPr lang="es-ES" sz="700" b="0" i="0" dirty="0" err="1">
                          <a:solidFill>
                            <a:srgbClr val="4B2E83"/>
                          </a:solidFill>
                          <a:latin typeface="+mn-lt"/>
                          <a:cs typeface="Graphik"/>
                        </a:rPr>
                        <a:t>Warehouse</a:t>
                      </a:r>
                      <a:endParaRPr lang="es-ES" sz="700" b="0" i="0" dirty="0">
                        <a:solidFill>
                          <a:srgbClr val="4B2E83"/>
                        </a:solidFill>
                        <a:latin typeface="+mn-lt"/>
                        <a:cs typeface="Graphik"/>
                      </a:endParaRP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TDH</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Extracción de PISA/Informix</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Oracle/YugabyteDB</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Pipelines por lotes/COB</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Monitorización de DataDog</a:t>
                      </a:r>
                    </a:p>
                  </a:txBody>
                  <a:tcPr marL="82000" marR="82000" marT="38000" marB="38000" anchor="ctr">
                    <a:solidFill>
                      <a:srgbClr val="F6F2FB"/>
                    </a:solidFill>
                  </a:tcPr>
                </a:tc>
                <a:extLst>
                  <a:ext uri="{0D108BD9-81ED-4DB2-BD59-A6C34878D82A}">
                    <a16:rowId xmlns:a16="http://schemas.microsoft.com/office/drawing/2014/main" val="10002"/>
                  </a:ext>
                </a:extLst>
              </a:tr>
              <a:tr h="1151132">
                <a:tc>
                  <a:txBody>
                    <a:bodyPr/>
                    <a:lstStyle/>
                    <a:p>
                      <a:pPr marL="0" indent="0" algn="l">
                        <a:lnSpc>
                          <a:spcPct val="104000"/>
                        </a:lnSpc>
                        <a:spcBef>
                          <a:spcPts val="30"/>
                        </a:spcBef>
                        <a:buNone/>
                      </a:pPr>
                      <a:r>
                        <a:rPr lang="es" sz="800" b="1" i="0" dirty="0">
                          <a:solidFill>
                            <a:srgbClr val="9B7BC7"/>
                          </a:solidFill>
                          <a:latin typeface="Graphik"/>
                          <a:cs typeface="Graphik"/>
                        </a:rPr>
                        <a:t>11.3  </a:t>
                      </a:r>
                      <a:r>
                        <a:rPr lang="es" sz="800" b="1" i="0" dirty="0">
                          <a:solidFill>
                            <a:srgbClr val="7500C0"/>
                          </a:solidFill>
                          <a:latin typeface="Graphik"/>
                          <a:cs typeface="Graphik"/>
                        </a:rPr>
                        <a:t>Almacenamiento de Datos Operativo y Modelo Unificado de Datos</a:t>
                      </a:r>
                    </a:p>
                  </a:txBody>
                  <a:tcPr marL="82000" marR="82000" marT="38000" marB="38000" anchor="ctr">
                    <a:solidFill>
                      <a:srgbClr val="EFE7F7"/>
                    </a:solidFill>
                  </a:tcPr>
                </a:tc>
                <a:tc>
                  <a:txBody>
                    <a:bodyPr/>
                    <a:lstStyle/>
                    <a:p>
                      <a:pPr marL="0" indent="0" algn="l">
                        <a:lnSpc>
                          <a:spcPct val="108000"/>
                        </a:lnSpc>
                        <a:spcBef>
                          <a:spcPts val="30"/>
                        </a:spcBef>
                        <a:buNone/>
                      </a:pPr>
                      <a:r>
                        <a:rPr lang="es" sz="800" b="0" i="0" dirty="0">
                          <a:solidFill>
                            <a:srgbClr val="2B2B2B"/>
                          </a:solidFill>
                          <a:latin typeface="Graphik"/>
                          <a:cs typeface="Graphik"/>
                        </a:rPr>
                        <a:t>Un modelo de datos operativos estandarizado que ofrece una visión en tiempo real y multifuente de las principales entidades empresariales, consolidado entre núcleos heredados y de próxima generación y que sirve para los consumidores como capa de datos del banco.</a:t>
                      </a:r>
                    </a:p>
                  </a:txBody>
                  <a:tcPr marL="82000" marR="82000" marT="38000" marB="38000" anchor="ctr">
                    <a:solidFill>
                      <a:srgbClr val="FFFFFF"/>
                    </a:solidFill>
                  </a:tcPr>
                </a:tc>
                <a:tc>
                  <a:txBody>
                    <a:bodyPr/>
                    <a:lstStyle/>
                    <a:p>
                      <a:pPr marL="0" indent="0" algn="l">
                        <a:lnSpc>
                          <a:spcPct val="108000"/>
                        </a:lnSpc>
                        <a:spcBef>
                          <a:spcPts val="30"/>
                        </a:spcBef>
                        <a:buNone/>
                      </a:pPr>
                      <a:r>
                        <a:rPr lang="es" sz="800" b="0" i="0" dirty="0">
                          <a:solidFill>
                            <a:srgbClr val="444444"/>
                          </a:solidFill>
                          <a:latin typeface="Graphik"/>
                          <a:cs typeface="Graphik"/>
                        </a:rPr>
                        <a:t>Esto es el desacoplador en términos de datos. Mantener una visión estandarizada en tiempo real consolidada a partir de núcleos de primera categoría significa que los consumidores no están atados a un solo núcleo y ningún consumidor necesita acceso directo a mainframe, el mecanismo que más reduce los plazos y riesgos de modernización de núcleos.</a:t>
                      </a:r>
                    </a:p>
                  </a:txBody>
                  <a:tcPr marL="82000" marR="82000" marT="38000" marB="38000" anchor="ctr">
                    <a:solidFill>
                      <a:srgbClr val="FFFFFF"/>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Golden Record/Party-CIF</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Datos maestros heredados de Informix/PISA</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Temenos TDH</a:t>
                      </a:r>
                    </a:p>
                    <a:p>
                      <a:pPr marL="150000" indent="-150000" algn="l">
                        <a:lnSpc>
                          <a:spcPct val="104000"/>
                        </a:lnSpc>
                        <a:spcBef>
                          <a:spcPts val="45"/>
                        </a:spcBef>
                        <a:buClr>
                          <a:srgbClr val="7500C0"/>
                        </a:buClr>
                        <a:buFont typeface="Arial"/>
                        <a:buChar char="▪"/>
                      </a:pPr>
                      <a:r>
                        <a:rPr lang="es-ES" sz="700" b="0" i="0" dirty="0">
                          <a:solidFill>
                            <a:srgbClr val="4B2E83"/>
                          </a:solidFill>
                          <a:latin typeface="+mn-lt"/>
                          <a:cs typeface="Graphik"/>
                        </a:rPr>
                        <a:t>Data </a:t>
                      </a:r>
                      <a:r>
                        <a:rPr lang="es-ES" sz="700" b="0" i="0" dirty="0" err="1">
                          <a:solidFill>
                            <a:srgbClr val="4B2E83"/>
                          </a:solidFill>
                          <a:latin typeface="+mn-lt"/>
                          <a:cs typeface="Graphik"/>
                        </a:rPr>
                        <a:t>Warehouse</a:t>
                      </a:r>
                      <a:endParaRPr lang="es-ES" sz="700" b="0" i="0" dirty="0">
                        <a:solidFill>
                          <a:srgbClr val="4B2E83"/>
                        </a:solidFill>
                        <a:latin typeface="+mn-lt"/>
                        <a:cs typeface="Graphik"/>
                      </a:endParaRP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YugabyteDB/Oracle</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consolidación cross-core a través de APIs y DataStage</a:t>
                      </a:r>
                    </a:p>
                  </a:txBody>
                  <a:tcPr marL="82000" marR="82000" marT="38000" marB="38000" anchor="ctr">
                    <a:solidFill>
                      <a:srgbClr val="FFFFFF"/>
                    </a:solidFill>
                  </a:tcPr>
                </a:tc>
                <a:extLst>
                  <a:ext uri="{0D108BD9-81ED-4DB2-BD59-A6C34878D82A}">
                    <a16:rowId xmlns:a16="http://schemas.microsoft.com/office/drawing/2014/main" val="10003"/>
                  </a:ext>
                </a:extLst>
              </a:tr>
              <a:tr h="1452884">
                <a:tc>
                  <a:txBody>
                    <a:bodyPr/>
                    <a:lstStyle/>
                    <a:p>
                      <a:pPr marL="0" indent="0" algn="l">
                        <a:lnSpc>
                          <a:spcPct val="104000"/>
                        </a:lnSpc>
                        <a:spcBef>
                          <a:spcPts val="30"/>
                        </a:spcBef>
                        <a:buNone/>
                      </a:pPr>
                      <a:r>
                        <a:rPr lang="es" sz="800" b="1" i="0" dirty="0">
                          <a:solidFill>
                            <a:srgbClr val="9B7BC7"/>
                          </a:solidFill>
                          <a:latin typeface="Graphik"/>
                          <a:cs typeface="Graphik"/>
                        </a:rPr>
                        <a:t>11.4  </a:t>
                      </a:r>
                      <a:r>
                        <a:rPr lang="es" sz="800" b="1" i="0" dirty="0">
                          <a:solidFill>
                            <a:srgbClr val="7500C0"/>
                          </a:solidFill>
                          <a:latin typeface="Graphik"/>
                          <a:cs typeface="Graphik"/>
                        </a:rPr>
                        <a:t>Servicios de Consumo de Datos</a:t>
                      </a:r>
                    </a:p>
                  </a:txBody>
                  <a:tcPr marL="82000" marR="82000" marT="38000" marB="38000" anchor="ctr">
                    <a:solidFill>
                      <a:srgbClr val="E9DEF4"/>
                    </a:solidFill>
                  </a:tcPr>
                </a:tc>
                <a:tc>
                  <a:txBody>
                    <a:bodyPr/>
                    <a:lstStyle/>
                    <a:p>
                      <a:pPr marL="0" indent="0" algn="l">
                        <a:lnSpc>
                          <a:spcPct val="108000"/>
                        </a:lnSpc>
                        <a:spcBef>
                          <a:spcPts val="30"/>
                        </a:spcBef>
                        <a:buNone/>
                      </a:pPr>
                      <a:r>
                        <a:rPr lang="es" sz="800" b="0" i="0">
                          <a:solidFill>
                            <a:srgbClr val="2B2B2B"/>
                          </a:solidFill>
                          <a:latin typeface="Graphik"/>
                          <a:cs typeface="Graphik"/>
                        </a:rPr>
                        <a:t>La superficie de consumo sobre la capa de datos: APIs de datos, fuentes de análisis e informes, y provisión sandbox gobernada para trabajos exploratorios y de desarrollo de modelos.</a:t>
                      </a:r>
                    </a:p>
                  </a:txBody>
                  <a:tcPr marL="82000" marR="82000" marT="38000" marB="38000" anchor="ctr">
                    <a:solidFill>
                      <a:srgbClr val="F6F2FB"/>
                    </a:solidFill>
                  </a:tcPr>
                </a:tc>
                <a:tc>
                  <a:txBody>
                    <a:bodyPr/>
                    <a:lstStyle/>
                    <a:p>
                      <a:pPr marL="0" indent="0" algn="l">
                        <a:lnSpc>
                          <a:spcPct val="108000"/>
                        </a:lnSpc>
                        <a:spcBef>
                          <a:spcPts val="30"/>
                        </a:spcBef>
                        <a:buNone/>
                      </a:pPr>
                      <a:r>
                        <a:rPr lang="es" sz="800" b="0" i="0" dirty="0">
                          <a:solidFill>
                            <a:srgbClr val="444444"/>
                          </a:solidFill>
                          <a:latin typeface="Graphik"/>
                          <a:cs typeface="Graphik"/>
                        </a:rPr>
                        <a:t>Garantiza que la inversión en la entrega de datos se convierta en uso; Sin rutas de consumo gobernadas, los equipos vuelven al acceso directo al código fuente y recrean el acoplamiento que se eliminó.</a:t>
                      </a:r>
                    </a:p>
                  </a:txBody>
                  <a:tcPr marL="82000" marR="82000" marT="38000" marB="38000" anchor="ctr">
                    <a:solidFill>
                      <a:srgbClr val="F6F2FB"/>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DataStage</a:t>
                      </a:r>
                    </a:p>
                    <a:p>
                      <a:pPr marL="150000" indent="-150000" algn="l">
                        <a:lnSpc>
                          <a:spcPct val="104000"/>
                        </a:lnSpc>
                        <a:spcBef>
                          <a:spcPts val="45"/>
                        </a:spcBef>
                        <a:buClr>
                          <a:srgbClr val="7500C0"/>
                        </a:buClr>
                        <a:buFont typeface="Arial"/>
                        <a:buChar char="▪"/>
                      </a:pPr>
                      <a:r>
                        <a:rPr lang="es-ES" sz="700" b="0" i="0" dirty="0">
                          <a:solidFill>
                            <a:srgbClr val="4B2E83"/>
                          </a:solidFill>
                          <a:latin typeface="+mn-lt"/>
                          <a:cs typeface="Graphik"/>
                        </a:rPr>
                        <a:t>Data </a:t>
                      </a:r>
                      <a:r>
                        <a:rPr lang="es-ES" sz="700" b="0" i="0" dirty="0" err="1">
                          <a:solidFill>
                            <a:srgbClr val="4B2E83"/>
                          </a:solidFill>
                          <a:latin typeface="+mn-lt"/>
                          <a:cs typeface="Graphik"/>
                        </a:rPr>
                        <a:t>Warehouse</a:t>
                      </a:r>
                      <a:endParaRPr lang="es-ES" sz="700" b="0" i="0" dirty="0">
                        <a:solidFill>
                          <a:srgbClr val="4B2E83"/>
                        </a:solidFill>
                        <a:latin typeface="+mn-lt"/>
                        <a:cs typeface="Graphik"/>
                      </a:endParaRP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Temenos Data Hub</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YugabyteDB</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Informix/PISA</a:t>
                      </a:r>
                    </a:p>
                    <a:p>
                      <a:pPr marL="150000" indent="-150000" algn="l">
                        <a:lnSpc>
                          <a:spcPct val="104000"/>
                        </a:lnSpc>
                        <a:spcBef>
                          <a:spcPts val="45"/>
                        </a:spcBef>
                        <a:buClr>
                          <a:srgbClr val="7500C0"/>
                        </a:buClr>
                        <a:buFont typeface="Arial"/>
                        <a:buChar char="▪"/>
                      </a:pPr>
                      <a:r>
                        <a:rPr lang="es-ES" sz="700" b="0" i="0" dirty="0">
                          <a:solidFill>
                            <a:srgbClr val="4B2E83"/>
                          </a:solidFill>
                          <a:latin typeface="Graphik"/>
                          <a:cs typeface="Graphik"/>
                        </a:rPr>
                        <a:t>Oracle</a:t>
                      </a:r>
                      <a:endParaRPr lang="es" sz="700" b="0" i="0" dirty="0">
                        <a:solidFill>
                          <a:srgbClr val="4B2E83"/>
                        </a:solidFill>
                        <a:latin typeface="Graphik"/>
                        <a:cs typeface="Graphik"/>
                      </a:endParaRP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OnBase</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Bajaware/Risklogic</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Golden Record</a:t>
                      </a:r>
                    </a:p>
                  </a:txBody>
                  <a:tcPr marL="82000" marR="82000" marT="38000" marB="38000" anchor="ctr">
                    <a:solidFill>
                      <a:srgbClr val="F6F2FB"/>
                    </a:solidFill>
                  </a:tcPr>
                </a:tc>
                <a:extLst>
                  <a:ext uri="{0D108BD9-81ED-4DB2-BD59-A6C34878D82A}">
                    <a16:rowId xmlns:a16="http://schemas.microsoft.com/office/drawing/2014/main" val="10004"/>
                  </a:ext>
                </a:extLst>
              </a:tr>
            </a:tbl>
          </a:graphicData>
        </a:graphic>
      </p:graphicFrame>
      <p:sp>
        <p:nvSpPr>
          <p:cNvPr id="5" name="TextBox 4">
            <a:extLst>
              <a:ext uri="{FF2B5EF4-FFF2-40B4-BE49-F238E27FC236}">
                <a16:creationId xmlns:a16="http://schemas.microsoft.com/office/drawing/2014/main" id="{B6CBBA98-79C9-C5DA-C866-C87235A35BD5}"/>
              </a:ext>
            </a:extLst>
          </p:cNvPr>
          <p:cNvSpPr txBox="1"/>
          <p:nvPr>
            <p:extLst>
              <p:ext uri="{1162E1C5-73C7-4A58-AE30-91384D911F3F}">
                <p184:classification xmlns:p184="http://schemas.microsoft.com/office/powerpoint/2018/4/main" val="hdr"/>
              </p:ext>
            </p:extLst>
          </p:nvPr>
        </p:nvSpPr>
        <p:spPr>
          <a:xfrm>
            <a:off x="379000" y="78170"/>
            <a:ext cx="11432000" cy="154830"/>
          </a:xfrm>
          <a:prstGeom prst="rect">
            <a:avLst/>
          </a:prstGeom>
        </p:spPr>
        <p:txBody>
          <a:bodyPr horzOverflow="overflow"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000" b="0" i="0" u="none" strike="noStrike" kern="1200" cap="none" spc="0" normalizeH="0" baseline="0" noProof="0">
                <a:ln>
                  <a:noFill/>
                </a:ln>
                <a:solidFill>
                  <a:srgbClr val="000000"/>
                </a:solidFill>
                <a:effectLst/>
                <a:uLnTx/>
                <a:uFillTx/>
                <a:latin typeface="Graphik (Body)"/>
                <a:ea typeface="+mn-ea"/>
                <a:cs typeface="Calibri" panose="020F0502020204030204" pitchFamily="34" charset="0"/>
              </a:rPr>
              <a:t>*** Confidencial - Solo para uso interno de la empresa ***</a:t>
            </a:r>
          </a:p>
        </p:txBody>
      </p:sp>
      <p:grpSp>
        <p:nvGrpSpPr>
          <p:cNvPr id="6" name="Group 5">
            <a:extLst>
              <a:ext uri="{FF2B5EF4-FFF2-40B4-BE49-F238E27FC236}">
                <a16:creationId xmlns:a16="http://schemas.microsoft.com/office/drawing/2014/main" id="{FE1E6109-AC62-8083-2F73-C21EE1569339}"/>
              </a:ext>
            </a:extLst>
          </p:cNvPr>
          <p:cNvGrpSpPr/>
          <p:nvPr/>
        </p:nvGrpSpPr>
        <p:grpSpPr>
          <a:xfrm>
            <a:off x="717042" y="6191083"/>
            <a:ext cx="4001014" cy="631639"/>
            <a:chOff x="717042" y="6191083"/>
            <a:chExt cx="4001014" cy="631639"/>
          </a:xfrm>
        </p:grpSpPr>
        <p:sp>
          <p:nvSpPr>
            <p:cNvPr id="7" name="Rectangle 6">
              <a:extLst>
                <a:ext uri="{FF2B5EF4-FFF2-40B4-BE49-F238E27FC236}">
                  <a16:creationId xmlns:a16="http://schemas.microsoft.com/office/drawing/2014/main" id="{764ADA37-BEF6-17A2-8FD7-009687C1A7EC}"/>
                </a:ext>
              </a:extLst>
            </p:cNvPr>
            <p:cNvSpPr>
              <a:spLocks noChangeAspect="1"/>
            </p:cNvSpPr>
            <p:nvPr/>
          </p:nvSpPr>
          <p:spPr>
            <a:xfrm>
              <a:off x="1936749" y="6410745"/>
              <a:ext cx="774645" cy="202427"/>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GAP</a:t>
              </a:r>
            </a:p>
          </p:txBody>
        </p:sp>
        <p:sp>
          <p:nvSpPr>
            <p:cNvPr id="8" name="Rectangle 7">
              <a:extLst>
                <a:ext uri="{FF2B5EF4-FFF2-40B4-BE49-F238E27FC236}">
                  <a16:creationId xmlns:a16="http://schemas.microsoft.com/office/drawing/2014/main" id="{5E712192-1943-1E7D-0B7D-CC7E769EB2B5}"/>
                </a:ext>
              </a:extLst>
            </p:cNvPr>
            <p:cNvSpPr>
              <a:spLocks noChangeAspect="1"/>
            </p:cNvSpPr>
            <p:nvPr/>
          </p:nvSpPr>
          <p:spPr>
            <a:xfrm>
              <a:off x="1936749" y="6191083"/>
              <a:ext cx="774645" cy="202427"/>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Objetivo</a:t>
              </a:r>
            </a:p>
          </p:txBody>
        </p:sp>
        <p:sp>
          <p:nvSpPr>
            <p:cNvPr id="9" name="Rectangle 8">
              <a:extLst>
                <a:ext uri="{FF2B5EF4-FFF2-40B4-BE49-F238E27FC236}">
                  <a16:creationId xmlns:a16="http://schemas.microsoft.com/office/drawing/2014/main" id="{CE08221C-A07A-0297-7BD4-4B583DCB04F8}"/>
                </a:ext>
              </a:extLst>
            </p:cNvPr>
            <p:cNvSpPr>
              <a:spLocks noChangeAspect="1"/>
            </p:cNvSpPr>
            <p:nvPr/>
          </p:nvSpPr>
          <p:spPr>
            <a:xfrm>
              <a:off x="1936749" y="6620295"/>
              <a:ext cx="774645" cy="202427"/>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Descartar</a:t>
              </a:r>
            </a:p>
          </p:txBody>
        </p:sp>
        <p:sp>
          <p:nvSpPr>
            <p:cNvPr id="10" name="Oval 9">
              <a:extLst>
                <a:ext uri="{FF2B5EF4-FFF2-40B4-BE49-F238E27FC236}">
                  <a16:creationId xmlns:a16="http://schemas.microsoft.com/office/drawing/2014/main" id="{E7764C78-2511-D388-69FA-C0A0653CA88A}"/>
                </a:ext>
              </a:extLst>
            </p:cNvPr>
            <p:cNvSpPr>
              <a:spLocks noChangeAspect="1"/>
            </p:cNvSpPr>
            <p:nvPr/>
          </p:nvSpPr>
          <p:spPr>
            <a:xfrm>
              <a:off x="4077214" y="6226238"/>
              <a:ext cx="640842" cy="184507"/>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700"/>
                <a:t>Alto</a:t>
              </a:r>
            </a:p>
          </p:txBody>
        </p:sp>
        <p:sp>
          <p:nvSpPr>
            <p:cNvPr id="11" name="Rectangle 10">
              <a:extLst>
                <a:ext uri="{FF2B5EF4-FFF2-40B4-BE49-F238E27FC236}">
                  <a16:creationId xmlns:a16="http://schemas.microsoft.com/office/drawing/2014/main" id="{50D291EF-8A2F-5A1C-0FEC-93721668A914}"/>
                </a:ext>
              </a:extLst>
            </p:cNvPr>
            <p:cNvSpPr>
              <a:spLocks noChangeAspect="1"/>
            </p:cNvSpPr>
            <p:nvPr/>
          </p:nvSpPr>
          <p:spPr>
            <a:xfrm>
              <a:off x="717042" y="6283336"/>
              <a:ext cx="1022032" cy="455578"/>
            </a:xfrm>
            <a:prstGeom prst="rect">
              <a:avLst/>
            </a:prstGeom>
            <a:solidFill>
              <a:srgbClr val="7500C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Evaluación de capacidades</a:t>
              </a:r>
            </a:p>
          </p:txBody>
        </p:sp>
        <p:sp>
          <p:nvSpPr>
            <p:cNvPr id="12" name="Rectangle 11">
              <a:extLst>
                <a:ext uri="{FF2B5EF4-FFF2-40B4-BE49-F238E27FC236}">
                  <a16:creationId xmlns:a16="http://schemas.microsoft.com/office/drawing/2014/main" id="{CD0AABDF-0CB1-545E-D301-73DFB8CA1870}"/>
                </a:ext>
              </a:extLst>
            </p:cNvPr>
            <p:cNvSpPr>
              <a:spLocks noChangeAspect="1"/>
            </p:cNvSpPr>
            <p:nvPr/>
          </p:nvSpPr>
          <p:spPr>
            <a:xfrm>
              <a:off x="2816387" y="6282396"/>
              <a:ext cx="1022032" cy="455578"/>
            </a:xfrm>
            <a:prstGeom prst="rect">
              <a:avLst/>
            </a:prstGeom>
            <a:solidFill>
              <a:srgbClr val="7500C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Prioridad</a:t>
              </a:r>
            </a:p>
          </p:txBody>
        </p:sp>
        <p:sp>
          <p:nvSpPr>
            <p:cNvPr id="13" name="Oval 12">
              <a:extLst>
                <a:ext uri="{FF2B5EF4-FFF2-40B4-BE49-F238E27FC236}">
                  <a16:creationId xmlns:a16="http://schemas.microsoft.com/office/drawing/2014/main" id="{C4B2A0A0-7FA1-4014-0C96-F6E0EE929D41}"/>
                </a:ext>
              </a:extLst>
            </p:cNvPr>
            <p:cNvSpPr>
              <a:spLocks noChangeAspect="1"/>
            </p:cNvSpPr>
            <p:nvPr/>
          </p:nvSpPr>
          <p:spPr>
            <a:xfrm>
              <a:off x="4077214" y="6435788"/>
              <a:ext cx="640842" cy="184507"/>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700"/>
                <a:t>Medio</a:t>
              </a:r>
            </a:p>
          </p:txBody>
        </p:sp>
        <p:sp>
          <p:nvSpPr>
            <p:cNvPr id="14" name="Oval 13">
              <a:extLst>
                <a:ext uri="{FF2B5EF4-FFF2-40B4-BE49-F238E27FC236}">
                  <a16:creationId xmlns:a16="http://schemas.microsoft.com/office/drawing/2014/main" id="{43747F9B-B148-0F06-6D80-8B95E98D9794}"/>
                </a:ext>
              </a:extLst>
            </p:cNvPr>
            <p:cNvSpPr>
              <a:spLocks noChangeAspect="1"/>
            </p:cNvSpPr>
            <p:nvPr/>
          </p:nvSpPr>
          <p:spPr>
            <a:xfrm>
              <a:off x="4077214" y="6633421"/>
              <a:ext cx="640842" cy="184507"/>
            </a:xfrm>
            <a:prstGeom prst="ellipse">
              <a:avLst/>
            </a:prstGeom>
            <a:solidFill>
              <a:srgbClr val="DCAFFF"/>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700"/>
                <a:t>Bajo</a:t>
              </a:r>
            </a:p>
          </p:txBody>
        </p:sp>
      </p:grpSp>
    </p:spTree>
    <p:extLst>
      <p:ext uri="{BB962C8B-B14F-4D97-AF65-F5344CB8AC3E}">
        <p14:creationId xmlns:p14="http://schemas.microsoft.com/office/powerpoint/2010/main" val="114539890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019FDD-725F-8534-EA90-E2044594B0D3}"/>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5CB0F6D9-5E92-5EB1-4799-BC6659D85A5C}"/>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alpha val="65000"/>
                  </a:srgbClr>
                </a:solidFill>
                <a:effectLst/>
                <a:uLnTx/>
                <a:uFillTx/>
                <a:latin typeface="Graphik"/>
                <a:ea typeface="+mn-ea"/>
                <a:cs typeface="+mn-cs"/>
              </a:rPr>
              <a:t>Copyright © 2026 Accenture. Todos los derechos reservados.</a:t>
            </a:r>
          </a:p>
        </p:txBody>
      </p:sp>
      <p:sp>
        <p:nvSpPr>
          <p:cNvPr id="4" name="Slide Number Placeholder 3">
            <a:extLst>
              <a:ext uri="{FF2B5EF4-FFF2-40B4-BE49-F238E27FC236}">
                <a16:creationId xmlns:a16="http://schemas.microsoft.com/office/drawing/2014/main" id="{3A721E09-FCBD-84FA-9776-B48A42155AF5}"/>
              </a:ext>
            </a:extLst>
          </p:cNvPr>
          <p:cNvSpPr>
            <a:spLocks noGrp="1"/>
          </p:cNvSpPr>
          <p:nvPr>
            <p:ph type="sldNum" sz="quarter" idx="429496729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Graphik"/>
                <a:ea typeface="+mn-ea"/>
                <a:cs typeface="+mn-cs"/>
              </a:rPr>
              <a:t> </a:t>
            </a:r>
          </a:p>
        </p:txBody>
      </p:sp>
      <p:sp>
        <p:nvSpPr>
          <p:cNvPr id="23" name="Title 1">
            <a:extLst>
              <a:ext uri="{FF2B5EF4-FFF2-40B4-BE49-F238E27FC236}">
                <a16:creationId xmlns:a16="http://schemas.microsoft.com/office/drawing/2014/main" id="{5844AA0A-B29E-375C-3DEA-15A60CE0BEC5}"/>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dirty="0">
                <a:ln>
                  <a:noFill/>
                </a:ln>
                <a:solidFill>
                  <a:srgbClr val="7500C0"/>
                </a:solidFill>
                <a:effectLst/>
                <a:uLnTx/>
                <a:uFillTx/>
                <a:latin typeface="Graphik"/>
                <a:ea typeface="+mj-ea"/>
                <a:cs typeface="+mj-cs"/>
              </a:rPr>
              <a:t>Arquitectura de Interoperabilidad </a:t>
            </a:r>
            <a:r>
              <a:rPr kumimoji="0" lang="es" sz="2400" b="1" i="0" u="none" strike="noStrike" kern="1200" cap="none" spc="0" normalizeH="0" baseline="0" noProof="0" dirty="0">
                <a:ln>
                  <a:noFill/>
                </a:ln>
                <a:solidFill>
                  <a:srgbClr val="000000"/>
                </a:solidFill>
                <a:effectLst/>
                <a:uLnTx/>
                <a:uFillTx/>
                <a:latin typeface="Graphik"/>
                <a:ea typeface="+mj-ea"/>
                <a:cs typeface="+mj-cs"/>
              </a:rPr>
              <a:t>| </a:t>
            </a:r>
            <a:r>
              <a:rPr kumimoji="0" lang="es" sz="1800" b="1" i="0" u="none" strike="noStrike" kern="1200" cap="none" spc="0" normalizeH="0" baseline="0" noProof="0" dirty="0">
                <a:ln>
                  <a:noFill/>
                </a:ln>
                <a:solidFill>
                  <a:srgbClr val="000000"/>
                </a:solidFill>
                <a:effectLst/>
                <a:uLnTx/>
                <a:uFillTx/>
                <a:latin typeface="Graphik"/>
                <a:ea typeface="+mj-ea"/>
                <a:cs typeface="+mj-cs"/>
              </a:rPr>
              <a:t>Procesamiento de eventos y componentes reactivos</a:t>
            </a:r>
            <a:endParaRPr kumimoji="0" lang="es" sz="2400" b="1" i="0" u="none" strike="noStrike" kern="1200" cap="none" spc="0" normalizeH="0" baseline="0" noProof="0" dirty="0">
              <a:ln>
                <a:noFill/>
              </a:ln>
              <a:solidFill>
                <a:srgbClr val="000000"/>
              </a:solidFill>
              <a:effectLst/>
              <a:uLnTx/>
              <a:uFillTx/>
              <a:latin typeface="Graphik"/>
              <a:ea typeface="+mj-ea"/>
              <a:cs typeface="+mj-cs"/>
            </a:endParaRPr>
          </a:p>
        </p:txBody>
      </p:sp>
      <p:sp>
        <p:nvSpPr>
          <p:cNvPr id="131" name="Kicker"/>
          <p:cNvSpPr txBox="1"/>
          <p:nvPr/>
        </p:nvSpPr>
        <p:spPr>
          <a:xfrm>
            <a:off x="381000" y="775000"/>
            <a:ext cx="10200000" cy="200000"/>
          </a:xfrm>
          <a:prstGeom prst="rect">
            <a:avLst/>
          </a:prstGeom>
        </p:spPr>
        <p:txBody>
          <a:bodyPr lIns="0" tIns="0" rIns="0" bIns="0"/>
          <a:lstStyle/>
          <a:p>
            <a:pPr marL="0" indent="0" algn="l">
              <a:lnSpc>
                <a:spcPct val="104000"/>
              </a:lnSpc>
              <a:spcBef>
                <a:spcPts val="30"/>
              </a:spcBef>
              <a:buNone/>
            </a:pPr>
            <a:r>
              <a:rPr lang="es" sz="1000" b="1" i="0">
                <a:solidFill>
                  <a:srgbClr val="7500C0"/>
                </a:solidFill>
                <a:latin typeface="Graphik"/>
                <a:cs typeface="Graphik"/>
              </a:rPr>
              <a:t>CAPACIDAD DE DOMINIO |    6 SUBCAPACIDADES</a:t>
            </a:r>
          </a:p>
        </p:txBody>
      </p:sp>
      <p:graphicFrame>
        <p:nvGraphicFramePr>
          <p:cNvPr id="100" name="DetailTable"/>
          <p:cNvGraphicFramePr>
            <a:graphicFrameLocks noGrp="1"/>
          </p:cNvGraphicFramePr>
          <p:nvPr>
            <p:extLst>
              <p:ext uri="{D42A27DB-BD31-4B8C-83A1-F6EECF244321}">
                <p14:modId xmlns:p14="http://schemas.microsoft.com/office/powerpoint/2010/main" val="4271267861"/>
              </p:ext>
            </p:extLst>
          </p:nvPr>
        </p:nvGraphicFramePr>
        <p:xfrm>
          <a:off x="381000" y="1015000"/>
          <a:ext cx="11430000" cy="4943652"/>
        </p:xfrm>
        <a:graphic>
          <a:graphicData uri="http://schemas.openxmlformats.org/drawingml/2006/table">
            <a:tbl>
              <a:tblPr firstRow="1"/>
              <a:tblGrid>
                <a:gridCol w="1950000">
                  <a:extLst>
                    <a:ext uri="{9D8B030D-6E8A-4147-A177-3AD203B41FA5}">
                      <a16:colId xmlns:a16="http://schemas.microsoft.com/office/drawing/2014/main" val="20000"/>
                    </a:ext>
                  </a:extLst>
                </a:gridCol>
                <a:gridCol w="3450000">
                  <a:extLst>
                    <a:ext uri="{9D8B030D-6E8A-4147-A177-3AD203B41FA5}">
                      <a16:colId xmlns:a16="http://schemas.microsoft.com/office/drawing/2014/main" val="20001"/>
                    </a:ext>
                  </a:extLst>
                </a:gridCol>
                <a:gridCol w="3150000">
                  <a:extLst>
                    <a:ext uri="{9D8B030D-6E8A-4147-A177-3AD203B41FA5}">
                      <a16:colId xmlns:a16="http://schemas.microsoft.com/office/drawing/2014/main" val="20002"/>
                    </a:ext>
                  </a:extLst>
                </a:gridCol>
                <a:gridCol w="2880000">
                  <a:extLst>
                    <a:ext uri="{9D8B030D-6E8A-4147-A177-3AD203B41FA5}">
                      <a16:colId xmlns:a16="http://schemas.microsoft.com/office/drawing/2014/main" val="20003"/>
                    </a:ext>
                  </a:extLst>
                </a:gridCol>
              </a:tblGrid>
              <a:tr h="300000">
                <a:tc>
                  <a:txBody>
                    <a:bodyPr/>
                    <a:lstStyle/>
                    <a:p>
                      <a:pPr marL="0" indent="0" algn="l">
                        <a:lnSpc>
                          <a:spcPct val="104000"/>
                        </a:lnSpc>
                        <a:spcBef>
                          <a:spcPts val="30"/>
                        </a:spcBef>
                        <a:buNone/>
                      </a:pPr>
                      <a:r>
                        <a:rPr lang="es" sz="1000" b="1" i="0" dirty="0">
                          <a:solidFill>
                            <a:srgbClr val="FFFFFF"/>
                          </a:solidFill>
                          <a:latin typeface="Graphik"/>
                          <a:cs typeface="Graphik"/>
                        </a:rPr>
                        <a:t>Subcapacidad</a:t>
                      </a:r>
                    </a:p>
                  </a:txBody>
                  <a:tcPr marL="82000" marR="82000" marT="38000" marB="38000" anchor="ctr">
                    <a:solidFill>
                      <a:srgbClr val="7500C0"/>
                    </a:solidFill>
                  </a:tcPr>
                </a:tc>
                <a:tc>
                  <a:txBody>
                    <a:bodyPr/>
                    <a:lstStyle/>
                    <a:p>
                      <a:pPr marL="0" indent="0" algn="l">
                        <a:lnSpc>
                          <a:spcPct val="104000"/>
                        </a:lnSpc>
                        <a:spcBef>
                          <a:spcPts val="30"/>
                        </a:spcBef>
                        <a:buNone/>
                      </a:pPr>
                      <a:r>
                        <a:rPr lang="es" sz="1000" b="1" i="0">
                          <a:solidFill>
                            <a:srgbClr val="FFFFFF"/>
                          </a:solidFill>
                          <a:latin typeface="Graphik"/>
                          <a:cs typeface="Graphik"/>
                        </a:rPr>
                        <a:t>Descripción</a:t>
                      </a:r>
                    </a:p>
                  </a:txBody>
                  <a:tcPr marL="82000" marR="82000" marT="38000" marB="38000" anchor="ctr">
                    <a:solidFill>
                      <a:srgbClr val="7500C0"/>
                    </a:solidFill>
                  </a:tcPr>
                </a:tc>
                <a:tc>
                  <a:txBody>
                    <a:bodyPr/>
                    <a:lstStyle/>
                    <a:p>
                      <a:pPr marL="0" indent="0" algn="l">
                        <a:lnSpc>
                          <a:spcPct val="104000"/>
                        </a:lnSpc>
                        <a:spcBef>
                          <a:spcPts val="30"/>
                        </a:spcBef>
                        <a:buNone/>
                      </a:pPr>
                      <a:r>
                        <a:rPr lang="es" sz="1000" b="1" i="0">
                          <a:solidFill>
                            <a:srgbClr val="FFFFFF"/>
                          </a:solidFill>
                          <a:latin typeface="Graphik"/>
                          <a:cs typeface="Graphik"/>
                        </a:rPr>
                        <a:t>Propósito</a:t>
                      </a:r>
                    </a:p>
                  </a:txBody>
                  <a:tcPr marL="82000" marR="82000" marT="38000" marB="38000" anchor="ctr">
                    <a:solidFill>
                      <a:srgbClr val="7500C0"/>
                    </a:solidFill>
                  </a:tcPr>
                </a:tc>
                <a:tc>
                  <a:txBody>
                    <a:bodyPr/>
                    <a:lstStyle/>
                    <a:p>
                      <a:pPr marL="0" indent="0" algn="l">
                        <a:lnSpc>
                          <a:spcPct val="104000"/>
                        </a:lnSpc>
                        <a:spcBef>
                          <a:spcPts val="30"/>
                        </a:spcBef>
                        <a:buNone/>
                      </a:pPr>
                      <a:r>
                        <a:rPr lang="es" sz="1000" b="1" i="0">
                          <a:solidFill>
                            <a:srgbClr val="FFFFFF"/>
                          </a:solidFill>
                          <a:latin typeface="Graphik"/>
                          <a:cs typeface="Graphik"/>
                        </a:rPr>
                        <a:t>Soluciones en Coppel</a:t>
                      </a:r>
                    </a:p>
                  </a:txBody>
                  <a:tcPr marL="82000" marR="82000" marT="38000" marB="38000" anchor="ctr">
                    <a:solidFill>
                      <a:srgbClr val="7500C0"/>
                    </a:solidFill>
                  </a:tcPr>
                </a:tc>
                <a:extLst>
                  <a:ext uri="{0D108BD9-81ED-4DB2-BD59-A6C34878D82A}">
                    <a16:rowId xmlns:a16="http://schemas.microsoft.com/office/drawing/2014/main" val="10000"/>
                  </a:ext>
                </a:extLst>
              </a:tr>
              <a:tr h="849380">
                <a:tc>
                  <a:txBody>
                    <a:bodyPr/>
                    <a:lstStyle/>
                    <a:p>
                      <a:pPr marL="0" indent="0" algn="l">
                        <a:lnSpc>
                          <a:spcPct val="104000"/>
                        </a:lnSpc>
                        <a:spcBef>
                          <a:spcPts val="30"/>
                        </a:spcBef>
                        <a:buNone/>
                      </a:pPr>
                      <a:r>
                        <a:rPr lang="es" sz="800" b="1" i="0">
                          <a:solidFill>
                            <a:srgbClr val="9B7BC7"/>
                          </a:solidFill>
                          <a:latin typeface="Graphik"/>
                          <a:cs typeface="Graphik"/>
                        </a:rPr>
                        <a:t>12.1  </a:t>
                      </a:r>
                      <a:r>
                        <a:rPr lang="es" sz="800" b="1" i="0">
                          <a:solidFill>
                            <a:srgbClr val="7500C0"/>
                          </a:solidFill>
                          <a:latin typeface="Graphik"/>
                          <a:cs typeface="Graphik"/>
                        </a:rPr>
                        <a:t>Mensajería de eventos</a:t>
                      </a:r>
                    </a:p>
                  </a:txBody>
                  <a:tcPr marL="82000" marR="82000" marT="38000" marB="38000" anchor="ctr">
                    <a:solidFill>
                      <a:srgbClr val="EFE7F7"/>
                    </a:solidFill>
                  </a:tcPr>
                </a:tc>
                <a:tc>
                  <a:txBody>
                    <a:bodyPr/>
                    <a:lstStyle/>
                    <a:p>
                      <a:pPr marL="0" indent="0" algn="l">
                        <a:lnSpc>
                          <a:spcPct val="108000"/>
                        </a:lnSpc>
                        <a:spcBef>
                          <a:spcPts val="30"/>
                        </a:spcBef>
                        <a:buNone/>
                      </a:pPr>
                      <a:r>
                        <a:rPr lang="es" sz="800" b="0" i="0">
                          <a:solidFill>
                            <a:srgbClr val="2B2B2B"/>
                          </a:solidFill>
                          <a:latin typeface="Graphik"/>
                          <a:cs typeface="Graphik"/>
                        </a:rPr>
                        <a:t>Publicar y suscribirse a mensajes entre componentes, incluyendo la administración de temas y colas, y el puente entre las múltiples tecnologías de mensajería que normalmente existen en un banco.</a:t>
                      </a:r>
                    </a:p>
                  </a:txBody>
                  <a:tcPr marL="82000" marR="82000" marT="38000" marB="38000" anchor="ctr">
                    <a:solidFill>
                      <a:srgbClr val="FFFFFF"/>
                    </a:solidFill>
                  </a:tcPr>
                </a:tc>
                <a:tc>
                  <a:txBody>
                    <a:bodyPr/>
                    <a:lstStyle/>
                    <a:p>
                      <a:pPr marL="0" indent="0" algn="l">
                        <a:lnSpc>
                          <a:spcPct val="108000"/>
                        </a:lnSpc>
                        <a:spcBef>
                          <a:spcPts val="30"/>
                        </a:spcBef>
                        <a:buNone/>
                      </a:pPr>
                      <a:r>
                        <a:rPr lang="es" sz="800" b="0" i="0">
                          <a:solidFill>
                            <a:srgbClr val="444444"/>
                          </a:solidFill>
                          <a:latin typeface="Graphik"/>
                          <a:cs typeface="Graphik"/>
                        </a:rPr>
                        <a:t>Sustituye el acoplamiento bilateral y síncrono por un canal asíncrono compartido, de modo que productores y consumidores puedan cambiar de forma independiente.</a:t>
                      </a:r>
                    </a:p>
                  </a:txBody>
                  <a:tcPr marL="82000" marR="82000" marT="38000" marB="38000" anchor="ctr">
                    <a:solidFill>
                      <a:srgbClr val="FFFFFF"/>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Kafka/Confluent</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Amazon MQ</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Marco de Eventos Temenos</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Procesador de eventos/Router de eventos/Limpieza de eventos</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MuleSoft para la mensajería de integración</a:t>
                      </a:r>
                    </a:p>
                  </a:txBody>
                  <a:tcPr marL="82000" marR="82000" marT="38000" marB="38000" anchor="ctr">
                    <a:solidFill>
                      <a:srgbClr val="FFFFFF"/>
                    </a:solidFill>
                  </a:tcPr>
                </a:tc>
                <a:extLst>
                  <a:ext uri="{0D108BD9-81ED-4DB2-BD59-A6C34878D82A}">
                    <a16:rowId xmlns:a16="http://schemas.microsoft.com/office/drawing/2014/main" val="10001"/>
                  </a:ext>
                </a:extLst>
              </a:tr>
              <a:tr h="698504">
                <a:tc>
                  <a:txBody>
                    <a:bodyPr/>
                    <a:lstStyle/>
                    <a:p>
                      <a:pPr marL="0" indent="0" algn="l">
                        <a:lnSpc>
                          <a:spcPct val="104000"/>
                        </a:lnSpc>
                        <a:spcBef>
                          <a:spcPts val="30"/>
                        </a:spcBef>
                        <a:buNone/>
                      </a:pPr>
                      <a:r>
                        <a:rPr lang="es" sz="800" b="1" i="0">
                          <a:solidFill>
                            <a:srgbClr val="9B7BC7"/>
                          </a:solidFill>
                          <a:latin typeface="+mn-lt"/>
                          <a:cs typeface="Graphik"/>
                        </a:rPr>
                        <a:t>12.2  </a:t>
                      </a:r>
                      <a:r>
                        <a:rPr lang="es" sz="800" b="1" i="0">
                          <a:solidFill>
                            <a:srgbClr val="7500C0"/>
                          </a:solidFill>
                          <a:latin typeface="Graphik"/>
                          <a:cs typeface="Graphik"/>
                        </a:rPr>
                        <a:t>Retransmisión de eventos</a:t>
                      </a:r>
                    </a:p>
                  </a:txBody>
                  <a:tcPr marL="82000" marR="82000" marT="38000" marB="38000" anchor="ctr">
                    <a:solidFill>
                      <a:srgbClr val="E9DEF4"/>
                    </a:solidFill>
                  </a:tcPr>
                </a:tc>
                <a:tc>
                  <a:txBody>
                    <a:bodyPr/>
                    <a:lstStyle/>
                    <a:p>
                      <a:pPr marL="0" indent="0" algn="l">
                        <a:lnSpc>
                          <a:spcPct val="108000"/>
                        </a:lnSpc>
                        <a:spcBef>
                          <a:spcPts val="30"/>
                        </a:spcBef>
                        <a:buNone/>
                      </a:pPr>
                      <a:r>
                        <a:rPr lang="es" sz="800" b="0" i="0">
                          <a:solidFill>
                            <a:srgbClr val="2B2B2B"/>
                          </a:solidFill>
                          <a:latin typeface="Graphik"/>
                          <a:cs typeface="Graphik"/>
                        </a:rPr>
                        <a:t>Flujos de eventos de alto rendimiento, duraderos y reproducibles con retención, partición y procesamiento continuo de flujos, incluyendo procesamiento complejo de eventos a lo largo de múltiples flujos.</a:t>
                      </a:r>
                    </a:p>
                  </a:txBody>
                  <a:tcPr marL="82000" marR="82000" marT="38000" marB="38000" anchor="ctr">
                    <a:solidFill>
                      <a:srgbClr val="F6F2FB"/>
                    </a:solidFill>
                  </a:tcPr>
                </a:tc>
                <a:tc>
                  <a:txBody>
                    <a:bodyPr/>
                    <a:lstStyle/>
                    <a:p>
                      <a:pPr marL="0" indent="0" algn="l">
                        <a:lnSpc>
                          <a:spcPct val="108000"/>
                        </a:lnSpc>
                        <a:spcBef>
                          <a:spcPts val="30"/>
                        </a:spcBef>
                        <a:buNone/>
                      </a:pPr>
                      <a:r>
                        <a:rPr lang="es" sz="800" b="0" i="0" dirty="0">
                          <a:solidFill>
                            <a:srgbClr val="444444"/>
                          </a:solidFill>
                          <a:latin typeface="Graphik"/>
                          <a:cs typeface="Graphik"/>
                        </a:rPr>
                        <a:t>Proporciona la capacidad de movimiento de datos en tiempo real de la cual dependen la agregación de datos multinúcleo, la descarga de lecturas y el contexto en tiempo real del cliente.</a:t>
                      </a:r>
                    </a:p>
                  </a:txBody>
                  <a:tcPr marL="82000" marR="82000" marT="38000" marB="38000" anchor="ctr">
                    <a:solidFill>
                      <a:srgbClr val="F6F2FB"/>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Amazon Kinesis</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Kafka/Confluent</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Temenos Events Framework con eventos como depósitoCreado/préstamo atrasado/nóminaCrédito</a:t>
                      </a:r>
                    </a:p>
                  </a:txBody>
                  <a:tcPr marL="82000" marR="82000" marT="38000" marB="38000" anchor="ctr">
                    <a:solidFill>
                      <a:srgbClr val="F6F2FB"/>
                    </a:solidFill>
                  </a:tcPr>
                </a:tc>
                <a:extLst>
                  <a:ext uri="{0D108BD9-81ED-4DB2-BD59-A6C34878D82A}">
                    <a16:rowId xmlns:a16="http://schemas.microsoft.com/office/drawing/2014/main" val="10002"/>
                  </a:ext>
                </a:extLst>
              </a:tr>
              <a:tr h="849380">
                <a:tc>
                  <a:txBody>
                    <a:bodyPr/>
                    <a:lstStyle/>
                    <a:p>
                      <a:pPr marL="0" indent="0" algn="l">
                        <a:lnSpc>
                          <a:spcPct val="104000"/>
                        </a:lnSpc>
                        <a:spcBef>
                          <a:spcPts val="30"/>
                        </a:spcBef>
                        <a:buNone/>
                      </a:pPr>
                      <a:r>
                        <a:rPr lang="es" sz="800" b="1" i="0">
                          <a:solidFill>
                            <a:srgbClr val="9B7BC7"/>
                          </a:solidFill>
                          <a:latin typeface="+mn-lt"/>
                          <a:cs typeface="Graphik"/>
                        </a:rPr>
                        <a:t>12.3  </a:t>
                      </a:r>
                      <a:r>
                        <a:rPr lang="es" sz="800" b="1" i="0">
                          <a:solidFill>
                            <a:srgbClr val="7500C0"/>
                          </a:solidFill>
                          <a:latin typeface="Graphik"/>
                          <a:cs typeface="Graphik"/>
                        </a:rPr>
                        <a:t>Entrega Garantizada</a:t>
                      </a:r>
                    </a:p>
                  </a:txBody>
                  <a:tcPr marL="82000" marR="82000" marT="38000" marB="38000" anchor="ctr">
                    <a:solidFill>
                      <a:srgbClr val="EFE7F7"/>
                    </a:solidFill>
                  </a:tcPr>
                </a:tc>
                <a:tc>
                  <a:txBody>
                    <a:bodyPr/>
                    <a:lstStyle/>
                    <a:p>
                      <a:pPr marL="0" indent="0" algn="l">
                        <a:lnSpc>
                          <a:spcPct val="108000"/>
                        </a:lnSpc>
                        <a:spcBef>
                          <a:spcPts val="30"/>
                        </a:spcBef>
                        <a:buNone/>
                      </a:pPr>
                      <a:r>
                        <a:rPr lang="es" sz="800" b="0" i="0" dirty="0">
                          <a:solidFill>
                            <a:srgbClr val="2B2B2B"/>
                          </a:solidFill>
                          <a:latin typeface="Graphik"/>
                          <a:cs typeface="Graphik"/>
                        </a:rPr>
                        <a:t>Mecanismos de garantía de entrega —acuse de reconocimiento, control de idempotencia, reentrega y gestión de cartas muertas— que hacen que la integración asincrónica sea segura para eventos financieros.</a:t>
                      </a:r>
                    </a:p>
                  </a:txBody>
                  <a:tcPr marL="82000" marR="82000" marT="38000" marB="38000" anchor="ctr">
                    <a:solidFill>
                      <a:srgbClr val="FFFFFF"/>
                    </a:solidFill>
                  </a:tcPr>
                </a:tc>
                <a:tc>
                  <a:txBody>
                    <a:bodyPr/>
                    <a:lstStyle/>
                    <a:p>
                      <a:pPr marL="0" indent="0" algn="l">
                        <a:lnSpc>
                          <a:spcPct val="108000"/>
                        </a:lnSpc>
                        <a:spcBef>
                          <a:spcPts val="30"/>
                        </a:spcBef>
                        <a:buNone/>
                      </a:pPr>
                      <a:r>
                        <a:rPr lang="es" sz="800" b="0" i="0">
                          <a:solidFill>
                            <a:srgbClr val="444444"/>
                          </a:solidFill>
                          <a:latin typeface="Graphik"/>
                          <a:cs typeface="Graphik"/>
                        </a:rPr>
                        <a:t>El desacoplamiento asíncrono solo es aceptable en banca si la entrega es demostrable; Esta capacidad es lo que hace que los eventos sean útiles para la contabilidad y los flujos de pago.</a:t>
                      </a:r>
                    </a:p>
                  </a:txBody>
                  <a:tcPr marL="82000" marR="82000" marT="38000" marB="38000" anchor="ctr">
                    <a:solidFill>
                      <a:srgbClr val="FFFFFF"/>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Patrones Kafka/Confluent y Amazon MQ</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No se evidencia ningún producto de dead</a:t>
                      </a:r>
                      <a:r>
                        <a:rPr lang="en-US" sz="700" b="0" i="0" dirty="0">
                          <a:solidFill>
                            <a:srgbClr val="4B2E83"/>
                          </a:solidFill>
                          <a:latin typeface="Graphik"/>
                          <a:cs typeface="Graphik"/>
                        </a:rPr>
                        <a:t>-</a:t>
                      </a:r>
                      <a:r>
                        <a:rPr lang="es" sz="700" b="0" i="0" dirty="0">
                          <a:solidFill>
                            <a:srgbClr val="4B2E83"/>
                          </a:solidFill>
                          <a:latin typeface="Graphik"/>
                          <a:cs typeface="Graphik"/>
                        </a:rPr>
                        <a:t>letter/idempotencia con nombre</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La garantía de entrega debe estar cubierta por los controles de la plataforma de eventos</a:t>
                      </a:r>
                    </a:p>
                  </a:txBody>
                  <a:tcPr marL="82000" marR="82000" marT="38000" marB="38000" anchor="ctr">
                    <a:solidFill>
                      <a:srgbClr val="FFFFFF"/>
                    </a:solidFill>
                  </a:tcPr>
                </a:tc>
                <a:extLst>
                  <a:ext uri="{0D108BD9-81ED-4DB2-BD59-A6C34878D82A}">
                    <a16:rowId xmlns:a16="http://schemas.microsoft.com/office/drawing/2014/main" val="10003"/>
                  </a:ext>
                </a:extLst>
              </a:tr>
              <a:tr h="698504">
                <a:tc>
                  <a:txBody>
                    <a:bodyPr/>
                    <a:lstStyle/>
                    <a:p>
                      <a:pPr marL="0" indent="0" algn="l">
                        <a:lnSpc>
                          <a:spcPct val="104000"/>
                        </a:lnSpc>
                        <a:spcBef>
                          <a:spcPts val="30"/>
                        </a:spcBef>
                        <a:buNone/>
                      </a:pPr>
                      <a:r>
                        <a:rPr lang="es" sz="800" b="1" i="0" dirty="0">
                          <a:solidFill>
                            <a:srgbClr val="9B7BC7"/>
                          </a:solidFill>
                          <a:latin typeface="+mn-lt"/>
                          <a:cs typeface="Graphik"/>
                        </a:rPr>
                        <a:t>12.4  </a:t>
                      </a:r>
                      <a:r>
                        <a:rPr lang="es" sz="800" b="1" i="0" dirty="0">
                          <a:solidFill>
                            <a:srgbClr val="7500C0"/>
                          </a:solidFill>
                          <a:latin typeface="Graphik"/>
                          <a:cs typeface="Graphik"/>
                        </a:rPr>
                        <a:t>Registro de Eventos y Gobernanza de Contratos</a:t>
                      </a:r>
                    </a:p>
                  </a:txBody>
                  <a:tcPr marL="82000" marR="82000" marT="38000" marB="38000" anchor="ctr">
                    <a:solidFill>
                      <a:srgbClr val="E9DEF4"/>
                    </a:solidFill>
                  </a:tcPr>
                </a:tc>
                <a:tc>
                  <a:txBody>
                    <a:bodyPr/>
                    <a:lstStyle/>
                    <a:p>
                      <a:pPr marL="0" indent="0" algn="l">
                        <a:lnSpc>
                          <a:spcPct val="108000"/>
                        </a:lnSpc>
                        <a:spcBef>
                          <a:spcPts val="30"/>
                        </a:spcBef>
                        <a:buNone/>
                      </a:pPr>
                      <a:r>
                        <a:rPr lang="es" sz="800" b="0" i="0">
                          <a:solidFill>
                            <a:srgbClr val="2B2B2B"/>
                          </a:solidFill>
                          <a:latin typeface="Graphik"/>
                          <a:cs typeface="Graphik"/>
                        </a:rPr>
                        <a:t>Catálogo autorizado de definiciones de eventos y esquemas canónicos, con versionado, reglas de compatibilidad y registro de consumidores.</a:t>
                      </a:r>
                    </a:p>
                  </a:txBody>
                  <a:tcPr marL="82000" marR="82000" marT="38000" marB="38000" anchor="ctr">
                    <a:solidFill>
                      <a:srgbClr val="F6F2FB"/>
                    </a:solidFill>
                  </a:tcPr>
                </a:tc>
                <a:tc>
                  <a:txBody>
                    <a:bodyPr/>
                    <a:lstStyle/>
                    <a:p>
                      <a:pPr marL="0" indent="0" algn="l">
                        <a:lnSpc>
                          <a:spcPct val="108000"/>
                        </a:lnSpc>
                        <a:spcBef>
                          <a:spcPts val="30"/>
                        </a:spcBef>
                        <a:buNone/>
                      </a:pPr>
                      <a:r>
                        <a:rPr lang="es" sz="800" b="0" i="0" dirty="0">
                          <a:solidFill>
                            <a:srgbClr val="444444"/>
                          </a:solidFill>
                          <a:latin typeface="Graphik"/>
                          <a:cs typeface="Graphik"/>
                        </a:rPr>
                        <a:t>El equivalente asíncrono de la gestión del ciclo de vida de las APIs; Sin ella, una columna vertebral de eventos se degrada en una malla no documentada de formatos de mensajes privados.</a:t>
                      </a:r>
                    </a:p>
                  </a:txBody>
                  <a:tcPr marL="82000" marR="82000" marT="38000" marB="38000" anchor="ctr">
                    <a:solidFill>
                      <a:srgbClr val="F6F2FB"/>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Gobernanza de BIAN/API/eventos</a:t>
                      </a:r>
                    </a:p>
                    <a:p>
                      <a:pPr marL="150000" indent="-150000" algn="l">
                        <a:lnSpc>
                          <a:spcPct val="104000"/>
                        </a:lnSpc>
                        <a:spcBef>
                          <a:spcPts val="45"/>
                        </a:spcBef>
                        <a:buClr>
                          <a:srgbClr val="7500C0"/>
                        </a:buClr>
                        <a:buFont typeface="Arial"/>
                        <a:buChar char="▪"/>
                      </a:pPr>
                      <a:r>
                        <a:rPr lang="es-ES" sz="700" b="0" i="0" dirty="0" err="1">
                          <a:solidFill>
                            <a:srgbClr val="4B2E83"/>
                          </a:solidFill>
                          <a:latin typeface="+mn-lt"/>
                          <a:cs typeface="Graphik"/>
                        </a:rPr>
                        <a:t>Confluent</a:t>
                      </a:r>
                      <a:r>
                        <a:rPr lang="es-ES" sz="700" b="0" i="0" dirty="0">
                          <a:solidFill>
                            <a:srgbClr val="4B2E83"/>
                          </a:solidFill>
                          <a:latin typeface="+mn-lt"/>
                          <a:cs typeface="Graphik"/>
                        </a:rPr>
                        <a:t>/Kafka </a:t>
                      </a:r>
                      <a:r>
                        <a:rPr lang="es-ES" sz="700" b="0" i="0" dirty="0" err="1">
                          <a:solidFill>
                            <a:srgbClr val="4B2E83"/>
                          </a:solidFill>
                          <a:latin typeface="+mn-lt"/>
                          <a:cs typeface="Graphik"/>
                        </a:rPr>
                        <a:t>stack</a:t>
                      </a:r>
                      <a:endParaRPr lang="es-ES" sz="700" b="0" i="0" dirty="0">
                        <a:solidFill>
                          <a:srgbClr val="4B2E83"/>
                        </a:solidFill>
                        <a:latin typeface="+mn-lt"/>
                        <a:cs typeface="Graphik"/>
                      </a:endParaRP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No se evidencia explícitamente ningún producto de registro o catálogo de esquemas separados</a:t>
                      </a:r>
                    </a:p>
                  </a:txBody>
                  <a:tcPr marL="82000" marR="82000" marT="38000" marB="38000" anchor="ctr">
                    <a:solidFill>
                      <a:srgbClr val="F6F2FB"/>
                    </a:solidFill>
                  </a:tcPr>
                </a:tc>
                <a:extLst>
                  <a:ext uri="{0D108BD9-81ED-4DB2-BD59-A6C34878D82A}">
                    <a16:rowId xmlns:a16="http://schemas.microsoft.com/office/drawing/2014/main" val="10004"/>
                  </a:ext>
                </a:extLst>
              </a:tr>
              <a:tr h="849380">
                <a:tc>
                  <a:txBody>
                    <a:bodyPr/>
                    <a:lstStyle/>
                    <a:p>
                      <a:pPr marL="0" indent="0" algn="l">
                        <a:lnSpc>
                          <a:spcPct val="104000"/>
                        </a:lnSpc>
                        <a:spcBef>
                          <a:spcPts val="30"/>
                        </a:spcBef>
                        <a:buNone/>
                      </a:pPr>
                      <a:r>
                        <a:rPr lang="es" sz="800" b="1" i="0">
                          <a:solidFill>
                            <a:srgbClr val="9B7BC7"/>
                          </a:solidFill>
                          <a:latin typeface="+mn-lt"/>
                          <a:cs typeface="Graphik"/>
                        </a:rPr>
                        <a:t>12.5  </a:t>
                      </a:r>
                      <a:r>
                        <a:rPr lang="es" sz="800" b="1" i="0">
                          <a:solidFill>
                            <a:srgbClr val="7500C0"/>
                          </a:solidFill>
                          <a:latin typeface="Graphik"/>
                          <a:cs typeface="Graphik"/>
                        </a:rPr>
                        <a:t>Malla de eventos y enrutamiento</a:t>
                      </a:r>
                    </a:p>
                  </a:txBody>
                  <a:tcPr marL="82000" marR="82000" marT="38000" marB="38000" anchor="ctr">
                    <a:solidFill>
                      <a:srgbClr val="EFE7F7"/>
                    </a:solidFill>
                  </a:tcPr>
                </a:tc>
                <a:tc>
                  <a:txBody>
                    <a:bodyPr/>
                    <a:lstStyle/>
                    <a:p>
                      <a:pPr marL="0" indent="0" algn="l">
                        <a:lnSpc>
                          <a:spcPct val="108000"/>
                        </a:lnSpc>
                        <a:spcBef>
                          <a:spcPts val="30"/>
                        </a:spcBef>
                        <a:buNone/>
                      </a:pPr>
                      <a:r>
                        <a:rPr lang="es" sz="800" b="0" i="0">
                          <a:solidFill>
                            <a:srgbClr val="2B2B2B"/>
                          </a:solidFill>
                          <a:latin typeface="Graphik"/>
                          <a:cs typeface="Graphik"/>
                        </a:rPr>
                        <a:t>Enrutamiento en clústeres y basado en políticas de eventos entre dominios, entornos, regiones y entidades, presentando un único tejido lógico de eventos sobre infraestructura distribuida.</a:t>
                      </a:r>
                    </a:p>
                  </a:txBody>
                  <a:tcPr marL="82000" marR="82000" marT="38000" marB="38000" anchor="ctr">
                    <a:solidFill>
                      <a:srgbClr val="FFFFFF"/>
                    </a:solidFill>
                  </a:tcPr>
                </a:tc>
                <a:tc>
                  <a:txBody>
                    <a:bodyPr/>
                    <a:lstStyle/>
                    <a:p>
                      <a:pPr marL="0" indent="0" algn="l">
                        <a:lnSpc>
                          <a:spcPct val="108000"/>
                        </a:lnSpc>
                        <a:spcBef>
                          <a:spcPts val="30"/>
                        </a:spcBef>
                        <a:buNone/>
                      </a:pPr>
                      <a:r>
                        <a:rPr lang="es" sz="800" b="0" i="0">
                          <a:solidFill>
                            <a:srgbClr val="444444"/>
                          </a:solidFill>
                          <a:latin typeface="Graphik"/>
                          <a:cs typeface="Graphik"/>
                        </a:rPr>
                        <a:t>El mecanismo mediante el cual un grupo multi-entidad y multipaís comparte información en tiempo real sin construir vínculos bilaterales entre cada par de plataformas.</a:t>
                      </a:r>
                    </a:p>
                  </a:txBody>
                  <a:tcPr marL="82000" marR="82000" marT="38000" marB="38000" anchor="ctr">
                    <a:solidFill>
                      <a:srgbClr val="FFFFFF"/>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Enrutamiento Kafka/Confluent</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Amazon Kinesis</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Consideraciones multirregión/DR de AWS</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Enrutamiento de eventos mediante Event Router y capa de integración</a:t>
                      </a:r>
                    </a:p>
                  </a:txBody>
                  <a:tcPr marL="82000" marR="82000" marT="38000" marB="38000" anchor="ctr">
                    <a:solidFill>
                      <a:srgbClr val="FFFFFF"/>
                    </a:solidFill>
                  </a:tcPr>
                </a:tc>
                <a:extLst>
                  <a:ext uri="{0D108BD9-81ED-4DB2-BD59-A6C34878D82A}">
                    <a16:rowId xmlns:a16="http://schemas.microsoft.com/office/drawing/2014/main" val="10005"/>
                  </a:ext>
                </a:extLst>
              </a:tr>
              <a:tr h="698504">
                <a:tc>
                  <a:txBody>
                    <a:bodyPr/>
                    <a:lstStyle/>
                    <a:p>
                      <a:pPr marL="0" indent="0" algn="l">
                        <a:lnSpc>
                          <a:spcPct val="104000"/>
                        </a:lnSpc>
                        <a:spcBef>
                          <a:spcPts val="30"/>
                        </a:spcBef>
                        <a:buNone/>
                      </a:pPr>
                      <a:r>
                        <a:rPr lang="es" sz="800" b="1" i="0">
                          <a:solidFill>
                            <a:srgbClr val="9B7BC7"/>
                          </a:solidFill>
                          <a:latin typeface="+mn-lt"/>
                          <a:cs typeface="Graphik"/>
                        </a:rPr>
                        <a:t>12.6  </a:t>
                      </a:r>
                      <a:r>
                        <a:rPr lang="es" sz="800" b="1" i="0">
                          <a:solidFill>
                            <a:srgbClr val="7500C0"/>
                          </a:solidFill>
                          <a:latin typeface="Graphik"/>
                          <a:cs typeface="Graphik"/>
                        </a:rPr>
                        <a:t>Monitorización de Eventos</a:t>
                      </a:r>
                    </a:p>
                  </a:txBody>
                  <a:tcPr marL="82000" marR="82000" marT="38000" marB="38000" anchor="ctr">
                    <a:solidFill>
                      <a:srgbClr val="E9DEF4"/>
                    </a:solidFill>
                  </a:tcPr>
                </a:tc>
                <a:tc>
                  <a:txBody>
                    <a:bodyPr/>
                    <a:lstStyle/>
                    <a:p>
                      <a:pPr marL="0" indent="0" algn="l">
                        <a:lnSpc>
                          <a:spcPct val="108000"/>
                        </a:lnSpc>
                        <a:spcBef>
                          <a:spcPts val="30"/>
                        </a:spcBef>
                        <a:buNone/>
                      </a:pPr>
                      <a:r>
                        <a:rPr lang="es" sz="800" b="0" i="0">
                          <a:solidFill>
                            <a:srgbClr val="2B2B2B"/>
                          </a:solidFill>
                          <a:latin typeface="Graphik"/>
                          <a:cs typeface="Graphik"/>
                        </a:rPr>
                        <a:t>Monitorización operativa de la columna vertebral de eventos - rendimiento, retraso del consumidor, tasas de error, violaciones del esquema - y trazabilidad de eventos individuales para auditoría e investigación.</a:t>
                      </a:r>
                    </a:p>
                  </a:txBody>
                  <a:tcPr marL="82000" marR="82000" marT="38000" marB="38000" anchor="ctr">
                    <a:solidFill>
                      <a:srgbClr val="F6F2FB"/>
                    </a:solidFill>
                  </a:tcPr>
                </a:tc>
                <a:tc>
                  <a:txBody>
                    <a:bodyPr/>
                    <a:lstStyle/>
                    <a:p>
                      <a:pPr marL="0" indent="0" algn="l">
                        <a:lnSpc>
                          <a:spcPct val="108000"/>
                        </a:lnSpc>
                        <a:spcBef>
                          <a:spcPts val="30"/>
                        </a:spcBef>
                        <a:buNone/>
                      </a:pPr>
                      <a:r>
                        <a:rPr lang="es" sz="800" b="0" i="0" dirty="0">
                          <a:solidFill>
                            <a:srgbClr val="444444"/>
                          </a:solidFill>
                          <a:latin typeface="Graphik"/>
                          <a:cs typeface="Graphik"/>
                        </a:rPr>
                        <a:t>Los flujos asíncronos fallan silenciosamente por naturaleza; La monitorización es lo que convierte a los usuarios de un punto ciego operativo a un canal gobernado.</a:t>
                      </a:r>
                    </a:p>
                  </a:txBody>
                  <a:tcPr marL="82000" marR="82000" marT="38000" marB="38000" anchor="ctr">
                    <a:solidFill>
                      <a:srgbClr val="F6F2FB"/>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Objetivo de monitorización de flujo de eventos/retardo del consumidor de DataDog</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Exabeam/CloudTrail para auditoría</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Telemetría de procesador/router de eventos</a:t>
                      </a:r>
                    </a:p>
                  </a:txBody>
                  <a:tcPr marL="82000" marR="82000" marT="38000" marB="38000" anchor="ctr">
                    <a:solidFill>
                      <a:srgbClr val="F6F2FB"/>
                    </a:solidFill>
                  </a:tcPr>
                </a:tc>
                <a:extLst>
                  <a:ext uri="{0D108BD9-81ED-4DB2-BD59-A6C34878D82A}">
                    <a16:rowId xmlns:a16="http://schemas.microsoft.com/office/drawing/2014/main" val="10006"/>
                  </a:ext>
                </a:extLst>
              </a:tr>
            </a:tbl>
          </a:graphicData>
        </a:graphic>
      </p:graphicFrame>
      <p:sp>
        <p:nvSpPr>
          <p:cNvPr id="10" name="TextBox 9">
            <a:extLst>
              <a:ext uri="{FF2B5EF4-FFF2-40B4-BE49-F238E27FC236}">
                <a16:creationId xmlns:a16="http://schemas.microsoft.com/office/drawing/2014/main" id="{571DEB08-D0CE-F8AE-EBDB-188B00455B0F}"/>
              </a:ext>
            </a:extLst>
          </p:cNvPr>
          <p:cNvSpPr txBox="1"/>
          <p:nvPr>
            <p:extLst>
              <p:ext uri="{1162E1C5-73C7-4A58-AE30-91384D911F3F}">
                <p184:classification xmlns:p184="http://schemas.microsoft.com/office/powerpoint/2018/4/main" val="hdr"/>
              </p:ext>
            </p:extLst>
          </p:nvPr>
        </p:nvSpPr>
        <p:spPr>
          <a:xfrm>
            <a:off x="379000" y="78170"/>
            <a:ext cx="11432000" cy="154830"/>
          </a:xfrm>
          <a:prstGeom prst="rect">
            <a:avLst/>
          </a:prstGeom>
        </p:spPr>
        <p:txBody>
          <a:bodyPr horzOverflow="overflow"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000" b="0" i="0" u="none" strike="noStrike" kern="1200" cap="none" spc="0" normalizeH="0" baseline="0" noProof="0">
                <a:ln>
                  <a:noFill/>
                </a:ln>
                <a:solidFill>
                  <a:srgbClr val="000000"/>
                </a:solidFill>
                <a:effectLst/>
                <a:uLnTx/>
                <a:uFillTx/>
                <a:latin typeface="Graphik (Body)"/>
                <a:ea typeface="+mn-ea"/>
                <a:cs typeface="Calibri" panose="020F0502020204030204" pitchFamily="34" charset="0"/>
              </a:rPr>
              <a:t>*** Confidencial - Solo para uso interno de la empresa ***</a:t>
            </a:r>
          </a:p>
        </p:txBody>
      </p:sp>
      <p:grpSp>
        <p:nvGrpSpPr>
          <p:cNvPr id="12" name="Group 11">
            <a:extLst>
              <a:ext uri="{FF2B5EF4-FFF2-40B4-BE49-F238E27FC236}">
                <a16:creationId xmlns:a16="http://schemas.microsoft.com/office/drawing/2014/main" id="{BE2FAA20-FABF-87CB-3DE2-EE2E1F0271C9}"/>
              </a:ext>
            </a:extLst>
          </p:cNvPr>
          <p:cNvGrpSpPr/>
          <p:nvPr/>
        </p:nvGrpSpPr>
        <p:grpSpPr>
          <a:xfrm>
            <a:off x="717042" y="6191083"/>
            <a:ext cx="4001014" cy="631639"/>
            <a:chOff x="717042" y="6191083"/>
            <a:chExt cx="4001014" cy="631639"/>
          </a:xfrm>
        </p:grpSpPr>
        <p:sp>
          <p:nvSpPr>
            <p:cNvPr id="14" name="Rectangle 13">
              <a:extLst>
                <a:ext uri="{FF2B5EF4-FFF2-40B4-BE49-F238E27FC236}">
                  <a16:creationId xmlns:a16="http://schemas.microsoft.com/office/drawing/2014/main" id="{5BE141AF-44FD-BDCD-B7BC-2A665358DDCC}"/>
                </a:ext>
              </a:extLst>
            </p:cNvPr>
            <p:cNvSpPr>
              <a:spLocks noChangeAspect="1"/>
            </p:cNvSpPr>
            <p:nvPr/>
          </p:nvSpPr>
          <p:spPr>
            <a:xfrm>
              <a:off x="1936749" y="6410745"/>
              <a:ext cx="774645" cy="202427"/>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GAP</a:t>
              </a:r>
            </a:p>
          </p:txBody>
        </p:sp>
        <p:sp>
          <p:nvSpPr>
            <p:cNvPr id="16" name="Rectangle 15">
              <a:extLst>
                <a:ext uri="{FF2B5EF4-FFF2-40B4-BE49-F238E27FC236}">
                  <a16:creationId xmlns:a16="http://schemas.microsoft.com/office/drawing/2014/main" id="{D779C904-72C8-19D5-5DC9-5CDEB191CF92}"/>
                </a:ext>
              </a:extLst>
            </p:cNvPr>
            <p:cNvSpPr>
              <a:spLocks noChangeAspect="1"/>
            </p:cNvSpPr>
            <p:nvPr/>
          </p:nvSpPr>
          <p:spPr>
            <a:xfrm>
              <a:off x="1936749" y="6191083"/>
              <a:ext cx="774645" cy="202427"/>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Objetivo</a:t>
              </a:r>
            </a:p>
          </p:txBody>
        </p:sp>
        <p:sp>
          <p:nvSpPr>
            <p:cNvPr id="18" name="Rectangle 17">
              <a:extLst>
                <a:ext uri="{FF2B5EF4-FFF2-40B4-BE49-F238E27FC236}">
                  <a16:creationId xmlns:a16="http://schemas.microsoft.com/office/drawing/2014/main" id="{51D0EBB9-4CBB-CE0B-117B-40127BAA5DFF}"/>
                </a:ext>
              </a:extLst>
            </p:cNvPr>
            <p:cNvSpPr>
              <a:spLocks noChangeAspect="1"/>
            </p:cNvSpPr>
            <p:nvPr/>
          </p:nvSpPr>
          <p:spPr>
            <a:xfrm>
              <a:off x="1936749" y="6620295"/>
              <a:ext cx="774645" cy="202427"/>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Descartar</a:t>
              </a:r>
            </a:p>
          </p:txBody>
        </p:sp>
        <p:sp>
          <p:nvSpPr>
            <p:cNvPr id="20" name="Oval 19">
              <a:extLst>
                <a:ext uri="{FF2B5EF4-FFF2-40B4-BE49-F238E27FC236}">
                  <a16:creationId xmlns:a16="http://schemas.microsoft.com/office/drawing/2014/main" id="{CCF4CDAD-A136-BC84-CFF3-A041AB0A2EC0}"/>
                </a:ext>
              </a:extLst>
            </p:cNvPr>
            <p:cNvSpPr>
              <a:spLocks noChangeAspect="1"/>
            </p:cNvSpPr>
            <p:nvPr/>
          </p:nvSpPr>
          <p:spPr>
            <a:xfrm>
              <a:off x="4077214" y="6226238"/>
              <a:ext cx="640842" cy="184507"/>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700"/>
                <a:t>Alto</a:t>
              </a:r>
            </a:p>
          </p:txBody>
        </p:sp>
        <p:sp>
          <p:nvSpPr>
            <p:cNvPr id="21" name="Rectangle 20">
              <a:extLst>
                <a:ext uri="{FF2B5EF4-FFF2-40B4-BE49-F238E27FC236}">
                  <a16:creationId xmlns:a16="http://schemas.microsoft.com/office/drawing/2014/main" id="{BC8857D8-48AA-3148-C15F-DB065FA3AB18}"/>
                </a:ext>
              </a:extLst>
            </p:cNvPr>
            <p:cNvSpPr>
              <a:spLocks noChangeAspect="1"/>
            </p:cNvSpPr>
            <p:nvPr/>
          </p:nvSpPr>
          <p:spPr>
            <a:xfrm>
              <a:off x="717042" y="6283336"/>
              <a:ext cx="1022032" cy="455578"/>
            </a:xfrm>
            <a:prstGeom prst="rect">
              <a:avLst/>
            </a:prstGeom>
            <a:solidFill>
              <a:srgbClr val="7500C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Evaluación de capacidades</a:t>
              </a:r>
            </a:p>
          </p:txBody>
        </p:sp>
        <p:sp>
          <p:nvSpPr>
            <p:cNvPr id="22" name="Rectangle 21">
              <a:extLst>
                <a:ext uri="{FF2B5EF4-FFF2-40B4-BE49-F238E27FC236}">
                  <a16:creationId xmlns:a16="http://schemas.microsoft.com/office/drawing/2014/main" id="{FDBB3BB2-22D5-FB4A-3165-E9DE22AB8A53}"/>
                </a:ext>
              </a:extLst>
            </p:cNvPr>
            <p:cNvSpPr>
              <a:spLocks noChangeAspect="1"/>
            </p:cNvSpPr>
            <p:nvPr/>
          </p:nvSpPr>
          <p:spPr>
            <a:xfrm>
              <a:off x="2816387" y="6282396"/>
              <a:ext cx="1022032" cy="455578"/>
            </a:xfrm>
            <a:prstGeom prst="rect">
              <a:avLst/>
            </a:prstGeom>
            <a:solidFill>
              <a:srgbClr val="7500C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Prioridad</a:t>
              </a:r>
            </a:p>
          </p:txBody>
        </p:sp>
        <p:sp>
          <p:nvSpPr>
            <p:cNvPr id="24" name="Oval 23">
              <a:extLst>
                <a:ext uri="{FF2B5EF4-FFF2-40B4-BE49-F238E27FC236}">
                  <a16:creationId xmlns:a16="http://schemas.microsoft.com/office/drawing/2014/main" id="{E8106FFC-2442-B460-917B-6EFBB4B9F5D9}"/>
                </a:ext>
              </a:extLst>
            </p:cNvPr>
            <p:cNvSpPr>
              <a:spLocks noChangeAspect="1"/>
            </p:cNvSpPr>
            <p:nvPr/>
          </p:nvSpPr>
          <p:spPr>
            <a:xfrm>
              <a:off x="4077214" y="6435788"/>
              <a:ext cx="640842" cy="184507"/>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700"/>
                <a:t>Medio</a:t>
              </a:r>
            </a:p>
          </p:txBody>
        </p:sp>
        <p:sp>
          <p:nvSpPr>
            <p:cNvPr id="25" name="Oval 24">
              <a:extLst>
                <a:ext uri="{FF2B5EF4-FFF2-40B4-BE49-F238E27FC236}">
                  <a16:creationId xmlns:a16="http://schemas.microsoft.com/office/drawing/2014/main" id="{FE2FCFD9-8294-B3E3-3064-D31C3B8E5AA3}"/>
                </a:ext>
              </a:extLst>
            </p:cNvPr>
            <p:cNvSpPr>
              <a:spLocks noChangeAspect="1"/>
            </p:cNvSpPr>
            <p:nvPr/>
          </p:nvSpPr>
          <p:spPr>
            <a:xfrm>
              <a:off x="4077214" y="6633421"/>
              <a:ext cx="640842" cy="184507"/>
            </a:xfrm>
            <a:prstGeom prst="ellipse">
              <a:avLst/>
            </a:prstGeom>
            <a:solidFill>
              <a:srgbClr val="DCAFFF"/>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700"/>
                <a:t>Bajo</a:t>
              </a:r>
            </a:p>
          </p:txBody>
        </p:sp>
      </p:grpSp>
    </p:spTree>
    <p:extLst>
      <p:ext uri="{BB962C8B-B14F-4D97-AF65-F5344CB8AC3E}">
        <p14:creationId xmlns:p14="http://schemas.microsoft.com/office/powerpoint/2010/main" val="114539890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019FDD-725F-8534-EA90-E2044594B0D3}"/>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5CB0F6D9-5E92-5EB1-4799-BC6659D85A5C}"/>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alpha val="65000"/>
                  </a:srgbClr>
                </a:solidFill>
                <a:effectLst/>
                <a:uLnTx/>
                <a:uFillTx/>
                <a:latin typeface="Graphik"/>
                <a:ea typeface="+mn-ea"/>
                <a:cs typeface="+mn-cs"/>
              </a:rPr>
              <a:t>Copyright © 2026 Accenture. Todos los derechos reservados.</a:t>
            </a:r>
          </a:p>
        </p:txBody>
      </p:sp>
      <p:sp>
        <p:nvSpPr>
          <p:cNvPr id="4" name="Slide Number Placeholder 3">
            <a:extLst>
              <a:ext uri="{FF2B5EF4-FFF2-40B4-BE49-F238E27FC236}">
                <a16:creationId xmlns:a16="http://schemas.microsoft.com/office/drawing/2014/main" id="{3A721E09-FCBD-84FA-9776-B48A42155AF5}"/>
              </a:ext>
            </a:extLst>
          </p:cNvPr>
          <p:cNvSpPr>
            <a:spLocks noGrp="1"/>
          </p:cNvSpPr>
          <p:nvPr>
            <p:ph type="sldNum" sz="quarter" idx="429496729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Graphik"/>
                <a:ea typeface="+mn-ea"/>
                <a:cs typeface="+mn-cs"/>
              </a:rPr>
              <a:t> </a:t>
            </a:r>
          </a:p>
        </p:txBody>
      </p:sp>
      <p:sp>
        <p:nvSpPr>
          <p:cNvPr id="23" name="Title 1">
            <a:extLst>
              <a:ext uri="{FF2B5EF4-FFF2-40B4-BE49-F238E27FC236}">
                <a16:creationId xmlns:a16="http://schemas.microsoft.com/office/drawing/2014/main" id="{5844AA0A-B29E-375C-3DEA-15A60CE0BEC5}"/>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a:ln>
                  <a:noFill/>
                </a:ln>
                <a:solidFill>
                  <a:srgbClr val="7500C0"/>
                </a:solidFill>
                <a:effectLst/>
                <a:uLnTx/>
                <a:uFillTx/>
                <a:latin typeface="Graphik"/>
                <a:ea typeface="+mj-ea"/>
                <a:cs typeface="+mj-cs"/>
              </a:rPr>
              <a:t>Arquitectura de Interoperabilidad </a:t>
            </a:r>
            <a:r>
              <a:rPr kumimoji="0" lang="es" sz="2400" b="1" i="0" u="none" strike="noStrike" kern="1200" cap="none" spc="0" normalizeH="0" baseline="0" noProof="0">
                <a:ln>
                  <a:noFill/>
                </a:ln>
                <a:solidFill>
                  <a:srgbClr val="000000"/>
                </a:solidFill>
                <a:effectLst/>
                <a:uLnTx/>
                <a:uFillTx/>
                <a:latin typeface="Graphik"/>
                <a:ea typeface="+mj-ea"/>
                <a:cs typeface="+mj-cs"/>
              </a:rPr>
              <a:t>| </a:t>
            </a:r>
            <a:r>
              <a:rPr kumimoji="0" lang="es" sz="2000" b="1" i="0" u="none" strike="noStrike" kern="1200" cap="none" spc="0" normalizeH="0" baseline="0" noProof="0">
                <a:ln>
                  <a:noFill/>
                </a:ln>
                <a:solidFill>
                  <a:srgbClr val="000000"/>
                </a:solidFill>
                <a:effectLst/>
                <a:uLnTx/>
                <a:uFillTx/>
                <a:latin typeface="Graphik"/>
                <a:ea typeface="+mj-ea"/>
                <a:cs typeface="+mj-cs"/>
              </a:rPr>
              <a:t>Infraestructura (Pila Tecnológica)</a:t>
            </a:r>
            <a:endParaRPr kumimoji="0" lang="es" sz="2400" b="1" i="0" u="none" strike="noStrike" kern="1200" cap="none" spc="0" normalizeH="0" baseline="0" noProof="0">
              <a:ln>
                <a:noFill/>
              </a:ln>
              <a:solidFill>
                <a:srgbClr val="000000"/>
              </a:solidFill>
              <a:effectLst/>
              <a:uLnTx/>
              <a:uFillTx/>
              <a:latin typeface="Graphik"/>
              <a:ea typeface="+mj-ea"/>
              <a:cs typeface="+mj-cs"/>
            </a:endParaRPr>
          </a:p>
        </p:txBody>
      </p:sp>
      <p:sp>
        <p:nvSpPr>
          <p:cNvPr id="131" name="Kicker"/>
          <p:cNvSpPr txBox="1"/>
          <p:nvPr/>
        </p:nvSpPr>
        <p:spPr>
          <a:xfrm>
            <a:off x="381000" y="775000"/>
            <a:ext cx="10200000" cy="200000"/>
          </a:xfrm>
          <a:prstGeom prst="rect">
            <a:avLst/>
          </a:prstGeom>
        </p:spPr>
        <p:txBody>
          <a:bodyPr lIns="0" tIns="0" rIns="0" bIns="0"/>
          <a:lstStyle/>
          <a:p>
            <a:pPr marL="0" indent="0" algn="l">
              <a:lnSpc>
                <a:spcPct val="104000"/>
              </a:lnSpc>
              <a:spcBef>
                <a:spcPts val="30"/>
              </a:spcBef>
              <a:buNone/>
            </a:pPr>
            <a:r>
              <a:rPr lang="es" sz="1000" b="1" i="0" dirty="0">
                <a:solidFill>
                  <a:srgbClr val="C00000"/>
                </a:solidFill>
                <a:latin typeface="Graphik"/>
                <a:cs typeface="Graphik"/>
              </a:rPr>
              <a:t>NÚCLEO &amp; PLATAFORMA | 5 SUBCAPACIDADES</a:t>
            </a:r>
          </a:p>
        </p:txBody>
      </p:sp>
      <p:sp>
        <p:nvSpPr>
          <p:cNvPr id="130" name="KBadge"/>
          <p:cNvSpPr/>
          <p:nvPr/>
        </p:nvSpPr>
        <p:spPr>
          <a:xfrm>
            <a:off x="10980000" y="392000"/>
            <a:ext cx="300000" cy="300000"/>
          </a:xfrm>
          <a:prstGeom prst="ellipse">
            <a:avLst/>
          </a:prstGeom>
          <a:solidFill>
            <a:srgbClr val="C00000"/>
          </a:solidFill>
        </p:spPr>
        <p:txBody>
          <a:bodyPr anchor="ctr"/>
          <a:lstStyle/>
          <a:p>
            <a:pPr marL="0" indent="0" algn="ctr">
              <a:lnSpc>
                <a:spcPct val="104000"/>
              </a:lnSpc>
              <a:spcBef>
                <a:spcPts val="30"/>
              </a:spcBef>
              <a:buNone/>
            </a:pPr>
            <a:r>
              <a:rPr lang="es" sz="1400" b="1" i="0">
                <a:solidFill>
                  <a:srgbClr val="FFFFFF"/>
                </a:solidFill>
                <a:latin typeface="Graphik"/>
                <a:cs typeface="Graphik"/>
              </a:rPr>
              <a:t>K</a:t>
            </a:r>
          </a:p>
        </p:txBody>
      </p:sp>
      <p:graphicFrame>
        <p:nvGraphicFramePr>
          <p:cNvPr id="100" name="DetailTable"/>
          <p:cNvGraphicFramePr>
            <a:graphicFrameLocks noGrp="1"/>
          </p:cNvGraphicFramePr>
          <p:nvPr>
            <p:extLst>
              <p:ext uri="{D42A27DB-BD31-4B8C-83A1-F6EECF244321}">
                <p14:modId xmlns:p14="http://schemas.microsoft.com/office/powerpoint/2010/main" val="2910773373"/>
              </p:ext>
            </p:extLst>
          </p:nvPr>
        </p:nvGraphicFramePr>
        <p:xfrm>
          <a:off x="381000" y="1015000"/>
          <a:ext cx="11430000" cy="5133640"/>
        </p:xfrm>
        <a:graphic>
          <a:graphicData uri="http://schemas.openxmlformats.org/drawingml/2006/table">
            <a:tbl>
              <a:tblPr firstRow="1"/>
              <a:tblGrid>
                <a:gridCol w="1950000">
                  <a:extLst>
                    <a:ext uri="{9D8B030D-6E8A-4147-A177-3AD203B41FA5}">
                      <a16:colId xmlns:a16="http://schemas.microsoft.com/office/drawing/2014/main" val="20000"/>
                    </a:ext>
                  </a:extLst>
                </a:gridCol>
                <a:gridCol w="3450000">
                  <a:extLst>
                    <a:ext uri="{9D8B030D-6E8A-4147-A177-3AD203B41FA5}">
                      <a16:colId xmlns:a16="http://schemas.microsoft.com/office/drawing/2014/main" val="20001"/>
                    </a:ext>
                  </a:extLst>
                </a:gridCol>
                <a:gridCol w="3150000">
                  <a:extLst>
                    <a:ext uri="{9D8B030D-6E8A-4147-A177-3AD203B41FA5}">
                      <a16:colId xmlns:a16="http://schemas.microsoft.com/office/drawing/2014/main" val="20002"/>
                    </a:ext>
                  </a:extLst>
                </a:gridCol>
                <a:gridCol w="2880000">
                  <a:extLst>
                    <a:ext uri="{9D8B030D-6E8A-4147-A177-3AD203B41FA5}">
                      <a16:colId xmlns:a16="http://schemas.microsoft.com/office/drawing/2014/main" val="20003"/>
                    </a:ext>
                  </a:extLst>
                </a:gridCol>
              </a:tblGrid>
              <a:tr h="300000">
                <a:tc>
                  <a:txBody>
                    <a:bodyPr/>
                    <a:lstStyle/>
                    <a:p>
                      <a:pPr marL="0" indent="0" algn="l">
                        <a:lnSpc>
                          <a:spcPct val="104000"/>
                        </a:lnSpc>
                        <a:spcBef>
                          <a:spcPts val="30"/>
                        </a:spcBef>
                        <a:buNone/>
                      </a:pPr>
                      <a:r>
                        <a:rPr lang="es" sz="1000" b="1" i="0" dirty="0">
                          <a:solidFill>
                            <a:srgbClr val="FFFFFF"/>
                          </a:solidFill>
                          <a:latin typeface="Graphik"/>
                          <a:cs typeface="Graphik"/>
                        </a:rPr>
                        <a:t>Subcapacidad</a:t>
                      </a:r>
                    </a:p>
                  </a:txBody>
                  <a:tcPr marL="82000" marR="82000" marT="38000" marB="38000" anchor="ctr">
                    <a:solidFill>
                      <a:srgbClr val="7500C0"/>
                    </a:solidFill>
                  </a:tcPr>
                </a:tc>
                <a:tc>
                  <a:txBody>
                    <a:bodyPr/>
                    <a:lstStyle/>
                    <a:p>
                      <a:pPr marL="0" indent="0" algn="l">
                        <a:lnSpc>
                          <a:spcPct val="104000"/>
                        </a:lnSpc>
                        <a:spcBef>
                          <a:spcPts val="30"/>
                        </a:spcBef>
                        <a:buNone/>
                      </a:pPr>
                      <a:r>
                        <a:rPr lang="es" sz="1000" b="1" i="0">
                          <a:solidFill>
                            <a:srgbClr val="FFFFFF"/>
                          </a:solidFill>
                          <a:latin typeface="Graphik"/>
                          <a:cs typeface="Graphik"/>
                        </a:rPr>
                        <a:t>Descripción</a:t>
                      </a:r>
                    </a:p>
                  </a:txBody>
                  <a:tcPr marL="82000" marR="82000" marT="38000" marB="38000" anchor="ctr">
                    <a:solidFill>
                      <a:srgbClr val="7500C0"/>
                    </a:solidFill>
                  </a:tcPr>
                </a:tc>
                <a:tc>
                  <a:txBody>
                    <a:bodyPr/>
                    <a:lstStyle/>
                    <a:p>
                      <a:pPr marL="0" indent="0" algn="l">
                        <a:lnSpc>
                          <a:spcPct val="104000"/>
                        </a:lnSpc>
                        <a:spcBef>
                          <a:spcPts val="30"/>
                        </a:spcBef>
                        <a:buNone/>
                      </a:pPr>
                      <a:r>
                        <a:rPr lang="es" sz="1000" b="1" i="0">
                          <a:solidFill>
                            <a:srgbClr val="FFFFFF"/>
                          </a:solidFill>
                          <a:latin typeface="Graphik"/>
                          <a:cs typeface="Graphik"/>
                        </a:rPr>
                        <a:t>Propósito</a:t>
                      </a:r>
                    </a:p>
                  </a:txBody>
                  <a:tcPr marL="82000" marR="82000" marT="38000" marB="38000" anchor="ctr">
                    <a:solidFill>
                      <a:srgbClr val="7500C0"/>
                    </a:solidFill>
                  </a:tcPr>
                </a:tc>
                <a:tc>
                  <a:txBody>
                    <a:bodyPr/>
                    <a:lstStyle/>
                    <a:p>
                      <a:pPr marL="0" indent="0" algn="l">
                        <a:lnSpc>
                          <a:spcPct val="104000"/>
                        </a:lnSpc>
                        <a:spcBef>
                          <a:spcPts val="30"/>
                        </a:spcBef>
                        <a:buNone/>
                      </a:pPr>
                      <a:r>
                        <a:rPr lang="es" sz="1000" b="1" i="0">
                          <a:solidFill>
                            <a:srgbClr val="FFFFFF"/>
                          </a:solidFill>
                          <a:latin typeface="Graphik"/>
                          <a:cs typeface="Graphik"/>
                        </a:rPr>
                        <a:t>Soluciones en Coppel</a:t>
                      </a:r>
                    </a:p>
                  </a:txBody>
                  <a:tcPr marL="82000" marR="82000" marT="38000" marB="38000" anchor="ctr">
                    <a:solidFill>
                      <a:srgbClr val="7500C0"/>
                    </a:solidFill>
                  </a:tcPr>
                </a:tc>
                <a:extLst>
                  <a:ext uri="{0D108BD9-81ED-4DB2-BD59-A6C34878D82A}">
                    <a16:rowId xmlns:a16="http://schemas.microsoft.com/office/drawing/2014/main" val="10000"/>
                  </a:ext>
                </a:extLst>
              </a:tr>
              <a:tr h="1100840">
                <a:tc>
                  <a:txBody>
                    <a:bodyPr/>
                    <a:lstStyle/>
                    <a:p>
                      <a:pPr marL="0" indent="0" algn="l">
                        <a:lnSpc>
                          <a:spcPct val="104000"/>
                        </a:lnSpc>
                        <a:spcBef>
                          <a:spcPts val="30"/>
                        </a:spcBef>
                        <a:buNone/>
                      </a:pPr>
                      <a:r>
                        <a:rPr lang="es" sz="800" b="1" i="0" dirty="0">
                          <a:solidFill>
                            <a:srgbClr val="9B7BC7"/>
                          </a:solidFill>
                          <a:latin typeface="Graphik"/>
                          <a:cs typeface="Graphik"/>
                        </a:rPr>
                        <a:t>13.1  </a:t>
                      </a:r>
                      <a:r>
                        <a:rPr lang="es" sz="800" b="1" i="0" dirty="0">
                          <a:solidFill>
                            <a:srgbClr val="7500C0"/>
                          </a:solidFill>
                          <a:latin typeface="Graphik"/>
                          <a:cs typeface="Graphik"/>
                        </a:rPr>
                        <a:t>Marco de Microservicios</a:t>
                      </a:r>
                    </a:p>
                  </a:txBody>
                  <a:tcPr marL="82000" marR="82000" marT="38000" marB="38000" anchor="ctr">
                    <a:solidFill>
                      <a:srgbClr val="EFE7F7"/>
                    </a:solidFill>
                  </a:tcPr>
                </a:tc>
                <a:tc>
                  <a:txBody>
                    <a:bodyPr/>
                    <a:lstStyle/>
                    <a:p>
                      <a:pPr marL="0" indent="0" algn="l">
                        <a:lnSpc>
                          <a:spcPct val="108000"/>
                        </a:lnSpc>
                        <a:spcBef>
                          <a:spcPts val="30"/>
                        </a:spcBef>
                        <a:buNone/>
                      </a:pPr>
                      <a:r>
                        <a:rPr lang="es" sz="800" b="0" i="0" dirty="0">
                          <a:solidFill>
                            <a:srgbClr val="2B2B2B"/>
                          </a:solidFill>
                          <a:latin typeface="Graphik"/>
                          <a:cs typeface="Graphik"/>
                        </a:rPr>
                        <a:t>El marco de desarrollo y ejecución opinado que aloja servicios autosuficientes independientemente del dominio de negocio, incluyendo librerias base compartidas, entornos de ejecución aprobados por lenguajes, servicios del kernel, descubrimiento de servicios e integración de service mesh.</a:t>
                      </a:r>
                    </a:p>
                  </a:txBody>
                  <a:tcPr marL="82000" marR="82000" marT="38000" marB="38000" anchor="ctr">
                    <a:solidFill>
                      <a:srgbClr val="FFFFFF"/>
                    </a:solidFill>
                  </a:tcPr>
                </a:tc>
                <a:tc>
                  <a:txBody>
                    <a:bodyPr/>
                    <a:lstStyle/>
                    <a:p>
                      <a:pPr marL="0" indent="0" algn="l">
                        <a:lnSpc>
                          <a:spcPct val="108000"/>
                        </a:lnSpc>
                        <a:spcBef>
                          <a:spcPts val="30"/>
                        </a:spcBef>
                        <a:buNone/>
                      </a:pPr>
                      <a:r>
                        <a:rPr lang="es" sz="800" b="0" i="0" dirty="0">
                          <a:solidFill>
                            <a:srgbClr val="444444"/>
                          </a:solidFill>
                          <a:latin typeface="Graphik"/>
                          <a:cs typeface="Graphik"/>
                        </a:rPr>
                        <a:t>El marco es donde se heredan las preocupaciones transversales en lugar de reconstruirse; Su calidad establece el techo de productividad para cada equipo de dominio.</a:t>
                      </a:r>
                    </a:p>
                  </a:txBody>
                  <a:tcPr marL="82000" marR="82000" marT="38000" marB="38000" anchor="ctr">
                    <a:solidFill>
                      <a:srgbClr val="FFFFFF"/>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Microservicios Spring Boot</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Microservicios Modyo Connect</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API/componentes de Temenos DES</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ECS/ECS/Color</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Kubernetes</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Service Mesh Istio</a:t>
                      </a:r>
                    </a:p>
                  </a:txBody>
                  <a:tcPr marL="82000" marR="82000" marT="38000" marB="38000" anchor="ctr">
                    <a:solidFill>
                      <a:srgbClr val="FFFFFF"/>
                    </a:solidFill>
                  </a:tcPr>
                </a:tc>
                <a:extLst>
                  <a:ext uri="{0D108BD9-81ED-4DB2-BD59-A6C34878D82A}">
                    <a16:rowId xmlns:a16="http://schemas.microsoft.com/office/drawing/2014/main" val="10001"/>
                  </a:ext>
                </a:extLst>
              </a:tr>
              <a:tr h="933200">
                <a:tc>
                  <a:txBody>
                    <a:bodyPr/>
                    <a:lstStyle/>
                    <a:p>
                      <a:pPr marL="0" indent="0" algn="l">
                        <a:lnSpc>
                          <a:spcPct val="104000"/>
                        </a:lnSpc>
                        <a:spcBef>
                          <a:spcPts val="30"/>
                        </a:spcBef>
                        <a:buNone/>
                      </a:pPr>
                      <a:r>
                        <a:rPr lang="es" sz="800" b="1" i="0">
                          <a:solidFill>
                            <a:srgbClr val="9B7BC7"/>
                          </a:solidFill>
                          <a:latin typeface="+mn-lt"/>
                          <a:cs typeface="Graphik"/>
                        </a:rPr>
                        <a:t>13.2  </a:t>
                      </a:r>
                      <a:r>
                        <a:rPr lang="es" sz="800" b="1" i="0">
                          <a:solidFill>
                            <a:srgbClr val="7500C0"/>
                          </a:solidFill>
                          <a:latin typeface="Graphik"/>
                          <a:cs typeface="Graphik"/>
                        </a:rPr>
                        <a:t>Plataforma de contenedor y tiempo de ejecución</a:t>
                      </a:r>
                    </a:p>
                  </a:txBody>
                  <a:tcPr marL="82000" marR="82000" marT="38000" marB="38000" anchor="ctr">
                    <a:solidFill>
                      <a:srgbClr val="E9DEF4"/>
                    </a:solidFill>
                  </a:tcPr>
                </a:tc>
                <a:tc>
                  <a:txBody>
                    <a:bodyPr/>
                    <a:lstStyle/>
                    <a:p>
                      <a:pPr marL="0" indent="0" algn="l">
                        <a:lnSpc>
                          <a:spcPct val="108000"/>
                        </a:lnSpc>
                        <a:spcBef>
                          <a:spcPts val="30"/>
                        </a:spcBef>
                        <a:buNone/>
                      </a:pPr>
                      <a:r>
                        <a:rPr lang="es" sz="800" b="0" i="0" dirty="0">
                          <a:solidFill>
                            <a:srgbClr val="2B2B2B"/>
                          </a:solidFill>
                          <a:latin typeface="Graphik"/>
                          <a:cs typeface="Graphik"/>
                        </a:rPr>
                        <a:t>Orquestación de contenedores, ejecución serverless y gestión de imágenes proporcionan el sustrato elástico de cómputo para componentes de interoperabilidad.</a:t>
                      </a:r>
                    </a:p>
                  </a:txBody>
                  <a:tcPr marL="82000" marR="82000" marT="38000" marB="38000" anchor="ctr">
                    <a:solidFill>
                      <a:srgbClr val="F6F2FB"/>
                    </a:solidFill>
                  </a:tcPr>
                </a:tc>
                <a:tc>
                  <a:txBody>
                    <a:bodyPr/>
                    <a:lstStyle/>
                    <a:p>
                      <a:pPr marL="0" indent="0" algn="l">
                        <a:lnSpc>
                          <a:spcPct val="108000"/>
                        </a:lnSpc>
                        <a:spcBef>
                          <a:spcPts val="30"/>
                        </a:spcBef>
                        <a:buNone/>
                      </a:pPr>
                      <a:r>
                        <a:rPr lang="es" sz="800" b="0" i="0">
                          <a:solidFill>
                            <a:srgbClr val="444444"/>
                          </a:solidFill>
                          <a:latin typeface="Graphik"/>
                          <a:cs typeface="Graphik"/>
                        </a:rPr>
                        <a:t>Proporciona agilidad en el despliegue y escalabilidad impulsada por la demanda, y es el vehículo práctico para la portabilidad entre proveedores de nube y entornos híbridos.</a:t>
                      </a:r>
                    </a:p>
                  </a:txBody>
                  <a:tcPr marL="82000" marR="82000" marT="38000" marB="38000" anchor="ctr">
                    <a:solidFill>
                      <a:srgbClr val="F6F2FB"/>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Amazon EKS/Kubernetes</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ECS/Fargate para Modyo Connect</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OpenShift referenciado en el panel técnico</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Docker/registro de contenedores</a:t>
                      </a:r>
                    </a:p>
                  </a:txBody>
                  <a:tcPr marL="82000" marR="82000" marT="38000" marB="38000" anchor="ctr">
                    <a:solidFill>
                      <a:srgbClr val="F6F2FB"/>
                    </a:solidFill>
                  </a:tcPr>
                </a:tc>
                <a:extLst>
                  <a:ext uri="{0D108BD9-81ED-4DB2-BD59-A6C34878D82A}">
                    <a16:rowId xmlns:a16="http://schemas.microsoft.com/office/drawing/2014/main" val="10002"/>
                  </a:ext>
                </a:extLst>
              </a:tr>
              <a:tr h="933200">
                <a:tc>
                  <a:txBody>
                    <a:bodyPr/>
                    <a:lstStyle/>
                    <a:p>
                      <a:pPr marL="0" indent="0" algn="l">
                        <a:lnSpc>
                          <a:spcPct val="104000"/>
                        </a:lnSpc>
                        <a:spcBef>
                          <a:spcPts val="30"/>
                        </a:spcBef>
                        <a:buNone/>
                      </a:pPr>
                      <a:r>
                        <a:rPr lang="es" sz="800" b="1" i="0">
                          <a:solidFill>
                            <a:srgbClr val="9B7BC7"/>
                          </a:solidFill>
                          <a:latin typeface="+mn-lt"/>
                          <a:cs typeface="Graphik"/>
                        </a:rPr>
                        <a:t>13.3  </a:t>
                      </a:r>
                      <a:r>
                        <a:rPr lang="es" sz="800" b="1" i="0">
                          <a:solidFill>
                            <a:srgbClr val="7500C0"/>
                          </a:solidFill>
                          <a:latin typeface="Graphik"/>
                          <a:cs typeface="Graphik"/>
                        </a:rPr>
                        <a:t>Automatización de la configuración de la plataforma</a:t>
                      </a:r>
                    </a:p>
                  </a:txBody>
                  <a:tcPr marL="82000" marR="82000" marT="38000" marB="38000" anchor="ctr">
                    <a:solidFill>
                      <a:srgbClr val="EFE7F7"/>
                    </a:solidFill>
                  </a:tcPr>
                </a:tc>
                <a:tc>
                  <a:txBody>
                    <a:bodyPr/>
                    <a:lstStyle/>
                    <a:p>
                      <a:pPr marL="0" indent="0" algn="l">
                        <a:lnSpc>
                          <a:spcPct val="108000"/>
                        </a:lnSpc>
                        <a:spcBef>
                          <a:spcPts val="30"/>
                        </a:spcBef>
                        <a:buNone/>
                      </a:pPr>
                      <a:r>
                        <a:rPr lang="es" sz="800" b="0" i="0">
                          <a:solidFill>
                            <a:srgbClr val="2B2B2B"/>
                          </a:solidFill>
                          <a:latin typeface="Graphik"/>
                          <a:cs typeface="Graphik"/>
                        </a:rPr>
                        <a:t>Provisión y configuración declarativa y automatizada de componentes y entornos de plataforma, incluyendo servicios centralizados de configuración de aplicaciones.</a:t>
                      </a:r>
                    </a:p>
                  </a:txBody>
                  <a:tcPr marL="82000" marR="82000" marT="38000" marB="38000" anchor="ctr">
                    <a:solidFill>
                      <a:srgbClr val="FFFFFF"/>
                    </a:solidFill>
                  </a:tcPr>
                </a:tc>
                <a:tc>
                  <a:txBody>
                    <a:bodyPr/>
                    <a:lstStyle/>
                    <a:p>
                      <a:pPr marL="0" indent="0" algn="l">
                        <a:lnSpc>
                          <a:spcPct val="108000"/>
                        </a:lnSpc>
                        <a:spcBef>
                          <a:spcPts val="30"/>
                        </a:spcBef>
                        <a:buNone/>
                      </a:pPr>
                      <a:r>
                        <a:rPr lang="es" sz="800" b="0" i="0" dirty="0">
                          <a:solidFill>
                            <a:srgbClr val="444444"/>
                          </a:solidFill>
                          <a:latin typeface="Graphik"/>
                          <a:cs typeface="Graphik"/>
                        </a:rPr>
                        <a:t>Elimina la inconsistencia en el entorno que hace que las pruebas distribuidas sean poco fiables y las versiones impredecibles.</a:t>
                      </a:r>
                    </a:p>
                  </a:txBody>
                  <a:tcPr marL="82000" marR="82000" marT="38000" marB="38000" anchor="ctr">
                    <a:solidFill>
                      <a:srgbClr val="FFFFFF"/>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Terraform + Packer + GitHub</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Módulos IaC</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Homologación de Ambientes</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posibles patrones Ansible/CloudFormation</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Vault/Secrets para la seguridad de configuración</a:t>
                      </a:r>
                    </a:p>
                  </a:txBody>
                  <a:tcPr marL="82000" marR="82000" marT="38000" marB="38000" anchor="ctr">
                    <a:solidFill>
                      <a:srgbClr val="FFFFFF"/>
                    </a:solidFill>
                  </a:tcPr>
                </a:tc>
                <a:extLst>
                  <a:ext uri="{0D108BD9-81ED-4DB2-BD59-A6C34878D82A}">
                    <a16:rowId xmlns:a16="http://schemas.microsoft.com/office/drawing/2014/main" val="10003"/>
                  </a:ext>
                </a:extLst>
              </a:tr>
              <a:tr h="933200">
                <a:tc>
                  <a:txBody>
                    <a:bodyPr/>
                    <a:lstStyle/>
                    <a:p>
                      <a:pPr marL="0" indent="0" algn="l">
                        <a:lnSpc>
                          <a:spcPct val="104000"/>
                        </a:lnSpc>
                        <a:spcBef>
                          <a:spcPts val="30"/>
                        </a:spcBef>
                        <a:buNone/>
                      </a:pPr>
                      <a:r>
                        <a:rPr lang="es" sz="800" b="1" i="0">
                          <a:solidFill>
                            <a:srgbClr val="9B7BC7"/>
                          </a:solidFill>
                          <a:latin typeface="+mn-lt"/>
                          <a:cs typeface="Graphik"/>
                        </a:rPr>
                        <a:t>13.4  </a:t>
                      </a:r>
                      <a:r>
                        <a:rPr lang="es" sz="800" b="1" i="0">
                          <a:solidFill>
                            <a:srgbClr val="7500C0"/>
                          </a:solidFill>
                          <a:latin typeface="Graphik"/>
                          <a:cs typeface="Graphik"/>
                        </a:rPr>
                        <a:t>Despliegue e ingeniería de lanzamiento</a:t>
                      </a:r>
                    </a:p>
                  </a:txBody>
                  <a:tcPr marL="82000" marR="82000" marT="38000" marB="38000" anchor="ctr">
                    <a:solidFill>
                      <a:srgbClr val="E9DEF4"/>
                    </a:solidFill>
                  </a:tcPr>
                </a:tc>
                <a:tc>
                  <a:txBody>
                    <a:bodyPr/>
                    <a:lstStyle/>
                    <a:p>
                      <a:pPr marL="0" indent="0" algn="l">
                        <a:lnSpc>
                          <a:spcPct val="108000"/>
                        </a:lnSpc>
                        <a:spcBef>
                          <a:spcPts val="30"/>
                        </a:spcBef>
                        <a:buNone/>
                      </a:pPr>
                      <a:r>
                        <a:rPr lang="es" sz="800" b="0" i="0">
                          <a:solidFill>
                            <a:srgbClr val="2B2B2B"/>
                          </a:solidFill>
                          <a:latin typeface="Graphik"/>
                          <a:cs typeface="Graphik"/>
                        </a:rPr>
                        <a:t>Mecánicas automatizadas de compilación, prueba y lanzamiento para componentes de interoperabilidad, incluyendo técnicas de despliegue controlado y pruebas de regresión automatizadas.</a:t>
                      </a:r>
                    </a:p>
                  </a:txBody>
                  <a:tcPr marL="82000" marR="82000" marT="38000" marB="38000" anchor="ctr">
                    <a:solidFill>
                      <a:srgbClr val="F6F2FB"/>
                    </a:solidFill>
                  </a:tcPr>
                </a:tc>
                <a:tc>
                  <a:txBody>
                    <a:bodyPr/>
                    <a:lstStyle/>
                    <a:p>
                      <a:pPr marL="0" indent="0" algn="l">
                        <a:lnSpc>
                          <a:spcPct val="108000"/>
                        </a:lnSpc>
                        <a:spcBef>
                          <a:spcPts val="30"/>
                        </a:spcBef>
                        <a:buNone/>
                      </a:pPr>
                      <a:r>
                        <a:rPr lang="es" sz="800" b="0" i="0" dirty="0">
                          <a:solidFill>
                            <a:srgbClr val="444444"/>
                          </a:solidFill>
                          <a:latin typeface="Graphik"/>
                          <a:cs typeface="Graphik"/>
                        </a:rPr>
                        <a:t>El control del despliegue es lo que hace posible en la práctica una modernización incremental y reversible, y no solo en la hoja de ruta.</a:t>
                      </a:r>
                    </a:p>
                  </a:txBody>
                  <a:tcPr marL="82000" marR="82000" marT="38000" marB="38000" anchor="ctr">
                    <a:solidFill>
                      <a:srgbClr val="F6F2FB"/>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Canalizaciones CI/CD de DevSecOps</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GitLab CI o Jenkins bajo decisión</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Listas de Helm</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Pruebas automatizadas</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Prácticas de despliegue blue-green/canary</a:t>
                      </a:r>
                    </a:p>
                  </a:txBody>
                  <a:tcPr marL="82000" marR="82000" marT="38000" marB="38000" anchor="ctr">
                    <a:solidFill>
                      <a:srgbClr val="F6F2FB"/>
                    </a:solidFill>
                  </a:tcPr>
                </a:tc>
                <a:extLst>
                  <a:ext uri="{0D108BD9-81ED-4DB2-BD59-A6C34878D82A}">
                    <a16:rowId xmlns:a16="http://schemas.microsoft.com/office/drawing/2014/main" val="10004"/>
                  </a:ext>
                </a:extLst>
              </a:tr>
              <a:tr h="933200">
                <a:tc>
                  <a:txBody>
                    <a:bodyPr/>
                    <a:lstStyle/>
                    <a:p>
                      <a:pPr marL="0" indent="0" algn="l">
                        <a:lnSpc>
                          <a:spcPct val="104000"/>
                        </a:lnSpc>
                        <a:spcBef>
                          <a:spcPts val="30"/>
                        </a:spcBef>
                        <a:buNone/>
                      </a:pPr>
                      <a:r>
                        <a:rPr lang="es" sz="800" b="1" i="0">
                          <a:solidFill>
                            <a:srgbClr val="9B7BC7"/>
                          </a:solidFill>
                          <a:latin typeface="+mn-lt"/>
                          <a:cs typeface="Graphik"/>
                        </a:rPr>
                        <a:t>13.5  </a:t>
                      </a:r>
                      <a:r>
                        <a:rPr lang="es" sz="800" b="1" i="0">
                          <a:solidFill>
                            <a:srgbClr val="7500C0"/>
                          </a:solidFill>
                          <a:latin typeface="Graphik"/>
                          <a:cs typeface="Graphik"/>
                        </a:rPr>
                        <a:t>Resiliencia de infraestructuras</a:t>
                      </a:r>
                    </a:p>
                  </a:txBody>
                  <a:tcPr marL="82000" marR="82000" marT="38000" marB="38000" anchor="ctr">
                    <a:solidFill>
                      <a:srgbClr val="EFE7F7"/>
                    </a:solidFill>
                  </a:tcPr>
                </a:tc>
                <a:tc>
                  <a:txBody>
                    <a:bodyPr/>
                    <a:lstStyle/>
                    <a:p>
                      <a:pPr marL="0" indent="0" algn="l">
                        <a:lnSpc>
                          <a:spcPct val="108000"/>
                        </a:lnSpc>
                        <a:spcBef>
                          <a:spcPts val="30"/>
                        </a:spcBef>
                        <a:buNone/>
                      </a:pPr>
                      <a:r>
                        <a:rPr lang="es" sz="800" b="0" i="0">
                          <a:solidFill>
                            <a:srgbClr val="2B2B2B"/>
                          </a:solidFill>
                          <a:latin typeface="Graphik"/>
                          <a:cs typeface="Graphik"/>
                        </a:rPr>
                        <a:t>Ingeniería y validación de la capacidad de la capa para resistir y recuperarse de fallos en componentes, incluyendo inyección deliberada de fallos, diseño de alta disponibilidad y servicios de recuperación.</a:t>
                      </a:r>
                    </a:p>
                  </a:txBody>
                  <a:tcPr marL="82000" marR="82000" marT="38000" marB="38000" anchor="ctr">
                    <a:solidFill>
                      <a:srgbClr val="FFFFFF"/>
                    </a:solidFill>
                  </a:tcPr>
                </a:tc>
                <a:tc>
                  <a:txBody>
                    <a:bodyPr/>
                    <a:lstStyle/>
                    <a:p>
                      <a:pPr marL="0" indent="0" algn="l">
                        <a:lnSpc>
                          <a:spcPct val="108000"/>
                        </a:lnSpc>
                        <a:spcBef>
                          <a:spcPts val="30"/>
                        </a:spcBef>
                        <a:buNone/>
                      </a:pPr>
                      <a:r>
                        <a:rPr lang="es" sz="800" b="0" i="0" dirty="0">
                          <a:solidFill>
                            <a:srgbClr val="444444"/>
                          </a:solidFill>
                          <a:latin typeface="Graphik"/>
                          <a:cs typeface="Graphik"/>
                        </a:rPr>
                        <a:t>En una arquitectura compuesta, la disponibilidad agregada es producto de muchas dependencias; Por tanto, la resiliencia debe ser diseñada y puesta a prueba, no asumida.</a:t>
                      </a:r>
                    </a:p>
                  </a:txBody>
                  <a:tcPr marL="82000" marR="82000" marT="38000" marB="38000" anchor="ctr">
                    <a:solidFill>
                      <a:srgbClr val="FFFFFF"/>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Arquitectura multi-AZ/DR de AWS</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Producción and DR Producción environments</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Oracle Data Guard/R-SYNC para SmartVista</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Copia de seguridad/restauración y DR regional</a:t>
                      </a:r>
                    </a:p>
                  </a:txBody>
                  <a:tcPr marL="82000" marR="82000" marT="38000" marB="38000" anchor="ctr">
                    <a:solidFill>
                      <a:srgbClr val="FFFFFF"/>
                    </a:solidFill>
                  </a:tcPr>
                </a:tc>
                <a:extLst>
                  <a:ext uri="{0D108BD9-81ED-4DB2-BD59-A6C34878D82A}">
                    <a16:rowId xmlns:a16="http://schemas.microsoft.com/office/drawing/2014/main" val="10005"/>
                  </a:ext>
                </a:extLst>
              </a:tr>
            </a:tbl>
          </a:graphicData>
        </a:graphic>
      </p:graphicFrame>
      <p:sp>
        <p:nvSpPr>
          <p:cNvPr id="6" name="TextBox 5">
            <a:extLst>
              <a:ext uri="{FF2B5EF4-FFF2-40B4-BE49-F238E27FC236}">
                <a16:creationId xmlns:a16="http://schemas.microsoft.com/office/drawing/2014/main" id="{4833E7F3-CCAB-0E71-2E8A-215388A54883}"/>
              </a:ext>
            </a:extLst>
          </p:cNvPr>
          <p:cNvSpPr txBox="1"/>
          <p:nvPr>
            <p:extLst>
              <p:ext uri="{1162E1C5-73C7-4A58-AE30-91384D911F3F}">
                <p184:classification xmlns:p184="http://schemas.microsoft.com/office/powerpoint/2018/4/main" val="hdr"/>
              </p:ext>
            </p:extLst>
          </p:nvPr>
        </p:nvSpPr>
        <p:spPr>
          <a:xfrm>
            <a:off x="379000" y="78170"/>
            <a:ext cx="11432000" cy="154830"/>
          </a:xfrm>
          <a:prstGeom prst="rect">
            <a:avLst/>
          </a:prstGeom>
        </p:spPr>
        <p:txBody>
          <a:bodyPr horzOverflow="overflow"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000" b="0" i="0" u="none" strike="noStrike" kern="1200" cap="none" spc="0" normalizeH="0" baseline="0" noProof="0">
                <a:ln>
                  <a:noFill/>
                </a:ln>
                <a:solidFill>
                  <a:srgbClr val="000000"/>
                </a:solidFill>
                <a:effectLst/>
                <a:uLnTx/>
                <a:uFillTx/>
                <a:latin typeface="Graphik (Body)"/>
                <a:ea typeface="+mn-ea"/>
                <a:cs typeface="Calibri" panose="020F0502020204030204" pitchFamily="34" charset="0"/>
              </a:rPr>
              <a:t>*** Confidencial - Solo para uso interno de la empresa ***</a:t>
            </a:r>
          </a:p>
        </p:txBody>
      </p:sp>
      <p:grpSp>
        <p:nvGrpSpPr>
          <p:cNvPr id="8" name="Group 7">
            <a:extLst>
              <a:ext uri="{FF2B5EF4-FFF2-40B4-BE49-F238E27FC236}">
                <a16:creationId xmlns:a16="http://schemas.microsoft.com/office/drawing/2014/main" id="{56776154-BE46-8881-61C8-FB960D578C5C}"/>
              </a:ext>
            </a:extLst>
          </p:cNvPr>
          <p:cNvGrpSpPr/>
          <p:nvPr/>
        </p:nvGrpSpPr>
        <p:grpSpPr>
          <a:xfrm>
            <a:off x="717042" y="6191083"/>
            <a:ext cx="4001014" cy="631639"/>
            <a:chOff x="717042" y="6191083"/>
            <a:chExt cx="4001014" cy="631639"/>
          </a:xfrm>
        </p:grpSpPr>
        <p:sp>
          <p:nvSpPr>
            <p:cNvPr id="10" name="Rectangle 9">
              <a:extLst>
                <a:ext uri="{FF2B5EF4-FFF2-40B4-BE49-F238E27FC236}">
                  <a16:creationId xmlns:a16="http://schemas.microsoft.com/office/drawing/2014/main" id="{C4ED7EE4-5F56-041F-9810-BF3CCA02FDC7}"/>
                </a:ext>
              </a:extLst>
            </p:cNvPr>
            <p:cNvSpPr>
              <a:spLocks noChangeAspect="1"/>
            </p:cNvSpPr>
            <p:nvPr/>
          </p:nvSpPr>
          <p:spPr>
            <a:xfrm>
              <a:off x="1936749" y="6410745"/>
              <a:ext cx="774645" cy="202427"/>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GAP</a:t>
              </a:r>
            </a:p>
          </p:txBody>
        </p:sp>
        <p:sp>
          <p:nvSpPr>
            <p:cNvPr id="12" name="Rectangle 11">
              <a:extLst>
                <a:ext uri="{FF2B5EF4-FFF2-40B4-BE49-F238E27FC236}">
                  <a16:creationId xmlns:a16="http://schemas.microsoft.com/office/drawing/2014/main" id="{5556F91D-9559-C7F1-AEFF-4EC7590FC644}"/>
                </a:ext>
              </a:extLst>
            </p:cNvPr>
            <p:cNvSpPr>
              <a:spLocks noChangeAspect="1"/>
            </p:cNvSpPr>
            <p:nvPr/>
          </p:nvSpPr>
          <p:spPr>
            <a:xfrm>
              <a:off x="1936749" y="6191083"/>
              <a:ext cx="774645" cy="202427"/>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Objetivo</a:t>
              </a:r>
            </a:p>
          </p:txBody>
        </p:sp>
        <p:sp>
          <p:nvSpPr>
            <p:cNvPr id="14" name="Rectangle 13">
              <a:extLst>
                <a:ext uri="{FF2B5EF4-FFF2-40B4-BE49-F238E27FC236}">
                  <a16:creationId xmlns:a16="http://schemas.microsoft.com/office/drawing/2014/main" id="{998DDC07-203F-CC60-07B5-4A2F7134993E}"/>
                </a:ext>
              </a:extLst>
            </p:cNvPr>
            <p:cNvSpPr>
              <a:spLocks noChangeAspect="1"/>
            </p:cNvSpPr>
            <p:nvPr/>
          </p:nvSpPr>
          <p:spPr>
            <a:xfrm>
              <a:off x="1936749" y="6620295"/>
              <a:ext cx="774645" cy="202427"/>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Descartar</a:t>
              </a:r>
            </a:p>
          </p:txBody>
        </p:sp>
        <p:sp>
          <p:nvSpPr>
            <p:cNvPr id="16" name="Oval 15">
              <a:extLst>
                <a:ext uri="{FF2B5EF4-FFF2-40B4-BE49-F238E27FC236}">
                  <a16:creationId xmlns:a16="http://schemas.microsoft.com/office/drawing/2014/main" id="{AF727CD2-29C6-AB2F-D15B-E7CECCFB3779}"/>
                </a:ext>
              </a:extLst>
            </p:cNvPr>
            <p:cNvSpPr>
              <a:spLocks noChangeAspect="1"/>
            </p:cNvSpPr>
            <p:nvPr/>
          </p:nvSpPr>
          <p:spPr>
            <a:xfrm>
              <a:off x="4077214" y="6226238"/>
              <a:ext cx="640842" cy="184507"/>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700"/>
                <a:t>Alto</a:t>
              </a:r>
            </a:p>
          </p:txBody>
        </p:sp>
        <p:sp>
          <p:nvSpPr>
            <p:cNvPr id="18" name="Rectangle 17">
              <a:extLst>
                <a:ext uri="{FF2B5EF4-FFF2-40B4-BE49-F238E27FC236}">
                  <a16:creationId xmlns:a16="http://schemas.microsoft.com/office/drawing/2014/main" id="{BD0117BF-D69F-BB2B-FF3C-BD056724D287}"/>
                </a:ext>
              </a:extLst>
            </p:cNvPr>
            <p:cNvSpPr>
              <a:spLocks noChangeAspect="1"/>
            </p:cNvSpPr>
            <p:nvPr/>
          </p:nvSpPr>
          <p:spPr>
            <a:xfrm>
              <a:off x="717042" y="6283336"/>
              <a:ext cx="1022032" cy="455578"/>
            </a:xfrm>
            <a:prstGeom prst="rect">
              <a:avLst/>
            </a:prstGeom>
            <a:solidFill>
              <a:srgbClr val="7500C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Evaluación de capacidades</a:t>
              </a:r>
            </a:p>
          </p:txBody>
        </p:sp>
        <p:sp>
          <p:nvSpPr>
            <p:cNvPr id="20" name="Rectangle 19">
              <a:extLst>
                <a:ext uri="{FF2B5EF4-FFF2-40B4-BE49-F238E27FC236}">
                  <a16:creationId xmlns:a16="http://schemas.microsoft.com/office/drawing/2014/main" id="{0DA7FBDB-1B96-8052-C986-8C45493B86BA}"/>
                </a:ext>
              </a:extLst>
            </p:cNvPr>
            <p:cNvSpPr>
              <a:spLocks noChangeAspect="1"/>
            </p:cNvSpPr>
            <p:nvPr/>
          </p:nvSpPr>
          <p:spPr>
            <a:xfrm>
              <a:off x="2816387" y="6282396"/>
              <a:ext cx="1022032" cy="455578"/>
            </a:xfrm>
            <a:prstGeom prst="rect">
              <a:avLst/>
            </a:prstGeom>
            <a:solidFill>
              <a:srgbClr val="7500C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Prioridad</a:t>
              </a:r>
            </a:p>
          </p:txBody>
        </p:sp>
        <p:sp>
          <p:nvSpPr>
            <p:cNvPr id="21" name="Oval 20">
              <a:extLst>
                <a:ext uri="{FF2B5EF4-FFF2-40B4-BE49-F238E27FC236}">
                  <a16:creationId xmlns:a16="http://schemas.microsoft.com/office/drawing/2014/main" id="{10D6486E-F2B4-ADA4-0E56-85BFC5349141}"/>
                </a:ext>
              </a:extLst>
            </p:cNvPr>
            <p:cNvSpPr>
              <a:spLocks noChangeAspect="1"/>
            </p:cNvSpPr>
            <p:nvPr/>
          </p:nvSpPr>
          <p:spPr>
            <a:xfrm>
              <a:off x="4077214" y="6435788"/>
              <a:ext cx="640842" cy="184507"/>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700"/>
                <a:t>Medio</a:t>
              </a:r>
            </a:p>
          </p:txBody>
        </p:sp>
        <p:sp>
          <p:nvSpPr>
            <p:cNvPr id="22" name="Oval 21">
              <a:extLst>
                <a:ext uri="{FF2B5EF4-FFF2-40B4-BE49-F238E27FC236}">
                  <a16:creationId xmlns:a16="http://schemas.microsoft.com/office/drawing/2014/main" id="{D970D487-09DA-887C-1484-C5C611214677}"/>
                </a:ext>
              </a:extLst>
            </p:cNvPr>
            <p:cNvSpPr>
              <a:spLocks noChangeAspect="1"/>
            </p:cNvSpPr>
            <p:nvPr/>
          </p:nvSpPr>
          <p:spPr>
            <a:xfrm>
              <a:off x="4077214" y="6633421"/>
              <a:ext cx="640842" cy="184507"/>
            </a:xfrm>
            <a:prstGeom prst="ellipse">
              <a:avLst/>
            </a:prstGeom>
            <a:solidFill>
              <a:srgbClr val="DCAFFF"/>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700"/>
                <a:t>Bajo</a:t>
              </a:r>
            </a:p>
          </p:txBody>
        </p:sp>
      </p:grpSp>
    </p:spTree>
    <p:extLst>
      <p:ext uri="{BB962C8B-B14F-4D97-AF65-F5344CB8AC3E}">
        <p14:creationId xmlns:p14="http://schemas.microsoft.com/office/powerpoint/2010/main" val="114539890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058576-CA17-F5FB-E7B2-51008FEF6BE4}"/>
            </a:ext>
          </a:extLst>
        </p:cNvPr>
        <p:cNvGrpSpPr/>
        <p:nvPr/>
      </p:nvGrpSpPr>
      <p:grpSpPr>
        <a:xfrm>
          <a:off x="0" y="0"/>
          <a:ext cx="0" cy="0"/>
          <a:chOff x="0" y="0"/>
          <a:chExt cx="0" cy="0"/>
        </a:xfrm>
      </p:grpSpPr>
      <p:pic>
        <p:nvPicPr>
          <p:cNvPr id="16" name="Picture Placeholder 15">
            <a:extLst>
              <a:ext uri="{FF2B5EF4-FFF2-40B4-BE49-F238E27FC236}">
                <a16:creationId xmlns:a16="http://schemas.microsoft.com/office/drawing/2014/main" id="{C4BB1B15-E433-91C1-1928-D81BDC72B22E}"/>
              </a:ext>
            </a:extLst>
          </p:cNvPr>
          <p:cNvPicPr>
            <a:picLocks noGrp="1" noChangeAspect="1"/>
          </p:cNvPicPr>
          <p:nvPr>
            <p:ph type="pic" sz="quarter" idx="4294967295"/>
          </p:nvPr>
        </p:nvPicPr>
        <p:blipFill>
          <a:blip r:embed="rId2">
            <a:extLst>
              <a:ext uri="{28A0092B-C50C-407E-A947-70E740481C1C}">
                <a14:useLocalDpi xmlns:a14="http://schemas.microsoft.com/office/drawing/2010/main" val="0"/>
              </a:ext>
            </a:extLst>
          </a:blip>
          <a:srcRect l="20062" r="20062"/>
          <a:stretch/>
        </p:blipFill>
        <p:spPr>
          <a:xfrm>
            <a:off x="6096000" y="0"/>
            <a:ext cx="6096000" cy="6858000"/>
          </a:xfrm>
          <a:prstGeom prst="rect">
            <a:avLst/>
          </a:prstGeom>
        </p:spPr>
      </p:pic>
      <p:sp>
        <p:nvSpPr>
          <p:cNvPr id="17" name="TextBox 16">
            <a:extLst>
              <a:ext uri="{FF2B5EF4-FFF2-40B4-BE49-F238E27FC236}">
                <a16:creationId xmlns:a16="http://schemas.microsoft.com/office/drawing/2014/main" id="{9A4981C7-BB90-2DDB-A6CB-5B89E33ABB83}"/>
              </a:ext>
            </a:extLst>
          </p:cNvPr>
          <p:cNvSpPr txBox="1"/>
          <p:nvPr/>
        </p:nvSpPr>
        <p:spPr>
          <a:xfrm>
            <a:off x="7054753" y="6447723"/>
            <a:ext cx="4551903" cy="203203"/>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r>
              <a:rPr kumimoji="0" lang="es" sz="8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 Copyright © 2025 Accenture. Todos los derechos reservados.</a:t>
            </a:r>
          </a:p>
        </p:txBody>
      </p:sp>
      <p:sp>
        <p:nvSpPr>
          <p:cNvPr id="18" name="TextBox 17">
            <a:extLst>
              <a:ext uri="{FF2B5EF4-FFF2-40B4-BE49-F238E27FC236}">
                <a16:creationId xmlns:a16="http://schemas.microsoft.com/office/drawing/2014/main" id="{AB6C0FDB-BFCC-8051-01C9-3B2ACC0E455A}"/>
              </a:ext>
            </a:extLst>
          </p:cNvPr>
          <p:cNvSpPr txBox="1"/>
          <p:nvPr/>
        </p:nvSpPr>
        <p:spPr>
          <a:xfrm>
            <a:off x="11621120" y="6459129"/>
            <a:ext cx="505097" cy="20005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F90F471-3972-4120-B8B3-0237DE626C35}" type="slidenum">
              <a:rPr kumimoji="0" lang="en-US" sz="700" b="0" i="0" u="none" strike="noStrike" kern="1200" cap="none" spc="0" normalizeH="0" baseline="0" noProof="0" smtClean="0">
                <a:ln>
                  <a:noFill/>
                </a:ln>
                <a:solidFill>
                  <a:srgbClr val="000000"/>
                </a:solidFill>
                <a:effectLst/>
                <a:uLnTx/>
                <a:uFillTx/>
                <a:latin typeface="Graphik Light" panose="020B0403030202060203" pitchFamily="34"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33</a:t>
            </a:fld>
            <a:endParaRPr kumimoji="0" lang="en-US" sz="7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endParaRPr>
          </a:p>
        </p:txBody>
      </p:sp>
      <p:sp>
        <p:nvSpPr>
          <p:cNvPr id="14" name="Text Placeholder 8">
            <a:extLst>
              <a:ext uri="{FF2B5EF4-FFF2-40B4-BE49-F238E27FC236}">
                <a16:creationId xmlns:a16="http://schemas.microsoft.com/office/drawing/2014/main" id="{244A03F5-8DFA-2C5F-41A8-021B2DC760C4}"/>
              </a:ext>
            </a:extLst>
          </p:cNvPr>
          <p:cNvSpPr txBox="1">
            <a:spLocks/>
          </p:cNvSpPr>
          <p:nvPr/>
        </p:nvSpPr>
        <p:spPr>
          <a:xfrm>
            <a:off x="381000" y="2199546"/>
            <a:ext cx="2641600" cy="772253"/>
          </a:xfrm>
          <a:prstGeom prst="rect">
            <a:avLst/>
          </a:prstGeom>
        </p:spPr>
        <p:txBody>
          <a:bodyPr vert="horz" lIns="0" tIns="0" rIns="0" bIns="0" rtlCol="0">
            <a:noAutofit/>
          </a:bodyPr>
          <a:lstStyle>
            <a:lvl1pPr marL="0" indent="0" algn="l" defTabSz="228600" rtl="0" eaLnBrk="1" latinLnBrk="0" hangingPunct="1">
              <a:lnSpc>
                <a:spcPct val="100000"/>
              </a:lnSpc>
              <a:spcBef>
                <a:spcPts val="0"/>
              </a:spcBef>
              <a:spcAft>
                <a:spcPts val="600"/>
              </a:spcAft>
              <a:buFont typeface="Arial" panose="020B0604020202020204" pitchFamily="34" charset="0"/>
              <a:buNone/>
              <a:defRPr lang="en-US" sz="7200" b="0" i="0" kern="1200" spc="-150" dirty="0">
                <a:solidFill>
                  <a:schemeClr val="accent2"/>
                </a:solidFill>
                <a:latin typeface="Graphik Light" panose="020B0403030202060203" pitchFamily="34" charset="0"/>
                <a:ea typeface="+mn-ea"/>
                <a:cs typeface="+mn-cs"/>
              </a:defRPr>
            </a:lvl1pPr>
            <a:lvl2pPr marL="457200" indent="-228600" algn="l" defTabSz="228600" rtl="0" eaLnBrk="1" latinLnBrk="0" hangingPunct="1">
              <a:lnSpc>
                <a:spcPct val="100000"/>
              </a:lnSpc>
              <a:spcBef>
                <a:spcPts val="0"/>
              </a:spcBef>
              <a:spcAft>
                <a:spcPts val="600"/>
              </a:spcAft>
              <a:buClrTx/>
              <a:buFont typeface="Arial"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Arial"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Arial"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Arial"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Arial" panose="020B0604020202020204" pitchFamily="34" charset="0"/>
              <a:buNone/>
              <a:defRPr sz="800" kern="1200">
                <a:solidFill>
                  <a:schemeClr val="tx2"/>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s" sz="7200" b="0" i="0" u="none" strike="noStrike" kern="1200" cap="none" spc="-150" normalizeH="0" baseline="0" noProof="0">
                <a:ln>
                  <a:noFill/>
                </a:ln>
                <a:solidFill>
                  <a:srgbClr val="7500C0"/>
                </a:solidFill>
                <a:effectLst/>
                <a:uLnTx/>
                <a:uFillTx/>
                <a:latin typeface="Graphik Light" panose="020B0403030202060203" pitchFamily="34" charset="0"/>
                <a:ea typeface="+mn-ea"/>
                <a:cs typeface="+mn-cs"/>
              </a:rPr>
              <a:t>04. </a:t>
            </a:r>
          </a:p>
        </p:txBody>
      </p:sp>
      <p:sp>
        <p:nvSpPr>
          <p:cNvPr id="15" name="Title 7">
            <a:extLst>
              <a:ext uri="{FF2B5EF4-FFF2-40B4-BE49-F238E27FC236}">
                <a16:creationId xmlns:a16="http://schemas.microsoft.com/office/drawing/2014/main" id="{699E0A60-D73A-8B46-3A12-86D68D687008}"/>
              </a:ext>
            </a:extLst>
          </p:cNvPr>
          <p:cNvSpPr txBox="1">
            <a:spLocks/>
          </p:cNvSpPr>
          <p:nvPr/>
        </p:nvSpPr>
        <p:spPr>
          <a:xfrm>
            <a:off x="380999" y="3201006"/>
            <a:ext cx="5597013" cy="582441"/>
          </a:xfrm>
          <a:prstGeom prst="rect">
            <a:avLst/>
          </a:prstGeom>
        </p:spPr>
        <p:txBody>
          <a:bodyPr vert="horz" lIns="0" tIns="61200" rIns="0" bIns="0" rtlCol="0" anchor="t">
            <a:noAutofit/>
          </a:bodyPr>
          <a:lstStyle>
            <a:lvl1pPr algn="l" defTabSz="914400" rtl="0" eaLnBrk="1" latinLnBrk="0" hangingPunct="1">
              <a:lnSpc>
                <a:spcPct val="80000"/>
              </a:lnSpc>
              <a:spcBef>
                <a:spcPct val="0"/>
              </a:spcBef>
              <a:buNone/>
              <a:defRPr sz="3200" b="0" kern="1200">
                <a:solidFill>
                  <a:schemeClr val="bg1"/>
                </a:solidFill>
                <a:latin typeface="Graphik Medium" panose="020B0603030202060203" pitchFamily="34" charset="0"/>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3200" b="0" i="0" u="none" strike="noStrike" kern="1200" cap="none" spc="0" normalizeH="0" baseline="0" noProof="0">
                <a:ln>
                  <a:noFill/>
                </a:ln>
                <a:solidFill>
                  <a:srgbClr val="000000"/>
                </a:solidFill>
                <a:effectLst/>
                <a:uLnTx/>
                <a:uFillTx/>
                <a:latin typeface="Graphik Medium" panose="020B0603030202060203" pitchFamily="34" charset="0"/>
                <a:ea typeface="+mj-ea"/>
                <a:cs typeface="+mj-cs"/>
              </a:rPr>
              <a:t>Patrones reutilizables de arquitectura de Interoperabilidad</a:t>
            </a:r>
            <a:endParaRPr kumimoji="0" lang="en-IN" sz="3200" b="0" i="0" u="none" strike="noStrike" kern="1200" cap="none" spc="0" normalizeH="0" baseline="0" noProof="0">
              <a:ln>
                <a:noFill/>
              </a:ln>
              <a:solidFill>
                <a:srgbClr val="000000"/>
              </a:solidFill>
              <a:effectLst/>
              <a:uLnTx/>
              <a:uFillTx/>
              <a:latin typeface="Graphik Medium" panose="020B0603030202060203" pitchFamily="34" charset="0"/>
              <a:ea typeface="+mj-ea"/>
              <a:cs typeface="+mj-cs"/>
            </a:endParaRPr>
          </a:p>
        </p:txBody>
      </p:sp>
    </p:spTree>
    <p:extLst>
      <p:ext uri="{BB962C8B-B14F-4D97-AF65-F5344CB8AC3E}">
        <p14:creationId xmlns:p14="http://schemas.microsoft.com/office/powerpoint/2010/main" val="351934401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FDDCED-AB1B-9D86-4CA2-730F5996BCE2}"/>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25A4FA93-8E07-27F3-0953-A3ADB3D9F6EF}"/>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dirty="0">
                <a:ln>
                  <a:noFill/>
                </a:ln>
                <a:solidFill>
                  <a:srgbClr val="000000">
                    <a:alpha val="65000"/>
                  </a:srgbClr>
                </a:solidFill>
                <a:effectLst/>
                <a:uLnTx/>
                <a:uFillTx/>
                <a:latin typeface="Graphik"/>
                <a:ea typeface="+mn-ea"/>
                <a:cs typeface="+mn-cs"/>
              </a:rPr>
              <a:t>Copyright © 2026 Accenture. Todos los derechos reservados.</a:t>
            </a:r>
          </a:p>
        </p:txBody>
      </p:sp>
      <p:sp>
        <p:nvSpPr>
          <p:cNvPr id="4" name="Slide Number Placeholder 3">
            <a:extLst>
              <a:ext uri="{FF2B5EF4-FFF2-40B4-BE49-F238E27FC236}">
                <a16:creationId xmlns:a16="http://schemas.microsoft.com/office/drawing/2014/main" id="{81A4AF26-DEED-85BB-CAA1-115D12329038}"/>
              </a:ext>
            </a:extLst>
          </p:cNvPr>
          <p:cNvSpPr>
            <a:spLocks noGrp="1"/>
          </p:cNvSpPr>
          <p:nvPr>
            <p:ph type="sldNum" sz="quarter" idx="429496729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Graphik"/>
                <a:ea typeface="+mn-ea"/>
                <a:cs typeface="+mn-cs"/>
              </a:rPr>
              <a:t> </a:t>
            </a:r>
          </a:p>
        </p:txBody>
      </p:sp>
      <p:sp>
        <p:nvSpPr>
          <p:cNvPr id="23" name="Title 1">
            <a:extLst>
              <a:ext uri="{FF2B5EF4-FFF2-40B4-BE49-F238E27FC236}">
                <a16:creationId xmlns:a16="http://schemas.microsoft.com/office/drawing/2014/main" id="{76BDEA16-FF45-B2C5-B696-FDA88A4BE663}"/>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a:ln>
                  <a:noFill/>
                </a:ln>
                <a:solidFill>
                  <a:srgbClr val="7500C0"/>
                </a:solidFill>
                <a:effectLst/>
                <a:uLnTx/>
                <a:uFillTx/>
                <a:latin typeface="Graphik"/>
                <a:ea typeface="+mj-ea"/>
                <a:cs typeface="+mj-cs"/>
              </a:rPr>
              <a:t>Arquitectura de Interoperabilidad </a:t>
            </a:r>
            <a:r>
              <a:rPr kumimoji="0" lang="es" sz="2400" b="1" i="0" u="none" strike="noStrike" kern="1200" cap="none" spc="0" normalizeH="0" baseline="0" noProof="0">
                <a:ln>
                  <a:noFill/>
                </a:ln>
                <a:solidFill>
                  <a:srgbClr val="000000"/>
                </a:solidFill>
                <a:effectLst/>
                <a:uLnTx/>
                <a:uFillTx/>
                <a:latin typeface="Graphik"/>
                <a:ea typeface="+mj-ea"/>
                <a:cs typeface="+mj-cs"/>
              </a:rPr>
              <a:t>| </a:t>
            </a:r>
            <a:r>
              <a:rPr kumimoji="0" lang="es" sz="2000" b="1" i="0" u="none" strike="noStrike" kern="1200" cap="none" spc="0" normalizeH="0" baseline="0" noProof="0">
                <a:ln>
                  <a:noFill/>
                </a:ln>
                <a:solidFill>
                  <a:srgbClr val="000000"/>
                </a:solidFill>
                <a:effectLst/>
                <a:uLnTx/>
                <a:uFillTx/>
                <a:latin typeface="Graphik"/>
                <a:ea typeface="+mj-ea"/>
                <a:cs typeface="+mj-cs"/>
              </a:rPr>
              <a:t>Patrones reutilizables</a:t>
            </a:r>
            <a:endParaRPr kumimoji="0" lang="es" sz="2400" b="1" i="0" u="none" strike="noStrike" kern="1200" cap="none" spc="0" normalizeH="0" baseline="0" noProof="0">
              <a:ln>
                <a:noFill/>
              </a:ln>
              <a:solidFill>
                <a:srgbClr val="000000"/>
              </a:solidFill>
              <a:effectLst/>
              <a:uLnTx/>
              <a:uFillTx/>
              <a:latin typeface="Graphik"/>
              <a:ea typeface="+mj-ea"/>
              <a:cs typeface="+mj-cs"/>
            </a:endParaRPr>
          </a:p>
        </p:txBody>
      </p:sp>
      <p:sp>
        <p:nvSpPr>
          <p:cNvPr id="2" name="Rectangle 1">
            <a:extLst>
              <a:ext uri="{FF2B5EF4-FFF2-40B4-BE49-F238E27FC236}">
                <a16:creationId xmlns:a16="http://schemas.microsoft.com/office/drawing/2014/main" id="{1E091038-E5B8-CD2E-3A5B-DC3D97B92BF3}"/>
              </a:ext>
            </a:extLst>
          </p:cNvPr>
          <p:cNvSpPr/>
          <p:nvPr/>
        </p:nvSpPr>
        <p:spPr>
          <a:xfrm>
            <a:off x="699575" y="944591"/>
            <a:ext cx="1080000" cy="5222888"/>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Seguridad</a:t>
            </a:r>
          </a:p>
        </p:txBody>
      </p:sp>
      <p:sp>
        <p:nvSpPr>
          <p:cNvPr id="5" name="Rectangle 4">
            <a:extLst>
              <a:ext uri="{FF2B5EF4-FFF2-40B4-BE49-F238E27FC236}">
                <a16:creationId xmlns:a16="http://schemas.microsoft.com/office/drawing/2014/main" id="{93E018F0-308D-9D3D-2E31-5806B3BDCF81}"/>
              </a:ext>
            </a:extLst>
          </p:cNvPr>
          <p:cNvSpPr/>
          <p:nvPr/>
        </p:nvSpPr>
        <p:spPr>
          <a:xfrm>
            <a:off x="762603" y="3758314"/>
            <a:ext cx="972000" cy="107738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0" i="1" u="none" strike="noStrike" kern="1200" cap="none" spc="0" normalizeH="0" baseline="0" noProof="0">
                <a:ln>
                  <a:noFill/>
                </a:ln>
                <a:solidFill>
                  <a:srgbClr val="000000"/>
                </a:solidFill>
                <a:effectLst/>
                <a:uLnTx/>
                <a:uFillTx/>
                <a:latin typeface="Graphik"/>
                <a:ea typeface="+mn-ea"/>
                <a:cs typeface="+mn-cs"/>
              </a:rPr>
              <a:t>Certificado &amp;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0" i="1" u="none" strike="noStrike" kern="1200" cap="none" spc="0" normalizeH="0" baseline="0" noProof="0">
                <a:ln>
                  <a:noFill/>
                </a:ln>
                <a:solidFill>
                  <a:srgbClr val="000000"/>
                </a:solidFill>
                <a:effectLst/>
                <a:uLnTx/>
                <a:uFillTx/>
                <a:latin typeface="Graphik"/>
                <a:ea typeface="+mn-ea"/>
                <a:cs typeface="+mn-cs"/>
              </a:rPr>
              <a:t>Gestión Secreta</a:t>
            </a:r>
          </a:p>
        </p:txBody>
      </p:sp>
      <p:sp>
        <p:nvSpPr>
          <p:cNvPr id="6" name="Rectangle 5">
            <a:extLst>
              <a:ext uri="{FF2B5EF4-FFF2-40B4-BE49-F238E27FC236}">
                <a16:creationId xmlns:a16="http://schemas.microsoft.com/office/drawing/2014/main" id="{4C45CA77-0A3B-56BF-AC4E-FD0DB3ABB509}"/>
              </a:ext>
            </a:extLst>
          </p:cNvPr>
          <p:cNvSpPr/>
          <p:nvPr/>
        </p:nvSpPr>
        <p:spPr>
          <a:xfrm>
            <a:off x="1907612" y="944590"/>
            <a:ext cx="1080000" cy="5230769"/>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Observabilidad</a:t>
            </a:r>
          </a:p>
        </p:txBody>
      </p:sp>
      <p:sp>
        <p:nvSpPr>
          <p:cNvPr id="7" name="Rectangle 6">
            <a:extLst>
              <a:ext uri="{FF2B5EF4-FFF2-40B4-BE49-F238E27FC236}">
                <a16:creationId xmlns:a16="http://schemas.microsoft.com/office/drawing/2014/main" id="{5A035E70-E1E6-BAA6-A474-4D3A2D3BEB9F}"/>
              </a:ext>
            </a:extLst>
          </p:cNvPr>
          <p:cNvSpPr/>
          <p:nvPr/>
        </p:nvSpPr>
        <p:spPr>
          <a:xfrm>
            <a:off x="1961612" y="1256079"/>
            <a:ext cx="972000" cy="3491539"/>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0" i="1" u="none" strike="noStrike" kern="1200" cap="none" spc="0" normalizeH="0" baseline="0" noProof="0" dirty="0">
                <a:ln>
                  <a:noFill/>
                </a:ln>
                <a:solidFill>
                  <a:srgbClr val="000000"/>
                </a:solidFill>
                <a:effectLst/>
                <a:uLnTx/>
                <a:uFillTx/>
                <a:latin typeface="Graphik"/>
                <a:ea typeface="+mn-ea"/>
                <a:cs typeface="+mn-cs"/>
              </a:rPr>
              <a:t>Monitorización</a:t>
            </a:r>
          </a:p>
        </p:txBody>
      </p:sp>
      <p:sp>
        <p:nvSpPr>
          <p:cNvPr id="8" name="Rectangle 7">
            <a:extLst>
              <a:ext uri="{FF2B5EF4-FFF2-40B4-BE49-F238E27FC236}">
                <a16:creationId xmlns:a16="http://schemas.microsoft.com/office/drawing/2014/main" id="{A0498357-AC84-71AF-CD4B-23378FF0CBA3}"/>
              </a:ext>
            </a:extLst>
          </p:cNvPr>
          <p:cNvSpPr/>
          <p:nvPr/>
        </p:nvSpPr>
        <p:spPr>
          <a:xfrm>
            <a:off x="10221552" y="944591"/>
            <a:ext cx="1080000" cy="5230768"/>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Infraestructura</a:t>
            </a:r>
          </a:p>
        </p:txBody>
      </p:sp>
      <p:sp>
        <p:nvSpPr>
          <p:cNvPr id="9" name="Rectangle 8">
            <a:extLst>
              <a:ext uri="{FF2B5EF4-FFF2-40B4-BE49-F238E27FC236}">
                <a16:creationId xmlns:a16="http://schemas.microsoft.com/office/drawing/2014/main" id="{FCD1C999-C5B1-DCC2-DD14-30CD372B4AA7}"/>
              </a:ext>
            </a:extLst>
          </p:cNvPr>
          <p:cNvSpPr/>
          <p:nvPr/>
        </p:nvSpPr>
        <p:spPr>
          <a:xfrm>
            <a:off x="10275552" y="1890884"/>
            <a:ext cx="972000" cy="551871"/>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0" i="1" u="none" strike="noStrike" kern="1200" cap="none" spc="0" normalizeH="0" baseline="0" noProof="0" dirty="0">
                <a:ln>
                  <a:noFill/>
                </a:ln>
                <a:solidFill>
                  <a:srgbClr val="000000"/>
                </a:solidFill>
                <a:effectLst/>
                <a:uLnTx/>
                <a:uFillTx/>
                <a:latin typeface="Graphik"/>
                <a:ea typeface="+mn-ea"/>
                <a:cs typeface="+mn-cs"/>
              </a:rPr>
              <a:t>Stack tecnológico</a:t>
            </a:r>
          </a:p>
        </p:txBody>
      </p:sp>
      <p:sp>
        <p:nvSpPr>
          <p:cNvPr id="10" name="Rectangle 9">
            <a:extLst>
              <a:ext uri="{FF2B5EF4-FFF2-40B4-BE49-F238E27FC236}">
                <a16:creationId xmlns:a16="http://schemas.microsoft.com/office/drawing/2014/main" id="{2785AFFD-C0F9-F2E8-F732-77540F6773B9}"/>
              </a:ext>
            </a:extLst>
          </p:cNvPr>
          <p:cNvSpPr/>
          <p:nvPr/>
        </p:nvSpPr>
        <p:spPr>
          <a:xfrm>
            <a:off x="10275552" y="2640911"/>
            <a:ext cx="972000" cy="2106707"/>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0" i="1" u="none" strike="noStrike" kern="1200" cap="none" spc="0" normalizeH="0" baseline="0" noProof="0">
                <a:ln>
                  <a:noFill/>
                </a:ln>
                <a:solidFill>
                  <a:srgbClr val="000000"/>
                </a:solidFill>
                <a:effectLst/>
                <a:uLnTx/>
                <a:uFillTx/>
                <a:latin typeface="Graphik"/>
                <a:ea typeface="+mn-ea"/>
                <a:cs typeface="+mn-cs"/>
              </a:rPr>
              <a:t>Marco de Microservicios</a:t>
            </a:r>
          </a:p>
        </p:txBody>
      </p:sp>
      <p:sp>
        <p:nvSpPr>
          <p:cNvPr id="16" name="Rectangle 15">
            <a:extLst>
              <a:ext uri="{FF2B5EF4-FFF2-40B4-BE49-F238E27FC236}">
                <a16:creationId xmlns:a16="http://schemas.microsoft.com/office/drawing/2014/main" id="{78332E63-AD0A-F22D-5F73-CDE0CDAB4944}"/>
              </a:ext>
            </a:extLst>
          </p:cNvPr>
          <p:cNvSpPr/>
          <p:nvPr/>
        </p:nvSpPr>
        <p:spPr>
          <a:xfrm>
            <a:off x="1997612" y="1438058"/>
            <a:ext cx="900000" cy="216000"/>
          </a:xfrm>
          <a:prstGeom prst="rect">
            <a:avLst/>
          </a:prstGeom>
          <a:solidFill>
            <a:srgbClr val="FFEAE7"/>
          </a:solidFill>
          <a:ln>
            <a:solidFill>
              <a:srgbClr val="C5763B"/>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Registro de auditoría</a:t>
            </a:r>
          </a:p>
        </p:txBody>
      </p:sp>
      <p:sp>
        <p:nvSpPr>
          <p:cNvPr id="17" name="Rectangle 16">
            <a:extLst>
              <a:ext uri="{FF2B5EF4-FFF2-40B4-BE49-F238E27FC236}">
                <a16:creationId xmlns:a16="http://schemas.microsoft.com/office/drawing/2014/main" id="{FD59B9AB-C398-03B0-E485-2EB0E5A88AD5}"/>
              </a:ext>
            </a:extLst>
          </p:cNvPr>
          <p:cNvSpPr/>
          <p:nvPr/>
        </p:nvSpPr>
        <p:spPr>
          <a:xfrm>
            <a:off x="1997612" y="1705615"/>
            <a:ext cx="900000" cy="216000"/>
          </a:xfrm>
          <a:prstGeom prst="rect">
            <a:avLst/>
          </a:prstGeom>
          <a:solidFill>
            <a:srgbClr val="FFEAE7"/>
          </a:solidFill>
          <a:ln>
            <a:solidFill>
              <a:srgbClr val="C5763B"/>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000000"/>
                </a:solidFill>
                <a:effectLst/>
                <a:uLnTx/>
                <a:uFillTx/>
                <a:latin typeface="Graphik"/>
                <a:ea typeface="+mn-ea"/>
                <a:cs typeface="+mn-cs"/>
              </a:rPr>
              <a:t>Agregación de logs</a:t>
            </a:r>
          </a:p>
        </p:txBody>
      </p:sp>
      <p:sp>
        <p:nvSpPr>
          <p:cNvPr id="19" name="Rectangle 18">
            <a:extLst>
              <a:ext uri="{FF2B5EF4-FFF2-40B4-BE49-F238E27FC236}">
                <a16:creationId xmlns:a16="http://schemas.microsoft.com/office/drawing/2014/main" id="{DF5B8F05-00A2-E7DA-F678-606351B0BAA6}"/>
              </a:ext>
            </a:extLst>
          </p:cNvPr>
          <p:cNvSpPr/>
          <p:nvPr/>
        </p:nvSpPr>
        <p:spPr>
          <a:xfrm>
            <a:off x="1997612" y="1977492"/>
            <a:ext cx="900000" cy="216000"/>
          </a:xfrm>
          <a:prstGeom prst="rect">
            <a:avLst/>
          </a:prstGeom>
          <a:solidFill>
            <a:srgbClr val="FFEAE7"/>
          </a:solidFill>
          <a:ln>
            <a:solidFill>
              <a:srgbClr val="C5763B"/>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Trazado distribuido</a:t>
            </a:r>
          </a:p>
        </p:txBody>
      </p:sp>
      <p:sp>
        <p:nvSpPr>
          <p:cNvPr id="20" name="Rectangle 19">
            <a:extLst>
              <a:ext uri="{FF2B5EF4-FFF2-40B4-BE49-F238E27FC236}">
                <a16:creationId xmlns:a16="http://schemas.microsoft.com/office/drawing/2014/main" id="{80BED310-211F-288E-DD2B-CFC550590C9A}"/>
              </a:ext>
            </a:extLst>
          </p:cNvPr>
          <p:cNvSpPr/>
          <p:nvPr/>
        </p:nvSpPr>
        <p:spPr>
          <a:xfrm>
            <a:off x="1997612" y="2245049"/>
            <a:ext cx="900000" cy="216000"/>
          </a:xfrm>
          <a:prstGeom prst="rect">
            <a:avLst/>
          </a:prstGeom>
          <a:solidFill>
            <a:srgbClr val="FFEAE7"/>
          </a:solidFill>
          <a:ln>
            <a:solidFill>
              <a:srgbClr val="C5763B"/>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000000"/>
                </a:solidFill>
                <a:effectLst/>
                <a:uLnTx/>
                <a:uFillTx/>
                <a:latin typeface="Graphik"/>
                <a:ea typeface="+mn-ea"/>
                <a:cs typeface="+mn-cs"/>
              </a:rPr>
              <a:t>API Health</a:t>
            </a:r>
          </a:p>
        </p:txBody>
      </p:sp>
      <p:sp>
        <p:nvSpPr>
          <p:cNvPr id="25" name="Rectangle 24">
            <a:extLst>
              <a:ext uri="{FF2B5EF4-FFF2-40B4-BE49-F238E27FC236}">
                <a16:creationId xmlns:a16="http://schemas.microsoft.com/office/drawing/2014/main" id="{46216C04-7CE1-98FC-4269-F5C8F5F088AF}"/>
              </a:ext>
            </a:extLst>
          </p:cNvPr>
          <p:cNvSpPr/>
          <p:nvPr/>
        </p:nvSpPr>
        <p:spPr>
          <a:xfrm>
            <a:off x="3169828" y="944591"/>
            <a:ext cx="5681779" cy="1077165"/>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dirty="0">
                <a:ln>
                  <a:noFill/>
                </a:ln>
                <a:solidFill>
                  <a:srgbClr val="000000"/>
                </a:solidFill>
                <a:effectLst/>
                <a:uLnTx/>
                <a:uFillTx/>
                <a:latin typeface="Graphik"/>
                <a:ea typeface="+mn-ea"/>
                <a:cs typeface="+mn-cs"/>
              </a:rPr>
              <a:t>Servicios de Gateway</a:t>
            </a:r>
          </a:p>
        </p:txBody>
      </p:sp>
      <p:sp>
        <p:nvSpPr>
          <p:cNvPr id="27" name="Rectangle 26">
            <a:extLst>
              <a:ext uri="{FF2B5EF4-FFF2-40B4-BE49-F238E27FC236}">
                <a16:creationId xmlns:a16="http://schemas.microsoft.com/office/drawing/2014/main" id="{A07EE722-09A4-41FD-5920-0832AFA5F32E}"/>
              </a:ext>
            </a:extLst>
          </p:cNvPr>
          <p:cNvSpPr/>
          <p:nvPr/>
        </p:nvSpPr>
        <p:spPr>
          <a:xfrm>
            <a:off x="3287611" y="1163074"/>
            <a:ext cx="4354983" cy="26828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800" b="0" i="1" u="none" strike="noStrike" kern="1200" cap="none" spc="0" normalizeH="0" baseline="0" noProof="0" dirty="0">
                <a:ln>
                  <a:noFill/>
                </a:ln>
                <a:solidFill>
                  <a:srgbClr val="000000"/>
                </a:solidFill>
                <a:effectLst/>
                <a:uLnTx/>
                <a:uFillTx/>
                <a:latin typeface="Graphik"/>
                <a:ea typeface="+mn-ea"/>
                <a:cs typeface="+mn-cs"/>
              </a:rPr>
              <a:t>Outbound</a:t>
            </a:r>
          </a:p>
        </p:txBody>
      </p:sp>
      <p:sp>
        <p:nvSpPr>
          <p:cNvPr id="32" name="Rectangle 31">
            <a:extLst>
              <a:ext uri="{FF2B5EF4-FFF2-40B4-BE49-F238E27FC236}">
                <a16:creationId xmlns:a16="http://schemas.microsoft.com/office/drawing/2014/main" id="{8A9BF4A7-1C11-5261-6DF9-092A520FB0AB}"/>
              </a:ext>
            </a:extLst>
          </p:cNvPr>
          <p:cNvSpPr/>
          <p:nvPr/>
        </p:nvSpPr>
        <p:spPr>
          <a:xfrm>
            <a:off x="3287611" y="1472016"/>
            <a:ext cx="4354983" cy="51105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800" b="0" i="1" u="none" strike="noStrike" kern="1200" cap="none" spc="0" normalizeH="0" baseline="0" noProof="0">
                <a:ln>
                  <a:noFill/>
                </a:ln>
                <a:solidFill>
                  <a:srgbClr val="000000"/>
                </a:solidFill>
                <a:effectLst/>
                <a:uLnTx/>
                <a:uFillTx/>
                <a:latin typeface="Graphik"/>
                <a:ea typeface="+mn-ea"/>
                <a:cs typeface="+mn-cs"/>
              </a:rPr>
              <a:t>Inbound</a:t>
            </a:r>
          </a:p>
        </p:txBody>
      </p:sp>
      <p:sp>
        <p:nvSpPr>
          <p:cNvPr id="39" name="Rectangle 38">
            <a:extLst>
              <a:ext uri="{FF2B5EF4-FFF2-40B4-BE49-F238E27FC236}">
                <a16:creationId xmlns:a16="http://schemas.microsoft.com/office/drawing/2014/main" id="{9AB22A37-98EB-29BB-B563-EB584DCF4EA4}"/>
              </a:ext>
            </a:extLst>
          </p:cNvPr>
          <p:cNvSpPr/>
          <p:nvPr/>
        </p:nvSpPr>
        <p:spPr>
          <a:xfrm>
            <a:off x="762603" y="2622478"/>
            <a:ext cx="972000" cy="107738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0" i="1" u="none" strike="noStrike" kern="1200" cap="none" spc="0" normalizeH="0" baseline="0" noProof="0" dirty="0">
                <a:ln>
                  <a:noFill/>
                </a:ln>
                <a:solidFill>
                  <a:srgbClr val="000000"/>
                </a:solidFill>
                <a:effectLst/>
                <a:uLnTx/>
                <a:uFillTx/>
                <a:latin typeface="Graphik"/>
                <a:ea typeface="+mn-ea"/>
                <a:cs typeface="+mn-cs"/>
              </a:rPr>
              <a:t>Servicios criptográficos</a:t>
            </a:r>
          </a:p>
        </p:txBody>
      </p:sp>
      <p:sp>
        <p:nvSpPr>
          <p:cNvPr id="43" name="Rectangle 42">
            <a:extLst>
              <a:ext uri="{FF2B5EF4-FFF2-40B4-BE49-F238E27FC236}">
                <a16:creationId xmlns:a16="http://schemas.microsoft.com/office/drawing/2014/main" id="{3BBFE8B1-406B-F636-AB56-6CEE0CA44029}"/>
              </a:ext>
            </a:extLst>
          </p:cNvPr>
          <p:cNvSpPr/>
          <p:nvPr/>
        </p:nvSpPr>
        <p:spPr>
          <a:xfrm>
            <a:off x="3161292" y="2773838"/>
            <a:ext cx="5681779" cy="540000"/>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Omnicanal y componentes de caché</a:t>
            </a:r>
          </a:p>
        </p:txBody>
      </p:sp>
      <p:sp>
        <p:nvSpPr>
          <p:cNvPr id="46" name="Rectangle 45">
            <a:extLst>
              <a:ext uri="{FF2B5EF4-FFF2-40B4-BE49-F238E27FC236}">
                <a16:creationId xmlns:a16="http://schemas.microsoft.com/office/drawing/2014/main" id="{F6C5BC97-17AD-F7D0-073A-347F0E6537C0}"/>
              </a:ext>
            </a:extLst>
          </p:cNvPr>
          <p:cNvSpPr/>
          <p:nvPr/>
        </p:nvSpPr>
        <p:spPr>
          <a:xfrm>
            <a:off x="3167494" y="5132461"/>
            <a:ext cx="5681779" cy="1042899"/>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Entrega de datos</a:t>
            </a:r>
          </a:p>
        </p:txBody>
      </p:sp>
      <p:sp>
        <p:nvSpPr>
          <p:cNvPr id="59" name="Rectangle 58">
            <a:extLst>
              <a:ext uri="{FF2B5EF4-FFF2-40B4-BE49-F238E27FC236}">
                <a16:creationId xmlns:a16="http://schemas.microsoft.com/office/drawing/2014/main" id="{D1EBE84D-CFF2-6552-6C6A-A71A104A1701}"/>
              </a:ext>
            </a:extLst>
          </p:cNvPr>
          <p:cNvSpPr/>
          <p:nvPr/>
        </p:nvSpPr>
        <p:spPr>
          <a:xfrm>
            <a:off x="3169828" y="3419879"/>
            <a:ext cx="5681779" cy="960502"/>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Transacciones distribuidas</a:t>
            </a:r>
          </a:p>
        </p:txBody>
      </p:sp>
      <p:sp>
        <p:nvSpPr>
          <p:cNvPr id="62" name="Rectangle 61">
            <a:extLst>
              <a:ext uri="{FF2B5EF4-FFF2-40B4-BE49-F238E27FC236}">
                <a16:creationId xmlns:a16="http://schemas.microsoft.com/office/drawing/2014/main" id="{6284E721-62CA-EE93-64D8-0025621B8262}"/>
              </a:ext>
            </a:extLst>
          </p:cNvPr>
          <p:cNvSpPr/>
          <p:nvPr/>
        </p:nvSpPr>
        <p:spPr>
          <a:xfrm>
            <a:off x="9005587" y="944591"/>
            <a:ext cx="1080000" cy="5230768"/>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Procesamiento de eventos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&amp; Componentes Reactivos</a:t>
            </a:r>
          </a:p>
        </p:txBody>
      </p:sp>
      <p:sp>
        <p:nvSpPr>
          <p:cNvPr id="63" name="Rectangle 62">
            <a:extLst>
              <a:ext uri="{FF2B5EF4-FFF2-40B4-BE49-F238E27FC236}">
                <a16:creationId xmlns:a16="http://schemas.microsoft.com/office/drawing/2014/main" id="{E83B41AD-78C5-1913-38CA-B73BE96B6A17}"/>
              </a:ext>
            </a:extLst>
          </p:cNvPr>
          <p:cNvSpPr/>
          <p:nvPr/>
        </p:nvSpPr>
        <p:spPr>
          <a:xfrm>
            <a:off x="9059587" y="1549601"/>
            <a:ext cx="972000" cy="2675598"/>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0" i="1" u="none" strike="noStrike" kern="1200" cap="none" spc="0" normalizeH="0" baseline="0" noProof="0">
                <a:ln>
                  <a:noFill/>
                </a:ln>
                <a:solidFill>
                  <a:srgbClr val="000000"/>
                </a:solidFill>
                <a:effectLst/>
                <a:uLnTx/>
                <a:uFillTx/>
                <a:latin typeface="Graphik"/>
                <a:ea typeface="+mn-ea"/>
                <a:cs typeface="+mn-cs"/>
              </a:rPr>
              <a:t>Mensajería de eventos</a:t>
            </a:r>
          </a:p>
        </p:txBody>
      </p:sp>
      <p:sp>
        <p:nvSpPr>
          <p:cNvPr id="65" name="Rectangle 64">
            <a:extLst>
              <a:ext uri="{FF2B5EF4-FFF2-40B4-BE49-F238E27FC236}">
                <a16:creationId xmlns:a16="http://schemas.microsoft.com/office/drawing/2014/main" id="{F90D43D5-A0A4-60BE-EF41-3D7A64F401D2}"/>
              </a:ext>
            </a:extLst>
          </p:cNvPr>
          <p:cNvSpPr/>
          <p:nvPr/>
        </p:nvSpPr>
        <p:spPr>
          <a:xfrm>
            <a:off x="9095587" y="1878941"/>
            <a:ext cx="900000" cy="216000"/>
          </a:xfrm>
          <a:prstGeom prst="rect">
            <a:avLst/>
          </a:prstGeom>
          <a:solidFill>
            <a:srgbClr val="FFEAE7"/>
          </a:solidFill>
          <a:ln>
            <a:solidFill>
              <a:srgbClr val="C5763B"/>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Entrega garantizada</a:t>
            </a:r>
          </a:p>
        </p:txBody>
      </p:sp>
      <p:sp>
        <p:nvSpPr>
          <p:cNvPr id="69" name="Rectangle 68">
            <a:extLst>
              <a:ext uri="{FF2B5EF4-FFF2-40B4-BE49-F238E27FC236}">
                <a16:creationId xmlns:a16="http://schemas.microsoft.com/office/drawing/2014/main" id="{2EBC223E-AD6B-C89C-915E-DD901E8AACB4}"/>
              </a:ext>
            </a:extLst>
          </p:cNvPr>
          <p:cNvSpPr/>
          <p:nvPr/>
        </p:nvSpPr>
        <p:spPr>
          <a:xfrm>
            <a:off x="9095587" y="2160667"/>
            <a:ext cx="900000" cy="216000"/>
          </a:xfrm>
          <a:prstGeom prst="rect">
            <a:avLst/>
          </a:prstGeom>
          <a:solidFill>
            <a:srgbClr val="FFEAE7"/>
          </a:solidFill>
          <a:ln>
            <a:solidFill>
              <a:srgbClr val="C5763B"/>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Búsqueda de eventos</a:t>
            </a:r>
          </a:p>
        </p:txBody>
      </p:sp>
      <p:sp>
        <p:nvSpPr>
          <p:cNvPr id="70" name="Rectangle 69">
            <a:extLst>
              <a:ext uri="{FF2B5EF4-FFF2-40B4-BE49-F238E27FC236}">
                <a16:creationId xmlns:a16="http://schemas.microsoft.com/office/drawing/2014/main" id="{0DBF85A7-BE95-C7CE-7C89-3FEA5C7C7E71}"/>
              </a:ext>
            </a:extLst>
          </p:cNvPr>
          <p:cNvSpPr/>
          <p:nvPr/>
        </p:nvSpPr>
        <p:spPr>
          <a:xfrm>
            <a:off x="9095587" y="2464703"/>
            <a:ext cx="900000" cy="216000"/>
          </a:xfrm>
          <a:prstGeom prst="rect">
            <a:avLst/>
          </a:prstGeom>
          <a:solidFill>
            <a:srgbClr val="FFEAE7"/>
          </a:solidFill>
          <a:ln>
            <a:solidFill>
              <a:srgbClr val="C5763B"/>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Malla de eventos</a:t>
            </a:r>
          </a:p>
        </p:txBody>
      </p:sp>
      <p:sp>
        <p:nvSpPr>
          <p:cNvPr id="72" name="Rectangle 71">
            <a:extLst>
              <a:ext uri="{FF2B5EF4-FFF2-40B4-BE49-F238E27FC236}">
                <a16:creationId xmlns:a16="http://schemas.microsoft.com/office/drawing/2014/main" id="{F8E5F039-2D83-DF9A-4C09-2670BFCE989B}"/>
              </a:ext>
            </a:extLst>
          </p:cNvPr>
          <p:cNvSpPr/>
          <p:nvPr/>
        </p:nvSpPr>
        <p:spPr>
          <a:xfrm>
            <a:off x="9059587" y="4268433"/>
            <a:ext cx="972000" cy="548009"/>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0" i="1" u="none" strike="noStrike" kern="1200" cap="none" spc="0" normalizeH="0" baseline="0" noProof="0">
                <a:ln>
                  <a:noFill/>
                </a:ln>
                <a:solidFill>
                  <a:srgbClr val="000000"/>
                </a:solidFill>
                <a:effectLst/>
                <a:uLnTx/>
                <a:uFillTx/>
                <a:latin typeface="Graphik"/>
                <a:ea typeface="+mn-ea"/>
                <a:cs typeface="+mn-cs"/>
              </a:rPr>
              <a:t>Procesamiento de eventos</a:t>
            </a:r>
          </a:p>
        </p:txBody>
      </p:sp>
      <p:sp>
        <p:nvSpPr>
          <p:cNvPr id="73" name="Rectangle 72">
            <a:extLst>
              <a:ext uri="{FF2B5EF4-FFF2-40B4-BE49-F238E27FC236}">
                <a16:creationId xmlns:a16="http://schemas.microsoft.com/office/drawing/2014/main" id="{02AE4745-9339-4EC6-D1DD-2355232469E9}"/>
              </a:ext>
            </a:extLst>
          </p:cNvPr>
          <p:cNvSpPr/>
          <p:nvPr/>
        </p:nvSpPr>
        <p:spPr>
          <a:xfrm>
            <a:off x="9095587" y="4505478"/>
            <a:ext cx="900000" cy="216000"/>
          </a:xfrm>
          <a:prstGeom prst="rect">
            <a:avLst/>
          </a:prstGeom>
          <a:solidFill>
            <a:srgbClr val="FFEAE7"/>
          </a:solidFill>
          <a:ln>
            <a:solidFill>
              <a:srgbClr val="C5763B"/>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Lambda/Kappa</a:t>
            </a:r>
          </a:p>
        </p:txBody>
      </p:sp>
      <p:sp>
        <p:nvSpPr>
          <p:cNvPr id="78" name="Rectangle 77">
            <a:extLst>
              <a:ext uri="{FF2B5EF4-FFF2-40B4-BE49-F238E27FC236}">
                <a16:creationId xmlns:a16="http://schemas.microsoft.com/office/drawing/2014/main" id="{50D22445-CA63-F6F1-B8E4-5419717A2B26}"/>
              </a:ext>
            </a:extLst>
          </p:cNvPr>
          <p:cNvSpPr/>
          <p:nvPr/>
        </p:nvSpPr>
        <p:spPr>
          <a:xfrm>
            <a:off x="3166592" y="2127797"/>
            <a:ext cx="5681779" cy="540000"/>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dirty="0">
                <a:ln>
                  <a:noFill/>
                </a:ln>
                <a:solidFill>
                  <a:srgbClr val="000000"/>
                </a:solidFill>
                <a:effectLst/>
                <a:uLnTx/>
                <a:uFillTx/>
                <a:latin typeface="Graphik"/>
                <a:ea typeface="+mn-ea"/>
                <a:cs typeface="+mn-cs"/>
              </a:rPr>
              <a:t>Gestión de APIs</a:t>
            </a:r>
          </a:p>
        </p:txBody>
      </p:sp>
      <p:grpSp>
        <p:nvGrpSpPr>
          <p:cNvPr id="38" name="Group 37">
            <a:extLst>
              <a:ext uri="{FF2B5EF4-FFF2-40B4-BE49-F238E27FC236}">
                <a16:creationId xmlns:a16="http://schemas.microsoft.com/office/drawing/2014/main" id="{09090157-113D-1A86-A027-7859FAF86626}"/>
              </a:ext>
            </a:extLst>
          </p:cNvPr>
          <p:cNvGrpSpPr/>
          <p:nvPr/>
        </p:nvGrpSpPr>
        <p:grpSpPr>
          <a:xfrm>
            <a:off x="4849966" y="6266772"/>
            <a:ext cx="2492068" cy="180000"/>
            <a:chOff x="4451196" y="6266772"/>
            <a:chExt cx="2492068" cy="180000"/>
          </a:xfrm>
        </p:grpSpPr>
        <p:sp>
          <p:nvSpPr>
            <p:cNvPr id="75" name="Rectangle 74">
              <a:extLst>
                <a:ext uri="{FF2B5EF4-FFF2-40B4-BE49-F238E27FC236}">
                  <a16:creationId xmlns:a16="http://schemas.microsoft.com/office/drawing/2014/main" id="{019E1254-B5EF-9CB5-B16B-9CC313C00C6A}"/>
                </a:ext>
              </a:extLst>
            </p:cNvPr>
            <p:cNvSpPr/>
            <p:nvPr/>
          </p:nvSpPr>
          <p:spPr>
            <a:xfrm>
              <a:off x="4451196" y="6266772"/>
              <a:ext cx="739471" cy="180000"/>
            </a:xfrm>
            <a:prstGeom prst="rect">
              <a:avLst/>
            </a:prstGeom>
            <a:solidFill>
              <a:srgbClr val="FFEAE7"/>
            </a:solidFill>
            <a:ln>
              <a:solidFill>
                <a:srgbClr val="C5763B"/>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Patrón</a:t>
              </a:r>
            </a:p>
          </p:txBody>
        </p:sp>
        <p:grpSp>
          <p:nvGrpSpPr>
            <p:cNvPr id="85" name="Group 84">
              <a:extLst>
                <a:ext uri="{FF2B5EF4-FFF2-40B4-BE49-F238E27FC236}">
                  <a16:creationId xmlns:a16="http://schemas.microsoft.com/office/drawing/2014/main" id="{2688FF87-293B-2B01-B2BF-6EE347B1D390}"/>
                </a:ext>
              </a:extLst>
            </p:cNvPr>
            <p:cNvGrpSpPr/>
            <p:nvPr/>
          </p:nvGrpSpPr>
          <p:grpSpPr>
            <a:xfrm>
              <a:off x="5366382" y="6266772"/>
              <a:ext cx="1576882" cy="180000"/>
              <a:chOff x="9283672" y="6207566"/>
              <a:chExt cx="1576882" cy="180000"/>
            </a:xfrm>
          </p:grpSpPr>
          <p:sp>
            <p:nvSpPr>
              <p:cNvPr id="86" name="Oval 85">
                <a:extLst>
                  <a:ext uri="{FF2B5EF4-FFF2-40B4-BE49-F238E27FC236}">
                    <a16:creationId xmlns:a16="http://schemas.microsoft.com/office/drawing/2014/main" id="{0C1FAE68-6D5A-96E5-1D6C-34DD55B24113}"/>
                  </a:ext>
                </a:extLst>
              </p:cNvPr>
              <p:cNvSpPr/>
              <p:nvPr/>
            </p:nvSpPr>
            <p:spPr>
              <a:xfrm>
                <a:off x="9283672" y="6207566"/>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K</a:t>
                </a:r>
                <a:endParaRPr kumimoji="0" lang="en-ES" sz="1100" b="1" i="0" u="none" strike="noStrike" kern="1200" cap="none" spc="0" normalizeH="0" baseline="0" noProof="0">
                  <a:ln>
                    <a:noFill/>
                  </a:ln>
                  <a:solidFill>
                    <a:srgbClr val="FFFFFF"/>
                  </a:solidFill>
                  <a:effectLst/>
                  <a:uLnTx/>
                  <a:uFillTx/>
                  <a:latin typeface="Graphik"/>
                  <a:ea typeface="+mn-ea"/>
                  <a:cs typeface="+mn-cs"/>
                </a:endParaRPr>
              </a:p>
            </p:txBody>
          </p:sp>
          <p:sp>
            <p:nvSpPr>
              <p:cNvPr id="87" name="Rectangle 86">
                <a:extLst>
                  <a:ext uri="{FF2B5EF4-FFF2-40B4-BE49-F238E27FC236}">
                    <a16:creationId xmlns:a16="http://schemas.microsoft.com/office/drawing/2014/main" id="{39982093-17A5-97F8-B032-89A8D1F433F5}"/>
                  </a:ext>
                </a:extLst>
              </p:cNvPr>
              <p:cNvSpPr/>
              <p:nvPr/>
            </p:nvSpPr>
            <p:spPr>
              <a:xfrm>
                <a:off x="9526720" y="6230887"/>
                <a:ext cx="1333834" cy="13335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000000"/>
                    </a:solidFill>
                    <a:effectLst/>
                    <a:uLnTx/>
                    <a:uFillTx/>
                    <a:latin typeface="Graphik"/>
                    <a:ea typeface="+mn-ea"/>
                    <a:cs typeface="+mn-cs"/>
                  </a:rPr>
                  <a:t>Núcleo y componentes de plataforma</a:t>
                </a:r>
              </a:p>
            </p:txBody>
          </p:sp>
        </p:grpSp>
      </p:grpSp>
      <p:sp>
        <p:nvSpPr>
          <p:cNvPr id="88" name="Oval 87">
            <a:extLst>
              <a:ext uri="{FF2B5EF4-FFF2-40B4-BE49-F238E27FC236}">
                <a16:creationId xmlns:a16="http://schemas.microsoft.com/office/drawing/2014/main" id="{A80F7EE5-A1ED-EEE1-968D-868B15D2F7F2}"/>
              </a:ext>
            </a:extLst>
          </p:cNvPr>
          <p:cNvSpPr/>
          <p:nvPr/>
        </p:nvSpPr>
        <p:spPr>
          <a:xfrm>
            <a:off x="1557648" y="978302"/>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K</a:t>
            </a:r>
          </a:p>
        </p:txBody>
      </p:sp>
      <p:sp>
        <p:nvSpPr>
          <p:cNvPr id="89" name="Oval 88">
            <a:extLst>
              <a:ext uri="{FF2B5EF4-FFF2-40B4-BE49-F238E27FC236}">
                <a16:creationId xmlns:a16="http://schemas.microsoft.com/office/drawing/2014/main" id="{3D89EB0A-5D45-F69E-518A-31CBD34A1762}"/>
              </a:ext>
            </a:extLst>
          </p:cNvPr>
          <p:cNvSpPr/>
          <p:nvPr/>
        </p:nvSpPr>
        <p:spPr>
          <a:xfrm>
            <a:off x="2753612" y="978302"/>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K</a:t>
            </a:r>
          </a:p>
        </p:txBody>
      </p:sp>
      <p:sp>
        <p:nvSpPr>
          <p:cNvPr id="90" name="Oval 89">
            <a:extLst>
              <a:ext uri="{FF2B5EF4-FFF2-40B4-BE49-F238E27FC236}">
                <a16:creationId xmlns:a16="http://schemas.microsoft.com/office/drawing/2014/main" id="{D99BAEB2-32F9-60C1-912F-FEC2DBC72A53}"/>
              </a:ext>
            </a:extLst>
          </p:cNvPr>
          <p:cNvSpPr/>
          <p:nvPr/>
        </p:nvSpPr>
        <p:spPr>
          <a:xfrm>
            <a:off x="6577513" y="978302"/>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K</a:t>
            </a:r>
          </a:p>
        </p:txBody>
      </p:sp>
      <p:sp>
        <p:nvSpPr>
          <p:cNvPr id="91" name="Oval 90">
            <a:extLst>
              <a:ext uri="{FF2B5EF4-FFF2-40B4-BE49-F238E27FC236}">
                <a16:creationId xmlns:a16="http://schemas.microsoft.com/office/drawing/2014/main" id="{81C31AA7-C165-1CE4-E2EF-81AC991067EB}"/>
              </a:ext>
            </a:extLst>
          </p:cNvPr>
          <p:cNvSpPr/>
          <p:nvPr/>
        </p:nvSpPr>
        <p:spPr>
          <a:xfrm>
            <a:off x="11086789" y="978302"/>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K</a:t>
            </a:r>
          </a:p>
        </p:txBody>
      </p:sp>
      <p:sp>
        <p:nvSpPr>
          <p:cNvPr id="92" name="Oval 91">
            <a:extLst>
              <a:ext uri="{FF2B5EF4-FFF2-40B4-BE49-F238E27FC236}">
                <a16:creationId xmlns:a16="http://schemas.microsoft.com/office/drawing/2014/main" id="{0B13CFE6-B5E5-D108-D1A5-6C4902BC66D8}"/>
              </a:ext>
            </a:extLst>
          </p:cNvPr>
          <p:cNvSpPr/>
          <p:nvPr/>
        </p:nvSpPr>
        <p:spPr>
          <a:xfrm>
            <a:off x="6547147" y="2135758"/>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K</a:t>
            </a:r>
          </a:p>
        </p:txBody>
      </p:sp>
      <p:sp>
        <p:nvSpPr>
          <p:cNvPr id="93" name="Rectangle 92">
            <a:extLst>
              <a:ext uri="{FF2B5EF4-FFF2-40B4-BE49-F238E27FC236}">
                <a16:creationId xmlns:a16="http://schemas.microsoft.com/office/drawing/2014/main" id="{3B681A4B-FDE3-2A47-138C-24F9E0A35E5F}"/>
              </a:ext>
            </a:extLst>
          </p:cNvPr>
          <p:cNvSpPr/>
          <p:nvPr/>
        </p:nvSpPr>
        <p:spPr>
          <a:xfrm>
            <a:off x="3218223" y="3614953"/>
            <a:ext cx="2700000" cy="7200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800" b="0" i="1" u="none" strike="noStrike" kern="1200" cap="none" spc="0" normalizeH="0" baseline="0" noProof="0">
                <a:ln>
                  <a:noFill/>
                </a:ln>
                <a:solidFill>
                  <a:srgbClr val="000000"/>
                </a:solidFill>
                <a:effectLst/>
                <a:uLnTx/>
                <a:uFillTx/>
                <a:latin typeface="Graphik"/>
                <a:ea typeface="+mn-ea"/>
                <a:cs typeface="+mn-cs"/>
              </a:rPr>
              <a:t>Orquestación de Servicio</a:t>
            </a:r>
          </a:p>
        </p:txBody>
      </p:sp>
      <p:sp>
        <p:nvSpPr>
          <p:cNvPr id="94" name="Rectangle 93">
            <a:extLst>
              <a:ext uri="{FF2B5EF4-FFF2-40B4-BE49-F238E27FC236}">
                <a16:creationId xmlns:a16="http://schemas.microsoft.com/office/drawing/2014/main" id="{DF1C8B74-F31D-072F-C5B3-B9EF9999D099}"/>
              </a:ext>
            </a:extLst>
          </p:cNvPr>
          <p:cNvSpPr/>
          <p:nvPr/>
        </p:nvSpPr>
        <p:spPr>
          <a:xfrm>
            <a:off x="6083364" y="3614953"/>
            <a:ext cx="2700000" cy="7200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800" b="0" i="1" u="none" strike="noStrike" kern="1200" cap="none" spc="0" normalizeH="0" baseline="0" noProof="0">
                <a:ln>
                  <a:noFill/>
                </a:ln>
                <a:solidFill>
                  <a:srgbClr val="000000"/>
                </a:solidFill>
                <a:effectLst/>
                <a:uLnTx/>
                <a:uFillTx/>
                <a:latin typeface="Graphik"/>
                <a:ea typeface="+mn-ea"/>
                <a:cs typeface="+mn-cs"/>
              </a:rPr>
              <a:t>Gestión de transacciones</a:t>
            </a:r>
          </a:p>
        </p:txBody>
      </p:sp>
      <p:sp>
        <p:nvSpPr>
          <p:cNvPr id="97" name="Rectangle 96">
            <a:extLst>
              <a:ext uri="{FF2B5EF4-FFF2-40B4-BE49-F238E27FC236}">
                <a16:creationId xmlns:a16="http://schemas.microsoft.com/office/drawing/2014/main" id="{BF921FD6-D381-1254-3120-5879142606C9}"/>
              </a:ext>
            </a:extLst>
          </p:cNvPr>
          <p:cNvSpPr/>
          <p:nvPr/>
        </p:nvSpPr>
        <p:spPr>
          <a:xfrm>
            <a:off x="6477388" y="3820276"/>
            <a:ext cx="900000" cy="216000"/>
          </a:xfrm>
          <a:prstGeom prst="rect">
            <a:avLst/>
          </a:prstGeom>
          <a:solidFill>
            <a:srgbClr val="FFEAE7"/>
          </a:solidFill>
          <a:ln>
            <a:solidFill>
              <a:srgbClr val="C5763B"/>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Consistencia de transacciones (2PC)</a:t>
            </a:r>
          </a:p>
        </p:txBody>
      </p:sp>
      <p:sp>
        <p:nvSpPr>
          <p:cNvPr id="98" name="Rectangle 97">
            <a:extLst>
              <a:ext uri="{FF2B5EF4-FFF2-40B4-BE49-F238E27FC236}">
                <a16:creationId xmlns:a16="http://schemas.microsoft.com/office/drawing/2014/main" id="{7DB88990-76B6-49D9-3DC7-812B2DC3DADF}"/>
              </a:ext>
            </a:extLst>
          </p:cNvPr>
          <p:cNvSpPr/>
          <p:nvPr/>
        </p:nvSpPr>
        <p:spPr>
          <a:xfrm>
            <a:off x="7448215" y="3820276"/>
            <a:ext cx="900000" cy="216000"/>
          </a:xfrm>
          <a:prstGeom prst="rect">
            <a:avLst/>
          </a:prstGeom>
          <a:solidFill>
            <a:srgbClr val="FFEAE7"/>
          </a:solidFill>
          <a:ln>
            <a:solidFill>
              <a:srgbClr val="C5763B"/>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Consistencia de transacciones (Saga)</a:t>
            </a:r>
          </a:p>
        </p:txBody>
      </p:sp>
      <p:sp>
        <p:nvSpPr>
          <p:cNvPr id="101" name="Rectangle 100">
            <a:extLst>
              <a:ext uri="{FF2B5EF4-FFF2-40B4-BE49-F238E27FC236}">
                <a16:creationId xmlns:a16="http://schemas.microsoft.com/office/drawing/2014/main" id="{FF20010D-D488-3081-003E-465AA0DD3BB1}"/>
              </a:ext>
            </a:extLst>
          </p:cNvPr>
          <p:cNvSpPr/>
          <p:nvPr/>
        </p:nvSpPr>
        <p:spPr>
          <a:xfrm>
            <a:off x="4602414" y="3820276"/>
            <a:ext cx="913110" cy="216000"/>
          </a:xfrm>
          <a:prstGeom prst="rect">
            <a:avLst/>
          </a:prstGeom>
          <a:solidFill>
            <a:srgbClr val="FFEAE7"/>
          </a:solidFill>
          <a:ln>
            <a:solidFill>
              <a:srgbClr val="C5763B"/>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000000"/>
                </a:solidFill>
                <a:effectLst/>
                <a:uLnTx/>
                <a:uFillTx/>
                <a:latin typeface="Graphik"/>
                <a:ea typeface="+mn-ea"/>
                <a:cs typeface="+mn-cs"/>
              </a:rPr>
              <a:t>Coreografía</a:t>
            </a:r>
          </a:p>
        </p:txBody>
      </p:sp>
      <p:sp>
        <p:nvSpPr>
          <p:cNvPr id="102" name="Rectangle 101">
            <a:extLst>
              <a:ext uri="{FF2B5EF4-FFF2-40B4-BE49-F238E27FC236}">
                <a16:creationId xmlns:a16="http://schemas.microsoft.com/office/drawing/2014/main" id="{6E1C7F14-E9DA-4CBA-5E39-78B6018A40D3}"/>
              </a:ext>
            </a:extLst>
          </p:cNvPr>
          <p:cNvSpPr/>
          <p:nvPr/>
        </p:nvSpPr>
        <p:spPr>
          <a:xfrm>
            <a:off x="1961612" y="4804005"/>
            <a:ext cx="972000" cy="1021411"/>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0" i="1" u="none" strike="noStrike" kern="1200" cap="none" spc="0" normalizeH="0" baseline="0" noProof="0">
                <a:ln>
                  <a:noFill/>
                </a:ln>
                <a:solidFill>
                  <a:srgbClr val="000000"/>
                </a:solidFill>
                <a:effectLst/>
                <a:uLnTx/>
                <a:uFillTx/>
                <a:latin typeface="Graphik"/>
                <a:ea typeface="+mn-ea"/>
                <a:cs typeface="+mn-cs"/>
              </a:rPr>
              <a:t>Operaciones</a:t>
            </a:r>
          </a:p>
        </p:txBody>
      </p:sp>
      <p:sp>
        <p:nvSpPr>
          <p:cNvPr id="106" name="Rectangle 105">
            <a:extLst>
              <a:ext uri="{FF2B5EF4-FFF2-40B4-BE49-F238E27FC236}">
                <a16:creationId xmlns:a16="http://schemas.microsoft.com/office/drawing/2014/main" id="{A29E1FA1-48D2-5BF0-AD11-84F56FD1B56A}"/>
              </a:ext>
            </a:extLst>
          </p:cNvPr>
          <p:cNvSpPr/>
          <p:nvPr/>
        </p:nvSpPr>
        <p:spPr>
          <a:xfrm>
            <a:off x="3160153" y="4486422"/>
            <a:ext cx="5681779" cy="540000"/>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Servicios Empresariales Comunes</a:t>
            </a:r>
          </a:p>
        </p:txBody>
      </p:sp>
      <p:sp>
        <p:nvSpPr>
          <p:cNvPr id="110" name="Rectangle 109">
            <a:extLst>
              <a:ext uri="{FF2B5EF4-FFF2-40B4-BE49-F238E27FC236}">
                <a16:creationId xmlns:a16="http://schemas.microsoft.com/office/drawing/2014/main" id="{B1725488-EA53-C428-D8DC-D20EDE1C6F32}"/>
              </a:ext>
            </a:extLst>
          </p:cNvPr>
          <p:cNvSpPr/>
          <p:nvPr/>
        </p:nvSpPr>
        <p:spPr>
          <a:xfrm>
            <a:off x="3237925" y="5358283"/>
            <a:ext cx="1800000" cy="73771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0" i="1" u="none" strike="noStrike" kern="1200" cap="none" spc="0" normalizeH="0" baseline="0" noProof="0">
                <a:ln>
                  <a:noFill/>
                </a:ln>
                <a:solidFill>
                  <a:srgbClr val="000000"/>
                </a:solidFill>
                <a:effectLst/>
                <a:uLnTx/>
                <a:uFillTx/>
                <a:latin typeface="Graphik"/>
                <a:ea typeface="+mn-ea"/>
                <a:cs typeface="+mn-cs"/>
              </a:rPr>
              <a:t>Catálogo de datos y modelado</a:t>
            </a:r>
          </a:p>
        </p:txBody>
      </p:sp>
      <p:sp>
        <p:nvSpPr>
          <p:cNvPr id="114" name="Rectangle 113">
            <a:extLst>
              <a:ext uri="{FF2B5EF4-FFF2-40B4-BE49-F238E27FC236}">
                <a16:creationId xmlns:a16="http://schemas.microsoft.com/office/drawing/2014/main" id="{59F9407A-4ADB-5C6C-4A1A-310D02A6A64E}"/>
              </a:ext>
            </a:extLst>
          </p:cNvPr>
          <p:cNvSpPr/>
          <p:nvPr/>
        </p:nvSpPr>
        <p:spPr>
          <a:xfrm>
            <a:off x="5116673" y="5358283"/>
            <a:ext cx="1800000" cy="73771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0" i="1" u="none" strike="noStrike" kern="1200" cap="none" spc="0" normalizeH="0" baseline="0" noProof="0">
                <a:ln>
                  <a:noFill/>
                </a:ln>
                <a:solidFill>
                  <a:srgbClr val="000000"/>
                </a:solidFill>
                <a:effectLst/>
                <a:uLnTx/>
                <a:uFillTx/>
                <a:latin typeface="Graphik"/>
                <a:ea typeface="+mn-ea"/>
                <a:cs typeface="+mn-cs"/>
              </a:rPr>
              <a:t>Canalizaciones y Entrega de Datos</a:t>
            </a:r>
          </a:p>
        </p:txBody>
      </p:sp>
      <p:sp>
        <p:nvSpPr>
          <p:cNvPr id="118" name="Rectangle 117">
            <a:extLst>
              <a:ext uri="{FF2B5EF4-FFF2-40B4-BE49-F238E27FC236}">
                <a16:creationId xmlns:a16="http://schemas.microsoft.com/office/drawing/2014/main" id="{689B5594-7C39-8B8A-48B4-ADEA2BB5982B}"/>
              </a:ext>
            </a:extLst>
          </p:cNvPr>
          <p:cNvSpPr/>
          <p:nvPr/>
        </p:nvSpPr>
        <p:spPr>
          <a:xfrm>
            <a:off x="6995420" y="5358283"/>
            <a:ext cx="1800000" cy="73771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800" b="0" i="1" u="none" strike="noStrike" kern="1200" cap="none" spc="0" normalizeH="0" baseline="0" noProof="0">
                <a:ln>
                  <a:noFill/>
                </a:ln>
                <a:solidFill>
                  <a:srgbClr val="000000"/>
                </a:solidFill>
                <a:effectLst/>
                <a:uLnTx/>
                <a:uFillTx/>
                <a:latin typeface="Graphik"/>
                <a:ea typeface="+mn-ea"/>
                <a:cs typeface="+mn-cs"/>
              </a:rPr>
              <a:t>Patrones clave</a:t>
            </a:r>
          </a:p>
        </p:txBody>
      </p:sp>
      <p:sp>
        <p:nvSpPr>
          <p:cNvPr id="120" name="Rectangle 119">
            <a:extLst>
              <a:ext uri="{FF2B5EF4-FFF2-40B4-BE49-F238E27FC236}">
                <a16:creationId xmlns:a16="http://schemas.microsoft.com/office/drawing/2014/main" id="{C2016573-CF3E-FAB2-23C2-300FD9EEDA87}"/>
              </a:ext>
            </a:extLst>
          </p:cNvPr>
          <p:cNvSpPr/>
          <p:nvPr/>
        </p:nvSpPr>
        <p:spPr>
          <a:xfrm>
            <a:off x="7918501" y="5584141"/>
            <a:ext cx="828000" cy="216000"/>
          </a:xfrm>
          <a:prstGeom prst="rect">
            <a:avLst/>
          </a:prstGeom>
          <a:solidFill>
            <a:srgbClr val="FFEAE7"/>
          </a:solidFill>
          <a:ln>
            <a:solidFill>
              <a:srgbClr val="C5763B"/>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CQRS</a:t>
            </a:r>
          </a:p>
        </p:txBody>
      </p:sp>
      <p:sp>
        <p:nvSpPr>
          <p:cNvPr id="121" name="Rectangle 120">
            <a:extLst>
              <a:ext uri="{FF2B5EF4-FFF2-40B4-BE49-F238E27FC236}">
                <a16:creationId xmlns:a16="http://schemas.microsoft.com/office/drawing/2014/main" id="{F0E3A343-F3AC-CBB0-A0F3-FF664493ED19}"/>
              </a:ext>
            </a:extLst>
          </p:cNvPr>
          <p:cNvSpPr/>
          <p:nvPr/>
        </p:nvSpPr>
        <p:spPr>
          <a:xfrm>
            <a:off x="7046953" y="5841873"/>
            <a:ext cx="828000" cy="216000"/>
          </a:xfrm>
          <a:prstGeom prst="rect">
            <a:avLst/>
          </a:prstGeom>
          <a:solidFill>
            <a:srgbClr val="FFEAE7"/>
          </a:solidFill>
          <a:ln>
            <a:solidFill>
              <a:srgbClr val="C5763B"/>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CDC</a:t>
            </a:r>
          </a:p>
        </p:txBody>
      </p:sp>
      <p:sp>
        <p:nvSpPr>
          <p:cNvPr id="122" name="Rectangle 121">
            <a:extLst>
              <a:ext uri="{FF2B5EF4-FFF2-40B4-BE49-F238E27FC236}">
                <a16:creationId xmlns:a16="http://schemas.microsoft.com/office/drawing/2014/main" id="{BDADF393-E4BF-1AC0-3745-3DBA409F5E03}"/>
              </a:ext>
            </a:extLst>
          </p:cNvPr>
          <p:cNvSpPr/>
          <p:nvPr/>
        </p:nvSpPr>
        <p:spPr>
          <a:xfrm>
            <a:off x="7047756" y="5584141"/>
            <a:ext cx="828000" cy="216000"/>
          </a:xfrm>
          <a:prstGeom prst="rect">
            <a:avLst/>
          </a:prstGeom>
          <a:solidFill>
            <a:srgbClr val="FFEAE7"/>
          </a:solidFill>
          <a:ln>
            <a:solidFill>
              <a:srgbClr val="C5763B"/>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Agregación de datos</a:t>
            </a:r>
          </a:p>
        </p:txBody>
      </p:sp>
      <p:sp>
        <p:nvSpPr>
          <p:cNvPr id="12" name="TextBox 11">
            <a:extLst>
              <a:ext uri="{FF2B5EF4-FFF2-40B4-BE49-F238E27FC236}">
                <a16:creationId xmlns:a16="http://schemas.microsoft.com/office/drawing/2014/main" id="{CE1984AB-3667-F7C1-9961-2D7352BFAAA5}"/>
              </a:ext>
            </a:extLst>
          </p:cNvPr>
          <p:cNvSpPr txBox="1"/>
          <p:nvPr>
            <p:extLst>
              <p:ext uri="{1162E1C5-73C7-4A58-AE30-91384D911F3F}">
                <p184:classification xmlns:p184="http://schemas.microsoft.com/office/powerpoint/2018/4/main" val="hdr"/>
              </p:ext>
            </p:extLst>
          </p:nvPr>
        </p:nvSpPr>
        <p:spPr>
          <a:xfrm>
            <a:off x="379000" y="78170"/>
            <a:ext cx="11432000" cy="154830"/>
          </a:xfrm>
          <a:prstGeom prst="rect">
            <a:avLst/>
          </a:prstGeom>
        </p:spPr>
        <p:txBody>
          <a:bodyPr horzOverflow="overflow"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000" b="0" i="0" u="none" strike="noStrike" kern="1200" cap="none" spc="0" normalizeH="0" baseline="0" noProof="0">
                <a:ln>
                  <a:noFill/>
                </a:ln>
                <a:solidFill>
                  <a:srgbClr val="000000"/>
                </a:solidFill>
                <a:effectLst/>
                <a:uLnTx/>
                <a:uFillTx/>
                <a:latin typeface="Graphik (Body)"/>
                <a:ea typeface="+mn-ea"/>
                <a:cs typeface="Calibri" panose="020F0502020204030204" pitchFamily="34" charset="0"/>
              </a:rPr>
              <a:t>*** Confidencial - Solo para uso interno de la empresa ***</a:t>
            </a:r>
          </a:p>
        </p:txBody>
      </p:sp>
    </p:spTree>
    <p:extLst>
      <p:ext uri="{BB962C8B-B14F-4D97-AF65-F5344CB8AC3E}">
        <p14:creationId xmlns:p14="http://schemas.microsoft.com/office/powerpoint/2010/main" val="351587592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D5AFAF70-BA5A-5091-740D-56030A8292A0}"/>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alpha val="65000"/>
                  </a:srgbClr>
                </a:solidFill>
                <a:effectLst/>
                <a:uLnTx/>
                <a:uFillTx/>
                <a:latin typeface="Graphik"/>
                <a:ea typeface="+mn-ea"/>
                <a:cs typeface="+mn-cs"/>
              </a:rPr>
              <a:t>Copyright © 2025 Accenture. Todos los derechos reservados.</a:t>
            </a:r>
          </a:p>
        </p:txBody>
      </p:sp>
      <p:sp>
        <p:nvSpPr>
          <p:cNvPr id="4" name="Title 1">
            <a:extLst>
              <a:ext uri="{FF2B5EF4-FFF2-40B4-BE49-F238E27FC236}">
                <a16:creationId xmlns:a16="http://schemas.microsoft.com/office/drawing/2014/main" id="{7DBE9118-4105-1913-A2E8-81EB78A7C594}"/>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a:ln>
                  <a:noFill/>
                </a:ln>
                <a:solidFill>
                  <a:srgbClr val="7500C0"/>
                </a:solidFill>
                <a:effectLst/>
                <a:uLnTx/>
                <a:uFillTx/>
                <a:latin typeface="Graphik"/>
                <a:ea typeface="+mj-ea"/>
                <a:cs typeface="+mj-cs"/>
              </a:rPr>
              <a:t>Activo de Interoperabilidad </a:t>
            </a:r>
            <a:r>
              <a:rPr kumimoji="0" lang="es" sz="2400" b="1" i="0" u="none" strike="noStrike" kern="1200" cap="none" spc="0" normalizeH="0" baseline="0" noProof="0">
                <a:ln>
                  <a:noFill/>
                </a:ln>
                <a:solidFill>
                  <a:srgbClr val="000000"/>
                </a:solidFill>
                <a:effectLst/>
                <a:uLnTx/>
                <a:uFillTx/>
                <a:latin typeface="Graphik"/>
                <a:ea typeface="+mj-ea"/>
                <a:cs typeface="+mj-cs"/>
              </a:rPr>
              <a:t>| </a:t>
            </a:r>
            <a:r>
              <a:rPr kumimoji="0" lang="es" sz="2000" b="1" i="0" u="none" strike="noStrike" kern="1200" cap="none" spc="0" normalizeH="0" baseline="0" noProof="0">
                <a:ln>
                  <a:noFill/>
                </a:ln>
                <a:solidFill>
                  <a:srgbClr val="000000"/>
                </a:solidFill>
                <a:effectLst/>
                <a:uLnTx/>
                <a:uFillTx/>
                <a:latin typeface="Graphik"/>
                <a:ea typeface="+mj-ea"/>
                <a:cs typeface="+mj-cs"/>
              </a:rPr>
              <a:t>Orquestación de Servicio</a:t>
            </a:r>
            <a:endParaRPr kumimoji="0" lang="es" sz="2400" b="1" i="0" u="none" strike="noStrike" kern="1200" cap="none" spc="0" normalizeH="0" baseline="0" noProof="0">
              <a:ln>
                <a:noFill/>
              </a:ln>
              <a:solidFill>
                <a:srgbClr val="000000"/>
              </a:solidFill>
              <a:effectLst/>
              <a:uLnTx/>
              <a:uFillTx/>
              <a:latin typeface="Graphik"/>
              <a:ea typeface="+mj-ea"/>
              <a:cs typeface="+mj-cs"/>
            </a:endParaRPr>
          </a:p>
        </p:txBody>
      </p:sp>
      <p:sp>
        <p:nvSpPr>
          <p:cNvPr id="5" name="Content Placeholder 34">
            <a:extLst>
              <a:ext uri="{FF2B5EF4-FFF2-40B4-BE49-F238E27FC236}">
                <a16:creationId xmlns:a16="http://schemas.microsoft.com/office/drawing/2014/main" id="{1FF81C2F-2794-5067-4F48-1FD854FAECA9}"/>
              </a:ext>
            </a:extLst>
          </p:cNvPr>
          <p:cNvSpPr txBox="1">
            <a:spLocks/>
          </p:cNvSpPr>
          <p:nvPr/>
        </p:nvSpPr>
        <p:spPr>
          <a:xfrm>
            <a:off x="285990" y="641993"/>
            <a:ext cx="11430000" cy="246221"/>
          </a:xfrm>
          <a:prstGeom prst="rect">
            <a:avLst/>
          </a:prstGeom>
        </p:spPr>
        <p:txBody>
          <a:bodyPr/>
          <a:lstStyle>
            <a:lvl1pPr marL="228600" indent="-228600" algn="l" defTabSz="228600" rtl="0" eaLnBrk="1" latinLnBrk="0" hangingPunct="1">
              <a:lnSpc>
                <a:spcPct val="100000"/>
              </a:lnSpc>
              <a:spcBef>
                <a:spcPts val="0"/>
              </a:spcBef>
              <a:spcAft>
                <a:spcPts val="600"/>
              </a:spcAft>
              <a:buFont typeface="Arial"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Arial"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Arial"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Arial"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Arial"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Arial" panose="020B0604020202020204" pitchFamily="34" charset="0"/>
              <a:buNone/>
              <a:defRPr sz="800" kern="1200">
                <a:solidFill>
                  <a:schemeClr val="tx2"/>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s" sz="1600" b="1" i="0" u="none" strike="noStrike" kern="1200" cap="none" spc="0" normalizeH="0" baseline="0" noProof="0">
                <a:ln>
                  <a:noFill/>
                </a:ln>
                <a:solidFill>
                  <a:srgbClr val="7500C0"/>
                </a:solidFill>
                <a:effectLst/>
                <a:uLnTx/>
                <a:uFillTx/>
                <a:latin typeface="Graphik" panose="020B0503030202060203" pitchFamily="34" charset="0"/>
                <a:ea typeface="+mn-ea"/>
                <a:cs typeface="+mn-cs"/>
              </a:rPr>
              <a:t>Patrón de Orquestación sin Estado</a:t>
            </a:r>
          </a:p>
        </p:txBody>
      </p:sp>
      <p:sp>
        <p:nvSpPr>
          <p:cNvPr id="6" name="Rectangle 5">
            <a:extLst>
              <a:ext uri="{FF2B5EF4-FFF2-40B4-BE49-F238E27FC236}">
                <a16:creationId xmlns:a16="http://schemas.microsoft.com/office/drawing/2014/main" id="{48846FD4-7940-5CDF-F7FA-5320FCE3D29F}"/>
              </a:ext>
            </a:extLst>
          </p:cNvPr>
          <p:cNvSpPr/>
          <p:nvPr/>
        </p:nvSpPr>
        <p:spPr>
          <a:xfrm>
            <a:off x="1968474" y="5231199"/>
            <a:ext cx="942808" cy="600038"/>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Sistema Abierto</a:t>
            </a:r>
          </a:p>
        </p:txBody>
      </p:sp>
      <p:sp>
        <p:nvSpPr>
          <p:cNvPr id="7" name="Rectangle 6">
            <a:extLst>
              <a:ext uri="{FF2B5EF4-FFF2-40B4-BE49-F238E27FC236}">
                <a16:creationId xmlns:a16="http://schemas.microsoft.com/office/drawing/2014/main" id="{3FA457A2-5A34-715C-5CE9-2A0C278CCDA5}"/>
              </a:ext>
            </a:extLst>
          </p:cNvPr>
          <p:cNvSpPr/>
          <p:nvPr/>
        </p:nvSpPr>
        <p:spPr>
          <a:xfrm>
            <a:off x="538809" y="1520610"/>
            <a:ext cx="4462492" cy="3148306"/>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90000" tIns="90000" rIns="90000" bIns="90000" rtlCol="0" anchor="t"/>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Microservicios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Marco</a:t>
            </a:r>
          </a:p>
        </p:txBody>
      </p:sp>
      <p:sp>
        <p:nvSpPr>
          <p:cNvPr id="8" name="Rectangle 7">
            <a:extLst>
              <a:ext uri="{FF2B5EF4-FFF2-40B4-BE49-F238E27FC236}">
                <a16:creationId xmlns:a16="http://schemas.microsoft.com/office/drawing/2014/main" id="{3625D9DA-0110-90BA-74A0-3D4F66770DB4}"/>
              </a:ext>
            </a:extLst>
          </p:cNvPr>
          <p:cNvSpPr/>
          <p:nvPr/>
        </p:nvSpPr>
        <p:spPr>
          <a:xfrm>
            <a:off x="2456332" y="1193422"/>
            <a:ext cx="2029722" cy="152083"/>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API Gateway</a:t>
            </a:r>
          </a:p>
        </p:txBody>
      </p:sp>
      <p:sp>
        <p:nvSpPr>
          <p:cNvPr id="9" name="Rectangle 8">
            <a:extLst>
              <a:ext uri="{FF2B5EF4-FFF2-40B4-BE49-F238E27FC236}">
                <a16:creationId xmlns:a16="http://schemas.microsoft.com/office/drawing/2014/main" id="{DDC35F10-80DD-6FC3-CB75-15B81F146263}"/>
              </a:ext>
            </a:extLst>
          </p:cNvPr>
          <p:cNvSpPr/>
          <p:nvPr/>
        </p:nvSpPr>
        <p:spPr>
          <a:xfrm>
            <a:off x="2679034" y="1738433"/>
            <a:ext cx="1679166" cy="930364"/>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Orquestador de Servicio/</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Marco de integración</a:t>
            </a:r>
          </a:p>
        </p:txBody>
      </p:sp>
      <p:sp>
        <p:nvSpPr>
          <p:cNvPr id="10" name="Rectangle 9">
            <a:extLst>
              <a:ext uri="{FF2B5EF4-FFF2-40B4-BE49-F238E27FC236}">
                <a16:creationId xmlns:a16="http://schemas.microsoft.com/office/drawing/2014/main" id="{AA39466E-2937-9DDE-4446-2B47B902749F}"/>
              </a:ext>
            </a:extLst>
          </p:cNvPr>
          <p:cNvSpPr/>
          <p:nvPr/>
        </p:nvSpPr>
        <p:spPr>
          <a:xfrm>
            <a:off x="2070794" y="3588545"/>
            <a:ext cx="736093"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Servicio</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1</a:t>
            </a:r>
          </a:p>
        </p:txBody>
      </p:sp>
      <p:cxnSp>
        <p:nvCxnSpPr>
          <p:cNvPr id="11" name="Straight Arrow Connector 10">
            <a:extLst>
              <a:ext uri="{FF2B5EF4-FFF2-40B4-BE49-F238E27FC236}">
                <a16:creationId xmlns:a16="http://schemas.microsoft.com/office/drawing/2014/main" id="{F3311CBD-2A37-0660-0D70-E2FCF3FC4DAF}"/>
              </a:ext>
            </a:extLst>
          </p:cNvPr>
          <p:cNvCxnSpPr>
            <a:cxnSpLocks/>
          </p:cNvCxnSpPr>
          <p:nvPr/>
        </p:nvCxnSpPr>
        <p:spPr>
          <a:xfrm>
            <a:off x="3469624" y="1345505"/>
            <a:ext cx="1" cy="381229"/>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DCD3487A-5B25-F00C-E7B8-3A24DCA5988F}"/>
              </a:ext>
            </a:extLst>
          </p:cNvPr>
          <p:cNvSpPr/>
          <p:nvPr/>
        </p:nvSpPr>
        <p:spPr>
          <a:xfrm>
            <a:off x="3111244" y="3588545"/>
            <a:ext cx="736093"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Servicio</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2</a:t>
            </a:r>
          </a:p>
        </p:txBody>
      </p:sp>
      <p:sp>
        <p:nvSpPr>
          <p:cNvPr id="13" name="Rectangle 12">
            <a:extLst>
              <a:ext uri="{FF2B5EF4-FFF2-40B4-BE49-F238E27FC236}">
                <a16:creationId xmlns:a16="http://schemas.microsoft.com/office/drawing/2014/main" id="{2D92EE6E-F8C2-FB61-0646-BE036637A8EC}"/>
              </a:ext>
            </a:extLst>
          </p:cNvPr>
          <p:cNvSpPr/>
          <p:nvPr/>
        </p:nvSpPr>
        <p:spPr>
          <a:xfrm>
            <a:off x="4159471" y="3588545"/>
            <a:ext cx="736093"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Servicio</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3</a:t>
            </a:r>
          </a:p>
        </p:txBody>
      </p:sp>
      <p:cxnSp>
        <p:nvCxnSpPr>
          <p:cNvPr id="14" name="Connector: Elbow 13">
            <a:extLst>
              <a:ext uri="{FF2B5EF4-FFF2-40B4-BE49-F238E27FC236}">
                <a16:creationId xmlns:a16="http://schemas.microsoft.com/office/drawing/2014/main" id="{55AC6E1E-2180-8AE5-B07A-E333B3566C33}"/>
              </a:ext>
            </a:extLst>
          </p:cNvPr>
          <p:cNvCxnSpPr>
            <a:cxnSpLocks/>
            <a:stCxn id="54" idx="2"/>
            <a:endCxn id="10" idx="0"/>
          </p:cNvCxnSpPr>
          <p:nvPr/>
        </p:nvCxnSpPr>
        <p:spPr>
          <a:xfrm rot="5400000">
            <a:off x="2359613" y="2456205"/>
            <a:ext cx="1211569" cy="1053111"/>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755D42C3-A385-F130-C6D0-D8AD81BD8D28}"/>
              </a:ext>
            </a:extLst>
          </p:cNvPr>
          <p:cNvSpPr/>
          <p:nvPr/>
        </p:nvSpPr>
        <p:spPr>
          <a:xfrm>
            <a:off x="2070794" y="3929028"/>
            <a:ext cx="736093"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Servicio</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1a</a:t>
            </a:r>
          </a:p>
        </p:txBody>
      </p:sp>
      <p:sp>
        <p:nvSpPr>
          <p:cNvPr id="16" name="Rectangle 15">
            <a:extLst>
              <a:ext uri="{FF2B5EF4-FFF2-40B4-BE49-F238E27FC236}">
                <a16:creationId xmlns:a16="http://schemas.microsoft.com/office/drawing/2014/main" id="{6249A962-4D94-1078-1381-F7707628806C}"/>
              </a:ext>
            </a:extLst>
          </p:cNvPr>
          <p:cNvSpPr/>
          <p:nvPr/>
        </p:nvSpPr>
        <p:spPr>
          <a:xfrm>
            <a:off x="2070794" y="4267145"/>
            <a:ext cx="736093"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Servicio</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1b</a:t>
            </a:r>
          </a:p>
        </p:txBody>
      </p:sp>
      <p:cxnSp>
        <p:nvCxnSpPr>
          <p:cNvPr id="17" name="Connector: Elbow 16">
            <a:extLst>
              <a:ext uri="{FF2B5EF4-FFF2-40B4-BE49-F238E27FC236}">
                <a16:creationId xmlns:a16="http://schemas.microsoft.com/office/drawing/2014/main" id="{0FB4E734-211A-AB42-D16A-47200E32A9AE}"/>
              </a:ext>
            </a:extLst>
          </p:cNvPr>
          <p:cNvCxnSpPr>
            <a:cxnSpLocks/>
            <a:stCxn id="10" idx="1"/>
            <a:endCxn id="42" idx="4"/>
          </p:cNvCxnSpPr>
          <p:nvPr/>
        </p:nvCxnSpPr>
        <p:spPr>
          <a:xfrm rot="10800000" flipV="1">
            <a:off x="837978" y="3732545"/>
            <a:ext cx="1232817" cy="233652"/>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C3E90605-73E7-FB1C-0CB8-FED92405B0E4}"/>
              </a:ext>
            </a:extLst>
          </p:cNvPr>
          <p:cNvSpPr/>
          <p:nvPr/>
        </p:nvSpPr>
        <p:spPr>
          <a:xfrm>
            <a:off x="3010225" y="5231199"/>
            <a:ext cx="942808" cy="600038"/>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Cloud</a:t>
            </a:r>
          </a:p>
        </p:txBody>
      </p:sp>
      <p:sp>
        <p:nvSpPr>
          <p:cNvPr id="19" name="Rectangle 18">
            <a:extLst>
              <a:ext uri="{FF2B5EF4-FFF2-40B4-BE49-F238E27FC236}">
                <a16:creationId xmlns:a16="http://schemas.microsoft.com/office/drawing/2014/main" id="{E92E3F7A-BB57-18EC-9E79-3869EF4A9C25}"/>
              </a:ext>
            </a:extLst>
          </p:cNvPr>
          <p:cNvSpPr/>
          <p:nvPr/>
        </p:nvSpPr>
        <p:spPr>
          <a:xfrm>
            <a:off x="3110449" y="5386842"/>
            <a:ext cx="741932"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Servicio Backend 2</a:t>
            </a:r>
          </a:p>
        </p:txBody>
      </p:sp>
      <p:sp>
        <p:nvSpPr>
          <p:cNvPr id="20" name="Rectangle 19">
            <a:extLst>
              <a:ext uri="{FF2B5EF4-FFF2-40B4-BE49-F238E27FC236}">
                <a16:creationId xmlns:a16="http://schemas.microsoft.com/office/drawing/2014/main" id="{E10F9407-D7CC-A174-5B5E-CD9E7A4D84A1}"/>
              </a:ext>
            </a:extLst>
          </p:cNvPr>
          <p:cNvSpPr/>
          <p:nvPr/>
        </p:nvSpPr>
        <p:spPr>
          <a:xfrm>
            <a:off x="4056348" y="5231199"/>
            <a:ext cx="942808" cy="600038"/>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Legado</a:t>
            </a:r>
          </a:p>
        </p:txBody>
      </p:sp>
      <p:sp>
        <p:nvSpPr>
          <p:cNvPr id="21" name="Rectangle 20">
            <a:extLst>
              <a:ext uri="{FF2B5EF4-FFF2-40B4-BE49-F238E27FC236}">
                <a16:creationId xmlns:a16="http://schemas.microsoft.com/office/drawing/2014/main" id="{545EB06E-54DA-7999-7344-A7BAE14AD1E9}"/>
              </a:ext>
            </a:extLst>
          </p:cNvPr>
          <p:cNvSpPr/>
          <p:nvPr/>
        </p:nvSpPr>
        <p:spPr>
          <a:xfrm>
            <a:off x="4159545" y="5386842"/>
            <a:ext cx="741932"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Legado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Servicio 3</a:t>
            </a:r>
          </a:p>
        </p:txBody>
      </p:sp>
      <p:cxnSp>
        <p:nvCxnSpPr>
          <p:cNvPr id="22" name="Connector: Elbow 21">
            <a:extLst>
              <a:ext uri="{FF2B5EF4-FFF2-40B4-BE49-F238E27FC236}">
                <a16:creationId xmlns:a16="http://schemas.microsoft.com/office/drawing/2014/main" id="{CCD3FE0F-DCA6-6C34-55DE-7186EA6CC7E4}"/>
              </a:ext>
            </a:extLst>
          </p:cNvPr>
          <p:cNvCxnSpPr>
            <a:cxnSpLocks/>
            <a:stCxn id="16" idx="2"/>
            <a:endCxn id="39" idx="1"/>
          </p:cNvCxnSpPr>
          <p:nvPr/>
        </p:nvCxnSpPr>
        <p:spPr>
          <a:xfrm rot="5400000">
            <a:off x="2033282" y="4954258"/>
            <a:ext cx="804673" cy="6447"/>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23" name="Connector: Elbow 22">
            <a:extLst>
              <a:ext uri="{FF2B5EF4-FFF2-40B4-BE49-F238E27FC236}">
                <a16:creationId xmlns:a16="http://schemas.microsoft.com/office/drawing/2014/main" id="{578ADBD3-B855-EFE2-6F8C-A85ACF3A93B3}"/>
              </a:ext>
            </a:extLst>
          </p:cNvPr>
          <p:cNvCxnSpPr>
            <a:cxnSpLocks/>
            <a:stCxn id="12" idx="2"/>
            <a:endCxn id="50" idx="0"/>
          </p:cNvCxnSpPr>
          <p:nvPr/>
        </p:nvCxnSpPr>
        <p:spPr>
          <a:xfrm rot="16200000" flipH="1">
            <a:off x="3260252" y="4095583"/>
            <a:ext cx="441529" cy="3451"/>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D3DCBAB5-AC43-3A49-A9F3-CBD70C8810F2}"/>
              </a:ext>
            </a:extLst>
          </p:cNvPr>
          <p:cNvSpPr/>
          <p:nvPr/>
        </p:nvSpPr>
        <p:spPr>
          <a:xfrm>
            <a:off x="4058493" y="4814528"/>
            <a:ext cx="942808" cy="335266"/>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Legado</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Adaptador</a:t>
            </a:r>
          </a:p>
        </p:txBody>
      </p:sp>
      <p:cxnSp>
        <p:nvCxnSpPr>
          <p:cNvPr id="25" name="Connector: Elbow 24">
            <a:extLst>
              <a:ext uri="{FF2B5EF4-FFF2-40B4-BE49-F238E27FC236}">
                <a16:creationId xmlns:a16="http://schemas.microsoft.com/office/drawing/2014/main" id="{9259E8E4-C9F4-1E6B-80DB-C7F065695363}"/>
              </a:ext>
            </a:extLst>
          </p:cNvPr>
          <p:cNvCxnSpPr>
            <a:cxnSpLocks/>
            <a:stCxn id="13" idx="2"/>
            <a:endCxn id="24" idx="0"/>
          </p:cNvCxnSpPr>
          <p:nvPr/>
        </p:nvCxnSpPr>
        <p:spPr>
          <a:xfrm rot="16200000" flipH="1">
            <a:off x="4059716" y="4344346"/>
            <a:ext cx="937983" cy="2379"/>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Connector: Elbow 25">
            <a:extLst>
              <a:ext uri="{FF2B5EF4-FFF2-40B4-BE49-F238E27FC236}">
                <a16:creationId xmlns:a16="http://schemas.microsoft.com/office/drawing/2014/main" id="{8138320B-13A4-DE9A-9881-641299121E1B}"/>
              </a:ext>
            </a:extLst>
          </p:cNvPr>
          <p:cNvCxnSpPr>
            <a:cxnSpLocks/>
            <a:stCxn id="42" idx="1"/>
            <a:endCxn id="9" idx="1"/>
          </p:cNvCxnSpPr>
          <p:nvPr/>
        </p:nvCxnSpPr>
        <p:spPr>
          <a:xfrm rot="5400000" flipH="1" flipV="1">
            <a:off x="1141650" y="1796480"/>
            <a:ext cx="1130248" cy="1944519"/>
          </a:xfrm>
          <a:prstGeom prst="bentConnector2">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27" name="Rectangle 26">
            <a:extLst>
              <a:ext uri="{FF2B5EF4-FFF2-40B4-BE49-F238E27FC236}">
                <a16:creationId xmlns:a16="http://schemas.microsoft.com/office/drawing/2014/main" id="{37958C0D-5156-3805-A95C-54DC7EB7EAF0}"/>
              </a:ext>
            </a:extLst>
          </p:cNvPr>
          <p:cNvSpPr/>
          <p:nvPr/>
        </p:nvSpPr>
        <p:spPr>
          <a:xfrm>
            <a:off x="5996500" y="2768016"/>
            <a:ext cx="942808" cy="335266"/>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Herramientas de monitorización</a:t>
            </a:r>
          </a:p>
        </p:txBody>
      </p:sp>
      <p:cxnSp>
        <p:nvCxnSpPr>
          <p:cNvPr id="28" name="Connector: Elbow 27">
            <a:extLst>
              <a:ext uri="{FF2B5EF4-FFF2-40B4-BE49-F238E27FC236}">
                <a16:creationId xmlns:a16="http://schemas.microsoft.com/office/drawing/2014/main" id="{22B3A887-62FA-8682-5408-D2EB55A57FE0}"/>
              </a:ext>
            </a:extLst>
          </p:cNvPr>
          <p:cNvCxnSpPr>
            <a:cxnSpLocks/>
            <a:stCxn id="54" idx="3"/>
            <a:endCxn id="40" idx="2"/>
          </p:cNvCxnSpPr>
          <p:nvPr/>
        </p:nvCxnSpPr>
        <p:spPr>
          <a:xfrm>
            <a:off x="3918540" y="2249247"/>
            <a:ext cx="1539511" cy="683074"/>
          </a:xfrm>
          <a:prstGeom prst="bentConnector3">
            <a:avLst>
              <a:gd name="adj1" fmla="val 61022"/>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29" name="Connector: Elbow 28">
            <a:extLst>
              <a:ext uri="{FF2B5EF4-FFF2-40B4-BE49-F238E27FC236}">
                <a16:creationId xmlns:a16="http://schemas.microsoft.com/office/drawing/2014/main" id="{3446A884-8DCB-4E49-6F6D-1E07A833B8F0}"/>
              </a:ext>
            </a:extLst>
          </p:cNvPr>
          <p:cNvCxnSpPr>
            <a:cxnSpLocks/>
            <a:stCxn id="9" idx="3"/>
            <a:endCxn id="40" idx="2"/>
          </p:cNvCxnSpPr>
          <p:nvPr/>
        </p:nvCxnSpPr>
        <p:spPr>
          <a:xfrm>
            <a:off x="4358200" y="2203615"/>
            <a:ext cx="1099851" cy="728706"/>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grpSp>
        <p:nvGrpSpPr>
          <p:cNvPr id="30" name="Group 29">
            <a:extLst>
              <a:ext uri="{FF2B5EF4-FFF2-40B4-BE49-F238E27FC236}">
                <a16:creationId xmlns:a16="http://schemas.microsoft.com/office/drawing/2014/main" id="{3DEEFFEF-DE72-3188-6E1B-074D9C293377}"/>
              </a:ext>
            </a:extLst>
          </p:cNvPr>
          <p:cNvGrpSpPr/>
          <p:nvPr/>
        </p:nvGrpSpPr>
        <p:grpSpPr>
          <a:xfrm>
            <a:off x="4422032" y="1410695"/>
            <a:ext cx="844771" cy="284934"/>
            <a:chOff x="2436880" y="1158097"/>
            <a:chExt cx="1080000" cy="360000"/>
          </a:xfrm>
          <a:solidFill>
            <a:schemeClr val="bg1"/>
          </a:solidFill>
        </p:grpSpPr>
        <p:sp>
          <p:nvSpPr>
            <p:cNvPr id="31" name="Rectangle 30">
              <a:extLst>
                <a:ext uri="{FF2B5EF4-FFF2-40B4-BE49-F238E27FC236}">
                  <a16:creationId xmlns:a16="http://schemas.microsoft.com/office/drawing/2014/main" id="{EAD3589D-C1B3-E54F-F4E3-551003E34A25}"/>
                </a:ext>
              </a:extLst>
            </p:cNvPr>
            <p:cNvSpPr/>
            <p:nvPr/>
          </p:nvSpPr>
          <p:spPr>
            <a:xfrm>
              <a:off x="2436880" y="1158097"/>
              <a:ext cx="1080000" cy="360000"/>
            </a:xfrm>
            <a:prstGeom prst="rect">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OpenShift</a:t>
              </a:r>
            </a:p>
          </p:txBody>
        </p:sp>
        <p:pic>
          <p:nvPicPr>
            <p:cNvPr id="32" name="Picture 31">
              <a:extLst>
                <a:ext uri="{FF2B5EF4-FFF2-40B4-BE49-F238E27FC236}">
                  <a16:creationId xmlns:a16="http://schemas.microsoft.com/office/drawing/2014/main" id="{8FEDBB6D-AC4F-FE34-719C-3E8DAF8C19FC}"/>
                </a:ext>
              </a:extLst>
            </p:cNvPr>
            <p:cNvPicPr>
              <a:picLocks noChangeAspect="1"/>
            </p:cNvPicPr>
            <p:nvPr/>
          </p:nvPicPr>
          <p:blipFill>
            <a:blip r:embed="rId2"/>
            <a:stretch>
              <a:fillRect/>
            </a:stretch>
          </p:blipFill>
          <p:spPr>
            <a:xfrm>
              <a:off x="2470229" y="1215368"/>
              <a:ext cx="1013303" cy="245459"/>
            </a:xfrm>
            <a:prstGeom prst="rect">
              <a:avLst/>
            </a:prstGeom>
            <a:grpFill/>
          </p:spPr>
        </p:pic>
      </p:grpSp>
      <p:cxnSp>
        <p:nvCxnSpPr>
          <p:cNvPr id="33" name="Connector: Elbow 32">
            <a:extLst>
              <a:ext uri="{FF2B5EF4-FFF2-40B4-BE49-F238E27FC236}">
                <a16:creationId xmlns:a16="http://schemas.microsoft.com/office/drawing/2014/main" id="{92F4E024-76E2-0965-C1DA-3FFC465FD0A4}"/>
              </a:ext>
            </a:extLst>
          </p:cNvPr>
          <p:cNvCxnSpPr>
            <a:cxnSpLocks/>
            <a:stCxn id="24" idx="3"/>
            <a:endCxn id="40" idx="2"/>
          </p:cNvCxnSpPr>
          <p:nvPr/>
        </p:nvCxnSpPr>
        <p:spPr>
          <a:xfrm flipV="1">
            <a:off x="5001301" y="2932321"/>
            <a:ext cx="456750" cy="2049840"/>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34" name="TextBox 144">
            <a:extLst>
              <a:ext uri="{FF2B5EF4-FFF2-40B4-BE49-F238E27FC236}">
                <a16:creationId xmlns:a16="http://schemas.microsoft.com/office/drawing/2014/main" id="{D584FF7F-D512-416F-92C1-8D5911A401AD}"/>
              </a:ext>
            </a:extLst>
          </p:cNvPr>
          <p:cNvSpPr txBox="1"/>
          <p:nvPr/>
        </p:nvSpPr>
        <p:spPr>
          <a:xfrm>
            <a:off x="7351070" y="1561320"/>
            <a:ext cx="3804073" cy="3588469"/>
          </a:xfrm>
          <a:prstGeom prst="rect">
            <a:avLst/>
          </a:prstGeom>
          <a:noFill/>
        </p:spPr>
        <p:txBody>
          <a:bodyPr wrap="square" lIns="0" tIns="0" rIns="0" bIns="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600"/>
              </a:spcAft>
              <a:buClrTx/>
              <a:buSzTx/>
              <a:buFontTx/>
              <a:buNone/>
              <a:tabLst/>
              <a:defRPr/>
            </a:pPr>
            <a:r>
              <a:rPr kumimoji="0" lang="es" sz="1100" b="1" i="0" u="none" strike="noStrike" kern="1200" cap="none" spc="0" normalizeH="0" baseline="0" noProof="0" dirty="0">
                <a:ln>
                  <a:noFill/>
                </a:ln>
                <a:solidFill>
                  <a:srgbClr val="000000"/>
                </a:solidFill>
                <a:effectLst/>
                <a:uLnTx/>
                <a:uFillTx/>
                <a:latin typeface="Graphik"/>
                <a:ea typeface="+mn-ea"/>
                <a:cs typeface="+mn-cs"/>
              </a:rPr>
              <a:t>Notas</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1100" b="0" i="0" u="none" strike="noStrike" kern="1200" cap="none" spc="0" normalizeH="0" baseline="0" noProof="0" dirty="0">
                <a:ln>
                  <a:noFill/>
                </a:ln>
                <a:solidFill>
                  <a:srgbClr val="000000"/>
                </a:solidFill>
                <a:effectLst/>
                <a:uLnTx/>
                <a:uFillTx/>
                <a:latin typeface="Graphik"/>
                <a:ea typeface="+mn-ea"/>
                <a:cs typeface="+mn-cs"/>
              </a:rPr>
              <a:t>Los servicios complejos se descomponen en una secuencia de servicios de grano fino</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1100" b="0" i="0" u="none" strike="noStrike" kern="1200" cap="none" spc="0" normalizeH="0" baseline="0" noProof="0" dirty="0">
                <a:ln>
                  <a:noFill/>
                </a:ln>
                <a:solidFill>
                  <a:srgbClr val="000000"/>
                </a:solidFill>
                <a:effectLst/>
                <a:uLnTx/>
                <a:uFillTx/>
                <a:latin typeface="Graphik"/>
                <a:ea typeface="+mn-ea"/>
                <a:cs typeface="+mn-cs"/>
              </a:rPr>
              <a:t>Se orquestan e integran usando el mismo framework (por ejemplo, Mulesoft o Camel)</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1100" b="0" i="0" u="none" strike="noStrike" kern="1200" cap="none" spc="0" normalizeH="0" baseline="0" noProof="0" dirty="0">
                <a:ln>
                  <a:noFill/>
                </a:ln>
                <a:solidFill>
                  <a:srgbClr val="000000"/>
                </a:solidFill>
                <a:effectLst/>
                <a:uLnTx/>
                <a:uFillTx/>
                <a:latin typeface="Graphik"/>
                <a:ea typeface="+mn-ea"/>
                <a:cs typeface="+mn-cs"/>
              </a:rPr>
              <a:t>Los pasos en un servicio complejo pueden seguir una secuencia o ejecutarse en paralelo</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1100" b="0" i="0" u="none" strike="noStrike" kern="1200" cap="none" spc="0" normalizeH="0" baseline="0" noProof="0" dirty="0">
                <a:ln>
                  <a:noFill/>
                </a:ln>
                <a:solidFill>
                  <a:srgbClr val="000000"/>
                </a:solidFill>
                <a:effectLst/>
                <a:uLnTx/>
                <a:uFillTx/>
                <a:latin typeface="Graphik"/>
                <a:ea typeface="+mn-ea"/>
                <a:cs typeface="+mn-cs"/>
              </a:rPr>
              <a:t>Las interacciones entre servicios pueden ser síncronas (RPC) o asíncronas (basadas en eventos)</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1100" b="0" i="0" u="none" strike="noStrike" kern="1200" cap="none" spc="0" normalizeH="0" baseline="0" noProof="0" dirty="0">
                <a:ln>
                  <a:noFill/>
                </a:ln>
                <a:solidFill>
                  <a:srgbClr val="000000"/>
                </a:solidFill>
                <a:effectLst/>
                <a:uLnTx/>
                <a:uFillTx/>
                <a:latin typeface="Graphik"/>
                <a:ea typeface="+mn-ea"/>
                <a:cs typeface="+mn-cs"/>
              </a:rPr>
              <a:t>Los servicios de grano fino pueden estar en varias plataformas diferentes</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1100" b="0" i="0" u="none" strike="noStrike" kern="1200" cap="none" spc="0" normalizeH="0" baseline="0" noProof="0" dirty="0">
                <a:ln>
                  <a:noFill/>
                </a:ln>
                <a:solidFill>
                  <a:srgbClr val="000000"/>
                </a:solidFill>
                <a:effectLst/>
                <a:uLnTx/>
                <a:uFillTx/>
                <a:latin typeface="Graphik"/>
                <a:ea typeface="+mn-ea"/>
                <a:cs typeface="+mn-cs"/>
              </a:rPr>
              <a:t>Todos los componentes están conectados a las herramientas de monitorización, normalmente mediante eventos para registrar tanto datos técnicos como empresariales</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1100" b="0" i="0" u="none" strike="noStrike" kern="1200" cap="none" spc="0" normalizeH="0" baseline="0" noProof="0" dirty="0">
                <a:ln>
                  <a:noFill/>
                </a:ln>
                <a:solidFill>
                  <a:srgbClr val="000000"/>
                </a:solidFill>
                <a:effectLst/>
                <a:uLnTx/>
                <a:uFillTx/>
                <a:latin typeface="Graphik"/>
                <a:ea typeface="+mn-ea"/>
                <a:cs typeface="+mn-cs"/>
              </a:rPr>
              <a:t>NOTA: No se representa aquí el procesamiento de transacciones. Esto se considera un caso particular de Orquestación de Servicios que requiere atomicidad</a:t>
            </a:r>
          </a:p>
        </p:txBody>
      </p:sp>
      <p:cxnSp>
        <p:nvCxnSpPr>
          <p:cNvPr id="35" name="Connector: Elbow 34">
            <a:extLst>
              <a:ext uri="{FF2B5EF4-FFF2-40B4-BE49-F238E27FC236}">
                <a16:creationId xmlns:a16="http://schemas.microsoft.com/office/drawing/2014/main" id="{261F6E85-0B22-7E36-25F4-177D159ACBEF}"/>
              </a:ext>
            </a:extLst>
          </p:cNvPr>
          <p:cNvCxnSpPr>
            <a:cxnSpLocks/>
            <a:stCxn id="24" idx="2"/>
            <a:endCxn id="21" idx="0"/>
          </p:cNvCxnSpPr>
          <p:nvPr/>
        </p:nvCxnSpPr>
        <p:spPr>
          <a:xfrm rot="16200000" flipH="1">
            <a:off x="4411680" y="5268011"/>
            <a:ext cx="237048" cy="614"/>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6" name="Rectangle 35">
            <a:extLst>
              <a:ext uri="{FF2B5EF4-FFF2-40B4-BE49-F238E27FC236}">
                <a16:creationId xmlns:a16="http://schemas.microsoft.com/office/drawing/2014/main" id="{A345749D-FD05-A820-26EF-AACD13C243AD}"/>
              </a:ext>
            </a:extLst>
          </p:cNvPr>
          <p:cNvSpPr/>
          <p:nvPr/>
        </p:nvSpPr>
        <p:spPr>
          <a:xfrm>
            <a:off x="7860146" y="5585430"/>
            <a:ext cx="3439086" cy="205327"/>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Componentes principales de esta capacidad</a:t>
            </a:r>
          </a:p>
        </p:txBody>
      </p:sp>
      <p:sp>
        <p:nvSpPr>
          <p:cNvPr id="37" name="Rectangle 36">
            <a:extLst>
              <a:ext uri="{FF2B5EF4-FFF2-40B4-BE49-F238E27FC236}">
                <a16:creationId xmlns:a16="http://schemas.microsoft.com/office/drawing/2014/main" id="{104D4088-4042-E977-4C00-83501301089E}"/>
              </a:ext>
            </a:extLst>
          </p:cNvPr>
          <p:cNvSpPr/>
          <p:nvPr/>
        </p:nvSpPr>
        <p:spPr>
          <a:xfrm>
            <a:off x="7860146" y="5819582"/>
            <a:ext cx="3439086" cy="187603"/>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Componentes de otras capacidades relacionadas</a:t>
            </a:r>
          </a:p>
        </p:txBody>
      </p:sp>
      <p:sp>
        <p:nvSpPr>
          <p:cNvPr id="38" name="Rectangle 37">
            <a:extLst>
              <a:ext uri="{FF2B5EF4-FFF2-40B4-BE49-F238E27FC236}">
                <a16:creationId xmlns:a16="http://schemas.microsoft.com/office/drawing/2014/main" id="{02483F42-8F64-F8F3-BDE9-E6418BF4787D}"/>
              </a:ext>
            </a:extLst>
          </p:cNvPr>
          <p:cNvSpPr/>
          <p:nvPr/>
        </p:nvSpPr>
        <p:spPr>
          <a:xfrm>
            <a:off x="7860145" y="6036007"/>
            <a:ext cx="3439086" cy="165055"/>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Componentes funcionales relacionados con esta capacidad</a:t>
            </a:r>
          </a:p>
        </p:txBody>
      </p:sp>
      <p:sp>
        <p:nvSpPr>
          <p:cNvPr id="39" name="Flowchart: Magnetic Disk 38">
            <a:extLst>
              <a:ext uri="{FF2B5EF4-FFF2-40B4-BE49-F238E27FC236}">
                <a16:creationId xmlns:a16="http://schemas.microsoft.com/office/drawing/2014/main" id="{F6009356-F2CA-3268-3B9D-25D36F77119C}"/>
              </a:ext>
            </a:extLst>
          </p:cNvPr>
          <p:cNvSpPr/>
          <p:nvPr/>
        </p:nvSpPr>
        <p:spPr>
          <a:xfrm>
            <a:off x="2064347" y="5359818"/>
            <a:ext cx="736093" cy="307104"/>
          </a:xfrm>
          <a:prstGeom prst="flowChartMagneticDisk">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Base de Datos 1</a:t>
            </a:r>
          </a:p>
        </p:txBody>
      </p:sp>
      <p:sp>
        <p:nvSpPr>
          <p:cNvPr id="40" name="Can 172">
            <a:extLst>
              <a:ext uri="{FF2B5EF4-FFF2-40B4-BE49-F238E27FC236}">
                <a16:creationId xmlns:a16="http://schemas.microsoft.com/office/drawing/2014/main" id="{14063886-A605-9740-2CB1-3A12B4CC6B1E}"/>
              </a:ext>
            </a:extLst>
          </p:cNvPr>
          <p:cNvSpPr/>
          <p:nvPr/>
        </p:nvSpPr>
        <p:spPr bwMode="auto">
          <a:xfrm>
            <a:off x="5458051" y="2121518"/>
            <a:ext cx="312661" cy="1621605"/>
          </a:xfrm>
          <a:prstGeom prst="can">
            <a:avLst>
              <a:gd name="adj" fmla="val 59089"/>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Monitorización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Autobús de eventos</a:t>
            </a:r>
          </a:p>
        </p:txBody>
      </p:sp>
      <p:cxnSp>
        <p:nvCxnSpPr>
          <p:cNvPr id="41" name="Connector: Elbow 40">
            <a:extLst>
              <a:ext uri="{FF2B5EF4-FFF2-40B4-BE49-F238E27FC236}">
                <a16:creationId xmlns:a16="http://schemas.microsoft.com/office/drawing/2014/main" id="{CBCBC3F8-CE93-8896-CF83-1D7D419D96E5}"/>
              </a:ext>
            </a:extLst>
          </p:cNvPr>
          <p:cNvCxnSpPr>
            <a:cxnSpLocks/>
            <a:stCxn id="40" idx="4"/>
            <a:endCxn id="27" idx="1"/>
          </p:cNvCxnSpPr>
          <p:nvPr/>
        </p:nvCxnSpPr>
        <p:spPr>
          <a:xfrm>
            <a:off x="5770712" y="2932321"/>
            <a:ext cx="225788" cy="3328"/>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42" name="Can 172">
            <a:extLst>
              <a:ext uri="{FF2B5EF4-FFF2-40B4-BE49-F238E27FC236}">
                <a16:creationId xmlns:a16="http://schemas.microsoft.com/office/drawing/2014/main" id="{5B8E8BC3-7B49-9112-566F-0C3CBB44D8E3}"/>
              </a:ext>
            </a:extLst>
          </p:cNvPr>
          <p:cNvSpPr/>
          <p:nvPr/>
        </p:nvSpPr>
        <p:spPr bwMode="auto">
          <a:xfrm>
            <a:off x="631052" y="3333863"/>
            <a:ext cx="206925" cy="1264667"/>
          </a:xfrm>
          <a:prstGeom prst="can">
            <a:avLst>
              <a:gd name="adj" fmla="val 59089"/>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Autobús de eventos</a:t>
            </a:r>
          </a:p>
        </p:txBody>
      </p:sp>
      <p:cxnSp>
        <p:nvCxnSpPr>
          <p:cNvPr id="43" name="Connector: Elbow 42">
            <a:extLst>
              <a:ext uri="{FF2B5EF4-FFF2-40B4-BE49-F238E27FC236}">
                <a16:creationId xmlns:a16="http://schemas.microsoft.com/office/drawing/2014/main" id="{CE0DA639-EEAB-89EB-0EE9-F4D7E3890A74}"/>
              </a:ext>
            </a:extLst>
          </p:cNvPr>
          <p:cNvCxnSpPr>
            <a:cxnSpLocks/>
            <a:endCxn id="15" idx="1"/>
          </p:cNvCxnSpPr>
          <p:nvPr/>
        </p:nvCxnSpPr>
        <p:spPr>
          <a:xfrm flipV="1">
            <a:off x="837977" y="4073028"/>
            <a:ext cx="1232817" cy="46115"/>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4" name="Connector: Elbow 43">
            <a:extLst>
              <a:ext uri="{FF2B5EF4-FFF2-40B4-BE49-F238E27FC236}">
                <a16:creationId xmlns:a16="http://schemas.microsoft.com/office/drawing/2014/main" id="{EB516476-B8F2-1DB6-1EC9-D831738E285B}"/>
              </a:ext>
            </a:extLst>
          </p:cNvPr>
          <p:cNvCxnSpPr>
            <a:cxnSpLocks/>
            <a:endCxn id="16" idx="1"/>
          </p:cNvCxnSpPr>
          <p:nvPr/>
        </p:nvCxnSpPr>
        <p:spPr>
          <a:xfrm>
            <a:off x="871765" y="4267145"/>
            <a:ext cx="1199029" cy="144000"/>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grpSp>
        <p:nvGrpSpPr>
          <p:cNvPr id="45" name="Group 44">
            <a:extLst>
              <a:ext uri="{FF2B5EF4-FFF2-40B4-BE49-F238E27FC236}">
                <a16:creationId xmlns:a16="http://schemas.microsoft.com/office/drawing/2014/main" id="{C61524D6-8741-CFCA-C2E0-3F0A77D983D2}"/>
              </a:ext>
            </a:extLst>
          </p:cNvPr>
          <p:cNvGrpSpPr/>
          <p:nvPr/>
        </p:nvGrpSpPr>
        <p:grpSpPr>
          <a:xfrm>
            <a:off x="2605321" y="2851697"/>
            <a:ext cx="648519" cy="196483"/>
            <a:chOff x="4509016" y="3576639"/>
            <a:chExt cx="1080000" cy="360000"/>
          </a:xfrm>
          <a:solidFill>
            <a:schemeClr val="bg1"/>
          </a:solidFill>
        </p:grpSpPr>
        <p:sp>
          <p:nvSpPr>
            <p:cNvPr id="46" name="Rectangle 45">
              <a:extLst>
                <a:ext uri="{FF2B5EF4-FFF2-40B4-BE49-F238E27FC236}">
                  <a16:creationId xmlns:a16="http://schemas.microsoft.com/office/drawing/2014/main" id="{2F648846-97D8-E60B-B610-3E0344116403}"/>
                </a:ext>
              </a:extLst>
            </p:cNvPr>
            <p:cNvSpPr/>
            <p:nvPr/>
          </p:nvSpPr>
          <p:spPr>
            <a:xfrm>
              <a:off x="4509016" y="3576639"/>
              <a:ext cx="1080000" cy="360000"/>
            </a:xfrm>
            <a:prstGeom prst="rect">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err="1">
                  <a:ln>
                    <a:noFill/>
                  </a:ln>
                  <a:solidFill>
                    <a:srgbClr val="000000"/>
                  </a:solidFill>
                  <a:effectLst/>
                  <a:uLnTx/>
                  <a:uFillTx/>
                  <a:latin typeface="Graphik"/>
                  <a:ea typeface="+mn-ea"/>
                  <a:cs typeface="+mn-cs"/>
                </a:rPr>
                <a:t>gRPC</a:t>
              </a:r>
              <a:endParaRPr kumimoji="0" lang="en-US" sz="700" b="0" i="0" u="none" strike="noStrike" kern="1200" cap="none" spc="0" normalizeH="0" baseline="0" noProof="0">
                <a:ln>
                  <a:noFill/>
                </a:ln>
                <a:solidFill>
                  <a:srgbClr val="000000"/>
                </a:solidFill>
                <a:effectLst/>
                <a:uLnTx/>
                <a:uFillTx/>
                <a:latin typeface="Graphik"/>
                <a:ea typeface="+mn-ea"/>
                <a:cs typeface="+mn-cs"/>
              </a:endParaRPr>
            </a:p>
          </p:txBody>
        </p:sp>
        <p:pic>
          <p:nvPicPr>
            <p:cNvPr id="47" name="Picture 46">
              <a:extLst>
                <a:ext uri="{FF2B5EF4-FFF2-40B4-BE49-F238E27FC236}">
                  <a16:creationId xmlns:a16="http://schemas.microsoft.com/office/drawing/2014/main" id="{89BC84AD-02F3-C3C3-DE36-3B18DAF7B7EA}"/>
                </a:ext>
              </a:extLst>
            </p:cNvPr>
            <p:cNvPicPr>
              <a:picLocks noChangeAspect="1"/>
            </p:cNvPicPr>
            <p:nvPr/>
          </p:nvPicPr>
          <p:blipFill>
            <a:blip r:embed="rId3"/>
            <a:stretch>
              <a:fillRect/>
            </a:stretch>
          </p:blipFill>
          <p:spPr>
            <a:xfrm>
              <a:off x="4746472" y="3602759"/>
              <a:ext cx="605088" cy="307760"/>
            </a:xfrm>
            <a:prstGeom prst="rect">
              <a:avLst/>
            </a:prstGeom>
            <a:grpFill/>
          </p:spPr>
        </p:pic>
      </p:grpSp>
      <p:cxnSp>
        <p:nvCxnSpPr>
          <p:cNvPr id="48" name="Connector: Elbow 47">
            <a:extLst>
              <a:ext uri="{FF2B5EF4-FFF2-40B4-BE49-F238E27FC236}">
                <a16:creationId xmlns:a16="http://schemas.microsoft.com/office/drawing/2014/main" id="{E0181BF7-D9D1-9C99-6806-EECCC19502A4}"/>
              </a:ext>
            </a:extLst>
          </p:cNvPr>
          <p:cNvCxnSpPr>
            <a:cxnSpLocks/>
            <a:stCxn id="54" idx="2"/>
            <a:endCxn id="12" idx="0"/>
          </p:cNvCxnSpPr>
          <p:nvPr/>
        </p:nvCxnSpPr>
        <p:spPr>
          <a:xfrm rot="5400000">
            <a:off x="2879838" y="2976430"/>
            <a:ext cx="1211569" cy="12661"/>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9" name="Connector: Elbow 48">
            <a:extLst>
              <a:ext uri="{FF2B5EF4-FFF2-40B4-BE49-F238E27FC236}">
                <a16:creationId xmlns:a16="http://schemas.microsoft.com/office/drawing/2014/main" id="{AD8E7908-D0B5-FE1C-4D01-B9529BCE37E3}"/>
              </a:ext>
            </a:extLst>
          </p:cNvPr>
          <p:cNvCxnSpPr>
            <a:cxnSpLocks/>
            <a:stCxn id="54" idx="2"/>
            <a:endCxn id="13" idx="0"/>
          </p:cNvCxnSpPr>
          <p:nvPr/>
        </p:nvCxnSpPr>
        <p:spPr>
          <a:xfrm rot="16200000" flipH="1">
            <a:off x="3403951" y="2464977"/>
            <a:ext cx="1211569" cy="1035566"/>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50" name="Rectangle 49">
            <a:extLst>
              <a:ext uri="{FF2B5EF4-FFF2-40B4-BE49-F238E27FC236}">
                <a16:creationId xmlns:a16="http://schemas.microsoft.com/office/drawing/2014/main" id="{C9A54020-5EFF-7F69-D742-272319A70586}"/>
              </a:ext>
            </a:extLst>
          </p:cNvPr>
          <p:cNvSpPr/>
          <p:nvPr/>
        </p:nvSpPr>
        <p:spPr>
          <a:xfrm>
            <a:off x="2896111" y="4318074"/>
            <a:ext cx="1173261" cy="28800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Marco de integración</a:t>
            </a:r>
          </a:p>
        </p:txBody>
      </p:sp>
      <p:grpSp>
        <p:nvGrpSpPr>
          <p:cNvPr id="51" name="Group 50">
            <a:extLst>
              <a:ext uri="{FF2B5EF4-FFF2-40B4-BE49-F238E27FC236}">
                <a16:creationId xmlns:a16="http://schemas.microsoft.com/office/drawing/2014/main" id="{FB951168-BC57-A4CF-F794-21EB99F64FF4}"/>
              </a:ext>
            </a:extLst>
          </p:cNvPr>
          <p:cNvGrpSpPr/>
          <p:nvPr/>
        </p:nvGrpSpPr>
        <p:grpSpPr>
          <a:xfrm>
            <a:off x="4040347" y="2558283"/>
            <a:ext cx="678368" cy="196483"/>
            <a:chOff x="2377230" y="1704273"/>
            <a:chExt cx="1080000" cy="360000"/>
          </a:xfrm>
          <a:solidFill>
            <a:schemeClr val="bg1"/>
          </a:solidFill>
        </p:grpSpPr>
        <p:sp>
          <p:nvSpPr>
            <p:cNvPr id="52" name="Rectangle 51">
              <a:extLst>
                <a:ext uri="{FF2B5EF4-FFF2-40B4-BE49-F238E27FC236}">
                  <a16:creationId xmlns:a16="http://schemas.microsoft.com/office/drawing/2014/main" id="{3AE7A82D-718B-381B-D4C8-E65825B73D3C}"/>
                </a:ext>
              </a:extLst>
            </p:cNvPr>
            <p:cNvSpPr/>
            <p:nvPr/>
          </p:nvSpPr>
          <p:spPr>
            <a:xfrm>
              <a:off x="2377230" y="1704273"/>
              <a:ext cx="1080000" cy="360000"/>
            </a:xfrm>
            <a:prstGeom prst="rect">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Graphik"/>
                <a:ea typeface="+mn-ea"/>
                <a:cs typeface="+mn-cs"/>
              </a:endParaRPr>
            </a:p>
          </p:txBody>
        </p:sp>
        <p:pic>
          <p:nvPicPr>
            <p:cNvPr id="53" name="Picture 52">
              <a:extLst>
                <a:ext uri="{FF2B5EF4-FFF2-40B4-BE49-F238E27FC236}">
                  <a16:creationId xmlns:a16="http://schemas.microsoft.com/office/drawing/2014/main" id="{D27B72DF-E14F-69AF-1981-B7C87A79FEA6}"/>
                </a:ext>
              </a:extLst>
            </p:cNvPr>
            <p:cNvPicPr>
              <a:picLocks noChangeAspect="1"/>
            </p:cNvPicPr>
            <p:nvPr/>
          </p:nvPicPr>
          <p:blipFill>
            <a:blip r:embed="rId4"/>
            <a:stretch>
              <a:fillRect/>
            </a:stretch>
          </p:blipFill>
          <p:spPr>
            <a:xfrm>
              <a:off x="2431022" y="1725511"/>
              <a:ext cx="972417" cy="317524"/>
            </a:xfrm>
            <a:prstGeom prst="rect">
              <a:avLst/>
            </a:prstGeom>
            <a:grpFill/>
          </p:spPr>
        </p:pic>
      </p:grpSp>
      <p:sp>
        <p:nvSpPr>
          <p:cNvPr id="54" name="Rectangle 53">
            <a:extLst>
              <a:ext uri="{FF2B5EF4-FFF2-40B4-BE49-F238E27FC236}">
                <a16:creationId xmlns:a16="http://schemas.microsoft.com/office/drawing/2014/main" id="{9C1377CD-F356-83DD-D8BF-8D6F4D7DCAEE}"/>
              </a:ext>
            </a:extLst>
          </p:cNvPr>
          <p:cNvSpPr/>
          <p:nvPr/>
        </p:nvSpPr>
        <p:spPr>
          <a:xfrm>
            <a:off x="3065363" y="2121518"/>
            <a:ext cx="853177" cy="255458"/>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Complejo</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Servicio</a:t>
            </a:r>
          </a:p>
        </p:txBody>
      </p:sp>
      <p:cxnSp>
        <p:nvCxnSpPr>
          <p:cNvPr id="55" name="Connector: Elbow 54">
            <a:extLst>
              <a:ext uri="{FF2B5EF4-FFF2-40B4-BE49-F238E27FC236}">
                <a16:creationId xmlns:a16="http://schemas.microsoft.com/office/drawing/2014/main" id="{EEC63603-7A6D-321D-3C72-BEF78D5A9619}"/>
              </a:ext>
            </a:extLst>
          </p:cNvPr>
          <p:cNvCxnSpPr>
            <a:cxnSpLocks/>
            <a:stCxn id="50" idx="2"/>
            <a:endCxn id="18" idx="0"/>
          </p:cNvCxnSpPr>
          <p:nvPr/>
        </p:nvCxnSpPr>
        <p:spPr>
          <a:xfrm rot="5400000">
            <a:off x="3169624" y="4918080"/>
            <a:ext cx="625125" cy="1113"/>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56" name="Group 55">
            <a:extLst>
              <a:ext uri="{FF2B5EF4-FFF2-40B4-BE49-F238E27FC236}">
                <a16:creationId xmlns:a16="http://schemas.microsoft.com/office/drawing/2014/main" id="{A52CC138-5F8B-CBE3-DFA7-B37A6004F123}"/>
              </a:ext>
            </a:extLst>
          </p:cNvPr>
          <p:cNvGrpSpPr/>
          <p:nvPr/>
        </p:nvGrpSpPr>
        <p:grpSpPr>
          <a:xfrm>
            <a:off x="3614638" y="4181575"/>
            <a:ext cx="678368" cy="196483"/>
            <a:chOff x="2377230" y="1704273"/>
            <a:chExt cx="1080000" cy="360000"/>
          </a:xfrm>
          <a:solidFill>
            <a:schemeClr val="bg1"/>
          </a:solidFill>
        </p:grpSpPr>
        <p:sp>
          <p:nvSpPr>
            <p:cNvPr id="57" name="Rectangle 56">
              <a:extLst>
                <a:ext uri="{FF2B5EF4-FFF2-40B4-BE49-F238E27FC236}">
                  <a16:creationId xmlns:a16="http://schemas.microsoft.com/office/drawing/2014/main" id="{4DE06682-016D-7BEE-73C6-307A82E63D87}"/>
                </a:ext>
              </a:extLst>
            </p:cNvPr>
            <p:cNvSpPr/>
            <p:nvPr/>
          </p:nvSpPr>
          <p:spPr>
            <a:xfrm>
              <a:off x="2377230" y="1704273"/>
              <a:ext cx="1080000" cy="360000"/>
            </a:xfrm>
            <a:prstGeom prst="rect">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Graphik"/>
                <a:ea typeface="+mn-ea"/>
                <a:cs typeface="+mn-cs"/>
              </a:endParaRPr>
            </a:p>
          </p:txBody>
        </p:sp>
        <p:pic>
          <p:nvPicPr>
            <p:cNvPr id="58" name="Picture 57">
              <a:extLst>
                <a:ext uri="{FF2B5EF4-FFF2-40B4-BE49-F238E27FC236}">
                  <a16:creationId xmlns:a16="http://schemas.microsoft.com/office/drawing/2014/main" id="{8597D97B-441E-1657-36FA-0BD67030C614}"/>
                </a:ext>
              </a:extLst>
            </p:cNvPr>
            <p:cNvPicPr>
              <a:picLocks noChangeAspect="1"/>
            </p:cNvPicPr>
            <p:nvPr/>
          </p:nvPicPr>
          <p:blipFill>
            <a:blip r:embed="rId4"/>
            <a:stretch>
              <a:fillRect/>
            </a:stretch>
          </p:blipFill>
          <p:spPr>
            <a:xfrm>
              <a:off x="2431022" y="1725511"/>
              <a:ext cx="972417" cy="317524"/>
            </a:xfrm>
            <a:prstGeom prst="rect">
              <a:avLst/>
            </a:prstGeom>
            <a:grpFill/>
          </p:spPr>
        </p:pic>
      </p:grpSp>
      <p:grpSp>
        <p:nvGrpSpPr>
          <p:cNvPr id="59" name="Group 58">
            <a:extLst>
              <a:ext uri="{FF2B5EF4-FFF2-40B4-BE49-F238E27FC236}">
                <a16:creationId xmlns:a16="http://schemas.microsoft.com/office/drawing/2014/main" id="{FB58D99A-7B06-1A20-90C0-5ABC12F94A41}"/>
              </a:ext>
            </a:extLst>
          </p:cNvPr>
          <p:cNvGrpSpPr/>
          <p:nvPr/>
        </p:nvGrpSpPr>
        <p:grpSpPr>
          <a:xfrm>
            <a:off x="5626141" y="2405851"/>
            <a:ext cx="612000" cy="180000"/>
            <a:chOff x="2461363" y="4801885"/>
            <a:chExt cx="1080000" cy="360000"/>
          </a:xfrm>
        </p:grpSpPr>
        <p:sp>
          <p:nvSpPr>
            <p:cNvPr id="60" name="Rectangle 59">
              <a:extLst>
                <a:ext uri="{FF2B5EF4-FFF2-40B4-BE49-F238E27FC236}">
                  <a16:creationId xmlns:a16="http://schemas.microsoft.com/office/drawing/2014/main" id="{2D54F31C-6D96-4621-B732-004099A4228F}"/>
                </a:ext>
              </a:extLst>
            </p:cNvPr>
            <p:cNvSpPr/>
            <p:nvPr/>
          </p:nvSpPr>
          <p:spPr>
            <a:xfrm>
              <a:off x="2461363" y="4801885"/>
              <a:ext cx="1080000" cy="36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Graphik"/>
                <a:ea typeface="+mn-ea"/>
                <a:cs typeface="+mn-cs"/>
              </a:endParaRPr>
            </a:p>
          </p:txBody>
        </p:sp>
        <p:pic>
          <p:nvPicPr>
            <p:cNvPr id="61" name="Picture 60">
              <a:extLst>
                <a:ext uri="{FF2B5EF4-FFF2-40B4-BE49-F238E27FC236}">
                  <a16:creationId xmlns:a16="http://schemas.microsoft.com/office/drawing/2014/main" id="{E1832140-FE59-2B98-1E06-1A52E33FA27B}"/>
                </a:ext>
              </a:extLst>
            </p:cNvPr>
            <p:cNvPicPr>
              <a:picLocks noChangeAspect="1"/>
            </p:cNvPicPr>
            <p:nvPr/>
          </p:nvPicPr>
          <p:blipFill>
            <a:blip r:embed="rId5"/>
            <a:stretch>
              <a:fillRect/>
            </a:stretch>
          </p:blipFill>
          <p:spPr>
            <a:xfrm>
              <a:off x="2654651" y="4822215"/>
              <a:ext cx="693425" cy="319340"/>
            </a:xfrm>
            <a:prstGeom prst="rect">
              <a:avLst/>
            </a:prstGeom>
            <a:solidFill>
              <a:schemeClr val="bg1"/>
            </a:solidFill>
          </p:spPr>
        </p:pic>
      </p:grpSp>
      <p:grpSp>
        <p:nvGrpSpPr>
          <p:cNvPr id="62" name="Group 61">
            <a:extLst>
              <a:ext uri="{FF2B5EF4-FFF2-40B4-BE49-F238E27FC236}">
                <a16:creationId xmlns:a16="http://schemas.microsoft.com/office/drawing/2014/main" id="{6CC14A44-9BCB-A644-0E36-6CDEFEF04CE1}"/>
              </a:ext>
            </a:extLst>
          </p:cNvPr>
          <p:cNvGrpSpPr/>
          <p:nvPr/>
        </p:nvGrpSpPr>
        <p:grpSpPr>
          <a:xfrm>
            <a:off x="761563" y="3497401"/>
            <a:ext cx="612000" cy="180000"/>
            <a:chOff x="2461363" y="4801885"/>
            <a:chExt cx="1080000" cy="360000"/>
          </a:xfrm>
        </p:grpSpPr>
        <p:sp>
          <p:nvSpPr>
            <p:cNvPr id="63" name="Rectangle 62">
              <a:extLst>
                <a:ext uri="{FF2B5EF4-FFF2-40B4-BE49-F238E27FC236}">
                  <a16:creationId xmlns:a16="http://schemas.microsoft.com/office/drawing/2014/main" id="{E5624F02-E99A-740D-CB63-CD1F5A71A3A7}"/>
                </a:ext>
              </a:extLst>
            </p:cNvPr>
            <p:cNvSpPr/>
            <p:nvPr/>
          </p:nvSpPr>
          <p:spPr>
            <a:xfrm>
              <a:off x="2461363" y="4801885"/>
              <a:ext cx="1080000" cy="36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Graphik"/>
                <a:ea typeface="+mn-ea"/>
                <a:cs typeface="+mn-cs"/>
              </a:endParaRPr>
            </a:p>
          </p:txBody>
        </p:sp>
        <p:pic>
          <p:nvPicPr>
            <p:cNvPr id="64" name="Picture 63">
              <a:extLst>
                <a:ext uri="{FF2B5EF4-FFF2-40B4-BE49-F238E27FC236}">
                  <a16:creationId xmlns:a16="http://schemas.microsoft.com/office/drawing/2014/main" id="{CF89E427-B5AA-D694-6602-48F60B4913AB}"/>
                </a:ext>
              </a:extLst>
            </p:cNvPr>
            <p:cNvPicPr>
              <a:picLocks noChangeAspect="1"/>
            </p:cNvPicPr>
            <p:nvPr/>
          </p:nvPicPr>
          <p:blipFill>
            <a:blip r:embed="rId5"/>
            <a:stretch>
              <a:fillRect/>
            </a:stretch>
          </p:blipFill>
          <p:spPr>
            <a:xfrm>
              <a:off x="2654651" y="4822215"/>
              <a:ext cx="693425" cy="319340"/>
            </a:xfrm>
            <a:prstGeom prst="rect">
              <a:avLst/>
            </a:prstGeom>
            <a:solidFill>
              <a:schemeClr val="bg1"/>
            </a:solidFill>
          </p:spPr>
        </p:pic>
      </p:grpSp>
      <p:grpSp>
        <p:nvGrpSpPr>
          <p:cNvPr id="65" name="Group 64">
            <a:extLst>
              <a:ext uri="{FF2B5EF4-FFF2-40B4-BE49-F238E27FC236}">
                <a16:creationId xmlns:a16="http://schemas.microsoft.com/office/drawing/2014/main" id="{1119A7F5-485E-3CF9-0209-B0439F581D7B}"/>
              </a:ext>
            </a:extLst>
          </p:cNvPr>
          <p:cNvGrpSpPr/>
          <p:nvPr/>
        </p:nvGrpSpPr>
        <p:grpSpPr>
          <a:xfrm>
            <a:off x="9589089" y="731780"/>
            <a:ext cx="1862854" cy="253275"/>
            <a:chOff x="9929190" y="421028"/>
            <a:chExt cx="1862854" cy="253275"/>
          </a:xfrm>
        </p:grpSpPr>
        <p:sp>
          <p:nvSpPr>
            <p:cNvPr id="66" name="TextBox 63">
              <a:extLst>
                <a:ext uri="{FF2B5EF4-FFF2-40B4-BE49-F238E27FC236}">
                  <a16:creationId xmlns:a16="http://schemas.microsoft.com/office/drawing/2014/main" id="{D4503B56-A5CB-7043-81BD-E9C2BC2A2065}"/>
                </a:ext>
              </a:extLst>
            </p:cNvPr>
            <p:cNvSpPr txBox="1"/>
            <p:nvPr/>
          </p:nvSpPr>
          <p:spPr>
            <a:xfrm>
              <a:off x="9936972" y="460821"/>
              <a:ext cx="1847290" cy="173690"/>
            </a:xfrm>
            <a:prstGeom prst="rect">
              <a:avLst/>
            </a:prstGeom>
            <a:noFill/>
          </p:spPr>
          <p:txBody>
            <a:bodyPr wrap="none" lIns="0" tIns="0" rIns="0" bIns="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1200"/>
                </a:spcAft>
                <a:buClrTx/>
                <a:buSzTx/>
                <a:buFontTx/>
                <a:buNone/>
                <a:tabLst/>
                <a:defRPr/>
              </a:pPr>
              <a:r>
                <a:rPr kumimoji="0" lang="es" sz="1100" b="0" i="0" u="none" strike="noStrike" kern="1200" cap="none" spc="0" normalizeH="0" baseline="0" noProof="0">
                  <a:ln>
                    <a:noFill/>
                  </a:ln>
                  <a:solidFill>
                    <a:srgbClr val="000000"/>
                  </a:solidFill>
                  <a:effectLst/>
                  <a:uLnTx/>
                  <a:uFillTx/>
                  <a:latin typeface="Graphik"/>
                  <a:ea typeface="+mn-ea"/>
                  <a:cs typeface="+mn-cs"/>
                </a:rPr>
                <a:t>Ilustrativo no exhaustivo</a:t>
              </a:r>
            </a:p>
          </p:txBody>
        </p:sp>
        <p:cxnSp>
          <p:nvCxnSpPr>
            <p:cNvPr id="67" name="Straight Connector 66">
              <a:extLst>
                <a:ext uri="{FF2B5EF4-FFF2-40B4-BE49-F238E27FC236}">
                  <a16:creationId xmlns:a16="http://schemas.microsoft.com/office/drawing/2014/main" id="{8BB77A2B-B821-1DDB-D08B-A008E80D7AAF}"/>
                </a:ext>
              </a:extLst>
            </p:cNvPr>
            <p:cNvCxnSpPr>
              <a:cxnSpLocks/>
            </p:cNvCxnSpPr>
            <p:nvPr/>
          </p:nvCxnSpPr>
          <p:spPr>
            <a:xfrm>
              <a:off x="9929190" y="421028"/>
              <a:ext cx="186285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B831DF18-DA7A-450E-6DFB-529073B05FA7}"/>
                </a:ext>
              </a:extLst>
            </p:cNvPr>
            <p:cNvCxnSpPr>
              <a:cxnSpLocks/>
            </p:cNvCxnSpPr>
            <p:nvPr/>
          </p:nvCxnSpPr>
          <p:spPr>
            <a:xfrm>
              <a:off x="9929190" y="674303"/>
              <a:ext cx="186285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72" name="TextBox 144">
            <a:extLst>
              <a:ext uri="{FF2B5EF4-FFF2-40B4-BE49-F238E27FC236}">
                <a16:creationId xmlns:a16="http://schemas.microsoft.com/office/drawing/2014/main" id="{901B9225-8144-D43B-202D-B8384783E1C5}"/>
              </a:ext>
            </a:extLst>
          </p:cNvPr>
          <p:cNvSpPr txBox="1"/>
          <p:nvPr/>
        </p:nvSpPr>
        <p:spPr>
          <a:xfrm>
            <a:off x="1616091" y="6216007"/>
            <a:ext cx="4462491" cy="246222"/>
          </a:xfrm>
          <a:prstGeom prst="rect">
            <a:avLst/>
          </a:prstGeom>
          <a:noFill/>
        </p:spPr>
        <p:txBody>
          <a:bodyPr wrap="square" lIns="0" tIns="0" rIns="0" bIns="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600"/>
              </a:spcAft>
              <a:buClrTx/>
              <a:buSzTx/>
              <a:buFontTx/>
              <a:buNone/>
              <a:tabLst/>
              <a:defRPr/>
            </a:pPr>
            <a:r>
              <a:rPr kumimoji="0" lang="es" sz="1000" b="0" i="1" u="none" strike="noStrike" kern="1200" cap="none" spc="0" normalizeH="0" baseline="0" noProof="0">
                <a:ln>
                  <a:noFill/>
                </a:ln>
                <a:solidFill>
                  <a:srgbClr val="000000"/>
                </a:solidFill>
                <a:effectLst/>
                <a:uLnTx/>
                <a:uFillTx/>
                <a:latin typeface="Graphik"/>
                <a:ea typeface="+mn-ea"/>
                <a:cs typeface="+mn-cs"/>
              </a:rPr>
              <a:t>Los componentes de la pila son solo ejemplos. Otras opciones podrían ser aplicables</a:t>
            </a:r>
          </a:p>
        </p:txBody>
      </p:sp>
    </p:spTree>
    <p:extLst>
      <p:ext uri="{BB962C8B-B14F-4D97-AF65-F5344CB8AC3E}">
        <p14:creationId xmlns:p14="http://schemas.microsoft.com/office/powerpoint/2010/main" val="44446944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79DF2D-F7ED-C2F8-4BFF-944077506D8C}"/>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9DDD3A03-1980-FD6F-BAE1-537BA88FAF99}"/>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alpha val="65000"/>
                  </a:srgbClr>
                </a:solidFill>
                <a:effectLst/>
                <a:uLnTx/>
                <a:uFillTx/>
                <a:latin typeface="Graphik"/>
                <a:ea typeface="+mn-ea"/>
                <a:cs typeface="+mn-cs"/>
              </a:rPr>
              <a:t>Copyright © 2025 Accenture. Todos los derechos reservados.</a:t>
            </a:r>
          </a:p>
        </p:txBody>
      </p:sp>
      <p:sp>
        <p:nvSpPr>
          <p:cNvPr id="4" name="Title 1">
            <a:extLst>
              <a:ext uri="{FF2B5EF4-FFF2-40B4-BE49-F238E27FC236}">
                <a16:creationId xmlns:a16="http://schemas.microsoft.com/office/drawing/2014/main" id="{A1A29074-4A44-2899-3FF7-D993BCDEAC75}"/>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a:ln>
                  <a:noFill/>
                </a:ln>
                <a:solidFill>
                  <a:srgbClr val="7500C0"/>
                </a:solidFill>
                <a:effectLst/>
                <a:uLnTx/>
                <a:uFillTx/>
                <a:latin typeface="Graphik"/>
                <a:ea typeface="+mj-ea"/>
                <a:cs typeface="+mj-cs"/>
              </a:rPr>
              <a:t>Activo de Interoperabilidad </a:t>
            </a:r>
            <a:r>
              <a:rPr kumimoji="0" lang="es" sz="2400" b="1" i="0" u="none" strike="noStrike" kern="1200" cap="none" spc="0" normalizeH="0" baseline="0" noProof="0">
                <a:ln>
                  <a:noFill/>
                </a:ln>
                <a:solidFill>
                  <a:srgbClr val="000000"/>
                </a:solidFill>
                <a:effectLst/>
                <a:uLnTx/>
                <a:uFillTx/>
                <a:latin typeface="Graphik"/>
                <a:ea typeface="+mj-ea"/>
                <a:cs typeface="+mj-cs"/>
              </a:rPr>
              <a:t>| </a:t>
            </a:r>
            <a:r>
              <a:rPr kumimoji="0" lang="es" sz="2000" b="1" i="0" u="none" strike="noStrike" kern="1200" cap="none" spc="0" normalizeH="0" baseline="0" noProof="0">
                <a:ln>
                  <a:noFill/>
                </a:ln>
                <a:solidFill>
                  <a:srgbClr val="000000"/>
                </a:solidFill>
                <a:effectLst/>
                <a:uLnTx/>
                <a:uFillTx/>
                <a:latin typeface="Graphik"/>
                <a:ea typeface="+mj-ea"/>
                <a:cs typeface="+mj-cs"/>
              </a:rPr>
              <a:t>Gestión de transacciones</a:t>
            </a:r>
            <a:endParaRPr kumimoji="0" lang="es" sz="2400" b="1" i="0" u="none" strike="noStrike" kern="1200" cap="none" spc="0" normalizeH="0" baseline="0" noProof="0">
              <a:ln>
                <a:noFill/>
              </a:ln>
              <a:solidFill>
                <a:srgbClr val="000000"/>
              </a:solidFill>
              <a:effectLst/>
              <a:uLnTx/>
              <a:uFillTx/>
              <a:latin typeface="Graphik"/>
              <a:ea typeface="+mj-ea"/>
              <a:cs typeface="+mj-cs"/>
            </a:endParaRPr>
          </a:p>
        </p:txBody>
      </p:sp>
      <p:sp>
        <p:nvSpPr>
          <p:cNvPr id="5" name="Content Placeholder 34">
            <a:extLst>
              <a:ext uri="{FF2B5EF4-FFF2-40B4-BE49-F238E27FC236}">
                <a16:creationId xmlns:a16="http://schemas.microsoft.com/office/drawing/2014/main" id="{90CEDF88-44CF-7622-3B2F-147D365A3416}"/>
              </a:ext>
            </a:extLst>
          </p:cNvPr>
          <p:cNvSpPr txBox="1">
            <a:spLocks/>
          </p:cNvSpPr>
          <p:nvPr/>
        </p:nvSpPr>
        <p:spPr>
          <a:xfrm>
            <a:off x="285990" y="641993"/>
            <a:ext cx="11430000" cy="246221"/>
          </a:xfrm>
          <a:prstGeom prst="rect">
            <a:avLst/>
          </a:prstGeom>
        </p:spPr>
        <p:txBody>
          <a:bodyPr/>
          <a:lstStyle>
            <a:lvl1pPr marL="228600" indent="-228600" algn="l" defTabSz="228600" rtl="0" eaLnBrk="1" latinLnBrk="0" hangingPunct="1">
              <a:lnSpc>
                <a:spcPct val="100000"/>
              </a:lnSpc>
              <a:spcBef>
                <a:spcPts val="0"/>
              </a:spcBef>
              <a:spcAft>
                <a:spcPts val="600"/>
              </a:spcAft>
              <a:buFont typeface="Arial"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Arial"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Arial"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Arial"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Arial"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Arial" panose="020B0604020202020204" pitchFamily="34" charset="0"/>
              <a:buNone/>
              <a:defRPr sz="800" kern="1200">
                <a:solidFill>
                  <a:schemeClr val="tx2"/>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s" sz="1600" b="1" i="0" u="none" strike="noStrike" kern="1200" cap="none" spc="0" normalizeH="0" baseline="0" noProof="0">
                <a:ln>
                  <a:noFill/>
                </a:ln>
                <a:solidFill>
                  <a:srgbClr val="7500C0"/>
                </a:solidFill>
                <a:effectLst/>
                <a:uLnTx/>
                <a:uFillTx/>
                <a:latin typeface="Graphik" panose="020B0503030202060203" pitchFamily="34" charset="0"/>
                <a:ea typeface="+mn-ea"/>
                <a:cs typeface="+mn-cs"/>
              </a:rPr>
              <a:t>Patrón de Saga Orquestado</a:t>
            </a:r>
          </a:p>
        </p:txBody>
      </p:sp>
      <p:grpSp>
        <p:nvGrpSpPr>
          <p:cNvPr id="6" name="Group 5">
            <a:extLst>
              <a:ext uri="{FF2B5EF4-FFF2-40B4-BE49-F238E27FC236}">
                <a16:creationId xmlns:a16="http://schemas.microsoft.com/office/drawing/2014/main" id="{264F1619-1F3D-39E7-608E-7A78608E3EA7}"/>
              </a:ext>
            </a:extLst>
          </p:cNvPr>
          <p:cNvGrpSpPr/>
          <p:nvPr/>
        </p:nvGrpSpPr>
        <p:grpSpPr>
          <a:xfrm>
            <a:off x="9589089" y="731780"/>
            <a:ext cx="1862854" cy="253275"/>
            <a:chOff x="9929190" y="421028"/>
            <a:chExt cx="1862854" cy="253275"/>
          </a:xfrm>
        </p:grpSpPr>
        <p:sp>
          <p:nvSpPr>
            <p:cNvPr id="7" name="TextBox 63">
              <a:extLst>
                <a:ext uri="{FF2B5EF4-FFF2-40B4-BE49-F238E27FC236}">
                  <a16:creationId xmlns:a16="http://schemas.microsoft.com/office/drawing/2014/main" id="{C8FA9878-51DF-5FE8-DA21-97C331F12030}"/>
                </a:ext>
              </a:extLst>
            </p:cNvPr>
            <p:cNvSpPr txBox="1"/>
            <p:nvPr/>
          </p:nvSpPr>
          <p:spPr>
            <a:xfrm>
              <a:off x="9936972" y="460821"/>
              <a:ext cx="1847290" cy="173690"/>
            </a:xfrm>
            <a:prstGeom prst="rect">
              <a:avLst/>
            </a:prstGeom>
            <a:noFill/>
          </p:spPr>
          <p:txBody>
            <a:bodyPr wrap="none" lIns="0" tIns="0" rIns="0" bIns="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1200"/>
                </a:spcAft>
                <a:buClrTx/>
                <a:buSzTx/>
                <a:buFontTx/>
                <a:buNone/>
                <a:tabLst/>
                <a:defRPr/>
              </a:pPr>
              <a:r>
                <a:rPr kumimoji="0" lang="es" sz="1100" b="0" i="0" u="none" strike="noStrike" kern="1200" cap="none" spc="0" normalizeH="0" baseline="0" noProof="0">
                  <a:ln>
                    <a:noFill/>
                  </a:ln>
                  <a:solidFill>
                    <a:srgbClr val="000000"/>
                  </a:solidFill>
                  <a:effectLst/>
                  <a:uLnTx/>
                  <a:uFillTx/>
                  <a:latin typeface="Graphik"/>
                  <a:ea typeface="+mn-ea"/>
                  <a:cs typeface="+mn-cs"/>
                </a:rPr>
                <a:t>Ilustrativo no exhaustivo</a:t>
              </a:r>
            </a:p>
          </p:txBody>
        </p:sp>
        <p:cxnSp>
          <p:nvCxnSpPr>
            <p:cNvPr id="8" name="Straight Connector 7">
              <a:extLst>
                <a:ext uri="{FF2B5EF4-FFF2-40B4-BE49-F238E27FC236}">
                  <a16:creationId xmlns:a16="http://schemas.microsoft.com/office/drawing/2014/main" id="{6B5F0728-B75A-A6E5-B13A-F485A3DD7EDF}"/>
                </a:ext>
              </a:extLst>
            </p:cNvPr>
            <p:cNvCxnSpPr>
              <a:cxnSpLocks/>
            </p:cNvCxnSpPr>
            <p:nvPr/>
          </p:nvCxnSpPr>
          <p:spPr>
            <a:xfrm>
              <a:off x="9929190" y="421028"/>
              <a:ext cx="186285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C752A187-9808-53E7-5A01-B9B476F89CFA}"/>
                </a:ext>
              </a:extLst>
            </p:cNvPr>
            <p:cNvCxnSpPr>
              <a:cxnSpLocks/>
            </p:cNvCxnSpPr>
            <p:nvPr/>
          </p:nvCxnSpPr>
          <p:spPr>
            <a:xfrm>
              <a:off x="9929190" y="674303"/>
              <a:ext cx="186285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0" name="Rectangle 9">
            <a:extLst>
              <a:ext uri="{FF2B5EF4-FFF2-40B4-BE49-F238E27FC236}">
                <a16:creationId xmlns:a16="http://schemas.microsoft.com/office/drawing/2014/main" id="{BA4FF8D8-C715-AAA8-EB07-6067D62A7F64}"/>
              </a:ext>
            </a:extLst>
          </p:cNvPr>
          <p:cNvSpPr/>
          <p:nvPr/>
        </p:nvSpPr>
        <p:spPr>
          <a:xfrm>
            <a:off x="1599455" y="1306673"/>
            <a:ext cx="4848067" cy="2208605"/>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90000" tIns="90000" rIns="90000" bIns="90000" rtlCol="0" anchor="t"/>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Microservicios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Marco</a:t>
            </a:r>
          </a:p>
        </p:txBody>
      </p:sp>
      <p:sp>
        <p:nvSpPr>
          <p:cNvPr id="11" name="Rectangle 10">
            <a:extLst>
              <a:ext uri="{FF2B5EF4-FFF2-40B4-BE49-F238E27FC236}">
                <a16:creationId xmlns:a16="http://schemas.microsoft.com/office/drawing/2014/main" id="{168A3E3E-A97E-0A23-211B-63B9E254A87B}"/>
              </a:ext>
            </a:extLst>
          </p:cNvPr>
          <p:cNvSpPr/>
          <p:nvPr/>
        </p:nvSpPr>
        <p:spPr>
          <a:xfrm>
            <a:off x="3297194" y="1388809"/>
            <a:ext cx="3032880" cy="809005"/>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0" rtlCol="0" anchor="t"/>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Servicio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Orquestador</a:t>
            </a:r>
          </a:p>
        </p:txBody>
      </p:sp>
      <p:sp>
        <p:nvSpPr>
          <p:cNvPr id="12" name="Rectangle 11">
            <a:extLst>
              <a:ext uri="{FF2B5EF4-FFF2-40B4-BE49-F238E27FC236}">
                <a16:creationId xmlns:a16="http://schemas.microsoft.com/office/drawing/2014/main" id="{9F923F43-4DCF-E84B-8669-FB19BE87ED09}"/>
              </a:ext>
            </a:extLst>
          </p:cNvPr>
          <p:cNvSpPr/>
          <p:nvPr/>
        </p:nvSpPr>
        <p:spPr>
          <a:xfrm>
            <a:off x="3106294" y="5181939"/>
            <a:ext cx="1670782" cy="700438"/>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Sistema Abierto</a:t>
            </a:r>
          </a:p>
        </p:txBody>
      </p:sp>
      <p:sp>
        <p:nvSpPr>
          <p:cNvPr id="13" name="Rectangle 12">
            <a:extLst>
              <a:ext uri="{FF2B5EF4-FFF2-40B4-BE49-F238E27FC236}">
                <a16:creationId xmlns:a16="http://schemas.microsoft.com/office/drawing/2014/main" id="{93B46D58-7C3F-EDD5-84F1-FFBAB5351101}"/>
              </a:ext>
            </a:extLst>
          </p:cNvPr>
          <p:cNvSpPr/>
          <p:nvPr/>
        </p:nvSpPr>
        <p:spPr>
          <a:xfrm>
            <a:off x="3752329" y="1090912"/>
            <a:ext cx="2029722" cy="152083"/>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API Gateway</a:t>
            </a:r>
          </a:p>
        </p:txBody>
      </p:sp>
      <p:sp>
        <p:nvSpPr>
          <p:cNvPr id="14" name="Rectangle 13">
            <a:extLst>
              <a:ext uri="{FF2B5EF4-FFF2-40B4-BE49-F238E27FC236}">
                <a16:creationId xmlns:a16="http://schemas.microsoft.com/office/drawing/2014/main" id="{6A3DA94F-5451-97FB-65DC-A26C058F5A59}"/>
              </a:ext>
            </a:extLst>
          </p:cNvPr>
          <p:cNvSpPr/>
          <p:nvPr/>
        </p:nvSpPr>
        <p:spPr>
          <a:xfrm>
            <a:off x="3303305" y="2314252"/>
            <a:ext cx="3026769" cy="1135803"/>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0" rtlCol="0" anchor="t"/>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Transacción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Entrenador</a:t>
            </a:r>
          </a:p>
        </p:txBody>
      </p:sp>
      <p:sp>
        <p:nvSpPr>
          <p:cNvPr id="15" name="Rectangle 14">
            <a:extLst>
              <a:ext uri="{FF2B5EF4-FFF2-40B4-BE49-F238E27FC236}">
                <a16:creationId xmlns:a16="http://schemas.microsoft.com/office/drawing/2014/main" id="{09E26E1B-9231-5CB5-C021-8E2C9054EA36}"/>
              </a:ext>
            </a:extLst>
          </p:cNvPr>
          <p:cNvSpPr/>
          <p:nvPr/>
        </p:nvSpPr>
        <p:spPr>
          <a:xfrm>
            <a:off x="3443945" y="2847776"/>
            <a:ext cx="720000" cy="180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Servicio 2a</a:t>
            </a:r>
          </a:p>
        </p:txBody>
      </p:sp>
      <p:cxnSp>
        <p:nvCxnSpPr>
          <p:cNvPr id="16" name="Straight Arrow Connector 15">
            <a:extLst>
              <a:ext uri="{FF2B5EF4-FFF2-40B4-BE49-F238E27FC236}">
                <a16:creationId xmlns:a16="http://schemas.microsoft.com/office/drawing/2014/main" id="{DB74A573-6585-6E66-F22B-094F4623BB03}"/>
              </a:ext>
            </a:extLst>
          </p:cNvPr>
          <p:cNvCxnSpPr>
            <a:cxnSpLocks/>
            <a:stCxn id="13" idx="2"/>
            <a:endCxn id="63" idx="0"/>
          </p:cNvCxnSpPr>
          <p:nvPr/>
        </p:nvCxnSpPr>
        <p:spPr>
          <a:xfrm>
            <a:off x="4767190" y="1242995"/>
            <a:ext cx="1" cy="244819"/>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944281B5-C0C9-8CA5-7D69-0812F473C8E3}"/>
              </a:ext>
            </a:extLst>
          </p:cNvPr>
          <p:cNvSpPr/>
          <p:nvPr/>
        </p:nvSpPr>
        <p:spPr>
          <a:xfrm>
            <a:off x="4407190" y="2970626"/>
            <a:ext cx="720000" cy="180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Servicio 2b</a:t>
            </a:r>
          </a:p>
        </p:txBody>
      </p:sp>
      <p:sp>
        <p:nvSpPr>
          <p:cNvPr id="18" name="Rectangle 17">
            <a:extLst>
              <a:ext uri="{FF2B5EF4-FFF2-40B4-BE49-F238E27FC236}">
                <a16:creationId xmlns:a16="http://schemas.microsoft.com/office/drawing/2014/main" id="{B837E002-CC26-1FE5-A2EC-09937BF249F1}"/>
              </a:ext>
            </a:extLst>
          </p:cNvPr>
          <p:cNvSpPr/>
          <p:nvPr/>
        </p:nvSpPr>
        <p:spPr>
          <a:xfrm>
            <a:off x="5491018" y="3131184"/>
            <a:ext cx="720000" cy="180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Servicio 2c</a:t>
            </a:r>
          </a:p>
        </p:txBody>
      </p:sp>
      <p:sp>
        <p:nvSpPr>
          <p:cNvPr id="19" name="Rectangle 18">
            <a:extLst>
              <a:ext uri="{FF2B5EF4-FFF2-40B4-BE49-F238E27FC236}">
                <a16:creationId xmlns:a16="http://schemas.microsoft.com/office/drawing/2014/main" id="{BD1E51E2-D420-6F8F-78CA-81267AD1ACFD}"/>
              </a:ext>
            </a:extLst>
          </p:cNvPr>
          <p:cNvSpPr/>
          <p:nvPr/>
        </p:nvSpPr>
        <p:spPr>
          <a:xfrm>
            <a:off x="1714299" y="3079213"/>
            <a:ext cx="881535" cy="28800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Coordinador Transaccional</a:t>
            </a:r>
          </a:p>
        </p:txBody>
      </p:sp>
      <p:cxnSp>
        <p:nvCxnSpPr>
          <p:cNvPr id="20" name="Connector: Elbow 19">
            <a:extLst>
              <a:ext uri="{FF2B5EF4-FFF2-40B4-BE49-F238E27FC236}">
                <a16:creationId xmlns:a16="http://schemas.microsoft.com/office/drawing/2014/main" id="{51C7A968-F6CA-3E6E-C377-915F0CA16674}"/>
              </a:ext>
            </a:extLst>
          </p:cNvPr>
          <p:cNvCxnSpPr>
            <a:cxnSpLocks/>
            <a:stCxn id="15" idx="1"/>
            <a:endCxn id="19" idx="3"/>
          </p:cNvCxnSpPr>
          <p:nvPr/>
        </p:nvCxnSpPr>
        <p:spPr>
          <a:xfrm rot="10800000" flipV="1">
            <a:off x="2595835" y="2937775"/>
            <a:ext cx="848111" cy="285437"/>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21" name="Rectangle 20">
            <a:extLst>
              <a:ext uri="{FF2B5EF4-FFF2-40B4-BE49-F238E27FC236}">
                <a16:creationId xmlns:a16="http://schemas.microsoft.com/office/drawing/2014/main" id="{11D6907B-F20D-D02C-3723-697F6C7EDBF0}"/>
              </a:ext>
            </a:extLst>
          </p:cNvPr>
          <p:cNvSpPr/>
          <p:nvPr/>
        </p:nvSpPr>
        <p:spPr>
          <a:xfrm>
            <a:off x="4423500" y="3561228"/>
            <a:ext cx="900000" cy="720000"/>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Cloud</a:t>
            </a:r>
          </a:p>
        </p:txBody>
      </p:sp>
      <p:sp>
        <p:nvSpPr>
          <p:cNvPr id="22" name="Rectangle 21">
            <a:extLst>
              <a:ext uri="{FF2B5EF4-FFF2-40B4-BE49-F238E27FC236}">
                <a16:creationId xmlns:a16="http://schemas.microsoft.com/office/drawing/2014/main" id="{52B805A2-5A35-4F1A-20DC-E2B31F46E2BD}"/>
              </a:ext>
            </a:extLst>
          </p:cNvPr>
          <p:cNvSpPr/>
          <p:nvPr/>
        </p:nvSpPr>
        <p:spPr>
          <a:xfrm>
            <a:off x="4513500" y="3716872"/>
            <a:ext cx="720000" cy="180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Servicio 2b</a:t>
            </a:r>
          </a:p>
        </p:txBody>
      </p:sp>
      <p:sp>
        <p:nvSpPr>
          <p:cNvPr id="23" name="Rectangle 22">
            <a:extLst>
              <a:ext uri="{FF2B5EF4-FFF2-40B4-BE49-F238E27FC236}">
                <a16:creationId xmlns:a16="http://schemas.microsoft.com/office/drawing/2014/main" id="{933FF882-FFD4-03F8-F147-7B78A5DB2856}"/>
              </a:ext>
            </a:extLst>
          </p:cNvPr>
          <p:cNvSpPr/>
          <p:nvPr/>
        </p:nvSpPr>
        <p:spPr>
          <a:xfrm>
            <a:off x="5410445" y="4682105"/>
            <a:ext cx="900000" cy="720000"/>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Legado</a:t>
            </a:r>
          </a:p>
        </p:txBody>
      </p:sp>
      <p:sp>
        <p:nvSpPr>
          <p:cNvPr id="24" name="Rectangle 23">
            <a:extLst>
              <a:ext uri="{FF2B5EF4-FFF2-40B4-BE49-F238E27FC236}">
                <a16:creationId xmlns:a16="http://schemas.microsoft.com/office/drawing/2014/main" id="{A0803BAA-8661-3413-5EC7-89CF18B0D87D}"/>
              </a:ext>
            </a:extLst>
          </p:cNvPr>
          <p:cNvSpPr/>
          <p:nvPr/>
        </p:nvSpPr>
        <p:spPr>
          <a:xfrm>
            <a:off x="5500445" y="4788588"/>
            <a:ext cx="720000" cy="180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Servicio 2c</a:t>
            </a:r>
          </a:p>
        </p:txBody>
      </p:sp>
      <p:cxnSp>
        <p:nvCxnSpPr>
          <p:cNvPr id="25" name="Connector: Elbow 24">
            <a:extLst>
              <a:ext uri="{FF2B5EF4-FFF2-40B4-BE49-F238E27FC236}">
                <a16:creationId xmlns:a16="http://schemas.microsoft.com/office/drawing/2014/main" id="{AEC625FD-1525-6CED-6688-F467B0B1659C}"/>
              </a:ext>
            </a:extLst>
          </p:cNvPr>
          <p:cNvCxnSpPr>
            <a:cxnSpLocks/>
          </p:cNvCxnSpPr>
          <p:nvPr/>
        </p:nvCxnSpPr>
        <p:spPr>
          <a:xfrm rot="5400000">
            <a:off x="4625715" y="3404253"/>
            <a:ext cx="507254" cy="12700"/>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6" name="Rectangle 25">
            <a:extLst>
              <a:ext uri="{FF2B5EF4-FFF2-40B4-BE49-F238E27FC236}">
                <a16:creationId xmlns:a16="http://schemas.microsoft.com/office/drawing/2014/main" id="{1200CECF-F77A-ACCA-8DB3-E10A1CEEE25A}"/>
              </a:ext>
            </a:extLst>
          </p:cNvPr>
          <p:cNvSpPr/>
          <p:nvPr/>
        </p:nvSpPr>
        <p:spPr>
          <a:xfrm>
            <a:off x="5410445" y="4285098"/>
            <a:ext cx="900000" cy="252000"/>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Adaptador de Legado</a:t>
            </a:r>
          </a:p>
        </p:txBody>
      </p:sp>
      <p:cxnSp>
        <p:nvCxnSpPr>
          <p:cNvPr id="27" name="Connector: Elbow 26">
            <a:extLst>
              <a:ext uri="{FF2B5EF4-FFF2-40B4-BE49-F238E27FC236}">
                <a16:creationId xmlns:a16="http://schemas.microsoft.com/office/drawing/2014/main" id="{F28DC697-2D98-0B95-8187-0C5939B501FC}"/>
              </a:ext>
            </a:extLst>
          </p:cNvPr>
          <p:cNvCxnSpPr>
            <a:cxnSpLocks/>
            <a:stCxn id="18" idx="2"/>
            <a:endCxn id="26" idx="0"/>
          </p:cNvCxnSpPr>
          <p:nvPr/>
        </p:nvCxnSpPr>
        <p:spPr>
          <a:xfrm rot="16200000" flipH="1">
            <a:off x="5368774" y="3793427"/>
            <a:ext cx="973914" cy="9427"/>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28" name="Group 27">
            <a:extLst>
              <a:ext uri="{FF2B5EF4-FFF2-40B4-BE49-F238E27FC236}">
                <a16:creationId xmlns:a16="http://schemas.microsoft.com/office/drawing/2014/main" id="{C5A3E6CF-A497-66BA-B609-3E7B3E3D945B}"/>
              </a:ext>
            </a:extLst>
          </p:cNvPr>
          <p:cNvGrpSpPr/>
          <p:nvPr/>
        </p:nvGrpSpPr>
        <p:grpSpPr>
          <a:xfrm>
            <a:off x="1359494" y="1081942"/>
            <a:ext cx="844771" cy="284934"/>
            <a:chOff x="2436880" y="1158097"/>
            <a:chExt cx="1080000" cy="360000"/>
          </a:xfrm>
          <a:solidFill>
            <a:schemeClr val="bg1"/>
          </a:solidFill>
        </p:grpSpPr>
        <p:sp>
          <p:nvSpPr>
            <p:cNvPr id="29" name="Rectangle 28">
              <a:extLst>
                <a:ext uri="{FF2B5EF4-FFF2-40B4-BE49-F238E27FC236}">
                  <a16:creationId xmlns:a16="http://schemas.microsoft.com/office/drawing/2014/main" id="{7DA01D98-6C29-B671-CC62-4756347D6F89}"/>
                </a:ext>
              </a:extLst>
            </p:cNvPr>
            <p:cNvSpPr/>
            <p:nvPr/>
          </p:nvSpPr>
          <p:spPr>
            <a:xfrm>
              <a:off x="2436880" y="1158097"/>
              <a:ext cx="1080000" cy="360000"/>
            </a:xfrm>
            <a:prstGeom prst="rect">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OpenShift</a:t>
              </a:r>
            </a:p>
          </p:txBody>
        </p:sp>
        <p:pic>
          <p:nvPicPr>
            <p:cNvPr id="30" name="Picture 29">
              <a:extLst>
                <a:ext uri="{FF2B5EF4-FFF2-40B4-BE49-F238E27FC236}">
                  <a16:creationId xmlns:a16="http://schemas.microsoft.com/office/drawing/2014/main" id="{FF221420-2622-6BE3-FD88-26A8C88EA157}"/>
                </a:ext>
              </a:extLst>
            </p:cNvPr>
            <p:cNvPicPr>
              <a:picLocks noChangeAspect="1"/>
            </p:cNvPicPr>
            <p:nvPr/>
          </p:nvPicPr>
          <p:blipFill>
            <a:blip r:embed="rId2"/>
            <a:stretch>
              <a:fillRect/>
            </a:stretch>
          </p:blipFill>
          <p:spPr>
            <a:xfrm>
              <a:off x="2470229" y="1215368"/>
              <a:ext cx="1013303" cy="245459"/>
            </a:xfrm>
            <a:prstGeom prst="rect">
              <a:avLst/>
            </a:prstGeom>
            <a:grpFill/>
          </p:spPr>
        </p:pic>
      </p:grpSp>
      <p:grpSp>
        <p:nvGrpSpPr>
          <p:cNvPr id="31" name="Group 30">
            <a:extLst>
              <a:ext uri="{FF2B5EF4-FFF2-40B4-BE49-F238E27FC236}">
                <a16:creationId xmlns:a16="http://schemas.microsoft.com/office/drawing/2014/main" id="{D96A7A5D-CDEF-BDA3-0D22-F9A1D9B24770}"/>
              </a:ext>
            </a:extLst>
          </p:cNvPr>
          <p:cNvGrpSpPr/>
          <p:nvPr/>
        </p:nvGrpSpPr>
        <p:grpSpPr>
          <a:xfrm>
            <a:off x="5676833" y="2288602"/>
            <a:ext cx="612000" cy="180000"/>
            <a:chOff x="2389786" y="2095523"/>
            <a:chExt cx="1080000" cy="360000"/>
          </a:xfrm>
          <a:solidFill>
            <a:schemeClr val="bg1"/>
          </a:solidFill>
        </p:grpSpPr>
        <p:sp>
          <p:nvSpPr>
            <p:cNvPr id="32" name="Rectangle 31">
              <a:extLst>
                <a:ext uri="{FF2B5EF4-FFF2-40B4-BE49-F238E27FC236}">
                  <a16:creationId xmlns:a16="http://schemas.microsoft.com/office/drawing/2014/main" id="{6D61E73D-9A5D-0051-8E28-C19E0067F832}"/>
                </a:ext>
              </a:extLst>
            </p:cNvPr>
            <p:cNvSpPr/>
            <p:nvPr/>
          </p:nvSpPr>
          <p:spPr>
            <a:xfrm>
              <a:off x="2389786" y="2095523"/>
              <a:ext cx="1080000" cy="360000"/>
            </a:xfrm>
            <a:prstGeom prst="rect">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000000"/>
                  </a:solidFill>
                  <a:effectLst/>
                  <a:uLnTx/>
                  <a:uFillTx/>
                  <a:latin typeface="Graphik"/>
                  <a:ea typeface="+mn-ea"/>
                  <a:cs typeface="+mn-cs"/>
                </a:rPr>
                <a:t>Temporal</a:t>
              </a:r>
            </a:p>
          </p:txBody>
        </p:sp>
        <p:pic>
          <p:nvPicPr>
            <p:cNvPr id="33" name="Picture 32">
              <a:extLst>
                <a:ext uri="{FF2B5EF4-FFF2-40B4-BE49-F238E27FC236}">
                  <a16:creationId xmlns:a16="http://schemas.microsoft.com/office/drawing/2014/main" id="{3FCED9AA-0B41-ED53-5967-E5931CFAA412}"/>
                </a:ext>
              </a:extLst>
            </p:cNvPr>
            <p:cNvPicPr>
              <a:picLocks noChangeAspect="1"/>
            </p:cNvPicPr>
            <p:nvPr/>
          </p:nvPicPr>
          <p:blipFill>
            <a:blip r:embed="rId3"/>
            <a:stretch>
              <a:fillRect/>
            </a:stretch>
          </p:blipFill>
          <p:spPr>
            <a:xfrm>
              <a:off x="2450304" y="2118382"/>
              <a:ext cx="958965" cy="314283"/>
            </a:xfrm>
            <a:prstGeom prst="rect">
              <a:avLst/>
            </a:prstGeom>
            <a:grpFill/>
          </p:spPr>
        </p:pic>
      </p:grpSp>
      <p:sp>
        <p:nvSpPr>
          <p:cNvPr id="34" name="TextBox 144">
            <a:extLst>
              <a:ext uri="{FF2B5EF4-FFF2-40B4-BE49-F238E27FC236}">
                <a16:creationId xmlns:a16="http://schemas.microsoft.com/office/drawing/2014/main" id="{FC496128-C9FF-21CF-8030-2A71CEE706E0}"/>
              </a:ext>
            </a:extLst>
          </p:cNvPr>
          <p:cNvSpPr txBox="1"/>
          <p:nvPr/>
        </p:nvSpPr>
        <p:spPr>
          <a:xfrm>
            <a:off x="7496367" y="749107"/>
            <a:ext cx="4425968" cy="4780770"/>
          </a:xfrm>
          <a:prstGeom prst="rect">
            <a:avLst/>
          </a:prstGeom>
          <a:noFill/>
        </p:spPr>
        <p:txBody>
          <a:bodyPr wrap="square" lIns="0" tIns="0" rIns="0" bIns="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600"/>
              </a:spcAft>
              <a:buClrTx/>
              <a:buSzTx/>
              <a:buFontTx/>
              <a:buNone/>
              <a:tabLst/>
              <a:defRPr/>
            </a:pPr>
            <a:r>
              <a:rPr kumimoji="0" lang="es" sz="950" b="1" i="0" u="none" strike="noStrike" kern="1200" cap="none" spc="0" normalizeH="0" baseline="0" noProof="0" dirty="0">
                <a:ln>
                  <a:noFill/>
                </a:ln>
                <a:solidFill>
                  <a:srgbClr val="000000"/>
                </a:solidFill>
                <a:effectLst/>
                <a:uLnTx/>
                <a:uFillTx/>
                <a:latin typeface="Graphik"/>
                <a:ea typeface="+mn-ea"/>
                <a:cs typeface="+mn-cs"/>
              </a:rPr>
              <a:t>Notas</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950" b="0" i="0" u="none" strike="noStrike" kern="1200" cap="none" spc="0" normalizeH="0" baseline="0" noProof="0" dirty="0">
                <a:ln>
                  <a:noFill/>
                </a:ln>
                <a:solidFill>
                  <a:srgbClr val="000000"/>
                </a:solidFill>
                <a:effectLst/>
                <a:uLnTx/>
                <a:uFillTx/>
                <a:latin typeface="Graphik"/>
                <a:ea typeface="+mn-ea"/>
                <a:cs typeface="+mn-cs"/>
              </a:rPr>
              <a:t>La gestión de transacciones se considera un caso especial de Orquestación de Servicios que requiere atomicidad entre los servicios participantes</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950" b="0" i="0" u="none" strike="noStrike" kern="1200" cap="none" spc="0" normalizeH="0" baseline="0" noProof="0" dirty="0">
                <a:ln>
                  <a:noFill/>
                </a:ln>
                <a:solidFill>
                  <a:srgbClr val="000000"/>
                </a:solidFill>
                <a:effectLst/>
                <a:uLnTx/>
                <a:uFillTx/>
                <a:latin typeface="Graphik"/>
                <a:ea typeface="+mn-ea"/>
                <a:cs typeface="+mn-cs"/>
              </a:rPr>
              <a:t>Un coordinador transaccional lleva un control del éxito o fracaso de los pasos individuales.</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950" b="0" i="0" u="none" strike="noStrike" kern="1200" cap="none" spc="0" normalizeH="0" baseline="0" noProof="0" dirty="0">
                <a:ln>
                  <a:noFill/>
                </a:ln>
                <a:solidFill>
                  <a:srgbClr val="000000"/>
                </a:solidFill>
                <a:effectLst/>
                <a:uLnTx/>
                <a:uFillTx/>
                <a:latin typeface="Graphik"/>
                <a:ea typeface="+mn-ea"/>
                <a:cs typeface="+mn-cs"/>
              </a:rPr>
              <a:t>Luego decide completar un servicio complejo o revertir acciones individuales mediante reversiones</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950" b="0" i="0" u="none" strike="noStrike" kern="1200" cap="none" spc="0" normalizeH="0" baseline="0" noProof="0" dirty="0">
                <a:ln>
                  <a:noFill/>
                </a:ln>
                <a:solidFill>
                  <a:srgbClr val="000000"/>
                </a:solidFill>
                <a:effectLst/>
                <a:uLnTx/>
                <a:uFillTx/>
                <a:latin typeface="Graphik"/>
                <a:ea typeface="+mn-ea"/>
                <a:cs typeface="+mn-cs"/>
              </a:rPr>
              <a:t>Una columna vertebral de mensajería sirve como mecanismo de comunicación para:</a:t>
            </a:r>
          </a:p>
          <a:p>
            <a:pPr marL="742950" marR="0" lvl="1"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950" b="0" i="0" u="none" strike="noStrike" kern="1200" cap="none" spc="0" normalizeH="0" baseline="0" noProof="0" dirty="0">
                <a:ln>
                  <a:noFill/>
                </a:ln>
                <a:solidFill>
                  <a:srgbClr val="000000"/>
                </a:solidFill>
                <a:effectLst/>
                <a:uLnTx/>
                <a:uFillTx/>
                <a:latin typeface="Graphik"/>
                <a:ea typeface="+mn-ea"/>
                <a:cs typeface="+mn-cs"/>
              </a:rPr>
              <a:t>Asegura notificaciones de éxito/fracaso para cada paso individual (patrón de Bandeja de Salida Transaccional/Bandeja de entrada)</a:t>
            </a:r>
          </a:p>
          <a:p>
            <a:pPr marL="742950" marR="0" lvl="1"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950" b="0" i="0" u="none" strike="noStrike" kern="1200" cap="none" spc="0" normalizeH="0" baseline="0" noProof="0" dirty="0">
                <a:ln>
                  <a:noFill/>
                </a:ln>
                <a:solidFill>
                  <a:srgbClr val="000000"/>
                </a:solidFill>
                <a:effectLst/>
                <a:uLnTx/>
                <a:uFillTx/>
                <a:latin typeface="Graphik"/>
                <a:ea typeface="+mn-ea"/>
                <a:cs typeface="+mn-cs"/>
              </a:rPr>
              <a:t>Acciones de reversión de lanzamiento cuando sea necesario</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950" b="0" i="0" u="none" strike="noStrike" kern="1200" cap="none" spc="0" normalizeH="0" baseline="0" noProof="0" dirty="0">
                <a:ln>
                  <a:noFill/>
                </a:ln>
                <a:solidFill>
                  <a:srgbClr val="000000"/>
                </a:solidFill>
                <a:effectLst/>
                <a:uLnTx/>
                <a:uFillTx/>
                <a:latin typeface="Graphik"/>
                <a:ea typeface="+mn-ea"/>
                <a:cs typeface="+mn-cs"/>
              </a:rPr>
              <a:t>El estado e historia de las transacciones atómicas se registra en una Base de Datos de Transacciones</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950" b="0" i="0" u="none" strike="noStrike" kern="1200" cap="none" spc="0" normalizeH="0" baseline="0" noProof="0" dirty="0">
                <a:ln>
                  <a:noFill/>
                </a:ln>
                <a:solidFill>
                  <a:srgbClr val="000000"/>
                </a:solidFill>
                <a:effectLst/>
                <a:uLnTx/>
                <a:uFillTx/>
                <a:latin typeface="Graphik"/>
                <a:ea typeface="+mn-ea"/>
                <a:cs typeface="+mn-cs"/>
              </a:rPr>
              <a:t>Incluye eventos técnicos de monitorización (salud y datos relevantes de los componentes de la plataforma de la Gestión de Transacciones) y también eventos operativos de monitorización (eventos empresariales y otros) para facilitar la resolución manual o automática de problemas</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950" b="0" i="0" u="none" strike="noStrike" kern="1200" cap="none" spc="0" normalizeH="0" baseline="0" noProof="0" dirty="0">
                <a:ln>
                  <a:noFill/>
                </a:ln>
                <a:solidFill>
                  <a:srgbClr val="000000"/>
                </a:solidFill>
                <a:effectLst/>
                <a:uLnTx/>
                <a:uFillTx/>
                <a:latin typeface="Graphik"/>
                <a:ea typeface="+mn-ea"/>
                <a:cs typeface="+mn-cs"/>
              </a:rPr>
              <a:t>La consola transaccional es la interfaz de usuario para monitorizar el estado de transacciones complejas, con la capacidad de reintentar, cancelar, revertir y generar informes.</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950" b="0" i="0" u="none" strike="noStrike" kern="1200" cap="none" spc="0" normalizeH="0" baseline="0" noProof="0" dirty="0">
                <a:ln>
                  <a:noFill/>
                </a:ln>
                <a:solidFill>
                  <a:srgbClr val="000000"/>
                </a:solidFill>
                <a:effectLst/>
                <a:uLnTx/>
                <a:uFillTx/>
                <a:latin typeface="Graphik"/>
                <a:ea typeface="+mn-ea"/>
                <a:cs typeface="+mn-cs"/>
              </a:rPr>
              <a:t>El servicio 2a representa un acceso directo a una o más bases de datos (ya sean relacionales o JMS de soporte) que dependen de un o dos compromisos en una o dos fases y no requieren inversiones</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950" b="0" i="0" u="none" strike="noStrike" kern="1200" cap="none" spc="0" normalizeH="0" baseline="0" noProof="0" dirty="0">
                <a:ln>
                  <a:noFill/>
                </a:ln>
                <a:solidFill>
                  <a:srgbClr val="000000"/>
                </a:solidFill>
                <a:effectLst/>
                <a:uLnTx/>
                <a:uFillTx/>
                <a:latin typeface="Graphik"/>
                <a:ea typeface="+mn-ea"/>
                <a:cs typeface="+mn-cs"/>
              </a:rPr>
              <a:t>NOTA: Temporal es solo un ejemplo de orquestador, que garantiza la entrega de mensajes a través de la infraestructura Kafka subyacente que sustenta los patrones Transactional Inbox y Outbox</a:t>
            </a:r>
          </a:p>
        </p:txBody>
      </p:sp>
      <p:cxnSp>
        <p:nvCxnSpPr>
          <p:cNvPr id="35" name="Connector: Elbow 34">
            <a:extLst>
              <a:ext uri="{FF2B5EF4-FFF2-40B4-BE49-F238E27FC236}">
                <a16:creationId xmlns:a16="http://schemas.microsoft.com/office/drawing/2014/main" id="{155D5066-B14C-8D99-2729-268EA4CACE8F}"/>
              </a:ext>
            </a:extLst>
          </p:cNvPr>
          <p:cNvCxnSpPr>
            <a:cxnSpLocks/>
          </p:cNvCxnSpPr>
          <p:nvPr/>
        </p:nvCxnSpPr>
        <p:spPr>
          <a:xfrm rot="5400000">
            <a:off x="5724868" y="4653011"/>
            <a:ext cx="271154" cy="12700"/>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Connector: Elbow 35">
            <a:extLst>
              <a:ext uri="{FF2B5EF4-FFF2-40B4-BE49-F238E27FC236}">
                <a16:creationId xmlns:a16="http://schemas.microsoft.com/office/drawing/2014/main" id="{1E19F783-71F0-E9E7-FB55-54DCECE6E342}"/>
              </a:ext>
            </a:extLst>
          </p:cNvPr>
          <p:cNvCxnSpPr>
            <a:cxnSpLocks/>
            <a:stCxn id="65" idx="2"/>
            <a:endCxn id="15" idx="0"/>
          </p:cNvCxnSpPr>
          <p:nvPr/>
        </p:nvCxnSpPr>
        <p:spPr>
          <a:xfrm rot="5400000">
            <a:off x="4196539" y="2277125"/>
            <a:ext cx="178058" cy="963245"/>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7" name="Flowchart: Magnetic Disk 36">
            <a:extLst>
              <a:ext uri="{FF2B5EF4-FFF2-40B4-BE49-F238E27FC236}">
                <a16:creationId xmlns:a16="http://schemas.microsoft.com/office/drawing/2014/main" id="{7465F324-2FCC-9BC0-699F-C72FFB771F43}"/>
              </a:ext>
            </a:extLst>
          </p:cNvPr>
          <p:cNvSpPr/>
          <p:nvPr/>
        </p:nvSpPr>
        <p:spPr>
          <a:xfrm>
            <a:off x="3209654" y="5344374"/>
            <a:ext cx="736093" cy="381552"/>
          </a:xfrm>
          <a:prstGeom prst="flowChartMagneticDisk">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err="1">
                <a:ln>
                  <a:noFill/>
                </a:ln>
                <a:solidFill>
                  <a:srgbClr val="000000"/>
                </a:solidFill>
                <a:effectLst/>
                <a:uLnTx/>
                <a:uFillTx/>
                <a:latin typeface="Graphik"/>
                <a:ea typeface="+mn-ea"/>
                <a:cs typeface="+mn-cs"/>
              </a:rPr>
              <a:t>Base de Datos A</a:t>
            </a:r>
            <a:endParaRPr kumimoji="0" lang="en-ES" sz="900" b="0" i="0" u="none" strike="noStrike" kern="1200" cap="none" spc="0" normalizeH="0" baseline="0" noProof="0">
              <a:ln>
                <a:noFill/>
              </a:ln>
              <a:solidFill>
                <a:srgbClr val="000000"/>
              </a:solidFill>
              <a:effectLst/>
              <a:uLnTx/>
              <a:uFillTx/>
              <a:latin typeface="Graphik"/>
              <a:ea typeface="+mn-ea"/>
              <a:cs typeface="+mn-cs"/>
            </a:endParaRPr>
          </a:p>
        </p:txBody>
      </p:sp>
      <p:cxnSp>
        <p:nvCxnSpPr>
          <p:cNvPr id="38" name="Connector: Elbow 37">
            <a:extLst>
              <a:ext uri="{FF2B5EF4-FFF2-40B4-BE49-F238E27FC236}">
                <a16:creationId xmlns:a16="http://schemas.microsoft.com/office/drawing/2014/main" id="{74F57F19-0E34-1DA3-D06A-99031A1AF64F}"/>
              </a:ext>
            </a:extLst>
          </p:cNvPr>
          <p:cNvCxnSpPr>
            <a:cxnSpLocks/>
            <a:stCxn id="15" idx="2"/>
            <a:endCxn id="37" idx="1"/>
          </p:cNvCxnSpPr>
          <p:nvPr/>
        </p:nvCxnSpPr>
        <p:spPr>
          <a:xfrm rot="5400000">
            <a:off x="2532524" y="4072953"/>
            <a:ext cx="2316598" cy="226244"/>
          </a:xfrm>
          <a:prstGeom prst="bentConnector3">
            <a:avLst>
              <a:gd name="adj1" fmla="val 87844"/>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9" name="Rectangle 38">
            <a:extLst>
              <a:ext uri="{FF2B5EF4-FFF2-40B4-BE49-F238E27FC236}">
                <a16:creationId xmlns:a16="http://schemas.microsoft.com/office/drawing/2014/main" id="{7EE94B0D-8FF4-FDBE-EC80-4F58BA72B824}"/>
              </a:ext>
            </a:extLst>
          </p:cNvPr>
          <p:cNvSpPr/>
          <p:nvPr/>
        </p:nvSpPr>
        <p:spPr>
          <a:xfrm>
            <a:off x="4513500" y="3933216"/>
            <a:ext cx="720000" cy="180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Reversión 2b</a:t>
            </a:r>
          </a:p>
        </p:txBody>
      </p:sp>
      <p:cxnSp>
        <p:nvCxnSpPr>
          <p:cNvPr id="40" name="Connector: Elbow 39">
            <a:extLst>
              <a:ext uri="{FF2B5EF4-FFF2-40B4-BE49-F238E27FC236}">
                <a16:creationId xmlns:a16="http://schemas.microsoft.com/office/drawing/2014/main" id="{9B0D942C-5147-CFCA-6596-6876B575E755}"/>
              </a:ext>
            </a:extLst>
          </p:cNvPr>
          <p:cNvCxnSpPr>
            <a:cxnSpLocks/>
            <a:stCxn id="19" idx="2"/>
            <a:endCxn id="45" idx="2"/>
          </p:cNvCxnSpPr>
          <p:nvPr/>
        </p:nvCxnSpPr>
        <p:spPr>
          <a:xfrm rot="16200000" flipH="1">
            <a:off x="1718500" y="3803780"/>
            <a:ext cx="1104638" cy="231504"/>
          </a:xfrm>
          <a:prstGeom prst="bentConnector2">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1" name="Connector: Elbow 40">
            <a:extLst>
              <a:ext uri="{FF2B5EF4-FFF2-40B4-BE49-F238E27FC236}">
                <a16:creationId xmlns:a16="http://schemas.microsoft.com/office/drawing/2014/main" id="{FCC293D6-69B9-B27C-3254-32653222A6BB}"/>
              </a:ext>
            </a:extLst>
          </p:cNvPr>
          <p:cNvCxnSpPr>
            <a:cxnSpLocks/>
            <a:endCxn id="37" idx="2"/>
          </p:cNvCxnSpPr>
          <p:nvPr/>
        </p:nvCxnSpPr>
        <p:spPr>
          <a:xfrm rot="16200000" flipH="1">
            <a:off x="1455678" y="3781173"/>
            <a:ext cx="2155099" cy="1352853"/>
          </a:xfrm>
          <a:prstGeom prst="bentConnector2">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2" name="Rectangle 41">
            <a:extLst>
              <a:ext uri="{FF2B5EF4-FFF2-40B4-BE49-F238E27FC236}">
                <a16:creationId xmlns:a16="http://schemas.microsoft.com/office/drawing/2014/main" id="{3F5A4615-9768-6FCA-FF5B-1462DA761D1D}"/>
              </a:ext>
            </a:extLst>
          </p:cNvPr>
          <p:cNvSpPr/>
          <p:nvPr/>
        </p:nvSpPr>
        <p:spPr>
          <a:xfrm>
            <a:off x="5500445" y="4990059"/>
            <a:ext cx="720000" cy="180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Reversión 2c</a:t>
            </a:r>
          </a:p>
        </p:txBody>
      </p:sp>
      <p:cxnSp>
        <p:nvCxnSpPr>
          <p:cNvPr id="43" name="Connector: Elbow 42">
            <a:extLst>
              <a:ext uri="{FF2B5EF4-FFF2-40B4-BE49-F238E27FC236}">
                <a16:creationId xmlns:a16="http://schemas.microsoft.com/office/drawing/2014/main" id="{AEDB8208-5E5C-458F-0ABC-7F9D5CEC9679}"/>
              </a:ext>
            </a:extLst>
          </p:cNvPr>
          <p:cNvCxnSpPr>
            <a:cxnSpLocks/>
            <a:stCxn id="17" idx="1"/>
            <a:endCxn id="19" idx="3"/>
          </p:cNvCxnSpPr>
          <p:nvPr/>
        </p:nvCxnSpPr>
        <p:spPr>
          <a:xfrm rot="10800000" flipV="1">
            <a:off x="2595834" y="3060625"/>
            <a:ext cx="1811356" cy="162587"/>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4" name="Connector: Elbow 43">
            <a:extLst>
              <a:ext uri="{FF2B5EF4-FFF2-40B4-BE49-F238E27FC236}">
                <a16:creationId xmlns:a16="http://schemas.microsoft.com/office/drawing/2014/main" id="{E04C908A-FCAC-76A0-7C8F-A385034CE534}"/>
              </a:ext>
            </a:extLst>
          </p:cNvPr>
          <p:cNvCxnSpPr>
            <a:cxnSpLocks/>
            <a:stCxn id="18" idx="1"/>
            <a:endCxn id="19" idx="3"/>
          </p:cNvCxnSpPr>
          <p:nvPr/>
        </p:nvCxnSpPr>
        <p:spPr>
          <a:xfrm rot="10800000" flipV="1">
            <a:off x="2595834" y="3221183"/>
            <a:ext cx="2895184" cy="2029"/>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45" name="Can 172">
            <a:extLst>
              <a:ext uri="{FF2B5EF4-FFF2-40B4-BE49-F238E27FC236}">
                <a16:creationId xmlns:a16="http://schemas.microsoft.com/office/drawing/2014/main" id="{527606E0-65A6-E857-8FE9-7946FAF53CA3}"/>
              </a:ext>
            </a:extLst>
          </p:cNvPr>
          <p:cNvSpPr/>
          <p:nvPr/>
        </p:nvSpPr>
        <p:spPr bwMode="auto">
          <a:xfrm>
            <a:off x="2386571" y="3661048"/>
            <a:ext cx="312661" cy="1621605"/>
          </a:xfrm>
          <a:prstGeom prst="can">
            <a:avLst>
              <a:gd name="adj" fmla="val 59089"/>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Autobús de Eventos de Temas de Compensación</a:t>
            </a:r>
          </a:p>
        </p:txBody>
      </p:sp>
      <p:cxnSp>
        <p:nvCxnSpPr>
          <p:cNvPr id="46" name="Connector: Elbow 45">
            <a:extLst>
              <a:ext uri="{FF2B5EF4-FFF2-40B4-BE49-F238E27FC236}">
                <a16:creationId xmlns:a16="http://schemas.microsoft.com/office/drawing/2014/main" id="{842DC014-41BF-E3F4-A81B-3C559BF3FD7D}"/>
              </a:ext>
            </a:extLst>
          </p:cNvPr>
          <p:cNvCxnSpPr>
            <a:cxnSpLocks/>
            <a:stCxn id="45" idx="4"/>
            <a:endCxn id="39" idx="1"/>
          </p:cNvCxnSpPr>
          <p:nvPr/>
        </p:nvCxnSpPr>
        <p:spPr>
          <a:xfrm flipV="1">
            <a:off x="2699232" y="4023216"/>
            <a:ext cx="1814268" cy="448635"/>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7" name="Connector: Elbow 46">
            <a:extLst>
              <a:ext uri="{FF2B5EF4-FFF2-40B4-BE49-F238E27FC236}">
                <a16:creationId xmlns:a16="http://schemas.microsoft.com/office/drawing/2014/main" id="{D9053F12-25A4-9ECE-89BA-7D1DDA8AAEA1}"/>
              </a:ext>
            </a:extLst>
          </p:cNvPr>
          <p:cNvCxnSpPr>
            <a:cxnSpLocks/>
            <a:stCxn id="45" idx="4"/>
            <a:endCxn id="26" idx="1"/>
          </p:cNvCxnSpPr>
          <p:nvPr/>
        </p:nvCxnSpPr>
        <p:spPr>
          <a:xfrm flipV="1">
            <a:off x="2699232" y="4411098"/>
            <a:ext cx="2711213" cy="60753"/>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grpSp>
        <p:nvGrpSpPr>
          <p:cNvPr id="48" name="Group 47">
            <a:extLst>
              <a:ext uri="{FF2B5EF4-FFF2-40B4-BE49-F238E27FC236}">
                <a16:creationId xmlns:a16="http://schemas.microsoft.com/office/drawing/2014/main" id="{EA423794-B14A-AE90-81D5-E6067405451D}"/>
              </a:ext>
            </a:extLst>
          </p:cNvPr>
          <p:cNvGrpSpPr/>
          <p:nvPr/>
        </p:nvGrpSpPr>
        <p:grpSpPr>
          <a:xfrm>
            <a:off x="2611692" y="3806392"/>
            <a:ext cx="685502" cy="201848"/>
            <a:chOff x="6368576" y="4704022"/>
            <a:chExt cx="1080000" cy="360000"/>
          </a:xfrm>
          <a:solidFill>
            <a:schemeClr val="bg1"/>
          </a:solidFill>
        </p:grpSpPr>
        <p:sp>
          <p:nvSpPr>
            <p:cNvPr id="49" name="Rectangle 48">
              <a:extLst>
                <a:ext uri="{FF2B5EF4-FFF2-40B4-BE49-F238E27FC236}">
                  <a16:creationId xmlns:a16="http://schemas.microsoft.com/office/drawing/2014/main" id="{1D7C7F1C-1B57-90CE-EDF7-E8A77742FBB4}"/>
                </a:ext>
              </a:extLst>
            </p:cNvPr>
            <p:cNvSpPr/>
            <p:nvPr/>
          </p:nvSpPr>
          <p:spPr>
            <a:xfrm>
              <a:off x="6368576" y="4704022"/>
              <a:ext cx="1080000" cy="360000"/>
            </a:xfrm>
            <a:prstGeom prst="rect">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Apache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Kafka</a:t>
              </a:r>
            </a:p>
          </p:txBody>
        </p:sp>
        <p:pic>
          <p:nvPicPr>
            <p:cNvPr id="50" name="Picture 49">
              <a:extLst>
                <a:ext uri="{FF2B5EF4-FFF2-40B4-BE49-F238E27FC236}">
                  <a16:creationId xmlns:a16="http://schemas.microsoft.com/office/drawing/2014/main" id="{87E447E8-D19E-0456-001B-7356B0B019D7}"/>
                </a:ext>
              </a:extLst>
            </p:cNvPr>
            <p:cNvPicPr>
              <a:picLocks noChangeAspect="1"/>
            </p:cNvPicPr>
            <p:nvPr/>
          </p:nvPicPr>
          <p:blipFill>
            <a:blip r:embed="rId4"/>
            <a:stretch>
              <a:fillRect/>
            </a:stretch>
          </p:blipFill>
          <p:spPr>
            <a:xfrm>
              <a:off x="6561864" y="4724352"/>
              <a:ext cx="693425" cy="319340"/>
            </a:xfrm>
            <a:prstGeom prst="rect">
              <a:avLst/>
            </a:prstGeom>
            <a:grpFill/>
          </p:spPr>
        </p:pic>
      </p:grpSp>
      <p:cxnSp>
        <p:nvCxnSpPr>
          <p:cNvPr id="51" name="Connector: Elbow 50">
            <a:extLst>
              <a:ext uri="{FF2B5EF4-FFF2-40B4-BE49-F238E27FC236}">
                <a16:creationId xmlns:a16="http://schemas.microsoft.com/office/drawing/2014/main" id="{A82B1884-6027-1D30-087B-4B047910CAEF}"/>
              </a:ext>
            </a:extLst>
          </p:cNvPr>
          <p:cNvCxnSpPr>
            <a:cxnSpLocks/>
            <a:stCxn id="26" idx="3"/>
            <a:endCxn id="42" idx="3"/>
          </p:cNvCxnSpPr>
          <p:nvPr/>
        </p:nvCxnSpPr>
        <p:spPr>
          <a:xfrm flipH="1">
            <a:off x="6220445" y="4411098"/>
            <a:ext cx="90000" cy="668961"/>
          </a:xfrm>
          <a:prstGeom prst="bentConnector3">
            <a:avLst>
              <a:gd name="adj1" fmla="val -254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2" name="Rectangle 51">
            <a:extLst>
              <a:ext uri="{FF2B5EF4-FFF2-40B4-BE49-F238E27FC236}">
                <a16:creationId xmlns:a16="http://schemas.microsoft.com/office/drawing/2014/main" id="{DE85B9E4-F445-4744-1E69-1B76F22D01F8}"/>
              </a:ext>
            </a:extLst>
          </p:cNvPr>
          <p:cNvSpPr/>
          <p:nvPr/>
        </p:nvSpPr>
        <p:spPr>
          <a:xfrm>
            <a:off x="469361" y="3073468"/>
            <a:ext cx="917537" cy="28800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Consola Transaccional</a:t>
            </a:r>
          </a:p>
        </p:txBody>
      </p:sp>
      <p:cxnSp>
        <p:nvCxnSpPr>
          <p:cNvPr id="53" name="Straight Arrow Connector 52">
            <a:extLst>
              <a:ext uri="{FF2B5EF4-FFF2-40B4-BE49-F238E27FC236}">
                <a16:creationId xmlns:a16="http://schemas.microsoft.com/office/drawing/2014/main" id="{6BB13D2F-1505-E1D0-900E-62A98BAEC106}"/>
              </a:ext>
            </a:extLst>
          </p:cNvPr>
          <p:cNvCxnSpPr>
            <a:cxnSpLocks/>
            <a:stCxn id="52" idx="3"/>
            <a:endCxn id="19" idx="1"/>
          </p:cNvCxnSpPr>
          <p:nvPr/>
        </p:nvCxnSpPr>
        <p:spPr>
          <a:xfrm>
            <a:off x="1386898" y="3217468"/>
            <a:ext cx="327401" cy="5745"/>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8" name="Rectangle 57">
            <a:extLst>
              <a:ext uri="{FF2B5EF4-FFF2-40B4-BE49-F238E27FC236}">
                <a16:creationId xmlns:a16="http://schemas.microsoft.com/office/drawing/2014/main" id="{4F42EBCD-D56C-A041-2CA1-4502AFB97867}"/>
              </a:ext>
            </a:extLst>
          </p:cNvPr>
          <p:cNvSpPr/>
          <p:nvPr/>
        </p:nvSpPr>
        <p:spPr>
          <a:xfrm>
            <a:off x="287910" y="2758680"/>
            <a:ext cx="658465" cy="329692"/>
          </a:xfrm>
          <a:prstGeom prst="rect">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FFFFFF"/>
                </a:solidFill>
                <a:effectLst/>
                <a:uLnTx/>
                <a:uFillTx/>
                <a:latin typeface="Graphik"/>
                <a:ea typeface="+mn-ea"/>
                <a:cs typeface="+mn-cs"/>
              </a:rPr>
              <a:t>Customizado o de terceros </a:t>
            </a:r>
          </a:p>
        </p:txBody>
      </p:sp>
      <p:sp>
        <p:nvSpPr>
          <p:cNvPr id="59" name="Can 172">
            <a:extLst>
              <a:ext uri="{FF2B5EF4-FFF2-40B4-BE49-F238E27FC236}">
                <a16:creationId xmlns:a16="http://schemas.microsoft.com/office/drawing/2014/main" id="{D8A253A4-D073-4D31-4C59-8679515DD2FA}"/>
              </a:ext>
            </a:extLst>
          </p:cNvPr>
          <p:cNvSpPr/>
          <p:nvPr/>
        </p:nvSpPr>
        <p:spPr bwMode="auto">
          <a:xfrm>
            <a:off x="6870407" y="1915873"/>
            <a:ext cx="312661" cy="1940873"/>
          </a:xfrm>
          <a:prstGeom prst="can">
            <a:avLst>
              <a:gd name="adj" fmla="val 59089"/>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Tema de Reporte de Transacciones Atómicas</a:t>
            </a:r>
          </a:p>
        </p:txBody>
      </p:sp>
      <p:cxnSp>
        <p:nvCxnSpPr>
          <p:cNvPr id="60" name="Straight Arrow Connector 59">
            <a:extLst>
              <a:ext uri="{FF2B5EF4-FFF2-40B4-BE49-F238E27FC236}">
                <a16:creationId xmlns:a16="http://schemas.microsoft.com/office/drawing/2014/main" id="{4B2775F8-9927-2F1D-E637-973ECFCE8D53}"/>
              </a:ext>
            </a:extLst>
          </p:cNvPr>
          <p:cNvCxnSpPr>
            <a:cxnSpLocks/>
            <a:stCxn id="14" idx="3"/>
            <a:endCxn id="59" idx="2"/>
          </p:cNvCxnSpPr>
          <p:nvPr/>
        </p:nvCxnSpPr>
        <p:spPr>
          <a:xfrm>
            <a:off x="6330074" y="2882154"/>
            <a:ext cx="540333" cy="4156"/>
          </a:xfrm>
          <a:prstGeom prst="straightConnector1">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61" name="Flowchart: Magnetic Disk 60">
            <a:extLst>
              <a:ext uri="{FF2B5EF4-FFF2-40B4-BE49-F238E27FC236}">
                <a16:creationId xmlns:a16="http://schemas.microsoft.com/office/drawing/2014/main" id="{0A753296-F12B-2583-526B-9A864D952210}"/>
              </a:ext>
            </a:extLst>
          </p:cNvPr>
          <p:cNvSpPr/>
          <p:nvPr/>
        </p:nvSpPr>
        <p:spPr>
          <a:xfrm>
            <a:off x="6661018" y="4043532"/>
            <a:ext cx="736093" cy="793098"/>
          </a:xfrm>
          <a:prstGeom prst="flowChartMagneticDisk">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dirty="0">
                <a:ln>
                  <a:noFill/>
                </a:ln>
                <a:solidFill>
                  <a:srgbClr val="FFFFFF"/>
                </a:solidFill>
                <a:effectLst/>
                <a:uLnTx/>
                <a:uFillTx/>
                <a:latin typeface="Graphik"/>
                <a:ea typeface="+mn-ea"/>
                <a:cs typeface="+mn-cs"/>
              </a:rPr>
              <a:t>Base de Datos de Transacciones</a:t>
            </a:r>
            <a:endParaRPr kumimoji="0" lang="es-ES_tradnl" sz="800" b="0" i="0" u="none" strike="noStrike" kern="1200" cap="none" spc="0" normalizeH="0" baseline="0" noProof="0" dirty="0">
              <a:ln>
                <a:noFill/>
              </a:ln>
              <a:solidFill>
                <a:srgbClr val="FFFFFF"/>
              </a:solidFill>
              <a:effectLst/>
              <a:uLnTx/>
              <a:uFillTx/>
              <a:latin typeface="Graphik"/>
              <a:ea typeface="+mn-ea"/>
              <a:cs typeface="+mn-cs"/>
            </a:endParaRPr>
          </a:p>
        </p:txBody>
      </p:sp>
      <p:sp>
        <p:nvSpPr>
          <p:cNvPr id="62" name="Flowchart: Magnetic Disk 61">
            <a:extLst>
              <a:ext uri="{FF2B5EF4-FFF2-40B4-BE49-F238E27FC236}">
                <a16:creationId xmlns:a16="http://schemas.microsoft.com/office/drawing/2014/main" id="{788D73BB-AF84-D760-9DDF-8D0703D2C1AD}"/>
              </a:ext>
            </a:extLst>
          </p:cNvPr>
          <p:cNvSpPr/>
          <p:nvPr/>
        </p:nvSpPr>
        <p:spPr>
          <a:xfrm>
            <a:off x="3993365" y="5344374"/>
            <a:ext cx="736093" cy="381552"/>
          </a:xfrm>
          <a:prstGeom prst="flowChartMagneticDisk">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err="1">
                <a:ln>
                  <a:noFill/>
                </a:ln>
                <a:solidFill>
                  <a:srgbClr val="000000"/>
                </a:solidFill>
                <a:effectLst/>
                <a:uLnTx/>
                <a:uFillTx/>
                <a:latin typeface="Graphik"/>
                <a:ea typeface="+mn-ea"/>
                <a:cs typeface="+mn-cs"/>
              </a:rPr>
              <a:t>Base de Datos B</a:t>
            </a:r>
            <a:endParaRPr kumimoji="0" lang="en-ES" sz="900" b="0" i="0" u="none" strike="noStrike" kern="1200" cap="none" spc="0" normalizeH="0" baseline="0" noProof="0">
              <a:ln>
                <a:noFill/>
              </a:ln>
              <a:solidFill>
                <a:srgbClr val="000000"/>
              </a:solidFill>
              <a:effectLst/>
              <a:uLnTx/>
              <a:uFillTx/>
              <a:latin typeface="Graphik"/>
              <a:ea typeface="+mn-ea"/>
              <a:cs typeface="+mn-cs"/>
            </a:endParaRPr>
          </a:p>
        </p:txBody>
      </p:sp>
      <p:sp>
        <p:nvSpPr>
          <p:cNvPr id="63" name="Rectangle 62">
            <a:extLst>
              <a:ext uri="{FF2B5EF4-FFF2-40B4-BE49-F238E27FC236}">
                <a16:creationId xmlns:a16="http://schemas.microsoft.com/office/drawing/2014/main" id="{FE32FE45-1CC0-740E-676E-E02A2401F429}"/>
              </a:ext>
            </a:extLst>
          </p:cNvPr>
          <p:cNvSpPr/>
          <p:nvPr/>
        </p:nvSpPr>
        <p:spPr>
          <a:xfrm>
            <a:off x="4144616" y="1487814"/>
            <a:ext cx="1245149" cy="173028"/>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Servicio complejo</a:t>
            </a:r>
          </a:p>
        </p:txBody>
      </p:sp>
      <p:sp>
        <p:nvSpPr>
          <p:cNvPr id="64" name="Rectangle 63">
            <a:extLst>
              <a:ext uri="{FF2B5EF4-FFF2-40B4-BE49-F238E27FC236}">
                <a16:creationId xmlns:a16="http://schemas.microsoft.com/office/drawing/2014/main" id="{565DEF1C-2E5E-C97F-6693-471383BCC16C}"/>
              </a:ext>
            </a:extLst>
          </p:cNvPr>
          <p:cNvSpPr/>
          <p:nvPr/>
        </p:nvSpPr>
        <p:spPr>
          <a:xfrm>
            <a:off x="3649557" y="1840842"/>
            <a:ext cx="720000" cy="293152"/>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Servicio 1</a:t>
            </a:r>
          </a:p>
          <a:p>
            <a:pPr marL="0" marR="0" lvl="0" indent="0" algn="ctr" defTabSz="914400" rtl="0" eaLnBrk="1" fontAlgn="auto" latinLnBrk="0" hangingPunct="1">
              <a:lnSpc>
                <a:spcPct val="100000"/>
              </a:lnSpc>
              <a:spcBef>
                <a:spcPts val="0"/>
              </a:spcBef>
              <a:spcAft>
                <a:spcPts val="0"/>
              </a:spcAft>
              <a:buClrTx/>
              <a:buSzTx/>
              <a:buFontTx/>
              <a:buNone/>
              <a:tabLst/>
              <a:defRPr/>
            </a:pPr>
            <a:r>
              <a:rPr lang="es" sz="900" dirty="0">
                <a:solidFill>
                  <a:srgbClr val="000000"/>
                </a:solidFill>
                <a:latin typeface="Graphik"/>
              </a:rPr>
              <a:t>(n</a:t>
            </a:r>
            <a:r>
              <a:rPr kumimoji="0" lang="es" sz="900" b="0" i="0" u="none" strike="noStrike" kern="1200" cap="none" spc="0" normalizeH="0" baseline="0" noProof="0" dirty="0">
                <a:ln>
                  <a:noFill/>
                </a:ln>
                <a:solidFill>
                  <a:srgbClr val="000000"/>
                </a:solidFill>
                <a:effectLst/>
                <a:uLnTx/>
                <a:uFillTx/>
                <a:latin typeface="Graphik"/>
                <a:ea typeface="+mn-ea"/>
                <a:cs typeface="+mn-cs"/>
              </a:rPr>
              <a:t>o atómico)</a:t>
            </a:r>
          </a:p>
        </p:txBody>
      </p:sp>
      <p:sp>
        <p:nvSpPr>
          <p:cNvPr id="65" name="Rectangle 64">
            <a:extLst>
              <a:ext uri="{FF2B5EF4-FFF2-40B4-BE49-F238E27FC236}">
                <a16:creationId xmlns:a16="http://schemas.microsoft.com/office/drawing/2014/main" id="{B7CE11F7-8ACD-13EF-C78E-9A942BBD4BAE}"/>
              </a:ext>
            </a:extLst>
          </p:cNvPr>
          <p:cNvSpPr/>
          <p:nvPr/>
        </p:nvSpPr>
        <p:spPr>
          <a:xfrm>
            <a:off x="4407190" y="2376566"/>
            <a:ext cx="720000" cy="293152"/>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Servicio 2</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(atómico)</a:t>
            </a:r>
          </a:p>
        </p:txBody>
      </p:sp>
      <p:sp>
        <p:nvSpPr>
          <p:cNvPr id="66" name="Rectangle 65">
            <a:extLst>
              <a:ext uri="{FF2B5EF4-FFF2-40B4-BE49-F238E27FC236}">
                <a16:creationId xmlns:a16="http://schemas.microsoft.com/office/drawing/2014/main" id="{2CD27E89-075A-3BC9-8C6F-C17EEB97CC46}"/>
              </a:ext>
            </a:extLst>
          </p:cNvPr>
          <p:cNvSpPr/>
          <p:nvPr/>
        </p:nvSpPr>
        <p:spPr>
          <a:xfrm>
            <a:off x="5017612" y="1840842"/>
            <a:ext cx="720000" cy="293152"/>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Servicio 3</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(no atómico)</a:t>
            </a:r>
          </a:p>
        </p:txBody>
      </p:sp>
      <p:cxnSp>
        <p:nvCxnSpPr>
          <p:cNvPr id="67" name="Connector: Elbow 66">
            <a:extLst>
              <a:ext uri="{FF2B5EF4-FFF2-40B4-BE49-F238E27FC236}">
                <a16:creationId xmlns:a16="http://schemas.microsoft.com/office/drawing/2014/main" id="{ADB91DCE-71C7-B686-296C-7ED9980782F5}"/>
              </a:ext>
            </a:extLst>
          </p:cNvPr>
          <p:cNvCxnSpPr>
            <a:cxnSpLocks/>
            <a:stCxn id="63" idx="2"/>
            <a:endCxn id="64" idx="0"/>
          </p:cNvCxnSpPr>
          <p:nvPr/>
        </p:nvCxnSpPr>
        <p:spPr>
          <a:xfrm rot="5400000">
            <a:off x="4298374" y="1372025"/>
            <a:ext cx="180000" cy="757634"/>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8" name="Connector: Elbow 67">
            <a:extLst>
              <a:ext uri="{FF2B5EF4-FFF2-40B4-BE49-F238E27FC236}">
                <a16:creationId xmlns:a16="http://schemas.microsoft.com/office/drawing/2014/main" id="{7E6E6982-4C80-FB73-0FD0-118275D72E3E}"/>
              </a:ext>
            </a:extLst>
          </p:cNvPr>
          <p:cNvCxnSpPr>
            <a:cxnSpLocks/>
            <a:stCxn id="63" idx="2"/>
            <a:endCxn id="65" idx="0"/>
          </p:cNvCxnSpPr>
          <p:nvPr/>
        </p:nvCxnSpPr>
        <p:spPr>
          <a:xfrm rot="5400000">
            <a:off x="4409329" y="2018704"/>
            <a:ext cx="715724" cy="1"/>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9" name="Connector: Elbow 68">
            <a:extLst>
              <a:ext uri="{FF2B5EF4-FFF2-40B4-BE49-F238E27FC236}">
                <a16:creationId xmlns:a16="http://schemas.microsoft.com/office/drawing/2014/main" id="{ECC2D0CC-3EAD-60BF-A4B8-06CFA4CB35E9}"/>
              </a:ext>
            </a:extLst>
          </p:cNvPr>
          <p:cNvCxnSpPr>
            <a:cxnSpLocks/>
            <a:stCxn id="63" idx="2"/>
            <a:endCxn id="66" idx="0"/>
          </p:cNvCxnSpPr>
          <p:nvPr/>
        </p:nvCxnSpPr>
        <p:spPr>
          <a:xfrm rot="16200000" flipH="1">
            <a:off x="4982401" y="1445631"/>
            <a:ext cx="180000" cy="610421"/>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70" name="Group 69">
            <a:extLst>
              <a:ext uri="{FF2B5EF4-FFF2-40B4-BE49-F238E27FC236}">
                <a16:creationId xmlns:a16="http://schemas.microsoft.com/office/drawing/2014/main" id="{069B2CDD-5715-C139-7657-3E36EAEACD11}"/>
              </a:ext>
            </a:extLst>
          </p:cNvPr>
          <p:cNvGrpSpPr/>
          <p:nvPr/>
        </p:nvGrpSpPr>
        <p:grpSpPr>
          <a:xfrm>
            <a:off x="5646351" y="1415861"/>
            <a:ext cx="612000" cy="180000"/>
            <a:chOff x="2377230" y="1704273"/>
            <a:chExt cx="1080000" cy="360000"/>
          </a:xfrm>
          <a:solidFill>
            <a:schemeClr val="bg1"/>
          </a:solidFill>
        </p:grpSpPr>
        <p:sp>
          <p:nvSpPr>
            <p:cNvPr id="71" name="Rectangle 70">
              <a:extLst>
                <a:ext uri="{FF2B5EF4-FFF2-40B4-BE49-F238E27FC236}">
                  <a16:creationId xmlns:a16="http://schemas.microsoft.com/office/drawing/2014/main" id="{76FBFCAA-C08A-FA11-C1D5-54F3BB1FB80B}"/>
                </a:ext>
              </a:extLst>
            </p:cNvPr>
            <p:cNvSpPr/>
            <p:nvPr/>
          </p:nvSpPr>
          <p:spPr>
            <a:xfrm>
              <a:off x="2377230" y="1704273"/>
              <a:ext cx="1080000" cy="360000"/>
            </a:xfrm>
            <a:prstGeom prst="rect">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Graphik"/>
                <a:ea typeface="+mn-ea"/>
                <a:cs typeface="+mn-cs"/>
              </a:endParaRPr>
            </a:p>
          </p:txBody>
        </p:sp>
        <p:pic>
          <p:nvPicPr>
            <p:cNvPr id="72" name="Picture 71">
              <a:extLst>
                <a:ext uri="{FF2B5EF4-FFF2-40B4-BE49-F238E27FC236}">
                  <a16:creationId xmlns:a16="http://schemas.microsoft.com/office/drawing/2014/main" id="{8FEA5E7E-AD79-46FC-7C73-8EF04BC8AECB}"/>
                </a:ext>
              </a:extLst>
            </p:cNvPr>
            <p:cNvPicPr>
              <a:picLocks noChangeAspect="1"/>
            </p:cNvPicPr>
            <p:nvPr/>
          </p:nvPicPr>
          <p:blipFill>
            <a:blip r:embed="rId5"/>
            <a:stretch>
              <a:fillRect/>
            </a:stretch>
          </p:blipFill>
          <p:spPr>
            <a:xfrm>
              <a:off x="2431022" y="1725511"/>
              <a:ext cx="972417" cy="317524"/>
            </a:xfrm>
            <a:prstGeom prst="rect">
              <a:avLst/>
            </a:prstGeom>
            <a:grpFill/>
          </p:spPr>
        </p:pic>
      </p:grpSp>
      <p:cxnSp>
        <p:nvCxnSpPr>
          <p:cNvPr id="73" name="Connector: Elbow 72">
            <a:extLst>
              <a:ext uri="{FF2B5EF4-FFF2-40B4-BE49-F238E27FC236}">
                <a16:creationId xmlns:a16="http://schemas.microsoft.com/office/drawing/2014/main" id="{2F698BD2-097B-F1B0-84C5-E0195EA0FF4D}"/>
              </a:ext>
            </a:extLst>
          </p:cNvPr>
          <p:cNvCxnSpPr>
            <a:cxnSpLocks/>
            <a:stCxn id="65" idx="2"/>
            <a:endCxn id="17" idx="0"/>
          </p:cNvCxnSpPr>
          <p:nvPr/>
        </p:nvCxnSpPr>
        <p:spPr>
          <a:xfrm rot="5400000">
            <a:off x="4616736" y="2820172"/>
            <a:ext cx="300908" cy="12700"/>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4" name="Connector: Elbow 73">
            <a:extLst>
              <a:ext uri="{FF2B5EF4-FFF2-40B4-BE49-F238E27FC236}">
                <a16:creationId xmlns:a16="http://schemas.microsoft.com/office/drawing/2014/main" id="{8991BC0E-BA94-380B-56EA-C80BD156427C}"/>
              </a:ext>
            </a:extLst>
          </p:cNvPr>
          <p:cNvCxnSpPr>
            <a:cxnSpLocks/>
            <a:stCxn id="65" idx="2"/>
            <a:endCxn id="18" idx="0"/>
          </p:cNvCxnSpPr>
          <p:nvPr/>
        </p:nvCxnSpPr>
        <p:spPr>
          <a:xfrm rot="16200000" flipH="1">
            <a:off x="5078371" y="2358537"/>
            <a:ext cx="461466" cy="1083828"/>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5" name="Oval 74">
            <a:extLst>
              <a:ext uri="{FF2B5EF4-FFF2-40B4-BE49-F238E27FC236}">
                <a16:creationId xmlns:a16="http://schemas.microsoft.com/office/drawing/2014/main" id="{513207B2-2AA8-29EF-852C-C7084D047198}"/>
              </a:ext>
            </a:extLst>
          </p:cNvPr>
          <p:cNvSpPr/>
          <p:nvPr/>
        </p:nvSpPr>
        <p:spPr>
          <a:xfrm>
            <a:off x="2796792" y="3055472"/>
            <a:ext cx="538692" cy="288001"/>
          </a:xfrm>
          <a:prstGeom prst="ellipse">
            <a:avLst/>
          </a:prstGeom>
          <a:solidFill>
            <a:schemeClr val="bg1"/>
          </a:solidFill>
          <a:ln>
            <a:solidFill>
              <a:schemeClr val="tx1"/>
            </a:solidFill>
          </a:ln>
        </p:spPr>
        <p:txBody>
          <a:bodyPr wrap="none" lIns="0" tIns="0" rIns="0" bIns="0"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228600" rtl="0" eaLnBrk="1" fontAlgn="auto" latinLnBrk="0" hangingPunct="1">
              <a:lnSpc>
                <a:spcPct val="100000"/>
              </a:lnSpc>
              <a:spcBef>
                <a:spcPts val="0"/>
              </a:spcBef>
              <a:spcAft>
                <a:spcPts val="0"/>
              </a:spcAft>
              <a:buClrTx/>
              <a:buSzTx/>
              <a:buFontTx/>
              <a:buNone/>
              <a:tabLst/>
              <a:defRPr/>
            </a:pPr>
            <a:r>
              <a:rPr kumimoji="0" lang="es" sz="700" b="0" i="1" u="none" strike="noStrike" kern="1200" cap="none" spc="0" normalizeH="0" baseline="0" noProof="0" err="1">
                <a:ln>
                  <a:noFill/>
                </a:ln>
                <a:solidFill>
                  <a:srgbClr val="000000"/>
                </a:solidFill>
                <a:effectLst/>
                <a:uLnTx/>
                <a:uFillTx/>
                <a:latin typeface="Graphik"/>
                <a:ea typeface="+mn-ea"/>
                <a:cs typeface="+mn-cs"/>
              </a:rPr>
              <a:t>Éxito</a:t>
            </a:r>
            <a:endParaRPr kumimoji="0" lang="es-ES_tradnl" sz="700" b="0" i="1" u="none" strike="noStrike" kern="1200" cap="none" spc="0" normalizeH="0" baseline="0" noProof="0">
              <a:ln>
                <a:noFill/>
              </a:ln>
              <a:solidFill>
                <a:srgbClr val="000000"/>
              </a:solidFill>
              <a:effectLst/>
              <a:uLnTx/>
              <a:uFillTx/>
              <a:latin typeface="Graphik"/>
              <a:ea typeface="+mn-ea"/>
              <a:cs typeface="+mn-cs"/>
            </a:endParaRPr>
          </a:p>
          <a:p>
            <a:pPr marL="0" marR="0" lvl="0" indent="0" algn="ctr" defTabSz="228600" rtl="0" eaLnBrk="1" fontAlgn="auto" latinLnBrk="0" hangingPunct="1">
              <a:lnSpc>
                <a:spcPct val="100000"/>
              </a:lnSpc>
              <a:spcBef>
                <a:spcPts val="0"/>
              </a:spcBef>
              <a:spcAft>
                <a:spcPts val="0"/>
              </a:spcAft>
              <a:buClrTx/>
              <a:buSzTx/>
              <a:buFontTx/>
              <a:buNone/>
              <a:tabLst/>
              <a:defRPr/>
            </a:pPr>
            <a:r>
              <a:rPr kumimoji="0" lang="es" sz="700" b="0" i="1" u="none" strike="noStrike" kern="1200" cap="none" spc="0" normalizeH="0" baseline="0" noProof="0" err="1">
                <a:ln>
                  <a:noFill/>
                </a:ln>
                <a:solidFill>
                  <a:srgbClr val="000000"/>
                </a:solidFill>
                <a:effectLst/>
                <a:uLnTx/>
                <a:uFillTx/>
                <a:latin typeface="Graphik"/>
                <a:ea typeface="+mn-ea"/>
                <a:cs typeface="+mn-cs"/>
              </a:rPr>
              <a:t>Fracaso</a:t>
            </a:r>
            <a:endParaRPr kumimoji="0" lang="es-ES_tradnl" sz="700" b="0" i="1" u="none" strike="noStrike" kern="1200" cap="none" spc="0" normalizeH="0" baseline="0" noProof="0">
              <a:ln>
                <a:noFill/>
              </a:ln>
              <a:solidFill>
                <a:srgbClr val="000000"/>
              </a:solidFill>
              <a:effectLst/>
              <a:uLnTx/>
              <a:uFillTx/>
              <a:latin typeface="Graphik"/>
              <a:ea typeface="+mn-ea"/>
              <a:cs typeface="+mn-cs"/>
            </a:endParaRPr>
          </a:p>
        </p:txBody>
      </p:sp>
      <p:sp>
        <p:nvSpPr>
          <p:cNvPr id="76" name="Oval 75">
            <a:extLst>
              <a:ext uri="{FF2B5EF4-FFF2-40B4-BE49-F238E27FC236}">
                <a16:creationId xmlns:a16="http://schemas.microsoft.com/office/drawing/2014/main" id="{1E061E4C-DB8B-1980-75AE-67B505C0D921}"/>
              </a:ext>
            </a:extLst>
          </p:cNvPr>
          <p:cNvSpPr/>
          <p:nvPr/>
        </p:nvSpPr>
        <p:spPr>
          <a:xfrm>
            <a:off x="2204265" y="5402930"/>
            <a:ext cx="538692" cy="288001"/>
          </a:xfrm>
          <a:prstGeom prst="ellipse">
            <a:avLst/>
          </a:prstGeom>
          <a:solidFill>
            <a:schemeClr val="bg1"/>
          </a:solidFill>
          <a:ln>
            <a:solidFill>
              <a:schemeClr val="tx1"/>
            </a:solidFill>
          </a:ln>
        </p:spPr>
        <p:txBody>
          <a:bodyPr wrap="none" lIns="0" tIns="0" rIns="0" bIns="0"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2286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0" dirty="0">
                <a:ln>
                  <a:noFill/>
                </a:ln>
                <a:solidFill>
                  <a:srgbClr val="000000"/>
                </a:solidFill>
                <a:effectLst/>
                <a:uLnTx/>
                <a:uFillTx/>
                <a:latin typeface="Graphik"/>
                <a:ea typeface="+mn-ea"/>
                <a:cs typeface="+mn-cs"/>
              </a:rPr>
              <a:t>Commit</a:t>
            </a:r>
            <a:endParaRPr kumimoji="0" lang="es-ES_tradnl" sz="700" b="0" i="1" u="none" strike="noStrike" kern="1200" cap="none" spc="0" normalizeH="0" baseline="0" noProof="0" dirty="0">
              <a:ln>
                <a:noFill/>
              </a:ln>
              <a:solidFill>
                <a:srgbClr val="000000"/>
              </a:solidFill>
              <a:effectLst/>
              <a:uLnTx/>
              <a:uFillTx/>
              <a:latin typeface="Graphik"/>
              <a:ea typeface="+mn-ea"/>
              <a:cs typeface="+mn-cs"/>
            </a:endParaRPr>
          </a:p>
          <a:p>
            <a:pPr marL="0" marR="0" lvl="0" indent="0" algn="ctr" defTabSz="228600" rtl="0" eaLnBrk="1" fontAlgn="auto" latinLnBrk="0" hangingPunct="1">
              <a:lnSpc>
                <a:spcPct val="100000"/>
              </a:lnSpc>
              <a:spcBef>
                <a:spcPts val="0"/>
              </a:spcBef>
              <a:spcAft>
                <a:spcPts val="0"/>
              </a:spcAft>
              <a:buClrTx/>
              <a:buSzTx/>
              <a:buFontTx/>
              <a:buNone/>
              <a:tabLst/>
              <a:defRPr/>
            </a:pPr>
            <a:r>
              <a:rPr kumimoji="0" lang="es" sz="700" b="0" i="1" u="none" strike="noStrike" kern="1200" cap="none" spc="0" normalizeH="0" baseline="0" noProof="0" dirty="0">
                <a:ln>
                  <a:noFill/>
                </a:ln>
                <a:solidFill>
                  <a:srgbClr val="000000"/>
                </a:solidFill>
                <a:effectLst/>
                <a:uLnTx/>
                <a:uFillTx/>
                <a:latin typeface="Graphik"/>
                <a:ea typeface="+mn-ea"/>
                <a:cs typeface="+mn-cs"/>
              </a:rPr>
              <a:t>RollBack</a:t>
            </a:r>
            <a:endParaRPr kumimoji="0" lang="es-ES_tradnl" sz="700" b="0" i="1" u="none" strike="noStrike" kern="1200" cap="none" spc="0" normalizeH="0" baseline="0" noProof="0" dirty="0">
              <a:ln>
                <a:noFill/>
              </a:ln>
              <a:solidFill>
                <a:srgbClr val="000000"/>
              </a:solidFill>
              <a:effectLst/>
              <a:uLnTx/>
              <a:uFillTx/>
              <a:latin typeface="Graphik"/>
              <a:ea typeface="+mn-ea"/>
              <a:cs typeface="+mn-cs"/>
            </a:endParaRPr>
          </a:p>
        </p:txBody>
      </p:sp>
      <p:sp>
        <p:nvSpPr>
          <p:cNvPr id="77" name="Oval 76">
            <a:extLst>
              <a:ext uri="{FF2B5EF4-FFF2-40B4-BE49-F238E27FC236}">
                <a16:creationId xmlns:a16="http://schemas.microsoft.com/office/drawing/2014/main" id="{8169CF97-A405-D338-DE41-710885277DEF}"/>
              </a:ext>
            </a:extLst>
          </p:cNvPr>
          <p:cNvSpPr/>
          <p:nvPr/>
        </p:nvSpPr>
        <p:spPr>
          <a:xfrm>
            <a:off x="2780366" y="4329619"/>
            <a:ext cx="538692" cy="288001"/>
          </a:xfrm>
          <a:prstGeom prst="ellipse">
            <a:avLst/>
          </a:prstGeom>
          <a:solidFill>
            <a:schemeClr val="bg1"/>
          </a:solidFill>
          <a:ln>
            <a:solidFill>
              <a:schemeClr val="tx1"/>
            </a:solidFill>
          </a:ln>
        </p:spPr>
        <p:txBody>
          <a:bodyPr wrap="none" lIns="0" tIns="0" rIns="0" bIns="0"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228600" rtl="0" eaLnBrk="1" fontAlgn="auto" latinLnBrk="0" hangingPunct="1">
              <a:lnSpc>
                <a:spcPct val="100000"/>
              </a:lnSpc>
              <a:spcBef>
                <a:spcPts val="0"/>
              </a:spcBef>
              <a:spcAft>
                <a:spcPts val="0"/>
              </a:spcAft>
              <a:buClrTx/>
              <a:buSzTx/>
              <a:buFontTx/>
              <a:buNone/>
              <a:tabLst/>
              <a:defRPr/>
            </a:pPr>
            <a:r>
              <a:rPr kumimoji="0" lang="es" sz="700" b="0" i="1" u="none" strike="noStrike" kern="1200" cap="none" spc="0" normalizeH="0" baseline="0" noProof="0" err="1">
                <a:ln>
                  <a:noFill/>
                </a:ln>
                <a:solidFill>
                  <a:srgbClr val="000000"/>
                </a:solidFill>
                <a:effectLst/>
                <a:uLnTx/>
                <a:uFillTx/>
                <a:latin typeface="Graphik"/>
                <a:ea typeface="+mn-ea"/>
                <a:cs typeface="+mn-cs"/>
              </a:rPr>
              <a:t>Revert</a:t>
            </a:r>
            <a:endParaRPr kumimoji="0" lang="es-ES_tradnl" sz="700" b="0" i="1" u="none" strike="noStrike" kern="1200" cap="none" spc="0" normalizeH="0" baseline="0" noProof="0">
              <a:ln>
                <a:noFill/>
              </a:ln>
              <a:solidFill>
                <a:srgbClr val="000000"/>
              </a:solidFill>
              <a:effectLst/>
              <a:uLnTx/>
              <a:uFillTx/>
              <a:latin typeface="Graphik"/>
              <a:ea typeface="+mn-ea"/>
              <a:cs typeface="+mn-cs"/>
            </a:endParaRPr>
          </a:p>
        </p:txBody>
      </p:sp>
      <p:cxnSp>
        <p:nvCxnSpPr>
          <p:cNvPr id="78" name="Connector: Elbow 77">
            <a:extLst>
              <a:ext uri="{FF2B5EF4-FFF2-40B4-BE49-F238E27FC236}">
                <a16:creationId xmlns:a16="http://schemas.microsoft.com/office/drawing/2014/main" id="{C70F833B-32CE-C36F-37F3-2D4ADA317D97}"/>
              </a:ext>
            </a:extLst>
          </p:cNvPr>
          <p:cNvCxnSpPr>
            <a:cxnSpLocks/>
            <a:stCxn id="15" idx="2"/>
            <a:endCxn id="62" idx="1"/>
          </p:cNvCxnSpPr>
          <p:nvPr/>
        </p:nvCxnSpPr>
        <p:spPr>
          <a:xfrm rot="16200000" flipH="1">
            <a:off x="2924379" y="3907341"/>
            <a:ext cx="2316598" cy="557467"/>
          </a:xfrm>
          <a:prstGeom prst="bentConnector3">
            <a:avLst>
              <a:gd name="adj1" fmla="val 87844"/>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9" name="Straight Arrow Connector 78">
            <a:extLst>
              <a:ext uri="{FF2B5EF4-FFF2-40B4-BE49-F238E27FC236}">
                <a16:creationId xmlns:a16="http://schemas.microsoft.com/office/drawing/2014/main" id="{9EB8B51E-B35E-C368-0573-748813F94480}"/>
              </a:ext>
            </a:extLst>
          </p:cNvPr>
          <p:cNvCxnSpPr>
            <a:cxnSpLocks/>
            <a:stCxn id="59" idx="3"/>
            <a:endCxn id="61" idx="1"/>
          </p:cNvCxnSpPr>
          <p:nvPr/>
        </p:nvCxnSpPr>
        <p:spPr>
          <a:xfrm>
            <a:off x="7026738" y="3856746"/>
            <a:ext cx="2327" cy="186786"/>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0" name="Straight Arrow Connector 79">
            <a:extLst>
              <a:ext uri="{FF2B5EF4-FFF2-40B4-BE49-F238E27FC236}">
                <a16:creationId xmlns:a16="http://schemas.microsoft.com/office/drawing/2014/main" id="{7D658FA4-4317-1A1A-9C32-8A6690D70169}"/>
              </a:ext>
            </a:extLst>
          </p:cNvPr>
          <p:cNvCxnSpPr>
            <a:cxnSpLocks/>
            <a:stCxn id="52" idx="2"/>
            <a:endCxn id="81" idx="0"/>
          </p:cNvCxnSpPr>
          <p:nvPr/>
        </p:nvCxnSpPr>
        <p:spPr>
          <a:xfrm>
            <a:off x="928130" y="3361468"/>
            <a:ext cx="5670" cy="444924"/>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1" name="TextBox 176">
            <a:extLst>
              <a:ext uri="{FF2B5EF4-FFF2-40B4-BE49-F238E27FC236}">
                <a16:creationId xmlns:a16="http://schemas.microsoft.com/office/drawing/2014/main" id="{C65090D4-C856-4CB3-50B5-4368753426AC}"/>
              </a:ext>
            </a:extLst>
          </p:cNvPr>
          <p:cNvSpPr txBox="1"/>
          <p:nvPr/>
        </p:nvSpPr>
        <p:spPr>
          <a:xfrm>
            <a:off x="476600" y="3806392"/>
            <a:ext cx="914399" cy="301079"/>
          </a:xfrm>
          <a:prstGeom prst="rect">
            <a:avLst/>
          </a:prstGeom>
          <a:solidFill>
            <a:schemeClr val="bg1"/>
          </a:solidFill>
          <a:ln>
            <a:noFill/>
          </a:ln>
        </p:spPr>
        <p:txBody>
          <a:bodyPr wrap="none" lIns="0" tIns="0" rIns="0" bIns="0" rtlCol="0" anchor="ctr">
            <a:noAutofit/>
          </a:bodyPr>
          <a:lstStyle>
            <a:defPPr>
              <a:defRPr lang="en-US"/>
            </a:defPPr>
            <a:lvl1pPr marR="0" lvl="0" indent="0" algn="ctr" defTabSz="228600" fontAlgn="auto">
              <a:lnSpc>
                <a:spcPct val="100000"/>
              </a:lnSpc>
              <a:spcBef>
                <a:spcPts val="0"/>
              </a:spcBef>
              <a:spcAft>
                <a:spcPts val="0"/>
              </a:spcAft>
              <a:buClrTx/>
              <a:buSzTx/>
              <a:buFontTx/>
              <a:buNone/>
              <a:tabLst/>
              <a:defRPr kumimoji="0" sz="700" b="0" i="1" u="none" strike="noStrike" cap="none" spc="0" normalizeH="0" baseline="0">
                <a:ln>
                  <a:noFill/>
                </a:ln>
                <a:solidFill>
                  <a:srgbClr val="000000"/>
                </a:solidFill>
                <a:effectLst/>
                <a:uLnTx/>
                <a:uFillTx/>
                <a:latin typeface="Graphik"/>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s" dirty="0"/>
              <a:t>A Base de datos </a:t>
            </a:r>
          </a:p>
          <a:p>
            <a:r>
              <a:rPr lang="es" dirty="0"/>
              <a:t>de Transacciones</a:t>
            </a:r>
            <a:endParaRPr lang="en-ES" dirty="0"/>
          </a:p>
        </p:txBody>
      </p:sp>
      <p:sp>
        <p:nvSpPr>
          <p:cNvPr id="82" name="TextBox 177">
            <a:extLst>
              <a:ext uri="{FF2B5EF4-FFF2-40B4-BE49-F238E27FC236}">
                <a16:creationId xmlns:a16="http://schemas.microsoft.com/office/drawing/2014/main" id="{F07E32EF-EFAE-C8E8-3C7A-F1AD6F2BC6DC}"/>
              </a:ext>
            </a:extLst>
          </p:cNvPr>
          <p:cNvSpPr txBox="1"/>
          <p:nvPr/>
        </p:nvSpPr>
        <p:spPr>
          <a:xfrm>
            <a:off x="6571865" y="5153584"/>
            <a:ext cx="900000" cy="376293"/>
          </a:xfrm>
          <a:prstGeom prst="rect">
            <a:avLst/>
          </a:prstGeom>
          <a:solidFill>
            <a:schemeClr val="bg1"/>
          </a:solidFill>
          <a:ln>
            <a:noFill/>
          </a:ln>
        </p:spPr>
        <p:txBody>
          <a:bodyPr wrap="none" lIns="0" tIns="0" rIns="0" bIns="0" rtlCol="0" anchor="ctr">
            <a:noAutofit/>
          </a:bodyPr>
          <a:lstStyle>
            <a:defPPr>
              <a:defRPr lang="en-US"/>
            </a:defPPr>
            <a:lvl1pPr marL="0" algn="ctr" defTabSz="228600" rtl="0" eaLnBrk="1" latinLnBrk="0" hangingPunct="1">
              <a:defRPr sz="700" i="1"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228600" rtl="0" eaLnBrk="1" fontAlgn="auto" latinLnBrk="0" hangingPunct="1">
              <a:lnSpc>
                <a:spcPct val="100000"/>
              </a:lnSpc>
              <a:spcBef>
                <a:spcPts val="0"/>
              </a:spcBef>
              <a:spcAft>
                <a:spcPts val="0"/>
              </a:spcAft>
              <a:buClrTx/>
              <a:buSzTx/>
              <a:buFontTx/>
              <a:buNone/>
              <a:tabLst/>
              <a:defRPr/>
            </a:pPr>
            <a:r>
              <a:rPr kumimoji="0" lang="es" sz="700" b="0" i="1" u="none" strike="noStrike" kern="1200" cap="none" spc="0" normalizeH="0" baseline="0" noProof="0" dirty="0">
                <a:ln>
                  <a:noFill/>
                </a:ln>
                <a:solidFill>
                  <a:srgbClr val="000000"/>
                </a:solidFill>
                <a:effectLst/>
                <a:uLnTx/>
                <a:uFillTx/>
                <a:latin typeface="Graphik"/>
                <a:ea typeface="+mn-ea"/>
                <a:cs typeface="+mn-cs"/>
              </a:rPr>
              <a:t>Desde la</a:t>
            </a:r>
            <a:endParaRPr kumimoji="0" lang="es-ES_tradnl" sz="700" b="0" i="1" u="none" strike="noStrike" kern="1200" cap="none" spc="0" normalizeH="0" baseline="0" noProof="0" dirty="0">
              <a:ln>
                <a:noFill/>
              </a:ln>
              <a:solidFill>
                <a:srgbClr val="000000"/>
              </a:solidFill>
              <a:effectLst/>
              <a:uLnTx/>
              <a:uFillTx/>
              <a:latin typeface="Graphik"/>
              <a:ea typeface="+mn-ea"/>
              <a:cs typeface="+mn-cs"/>
            </a:endParaRPr>
          </a:p>
          <a:p>
            <a:pPr marL="0" marR="0" lvl="0" indent="0" algn="ctr" defTabSz="2286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0" dirty="0">
                <a:ln>
                  <a:noFill/>
                </a:ln>
                <a:solidFill>
                  <a:srgbClr val="000000"/>
                </a:solidFill>
                <a:effectLst/>
                <a:uLnTx/>
                <a:uFillTx/>
                <a:latin typeface="Graphik"/>
                <a:ea typeface="+mn-ea"/>
                <a:cs typeface="+mn-cs"/>
              </a:rPr>
              <a:t>Consola </a:t>
            </a:r>
            <a:r>
              <a:rPr kumimoji="0" lang="en-US" sz="700" b="0" i="1" u="none" strike="noStrike" kern="1200" cap="none" spc="0" normalizeH="0" baseline="0" noProof="0" dirty="0" err="1">
                <a:ln>
                  <a:noFill/>
                </a:ln>
                <a:solidFill>
                  <a:srgbClr val="000000"/>
                </a:solidFill>
                <a:effectLst/>
                <a:uLnTx/>
                <a:uFillTx/>
                <a:latin typeface="Graphik"/>
                <a:ea typeface="+mn-ea"/>
                <a:cs typeface="+mn-cs"/>
              </a:rPr>
              <a:t>Transaccional</a:t>
            </a:r>
            <a:endParaRPr kumimoji="0" lang="en-ES" sz="700" b="0" i="1" u="none" strike="noStrike" kern="1200" cap="none" spc="0" normalizeH="0" baseline="0" noProof="0" dirty="0">
              <a:ln>
                <a:noFill/>
              </a:ln>
              <a:solidFill>
                <a:srgbClr val="000000"/>
              </a:solidFill>
              <a:effectLst/>
              <a:uLnTx/>
              <a:uFillTx/>
              <a:latin typeface="Graphik"/>
              <a:ea typeface="+mn-ea"/>
              <a:cs typeface="+mn-cs"/>
            </a:endParaRPr>
          </a:p>
        </p:txBody>
      </p:sp>
      <p:cxnSp>
        <p:nvCxnSpPr>
          <p:cNvPr id="83" name="Straight Arrow Connector 82">
            <a:extLst>
              <a:ext uri="{FF2B5EF4-FFF2-40B4-BE49-F238E27FC236}">
                <a16:creationId xmlns:a16="http://schemas.microsoft.com/office/drawing/2014/main" id="{6CDAA440-E93D-566E-D946-F3B3ADFE9E3D}"/>
              </a:ext>
            </a:extLst>
          </p:cNvPr>
          <p:cNvCxnSpPr>
            <a:cxnSpLocks/>
            <a:stCxn id="82" idx="0"/>
            <a:endCxn id="61" idx="3"/>
          </p:cNvCxnSpPr>
          <p:nvPr/>
        </p:nvCxnSpPr>
        <p:spPr>
          <a:xfrm flipV="1">
            <a:off x="7021865" y="4836630"/>
            <a:ext cx="7200" cy="316954"/>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5" name="TextBox 144">
            <a:extLst>
              <a:ext uri="{FF2B5EF4-FFF2-40B4-BE49-F238E27FC236}">
                <a16:creationId xmlns:a16="http://schemas.microsoft.com/office/drawing/2014/main" id="{12426334-B6E3-FAD8-7BF8-0E8BB08A00B9}"/>
              </a:ext>
            </a:extLst>
          </p:cNvPr>
          <p:cNvSpPr txBox="1"/>
          <p:nvPr/>
        </p:nvSpPr>
        <p:spPr>
          <a:xfrm>
            <a:off x="1616091" y="6216007"/>
            <a:ext cx="4462491" cy="246222"/>
          </a:xfrm>
          <a:prstGeom prst="rect">
            <a:avLst/>
          </a:prstGeom>
          <a:noFill/>
        </p:spPr>
        <p:txBody>
          <a:bodyPr wrap="square" lIns="0" tIns="0" rIns="0" bIns="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600"/>
              </a:spcAft>
              <a:buClrTx/>
              <a:buSzTx/>
              <a:buFontTx/>
              <a:buNone/>
              <a:tabLst/>
              <a:defRPr/>
            </a:pPr>
            <a:r>
              <a:rPr kumimoji="0" lang="es" sz="1000" b="0" i="1" u="none" strike="noStrike" kern="1200" cap="none" spc="0" normalizeH="0" baseline="0" noProof="0">
                <a:ln>
                  <a:noFill/>
                </a:ln>
                <a:solidFill>
                  <a:srgbClr val="000000"/>
                </a:solidFill>
                <a:effectLst/>
                <a:uLnTx/>
                <a:uFillTx/>
                <a:latin typeface="Graphik"/>
                <a:ea typeface="+mn-ea"/>
                <a:cs typeface="+mn-cs"/>
              </a:rPr>
              <a:t>Los componentes de la pila son solo ejemplos. Otras opciones podrían ser aplicables</a:t>
            </a:r>
          </a:p>
        </p:txBody>
      </p:sp>
      <p:sp>
        <p:nvSpPr>
          <p:cNvPr id="84" name="Rectangle 83">
            <a:extLst>
              <a:ext uri="{FF2B5EF4-FFF2-40B4-BE49-F238E27FC236}">
                <a16:creationId xmlns:a16="http://schemas.microsoft.com/office/drawing/2014/main" id="{0B8802F2-C87F-7825-A8E0-0CD96948ADAA}"/>
              </a:ext>
            </a:extLst>
          </p:cNvPr>
          <p:cNvSpPr/>
          <p:nvPr/>
        </p:nvSpPr>
        <p:spPr>
          <a:xfrm>
            <a:off x="7860146" y="5899458"/>
            <a:ext cx="3439086" cy="205327"/>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Componentes principales de esta capacidad</a:t>
            </a:r>
          </a:p>
        </p:txBody>
      </p:sp>
      <p:sp>
        <p:nvSpPr>
          <p:cNvPr id="87" name="Rectangle 86">
            <a:extLst>
              <a:ext uri="{FF2B5EF4-FFF2-40B4-BE49-F238E27FC236}">
                <a16:creationId xmlns:a16="http://schemas.microsoft.com/office/drawing/2014/main" id="{FD3DCF6E-C344-B5B8-CA43-5BC91318562A}"/>
              </a:ext>
            </a:extLst>
          </p:cNvPr>
          <p:cNvSpPr/>
          <p:nvPr/>
        </p:nvSpPr>
        <p:spPr>
          <a:xfrm>
            <a:off x="7860146" y="6133610"/>
            <a:ext cx="3439086" cy="187603"/>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Componentes de otras capacidades relacionadas</a:t>
            </a:r>
          </a:p>
        </p:txBody>
      </p:sp>
      <p:sp>
        <p:nvSpPr>
          <p:cNvPr id="89" name="Rectangle 88">
            <a:extLst>
              <a:ext uri="{FF2B5EF4-FFF2-40B4-BE49-F238E27FC236}">
                <a16:creationId xmlns:a16="http://schemas.microsoft.com/office/drawing/2014/main" id="{9367D807-8EAD-080D-B114-7BAE5ABCF42E}"/>
              </a:ext>
            </a:extLst>
          </p:cNvPr>
          <p:cNvSpPr/>
          <p:nvPr/>
        </p:nvSpPr>
        <p:spPr>
          <a:xfrm>
            <a:off x="7860145" y="6350035"/>
            <a:ext cx="3439086" cy="165055"/>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Componentes funcionales relacionados con esta capacidad</a:t>
            </a:r>
          </a:p>
        </p:txBody>
      </p:sp>
      <p:sp>
        <p:nvSpPr>
          <p:cNvPr id="97" name="Rectangle 96">
            <a:extLst>
              <a:ext uri="{FF2B5EF4-FFF2-40B4-BE49-F238E27FC236}">
                <a16:creationId xmlns:a16="http://schemas.microsoft.com/office/drawing/2014/main" id="{EE4119F2-FD1D-4C5A-213D-7190B301ED1A}"/>
              </a:ext>
            </a:extLst>
          </p:cNvPr>
          <p:cNvSpPr/>
          <p:nvPr/>
        </p:nvSpPr>
        <p:spPr>
          <a:xfrm>
            <a:off x="1722663" y="2736012"/>
            <a:ext cx="658465" cy="329692"/>
          </a:xfrm>
          <a:prstGeom prst="rect">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FFFFFF"/>
                </a:solidFill>
                <a:effectLst/>
                <a:uLnTx/>
                <a:uFillTx/>
                <a:latin typeface="Graphik"/>
                <a:ea typeface="+mn-ea"/>
                <a:cs typeface="+mn-cs"/>
              </a:rPr>
              <a:t>Customizado o de terceros </a:t>
            </a:r>
          </a:p>
        </p:txBody>
      </p:sp>
    </p:spTree>
    <p:extLst>
      <p:ext uri="{BB962C8B-B14F-4D97-AF65-F5344CB8AC3E}">
        <p14:creationId xmlns:p14="http://schemas.microsoft.com/office/powerpoint/2010/main" val="151095499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B30DED-0894-96E2-449D-E76F8F7BEB1C}"/>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3593CE0E-28E7-15B3-1407-451674B47401}"/>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alpha val="65000"/>
                  </a:srgbClr>
                </a:solidFill>
                <a:effectLst/>
                <a:uLnTx/>
                <a:uFillTx/>
                <a:latin typeface="Graphik"/>
                <a:ea typeface="+mn-ea"/>
                <a:cs typeface="+mn-cs"/>
              </a:rPr>
              <a:t>Copyright © 2025 Accenture. Todos los derechos reservados.</a:t>
            </a:r>
          </a:p>
        </p:txBody>
      </p:sp>
      <p:sp>
        <p:nvSpPr>
          <p:cNvPr id="4" name="Title 1">
            <a:extLst>
              <a:ext uri="{FF2B5EF4-FFF2-40B4-BE49-F238E27FC236}">
                <a16:creationId xmlns:a16="http://schemas.microsoft.com/office/drawing/2014/main" id="{A1F10A77-8294-DE64-10EC-B300A73765D7}"/>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a:ln>
                  <a:noFill/>
                </a:ln>
                <a:solidFill>
                  <a:srgbClr val="7500C0"/>
                </a:solidFill>
                <a:effectLst/>
                <a:uLnTx/>
                <a:uFillTx/>
                <a:latin typeface="Graphik"/>
                <a:ea typeface="+mj-ea"/>
                <a:cs typeface="+mj-cs"/>
              </a:rPr>
              <a:t>Activo de Interoperabilidad </a:t>
            </a:r>
            <a:r>
              <a:rPr kumimoji="0" lang="es" sz="2400" b="1" i="0" u="none" strike="noStrike" kern="1200" cap="none" spc="0" normalizeH="0" baseline="0" noProof="0">
                <a:ln>
                  <a:noFill/>
                </a:ln>
                <a:solidFill>
                  <a:srgbClr val="000000"/>
                </a:solidFill>
                <a:effectLst/>
                <a:uLnTx/>
                <a:uFillTx/>
                <a:latin typeface="Graphik"/>
                <a:ea typeface="+mj-ea"/>
                <a:cs typeface="+mj-cs"/>
              </a:rPr>
              <a:t>| </a:t>
            </a:r>
            <a:r>
              <a:rPr kumimoji="0" lang="es" sz="2000" b="1" i="0" u="none" strike="noStrike" kern="1200" cap="none" spc="0" normalizeH="0" baseline="0" noProof="0">
                <a:ln>
                  <a:noFill/>
                </a:ln>
                <a:solidFill>
                  <a:srgbClr val="000000"/>
                </a:solidFill>
                <a:effectLst/>
                <a:uLnTx/>
                <a:uFillTx/>
                <a:latin typeface="Graphik"/>
                <a:ea typeface="+mj-ea"/>
                <a:cs typeface="+mj-cs"/>
              </a:rPr>
              <a:t>Escenarios de gestión de transacciones</a:t>
            </a:r>
            <a:endParaRPr kumimoji="0" lang="es" sz="2400" b="1" i="0" u="none" strike="noStrike" kern="1200" cap="none" spc="0" normalizeH="0" baseline="0" noProof="0">
              <a:ln>
                <a:noFill/>
              </a:ln>
              <a:solidFill>
                <a:srgbClr val="000000"/>
              </a:solidFill>
              <a:effectLst/>
              <a:uLnTx/>
              <a:uFillTx/>
              <a:latin typeface="Graphik"/>
              <a:ea typeface="+mj-ea"/>
              <a:cs typeface="+mj-cs"/>
            </a:endParaRPr>
          </a:p>
        </p:txBody>
      </p:sp>
      <p:sp>
        <p:nvSpPr>
          <p:cNvPr id="5" name="Content Placeholder 34">
            <a:extLst>
              <a:ext uri="{FF2B5EF4-FFF2-40B4-BE49-F238E27FC236}">
                <a16:creationId xmlns:a16="http://schemas.microsoft.com/office/drawing/2014/main" id="{CE62231C-85B5-3C4B-7886-5743BF2E714C}"/>
              </a:ext>
            </a:extLst>
          </p:cNvPr>
          <p:cNvSpPr txBox="1">
            <a:spLocks/>
          </p:cNvSpPr>
          <p:nvPr/>
        </p:nvSpPr>
        <p:spPr>
          <a:xfrm>
            <a:off x="285990" y="641993"/>
            <a:ext cx="11430000" cy="246221"/>
          </a:xfrm>
          <a:prstGeom prst="rect">
            <a:avLst/>
          </a:prstGeom>
        </p:spPr>
        <p:txBody>
          <a:bodyPr/>
          <a:lstStyle>
            <a:lvl1pPr marL="228600" indent="-228600" algn="l" defTabSz="228600" rtl="0" eaLnBrk="1" latinLnBrk="0" hangingPunct="1">
              <a:lnSpc>
                <a:spcPct val="100000"/>
              </a:lnSpc>
              <a:spcBef>
                <a:spcPts val="0"/>
              </a:spcBef>
              <a:spcAft>
                <a:spcPts val="600"/>
              </a:spcAft>
              <a:buFont typeface="Arial"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Arial"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Arial"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Arial"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Arial"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Arial" panose="020B0604020202020204" pitchFamily="34" charset="0"/>
              <a:buNone/>
              <a:defRPr sz="800" kern="1200">
                <a:solidFill>
                  <a:schemeClr val="tx2"/>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s" sz="1600" b="1" i="0" u="none" strike="noStrike" kern="1200" cap="none" spc="0" normalizeH="0" baseline="0" noProof="0">
                <a:ln>
                  <a:noFill/>
                </a:ln>
                <a:solidFill>
                  <a:srgbClr val="7500C0"/>
                </a:solidFill>
                <a:effectLst/>
                <a:uLnTx/>
                <a:uFillTx/>
                <a:latin typeface="Graphik" panose="020B0503030202060203" pitchFamily="34" charset="0"/>
                <a:ea typeface="+mn-ea"/>
                <a:cs typeface="+mn-cs"/>
              </a:rPr>
              <a:t>Patrón de Saga Orquestado</a:t>
            </a:r>
          </a:p>
        </p:txBody>
      </p:sp>
      <p:grpSp>
        <p:nvGrpSpPr>
          <p:cNvPr id="89" name="Group 88">
            <a:extLst>
              <a:ext uri="{FF2B5EF4-FFF2-40B4-BE49-F238E27FC236}">
                <a16:creationId xmlns:a16="http://schemas.microsoft.com/office/drawing/2014/main" id="{58FE84ED-482A-7BC7-8CD6-FB782C3D94AC}"/>
              </a:ext>
            </a:extLst>
          </p:cNvPr>
          <p:cNvGrpSpPr/>
          <p:nvPr/>
        </p:nvGrpSpPr>
        <p:grpSpPr>
          <a:xfrm>
            <a:off x="470693" y="4002525"/>
            <a:ext cx="2256649" cy="1008057"/>
            <a:chOff x="381001" y="3948617"/>
            <a:chExt cx="2256649" cy="1008057"/>
          </a:xfrm>
        </p:grpSpPr>
        <p:sp>
          <p:nvSpPr>
            <p:cNvPr id="90" name="Cylinder 89">
              <a:extLst>
                <a:ext uri="{FF2B5EF4-FFF2-40B4-BE49-F238E27FC236}">
                  <a16:creationId xmlns:a16="http://schemas.microsoft.com/office/drawing/2014/main" id="{4DC9732F-49B2-28C6-727C-1B1A39D90EF7}"/>
                </a:ext>
              </a:extLst>
            </p:cNvPr>
            <p:cNvSpPr/>
            <p:nvPr/>
          </p:nvSpPr>
          <p:spPr>
            <a:xfrm>
              <a:off x="381001" y="4479004"/>
              <a:ext cx="1341022" cy="477670"/>
            </a:xfrm>
            <a:prstGeom prst="can">
              <a:avLst>
                <a:gd name="adj" fmla="val 15538"/>
              </a:avLst>
            </a:prstGeom>
            <a:solidFill>
              <a:schemeClr val="bg1">
                <a:lumMod val="75000"/>
              </a:schemeClr>
            </a:solidFill>
            <a:ln w="3175">
              <a:solidFill>
                <a:schemeClr val="tx1">
                  <a:lumMod val="50000"/>
                  <a:lumOff val="50000"/>
                </a:schemeClr>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600" b="1" i="0" u="none" strike="noStrike" kern="1200" cap="none" spc="0" normalizeH="0" baseline="0" noProof="0" dirty="0">
                  <a:ln>
                    <a:noFill/>
                  </a:ln>
                  <a:solidFill>
                    <a:srgbClr val="000000">
                      <a:lumMod val="50000"/>
                      <a:lumOff val="50000"/>
                    </a:srgbClr>
                  </a:solidFill>
                  <a:effectLst/>
                  <a:uLnTx/>
                  <a:uFillTx/>
                  <a:latin typeface="Graphik" panose="020B0503030202060203" pitchFamily="34" charset="77"/>
                  <a:ea typeface="+mn-ea"/>
                  <a:cs typeface="+mn-cs"/>
                </a:rPr>
                <a:t>Oracle</a:t>
              </a:r>
            </a:p>
          </p:txBody>
        </p:sp>
        <p:sp>
          <p:nvSpPr>
            <p:cNvPr id="91" name="Rectangle 90">
              <a:extLst>
                <a:ext uri="{FF2B5EF4-FFF2-40B4-BE49-F238E27FC236}">
                  <a16:creationId xmlns:a16="http://schemas.microsoft.com/office/drawing/2014/main" id="{3ADE88C6-B4C6-5B2A-FC06-5AF815D304DB}"/>
                </a:ext>
              </a:extLst>
            </p:cNvPr>
            <p:cNvSpPr/>
            <p:nvPr/>
          </p:nvSpPr>
          <p:spPr>
            <a:xfrm>
              <a:off x="1773650" y="3948617"/>
              <a:ext cx="864000" cy="1002206"/>
            </a:xfrm>
            <a:prstGeom prst="rect">
              <a:avLst/>
            </a:prstGeom>
            <a:solidFill>
              <a:schemeClr val="tx1">
                <a:lumMod val="50000"/>
                <a:lumOff val="50000"/>
              </a:schemeClr>
            </a:solidFill>
            <a:ln w="19050">
              <a:no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lIns="0" r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000" b="1" i="0" u="none" strike="noStrike" kern="1200" cap="none" spc="0" normalizeH="0" baseline="0" noProof="0">
                  <a:ln>
                    <a:noFill/>
                  </a:ln>
                  <a:solidFill>
                    <a:srgbClr val="FFFFFF"/>
                  </a:solidFill>
                  <a:effectLst/>
                  <a:uLnTx/>
                  <a:uFillTx/>
                  <a:latin typeface="Graphik" panose="020B0503030202060203" pitchFamily="34" charset="77"/>
                  <a:ea typeface="+mn-ea"/>
                  <a:cs typeface="+mn-cs"/>
                </a:rPr>
                <a:t>Mainframe</a:t>
              </a:r>
            </a:p>
          </p:txBody>
        </p:sp>
        <p:sp>
          <p:nvSpPr>
            <p:cNvPr id="92" name="Flowchart: Magnetic Disk 91">
              <a:extLst>
                <a:ext uri="{FF2B5EF4-FFF2-40B4-BE49-F238E27FC236}">
                  <a16:creationId xmlns:a16="http://schemas.microsoft.com/office/drawing/2014/main" id="{A5633A25-DD3B-1103-85C9-094FF45FC693}"/>
                </a:ext>
              </a:extLst>
            </p:cNvPr>
            <p:cNvSpPr/>
            <p:nvPr/>
          </p:nvSpPr>
          <p:spPr>
            <a:xfrm>
              <a:off x="1900290" y="4297571"/>
              <a:ext cx="610720" cy="537424"/>
            </a:xfrm>
            <a:prstGeom prst="flowChartMagneticDisk">
              <a:avLst/>
            </a:prstGeom>
            <a:solidFill>
              <a:schemeClr val="bg1">
                <a:lumMod val="8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90526" tIns="45262" rIns="90526" bIns="45262"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000" b="0" i="0" u="none" strike="noStrike" kern="1200" cap="none" spc="0" normalizeH="0" baseline="0" noProof="0">
                  <a:ln>
                    <a:noFill/>
                  </a:ln>
                  <a:solidFill>
                    <a:srgbClr val="E6E6DC">
                      <a:lumMod val="25000"/>
                    </a:srgbClr>
                  </a:solidFill>
                  <a:effectLst/>
                  <a:uLnTx/>
                  <a:uFillTx/>
                  <a:latin typeface="Arial" panose="020B0604020202020204" pitchFamily="34" charset="0"/>
                  <a:ea typeface="+mn-ea"/>
                  <a:cs typeface="Arial" panose="020B0604020202020204" pitchFamily="34" charset="0"/>
                </a:rPr>
                <a:t>DB2</a:t>
              </a:r>
            </a:p>
          </p:txBody>
        </p:sp>
        <p:sp>
          <p:nvSpPr>
            <p:cNvPr id="93" name="Rectangle 92">
              <a:extLst>
                <a:ext uri="{FF2B5EF4-FFF2-40B4-BE49-F238E27FC236}">
                  <a16:creationId xmlns:a16="http://schemas.microsoft.com/office/drawing/2014/main" id="{6C2445C1-B08E-7293-CBB6-616B4A6B20EF}"/>
                </a:ext>
              </a:extLst>
            </p:cNvPr>
            <p:cNvSpPr/>
            <p:nvPr/>
          </p:nvSpPr>
          <p:spPr>
            <a:xfrm>
              <a:off x="386442" y="3948617"/>
              <a:ext cx="1330140" cy="477671"/>
            </a:xfrm>
            <a:prstGeom prst="rect">
              <a:avLst/>
            </a:prstGeom>
            <a:solidFill>
              <a:srgbClr val="FFCC99"/>
            </a:solidFill>
            <a:ln w="9525">
              <a:solidFill>
                <a:schemeClr val="bg1">
                  <a:lumMod val="9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Ins="252000" rtlCol="0" anchor="t"/>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s-ES" sz="800" b="1" i="0" u="none" strike="noStrike" kern="1200" cap="none" spc="0" normalizeH="0" baseline="0" noProof="0">
                <a:ln>
                  <a:noFill/>
                </a:ln>
                <a:solidFill>
                  <a:srgbClr val="000000">
                    <a:lumMod val="75000"/>
                    <a:lumOff val="25000"/>
                  </a:srgbClr>
                </a:solidFill>
                <a:effectLst/>
                <a:uLnTx/>
                <a:uFillTx/>
                <a:latin typeface="Arial" charset="0"/>
                <a:ea typeface="+mn-ea"/>
                <a:cs typeface="Arial" charset="0"/>
              </a:endParaRPr>
            </a:p>
          </p:txBody>
        </p:sp>
        <p:sp>
          <p:nvSpPr>
            <p:cNvPr id="94" name="Cylinder 93">
              <a:extLst>
                <a:ext uri="{FF2B5EF4-FFF2-40B4-BE49-F238E27FC236}">
                  <a16:creationId xmlns:a16="http://schemas.microsoft.com/office/drawing/2014/main" id="{F657D3D2-DF1F-1247-EDE7-317D101ADF9E}"/>
                </a:ext>
              </a:extLst>
            </p:cNvPr>
            <p:cNvSpPr/>
            <p:nvPr/>
          </p:nvSpPr>
          <p:spPr>
            <a:xfrm>
              <a:off x="793052" y="4590360"/>
              <a:ext cx="572703" cy="329853"/>
            </a:xfrm>
            <a:prstGeom prst="can">
              <a:avLst/>
            </a:prstGeom>
            <a:solidFill>
              <a:schemeClr val="bg1">
                <a:lumMod val="95000"/>
              </a:schemeClr>
            </a:solidFill>
            <a:ln w="9525">
              <a:solidFill>
                <a:schemeClr val="tx1">
                  <a:lumMod val="50000"/>
                  <a:lumOff val="50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600" b="1" i="0" u="none" strike="noStrike" kern="1200" cap="none" spc="0" normalizeH="0" baseline="0" noProof="0" dirty="0">
                  <a:ln>
                    <a:noFill/>
                  </a:ln>
                  <a:solidFill>
                    <a:srgbClr val="000000">
                      <a:lumMod val="50000"/>
                      <a:lumOff val="50000"/>
                    </a:srgbClr>
                  </a:solidFill>
                  <a:effectLst/>
                  <a:uLnTx/>
                  <a:uFillTx/>
                  <a:latin typeface="Graphik" panose="020B0503030202060203" pitchFamily="34" charset="77"/>
                  <a:ea typeface="+mn-ea"/>
                  <a:cs typeface="+mn-cs"/>
                </a:rPr>
                <a:t>Esquema de la base de datos</a:t>
              </a:r>
              <a:endParaRPr kumimoji="0" lang="es-ES" sz="600" b="1" i="0" u="none" strike="noStrike" kern="1200" cap="none" spc="0" normalizeH="0" baseline="0" noProof="0" dirty="0">
                <a:ln>
                  <a:noFill/>
                </a:ln>
                <a:solidFill>
                  <a:srgbClr val="000000">
                    <a:lumMod val="50000"/>
                    <a:lumOff val="50000"/>
                  </a:srgbClr>
                </a:solidFill>
                <a:effectLst/>
                <a:uLnTx/>
                <a:uFillTx/>
                <a:latin typeface="Graphik" panose="020B0503030202060203" pitchFamily="34" charset="77"/>
                <a:ea typeface="+mn-ea"/>
                <a:cs typeface="+mn-cs"/>
              </a:endParaRPr>
            </a:p>
          </p:txBody>
        </p:sp>
        <p:sp>
          <p:nvSpPr>
            <p:cNvPr id="95" name="Rectangle 94">
              <a:extLst>
                <a:ext uri="{FF2B5EF4-FFF2-40B4-BE49-F238E27FC236}">
                  <a16:creationId xmlns:a16="http://schemas.microsoft.com/office/drawing/2014/main" id="{98A5B844-59E1-EC22-B0F3-9F1D77813B02}"/>
                </a:ext>
              </a:extLst>
            </p:cNvPr>
            <p:cNvSpPr/>
            <p:nvPr/>
          </p:nvSpPr>
          <p:spPr>
            <a:xfrm>
              <a:off x="574757" y="3993614"/>
              <a:ext cx="953511" cy="387674"/>
            </a:xfrm>
            <a:prstGeom prst="rect">
              <a:avLst/>
            </a:prstGeom>
            <a:solidFill>
              <a:srgbClr val="E3DED1">
                <a:lumMod val="90000"/>
              </a:srgbClr>
            </a:solidFill>
            <a:ln w="12700" cap="flat" cmpd="sng" algn="ctr">
              <a:solidFill>
                <a:sysClr val="window" lastClr="FFFFFF">
                  <a:lumMod val="95000"/>
                </a:sysClr>
              </a:solidFill>
              <a:prstDash val="sysDot"/>
              <a:headEnd type="none" w="med" len="med"/>
              <a:tailEnd type="none" w="med" len="med"/>
            </a:ln>
            <a:effectLst/>
          </p:spPr>
          <p:txBody>
            <a:bodyPr t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1" i="0" u="none" strike="noStrike" kern="0" cap="none" spc="0" normalizeH="0" baseline="0" noProof="0" err="1">
                  <a:ln>
                    <a:noFill/>
                  </a:ln>
                  <a:solidFill>
                    <a:prstClr val="white"/>
                  </a:solidFill>
                  <a:effectLst/>
                  <a:uLnTx/>
                  <a:uFillTx/>
                  <a:latin typeface="Graphik" panose="020B0503030202060203" pitchFamily="34" charset="77"/>
                  <a:ea typeface="+mn-ea"/>
                  <a:cs typeface="+mn-cs"/>
                </a:rPr>
                <a:t>Subdominio</a:t>
              </a:r>
              <a:endParaRPr kumimoji="0" lang="es-ES" sz="700" b="1" i="0" u="none" strike="noStrike" kern="0" cap="none" spc="0" normalizeH="0" baseline="0" noProof="0">
                <a:ln>
                  <a:noFill/>
                </a:ln>
                <a:solidFill>
                  <a:prstClr val="white"/>
                </a:solidFill>
                <a:effectLst/>
                <a:uLnTx/>
                <a:uFillTx/>
                <a:latin typeface="Graphik" panose="020B0503030202060203" pitchFamily="34" charset="77"/>
                <a:ea typeface="+mn-ea"/>
                <a:cs typeface="+mn-cs"/>
              </a:endParaRPr>
            </a:p>
          </p:txBody>
        </p:sp>
        <p:sp>
          <p:nvSpPr>
            <p:cNvPr id="96" name="Oval 95">
              <a:extLst>
                <a:ext uri="{FF2B5EF4-FFF2-40B4-BE49-F238E27FC236}">
                  <a16:creationId xmlns:a16="http://schemas.microsoft.com/office/drawing/2014/main" id="{9B36AB16-0733-9052-3674-C7056FB9C7E6}"/>
                </a:ext>
              </a:extLst>
            </p:cNvPr>
            <p:cNvSpPr/>
            <p:nvPr/>
          </p:nvSpPr>
          <p:spPr bwMode="auto">
            <a:xfrm>
              <a:off x="793534" y="4151679"/>
              <a:ext cx="515957" cy="200645"/>
            </a:xfrm>
            <a:prstGeom prst="ellipse">
              <a:avLst/>
            </a:prstGeom>
            <a:solidFill>
              <a:schemeClr val="accent2">
                <a:lumMod val="20000"/>
                <a:lumOff val="80000"/>
              </a:schemeClr>
            </a:solidFill>
            <a:ln w="6350">
              <a:solidFill>
                <a:schemeClr val="bg1"/>
              </a:solidFill>
              <a:prstDash val="solid"/>
              <a:miter lim="800000"/>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ct val="30000"/>
                </a:spcBef>
                <a:spcAft>
                  <a:spcPts val="0"/>
                </a:spcAft>
                <a:buClrTx/>
                <a:buSzTx/>
                <a:buFontTx/>
                <a:buNone/>
                <a:tabLst/>
                <a:defRPr/>
              </a:pPr>
              <a:r>
                <a:rPr kumimoji="0" lang="es" sz="600" b="1" i="0" u="none" strike="noStrike" kern="1200" cap="none" spc="0" normalizeH="0" baseline="0" noProof="0">
                  <a:ln>
                    <a:noFill/>
                  </a:ln>
                  <a:solidFill>
                    <a:srgbClr val="000000">
                      <a:lumMod val="65000"/>
                      <a:lumOff val="35000"/>
                    </a:srgbClr>
                  </a:solidFill>
                  <a:effectLst/>
                  <a:uLnTx/>
                  <a:uFillTx/>
                  <a:latin typeface="Graphik" panose="020B0503030202060203" pitchFamily="34" charset="0"/>
                  <a:ea typeface="+mn-ea"/>
                  <a:cs typeface="+mn-cs"/>
                </a:rPr>
                <a:t>Servicio</a:t>
              </a:r>
            </a:p>
          </p:txBody>
        </p:sp>
        <p:cxnSp>
          <p:nvCxnSpPr>
            <p:cNvPr id="97" name="Straight Arrow Connector 96">
              <a:extLst>
                <a:ext uri="{FF2B5EF4-FFF2-40B4-BE49-F238E27FC236}">
                  <a16:creationId xmlns:a16="http://schemas.microsoft.com/office/drawing/2014/main" id="{7B5F3A8B-BE94-21FB-A790-BBACDF316F0F}"/>
                </a:ext>
              </a:extLst>
            </p:cNvPr>
            <p:cNvCxnSpPr>
              <a:cxnSpLocks/>
            </p:cNvCxnSpPr>
            <p:nvPr/>
          </p:nvCxnSpPr>
          <p:spPr>
            <a:xfrm>
              <a:off x="1051512" y="4347590"/>
              <a:ext cx="0" cy="262829"/>
            </a:xfrm>
            <a:prstGeom prst="straightConnector1">
              <a:avLst/>
            </a:prstGeom>
            <a:ln w="9525">
              <a:solidFill>
                <a:srgbClr val="00530A"/>
              </a:solidFill>
              <a:tailEnd type="triangle"/>
            </a:ln>
          </p:spPr>
          <p:style>
            <a:lnRef idx="1">
              <a:schemeClr val="accent1"/>
            </a:lnRef>
            <a:fillRef idx="0">
              <a:schemeClr val="accent1"/>
            </a:fillRef>
            <a:effectRef idx="0">
              <a:schemeClr val="accent1"/>
            </a:effectRef>
            <a:fontRef idx="minor">
              <a:schemeClr val="tx1"/>
            </a:fontRef>
          </p:style>
        </p:cxnSp>
      </p:grpSp>
      <p:sp>
        <p:nvSpPr>
          <p:cNvPr id="98" name="Text Placeholder 4">
            <a:extLst>
              <a:ext uri="{FF2B5EF4-FFF2-40B4-BE49-F238E27FC236}">
                <a16:creationId xmlns:a16="http://schemas.microsoft.com/office/drawing/2014/main" id="{0E1789D3-4A75-9A79-6BA8-ABF62BBF00C5}"/>
              </a:ext>
            </a:extLst>
          </p:cNvPr>
          <p:cNvSpPr txBox="1">
            <a:spLocks/>
          </p:cNvSpPr>
          <p:nvPr/>
        </p:nvSpPr>
        <p:spPr>
          <a:xfrm>
            <a:off x="189663" y="1348742"/>
            <a:ext cx="2818709" cy="797457"/>
          </a:xfrm>
          <a:prstGeom prst="rect">
            <a:avLst/>
          </a:prstGeom>
        </p:spPr>
        <p:txBody>
          <a:bodyPr vert="horz" lIns="0" tIns="0" rIns="0" bIns="0" rtlCol="0" anchor="ctr">
            <a:noAutofit/>
          </a:bodyPr>
          <a:lstStyle>
            <a:lvl1pPr marL="0" indent="0" algn="l" rtl="0" eaLnBrk="1" fontAlgn="base" hangingPunct="1">
              <a:lnSpc>
                <a:spcPct val="110000"/>
              </a:lnSpc>
              <a:spcBef>
                <a:spcPts val="1200"/>
              </a:spcBef>
              <a:spcAft>
                <a:spcPct val="0"/>
              </a:spcAft>
              <a:buFont typeface="Arial" pitchFamily="34" charset="0"/>
              <a:buNone/>
              <a:defRPr lang="en-US" sz="1600" b="1" i="0" kern="1200" cap="all" baseline="0" dirty="0">
                <a:solidFill>
                  <a:schemeClr val="accent1"/>
                </a:solidFill>
                <a:latin typeface="Graphik" panose="020B0503030202060203" pitchFamily="34" charset="77"/>
                <a:ea typeface="Roboto" panose="02000000000000000000" pitchFamily="2" charset="0"/>
                <a:cs typeface="Arial" panose="020B0604020202020204" pitchFamily="34" charset="0"/>
              </a:defRPr>
            </a:lvl1pPr>
            <a:lvl2pPr marL="216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2pPr>
            <a:lvl3pPr marL="432000" indent="-216000" algn="l" rtl="0" eaLnBrk="1" fontAlgn="base" hangingPunct="1">
              <a:lnSpc>
                <a:spcPct val="110000"/>
              </a:lnSpc>
              <a:spcBef>
                <a:spcPts val="800"/>
              </a:spcBef>
              <a:spcAft>
                <a:spcPct val="0"/>
              </a:spcAft>
              <a:buFont typeface="Arial" pitchFamily="34" charset="0"/>
              <a:buChar char="‒"/>
              <a:tabLst/>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3pPr>
            <a:lvl4pPr marL="612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4pPr>
            <a:lvl5pPr marL="864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5pPr>
            <a:lvl6pPr marL="3351933"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376"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0819"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261"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ts val="0"/>
              </a:spcBef>
              <a:spcAft>
                <a:spcPct val="0"/>
              </a:spcAft>
              <a:buClrTx/>
              <a:buSzTx/>
              <a:buFont typeface="Arial" pitchFamily="34" charset="0"/>
              <a:buNone/>
              <a:tabLst/>
              <a:defRPr/>
            </a:pPr>
            <a:r>
              <a:rPr kumimoji="0" lang="es" sz="1200" b="1" i="0" u="none" strike="noStrike" kern="1200" cap="all" spc="0" normalizeH="0" baseline="0" noProof="0">
                <a:ln>
                  <a:noFill/>
                </a:ln>
                <a:solidFill>
                  <a:srgbClr val="00D700"/>
                </a:solidFill>
                <a:effectLst/>
                <a:uLnTx/>
                <a:uFillTx/>
                <a:latin typeface="Graphik" panose="020B0503030202060203" pitchFamily="34" charset="77"/>
                <a:ea typeface="Roboto" panose="02000000000000000000" pitchFamily="2" charset="0"/>
                <a:cs typeface="Arial" panose="020B0604020202020204" pitchFamily="34" charset="0"/>
              </a:rPr>
              <a:t>Transacción 2PC dentro del mismo Servicio </a:t>
            </a:r>
            <a:br>
              <a:rPr kumimoji="0" lang="en-US" sz="1200" b="1" i="0" u="none" strike="noStrike" kern="1200" cap="all" spc="0" normalizeH="0" baseline="0" noProof="0">
                <a:ln>
                  <a:noFill/>
                </a:ln>
                <a:solidFill>
                  <a:srgbClr val="00D700"/>
                </a:solidFill>
                <a:effectLst/>
                <a:uLnTx/>
                <a:uFillTx/>
                <a:latin typeface="Graphik" panose="020B0503030202060203" pitchFamily="34" charset="77"/>
                <a:ea typeface="Roboto" panose="02000000000000000000" pitchFamily="2" charset="0"/>
                <a:cs typeface="Arial" panose="020B0604020202020204" pitchFamily="34" charset="0"/>
              </a:rPr>
            </a:br>
            <a:r>
              <a:rPr kumimoji="0" lang="es" sz="1200" b="1" i="0" u="none" strike="noStrike" kern="1200" cap="all" spc="0" normalizeH="0" baseline="0" noProof="0">
                <a:ln>
                  <a:noFill/>
                </a:ln>
                <a:solidFill>
                  <a:srgbClr val="00D700"/>
                </a:solidFill>
                <a:effectLst/>
                <a:uLnTx/>
                <a:uFillTx/>
                <a:latin typeface="Graphik" panose="020B0503030202060203" pitchFamily="34" charset="77"/>
                <a:ea typeface="Roboto" panose="02000000000000000000" pitchFamily="2" charset="0"/>
                <a:cs typeface="Arial" panose="020B0604020202020204" pitchFamily="34" charset="0"/>
              </a:rPr>
              <a:t>(Negocio u Orquestación)</a:t>
            </a:r>
            <a:endParaRPr kumimoji="0" lang="es-ES" sz="1600" b="1" i="0" u="none" strike="noStrike" kern="1200" cap="all" spc="0" normalizeH="0" baseline="0" noProof="0">
              <a:ln>
                <a:noFill/>
              </a:ln>
              <a:solidFill>
                <a:srgbClr val="00D700"/>
              </a:solidFill>
              <a:effectLst/>
              <a:uLnTx/>
              <a:uFillTx/>
              <a:latin typeface="Graphik" panose="020B0503030202060203" pitchFamily="34" charset="77"/>
              <a:ea typeface="Roboto" panose="02000000000000000000" pitchFamily="2" charset="0"/>
              <a:cs typeface="Arial" panose="020B0604020202020204" pitchFamily="34" charset="0"/>
            </a:endParaRPr>
          </a:p>
        </p:txBody>
      </p:sp>
      <p:grpSp>
        <p:nvGrpSpPr>
          <p:cNvPr id="99" name="Group 98">
            <a:extLst>
              <a:ext uri="{FF2B5EF4-FFF2-40B4-BE49-F238E27FC236}">
                <a16:creationId xmlns:a16="http://schemas.microsoft.com/office/drawing/2014/main" id="{944FB187-2768-326E-0233-C7EAD4C01D7C}"/>
              </a:ext>
            </a:extLst>
          </p:cNvPr>
          <p:cNvGrpSpPr/>
          <p:nvPr/>
        </p:nvGrpSpPr>
        <p:grpSpPr>
          <a:xfrm>
            <a:off x="3221740" y="3996674"/>
            <a:ext cx="2638760" cy="1764771"/>
            <a:chOff x="3176138" y="3942766"/>
            <a:chExt cx="2638760" cy="1764771"/>
          </a:xfrm>
        </p:grpSpPr>
        <p:sp>
          <p:nvSpPr>
            <p:cNvPr id="100" name="Cylinder 99">
              <a:extLst>
                <a:ext uri="{FF2B5EF4-FFF2-40B4-BE49-F238E27FC236}">
                  <a16:creationId xmlns:a16="http://schemas.microsoft.com/office/drawing/2014/main" id="{6E41A6F4-265C-A7F4-00CC-908C84B5CEE8}"/>
                </a:ext>
              </a:extLst>
            </p:cNvPr>
            <p:cNvSpPr/>
            <p:nvPr/>
          </p:nvSpPr>
          <p:spPr>
            <a:xfrm>
              <a:off x="3176138" y="5229867"/>
              <a:ext cx="1723025" cy="477670"/>
            </a:xfrm>
            <a:prstGeom prst="can">
              <a:avLst>
                <a:gd name="adj" fmla="val 15538"/>
              </a:avLst>
            </a:prstGeom>
            <a:solidFill>
              <a:schemeClr val="bg1">
                <a:lumMod val="75000"/>
              </a:schemeClr>
            </a:solidFill>
            <a:ln w="3175">
              <a:solidFill>
                <a:schemeClr val="tx1">
                  <a:lumMod val="50000"/>
                  <a:lumOff val="50000"/>
                </a:schemeClr>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600" b="1" i="0" u="none" strike="noStrike" kern="1200" cap="none" spc="0" normalizeH="0" baseline="0" noProof="0" dirty="0">
                  <a:ln>
                    <a:noFill/>
                  </a:ln>
                  <a:solidFill>
                    <a:srgbClr val="000000">
                      <a:lumMod val="50000"/>
                      <a:lumOff val="50000"/>
                    </a:srgbClr>
                  </a:solidFill>
                  <a:effectLst/>
                  <a:uLnTx/>
                  <a:uFillTx/>
                  <a:latin typeface="Graphik" panose="020B0503030202060203" pitchFamily="34" charset="77"/>
                  <a:ea typeface="+mn-ea"/>
                  <a:cs typeface="+mn-cs"/>
                </a:rPr>
                <a:t>Oracle</a:t>
              </a:r>
              <a:endParaRPr kumimoji="0" lang="es" sz="600" b="1" i="0" u="none" strike="noStrike" kern="1200" cap="none" spc="0" normalizeH="0" baseline="0" noProof="0" dirty="0">
                <a:ln>
                  <a:noFill/>
                </a:ln>
                <a:solidFill>
                  <a:srgbClr val="000000">
                    <a:lumMod val="50000"/>
                    <a:lumOff val="50000"/>
                  </a:srgbClr>
                </a:solidFill>
                <a:effectLst/>
                <a:uLnTx/>
                <a:uFillTx/>
                <a:latin typeface="Graphik" panose="020B0503030202060203" pitchFamily="34" charset="77"/>
                <a:ea typeface="+mn-ea"/>
                <a:cs typeface="+mn-cs"/>
              </a:endParaRPr>
            </a:p>
          </p:txBody>
        </p:sp>
        <p:sp>
          <p:nvSpPr>
            <p:cNvPr id="101" name="Rectangle 100">
              <a:extLst>
                <a:ext uri="{FF2B5EF4-FFF2-40B4-BE49-F238E27FC236}">
                  <a16:creationId xmlns:a16="http://schemas.microsoft.com/office/drawing/2014/main" id="{0972B8D9-33F4-DE69-AA66-31495BDB5AF4}"/>
                </a:ext>
              </a:extLst>
            </p:cNvPr>
            <p:cNvSpPr/>
            <p:nvPr/>
          </p:nvSpPr>
          <p:spPr>
            <a:xfrm>
              <a:off x="4950898" y="3942766"/>
              <a:ext cx="864000" cy="1002206"/>
            </a:xfrm>
            <a:prstGeom prst="rect">
              <a:avLst/>
            </a:prstGeom>
            <a:solidFill>
              <a:schemeClr val="tx1">
                <a:lumMod val="50000"/>
                <a:lumOff val="50000"/>
              </a:schemeClr>
            </a:solidFill>
            <a:ln w="19050">
              <a:no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lIns="0" r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000" b="1" i="0" u="none" strike="noStrike" kern="1200" cap="none" spc="0" normalizeH="0" baseline="0" noProof="0">
                  <a:ln>
                    <a:noFill/>
                  </a:ln>
                  <a:solidFill>
                    <a:srgbClr val="FFFFFF"/>
                  </a:solidFill>
                  <a:effectLst/>
                  <a:uLnTx/>
                  <a:uFillTx/>
                  <a:latin typeface="Graphik" panose="020B0503030202060203" pitchFamily="34" charset="77"/>
                  <a:ea typeface="+mn-ea"/>
                  <a:cs typeface="+mn-cs"/>
                </a:rPr>
                <a:t>Mainframe</a:t>
              </a:r>
            </a:p>
          </p:txBody>
        </p:sp>
        <p:sp>
          <p:nvSpPr>
            <p:cNvPr id="102" name="Flowchart: Magnetic Disk 101">
              <a:extLst>
                <a:ext uri="{FF2B5EF4-FFF2-40B4-BE49-F238E27FC236}">
                  <a16:creationId xmlns:a16="http://schemas.microsoft.com/office/drawing/2014/main" id="{61874D7A-9575-66ED-0B60-C26E4E60E610}"/>
                </a:ext>
              </a:extLst>
            </p:cNvPr>
            <p:cNvSpPr/>
            <p:nvPr/>
          </p:nvSpPr>
          <p:spPr>
            <a:xfrm>
              <a:off x="5077538" y="4291720"/>
              <a:ext cx="610720" cy="537424"/>
            </a:xfrm>
            <a:prstGeom prst="flowChartMagneticDisk">
              <a:avLst/>
            </a:prstGeom>
            <a:solidFill>
              <a:schemeClr val="bg1">
                <a:lumMod val="8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90526" tIns="45262" rIns="90526" bIns="45262"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000" b="0" i="0" u="none" strike="noStrike" kern="1200" cap="none" spc="0" normalizeH="0" baseline="0" noProof="0">
                  <a:ln>
                    <a:noFill/>
                  </a:ln>
                  <a:solidFill>
                    <a:srgbClr val="E6E6DC">
                      <a:lumMod val="25000"/>
                    </a:srgbClr>
                  </a:solidFill>
                  <a:effectLst/>
                  <a:uLnTx/>
                  <a:uFillTx/>
                  <a:latin typeface="Arial" panose="020B0604020202020204" pitchFamily="34" charset="0"/>
                  <a:ea typeface="+mn-ea"/>
                  <a:cs typeface="Arial" panose="020B0604020202020204" pitchFamily="34" charset="0"/>
                </a:rPr>
                <a:t>DB2</a:t>
              </a:r>
            </a:p>
          </p:txBody>
        </p:sp>
        <p:sp>
          <p:nvSpPr>
            <p:cNvPr id="103" name="Rectangle 102">
              <a:extLst>
                <a:ext uri="{FF2B5EF4-FFF2-40B4-BE49-F238E27FC236}">
                  <a16:creationId xmlns:a16="http://schemas.microsoft.com/office/drawing/2014/main" id="{47987052-1B34-A4FF-258F-F6BF5BAF4495}"/>
                </a:ext>
              </a:extLst>
            </p:cNvPr>
            <p:cNvSpPr/>
            <p:nvPr/>
          </p:nvSpPr>
          <p:spPr>
            <a:xfrm>
              <a:off x="3176139" y="3942766"/>
              <a:ext cx="1723025" cy="1181684"/>
            </a:xfrm>
            <a:prstGeom prst="rect">
              <a:avLst/>
            </a:prstGeom>
            <a:solidFill>
              <a:srgbClr val="FFCC99"/>
            </a:solidFill>
            <a:ln w="9525">
              <a:solidFill>
                <a:schemeClr val="bg1">
                  <a:lumMod val="9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Ins="252000" rtlCol="0" anchor="t"/>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s-ES" sz="800" b="1" i="0" u="none" strike="noStrike" kern="1200" cap="none" spc="0" normalizeH="0" baseline="0" noProof="0">
                <a:ln>
                  <a:noFill/>
                </a:ln>
                <a:solidFill>
                  <a:srgbClr val="000000">
                    <a:lumMod val="75000"/>
                    <a:lumOff val="25000"/>
                  </a:srgbClr>
                </a:solidFill>
                <a:effectLst/>
                <a:uLnTx/>
                <a:uFillTx/>
                <a:latin typeface="Arial" charset="0"/>
                <a:ea typeface="+mn-ea"/>
                <a:cs typeface="Arial" charset="0"/>
              </a:endParaRPr>
            </a:p>
          </p:txBody>
        </p:sp>
        <p:sp>
          <p:nvSpPr>
            <p:cNvPr id="104" name="Cylinder 103">
              <a:extLst>
                <a:ext uri="{FF2B5EF4-FFF2-40B4-BE49-F238E27FC236}">
                  <a16:creationId xmlns:a16="http://schemas.microsoft.com/office/drawing/2014/main" id="{E18C9D23-C214-3DA2-E270-6555112A7E82}"/>
                </a:ext>
              </a:extLst>
            </p:cNvPr>
            <p:cNvSpPr/>
            <p:nvPr/>
          </p:nvSpPr>
          <p:spPr>
            <a:xfrm>
              <a:off x="3588191" y="5353923"/>
              <a:ext cx="516918" cy="329853"/>
            </a:xfrm>
            <a:prstGeom prst="can">
              <a:avLst/>
            </a:prstGeom>
            <a:solidFill>
              <a:schemeClr val="bg1">
                <a:lumMod val="95000"/>
              </a:schemeClr>
            </a:solidFill>
            <a:ln w="9525">
              <a:solidFill>
                <a:schemeClr val="tx1">
                  <a:lumMod val="50000"/>
                  <a:lumOff val="50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500" b="1" i="0" u="none" strike="noStrike" kern="1200" cap="none" spc="0" normalizeH="0" baseline="0" noProof="0">
                  <a:ln>
                    <a:noFill/>
                  </a:ln>
                  <a:solidFill>
                    <a:srgbClr val="000000">
                      <a:lumMod val="50000"/>
                      <a:lumOff val="50000"/>
                    </a:srgbClr>
                  </a:solidFill>
                  <a:effectLst/>
                  <a:uLnTx/>
                  <a:uFillTx/>
                  <a:latin typeface="Graphik" panose="020B0503030202060203" pitchFamily="34" charset="77"/>
                  <a:ea typeface="+mn-ea"/>
                  <a:cs typeface="+mn-cs"/>
                </a:rPr>
                <a:t>Esquema de la base de datos</a:t>
              </a:r>
              <a:endParaRPr kumimoji="0" lang="es-ES" sz="500" b="1" i="0" u="none" strike="noStrike" kern="1200" cap="none" spc="0" normalizeH="0" baseline="0" noProof="0">
                <a:ln>
                  <a:noFill/>
                </a:ln>
                <a:solidFill>
                  <a:srgbClr val="000000">
                    <a:lumMod val="50000"/>
                    <a:lumOff val="50000"/>
                  </a:srgbClr>
                </a:solidFill>
                <a:effectLst/>
                <a:uLnTx/>
                <a:uFillTx/>
                <a:latin typeface="Graphik" panose="020B0503030202060203" pitchFamily="34" charset="77"/>
                <a:ea typeface="+mn-ea"/>
                <a:cs typeface="+mn-cs"/>
              </a:endParaRPr>
            </a:p>
          </p:txBody>
        </p:sp>
        <p:sp>
          <p:nvSpPr>
            <p:cNvPr id="105" name="Rectangle 104">
              <a:extLst>
                <a:ext uri="{FF2B5EF4-FFF2-40B4-BE49-F238E27FC236}">
                  <a16:creationId xmlns:a16="http://schemas.microsoft.com/office/drawing/2014/main" id="{9A42CFC7-56BE-2A51-4AB9-9017D20CC49A}"/>
                </a:ext>
              </a:extLst>
            </p:cNvPr>
            <p:cNvSpPr/>
            <p:nvPr/>
          </p:nvSpPr>
          <p:spPr>
            <a:xfrm>
              <a:off x="3364455" y="3987762"/>
              <a:ext cx="1483911" cy="838328"/>
            </a:xfrm>
            <a:prstGeom prst="rect">
              <a:avLst/>
            </a:prstGeom>
            <a:solidFill>
              <a:srgbClr val="E3DED1">
                <a:lumMod val="90000"/>
              </a:srgbClr>
            </a:solidFill>
            <a:ln w="12700" cap="flat" cmpd="sng" algn="ctr">
              <a:solidFill>
                <a:sysClr val="window" lastClr="FFFFFF">
                  <a:lumMod val="95000"/>
                </a:sysClr>
              </a:solidFill>
              <a:prstDash val="sysDot"/>
              <a:headEnd type="none" w="med" len="med"/>
              <a:tailEnd type="none" w="med" len="med"/>
            </a:ln>
            <a:effectLst/>
          </p:spPr>
          <p:txBody>
            <a:bodyPr t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1" i="0" u="none" strike="noStrike" kern="0" cap="none" spc="0" normalizeH="0" baseline="0" noProof="0" err="1">
                  <a:ln>
                    <a:noFill/>
                  </a:ln>
                  <a:solidFill>
                    <a:prstClr val="white"/>
                  </a:solidFill>
                  <a:effectLst/>
                  <a:uLnTx/>
                  <a:uFillTx/>
                  <a:latin typeface="Graphik" panose="020B0503030202060203" pitchFamily="34" charset="77"/>
                  <a:ea typeface="+mn-ea"/>
                  <a:cs typeface="+mn-cs"/>
                </a:rPr>
                <a:t>Subdominio</a:t>
              </a:r>
              <a:endParaRPr kumimoji="0" lang="es-ES" sz="700" b="1" i="0" u="none" strike="noStrike" kern="0" cap="none" spc="0" normalizeH="0" baseline="0" noProof="0">
                <a:ln>
                  <a:noFill/>
                </a:ln>
                <a:solidFill>
                  <a:prstClr val="white"/>
                </a:solidFill>
                <a:effectLst/>
                <a:uLnTx/>
                <a:uFillTx/>
                <a:latin typeface="Graphik" panose="020B0503030202060203" pitchFamily="34" charset="77"/>
                <a:ea typeface="+mn-ea"/>
                <a:cs typeface="+mn-cs"/>
              </a:endParaRPr>
            </a:p>
          </p:txBody>
        </p:sp>
        <p:grpSp>
          <p:nvGrpSpPr>
            <p:cNvPr id="106" name="Group 105">
              <a:extLst>
                <a:ext uri="{FF2B5EF4-FFF2-40B4-BE49-F238E27FC236}">
                  <a16:creationId xmlns:a16="http://schemas.microsoft.com/office/drawing/2014/main" id="{ECF6BB36-2F34-A258-7EC4-51FD9B441DCA}"/>
                </a:ext>
              </a:extLst>
            </p:cNvPr>
            <p:cNvGrpSpPr/>
            <p:nvPr/>
          </p:nvGrpSpPr>
          <p:grpSpPr>
            <a:xfrm>
              <a:off x="3401640" y="4160881"/>
              <a:ext cx="1416101" cy="710205"/>
              <a:chOff x="2651314" y="5072928"/>
              <a:chExt cx="1416101" cy="710205"/>
            </a:xfrm>
          </p:grpSpPr>
          <p:sp>
            <p:nvSpPr>
              <p:cNvPr id="110" name="Oval 109">
                <a:extLst>
                  <a:ext uri="{FF2B5EF4-FFF2-40B4-BE49-F238E27FC236}">
                    <a16:creationId xmlns:a16="http://schemas.microsoft.com/office/drawing/2014/main" id="{3A64684F-9F2E-B696-DA3A-9ED26897D939}"/>
                  </a:ext>
                </a:extLst>
              </p:cNvPr>
              <p:cNvSpPr/>
              <p:nvPr/>
            </p:nvSpPr>
            <p:spPr bwMode="auto">
              <a:xfrm>
                <a:off x="3041061" y="5072928"/>
                <a:ext cx="515957" cy="200645"/>
              </a:xfrm>
              <a:prstGeom prst="ellipse">
                <a:avLst/>
              </a:prstGeom>
              <a:solidFill>
                <a:schemeClr val="accent2">
                  <a:lumMod val="20000"/>
                  <a:lumOff val="80000"/>
                </a:schemeClr>
              </a:solidFill>
              <a:ln w="6350">
                <a:solidFill>
                  <a:schemeClr val="bg1"/>
                </a:solidFill>
                <a:prstDash val="solid"/>
                <a:miter lim="800000"/>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ct val="30000"/>
                  </a:spcBef>
                  <a:spcAft>
                    <a:spcPts val="0"/>
                  </a:spcAft>
                  <a:buClrTx/>
                  <a:buSzTx/>
                  <a:buFontTx/>
                  <a:buNone/>
                  <a:tabLst/>
                  <a:defRPr/>
                </a:pPr>
                <a:r>
                  <a:rPr kumimoji="0" lang="es" sz="600" b="1" i="0" u="none" strike="noStrike" kern="1200" cap="none" spc="0" normalizeH="0" baseline="0" noProof="0">
                    <a:ln>
                      <a:noFill/>
                    </a:ln>
                    <a:solidFill>
                      <a:srgbClr val="000000">
                        <a:lumMod val="65000"/>
                        <a:lumOff val="35000"/>
                      </a:srgbClr>
                    </a:solidFill>
                    <a:effectLst/>
                    <a:uLnTx/>
                    <a:uFillTx/>
                    <a:latin typeface="Graphik" panose="020B0503030202060203" pitchFamily="34" charset="0"/>
                    <a:ea typeface="+mn-ea"/>
                    <a:cs typeface="+mn-cs"/>
                  </a:rPr>
                  <a:t>Servicio</a:t>
                </a:r>
              </a:p>
            </p:txBody>
          </p:sp>
          <p:sp>
            <p:nvSpPr>
              <p:cNvPr id="111" name="Oval 110">
                <a:extLst>
                  <a:ext uri="{FF2B5EF4-FFF2-40B4-BE49-F238E27FC236}">
                    <a16:creationId xmlns:a16="http://schemas.microsoft.com/office/drawing/2014/main" id="{33550CB0-659F-F78D-800A-FA4A9CA1B568}"/>
                  </a:ext>
                </a:extLst>
              </p:cNvPr>
              <p:cNvSpPr/>
              <p:nvPr/>
            </p:nvSpPr>
            <p:spPr bwMode="auto">
              <a:xfrm>
                <a:off x="2651314" y="5504575"/>
                <a:ext cx="515957" cy="200645"/>
              </a:xfrm>
              <a:prstGeom prst="ellipse">
                <a:avLst/>
              </a:prstGeom>
              <a:solidFill>
                <a:schemeClr val="accent2">
                  <a:lumMod val="20000"/>
                  <a:lumOff val="80000"/>
                </a:schemeClr>
              </a:solidFill>
              <a:ln w="6350">
                <a:solidFill>
                  <a:schemeClr val="bg1"/>
                </a:solidFill>
                <a:prstDash val="solid"/>
                <a:miter lim="800000"/>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ct val="30000"/>
                  </a:spcBef>
                  <a:spcAft>
                    <a:spcPts val="0"/>
                  </a:spcAft>
                  <a:buClrTx/>
                  <a:buSzTx/>
                  <a:buFontTx/>
                  <a:buNone/>
                  <a:tabLst/>
                  <a:defRPr/>
                </a:pPr>
                <a:r>
                  <a:rPr kumimoji="0" lang="es" sz="600" b="1" i="0" u="none" strike="noStrike" kern="1200" cap="none" spc="0" normalizeH="0" baseline="0" noProof="0">
                    <a:ln>
                      <a:noFill/>
                    </a:ln>
                    <a:solidFill>
                      <a:srgbClr val="000000">
                        <a:lumMod val="65000"/>
                        <a:lumOff val="35000"/>
                      </a:srgbClr>
                    </a:solidFill>
                    <a:effectLst/>
                    <a:uLnTx/>
                    <a:uFillTx/>
                    <a:latin typeface="Graphik" panose="020B0503030202060203" pitchFamily="34" charset="0"/>
                    <a:ea typeface="+mn-ea"/>
                    <a:cs typeface="+mn-cs"/>
                  </a:rPr>
                  <a:t>Servicio</a:t>
                </a:r>
              </a:p>
            </p:txBody>
          </p:sp>
          <p:sp>
            <p:nvSpPr>
              <p:cNvPr id="112" name="Oval 111">
                <a:extLst>
                  <a:ext uri="{FF2B5EF4-FFF2-40B4-BE49-F238E27FC236}">
                    <a16:creationId xmlns:a16="http://schemas.microsoft.com/office/drawing/2014/main" id="{068845D3-206F-C53F-10ED-AB1FD203477F}"/>
                  </a:ext>
                </a:extLst>
              </p:cNvPr>
              <p:cNvSpPr/>
              <p:nvPr/>
            </p:nvSpPr>
            <p:spPr bwMode="auto">
              <a:xfrm>
                <a:off x="3551458" y="5477170"/>
                <a:ext cx="515957" cy="200645"/>
              </a:xfrm>
              <a:prstGeom prst="ellipse">
                <a:avLst/>
              </a:prstGeom>
              <a:solidFill>
                <a:schemeClr val="accent2">
                  <a:lumMod val="20000"/>
                  <a:lumOff val="80000"/>
                </a:schemeClr>
              </a:solidFill>
              <a:ln w="6350">
                <a:solidFill>
                  <a:schemeClr val="bg1"/>
                </a:solidFill>
                <a:prstDash val="solid"/>
                <a:miter lim="800000"/>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ct val="30000"/>
                  </a:spcBef>
                  <a:spcAft>
                    <a:spcPts val="0"/>
                  </a:spcAft>
                  <a:buClrTx/>
                  <a:buSzTx/>
                  <a:buFontTx/>
                  <a:buNone/>
                  <a:tabLst/>
                  <a:defRPr/>
                </a:pPr>
                <a:r>
                  <a:rPr kumimoji="0" lang="es" sz="600" b="1" i="0" u="none" strike="noStrike" kern="1200" cap="none" spc="0" normalizeH="0" baseline="0" noProof="0">
                    <a:ln>
                      <a:noFill/>
                    </a:ln>
                    <a:solidFill>
                      <a:srgbClr val="000000">
                        <a:lumMod val="65000"/>
                        <a:lumOff val="35000"/>
                      </a:srgbClr>
                    </a:solidFill>
                    <a:effectLst/>
                    <a:uLnTx/>
                    <a:uFillTx/>
                    <a:latin typeface="Graphik" panose="020B0503030202060203" pitchFamily="34" charset="0"/>
                    <a:ea typeface="+mn-ea"/>
                    <a:cs typeface="+mn-cs"/>
                  </a:rPr>
                  <a:t>Servicio</a:t>
                </a:r>
              </a:p>
            </p:txBody>
          </p:sp>
          <p:cxnSp>
            <p:nvCxnSpPr>
              <p:cNvPr id="113" name="Straight Arrow Connector 65">
                <a:extLst>
                  <a:ext uri="{FF2B5EF4-FFF2-40B4-BE49-F238E27FC236}">
                    <a16:creationId xmlns:a16="http://schemas.microsoft.com/office/drawing/2014/main" id="{2CC8163C-1C01-7737-A909-173F444DBBE0}"/>
                  </a:ext>
                </a:extLst>
              </p:cNvPr>
              <p:cNvCxnSpPr>
                <a:cxnSpLocks/>
                <a:stCxn id="110" idx="4"/>
                <a:endCxn id="112" idx="0"/>
              </p:cNvCxnSpPr>
              <p:nvPr/>
            </p:nvCxnSpPr>
            <p:spPr>
              <a:xfrm rot="16200000" flipH="1">
                <a:off x="3452440" y="5120172"/>
                <a:ext cx="203597" cy="510397"/>
              </a:xfrm>
              <a:prstGeom prst="bentConnector3">
                <a:avLst>
                  <a:gd name="adj1" fmla="val 50000"/>
                </a:avLst>
              </a:prstGeom>
              <a:ln w="9525">
                <a:solidFill>
                  <a:srgbClr val="00530A"/>
                </a:solidFill>
                <a:tailEnd type="triangle"/>
              </a:ln>
            </p:spPr>
            <p:style>
              <a:lnRef idx="1">
                <a:schemeClr val="accent1"/>
              </a:lnRef>
              <a:fillRef idx="0">
                <a:schemeClr val="accent1"/>
              </a:fillRef>
              <a:effectRef idx="0">
                <a:schemeClr val="accent1"/>
              </a:effectRef>
              <a:fontRef idx="minor">
                <a:schemeClr val="tx1"/>
              </a:fontRef>
            </p:style>
          </p:cxnSp>
          <p:cxnSp>
            <p:nvCxnSpPr>
              <p:cNvPr id="114" name="Straight Arrow Connector 68">
                <a:extLst>
                  <a:ext uri="{FF2B5EF4-FFF2-40B4-BE49-F238E27FC236}">
                    <a16:creationId xmlns:a16="http://schemas.microsoft.com/office/drawing/2014/main" id="{1B3909C4-A838-2522-CB74-845D44A10503}"/>
                  </a:ext>
                </a:extLst>
              </p:cNvPr>
              <p:cNvCxnSpPr>
                <a:cxnSpLocks/>
                <a:stCxn id="110" idx="4"/>
                <a:endCxn id="111" idx="0"/>
              </p:cNvCxnSpPr>
              <p:nvPr/>
            </p:nvCxnSpPr>
            <p:spPr>
              <a:xfrm rot="5400000">
                <a:off x="2988666" y="5194201"/>
                <a:ext cx="231002" cy="389747"/>
              </a:xfrm>
              <a:prstGeom prst="bentConnector3">
                <a:avLst>
                  <a:gd name="adj1" fmla="val 50000"/>
                </a:avLst>
              </a:prstGeom>
              <a:ln w="9525">
                <a:solidFill>
                  <a:srgbClr val="00530A"/>
                </a:solidFill>
                <a:tailEnd type="triangle"/>
              </a:ln>
            </p:spPr>
            <p:style>
              <a:lnRef idx="1">
                <a:schemeClr val="accent1"/>
              </a:lnRef>
              <a:fillRef idx="0">
                <a:schemeClr val="accent1"/>
              </a:fillRef>
              <a:effectRef idx="0">
                <a:schemeClr val="accent1"/>
              </a:effectRef>
              <a:fontRef idx="minor">
                <a:schemeClr val="tx1"/>
              </a:fontRef>
            </p:style>
          </p:cxnSp>
          <p:cxnSp>
            <p:nvCxnSpPr>
              <p:cNvPr id="115" name="Straight Arrow Connector 68">
                <a:extLst>
                  <a:ext uri="{FF2B5EF4-FFF2-40B4-BE49-F238E27FC236}">
                    <a16:creationId xmlns:a16="http://schemas.microsoft.com/office/drawing/2014/main" id="{F8DBF7E6-9028-924D-F580-63F50E4D0CA6}"/>
                  </a:ext>
                </a:extLst>
              </p:cNvPr>
              <p:cNvCxnSpPr>
                <a:cxnSpLocks/>
                <a:stCxn id="111" idx="6"/>
              </p:cNvCxnSpPr>
              <p:nvPr/>
            </p:nvCxnSpPr>
            <p:spPr>
              <a:xfrm>
                <a:off x="3167271" y="5604898"/>
                <a:ext cx="139305" cy="178235"/>
              </a:xfrm>
              <a:prstGeom prst="bentConnector2">
                <a:avLst/>
              </a:prstGeom>
              <a:ln w="9525">
                <a:solidFill>
                  <a:srgbClr val="00530A"/>
                </a:solidFill>
                <a:tailEnd type="triangle"/>
              </a:ln>
            </p:spPr>
            <p:style>
              <a:lnRef idx="1">
                <a:schemeClr val="accent1"/>
              </a:lnRef>
              <a:fillRef idx="0">
                <a:schemeClr val="accent1"/>
              </a:fillRef>
              <a:effectRef idx="0">
                <a:schemeClr val="accent1"/>
              </a:effectRef>
              <a:fontRef idx="minor">
                <a:schemeClr val="tx1"/>
              </a:fontRef>
            </p:style>
          </p:cxnSp>
        </p:grpSp>
        <p:cxnSp>
          <p:nvCxnSpPr>
            <p:cNvPr id="107" name="Straight Arrow Connector 68">
              <a:extLst>
                <a:ext uri="{FF2B5EF4-FFF2-40B4-BE49-F238E27FC236}">
                  <a16:creationId xmlns:a16="http://schemas.microsoft.com/office/drawing/2014/main" id="{1E7AC2E9-9E6B-3A43-BDA5-19157CB04F26}"/>
                </a:ext>
              </a:extLst>
            </p:cNvPr>
            <p:cNvCxnSpPr>
              <a:cxnSpLocks/>
              <a:stCxn id="111" idx="4"/>
              <a:endCxn id="104" idx="1"/>
            </p:cNvCxnSpPr>
            <p:nvPr/>
          </p:nvCxnSpPr>
          <p:spPr>
            <a:xfrm rot="16200000" flipH="1">
              <a:off x="3472759" y="4980032"/>
              <a:ext cx="560750" cy="187031"/>
            </a:xfrm>
            <a:prstGeom prst="bentConnector3">
              <a:avLst>
                <a:gd name="adj1" fmla="val 50000"/>
              </a:avLst>
            </a:prstGeom>
            <a:ln w="9525">
              <a:solidFill>
                <a:srgbClr val="00530A"/>
              </a:solidFill>
              <a:tailEnd type="triangle"/>
            </a:ln>
          </p:spPr>
          <p:style>
            <a:lnRef idx="1">
              <a:schemeClr val="accent1"/>
            </a:lnRef>
            <a:fillRef idx="0">
              <a:schemeClr val="accent1"/>
            </a:fillRef>
            <a:effectRef idx="0">
              <a:schemeClr val="accent1"/>
            </a:effectRef>
            <a:fontRef idx="minor">
              <a:schemeClr val="tx1"/>
            </a:fontRef>
          </p:style>
        </p:cxnSp>
        <p:cxnSp>
          <p:nvCxnSpPr>
            <p:cNvPr id="108" name="Straight Arrow Connector 68">
              <a:extLst>
                <a:ext uri="{FF2B5EF4-FFF2-40B4-BE49-F238E27FC236}">
                  <a16:creationId xmlns:a16="http://schemas.microsoft.com/office/drawing/2014/main" id="{C76571E0-20F7-92CE-B823-4C7C76FD8A45}"/>
                </a:ext>
              </a:extLst>
            </p:cNvPr>
            <p:cNvCxnSpPr>
              <a:cxnSpLocks/>
              <a:stCxn id="112" idx="4"/>
              <a:endCxn id="104" idx="1"/>
            </p:cNvCxnSpPr>
            <p:nvPr/>
          </p:nvCxnSpPr>
          <p:spPr>
            <a:xfrm rot="5400000">
              <a:off x="3909130" y="4703289"/>
              <a:ext cx="588155" cy="713113"/>
            </a:xfrm>
            <a:prstGeom prst="bentConnector3">
              <a:avLst>
                <a:gd name="adj1" fmla="val 50000"/>
              </a:avLst>
            </a:prstGeom>
            <a:ln w="9525">
              <a:solidFill>
                <a:srgbClr val="00530A"/>
              </a:solidFill>
              <a:tailEnd type="triangle"/>
            </a:ln>
          </p:spPr>
          <p:style>
            <a:lnRef idx="1">
              <a:schemeClr val="accent1"/>
            </a:lnRef>
            <a:fillRef idx="0">
              <a:schemeClr val="accent1"/>
            </a:fillRef>
            <a:effectRef idx="0">
              <a:schemeClr val="accent1"/>
            </a:effectRef>
            <a:fontRef idx="minor">
              <a:schemeClr val="tx1"/>
            </a:fontRef>
          </p:style>
        </p:cxnSp>
        <p:sp>
          <p:nvSpPr>
            <p:cNvPr id="109" name="Cylinder 108">
              <a:extLst>
                <a:ext uri="{FF2B5EF4-FFF2-40B4-BE49-F238E27FC236}">
                  <a16:creationId xmlns:a16="http://schemas.microsoft.com/office/drawing/2014/main" id="{B8FC7111-A725-F84B-3A30-1F756E6AA4E7}"/>
                </a:ext>
              </a:extLst>
            </p:cNvPr>
            <p:cNvSpPr/>
            <p:nvPr/>
          </p:nvSpPr>
          <p:spPr>
            <a:xfrm rot="16200000">
              <a:off x="4067029" y="4705927"/>
              <a:ext cx="150238" cy="490889"/>
            </a:xfrm>
            <a:prstGeom prst="can">
              <a:avLst/>
            </a:prstGeom>
            <a:solidFill>
              <a:srgbClr val="99CCFF"/>
            </a:solidFill>
            <a:ln w="6350">
              <a:solidFill>
                <a:srgbClr val="0033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a:ln>
                  <a:noFill/>
                </a:ln>
                <a:solidFill>
                  <a:srgbClr val="FFFFFF"/>
                </a:solidFill>
                <a:effectLst/>
                <a:uLnTx/>
                <a:uFillTx/>
                <a:latin typeface="Graphik"/>
                <a:ea typeface="+mn-ea"/>
                <a:cs typeface="+mn-cs"/>
              </a:endParaRPr>
            </a:p>
          </p:txBody>
        </p:sp>
      </p:grpSp>
      <p:sp>
        <p:nvSpPr>
          <p:cNvPr id="116" name="Text Placeholder 4">
            <a:extLst>
              <a:ext uri="{FF2B5EF4-FFF2-40B4-BE49-F238E27FC236}">
                <a16:creationId xmlns:a16="http://schemas.microsoft.com/office/drawing/2014/main" id="{5A1CFAAF-C7B6-70FA-DE61-1A77B1F0A0FE}"/>
              </a:ext>
            </a:extLst>
          </p:cNvPr>
          <p:cNvSpPr txBox="1">
            <a:spLocks/>
          </p:cNvSpPr>
          <p:nvPr/>
        </p:nvSpPr>
        <p:spPr>
          <a:xfrm>
            <a:off x="3131766" y="1348742"/>
            <a:ext cx="2818709" cy="797457"/>
          </a:xfrm>
          <a:prstGeom prst="rect">
            <a:avLst/>
          </a:prstGeom>
        </p:spPr>
        <p:txBody>
          <a:bodyPr vert="horz" lIns="0" tIns="0" rIns="0" bIns="0" rtlCol="0" anchor="ctr">
            <a:noAutofit/>
          </a:bodyPr>
          <a:lstStyle>
            <a:lvl1pPr marL="0" indent="0" algn="l" rtl="0" eaLnBrk="1" fontAlgn="base" hangingPunct="1">
              <a:lnSpc>
                <a:spcPct val="110000"/>
              </a:lnSpc>
              <a:spcBef>
                <a:spcPts val="1200"/>
              </a:spcBef>
              <a:spcAft>
                <a:spcPct val="0"/>
              </a:spcAft>
              <a:buFont typeface="Arial" pitchFamily="34" charset="0"/>
              <a:buNone/>
              <a:defRPr lang="en-US" sz="1600" b="1" i="0" kern="1200" cap="all" baseline="0" dirty="0">
                <a:solidFill>
                  <a:schemeClr val="accent1"/>
                </a:solidFill>
                <a:latin typeface="Graphik" panose="020B0503030202060203" pitchFamily="34" charset="77"/>
                <a:ea typeface="Roboto" panose="02000000000000000000" pitchFamily="2" charset="0"/>
                <a:cs typeface="Arial" panose="020B0604020202020204" pitchFamily="34" charset="0"/>
              </a:defRPr>
            </a:lvl1pPr>
            <a:lvl2pPr marL="216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2pPr>
            <a:lvl3pPr marL="432000" indent="-216000" algn="l" rtl="0" eaLnBrk="1" fontAlgn="base" hangingPunct="1">
              <a:lnSpc>
                <a:spcPct val="110000"/>
              </a:lnSpc>
              <a:spcBef>
                <a:spcPts val="800"/>
              </a:spcBef>
              <a:spcAft>
                <a:spcPct val="0"/>
              </a:spcAft>
              <a:buFont typeface="Arial" pitchFamily="34" charset="0"/>
              <a:buChar char="‒"/>
              <a:tabLst/>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3pPr>
            <a:lvl4pPr marL="612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4pPr>
            <a:lvl5pPr marL="864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5pPr>
            <a:lvl6pPr marL="3351933"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376"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0819"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261"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ts val="0"/>
              </a:spcBef>
              <a:spcAft>
                <a:spcPct val="0"/>
              </a:spcAft>
              <a:buClrTx/>
              <a:buSzTx/>
              <a:buFont typeface="Arial" pitchFamily="34" charset="0"/>
              <a:buNone/>
              <a:tabLst/>
              <a:defRPr/>
            </a:pPr>
            <a:r>
              <a:rPr kumimoji="0" lang="es" sz="1200" b="1" i="0" u="none" strike="noStrike" kern="1200" cap="all" spc="0" normalizeH="0" baseline="0" noProof="0">
                <a:ln>
                  <a:noFill/>
                </a:ln>
                <a:solidFill>
                  <a:srgbClr val="7500C0"/>
                </a:solidFill>
                <a:effectLst/>
                <a:uLnTx/>
                <a:uFillTx/>
                <a:latin typeface="Graphik" panose="020B0503030202060203" pitchFamily="34" charset="77"/>
                <a:ea typeface="Roboto" panose="02000000000000000000" pitchFamily="2" charset="0"/>
                <a:cs typeface="Arial" panose="020B0604020202020204" pitchFamily="34" charset="0"/>
              </a:rPr>
              <a:t>2PC Transaction dentro del mismo subdominio</a:t>
            </a:r>
          </a:p>
        </p:txBody>
      </p:sp>
      <p:grpSp>
        <p:nvGrpSpPr>
          <p:cNvPr id="117" name="Group 116">
            <a:extLst>
              <a:ext uri="{FF2B5EF4-FFF2-40B4-BE49-F238E27FC236}">
                <a16:creationId xmlns:a16="http://schemas.microsoft.com/office/drawing/2014/main" id="{6DE60CC1-0780-B05B-3AC7-95CFCB0B171E}"/>
              </a:ext>
            </a:extLst>
          </p:cNvPr>
          <p:cNvGrpSpPr/>
          <p:nvPr/>
        </p:nvGrpSpPr>
        <p:grpSpPr>
          <a:xfrm>
            <a:off x="6210556" y="3996674"/>
            <a:ext cx="2752662" cy="1764771"/>
            <a:chOff x="6254866" y="3942766"/>
            <a:chExt cx="2752662" cy="1764771"/>
          </a:xfrm>
        </p:grpSpPr>
        <p:sp>
          <p:nvSpPr>
            <p:cNvPr id="118" name="Cylinder 117">
              <a:extLst>
                <a:ext uri="{FF2B5EF4-FFF2-40B4-BE49-F238E27FC236}">
                  <a16:creationId xmlns:a16="http://schemas.microsoft.com/office/drawing/2014/main" id="{DD372847-925A-4E48-0C55-619FFA14A309}"/>
                </a:ext>
              </a:extLst>
            </p:cNvPr>
            <p:cNvSpPr/>
            <p:nvPr/>
          </p:nvSpPr>
          <p:spPr>
            <a:xfrm>
              <a:off x="6254866" y="5229867"/>
              <a:ext cx="1832886" cy="477670"/>
            </a:xfrm>
            <a:prstGeom prst="can">
              <a:avLst>
                <a:gd name="adj" fmla="val 15538"/>
              </a:avLst>
            </a:prstGeom>
            <a:solidFill>
              <a:schemeClr val="bg1">
                <a:lumMod val="75000"/>
              </a:schemeClr>
            </a:solidFill>
            <a:ln w="3175">
              <a:solidFill>
                <a:schemeClr val="tx1">
                  <a:lumMod val="50000"/>
                  <a:lumOff val="50000"/>
                </a:schemeClr>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600" b="1" i="0" u="none" strike="noStrike" kern="1200" cap="none" spc="0" normalizeH="0" baseline="0" noProof="0" dirty="0">
                  <a:ln>
                    <a:noFill/>
                  </a:ln>
                  <a:solidFill>
                    <a:srgbClr val="000000">
                      <a:lumMod val="50000"/>
                      <a:lumOff val="50000"/>
                    </a:srgbClr>
                  </a:solidFill>
                  <a:effectLst/>
                  <a:uLnTx/>
                  <a:uFillTx/>
                  <a:latin typeface="Graphik" panose="020B0503030202060203" pitchFamily="34" charset="77"/>
                  <a:ea typeface="+mn-ea"/>
                  <a:cs typeface="+mn-cs"/>
                </a:rPr>
                <a:t>Oracle</a:t>
              </a:r>
              <a:endParaRPr kumimoji="0" lang="es" sz="600" b="1" i="0" u="none" strike="noStrike" kern="1200" cap="none" spc="0" normalizeH="0" baseline="0" noProof="0" dirty="0">
                <a:ln>
                  <a:noFill/>
                </a:ln>
                <a:solidFill>
                  <a:srgbClr val="000000">
                    <a:lumMod val="50000"/>
                    <a:lumOff val="50000"/>
                  </a:srgbClr>
                </a:solidFill>
                <a:effectLst/>
                <a:uLnTx/>
                <a:uFillTx/>
                <a:latin typeface="Graphik" panose="020B0503030202060203" pitchFamily="34" charset="77"/>
                <a:ea typeface="+mn-ea"/>
                <a:cs typeface="+mn-cs"/>
              </a:endParaRPr>
            </a:p>
          </p:txBody>
        </p:sp>
        <p:sp>
          <p:nvSpPr>
            <p:cNvPr id="119" name="Rectangle 118">
              <a:extLst>
                <a:ext uri="{FF2B5EF4-FFF2-40B4-BE49-F238E27FC236}">
                  <a16:creationId xmlns:a16="http://schemas.microsoft.com/office/drawing/2014/main" id="{67C0D6D0-9364-25E3-2093-39FA8DEEAB90}"/>
                </a:ext>
              </a:extLst>
            </p:cNvPr>
            <p:cNvSpPr/>
            <p:nvPr/>
          </p:nvSpPr>
          <p:spPr>
            <a:xfrm>
              <a:off x="8143528" y="3942766"/>
              <a:ext cx="864000" cy="1002206"/>
            </a:xfrm>
            <a:prstGeom prst="rect">
              <a:avLst/>
            </a:prstGeom>
            <a:solidFill>
              <a:schemeClr val="tx1">
                <a:lumMod val="50000"/>
                <a:lumOff val="50000"/>
              </a:schemeClr>
            </a:solidFill>
            <a:ln w="19050">
              <a:no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lIns="0" r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000" b="1" i="0" u="none" strike="noStrike" kern="1200" cap="none" spc="0" normalizeH="0" baseline="0" noProof="0">
                  <a:ln>
                    <a:noFill/>
                  </a:ln>
                  <a:solidFill>
                    <a:srgbClr val="FFFFFF"/>
                  </a:solidFill>
                  <a:effectLst/>
                  <a:uLnTx/>
                  <a:uFillTx/>
                  <a:latin typeface="Graphik" panose="020B0503030202060203" pitchFamily="34" charset="77"/>
                  <a:ea typeface="+mn-ea"/>
                  <a:cs typeface="+mn-cs"/>
                </a:rPr>
                <a:t>Mainframe</a:t>
              </a:r>
            </a:p>
          </p:txBody>
        </p:sp>
        <p:sp>
          <p:nvSpPr>
            <p:cNvPr id="120" name="Flowchart: Magnetic Disk 119">
              <a:extLst>
                <a:ext uri="{FF2B5EF4-FFF2-40B4-BE49-F238E27FC236}">
                  <a16:creationId xmlns:a16="http://schemas.microsoft.com/office/drawing/2014/main" id="{BA12934B-87F4-A449-3EF9-C764A3BB2AAC}"/>
                </a:ext>
              </a:extLst>
            </p:cNvPr>
            <p:cNvSpPr/>
            <p:nvPr/>
          </p:nvSpPr>
          <p:spPr>
            <a:xfrm>
              <a:off x="8270168" y="4291720"/>
              <a:ext cx="610720" cy="537424"/>
            </a:xfrm>
            <a:prstGeom prst="flowChartMagneticDisk">
              <a:avLst/>
            </a:prstGeom>
            <a:solidFill>
              <a:schemeClr val="bg1">
                <a:lumMod val="8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90526" tIns="45262" rIns="90526" bIns="45262"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000" b="0" i="0" u="none" strike="noStrike" kern="1200" cap="none" spc="0" normalizeH="0" baseline="0" noProof="0">
                  <a:ln>
                    <a:noFill/>
                  </a:ln>
                  <a:solidFill>
                    <a:srgbClr val="E6E6DC">
                      <a:lumMod val="25000"/>
                    </a:srgbClr>
                  </a:solidFill>
                  <a:effectLst/>
                  <a:uLnTx/>
                  <a:uFillTx/>
                  <a:latin typeface="Arial" panose="020B0604020202020204" pitchFamily="34" charset="0"/>
                  <a:ea typeface="+mn-ea"/>
                  <a:cs typeface="Arial" panose="020B0604020202020204" pitchFamily="34" charset="0"/>
                </a:rPr>
                <a:t>DB2</a:t>
              </a:r>
            </a:p>
          </p:txBody>
        </p:sp>
        <p:sp>
          <p:nvSpPr>
            <p:cNvPr id="121" name="Rectangle 120">
              <a:extLst>
                <a:ext uri="{FF2B5EF4-FFF2-40B4-BE49-F238E27FC236}">
                  <a16:creationId xmlns:a16="http://schemas.microsoft.com/office/drawing/2014/main" id="{D45D90BA-F059-4D78-335A-65E9C03ACDFC}"/>
                </a:ext>
              </a:extLst>
            </p:cNvPr>
            <p:cNvSpPr/>
            <p:nvPr/>
          </p:nvSpPr>
          <p:spPr>
            <a:xfrm>
              <a:off x="6254867" y="3942766"/>
              <a:ext cx="1832886" cy="1181684"/>
            </a:xfrm>
            <a:prstGeom prst="rect">
              <a:avLst/>
            </a:prstGeom>
            <a:solidFill>
              <a:srgbClr val="FFCC99"/>
            </a:solidFill>
            <a:ln w="9525">
              <a:solidFill>
                <a:schemeClr val="bg1">
                  <a:lumMod val="9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Ins="252000" rtlCol="0" anchor="t"/>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s-ES" sz="800" b="1" i="0" u="none" strike="noStrike" kern="1200" cap="none" spc="0" normalizeH="0" baseline="0" noProof="0">
                <a:ln>
                  <a:noFill/>
                </a:ln>
                <a:solidFill>
                  <a:srgbClr val="000000">
                    <a:lumMod val="75000"/>
                    <a:lumOff val="25000"/>
                  </a:srgbClr>
                </a:solidFill>
                <a:effectLst/>
                <a:uLnTx/>
                <a:uFillTx/>
                <a:latin typeface="Arial" charset="0"/>
                <a:ea typeface="+mn-ea"/>
                <a:cs typeface="Arial" charset="0"/>
              </a:endParaRPr>
            </a:p>
          </p:txBody>
        </p:sp>
        <p:sp>
          <p:nvSpPr>
            <p:cNvPr id="122" name="Cylinder 121">
              <a:extLst>
                <a:ext uri="{FF2B5EF4-FFF2-40B4-BE49-F238E27FC236}">
                  <a16:creationId xmlns:a16="http://schemas.microsoft.com/office/drawing/2014/main" id="{5F68E968-28A9-42F4-38BA-9CA4B7C35C9E}"/>
                </a:ext>
              </a:extLst>
            </p:cNvPr>
            <p:cNvSpPr/>
            <p:nvPr/>
          </p:nvSpPr>
          <p:spPr>
            <a:xfrm>
              <a:off x="6666918" y="5353923"/>
              <a:ext cx="516918" cy="329853"/>
            </a:xfrm>
            <a:prstGeom prst="can">
              <a:avLst/>
            </a:prstGeom>
            <a:solidFill>
              <a:schemeClr val="bg1">
                <a:lumMod val="95000"/>
              </a:schemeClr>
            </a:solidFill>
            <a:ln w="9525">
              <a:solidFill>
                <a:schemeClr val="tx1">
                  <a:lumMod val="50000"/>
                  <a:lumOff val="50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500" b="1" i="0" u="none" strike="noStrike" kern="1200" cap="none" spc="0" normalizeH="0" baseline="0" noProof="0">
                  <a:ln>
                    <a:noFill/>
                  </a:ln>
                  <a:solidFill>
                    <a:srgbClr val="000000">
                      <a:lumMod val="50000"/>
                      <a:lumOff val="50000"/>
                    </a:srgbClr>
                  </a:solidFill>
                  <a:effectLst/>
                  <a:uLnTx/>
                  <a:uFillTx/>
                  <a:latin typeface="Graphik" panose="020B0503030202060203" pitchFamily="34" charset="77"/>
                  <a:ea typeface="+mn-ea"/>
                  <a:cs typeface="+mn-cs"/>
                </a:rPr>
                <a:t>Esquema de la base de datos</a:t>
              </a:r>
              <a:endParaRPr kumimoji="0" lang="es-ES" sz="500" b="1" i="0" u="none" strike="noStrike" kern="1200" cap="none" spc="0" normalizeH="0" baseline="0" noProof="0">
                <a:ln>
                  <a:noFill/>
                </a:ln>
                <a:solidFill>
                  <a:srgbClr val="000000">
                    <a:lumMod val="50000"/>
                    <a:lumOff val="50000"/>
                  </a:srgbClr>
                </a:solidFill>
                <a:effectLst/>
                <a:uLnTx/>
                <a:uFillTx/>
                <a:latin typeface="Graphik" panose="020B0503030202060203" pitchFamily="34" charset="77"/>
                <a:ea typeface="+mn-ea"/>
                <a:cs typeface="+mn-cs"/>
              </a:endParaRPr>
            </a:p>
          </p:txBody>
        </p:sp>
        <p:sp>
          <p:nvSpPr>
            <p:cNvPr id="123" name="Rectangle 122">
              <a:extLst>
                <a:ext uri="{FF2B5EF4-FFF2-40B4-BE49-F238E27FC236}">
                  <a16:creationId xmlns:a16="http://schemas.microsoft.com/office/drawing/2014/main" id="{2EFAAC40-A2FA-E956-5FB2-460B363B35DE}"/>
                </a:ext>
              </a:extLst>
            </p:cNvPr>
            <p:cNvSpPr/>
            <p:nvPr/>
          </p:nvSpPr>
          <p:spPr>
            <a:xfrm>
              <a:off x="6303486" y="3987762"/>
              <a:ext cx="945302" cy="888491"/>
            </a:xfrm>
            <a:prstGeom prst="rect">
              <a:avLst/>
            </a:prstGeom>
            <a:solidFill>
              <a:srgbClr val="E3DED1">
                <a:lumMod val="90000"/>
              </a:srgbClr>
            </a:solidFill>
            <a:ln w="12700" cap="flat" cmpd="sng" algn="ctr">
              <a:solidFill>
                <a:sysClr val="window" lastClr="FFFFFF">
                  <a:lumMod val="95000"/>
                </a:sysClr>
              </a:solidFill>
              <a:prstDash val="sysDot"/>
              <a:headEnd type="none" w="med" len="med"/>
              <a:tailEnd type="none" w="med" len="med"/>
            </a:ln>
            <a:effectLst/>
          </p:spPr>
          <p:txBody>
            <a:bodyPr t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1" i="0" u="none" strike="noStrike" kern="0" cap="none" spc="0" normalizeH="0" baseline="0" noProof="0" err="1">
                  <a:ln>
                    <a:noFill/>
                  </a:ln>
                  <a:solidFill>
                    <a:prstClr val="white"/>
                  </a:solidFill>
                  <a:effectLst/>
                  <a:uLnTx/>
                  <a:uFillTx/>
                  <a:latin typeface="Graphik" panose="020B0503030202060203" pitchFamily="34" charset="77"/>
                  <a:ea typeface="+mn-ea"/>
                  <a:cs typeface="+mn-cs"/>
                </a:rPr>
                <a:t>Subdominio</a:t>
              </a:r>
              <a:endParaRPr kumimoji="0" lang="es-ES" sz="700" b="1" i="0" u="none" strike="noStrike" kern="0" cap="none" spc="0" normalizeH="0" baseline="0" noProof="0">
                <a:ln>
                  <a:noFill/>
                </a:ln>
                <a:solidFill>
                  <a:prstClr val="white"/>
                </a:solidFill>
                <a:effectLst/>
                <a:uLnTx/>
                <a:uFillTx/>
                <a:latin typeface="Graphik" panose="020B0503030202060203" pitchFamily="34" charset="77"/>
                <a:ea typeface="+mn-ea"/>
                <a:cs typeface="+mn-cs"/>
              </a:endParaRPr>
            </a:p>
          </p:txBody>
        </p:sp>
        <p:cxnSp>
          <p:nvCxnSpPr>
            <p:cNvPr id="124" name="Straight Arrow Connector 68">
              <a:extLst>
                <a:ext uri="{FF2B5EF4-FFF2-40B4-BE49-F238E27FC236}">
                  <a16:creationId xmlns:a16="http://schemas.microsoft.com/office/drawing/2014/main" id="{A7E76B13-BEF7-AFED-E8D5-297608EA2945}"/>
                </a:ext>
              </a:extLst>
            </p:cNvPr>
            <p:cNvCxnSpPr>
              <a:cxnSpLocks/>
              <a:stCxn id="127" idx="4"/>
              <a:endCxn id="122" idx="1"/>
            </p:cNvCxnSpPr>
            <p:nvPr/>
          </p:nvCxnSpPr>
          <p:spPr>
            <a:xfrm rot="16200000" flipH="1">
              <a:off x="6496989" y="4925534"/>
              <a:ext cx="568685" cy="288092"/>
            </a:xfrm>
            <a:prstGeom prst="bentConnector3">
              <a:avLst>
                <a:gd name="adj1" fmla="val 50000"/>
              </a:avLst>
            </a:prstGeom>
            <a:ln w="9525">
              <a:solidFill>
                <a:srgbClr val="00530A"/>
              </a:solidFill>
              <a:tailEnd type="triangle"/>
            </a:ln>
          </p:spPr>
          <p:style>
            <a:lnRef idx="1">
              <a:schemeClr val="accent1"/>
            </a:lnRef>
            <a:fillRef idx="0">
              <a:schemeClr val="accent1"/>
            </a:fillRef>
            <a:effectRef idx="0">
              <a:schemeClr val="accent1"/>
            </a:effectRef>
            <a:fontRef idx="minor">
              <a:schemeClr val="tx1"/>
            </a:fontRef>
          </p:style>
        </p:cxnSp>
        <p:sp>
          <p:nvSpPr>
            <p:cNvPr id="125" name="Rectangle 124">
              <a:extLst>
                <a:ext uri="{FF2B5EF4-FFF2-40B4-BE49-F238E27FC236}">
                  <a16:creationId xmlns:a16="http://schemas.microsoft.com/office/drawing/2014/main" id="{2C630D50-8348-2297-557F-6F290172FDDF}"/>
                </a:ext>
              </a:extLst>
            </p:cNvPr>
            <p:cNvSpPr/>
            <p:nvPr/>
          </p:nvSpPr>
          <p:spPr>
            <a:xfrm>
              <a:off x="7316268" y="3988079"/>
              <a:ext cx="707416" cy="888174"/>
            </a:xfrm>
            <a:prstGeom prst="rect">
              <a:avLst/>
            </a:prstGeom>
            <a:solidFill>
              <a:srgbClr val="E3DED1">
                <a:lumMod val="90000"/>
              </a:srgbClr>
            </a:solidFill>
            <a:ln w="12700" cap="flat" cmpd="sng" algn="ctr">
              <a:solidFill>
                <a:sysClr val="window" lastClr="FFFFFF">
                  <a:lumMod val="95000"/>
                </a:sysClr>
              </a:solidFill>
              <a:prstDash val="sysDot"/>
              <a:headEnd type="none" w="med" len="med"/>
              <a:tailEnd type="none" w="med" len="med"/>
            </a:ln>
            <a:effectLst/>
          </p:spPr>
          <p:txBody>
            <a:bodyPr t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1" i="0" u="none" strike="noStrike" kern="0" cap="none" spc="0" normalizeH="0" baseline="0" noProof="0" err="1">
                  <a:ln>
                    <a:noFill/>
                  </a:ln>
                  <a:solidFill>
                    <a:prstClr val="white"/>
                  </a:solidFill>
                  <a:effectLst/>
                  <a:uLnTx/>
                  <a:uFillTx/>
                  <a:latin typeface="Graphik" panose="020B0503030202060203" pitchFamily="34" charset="77"/>
                  <a:ea typeface="+mn-ea"/>
                  <a:cs typeface="+mn-cs"/>
                </a:rPr>
                <a:t>Subdominio</a:t>
              </a:r>
              <a:endParaRPr kumimoji="0" lang="es-ES" sz="700" b="1" i="0" u="none" strike="noStrike" kern="0" cap="none" spc="0" normalizeH="0" baseline="0" noProof="0">
                <a:ln>
                  <a:noFill/>
                </a:ln>
                <a:solidFill>
                  <a:prstClr val="white"/>
                </a:solidFill>
                <a:effectLst/>
                <a:uLnTx/>
                <a:uFillTx/>
                <a:latin typeface="Graphik" panose="020B0503030202060203" pitchFamily="34" charset="77"/>
                <a:ea typeface="+mn-ea"/>
                <a:cs typeface="+mn-cs"/>
              </a:endParaRPr>
            </a:p>
          </p:txBody>
        </p:sp>
        <p:sp>
          <p:nvSpPr>
            <p:cNvPr id="126" name="Oval 125">
              <a:extLst>
                <a:ext uri="{FF2B5EF4-FFF2-40B4-BE49-F238E27FC236}">
                  <a16:creationId xmlns:a16="http://schemas.microsoft.com/office/drawing/2014/main" id="{0DE5C3F1-C963-0B07-3B0D-AC8F200FC232}"/>
                </a:ext>
              </a:extLst>
            </p:cNvPr>
            <p:cNvSpPr/>
            <p:nvPr/>
          </p:nvSpPr>
          <p:spPr bwMode="auto">
            <a:xfrm>
              <a:off x="6637285" y="4160881"/>
              <a:ext cx="515957" cy="200645"/>
            </a:xfrm>
            <a:prstGeom prst="ellipse">
              <a:avLst/>
            </a:prstGeom>
            <a:solidFill>
              <a:schemeClr val="accent2">
                <a:lumMod val="20000"/>
                <a:lumOff val="80000"/>
              </a:schemeClr>
            </a:solidFill>
            <a:ln w="6350">
              <a:solidFill>
                <a:schemeClr val="bg1"/>
              </a:solidFill>
              <a:prstDash val="solid"/>
              <a:miter lim="800000"/>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ct val="30000"/>
                </a:spcBef>
                <a:spcAft>
                  <a:spcPts val="0"/>
                </a:spcAft>
                <a:buClrTx/>
                <a:buSzTx/>
                <a:buFontTx/>
                <a:buNone/>
                <a:tabLst/>
                <a:defRPr/>
              </a:pPr>
              <a:r>
                <a:rPr kumimoji="0" lang="es" sz="600" b="1" i="0" u="none" strike="noStrike" kern="1200" cap="none" spc="0" normalizeH="0" baseline="0" noProof="0">
                  <a:ln>
                    <a:noFill/>
                  </a:ln>
                  <a:solidFill>
                    <a:srgbClr val="000000">
                      <a:lumMod val="65000"/>
                      <a:lumOff val="35000"/>
                    </a:srgbClr>
                  </a:solidFill>
                  <a:effectLst/>
                  <a:uLnTx/>
                  <a:uFillTx/>
                  <a:latin typeface="Graphik" panose="020B0503030202060203" pitchFamily="34" charset="0"/>
                  <a:ea typeface="+mn-ea"/>
                  <a:cs typeface="+mn-cs"/>
                </a:rPr>
                <a:t>Servicio</a:t>
              </a:r>
            </a:p>
          </p:txBody>
        </p:sp>
        <p:sp>
          <p:nvSpPr>
            <p:cNvPr id="127" name="Oval 126">
              <a:extLst>
                <a:ext uri="{FF2B5EF4-FFF2-40B4-BE49-F238E27FC236}">
                  <a16:creationId xmlns:a16="http://schemas.microsoft.com/office/drawing/2014/main" id="{1FE21BFB-1730-C735-CD3E-6F405A8E077F}"/>
                </a:ext>
              </a:extLst>
            </p:cNvPr>
            <p:cNvSpPr/>
            <p:nvPr/>
          </p:nvSpPr>
          <p:spPr bwMode="auto">
            <a:xfrm>
              <a:off x="6379306" y="4584593"/>
              <a:ext cx="515957" cy="200645"/>
            </a:xfrm>
            <a:prstGeom prst="ellipse">
              <a:avLst/>
            </a:prstGeom>
            <a:solidFill>
              <a:schemeClr val="accent2">
                <a:lumMod val="20000"/>
                <a:lumOff val="80000"/>
              </a:schemeClr>
            </a:solidFill>
            <a:ln w="6350">
              <a:solidFill>
                <a:schemeClr val="bg1"/>
              </a:solidFill>
              <a:prstDash val="solid"/>
              <a:miter lim="800000"/>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ct val="30000"/>
                </a:spcBef>
                <a:spcAft>
                  <a:spcPts val="0"/>
                </a:spcAft>
                <a:buClrTx/>
                <a:buSzTx/>
                <a:buFontTx/>
                <a:buNone/>
                <a:tabLst/>
                <a:defRPr/>
              </a:pPr>
              <a:r>
                <a:rPr kumimoji="0" lang="es" sz="600" b="1" i="0" u="none" strike="noStrike" kern="1200" cap="none" spc="0" normalizeH="0" baseline="0" noProof="0">
                  <a:ln>
                    <a:noFill/>
                  </a:ln>
                  <a:solidFill>
                    <a:srgbClr val="000000">
                      <a:lumMod val="65000"/>
                      <a:lumOff val="35000"/>
                    </a:srgbClr>
                  </a:solidFill>
                  <a:effectLst/>
                  <a:uLnTx/>
                  <a:uFillTx/>
                  <a:latin typeface="Graphik" panose="020B0503030202060203" pitchFamily="34" charset="0"/>
                  <a:ea typeface="+mn-ea"/>
                  <a:cs typeface="+mn-cs"/>
                </a:rPr>
                <a:t>Servicio</a:t>
              </a:r>
            </a:p>
          </p:txBody>
        </p:sp>
        <p:sp>
          <p:nvSpPr>
            <p:cNvPr id="128" name="Oval 127">
              <a:extLst>
                <a:ext uri="{FF2B5EF4-FFF2-40B4-BE49-F238E27FC236}">
                  <a16:creationId xmlns:a16="http://schemas.microsoft.com/office/drawing/2014/main" id="{8804E14A-745A-02A0-7794-B81E25097FC8}"/>
                </a:ext>
              </a:extLst>
            </p:cNvPr>
            <p:cNvSpPr/>
            <p:nvPr/>
          </p:nvSpPr>
          <p:spPr bwMode="auto">
            <a:xfrm>
              <a:off x="7399026" y="4625445"/>
              <a:ext cx="515957" cy="200645"/>
            </a:xfrm>
            <a:prstGeom prst="ellipse">
              <a:avLst/>
            </a:prstGeom>
            <a:solidFill>
              <a:schemeClr val="accent2">
                <a:lumMod val="20000"/>
                <a:lumOff val="80000"/>
              </a:schemeClr>
            </a:solidFill>
            <a:ln w="6350">
              <a:solidFill>
                <a:schemeClr val="bg1"/>
              </a:solidFill>
              <a:prstDash val="solid"/>
              <a:miter lim="800000"/>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ct val="30000"/>
                </a:spcBef>
                <a:spcAft>
                  <a:spcPts val="0"/>
                </a:spcAft>
                <a:buClrTx/>
                <a:buSzTx/>
                <a:buFontTx/>
                <a:buNone/>
                <a:tabLst/>
                <a:defRPr/>
              </a:pPr>
              <a:r>
                <a:rPr kumimoji="0" lang="es" sz="600" b="1" i="0" u="none" strike="noStrike" kern="1200" cap="none" spc="0" normalizeH="0" baseline="0" noProof="0">
                  <a:ln>
                    <a:noFill/>
                  </a:ln>
                  <a:solidFill>
                    <a:srgbClr val="000000">
                      <a:lumMod val="65000"/>
                      <a:lumOff val="35000"/>
                    </a:srgbClr>
                  </a:solidFill>
                  <a:effectLst/>
                  <a:uLnTx/>
                  <a:uFillTx/>
                  <a:latin typeface="Graphik" panose="020B0503030202060203" pitchFamily="34" charset="0"/>
                  <a:ea typeface="+mn-ea"/>
                  <a:cs typeface="+mn-cs"/>
                </a:rPr>
                <a:t>Servicio</a:t>
              </a:r>
            </a:p>
          </p:txBody>
        </p:sp>
        <p:cxnSp>
          <p:nvCxnSpPr>
            <p:cNvPr id="129" name="Straight Arrow Connector 65">
              <a:extLst>
                <a:ext uri="{FF2B5EF4-FFF2-40B4-BE49-F238E27FC236}">
                  <a16:creationId xmlns:a16="http://schemas.microsoft.com/office/drawing/2014/main" id="{AE6ACEEB-0637-C38A-1D09-10DFE028D812}"/>
                </a:ext>
              </a:extLst>
            </p:cNvPr>
            <p:cNvCxnSpPr>
              <a:cxnSpLocks/>
              <a:stCxn id="126" idx="4"/>
              <a:endCxn id="128" idx="0"/>
            </p:cNvCxnSpPr>
            <p:nvPr/>
          </p:nvCxnSpPr>
          <p:spPr>
            <a:xfrm rot="16200000" flipH="1">
              <a:off x="7144175" y="4112614"/>
              <a:ext cx="263919" cy="761741"/>
            </a:xfrm>
            <a:prstGeom prst="bentConnector3">
              <a:avLst>
                <a:gd name="adj1" fmla="val 50000"/>
              </a:avLst>
            </a:prstGeom>
            <a:ln w="9525">
              <a:solidFill>
                <a:srgbClr val="00530A"/>
              </a:solidFill>
              <a:tailEnd type="triangle"/>
            </a:ln>
          </p:spPr>
          <p:style>
            <a:lnRef idx="1">
              <a:schemeClr val="accent1"/>
            </a:lnRef>
            <a:fillRef idx="0">
              <a:schemeClr val="accent1"/>
            </a:fillRef>
            <a:effectRef idx="0">
              <a:schemeClr val="accent1"/>
            </a:effectRef>
            <a:fontRef idx="minor">
              <a:schemeClr val="tx1"/>
            </a:fontRef>
          </p:style>
        </p:cxnSp>
        <p:cxnSp>
          <p:nvCxnSpPr>
            <p:cNvPr id="130" name="Straight Arrow Connector 68">
              <a:extLst>
                <a:ext uri="{FF2B5EF4-FFF2-40B4-BE49-F238E27FC236}">
                  <a16:creationId xmlns:a16="http://schemas.microsoft.com/office/drawing/2014/main" id="{15BFFD7C-694E-8D63-56B4-0984D90876EF}"/>
                </a:ext>
              </a:extLst>
            </p:cNvPr>
            <p:cNvCxnSpPr>
              <a:cxnSpLocks/>
              <a:stCxn id="126" idx="4"/>
              <a:endCxn id="127" idx="0"/>
            </p:cNvCxnSpPr>
            <p:nvPr/>
          </p:nvCxnSpPr>
          <p:spPr>
            <a:xfrm rot="5400000">
              <a:off x="6654742" y="4344070"/>
              <a:ext cx="223067" cy="257979"/>
            </a:xfrm>
            <a:prstGeom prst="bentConnector3">
              <a:avLst>
                <a:gd name="adj1" fmla="val 50000"/>
              </a:avLst>
            </a:prstGeom>
            <a:ln w="9525">
              <a:solidFill>
                <a:srgbClr val="00530A"/>
              </a:solidFill>
              <a:tailEnd type="triangle"/>
            </a:ln>
          </p:spPr>
          <p:style>
            <a:lnRef idx="1">
              <a:schemeClr val="accent1"/>
            </a:lnRef>
            <a:fillRef idx="0">
              <a:schemeClr val="accent1"/>
            </a:fillRef>
            <a:effectRef idx="0">
              <a:schemeClr val="accent1"/>
            </a:effectRef>
            <a:fontRef idx="minor">
              <a:schemeClr val="tx1"/>
            </a:fontRef>
          </p:style>
        </p:cxnSp>
        <p:cxnSp>
          <p:nvCxnSpPr>
            <p:cNvPr id="131" name="Straight Arrow Connector 68">
              <a:extLst>
                <a:ext uri="{FF2B5EF4-FFF2-40B4-BE49-F238E27FC236}">
                  <a16:creationId xmlns:a16="http://schemas.microsoft.com/office/drawing/2014/main" id="{3F9769D8-6F80-F47A-8EB5-C0F2A74867F0}"/>
                </a:ext>
              </a:extLst>
            </p:cNvPr>
            <p:cNvCxnSpPr>
              <a:cxnSpLocks/>
              <a:stCxn id="128" idx="4"/>
              <a:endCxn id="132" idx="1"/>
            </p:cNvCxnSpPr>
            <p:nvPr/>
          </p:nvCxnSpPr>
          <p:spPr>
            <a:xfrm rot="5400000">
              <a:off x="7334546" y="5036635"/>
              <a:ext cx="533004" cy="111914"/>
            </a:xfrm>
            <a:prstGeom prst="bentConnector3">
              <a:avLst>
                <a:gd name="adj1" fmla="val 50000"/>
              </a:avLst>
            </a:prstGeom>
            <a:ln w="9525">
              <a:solidFill>
                <a:srgbClr val="00530A"/>
              </a:solidFill>
              <a:tailEnd type="triangle"/>
            </a:ln>
          </p:spPr>
          <p:style>
            <a:lnRef idx="1">
              <a:schemeClr val="accent1"/>
            </a:lnRef>
            <a:fillRef idx="0">
              <a:schemeClr val="accent1"/>
            </a:fillRef>
            <a:effectRef idx="0">
              <a:schemeClr val="accent1"/>
            </a:effectRef>
            <a:fontRef idx="minor">
              <a:schemeClr val="tx1"/>
            </a:fontRef>
          </p:style>
        </p:cxnSp>
        <p:sp>
          <p:nvSpPr>
            <p:cNvPr id="132" name="Cylinder 131">
              <a:extLst>
                <a:ext uri="{FF2B5EF4-FFF2-40B4-BE49-F238E27FC236}">
                  <a16:creationId xmlns:a16="http://schemas.microsoft.com/office/drawing/2014/main" id="{5CF8610C-FAF6-64C3-5FE3-2C2C390AB0D1}"/>
                </a:ext>
              </a:extLst>
            </p:cNvPr>
            <p:cNvSpPr/>
            <p:nvPr/>
          </p:nvSpPr>
          <p:spPr>
            <a:xfrm>
              <a:off x="7286632" y="5359094"/>
              <a:ext cx="516918" cy="329853"/>
            </a:xfrm>
            <a:prstGeom prst="can">
              <a:avLst/>
            </a:prstGeom>
            <a:solidFill>
              <a:schemeClr val="bg1">
                <a:lumMod val="95000"/>
              </a:schemeClr>
            </a:solidFill>
            <a:ln w="9525">
              <a:solidFill>
                <a:schemeClr val="tx1">
                  <a:lumMod val="50000"/>
                  <a:lumOff val="50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500" b="1" i="0" u="none" strike="noStrike" kern="1200" cap="none" spc="0" normalizeH="0" baseline="0" noProof="0">
                  <a:ln>
                    <a:noFill/>
                  </a:ln>
                  <a:solidFill>
                    <a:srgbClr val="000000">
                      <a:lumMod val="50000"/>
                      <a:lumOff val="50000"/>
                    </a:srgbClr>
                  </a:solidFill>
                  <a:effectLst/>
                  <a:uLnTx/>
                  <a:uFillTx/>
                  <a:latin typeface="Graphik" panose="020B0503030202060203" pitchFamily="34" charset="77"/>
                  <a:ea typeface="+mn-ea"/>
                  <a:cs typeface="+mn-cs"/>
                </a:rPr>
                <a:t>Esquema de la base de datos</a:t>
              </a:r>
              <a:endParaRPr kumimoji="0" lang="es-ES" sz="500" b="1" i="0" u="none" strike="noStrike" kern="1200" cap="none" spc="0" normalizeH="0" baseline="0" noProof="0">
                <a:ln>
                  <a:noFill/>
                </a:ln>
                <a:solidFill>
                  <a:srgbClr val="000000">
                    <a:lumMod val="50000"/>
                    <a:lumOff val="50000"/>
                  </a:srgbClr>
                </a:solidFill>
                <a:effectLst/>
                <a:uLnTx/>
                <a:uFillTx/>
                <a:latin typeface="Graphik" panose="020B0503030202060203" pitchFamily="34" charset="77"/>
                <a:ea typeface="+mn-ea"/>
                <a:cs typeface="+mn-cs"/>
              </a:endParaRPr>
            </a:p>
          </p:txBody>
        </p:sp>
        <p:sp>
          <p:nvSpPr>
            <p:cNvPr id="133" name="Cylinder 132">
              <a:extLst>
                <a:ext uri="{FF2B5EF4-FFF2-40B4-BE49-F238E27FC236}">
                  <a16:creationId xmlns:a16="http://schemas.microsoft.com/office/drawing/2014/main" id="{AACF8A35-FC1F-B14E-58F9-D73C686BDAA3}"/>
                </a:ext>
              </a:extLst>
            </p:cNvPr>
            <p:cNvSpPr/>
            <p:nvPr/>
          </p:nvSpPr>
          <p:spPr>
            <a:xfrm rot="16200000">
              <a:off x="7184058" y="4769442"/>
              <a:ext cx="150238" cy="490889"/>
            </a:xfrm>
            <a:prstGeom prst="can">
              <a:avLst/>
            </a:prstGeom>
            <a:solidFill>
              <a:srgbClr val="99CCFF"/>
            </a:solidFill>
            <a:ln w="6350">
              <a:solidFill>
                <a:srgbClr val="0033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a:ln>
                  <a:noFill/>
                </a:ln>
                <a:solidFill>
                  <a:srgbClr val="FFFFFF"/>
                </a:solidFill>
                <a:effectLst/>
                <a:uLnTx/>
                <a:uFillTx/>
                <a:latin typeface="Graphik"/>
                <a:ea typeface="+mn-ea"/>
                <a:cs typeface="+mn-cs"/>
              </a:endParaRPr>
            </a:p>
          </p:txBody>
        </p:sp>
        <p:cxnSp>
          <p:nvCxnSpPr>
            <p:cNvPr id="134" name="Straight Arrow Connector 68">
              <a:extLst>
                <a:ext uri="{FF2B5EF4-FFF2-40B4-BE49-F238E27FC236}">
                  <a16:creationId xmlns:a16="http://schemas.microsoft.com/office/drawing/2014/main" id="{2AAD50BF-F374-DFA6-9A1B-CDC93FA64355}"/>
                </a:ext>
              </a:extLst>
            </p:cNvPr>
            <p:cNvCxnSpPr>
              <a:cxnSpLocks/>
              <a:stCxn id="127" idx="6"/>
            </p:cNvCxnSpPr>
            <p:nvPr/>
          </p:nvCxnSpPr>
          <p:spPr>
            <a:xfrm>
              <a:off x="6895263" y="4684916"/>
              <a:ext cx="241934" cy="254851"/>
            </a:xfrm>
            <a:prstGeom prst="bentConnector2">
              <a:avLst/>
            </a:prstGeom>
            <a:ln w="9525">
              <a:solidFill>
                <a:srgbClr val="00530A"/>
              </a:solidFill>
              <a:tailEnd type="triangle"/>
            </a:ln>
          </p:spPr>
          <p:style>
            <a:lnRef idx="1">
              <a:schemeClr val="accent1"/>
            </a:lnRef>
            <a:fillRef idx="0">
              <a:schemeClr val="accent1"/>
            </a:fillRef>
            <a:effectRef idx="0">
              <a:schemeClr val="accent1"/>
            </a:effectRef>
            <a:fontRef idx="minor">
              <a:schemeClr val="tx1"/>
            </a:fontRef>
          </p:style>
        </p:cxnSp>
      </p:grpSp>
      <p:sp>
        <p:nvSpPr>
          <p:cNvPr id="135" name="Text Placeholder 4">
            <a:extLst>
              <a:ext uri="{FF2B5EF4-FFF2-40B4-BE49-F238E27FC236}">
                <a16:creationId xmlns:a16="http://schemas.microsoft.com/office/drawing/2014/main" id="{81198886-CDEC-465A-5099-4D81F4FCBAE1}"/>
              </a:ext>
            </a:extLst>
          </p:cNvPr>
          <p:cNvSpPr txBox="1">
            <a:spLocks/>
          </p:cNvSpPr>
          <p:nvPr/>
        </p:nvSpPr>
        <p:spPr>
          <a:xfrm>
            <a:off x="6073869" y="1348742"/>
            <a:ext cx="3026037" cy="797457"/>
          </a:xfrm>
          <a:prstGeom prst="rect">
            <a:avLst/>
          </a:prstGeom>
        </p:spPr>
        <p:txBody>
          <a:bodyPr vert="horz" lIns="0" tIns="0" rIns="0" bIns="0" rtlCol="0" anchor="ctr">
            <a:noAutofit/>
          </a:bodyPr>
          <a:lstStyle>
            <a:lvl1pPr marL="0" indent="0" algn="l" rtl="0" eaLnBrk="1" fontAlgn="base" hangingPunct="1">
              <a:lnSpc>
                <a:spcPct val="110000"/>
              </a:lnSpc>
              <a:spcBef>
                <a:spcPts val="1200"/>
              </a:spcBef>
              <a:spcAft>
                <a:spcPct val="0"/>
              </a:spcAft>
              <a:buFont typeface="Arial" pitchFamily="34" charset="0"/>
              <a:buNone/>
              <a:defRPr lang="en-US" sz="1600" b="1" i="0" kern="1200" cap="all" baseline="0" dirty="0">
                <a:solidFill>
                  <a:schemeClr val="accent1"/>
                </a:solidFill>
                <a:latin typeface="Graphik" panose="020B0503030202060203" pitchFamily="34" charset="77"/>
                <a:ea typeface="Roboto" panose="02000000000000000000" pitchFamily="2" charset="0"/>
                <a:cs typeface="Arial" panose="020B0604020202020204" pitchFamily="34" charset="0"/>
              </a:defRPr>
            </a:lvl1pPr>
            <a:lvl2pPr marL="216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2pPr>
            <a:lvl3pPr marL="432000" indent="-216000" algn="l" rtl="0" eaLnBrk="1" fontAlgn="base" hangingPunct="1">
              <a:lnSpc>
                <a:spcPct val="110000"/>
              </a:lnSpc>
              <a:spcBef>
                <a:spcPts val="800"/>
              </a:spcBef>
              <a:spcAft>
                <a:spcPct val="0"/>
              </a:spcAft>
              <a:buFont typeface="Arial" pitchFamily="34" charset="0"/>
              <a:buChar char="‒"/>
              <a:tabLst/>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3pPr>
            <a:lvl4pPr marL="612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4pPr>
            <a:lvl5pPr marL="864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5pPr>
            <a:lvl6pPr marL="3351933"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376"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0819"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261"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ts val="0"/>
              </a:spcBef>
              <a:spcAft>
                <a:spcPct val="0"/>
              </a:spcAft>
              <a:buClrTx/>
              <a:buSzTx/>
              <a:buFont typeface="Arial" pitchFamily="34" charset="0"/>
              <a:buNone/>
              <a:tabLst/>
              <a:defRPr/>
            </a:pPr>
            <a:r>
              <a:rPr kumimoji="0" lang="es" sz="1200" b="1" i="0" u="none" strike="noStrike" kern="1200" cap="all" spc="0" normalizeH="0" baseline="0" noProof="0">
                <a:ln>
                  <a:noFill/>
                </a:ln>
                <a:solidFill>
                  <a:srgbClr val="7500C0"/>
                </a:solidFill>
                <a:effectLst/>
                <a:uLnTx/>
                <a:uFillTx/>
                <a:latin typeface="Graphik" panose="020B0503030202060203" pitchFamily="34" charset="77"/>
                <a:ea typeface="Roboto" panose="02000000000000000000" pitchFamily="2" charset="0"/>
                <a:cs typeface="Arial" panose="020B0604020202020204" pitchFamily="34" charset="0"/>
              </a:rPr>
              <a:t>Transacción de Consistencia Eventual entre subdominios </a:t>
            </a:r>
            <a:br>
              <a:rPr kumimoji="0" lang="en-US" sz="1200" b="1" i="0" u="none" strike="noStrike" kern="1200" cap="all" spc="0" normalizeH="0" baseline="0" noProof="0">
                <a:ln>
                  <a:noFill/>
                </a:ln>
                <a:solidFill>
                  <a:srgbClr val="7500C0"/>
                </a:solidFill>
                <a:effectLst/>
                <a:uLnTx/>
                <a:uFillTx/>
                <a:latin typeface="Graphik" panose="020B0503030202060203" pitchFamily="34" charset="77"/>
                <a:ea typeface="Roboto" panose="02000000000000000000" pitchFamily="2" charset="0"/>
                <a:cs typeface="Arial" panose="020B0604020202020204" pitchFamily="34" charset="0"/>
              </a:rPr>
            </a:br>
            <a:r>
              <a:rPr kumimoji="0" lang="es" sz="1200" b="1" i="0" u="none" strike="noStrike" kern="1200" cap="all" spc="0" normalizeH="0" baseline="0" noProof="0">
                <a:ln>
                  <a:noFill/>
                </a:ln>
                <a:solidFill>
                  <a:srgbClr val="7500C0"/>
                </a:solidFill>
                <a:effectLst/>
                <a:uLnTx/>
                <a:uFillTx/>
                <a:latin typeface="Graphik" panose="020B0503030202060203" pitchFamily="34" charset="77"/>
                <a:ea typeface="Roboto" panose="02000000000000000000" pitchFamily="2" charset="0"/>
                <a:cs typeface="Arial" panose="020B0604020202020204" pitchFamily="34" charset="0"/>
              </a:rPr>
              <a:t>(ambos subdominios están en la plataforma contenedor)</a:t>
            </a:r>
          </a:p>
        </p:txBody>
      </p:sp>
      <p:grpSp>
        <p:nvGrpSpPr>
          <p:cNvPr id="136" name="Group 135">
            <a:extLst>
              <a:ext uri="{FF2B5EF4-FFF2-40B4-BE49-F238E27FC236}">
                <a16:creationId xmlns:a16="http://schemas.microsoft.com/office/drawing/2014/main" id="{DC2FB4AD-03ED-FF32-1A7E-5AD175C46AA7}"/>
              </a:ext>
            </a:extLst>
          </p:cNvPr>
          <p:cNvGrpSpPr/>
          <p:nvPr/>
        </p:nvGrpSpPr>
        <p:grpSpPr>
          <a:xfrm>
            <a:off x="9594962" y="3996674"/>
            <a:ext cx="2264983" cy="1764771"/>
            <a:chOff x="9516857" y="4468546"/>
            <a:chExt cx="2264983" cy="1764771"/>
          </a:xfrm>
        </p:grpSpPr>
        <p:sp>
          <p:nvSpPr>
            <p:cNvPr id="137" name="Cylinder 136">
              <a:extLst>
                <a:ext uri="{FF2B5EF4-FFF2-40B4-BE49-F238E27FC236}">
                  <a16:creationId xmlns:a16="http://schemas.microsoft.com/office/drawing/2014/main" id="{D164D099-CE31-2FFA-A392-2EAE10AFD9B8}"/>
                </a:ext>
              </a:extLst>
            </p:cNvPr>
            <p:cNvSpPr/>
            <p:nvPr/>
          </p:nvSpPr>
          <p:spPr>
            <a:xfrm>
              <a:off x="9516857" y="5755647"/>
              <a:ext cx="1354581" cy="477670"/>
            </a:xfrm>
            <a:prstGeom prst="can">
              <a:avLst>
                <a:gd name="adj" fmla="val 15538"/>
              </a:avLst>
            </a:prstGeom>
            <a:solidFill>
              <a:schemeClr val="bg1">
                <a:lumMod val="75000"/>
              </a:schemeClr>
            </a:solidFill>
            <a:ln w="3175">
              <a:solidFill>
                <a:schemeClr val="tx1">
                  <a:lumMod val="50000"/>
                  <a:lumOff val="50000"/>
                </a:schemeClr>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600" b="1" i="0" u="none" strike="noStrike" kern="1200" cap="none" spc="0" normalizeH="0" baseline="0" noProof="0" dirty="0">
                  <a:ln>
                    <a:noFill/>
                  </a:ln>
                  <a:solidFill>
                    <a:srgbClr val="000000">
                      <a:lumMod val="50000"/>
                      <a:lumOff val="50000"/>
                    </a:srgbClr>
                  </a:solidFill>
                  <a:effectLst/>
                  <a:uLnTx/>
                  <a:uFillTx/>
                  <a:latin typeface="Graphik" panose="020B0503030202060203" pitchFamily="34" charset="77"/>
                  <a:ea typeface="+mn-ea"/>
                  <a:cs typeface="+mn-cs"/>
                </a:rPr>
                <a:t>Oracle</a:t>
              </a:r>
              <a:endParaRPr kumimoji="0" lang="es" sz="600" b="1" i="0" u="none" strike="noStrike" kern="1200" cap="none" spc="0" normalizeH="0" baseline="0" noProof="0" dirty="0">
                <a:ln>
                  <a:noFill/>
                </a:ln>
                <a:solidFill>
                  <a:srgbClr val="000000">
                    <a:lumMod val="50000"/>
                    <a:lumOff val="50000"/>
                  </a:srgbClr>
                </a:solidFill>
                <a:effectLst/>
                <a:uLnTx/>
                <a:uFillTx/>
                <a:latin typeface="Graphik" panose="020B0503030202060203" pitchFamily="34" charset="77"/>
                <a:ea typeface="+mn-ea"/>
                <a:cs typeface="+mn-cs"/>
              </a:endParaRPr>
            </a:p>
          </p:txBody>
        </p:sp>
        <p:sp>
          <p:nvSpPr>
            <p:cNvPr id="138" name="Rectangle 137">
              <a:extLst>
                <a:ext uri="{FF2B5EF4-FFF2-40B4-BE49-F238E27FC236}">
                  <a16:creationId xmlns:a16="http://schemas.microsoft.com/office/drawing/2014/main" id="{501B8BBB-F89B-83B7-E515-93716EF9B32A}"/>
                </a:ext>
              </a:extLst>
            </p:cNvPr>
            <p:cNvSpPr/>
            <p:nvPr/>
          </p:nvSpPr>
          <p:spPr>
            <a:xfrm>
              <a:off x="10917840" y="4468546"/>
              <a:ext cx="864000" cy="1002206"/>
            </a:xfrm>
            <a:prstGeom prst="rect">
              <a:avLst/>
            </a:prstGeom>
            <a:solidFill>
              <a:schemeClr val="tx1">
                <a:lumMod val="50000"/>
                <a:lumOff val="50000"/>
              </a:schemeClr>
            </a:solidFill>
            <a:ln w="19050">
              <a:no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lIns="0" r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000" b="1" i="0" u="none" strike="noStrike" kern="1200" cap="none" spc="0" normalizeH="0" baseline="0" noProof="0">
                  <a:ln>
                    <a:noFill/>
                  </a:ln>
                  <a:solidFill>
                    <a:srgbClr val="FFFFFF"/>
                  </a:solidFill>
                  <a:effectLst/>
                  <a:uLnTx/>
                  <a:uFillTx/>
                  <a:latin typeface="Graphik" panose="020B0503030202060203" pitchFamily="34" charset="77"/>
                  <a:ea typeface="+mn-ea"/>
                  <a:cs typeface="+mn-cs"/>
                </a:rPr>
                <a:t>Mainframe</a:t>
              </a:r>
            </a:p>
          </p:txBody>
        </p:sp>
        <p:sp>
          <p:nvSpPr>
            <p:cNvPr id="139" name="Flowchart: Magnetic Disk 138">
              <a:extLst>
                <a:ext uri="{FF2B5EF4-FFF2-40B4-BE49-F238E27FC236}">
                  <a16:creationId xmlns:a16="http://schemas.microsoft.com/office/drawing/2014/main" id="{AA82BE0E-23C7-2586-F429-89ACE7F6C832}"/>
                </a:ext>
              </a:extLst>
            </p:cNvPr>
            <p:cNvSpPr/>
            <p:nvPr/>
          </p:nvSpPr>
          <p:spPr>
            <a:xfrm>
              <a:off x="11044480" y="4817500"/>
              <a:ext cx="610720" cy="537424"/>
            </a:xfrm>
            <a:prstGeom prst="flowChartMagneticDisk">
              <a:avLst/>
            </a:prstGeom>
            <a:solidFill>
              <a:schemeClr val="bg1">
                <a:lumMod val="8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90526" tIns="45262" rIns="90526" bIns="45262"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000" b="0" i="0" u="none" strike="noStrike" kern="1200" cap="none" spc="0" normalizeH="0" baseline="0" noProof="0">
                  <a:ln>
                    <a:noFill/>
                  </a:ln>
                  <a:solidFill>
                    <a:srgbClr val="E6E6DC">
                      <a:lumMod val="25000"/>
                    </a:srgbClr>
                  </a:solidFill>
                  <a:effectLst/>
                  <a:uLnTx/>
                  <a:uFillTx/>
                  <a:latin typeface="Arial" panose="020B0604020202020204" pitchFamily="34" charset="0"/>
                  <a:ea typeface="+mn-ea"/>
                  <a:cs typeface="Arial" panose="020B0604020202020204" pitchFamily="34" charset="0"/>
                </a:rPr>
                <a:t>DB2</a:t>
              </a:r>
            </a:p>
          </p:txBody>
        </p:sp>
        <p:sp>
          <p:nvSpPr>
            <p:cNvPr id="140" name="Rectangle 139">
              <a:extLst>
                <a:ext uri="{FF2B5EF4-FFF2-40B4-BE49-F238E27FC236}">
                  <a16:creationId xmlns:a16="http://schemas.microsoft.com/office/drawing/2014/main" id="{B7D6054D-E6F6-7628-7D9C-3F209E10ADED}"/>
                </a:ext>
              </a:extLst>
            </p:cNvPr>
            <p:cNvSpPr/>
            <p:nvPr/>
          </p:nvSpPr>
          <p:spPr>
            <a:xfrm>
              <a:off x="9516859" y="4468546"/>
              <a:ext cx="1354582" cy="1181684"/>
            </a:xfrm>
            <a:prstGeom prst="rect">
              <a:avLst/>
            </a:prstGeom>
            <a:solidFill>
              <a:srgbClr val="FFCC99"/>
            </a:solidFill>
            <a:ln w="9525">
              <a:solidFill>
                <a:schemeClr val="bg1">
                  <a:lumMod val="9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Ins="252000" rtlCol="0" anchor="t"/>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s-ES" sz="800" b="1" i="0" u="none" strike="noStrike" kern="1200" cap="none" spc="0" normalizeH="0" baseline="0" noProof="0">
                <a:ln>
                  <a:noFill/>
                </a:ln>
                <a:solidFill>
                  <a:srgbClr val="000000">
                    <a:lumMod val="75000"/>
                    <a:lumOff val="25000"/>
                  </a:srgbClr>
                </a:solidFill>
                <a:effectLst/>
                <a:uLnTx/>
                <a:uFillTx/>
                <a:latin typeface="Arial" charset="0"/>
                <a:ea typeface="+mn-ea"/>
                <a:cs typeface="Arial" charset="0"/>
              </a:endParaRPr>
            </a:p>
          </p:txBody>
        </p:sp>
        <p:sp>
          <p:nvSpPr>
            <p:cNvPr id="141" name="Cylinder 140">
              <a:extLst>
                <a:ext uri="{FF2B5EF4-FFF2-40B4-BE49-F238E27FC236}">
                  <a16:creationId xmlns:a16="http://schemas.microsoft.com/office/drawing/2014/main" id="{3A71BFD9-4A4B-3B81-C438-3E109EBF8BEC}"/>
                </a:ext>
              </a:extLst>
            </p:cNvPr>
            <p:cNvSpPr/>
            <p:nvPr/>
          </p:nvSpPr>
          <p:spPr>
            <a:xfrm>
              <a:off x="9928910" y="5879703"/>
              <a:ext cx="516918" cy="329853"/>
            </a:xfrm>
            <a:prstGeom prst="can">
              <a:avLst/>
            </a:prstGeom>
            <a:solidFill>
              <a:schemeClr val="bg1">
                <a:lumMod val="95000"/>
              </a:schemeClr>
            </a:solidFill>
            <a:ln w="9525">
              <a:solidFill>
                <a:schemeClr val="tx1">
                  <a:lumMod val="50000"/>
                  <a:lumOff val="50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500" b="1" i="0" u="none" strike="noStrike" kern="1200" cap="none" spc="0" normalizeH="0" baseline="0" noProof="0">
                  <a:ln>
                    <a:noFill/>
                  </a:ln>
                  <a:solidFill>
                    <a:srgbClr val="000000">
                      <a:lumMod val="50000"/>
                      <a:lumOff val="50000"/>
                    </a:srgbClr>
                  </a:solidFill>
                  <a:effectLst/>
                  <a:uLnTx/>
                  <a:uFillTx/>
                  <a:latin typeface="Graphik" panose="020B0503030202060203" pitchFamily="34" charset="77"/>
                  <a:ea typeface="+mn-ea"/>
                  <a:cs typeface="+mn-cs"/>
                </a:rPr>
                <a:t>Esquema de la base de datos</a:t>
              </a:r>
              <a:endParaRPr kumimoji="0" lang="es-ES" sz="500" b="1" i="0" u="none" strike="noStrike" kern="1200" cap="none" spc="0" normalizeH="0" baseline="0" noProof="0">
                <a:ln>
                  <a:noFill/>
                </a:ln>
                <a:solidFill>
                  <a:srgbClr val="000000">
                    <a:lumMod val="50000"/>
                    <a:lumOff val="50000"/>
                  </a:srgbClr>
                </a:solidFill>
                <a:effectLst/>
                <a:uLnTx/>
                <a:uFillTx/>
                <a:latin typeface="Graphik" panose="020B0503030202060203" pitchFamily="34" charset="77"/>
                <a:ea typeface="+mn-ea"/>
                <a:cs typeface="+mn-cs"/>
              </a:endParaRPr>
            </a:p>
          </p:txBody>
        </p:sp>
        <p:sp>
          <p:nvSpPr>
            <p:cNvPr id="142" name="Rectangle 141">
              <a:extLst>
                <a:ext uri="{FF2B5EF4-FFF2-40B4-BE49-F238E27FC236}">
                  <a16:creationId xmlns:a16="http://schemas.microsoft.com/office/drawing/2014/main" id="{78C7CE78-75FA-82F7-E92F-D578F4FC52B1}"/>
                </a:ext>
              </a:extLst>
            </p:cNvPr>
            <p:cNvSpPr/>
            <p:nvPr/>
          </p:nvSpPr>
          <p:spPr>
            <a:xfrm>
              <a:off x="9565477" y="4513542"/>
              <a:ext cx="718953" cy="1028738"/>
            </a:xfrm>
            <a:prstGeom prst="rect">
              <a:avLst/>
            </a:prstGeom>
            <a:solidFill>
              <a:srgbClr val="E3DED1">
                <a:lumMod val="90000"/>
              </a:srgbClr>
            </a:solidFill>
            <a:ln w="12700" cap="flat" cmpd="sng" algn="ctr">
              <a:solidFill>
                <a:sysClr val="window" lastClr="FFFFFF">
                  <a:lumMod val="95000"/>
                </a:sysClr>
              </a:solidFill>
              <a:prstDash val="sysDot"/>
              <a:headEnd type="none" w="med" len="med"/>
              <a:tailEnd type="none" w="med" len="med"/>
            </a:ln>
            <a:effectLst/>
          </p:spPr>
          <p:txBody>
            <a:bodyPr t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1" i="0" u="none" strike="noStrike" kern="0" cap="none" spc="0" normalizeH="0" baseline="0" noProof="0" err="1">
                  <a:ln>
                    <a:noFill/>
                  </a:ln>
                  <a:solidFill>
                    <a:prstClr val="white"/>
                  </a:solidFill>
                  <a:effectLst/>
                  <a:uLnTx/>
                  <a:uFillTx/>
                  <a:latin typeface="Graphik" panose="020B0503030202060203" pitchFamily="34" charset="77"/>
                  <a:ea typeface="+mn-ea"/>
                  <a:cs typeface="+mn-cs"/>
                </a:rPr>
                <a:t>Subdominio</a:t>
              </a:r>
              <a:endParaRPr kumimoji="0" lang="es-ES" sz="700" b="1" i="0" u="none" strike="noStrike" kern="0" cap="none" spc="0" normalizeH="0" baseline="0" noProof="0">
                <a:ln>
                  <a:noFill/>
                </a:ln>
                <a:solidFill>
                  <a:prstClr val="white"/>
                </a:solidFill>
                <a:effectLst/>
                <a:uLnTx/>
                <a:uFillTx/>
                <a:latin typeface="Graphik" panose="020B0503030202060203" pitchFamily="34" charset="77"/>
                <a:ea typeface="+mn-ea"/>
                <a:cs typeface="+mn-cs"/>
              </a:endParaRPr>
            </a:p>
          </p:txBody>
        </p:sp>
        <p:cxnSp>
          <p:nvCxnSpPr>
            <p:cNvPr id="143" name="Straight Arrow Connector 68">
              <a:extLst>
                <a:ext uri="{FF2B5EF4-FFF2-40B4-BE49-F238E27FC236}">
                  <a16:creationId xmlns:a16="http://schemas.microsoft.com/office/drawing/2014/main" id="{5EAF1E0B-AF56-636E-4241-73BF7825CB44}"/>
                </a:ext>
              </a:extLst>
            </p:cNvPr>
            <p:cNvCxnSpPr>
              <a:cxnSpLocks/>
              <a:stCxn id="145" idx="4"/>
              <a:endCxn id="141" idx="1"/>
            </p:cNvCxnSpPr>
            <p:nvPr/>
          </p:nvCxnSpPr>
          <p:spPr>
            <a:xfrm rot="16200000" flipH="1">
              <a:off x="9824068" y="5516402"/>
              <a:ext cx="397234" cy="329367"/>
            </a:xfrm>
            <a:prstGeom prst="bentConnector3">
              <a:avLst>
                <a:gd name="adj1" fmla="val 50000"/>
              </a:avLst>
            </a:prstGeom>
            <a:ln w="9525">
              <a:solidFill>
                <a:srgbClr val="00530A"/>
              </a:solidFill>
              <a:tailEnd type="triangle"/>
            </a:ln>
          </p:spPr>
          <p:style>
            <a:lnRef idx="1">
              <a:schemeClr val="accent1"/>
            </a:lnRef>
            <a:fillRef idx="0">
              <a:schemeClr val="accent1"/>
            </a:fillRef>
            <a:effectRef idx="0">
              <a:schemeClr val="accent1"/>
            </a:effectRef>
            <a:fontRef idx="minor">
              <a:schemeClr val="tx1"/>
            </a:fontRef>
          </p:style>
        </p:cxnSp>
        <p:sp>
          <p:nvSpPr>
            <p:cNvPr id="144" name="Oval 143">
              <a:extLst>
                <a:ext uri="{FF2B5EF4-FFF2-40B4-BE49-F238E27FC236}">
                  <a16:creationId xmlns:a16="http://schemas.microsoft.com/office/drawing/2014/main" id="{F3DD2193-9E3E-1D5E-970D-809DFAA77EA9}"/>
                </a:ext>
              </a:extLst>
            </p:cNvPr>
            <p:cNvSpPr/>
            <p:nvPr/>
          </p:nvSpPr>
          <p:spPr bwMode="auto">
            <a:xfrm>
              <a:off x="9696077" y="4686661"/>
              <a:ext cx="515957" cy="200645"/>
            </a:xfrm>
            <a:prstGeom prst="ellipse">
              <a:avLst/>
            </a:prstGeom>
            <a:solidFill>
              <a:schemeClr val="accent2">
                <a:lumMod val="20000"/>
                <a:lumOff val="80000"/>
              </a:schemeClr>
            </a:solidFill>
            <a:ln w="6350">
              <a:solidFill>
                <a:schemeClr val="bg1"/>
              </a:solidFill>
              <a:prstDash val="solid"/>
              <a:miter lim="800000"/>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ct val="30000"/>
                </a:spcBef>
                <a:spcAft>
                  <a:spcPts val="0"/>
                </a:spcAft>
                <a:buClrTx/>
                <a:buSzTx/>
                <a:buFontTx/>
                <a:buNone/>
                <a:tabLst/>
                <a:defRPr/>
              </a:pPr>
              <a:r>
                <a:rPr kumimoji="0" lang="es" sz="600" b="1" i="0" u="none" strike="noStrike" kern="1200" cap="none" spc="0" normalizeH="0" baseline="0" noProof="0">
                  <a:ln>
                    <a:noFill/>
                  </a:ln>
                  <a:solidFill>
                    <a:srgbClr val="000000">
                      <a:lumMod val="65000"/>
                      <a:lumOff val="35000"/>
                    </a:srgbClr>
                  </a:solidFill>
                  <a:effectLst/>
                  <a:uLnTx/>
                  <a:uFillTx/>
                  <a:latin typeface="Graphik" panose="020B0503030202060203" pitchFamily="34" charset="0"/>
                  <a:ea typeface="+mn-ea"/>
                  <a:cs typeface="+mn-cs"/>
                </a:rPr>
                <a:t>Servicio</a:t>
              </a:r>
            </a:p>
          </p:txBody>
        </p:sp>
        <p:sp>
          <p:nvSpPr>
            <p:cNvPr id="145" name="Oval 144">
              <a:extLst>
                <a:ext uri="{FF2B5EF4-FFF2-40B4-BE49-F238E27FC236}">
                  <a16:creationId xmlns:a16="http://schemas.microsoft.com/office/drawing/2014/main" id="{BD05A074-BF15-C840-7720-427C189CF431}"/>
                </a:ext>
              </a:extLst>
            </p:cNvPr>
            <p:cNvSpPr/>
            <p:nvPr/>
          </p:nvSpPr>
          <p:spPr bwMode="auto">
            <a:xfrm>
              <a:off x="9600023" y="5281824"/>
              <a:ext cx="515957" cy="200645"/>
            </a:xfrm>
            <a:prstGeom prst="ellipse">
              <a:avLst/>
            </a:prstGeom>
            <a:solidFill>
              <a:schemeClr val="accent2">
                <a:lumMod val="20000"/>
                <a:lumOff val="80000"/>
              </a:schemeClr>
            </a:solidFill>
            <a:ln w="6350">
              <a:solidFill>
                <a:schemeClr val="bg1"/>
              </a:solidFill>
              <a:prstDash val="solid"/>
              <a:miter lim="800000"/>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ct val="30000"/>
                </a:spcBef>
                <a:spcAft>
                  <a:spcPts val="0"/>
                </a:spcAft>
                <a:buClrTx/>
                <a:buSzTx/>
                <a:buFontTx/>
                <a:buNone/>
                <a:tabLst/>
                <a:defRPr/>
              </a:pPr>
              <a:r>
                <a:rPr kumimoji="0" lang="es" sz="600" b="1" i="0" u="none" strike="noStrike" kern="1200" cap="none" spc="0" normalizeH="0" baseline="0" noProof="0">
                  <a:ln>
                    <a:noFill/>
                  </a:ln>
                  <a:solidFill>
                    <a:srgbClr val="000000">
                      <a:lumMod val="65000"/>
                      <a:lumOff val="35000"/>
                    </a:srgbClr>
                  </a:solidFill>
                  <a:effectLst/>
                  <a:uLnTx/>
                  <a:uFillTx/>
                  <a:latin typeface="Graphik" panose="020B0503030202060203" pitchFamily="34" charset="0"/>
                  <a:ea typeface="+mn-ea"/>
                  <a:cs typeface="+mn-cs"/>
                </a:rPr>
                <a:t>Servicio</a:t>
              </a:r>
            </a:p>
          </p:txBody>
        </p:sp>
        <p:sp>
          <p:nvSpPr>
            <p:cNvPr id="146" name="Oval 145">
              <a:extLst>
                <a:ext uri="{FF2B5EF4-FFF2-40B4-BE49-F238E27FC236}">
                  <a16:creationId xmlns:a16="http://schemas.microsoft.com/office/drawing/2014/main" id="{6B7BEB38-918D-0EFE-7773-FE4FA6296DAC}"/>
                </a:ext>
              </a:extLst>
            </p:cNvPr>
            <p:cNvSpPr/>
            <p:nvPr/>
          </p:nvSpPr>
          <p:spPr bwMode="auto">
            <a:xfrm>
              <a:off x="10319957" y="5151225"/>
              <a:ext cx="515957" cy="200645"/>
            </a:xfrm>
            <a:prstGeom prst="ellipse">
              <a:avLst/>
            </a:prstGeom>
            <a:solidFill>
              <a:schemeClr val="accent2">
                <a:lumMod val="20000"/>
                <a:lumOff val="80000"/>
              </a:schemeClr>
            </a:solidFill>
            <a:ln w="6350">
              <a:solidFill>
                <a:schemeClr val="bg1"/>
              </a:solidFill>
              <a:prstDash val="solid"/>
              <a:miter lim="800000"/>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ct val="30000"/>
                </a:spcBef>
                <a:spcAft>
                  <a:spcPts val="0"/>
                </a:spcAft>
                <a:buClrTx/>
                <a:buSzTx/>
                <a:buFontTx/>
                <a:buNone/>
                <a:tabLst/>
                <a:defRPr/>
              </a:pPr>
              <a:r>
                <a:rPr kumimoji="0" lang="es" sz="600" b="1" i="0" u="none" strike="noStrike" kern="1200" cap="none" spc="0" normalizeH="0" baseline="0" noProof="0">
                  <a:ln>
                    <a:noFill/>
                  </a:ln>
                  <a:solidFill>
                    <a:srgbClr val="000000">
                      <a:lumMod val="65000"/>
                      <a:lumOff val="35000"/>
                    </a:srgbClr>
                  </a:solidFill>
                  <a:effectLst/>
                  <a:uLnTx/>
                  <a:uFillTx/>
                  <a:latin typeface="Graphik" panose="020B0503030202060203" pitchFamily="34" charset="0"/>
                  <a:ea typeface="+mn-ea"/>
                  <a:cs typeface="+mn-cs"/>
                </a:rPr>
                <a:t>Servicio ACL</a:t>
              </a:r>
            </a:p>
          </p:txBody>
        </p:sp>
        <p:cxnSp>
          <p:nvCxnSpPr>
            <p:cNvPr id="147" name="Straight Arrow Connector 65">
              <a:extLst>
                <a:ext uri="{FF2B5EF4-FFF2-40B4-BE49-F238E27FC236}">
                  <a16:creationId xmlns:a16="http://schemas.microsoft.com/office/drawing/2014/main" id="{DAF06B7B-CE68-D3DB-EB72-6A6EA7A15E12}"/>
                </a:ext>
              </a:extLst>
            </p:cNvPr>
            <p:cNvCxnSpPr>
              <a:cxnSpLocks/>
              <a:stCxn id="144" idx="4"/>
              <a:endCxn id="146" idx="0"/>
            </p:cNvCxnSpPr>
            <p:nvPr/>
          </p:nvCxnSpPr>
          <p:spPr>
            <a:xfrm rot="16200000" flipH="1">
              <a:off x="10134037" y="4707325"/>
              <a:ext cx="263919" cy="623880"/>
            </a:xfrm>
            <a:prstGeom prst="bentConnector3">
              <a:avLst>
                <a:gd name="adj1" fmla="val 50000"/>
              </a:avLst>
            </a:prstGeom>
            <a:ln w="9525">
              <a:solidFill>
                <a:srgbClr val="00530A"/>
              </a:solidFill>
              <a:tailEnd type="triangle"/>
            </a:ln>
          </p:spPr>
          <p:style>
            <a:lnRef idx="1">
              <a:schemeClr val="accent1"/>
            </a:lnRef>
            <a:fillRef idx="0">
              <a:schemeClr val="accent1"/>
            </a:fillRef>
            <a:effectRef idx="0">
              <a:schemeClr val="accent1"/>
            </a:effectRef>
            <a:fontRef idx="minor">
              <a:schemeClr val="tx1"/>
            </a:fontRef>
          </p:style>
        </p:cxnSp>
        <p:cxnSp>
          <p:nvCxnSpPr>
            <p:cNvPr id="148" name="Straight Arrow Connector 68">
              <a:extLst>
                <a:ext uri="{FF2B5EF4-FFF2-40B4-BE49-F238E27FC236}">
                  <a16:creationId xmlns:a16="http://schemas.microsoft.com/office/drawing/2014/main" id="{64CB87FA-E2B1-4D9A-2B84-B69A1375EA0C}"/>
                </a:ext>
              </a:extLst>
            </p:cNvPr>
            <p:cNvCxnSpPr>
              <a:cxnSpLocks/>
              <a:stCxn id="144" idx="4"/>
              <a:endCxn id="145" idx="0"/>
            </p:cNvCxnSpPr>
            <p:nvPr/>
          </p:nvCxnSpPr>
          <p:spPr>
            <a:xfrm rot="5400000">
              <a:off x="9708770" y="5036538"/>
              <a:ext cx="394518" cy="96054"/>
            </a:xfrm>
            <a:prstGeom prst="bentConnector3">
              <a:avLst>
                <a:gd name="adj1" fmla="val 50000"/>
              </a:avLst>
            </a:prstGeom>
            <a:ln w="9525">
              <a:solidFill>
                <a:srgbClr val="00530A"/>
              </a:solidFill>
              <a:tailEnd type="triangle"/>
            </a:ln>
          </p:spPr>
          <p:style>
            <a:lnRef idx="1">
              <a:schemeClr val="accent1"/>
            </a:lnRef>
            <a:fillRef idx="0">
              <a:schemeClr val="accent1"/>
            </a:fillRef>
            <a:effectRef idx="0">
              <a:schemeClr val="accent1"/>
            </a:effectRef>
            <a:fontRef idx="minor">
              <a:schemeClr val="tx1"/>
            </a:fontRef>
          </p:style>
        </p:cxnSp>
        <p:cxnSp>
          <p:nvCxnSpPr>
            <p:cNvPr id="149" name="Straight Arrow Connector 68">
              <a:extLst>
                <a:ext uri="{FF2B5EF4-FFF2-40B4-BE49-F238E27FC236}">
                  <a16:creationId xmlns:a16="http://schemas.microsoft.com/office/drawing/2014/main" id="{F4D00545-2E36-404F-4663-16463BFE7F9F}"/>
                </a:ext>
              </a:extLst>
            </p:cNvPr>
            <p:cNvCxnSpPr>
              <a:cxnSpLocks/>
              <a:stCxn id="146" idx="6"/>
              <a:endCxn id="139" idx="2"/>
            </p:cNvCxnSpPr>
            <p:nvPr/>
          </p:nvCxnSpPr>
          <p:spPr>
            <a:xfrm flipV="1">
              <a:off x="10835914" y="5086212"/>
              <a:ext cx="208566" cy="165336"/>
            </a:xfrm>
            <a:prstGeom prst="bentConnector3">
              <a:avLst>
                <a:gd name="adj1" fmla="val 50000"/>
              </a:avLst>
            </a:prstGeom>
            <a:ln w="9525">
              <a:solidFill>
                <a:srgbClr val="00530A"/>
              </a:solidFill>
              <a:tailEnd type="triangle"/>
            </a:ln>
          </p:spPr>
          <p:style>
            <a:lnRef idx="1">
              <a:schemeClr val="accent1"/>
            </a:lnRef>
            <a:fillRef idx="0">
              <a:schemeClr val="accent1"/>
            </a:fillRef>
            <a:effectRef idx="0">
              <a:schemeClr val="accent1"/>
            </a:effectRef>
            <a:fontRef idx="minor">
              <a:schemeClr val="tx1"/>
            </a:fontRef>
          </p:style>
        </p:cxnSp>
      </p:grpSp>
      <p:sp>
        <p:nvSpPr>
          <p:cNvPr id="150" name="Text Placeholder 4">
            <a:extLst>
              <a:ext uri="{FF2B5EF4-FFF2-40B4-BE49-F238E27FC236}">
                <a16:creationId xmlns:a16="http://schemas.microsoft.com/office/drawing/2014/main" id="{8DB89AAD-8CA3-18FA-DB23-01DB89329883}"/>
              </a:ext>
            </a:extLst>
          </p:cNvPr>
          <p:cNvSpPr txBox="1">
            <a:spLocks/>
          </p:cNvSpPr>
          <p:nvPr/>
        </p:nvSpPr>
        <p:spPr>
          <a:xfrm>
            <a:off x="9223302" y="1348742"/>
            <a:ext cx="3008303" cy="797457"/>
          </a:xfrm>
          <a:prstGeom prst="rect">
            <a:avLst/>
          </a:prstGeom>
        </p:spPr>
        <p:txBody>
          <a:bodyPr vert="horz" lIns="0" tIns="0" rIns="0" bIns="0" rtlCol="0" anchor="ctr">
            <a:noAutofit/>
          </a:bodyPr>
          <a:lstStyle>
            <a:lvl1pPr marL="0" indent="0" algn="l" rtl="0" eaLnBrk="1" fontAlgn="base" hangingPunct="1">
              <a:lnSpc>
                <a:spcPct val="110000"/>
              </a:lnSpc>
              <a:spcBef>
                <a:spcPts val="1200"/>
              </a:spcBef>
              <a:spcAft>
                <a:spcPct val="0"/>
              </a:spcAft>
              <a:buFont typeface="Arial" pitchFamily="34" charset="0"/>
              <a:buNone/>
              <a:defRPr lang="en-US" sz="1600" b="1" i="0" kern="1200" cap="all" baseline="0" dirty="0">
                <a:solidFill>
                  <a:schemeClr val="accent1"/>
                </a:solidFill>
                <a:latin typeface="Graphik" panose="020B0503030202060203" pitchFamily="34" charset="77"/>
                <a:ea typeface="Roboto" panose="02000000000000000000" pitchFamily="2" charset="0"/>
                <a:cs typeface="Arial" panose="020B0604020202020204" pitchFamily="34" charset="0"/>
              </a:defRPr>
            </a:lvl1pPr>
            <a:lvl2pPr marL="216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2pPr>
            <a:lvl3pPr marL="432000" indent="-216000" algn="l" rtl="0" eaLnBrk="1" fontAlgn="base" hangingPunct="1">
              <a:lnSpc>
                <a:spcPct val="110000"/>
              </a:lnSpc>
              <a:spcBef>
                <a:spcPts val="800"/>
              </a:spcBef>
              <a:spcAft>
                <a:spcPct val="0"/>
              </a:spcAft>
              <a:buFont typeface="Arial" pitchFamily="34" charset="0"/>
              <a:buChar char="‒"/>
              <a:tabLst/>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3pPr>
            <a:lvl4pPr marL="612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4pPr>
            <a:lvl5pPr marL="864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5pPr>
            <a:lvl6pPr marL="3351933"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376"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0819"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261"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ts val="0"/>
              </a:spcBef>
              <a:spcAft>
                <a:spcPct val="0"/>
              </a:spcAft>
              <a:buClrTx/>
              <a:buSzTx/>
              <a:buFont typeface="Arial" pitchFamily="34" charset="0"/>
              <a:buNone/>
              <a:tabLst/>
              <a:defRPr/>
            </a:pPr>
            <a:r>
              <a:rPr kumimoji="0" lang="es" sz="1200" b="1" i="0" u="none" strike="noStrike" kern="1200" cap="all" spc="0" normalizeH="0" baseline="0" noProof="0">
                <a:ln>
                  <a:noFill/>
                </a:ln>
                <a:solidFill>
                  <a:srgbClr val="7500C0"/>
                </a:solidFill>
                <a:effectLst/>
                <a:uLnTx/>
                <a:uFillTx/>
                <a:latin typeface="Graphik" panose="020B0503030202060203" pitchFamily="34" charset="77"/>
                <a:ea typeface="Roboto" panose="02000000000000000000" pitchFamily="2" charset="0"/>
                <a:cs typeface="Arial" panose="020B0604020202020204" pitchFamily="34" charset="0"/>
              </a:rPr>
              <a:t>Transacción de Consistencia Eventual entre subdominios </a:t>
            </a:r>
            <a:br>
              <a:rPr kumimoji="0" lang="en-US" sz="1200" b="1" i="0" u="none" strike="noStrike" kern="1200" cap="all" spc="0" normalizeH="0" baseline="0" noProof="0">
                <a:ln>
                  <a:noFill/>
                </a:ln>
                <a:solidFill>
                  <a:srgbClr val="7500C0"/>
                </a:solidFill>
                <a:effectLst/>
                <a:uLnTx/>
                <a:uFillTx/>
                <a:latin typeface="Graphik" panose="020B0503030202060203" pitchFamily="34" charset="77"/>
                <a:ea typeface="Roboto" panose="02000000000000000000" pitchFamily="2" charset="0"/>
                <a:cs typeface="Arial" panose="020B0604020202020204" pitchFamily="34" charset="0"/>
              </a:rPr>
            </a:br>
            <a:r>
              <a:rPr kumimoji="0" lang="es" sz="1200" b="1" i="0" u="none" strike="noStrike" kern="1200" cap="all" spc="0" normalizeH="0" baseline="0" noProof="0">
                <a:ln>
                  <a:noFill/>
                </a:ln>
                <a:solidFill>
                  <a:srgbClr val="7500C0"/>
                </a:solidFill>
                <a:effectLst/>
                <a:uLnTx/>
                <a:uFillTx/>
                <a:latin typeface="Graphik" panose="020B0503030202060203" pitchFamily="34" charset="77"/>
                <a:ea typeface="Roboto" panose="02000000000000000000" pitchFamily="2" charset="0"/>
                <a:cs typeface="Arial" panose="020B0604020202020204" pitchFamily="34" charset="0"/>
              </a:rPr>
              <a:t>(uno de los subdominios es Mainframe)</a:t>
            </a:r>
          </a:p>
        </p:txBody>
      </p:sp>
      <p:cxnSp>
        <p:nvCxnSpPr>
          <p:cNvPr id="151" name="Straight Connector 150">
            <a:extLst>
              <a:ext uri="{FF2B5EF4-FFF2-40B4-BE49-F238E27FC236}">
                <a16:creationId xmlns:a16="http://schemas.microsoft.com/office/drawing/2014/main" id="{CEDA3140-392B-9A32-4785-EDAB9B3D68FA}"/>
              </a:ext>
            </a:extLst>
          </p:cNvPr>
          <p:cNvCxnSpPr/>
          <p:nvPr/>
        </p:nvCxnSpPr>
        <p:spPr>
          <a:xfrm>
            <a:off x="3070069" y="1348742"/>
            <a:ext cx="0" cy="2639092"/>
          </a:xfrm>
          <a:prstGeom prst="line">
            <a:avLst/>
          </a:prstGeom>
        </p:spPr>
        <p:style>
          <a:lnRef idx="1">
            <a:schemeClr val="accent1"/>
          </a:lnRef>
          <a:fillRef idx="0">
            <a:schemeClr val="accent1"/>
          </a:fillRef>
          <a:effectRef idx="0">
            <a:schemeClr val="accent1"/>
          </a:effectRef>
          <a:fontRef idx="minor">
            <a:schemeClr val="tx1"/>
          </a:fontRef>
        </p:style>
      </p:cxnSp>
      <p:cxnSp>
        <p:nvCxnSpPr>
          <p:cNvPr id="152" name="Straight Connector 151">
            <a:extLst>
              <a:ext uri="{FF2B5EF4-FFF2-40B4-BE49-F238E27FC236}">
                <a16:creationId xmlns:a16="http://schemas.microsoft.com/office/drawing/2014/main" id="{9179A009-71BB-8F9F-2752-D0B4CCE6323F}"/>
              </a:ext>
            </a:extLst>
          </p:cNvPr>
          <p:cNvCxnSpPr/>
          <p:nvPr/>
        </p:nvCxnSpPr>
        <p:spPr>
          <a:xfrm>
            <a:off x="6012172" y="1348742"/>
            <a:ext cx="0" cy="2639092"/>
          </a:xfrm>
          <a:prstGeom prst="line">
            <a:avLst/>
          </a:prstGeom>
        </p:spPr>
        <p:style>
          <a:lnRef idx="1">
            <a:schemeClr val="accent1"/>
          </a:lnRef>
          <a:fillRef idx="0">
            <a:schemeClr val="accent1"/>
          </a:fillRef>
          <a:effectRef idx="0">
            <a:schemeClr val="accent1"/>
          </a:effectRef>
          <a:fontRef idx="minor">
            <a:schemeClr val="tx1"/>
          </a:fontRef>
        </p:style>
      </p:cxnSp>
      <p:cxnSp>
        <p:nvCxnSpPr>
          <p:cNvPr id="153" name="Straight Connector 152">
            <a:extLst>
              <a:ext uri="{FF2B5EF4-FFF2-40B4-BE49-F238E27FC236}">
                <a16:creationId xmlns:a16="http://schemas.microsoft.com/office/drawing/2014/main" id="{C01F2B16-1708-6012-B43B-DCA129210866}"/>
              </a:ext>
            </a:extLst>
          </p:cNvPr>
          <p:cNvCxnSpPr/>
          <p:nvPr/>
        </p:nvCxnSpPr>
        <p:spPr>
          <a:xfrm>
            <a:off x="9161603" y="1348742"/>
            <a:ext cx="0" cy="2639092"/>
          </a:xfrm>
          <a:prstGeom prst="line">
            <a:avLst/>
          </a:prstGeom>
        </p:spPr>
        <p:style>
          <a:lnRef idx="1">
            <a:schemeClr val="accent1"/>
          </a:lnRef>
          <a:fillRef idx="0">
            <a:schemeClr val="accent1"/>
          </a:fillRef>
          <a:effectRef idx="0">
            <a:schemeClr val="accent1"/>
          </a:effectRef>
          <a:fontRef idx="minor">
            <a:schemeClr val="tx1"/>
          </a:fontRef>
        </p:style>
      </p:cxnSp>
      <p:sp>
        <p:nvSpPr>
          <p:cNvPr id="154" name="Text Placeholder 5">
            <a:extLst>
              <a:ext uri="{FF2B5EF4-FFF2-40B4-BE49-F238E27FC236}">
                <a16:creationId xmlns:a16="http://schemas.microsoft.com/office/drawing/2014/main" id="{A6CEF50B-F6D4-F665-4E76-1B6BC47DC8DE}"/>
              </a:ext>
            </a:extLst>
          </p:cNvPr>
          <p:cNvSpPr txBox="1">
            <a:spLocks/>
          </p:cNvSpPr>
          <p:nvPr/>
        </p:nvSpPr>
        <p:spPr>
          <a:xfrm>
            <a:off x="294813" y="2348696"/>
            <a:ext cx="2608408" cy="1419362"/>
          </a:xfrm>
          <a:prstGeom prst="rect">
            <a:avLst/>
          </a:prstGeom>
        </p:spPr>
        <p:txBody>
          <a:bodyPr vert="horz" lIns="0" tIns="0" rIns="0" bIns="0" rtlCol="0">
            <a:noAutofit/>
          </a:bodyPr>
          <a:lstStyle>
            <a:lvl1pPr marL="0" indent="0" algn="l" rtl="0" eaLnBrk="1" fontAlgn="base" hangingPunct="1">
              <a:lnSpc>
                <a:spcPct val="110000"/>
              </a:lnSpc>
              <a:spcBef>
                <a:spcPts val="1200"/>
              </a:spcBef>
              <a:spcAft>
                <a:spcPct val="0"/>
              </a:spcAft>
              <a:buFont typeface="Arial" pitchFamily="34" charset="0"/>
              <a:buNone/>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1pPr>
            <a:lvl2pPr marL="216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2pPr>
            <a:lvl3pPr marL="432000" indent="-216000" algn="l" rtl="0" eaLnBrk="1" fontAlgn="base" hangingPunct="1">
              <a:lnSpc>
                <a:spcPct val="110000"/>
              </a:lnSpc>
              <a:spcBef>
                <a:spcPts val="800"/>
              </a:spcBef>
              <a:spcAft>
                <a:spcPct val="0"/>
              </a:spcAft>
              <a:buFont typeface="Arial" pitchFamily="34" charset="0"/>
              <a:buChar char="‒"/>
              <a:tabLst/>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3pPr>
            <a:lvl4pPr marL="612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4pPr>
            <a:lvl5pPr marL="864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5pPr>
            <a:lvl6pPr marL="3351933"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376"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0819"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261"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marR="0" lvl="0" indent="0" algn="l" defTabSz="914400" rtl="0" eaLnBrk="1" fontAlgn="base" latinLnBrk="0" hangingPunct="1">
              <a:lnSpc>
                <a:spcPct val="110000"/>
              </a:lnSpc>
              <a:spcBef>
                <a:spcPts val="1200"/>
              </a:spcBef>
              <a:spcAft>
                <a:spcPct val="0"/>
              </a:spcAft>
              <a:buClrTx/>
              <a:buSzTx/>
              <a:buFont typeface="Arial" pitchFamily="34" charset="0"/>
              <a:buNone/>
              <a:tabLst/>
              <a:defRPr/>
            </a:pPr>
            <a:r>
              <a:rPr kumimoji="0" lang="es" sz="1400" b="0" i="0" u="none" strike="noStrike" kern="1200" cap="none" spc="0" normalizeH="0" baseline="0" noProof="0">
                <a:ln>
                  <a:noFill/>
                </a:ln>
                <a:solidFill>
                  <a:srgbClr val="000000"/>
                </a:solidFill>
                <a:effectLst/>
                <a:uLnTx/>
                <a:uFillTx/>
                <a:latin typeface="Graphik Regular" panose="020B0503030202060203" pitchFamily="34" charset="77"/>
                <a:ea typeface="Roboto" panose="02000000000000000000" pitchFamily="2" charset="0"/>
                <a:cs typeface="Arial" panose="020B0604020202020204" pitchFamily="34" charset="0"/>
              </a:rPr>
              <a:t>Gestión de transacciones basada en bases de datos</a:t>
            </a:r>
          </a:p>
        </p:txBody>
      </p:sp>
      <p:sp>
        <p:nvSpPr>
          <p:cNvPr id="155" name="Text Placeholder 5">
            <a:extLst>
              <a:ext uri="{FF2B5EF4-FFF2-40B4-BE49-F238E27FC236}">
                <a16:creationId xmlns:a16="http://schemas.microsoft.com/office/drawing/2014/main" id="{147266C6-0438-A447-0D09-DD2B602F6A14}"/>
              </a:ext>
            </a:extLst>
          </p:cNvPr>
          <p:cNvSpPr txBox="1">
            <a:spLocks/>
          </p:cNvSpPr>
          <p:nvPr/>
        </p:nvSpPr>
        <p:spPr>
          <a:xfrm>
            <a:off x="3236916" y="2348696"/>
            <a:ext cx="2608408" cy="1419362"/>
          </a:xfrm>
          <a:prstGeom prst="rect">
            <a:avLst/>
          </a:prstGeom>
        </p:spPr>
        <p:txBody>
          <a:bodyPr vert="horz" lIns="0" tIns="0" rIns="0" bIns="0" rtlCol="0">
            <a:noAutofit/>
          </a:bodyPr>
          <a:lstStyle>
            <a:lvl1pPr marL="0" indent="0" algn="l" rtl="0" eaLnBrk="1" fontAlgn="base" hangingPunct="1">
              <a:lnSpc>
                <a:spcPct val="110000"/>
              </a:lnSpc>
              <a:spcBef>
                <a:spcPts val="1200"/>
              </a:spcBef>
              <a:spcAft>
                <a:spcPct val="0"/>
              </a:spcAft>
              <a:buFont typeface="Arial" pitchFamily="34" charset="0"/>
              <a:buNone/>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1pPr>
            <a:lvl2pPr marL="216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2pPr>
            <a:lvl3pPr marL="432000" indent="-216000" algn="l" rtl="0" eaLnBrk="1" fontAlgn="base" hangingPunct="1">
              <a:lnSpc>
                <a:spcPct val="110000"/>
              </a:lnSpc>
              <a:spcBef>
                <a:spcPts val="800"/>
              </a:spcBef>
              <a:spcAft>
                <a:spcPct val="0"/>
              </a:spcAft>
              <a:buFont typeface="Arial" pitchFamily="34" charset="0"/>
              <a:buChar char="‒"/>
              <a:tabLst/>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3pPr>
            <a:lvl4pPr marL="612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4pPr>
            <a:lvl5pPr marL="864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5pPr>
            <a:lvl6pPr marL="3351933"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376"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0819"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261"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marR="0" lvl="0" indent="0" algn="l" defTabSz="914400" rtl="0" eaLnBrk="1" fontAlgn="base" latinLnBrk="0" hangingPunct="1">
              <a:lnSpc>
                <a:spcPct val="110000"/>
              </a:lnSpc>
              <a:spcBef>
                <a:spcPts val="1200"/>
              </a:spcBef>
              <a:spcAft>
                <a:spcPct val="0"/>
              </a:spcAft>
              <a:buClrTx/>
              <a:buSzTx/>
              <a:buFont typeface="Arial" pitchFamily="34" charset="0"/>
              <a:buNone/>
              <a:tabLst/>
              <a:defRPr/>
            </a:pPr>
            <a:r>
              <a:rPr kumimoji="0" lang="es" sz="1400" b="0" i="0" u="none" strike="noStrike" kern="1200" cap="none" spc="0" normalizeH="0" baseline="0" noProof="0">
                <a:ln>
                  <a:noFill/>
                </a:ln>
                <a:solidFill>
                  <a:srgbClr val="000000"/>
                </a:solidFill>
                <a:effectLst/>
                <a:uLnTx/>
                <a:uFillTx/>
                <a:latin typeface="Graphik Regular" panose="020B0503030202060203" pitchFamily="34" charset="77"/>
                <a:ea typeface="Roboto" panose="02000000000000000000" pitchFamily="2" charset="0"/>
                <a:cs typeface="Arial" panose="020B0604020202020204" pitchFamily="34" charset="0"/>
              </a:rPr>
              <a:t>Protocolo JTA basado en gestión de transacciones. ActiveMQ debe usarse como intermediario de mensajes</a:t>
            </a:r>
          </a:p>
        </p:txBody>
      </p:sp>
      <p:sp>
        <p:nvSpPr>
          <p:cNvPr id="156" name="Text Placeholder 5">
            <a:extLst>
              <a:ext uri="{FF2B5EF4-FFF2-40B4-BE49-F238E27FC236}">
                <a16:creationId xmlns:a16="http://schemas.microsoft.com/office/drawing/2014/main" id="{CC0FA6E6-130C-649A-5C24-0089EA5F7E17}"/>
              </a:ext>
            </a:extLst>
          </p:cNvPr>
          <p:cNvSpPr txBox="1">
            <a:spLocks/>
          </p:cNvSpPr>
          <p:nvPr/>
        </p:nvSpPr>
        <p:spPr>
          <a:xfrm>
            <a:off x="6282683" y="2348696"/>
            <a:ext cx="2608408" cy="1419362"/>
          </a:xfrm>
          <a:prstGeom prst="rect">
            <a:avLst/>
          </a:prstGeom>
        </p:spPr>
        <p:txBody>
          <a:bodyPr vert="horz" lIns="0" tIns="0" rIns="0" bIns="0" rtlCol="0">
            <a:noAutofit/>
          </a:bodyPr>
          <a:lstStyle>
            <a:lvl1pPr marL="0" indent="0" algn="l" rtl="0" eaLnBrk="1" fontAlgn="base" hangingPunct="1">
              <a:lnSpc>
                <a:spcPct val="110000"/>
              </a:lnSpc>
              <a:spcBef>
                <a:spcPts val="1200"/>
              </a:spcBef>
              <a:spcAft>
                <a:spcPct val="0"/>
              </a:spcAft>
              <a:buFont typeface="Arial" pitchFamily="34" charset="0"/>
              <a:buNone/>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1pPr>
            <a:lvl2pPr marL="216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2pPr>
            <a:lvl3pPr marL="432000" indent="-216000" algn="l" rtl="0" eaLnBrk="1" fontAlgn="base" hangingPunct="1">
              <a:lnSpc>
                <a:spcPct val="110000"/>
              </a:lnSpc>
              <a:spcBef>
                <a:spcPts val="800"/>
              </a:spcBef>
              <a:spcAft>
                <a:spcPct val="0"/>
              </a:spcAft>
              <a:buFont typeface="Arial" pitchFamily="34" charset="0"/>
              <a:buChar char="‒"/>
              <a:tabLst/>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3pPr>
            <a:lvl4pPr marL="612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4pPr>
            <a:lvl5pPr marL="864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5pPr>
            <a:lvl6pPr marL="3351933"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376"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0819"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261"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marR="0" lvl="0" indent="0" algn="l" defTabSz="914400" rtl="0" eaLnBrk="1" fontAlgn="base" latinLnBrk="0" hangingPunct="1">
              <a:lnSpc>
                <a:spcPct val="110000"/>
              </a:lnSpc>
              <a:spcBef>
                <a:spcPts val="1200"/>
              </a:spcBef>
              <a:spcAft>
                <a:spcPct val="0"/>
              </a:spcAft>
              <a:buClrTx/>
              <a:buSzTx/>
              <a:buFont typeface="Arial" pitchFamily="34" charset="0"/>
              <a:buNone/>
              <a:tabLst/>
              <a:defRPr/>
            </a:pPr>
            <a:r>
              <a:rPr kumimoji="0" lang="es" sz="1400" b="0" i="0" u="none" strike="noStrike" kern="1200" cap="none" spc="0" normalizeH="0" baseline="0" noProof="0">
                <a:ln>
                  <a:noFill/>
                </a:ln>
                <a:solidFill>
                  <a:srgbClr val="000000"/>
                </a:solidFill>
                <a:effectLst/>
                <a:uLnTx/>
                <a:uFillTx/>
                <a:latin typeface="Graphik Regular" panose="020B0503030202060203" pitchFamily="34" charset="77"/>
                <a:ea typeface="Roboto" panose="02000000000000000000" pitchFamily="2" charset="0"/>
                <a:cs typeface="Arial" panose="020B0604020202020204" pitchFamily="34" charset="0"/>
              </a:rPr>
              <a:t>Gestión de transacciones basada en un mecanismo de consistencia eventual (patrón SAGA o similar)</a:t>
            </a:r>
          </a:p>
        </p:txBody>
      </p:sp>
      <p:sp>
        <p:nvSpPr>
          <p:cNvPr id="157" name="Text Placeholder 5">
            <a:extLst>
              <a:ext uri="{FF2B5EF4-FFF2-40B4-BE49-F238E27FC236}">
                <a16:creationId xmlns:a16="http://schemas.microsoft.com/office/drawing/2014/main" id="{ED2BA2C4-E8D4-4522-6392-AF77671D8DA8}"/>
              </a:ext>
            </a:extLst>
          </p:cNvPr>
          <p:cNvSpPr txBox="1">
            <a:spLocks/>
          </p:cNvSpPr>
          <p:nvPr/>
        </p:nvSpPr>
        <p:spPr>
          <a:xfrm>
            <a:off x="9423249" y="2348696"/>
            <a:ext cx="2608408" cy="1419362"/>
          </a:xfrm>
          <a:prstGeom prst="rect">
            <a:avLst/>
          </a:prstGeom>
        </p:spPr>
        <p:txBody>
          <a:bodyPr vert="horz" lIns="0" tIns="0" rIns="0" bIns="0" rtlCol="0">
            <a:noAutofit/>
          </a:bodyPr>
          <a:lstStyle>
            <a:lvl1pPr marL="0" indent="0" algn="l" rtl="0" eaLnBrk="1" fontAlgn="base" hangingPunct="1">
              <a:lnSpc>
                <a:spcPct val="110000"/>
              </a:lnSpc>
              <a:spcBef>
                <a:spcPts val="1200"/>
              </a:spcBef>
              <a:spcAft>
                <a:spcPct val="0"/>
              </a:spcAft>
              <a:buFont typeface="Arial" pitchFamily="34" charset="0"/>
              <a:buNone/>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1pPr>
            <a:lvl2pPr marL="216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2pPr>
            <a:lvl3pPr marL="432000" indent="-216000" algn="l" rtl="0" eaLnBrk="1" fontAlgn="base" hangingPunct="1">
              <a:lnSpc>
                <a:spcPct val="110000"/>
              </a:lnSpc>
              <a:spcBef>
                <a:spcPts val="800"/>
              </a:spcBef>
              <a:spcAft>
                <a:spcPct val="0"/>
              </a:spcAft>
              <a:buFont typeface="Arial" pitchFamily="34" charset="0"/>
              <a:buChar char="‒"/>
              <a:tabLst/>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3pPr>
            <a:lvl4pPr marL="612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4pPr>
            <a:lvl5pPr marL="864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5pPr>
            <a:lvl6pPr marL="3351933"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376"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0819"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261"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marR="0" lvl="0" indent="0" algn="l" defTabSz="914400" rtl="0" eaLnBrk="1" fontAlgn="base" latinLnBrk="0" hangingPunct="1">
              <a:lnSpc>
                <a:spcPct val="110000"/>
              </a:lnSpc>
              <a:spcBef>
                <a:spcPts val="1200"/>
              </a:spcBef>
              <a:spcAft>
                <a:spcPct val="0"/>
              </a:spcAft>
              <a:buClrTx/>
              <a:buSzTx/>
              <a:buFont typeface="Arial" pitchFamily="34" charset="0"/>
              <a:buNone/>
              <a:tabLst/>
              <a:defRPr/>
            </a:pPr>
            <a:r>
              <a:rPr kumimoji="0" lang="es" sz="1400" b="0" i="0" u="none" strike="noStrike" kern="1200" cap="none" spc="0" normalizeH="0" baseline="0" noProof="0">
                <a:ln>
                  <a:noFill/>
                </a:ln>
                <a:solidFill>
                  <a:srgbClr val="000000"/>
                </a:solidFill>
                <a:effectLst/>
                <a:uLnTx/>
                <a:uFillTx/>
                <a:latin typeface="Graphik Regular" panose="020B0503030202060203" pitchFamily="34" charset="77"/>
                <a:ea typeface="Roboto" panose="02000000000000000000" pitchFamily="2" charset="0"/>
                <a:cs typeface="Arial" panose="020B0604020202020204" pitchFamily="34" charset="0"/>
              </a:rPr>
              <a:t>La gestión de transacciones se basa en un mecanismo de consistencia eventual (patrón SAGA)</a:t>
            </a:r>
          </a:p>
        </p:txBody>
      </p:sp>
    </p:spTree>
    <p:extLst>
      <p:ext uri="{BB962C8B-B14F-4D97-AF65-F5344CB8AC3E}">
        <p14:creationId xmlns:p14="http://schemas.microsoft.com/office/powerpoint/2010/main" val="378759262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128B99-E73E-3F93-0D88-E3F6481EEFAF}"/>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4A4FF127-DC7F-0A03-0B0B-36A6DADD3A51}"/>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alpha val="65000"/>
                  </a:srgbClr>
                </a:solidFill>
                <a:effectLst/>
                <a:uLnTx/>
                <a:uFillTx/>
                <a:latin typeface="Graphik"/>
                <a:ea typeface="+mn-ea"/>
                <a:cs typeface="+mn-cs"/>
              </a:rPr>
              <a:t>Copyright © 2025 Accenture. Todos los derechos reservados.</a:t>
            </a:r>
          </a:p>
        </p:txBody>
      </p:sp>
      <p:sp>
        <p:nvSpPr>
          <p:cNvPr id="4" name="Title 1">
            <a:extLst>
              <a:ext uri="{FF2B5EF4-FFF2-40B4-BE49-F238E27FC236}">
                <a16:creationId xmlns:a16="http://schemas.microsoft.com/office/drawing/2014/main" id="{EEDC77DA-95C1-0BCD-88EF-4F736857F3A9}"/>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a:ln>
                  <a:noFill/>
                </a:ln>
                <a:solidFill>
                  <a:srgbClr val="7500C0"/>
                </a:solidFill>
                <a:effectLst/>
                <a:uLnTx/>
                <a:uFillTx/>
                <a:latin typeface="Graphik"/>
                <a:ea typeface="+mj-ea"/>
                <a:cs typeface="+mj-cs"/>
              </a:rPr>
              <a:t>Activo de Interoperabilidad </a:t>
            </a:r>
            <a:r>
              <a:rPr kumimoji="0" lang="es" sz="2400" b="1" i="0" u="none" strike="noStrike" kern="1200" cap="none" spc="0" normalizeH="0" baseline="0" noProof="0">
                <a:ln>
                  <a:noFill/>
                </a:ln>
                <a:solidFill>
                  <a:srgbClr val="000000"/>
                </a:solidFill>
                <a:effectLst/>
                <a:uLnTx/>
                <a:uFillTx/>
                <a:latin typeface="Graphik"/>
                <a:ea typeface="+mj-ea"/>
                <a:cs typeface="+mj-cs"/>
              </a:rPr>
              <a:t>| </a:t>
            </a:r>
            <a:r>
              <a:rPr kumimoji="0" lang="es" sz="2000" b="1" i="0" u="none" strike="noStrike" kern="1200" cap="none" spc="0" normalizeH="0" baseline="0" noProof="0">
                <a:ln>
                  <a:noFill/>
                </a:ln>
                <a:solidFill>
                  <a:srgbClr val="000000"/>
                </a:solidFill>
                <a:effectLst/>
                <a:uLnTx/>
                <a:uFillTx/>
                <a:latin typeface="Graphik"/>
                <a:ea typeface="+mj-ea"/>
                <a:cs typeface="+mj-cs"/>
              </a:rPr>
              <a:t>Escenarios de gestión de transacciones</a:t>
            </a:r>
            <a:endParaRPr kumimoji="0" lang="es" sz="2400" b="1" i="0" u="none" strike="noStrike" kern="1200" cap="none" spc="0" normalizeH="0" baseline="0" noProof="0">
              <a:ln>
                <a:noFill/>
              </a:ln>
              <a:solidFill>
                <a:srgbClr val="000000"/>
              </a:solidFill>
              <a:effectLst/>
              <a:uLnTx/>
              <a:uFillTx/>
              <a:latin typeface="Graphik"/>
              <a:ea typeface="+mj-ea"/>
              <a:cs typeface="+mj-cs"/>
            </a:endParaRPr>
          </a:p>
        </p:txBody>
      </p:sp>
      <p:sp>
        <p:nvSpPr>
          <p:cNvPr id="5" name="Content Placeholder 34">
            <a:extLst>
              <a:ext uri="{FF2B5EF4-FFF2-40B4-BE49-F238E27FC236}">
                <a16:creationId xmlns:a16="http://schemas.microsoft.com/office/drawing/2014/main" id="{83CEB13D-B90C-3635-61FC-D0E2E4081AB5}"/>
              </a:ext>
            </a:extLst>
          </p:cNvPr>
          <p:cNvSpPr txBox="1">
            <a:spLocks/>
          </p:cNvSpPr>
          <p:nvPr/>
        </p:nvSpPr>
        <p:spPr>
          <a:xfrm>
            <a:off x="285990" y="641993"/>
            <a:ext cx="11430000" cy="246221"/>
          </a:xfrm>
          <a:prstGeom prst="rect">
            <a:avLst/>
          </a:prstGeom>
        </p:spPr>
        <p:txBody>
          <a:bodyPr/>
          <a:lstStyle>
            <a:lvl1pPr marL="228600" indent="-228600" algn="l" defTabSz="228600" rtl="0" eaLnBrk="1" latinLnBrk="0" hangingPunct="1">
              <a:lnSpc>
                <a:spcPct val="100000"/>
              </a:lnSpc>
              <a:spcBef>
                <a:spcPts val="0"/>
              </a:spcBef>
              <a:spcAft>
                <a:spcPts val="600"/>
              </a:spcAft>
              <a:buFont typeface="Arial"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Arial"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Arial"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Arial"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Arial"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Arial" panose="020B0604020202020204" pitchFamily="34" charset="0"/>
              <a:buNone/>
              <a:defRPr sz="800" kern="1200">
                <a:solidFill>
                  <a:schemeClr val="tx2"/>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s" sz="1600" b="1" i="0" u="none" strike="noStrike" kern="1200" cap="none" spc="0" normalizeH="0" baseline="0" noProof="0">
                <a:ln>
                  <a:noFill/>
                </a:ln>
                <a:solidFill>
                  <a:srgbClr val="7500C0"/>
                </a:solidFill>
                <a:effectLst/>
                <a:uLnTx/>
                <a:uFillTx/>
                <a:latin typeface="Graphik" panose="020B0503030202060203" pitchFamily="34" charset="0"/>
                <a:ea typeface="+mn-ea"/>
                <a:cs typeface="+mn-cs"/>
              </a:rPr>
              <a:t>Actualización de información en una arquitectura distribuida – Árbol de decisión</a:t>
            </a:r>
          </a:p>
        </p:txBody>
      </p:sp>
      <p:sp>
        <p:nvSpPr>
          <p:cNvPr id="6" name="Rectangle 5">
            <a:extLst>
              <a:ext uri="{FF2B5EF4-FFF2-40B4-BE49-F238E27FC236}">
                <a16:creationId xmlns:a16="http://schemas.microsoft.com/office/drawing/2014/main" id="{5E55FF19-14DE-7711-88E2-490DA1269D2E}"/>
              </a:ext>
            </a:extLst>
          </p:cNvPr>
          <p:cNvSpPr/>
          <p:nvPr/>
        </p:nvSpPr>
        <p:spPr>
          <a:xfrm>
            <a:off x="282133" y="3076391"/>
            <a:ext cx="1558290" cy="581646"/>
          </a:xfrm>
          <a:prstGeom prst="rect">
            <a:avLst/>
          </a:prstGeom>
          <a:solidFill>
            <a:srgbClr val="E0E0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200" b="0" i="0" u="none" strike="noStrike" kern="1200" cap="none" spc="0" normalizeH="0" baseline="0" noProof="0">
                <a:ln>
                  <a:noFill/>
                </a:ln>
                <a:solidFill>
                  <a:srgbClr val="000000">
                    <a:lumMod val="85000"/>
                    <a:lumOff val="15000"/>
                  </a:srgbClr>
                </a:solidFill>
                <a:effectLst/>
                <a:uLnTx/>
                <a:uFillTx/>
                <a:latin typeface="Graphik" panose="020B0503030202060203" pitchFamily="34" charset="0"/>
                <a:ea typeface="+mn-ea"/>
                <a:cs typeface="+mn-cs"/>
              </a:rPr>
              <a:t>Solicitud para actualizar la información</a:t>
            </a:r>
          </a:p>
        </p:txBody>
      </p:sp>
      <p:sp>
        <p:nvSpPr>
          <p:cNvPr id="7" name="Rectangle 6">
            <a:extLst>
              <a:ext uri="{FF2B5EF4-FFF2-40B4-BE49-F238E27FC236}">
                <a16:creationId xmlns:a16="http://schemas.microsoft.com/office/drawing/2014/main" id="{D78F6C0A-09FD-FA73-C3A8-125D2BEFC6A8}"/>
              </a:ext>
            </a:extLst>
          </p:cNvPr>
          <p:cNvSpPr/>
          <p:nvPr/>
        </p:nvSpPr>
        <p:spPr>
          <a:xfrm>
            <a:off x="2272477" y="1656172"/>
            <a:ext cx="1558290" cy="581646"/>
          </a:xfrm>
          <a:prstGeom prst="rect">
            <a:avLst/>
          </a:prstGeom>
          <a:solidFill>
            <a:srgbClr val="E0E0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200" b="0" i="0" u="none" strike="noStrike" kern="1200" cap="none" spc="0" normalizeH="0" baseline="0" noProof="0">
                <a:ln>
                  <a:noFill/>
                </a:ln>
                <a:solidFill>
                  <a:srgbClr val="000000">
                    <a:lumMod val="85000"/>
                    <a:lumOff val="15000"/>
                  </a:srgbClr>
                </a:solidFill>
                <a:effectLst/>
                <a:uLnTx/>
                <a:uFillTx/>
                <a:latin typeface="Graphik" panose="020B0503030202060203" pitchFamily="34" charset="0"/>
                <a:ea typeface="+mn-ea"/>
                <a:cs typeface="+mn-cs"/>
              </a:rPr>
              <a:t>Recurso único (base de datos, cubo, JMS, ...)</a:t>
            </a:r>
          </a:p>
        </p:txBody>
      </p:sp>
      <p:sp>
        <p:nvSpPr>
          <p:cNvPr id="8" name="Rectangle 7">
            <a:extLst>
              <a:ext uri="{FF2B5EF4-FFF2-40B4-BE49-F238E27FC236}">
                <a16:creationId xmlns:a16="http://schemas.microsoft.com/office/drawing/2014/main" id="{B3D663E1-7C68-04DB-BCD9-2123ACB4A6ED}"/>
              </a:ext>
            </a:extLst>
          </p:cNvPr>
          <p:cNvSpPr/>
          <p:nvPr/>
        </p:nvSpPr>
        <p:spPr>
          <a:xfrm>
            <a:off x="2272477" y="4168952"/>
            <a:ext cx="1558290" cy="581646"/>
          </a:xfrm>
          <a:prstGeom prst="rect">
            <a:avLst/>
          </a:prstGeom>
          <a:solidFill>
            <a:srgbClr val="E0E0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200" b="0" i="0" u="none" strike="noStrike" kern="1200" cap="none" spc="0" normalizeH="0" baseline="0" noProof="0">
                <a:ln>
                  <a:noFill/>
                </a:ln>
                <a:solidFill>
                  <a:srgbClr val="000000">
                    <a:lumMod val="85000"/>
                    <a:lumOff val="15000"/>
                  </a:srgbClr>
                </a:solidFill>
                <a:effectLst/>
                <a:uLnTx/>
                <a:uFillTx/>
                <a:latin typeface="Graphik" panose="020B0503030202060203" pitchFamily="34" charset="0"/>
                <a:ea typeface="+mn-ea"/>
                <a:cs typeface="+mn-cs"/>
              </a:rPr>
              <a:t>Recurso múltiple (modelos de bases de datos, DB+JMS)</a:t>
            </a:r>
          </a:p>
        </p:txBody>
      </p:sp>
      <p:sp>
        <p:nvSpPr>
          <p:cNvPr id="9" name="Rectangle 8">
            <a:extLst>
              <a:ext uri="{FF2B5EF4-FFF2-40B4-BE49-F238E27FC236}">
                <a16:creationId xmlns:a16="http://schemas.microsoft.com/office/drawing/2014/main" id="{7FD306F0-751E-2EDA-C15A-1682973AF49E}"/>
              </a:ext>
            </a:extLst>
          </p:cNvPr>
          <p:cNvSpPr/>
          <p:nvPr/>
        </p:nvSpPr>
        <p:spPr>
          <a:xfrm>
            <a:off x="4262821" y="4168952"/>
            <a:ext cx="1558290" cy="581646"/>
          </a:xfrm>
          <a:prstGeom prst="rect">
            <a:avLst/>
          </a:prstGeom>
          <a:solidFill>
            <a:srgbClr val="E0E0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200" b="0" i="0" u="none" strike="noStrike" kern="1200" cap="none" spc="0" normalizeH="0" baseline="0" noProof="0">
                <a:ln>
                  <a:noFill/>
                </a:ln>
                <a:solidFill>
                  <a:srgbClr val="000000">
                    <a:lumMod val="85000"/>
                    <a:lumOff val="15000"/>
                  </a:srgbClr>
                </a:solidFill>
                <a:effectLst/>
                <a:uLnTx/>
                <a:uFillTx/>
                <a:latin typeface="Graphik" panose="020B0503030202060203" pitchFamily="34" charset="0"/>
                <a:ea typeface="+mn-ea"/>
                <a:cs typeface="+mn-cs"/>
              </a:rPr>
              <a:t>Aplicación de rediseño</a:t>
            </a:r>
          </a:p>
        </p:txBody>
      </p:sp>
      <p:sp>
        <p:nvSpPr>
          <p:cNvPr id="10" name="Rectangle 9">
            <a:extLst>
              <a:ext uri="{FF2B5EF4-FFF2-40B4-BE49-F238E27FC236}">
                <a16:creationId xmlns:a16="http://schemas.microsoft.com/office/drawing/2014/main" id="{2B83B6CF-D783-3B6E-67DA-4D001A09A42A}"/>
              </a:ext>
            </a:extLst>
          </p:cNvPr>
          <p:cNvSpPr/>
          <p:nvPr/>
        </p:nvSpPr>
        <p:spPr>
          <a:xfrm>
            <a:off x="6253165" y="2996381"/>
            <a:ext cx="1558290" cy="581646"/>
          </a:xfrm>
          <a:prstGeom prst="rect">
            <a:avLst/>
          </a:prstGeom>
          <a:solidFill>
            <a:srgbClr val="E0E0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200" b="0" i="0" u="none" strike="noStrike" kern="1200" cap="none" spc="0" normalizeH="0" baseline="0" noProof="0">
                <a:ln>
                  <a:noFill/>
                </a:ln>
                <a:solidFill>
                  <a:srgbClr val="000000">
                    <a:lumMod val="85000"/>
                    <a:lumOff val="15000"/>
                  </a:srgbClr>
                </a:solidFill>
                <a:effectLst/>
                <a:uLnTx/>
                <a:uFillTx/>
                <a:latin typeface="Graphik" panose="020B0503030202060203" pitchFamily="34" charset="0"/>
                <a:ea typeface="+mn-ea"/>
                <a:cs typeface="+mn-cs"/>
              </a:rPr>
              <a:t>Mismo subdominio</a:t>
            </a:r>
          </a:p>
        </p:txBody>
      </p:sp>
      <p:sp>
        <p:nvSpPr>
          <p:cNvPr id="11" name="Rectangle 10">
            <a:extLst>
              <a:ext uri="{FF2B5EF4-FFF2-40B4-BE49-F238E27FC236}">
                <a16:creationId xmlns:a16="http://schemas.microsoft.com/office/drawing/2014/main" id="{8FEE2C8D-C501-3E0E-595F-78015945010C}"/>
              </a:ext>
            </a:extLst>
          </p:cNvPr>
          <p:cNvSpPr/>
          <p:nvPr/>
        </p:nvSpPr>
        <p:spPr>
          <a:xfrm>
            <a:off x="6253165" y="5201440"/>
            <a:ext cx="1558290" cy="581646"/>
          </a:xfrm>
          <a:prstGeom prst="rect">
            <a:avLst/>
          </a:prstGeom>
          <a:solidFill>
            <a:srgbClr val="E0E0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200" b="0" i="0" u="none" strike="noStrike" kern="1200" cap="none" spc="0" normalizeH="0" baseline="0" noProof="0">
                <a:ln>
                  <a:noFill/>
                </a:ln>
                <a:solidFill>
                  <a:srgbClr val="000000">
                    <a:lumMod val="85000"/>
                    <a:lumOff val="15000"/>
                  </a:srgbClr>
                </a:solidFill>
                <a:effectLst/>
                <a:uLnTx/>
                <a:uFillTx/>
                <a:latin typeface="Graphik" panose="020B0503030202060203" pitchFamily="34" charset="0"/>
                <a:ea typeface="+mn-ea"/>
                <a:cs typeface="+mn-cs"/>
              </a:rPr>
              <a:t>Subdominio diferente</a:t>
            </a:r>
          </a:p>
        </p:txBody>
      </p:sp>
      <p:sp>
        <p:nvSpPr>
          <p:cNvPr id="12" name="Rectangle 11">
            <a:extLst>
              <a:ext uri="{FF2B5EF4-FFF2-40B4-BE49-F238E27FC236}">
                <a16:creationId xmlns:a16="http://schemas.microsoft.com/office/drawing/2014/main" id="{7350B57B-4AF5-503A-6BB6-1A050B6992BB}"/>
              </a:ext>
            </a:extLst>
          </p:cNvPr>
          <p:cNvSpPr/>
          <p:nvPr/>
        </p:nvSpPr>
        <p:spPr>
          <a:xfrm>
            <a:off x="10233853" y="1584269"/>
            <a:ext cx="1829560" cy="735650"/>
          </a:xfrm>
          <a:prstGeom prst="rect">
            <a:avLst/>
          </a:prstGeom>
          <a:solidFill>
            <a:srgbClr val="E0E0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200" b="0" i="0" u="none" strike="noStrike" kern="1200" cap="none" spc="0" normalizeH="0" baseline="0" noProof="0" dirty="0">
                <a:ln>
                  <a:noFill/>
                </a:ln>
                <a:solidFill>
                  <a:srgbClr val="000000">
                    <a:lumMod val="85000"/>
                    <a:lumOff val="15000"/>
                  </a:srgbClr>
                </a:solidFill>
                <a:effectLst/>
                <a:uLnTx/>
                <a:uFillTx/>
                <a:latin typeface="Graphik" panose="020B0503030202060203" pitchFamily="34" charset="0"/>
                <a:ea typeface="+mn-ea"/>
                <a:cs typeface="+mn-cs"/>
              </a:rPr>
              <a:t>Utiliza el protocolo de transacciones 2PC o la consistencia eventual</a:t>
            </a:r>
          </a:p>
        </p:txBody>
      </p:sp>
      <p:sp>
        <p:nvSpPr>
          <p:cNvPr id="13" name="Rectangle 12">
            <a:extLst>
              <a:ext uri="{FF2B5EF4-FFF2-40B4-BE49-F238E27FC236}">
                <a16:creationId xmlns:a16="http://schemas.microsoft.com/office/drawing/2014/main" id="{E26800F2-31BA-E648-1AD0-32EAA8AE6FC6}"/>
              </a:ext>
            </a:extLst>
          </p:cNvPr>
          <p:cNvSpPr/>
          <p:nvPr/>
        </p:nvSpPr>
        <p:spPr>
          <a:xfrm>
            <a:off x="10233853" y="3538841"/>
            <a:ext cx="1829560" cy="581646"/>
          </a:xfrm>
          <a:prstGeom prst="rect">
            <a:avLst/>
          </a:prstGeom>
          <a:solidFill>
            <a:srgbClr val="E0E0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200" b="0" i="0" u="none" strike="noStrike" kern="1200" cap="none" spc="0" normalizeH="0" baseline="0" noProof="0">
                <a:ln>
                  <a:noFill/>
                </a:ln>
                <a:solidFill>
                  <a:srgbClr val="000000">
                    <a:lumMod val="85000"/>
                    <a:lumOff val="15000"/>
                  </a:srgbClr>
                </a:solidFill>
                <a:effectLst/>
                <a:uLnTx/>
                <a:uFillTx/>
                <a:latin typeface="Graphik" panose="020B0503030202060203" pitchFamily="34" charset="0"/>
                <a:ea typeface="+mn-ea"/>
                <a:cs typeface="+mn-cs"/>
              </a:rPr>
              <a:t>Consistencia eventual</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200" b="0" i="0" u="none" strike="noStrike" kern="1200" cap="none" spc="0" normalizeH="0" baseline="0" noProof="0">
                <a:ln>
                  <a:noFill/>
                </a:ln>
                <a:solidFill>
                  <a:srgbClr val="000000">
                    <a:lumMod val="85000"/>
                    <a:lumOff val="15000"/>
                  </a:srgbClr>
                </a:solidFill>
                <a:effectLst/>
                <a:uLnTx/>
                <a:uFillTx/>
                <a:latin typeface="Graphik" panose="020B0503030202060203" pitchFamily="34" charset="0"/>
                <a:ea typeface="+mn-ea"/>
                <a:cs typeface="+mn-cs"/>
              </a:rPr>
              <a:t>(Patrón SAGA)</a:t>
            </a:r>
          </a:p>
        </p:txBody>
      </p:sp>
      <p:sp>
        <p:nvSpPr>
          <p:cNvPr id="14" name="Rectangle 13">
            <a:extLst>
              <a:ext uri="{FF2B5EF4-FFF2-40B4-BE49-F238E27FC236}">
                <a16:creationId xmlns:a16="http://schemas.microsoft.com/office/drawing/2014/main" id="{95D0FD39-D16D-144B-33F2-9B80872C9691}"/>
              </a:ext>
            </a:extLst>
          </p:cNvPr>
          <p:cNvSpPr/>
          <p:nvPr/>
        </p:nvSpPr>
        <p:spPr>
          <a:xfrm>
            <a:off x="8243509" y="2402021"/>
            <a:ext cx="1558290" cy="581646"/>
          </a:xfrm>
          <a:prstGeom prst="rect">
            <a:avLst/>
          </a:prstGeom>
          <a:solidFill>
            <a:srgbClr val="E0E0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200" b="0" i="0" u="none" strike="noStrike" kern="1200" cap="none" spc="0" normalizeH="0" baseline="0" noProof="0">
                <a:ln>
                  <a:noFill/>
                </a:ln>
                <a:solidFill>
                  <a:srgbClr val="000000">
                    <a:lumMod val="85000"/>
                    <a:lumOff val="15000"/>
                  </a:srgbClr>
                </a:solidFill>
                <a:effectLst/>
                <a:uLnTx/>
                <a:uFillTx/>
                <a:latin typeface="Graphik" panose="020B0503030202060203" pitchFamily="34" charset="0"/>
                <a:ea typeface="+mn-ea"/>
                <a:cs typeface="+mn-cs"/>
              </a:rPr>
              <a:t>Recursos XA</a:t>
            </a:r>
          </a:p>
        </p:txBody>
      </p:sp>
      <p:sp>
        <p:nvSpPr>
          <p:cNvPr id="15" name="Rectangle 14">
            <a:extLst>
              <a:ext uri="{FF2B5EF4-FFF2-40B4-BE49-F238E27FC236}">
                <a16:creationId xmlns:a16="http://schemas.microsoft.com/office/drawing/2014/main" id="{5EF36879-A774-0DA0-A3B6-30864CF148FE}"/>
              </a:ext>
            </a:extLst>
          </p:cNvPr>
          <p:cNvSpPr/>
          <p:nvPr/>
        </p:nvSpPr>
        <p:spPr>
          <a:xfrm>
            <a:off x="8243509" y="3541210"/>
            <a:ext cx="1558290" cy="581646"/>
          </a:xfrm>
          <a:prstGeom prst="rect">
            <a:avLst/>
          </a:prstGeom>
          <a:solidFill>
            <a:srgbClr val="E0E0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200" b="0" i="0" u="none" strike="noStrike" kern="1200" cap="none" spc="0" normalizeH="0" baseline="0" noProof="0" dirty="0">
                <a:ln>
                  <a:noFill/>
                </a:ln>
                <a:solidFill>
                  <a:srgbClr val="000000">
                    <a:lumMod val="85000"/>
                    <a:lumOff val="15000"/>
                  </a:srgbClr>
                </a:solidFill>
                <a:effectLst/>
                <a:uLnTx/>
                <a:uFillTx/>
                <a:latin typeface="Graphik" panose="020B0503030202060203" pitchFamily="34" charset="0"/>
                <a:ea typeface="+mn-ea"/>
                <a:cs typeface="+mn-cs"/>
              </a:rPr>
              <a:t>Sin recursos XA</a:t>
            </a:r>
          </a:p>
        </p:txBody>
      </p:sp>
      <p:cxnSp>
        <p:nvCxnSpPr>
          <p:cNvPr id="16" name="Straight Arrow Connector 6">
            <a:extLst>
              <a:ext uri="{FF2B5EF4-FFF2-40B4-BE49-F238E27FC236}">
                <a16:creationId xmlns:a16="http://schemas.microsoft.com/office/drawing/2014/main" id="{8E06FCC4-5821-A9A9-19D9-BB7E21079C00}"/>
              </a:ext>
            </a:extLst>
          </p:cNvPr>
          <p:cNvCxnSpPr>
            <a:stCxn id="6" idx="3"/>
            <a:endCxn id="7" idx="1"/>
          </p:cNvCxnSpPr>
          <p:nvPr/>
        </p:nvCxnSpPr>
        <p:spPr>
          <a:xfrm flipV="1">
            <a:off x="1840423" y="1946995"/>
            <a:ext cx="432054" cy="1420219"/>
          </a:xfrm>
          <a:prstGeom prst="bentConnector3">
            <a:avLst>
              <a:gd name="adj1" fmla="val 50000"/>
            </a:avLst>
          </a:prstGeom>
          <a:ln>
            <a:solidFill>
              <a:srgbClr val="0033CC"/>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7" name="Straight Arrow Connector 6">
            <a:extLst>
              <a:ext uri="{FF2B5EF4-FFF2-40B4-BE49-F238E27FC236}">
                <a16:creationId xmlns:a16="http://schemas.microsoft.com/office/drawing/2014/main" id="{572A4E2C-F06A-16FA-E177-7F2F448A1AEB}"/>
              </a:ext>
            </a:extLst>
          </p:cNvPr>
          <p:cNvCxnSpPr>
            <a:cxnSpLocks/>
            <a:stCxn id="6" idx="3"/>
            <a:endCxn id="8" idx="1"/>
          </p:cNvCxnSpPr>
          <p:nvPr/>
        </p:nvCxnSpPr>
        <p:spPr>
          <a:xfrm>
            <a:off x="1840423" y="3367214"/>
            <a:ext cx="432054" cy="1092561"/>
          </a:xfrm>
          <a:prstGeom prst="bentConnector3">
            <a:avLst>
              <a:gd name="adj1" fmla="val 50000"/>
            </a:avLst>
          </a:prstGeom>
          <a:ln>
            <a:solidFill>
              <a:srgbClr val="0033CC"/>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8" name="Straight Arrow Connector 6">
            <a:extLst>
              <a:ext uri="{FF2B5EF4-FFF2-40B4-BE49-F238E27FC236}">
                <a16:creationId xmlns:a16="http://schemas.microsoft.com/office/drawing/2014/main" id="{E3A3FDF4-44F9-2DFD-B526-894196385D67}"/>
              </a:ext>
            </a:extLst>
          </p:cNvPr>
          <p:cNvCxnSpPr>
            <a:cxnSpLocks/>
            <a:stCxn id="7" idx="3"/>
            <a:endCxn id="12" idx="1"/>
          </p:cNvCxnSpPr>
          <p:nvPr/>
        </p:nvCxnSpPr>
        <p:spPr>
          <a:xfrm>
            <a:off x="3830767" y="1946995"/>
            <a:ext cx="6403086" cy="5099"/>
          </a:xfrm>
          <a:prstGeom prst="straightConnector1">
            <a:avLst/>
          </a:prstGeom>
          <a:ln>
            <a:solidFill>
              <a:srgbClr val="0033CC"/>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9" name="Straight Arrow Connector 6">
            <a:extLst>
              <a:ext uri="{FF2B5EF4-FFF2-40B4-BE49-F238E27FC236}">
                <a16:creationId xmlns:a16="http://schemas.microsoft.com/office/drawing/2014/main" id="{17055990-BA07-CF4C-8794-F0C557F70F1F}"/>
              </a:ext>
            </a:extLst>
          </p:cNvPr>
          <p:cNvCxnSpPr>
            <a:cxnSpLocks/>
            <a:stCxn id="8" idx="3"/>
            <a:endCxn id="9" idx="1"/>
          </p:cNvCxnSpPr>
          <p:nvPr/>
        </p:nvCxnSpPr>
        <p:spPr>
          <a:xfrm>
            <a:off x="3830767" y="4459775"/>
            <a:ext cx="432054" cy="0"/>
          </a:xfrm>
          <a:prstGeom prst="straightConnector1">
            <a:avLst/>
          </a:prstGeom>
          <a:ln>
            <a:solidFill>
              <a:srgbClr val="0033CC"/>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0" name="Straight Arrow Connector 6">
            <a:extLst>
              <a:ext uri="{FF2B5EF4-FFF2-40B4-BE49-F238E27FC236}">
                <a16:creationId xmlns:a16="http://schemas.microsoft.com/office/drawing/2014/main" id="{0CCF1667-3146-470D-8002-BBC346F7C5B2}"/>
              </a:ext>
            </a:extLst>
          </p:cNvPr>
          <p:cNvCxnSpPr>
            <a:cxnSpLocks/>
            <a:stCxn id="9" idx="3"/>
            <a:endCxn id="10" idx="1"/>
          </p:cNvCxnSpPr>
          <p:nvPr/>
        </p:nvCxnSpPr>
        <p:spPr>
          <a:xfrm flipV="1">
            <a:off x="5821111" y="3287204"/>
            <a:ext cx="432054" cy="1172571"/>
          </a:xfrm>
          <a:prstGeom prst="bentConnector3">
            <a:avLst>
              <a:gd name="adj1" fmla="val 50000"/>
            </a:avLst>
          </a:prstGeom>
          <a:ln>
            <a:solidFill>
              <a:srgbClr val="0033CC"/>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1" name="Straight Arrow Connector 6">
            <a:extLst>
              <a:ext uri="{FF2B5EF4-FFF2-40B4-BE49-F238E27FC236}">
                <a16:creationId xmlns:a16="http://schemas.microsoft.com/office/drawing/2014/main" id="{7A8F941D-A17E-EAB0-F616-40286C5C3E44}"/>
              </a:ext>
            </a:extLst>
          </p:cNvPr>
          <p:cNvCxnSpPr>
            <a:cxnSpLocks/>
            <a:stCxn id="9" idx="3"/>
            <a:endCxn id="11" idx="1"/>
          </p:cNvCxnSpPr>
          <p:nvPr/>
        </p:nvCxnSpPr>
        <p:spPr>
          <a:xfrm>
            <a:off x="5821111" y="4459775"/>
            <a:ext cx="432054" cy="1032488"/>
          </a:xfrm>
          <a:prstGeom prst="bentConnector3">
            <a:avLst>
              <a:gd name="adj1" fmla="val 50000"/>
            </a:avLst>
          </a:prstGeom>
          <a:ln>
            <a:solidFill>
              <a:srgbClr val="0033CC"/>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2" name="Straight Arrow Connector 6">
            <a:extLst>
              <a:ext uri="{FF2B5EF4-FFF2-40B4-BE49-F238E27FC236}">
                <a16:creationId xmlns:a16="http://schemas.microsoft.com/office/drawing/2014/main" id="{E2391643-072F-F694-D88B-8B7AF8DBD893}"/>
              </a:ext>
            </a:extLst>
          </p:cNvPr>
          <p:cNvCxnSpPr>
            <a:cxnSpLocks/>
            <a:stCxn id="10" idx="3"/>
            <a:endCxn id="14" idx="1"/>
          </p:cNvCxnSpPr>
          <p:nvPr/>
        </p:nvCxnSpPr>
        <p:spPr>
          <a:xfrm flipV="1">
            <a:off x="7811455" y="2692844"/>
            <a:ext cx="432054" cy="594360"/>
          </a:xfrm>
          <a:prstGeom prst="bentConnector3">
            <a:avLst>
              <a:gd name="adj1" fmla="val 50000"/>
            </a:avLst>
          </a:prstGeom>
          <a:ln>
            <a:solidFill>
              <a:srgbClr val="0033CC"/>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3" name="Straight Arrow Connector 6">
            <a:extLst>
              <a:ext uri="{FF2B5EF4-FFF2-40B4-BE49-F238E27FC236}">
                <a16:creationId xmlns:a16="http://schemas.microsoft.com/office/drawing/2014/main" id="{40C8FFBA-BB28-2E9A-6EBE-B5AEFCB8C596}"/>
              </a:ext>
            </a:extLst>
          </p:cNvPr>
          <p:cNvCxnSpPr>
            <a:cxnSpLocks/>
            <a:stCxn id="10" idx="3"/>
            <a:endCxn id="15" idx="1"/>
          </p:cNvCxnSpPr>
          <p:nvPr/>
        </p:nvCxnSpPr>
        <p:spPr>
          <a:xfrm>
            <a:off x="7811455" y="3287204"/>
            <a:ext cx="432054" cy="544829"/>
          </a:xfrm>
          <a:prstGeom prst="bentConnector3">
            <a:avLst>
              <a:gd name="adj1" fmla="val 50000"/>
            </a:avLst>
          </a:prstGeom>
          <a:ln>
            <a:solidFill>
              <a:srgbClr val="0033CC"/>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4" name="Straight Arrow Connector 6">
            <a:extLst>
              <a:ext uri="{FF2B5EF4-FFF2-40B4-BE49-F238E27FC236}">
                <a16:creationId xmlns:a16="http://schemas.microsoft.com/office/drawing/2014/main" id="{076AC894-1EF8-E869-2B84-8A70C091FE35}"/>
              </a:ext>
            </a:extLst>
          </p:cNvPr>
          <p:cNvCxnSpPr>
            <a:cxnSpLocks/>
            <a:stCxn id="14" idx="3"/>
            <a:endCxn id="12" idx="1"/>
          </p:cNvCxnSpPr>
          <p:nvPr/>
        </p:nvCxnSpPr>
        <p:spPr>
          <a:xfrm flipV="1">
            <a:off x="9801799" y="1952094"/>
            <a:ext cx="432054" cy="740750"/>
          </a:xfrm>
          <a:prstGeom prst="bentConnector3">
            <a:avLst>
              <a:gd name="adj1" fmla="val 50000"/>
            </a:avLst>
          </a:prstGeom>
          <a:ln>
            <a:solidFill>
              <a:srgbClr val="0033CC"/>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5" name="Straight Arrow Connector 6">
            <a:extLst>
              <a:ext uri="{FF2B5EF4-FFF2-40B4-BE49-F238E27FC236}">
                <a16:creationId xmlns:a16="http://schemas.microsoft.com/office/drawing/2014/main" id="{655D36D4-295C-999C-9BEA-4DA256814FFC}"/>
              </a:ext>
            </a:extLst>
          </p:cNvPr>
          <p:cNvCxnSpPr>
            <a:cxnSpLocks/>
            <a:stCxn id="15" idx="3"/>
            <a:endCxn id="13" idx="1"/>
          </p:cNvCxnSpPr>
          <p:nvPr/>
        </p:nvCxnSpPr>
        <p:spPr>
          <a:xfrm flipV="1">
            <a:off x="9801799" y="3829664"/>
            <a:ext cx="432054" cy="2369"/>
          </a:xfrm>
          <a:prstGeom prst="bentConnector3">
            <a:avLst>
              <a:gd name="adj1" fmla="val 50000"/>
            </a:avLst>
          </a:prstGeom>
          <a:ln>
            <a:solidFill>
              <a:srgbClr val="0033CC"/>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6" name="Straight Arrow Connector 6">
            <a:extLst>
              <a:ext uri="{FF2B5EF4-FFF2-40B4-BE49-F238E27FC236}">
                <a16:creationId xmlns:a16="http://schemas.microsoft.com/office/drawing/2014/main" id="{4711C40F-BD14-22FF-8C7D-82886AFEE09C}"/>
              </a:ext>
            </a:extLst>
          </p:cNvPr>
          <p:cNvCxnSpPr>
            <a:cxnSpLocks/>
            <a:stCxn id="11" idx="3"/>
            <a:endCxn id="13" idx="1"/>
          </p:cNvCxnSpPr>
          <p:nvPr/>
        </p:nvCxnSpPr>
        <p:spPr>
          <a:xfrm flipV="1">
            <a:off x="7811455" y="3829664"/>
            <a:ext cx="2422398" cy="1662599"/>
          </a:xfrm>
          <a:prstGeom prst="bentConnector3">
            <a:avLst>
              <a:gd name="adj1" fmla="val 87748"/>
            </a:avLst>
          </a:prstGeom>
          <a:ln>
            <a:solidFill>
              <a:srgbClr val="0033CC"/>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7" name="Straight Arrow Connector 6">
            <a:extLst>
              <a:ext uri="{FF2B5EF4-FFF2-40B4-BE49-F238E27FC236}">
                <a16:creationId xmlns:a16="http://schemas.microsoft.com/office/drawing/2014/main" id="{87AA9141-7A80-667E-E5BF-7CADA4738C90}"/>
              </a:ext>
            </a:extLst>
          </p:cNvPr>
          <p:cNvCxnSpPr>
            <a:cxnSpLocks/>
          </p:cNvCxnSpPr>
          <p:nvPr/>
        </p:nvCxnSpPr>
        <p:spPr>
          <a:xfrm flipH="1" flipV="1">
            <a:off x="2895793" y="2319919"/>
            <a:ext cx="1981200" cy="1772811"/>
          </a:xfrm>
          <a:prstGeom prst="straightConnector1">
            <a:avLst/>
          </a:prstGeom>
          <a:ln>
            <a:solidFill>
              <a:srgbClr val="0033CC"/>
            </a:solidFill>
            <a:prstDash val="dash"/>
            <a:tailEnd type="triangle" w="lg" len="lg"/>
          </a:ln>
        </p:spPr>
        <p:style>
          <a:lnRef idx="1">
            <a:schemeClr val="accent1"/>
          </a:lnRef>
          <a:fillRef idx="0">
            <a:schemeClr val="accent1"/>
          </a:fillRef>
          <a:effectRef idx="0">
            <a:schemeClr val="accent1"/>
          </a:effectRef>
          <a:fontRef idx="minor">
            <a:schemeClr val="tx1"/>
          </a:fontRef>
        </p:style>
      </p:cxnSp>
      <p:sp>
        <p:nvSpPr>
          <p:cNvPr id="28" name="Rectangle 27">
            <a:extLst>
              <a:ext uri="{FF2B5EF4-FFF2-40B4-BE49-F238E27FC236}">
                <a16:creationId xmlns:a16="http://schemas.microsoft.com/office/drawing/2014/main" id="{3BB4BD7A-26F6-D448-0FCF-8996B41F2F85}"/>
              </a:ext>
            </a:extLst>
          </p:cNvPr>
          <p:cNvSpPr/>
          <p:nvPr/>
        </p:nvSpPr>
        <p:spPr>
          <a:xfrm>
            <a:off x="10233853" y="5421510"/>
            <a:ext cx="1829560" cy="581646"/>
          </a:xfrm>
          <a:prstGeom prst="rect">
            <a:avLst/>
          </a:prstGeom>
          <a:solidFill>
            <a:srgbClr val="E0E0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200" b="0" i="0" u="none" strike="noStrike" kern="1200" cap="none" spc="0" normalizeH="0" baseline="0" noProof="0">
                <a:ln>
                  <a:noFill/>
                </a:ln>
                <a:solidFill>
                  <a:srgbClr val="000000">
                    <a:lumMod val="85000"/>
                    <a:lumOff val="15000"/>
                  </a:srgbClr>
                </a:solidFill>
                <a:effectLst/>
                <a:uLnTx/>
                <a:uFillTx/>
                <a:latin typeface="Graphik" panose="020B0503030202060203" pitchFamily="34" charset="0"/>
                <a:ea typeface="+mn-ea"/>
                <a:cs typeface="+mn-cs"/>
              </a:rPr>
              <a:t>Notificación asincrónica con colas</a:t>
            </a:r>
          </a:p>
        </p:txBody>
      </p:sp>
      <p:cxnSp>
        <p:nvCxnSpPr>
          <p:cNvPr id="29" name="Straight Arrow Connector 6">
            <a:extLst>
              <a:ext uri="{FF2B5EF4-FFF2-40B4-BE49-F238E27FC236}">
                <a16:creationId xmlns:a16="http://schemas.microsoft.com/office/drawing/2014/main" id="{24FD711C-36A0-F38F-797D-C44E83FA2ED2}"/>
              </a:ext>
            </a:extLst>
          </p:cNvPr>
          <p:cNvCxnSpPr>
            <a:cxnSpLocks/>
            <a:stCxn id="11" idx="3"/>
            <a:endCxn id="28" idx="1"/>
          </p:cNvCxnSpPr>
          <p:nvPr/>
        </p:nvCxnSpPr>
        <p:spPr>
          <a:xfrm>
            <a:off x="7811455" y="5492263"/>
            <a:ext cx="2422398" cy="220070"/>
          </a:xfrm>
          <a:prstGeom prst="bentConnector3">
            <a:avLst>
              <a:gd name="adj1" fmla="val 50000"/>
            </a:avLst>
          </a:prstGeom>
          <a:ln>
            <a:solidFill>
              <a:srgbClr val="0033CC"/>
            </a:solidFill>
            <a:tailEnd type="triangle" w="lg" len="lg"/>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2A917BE7-BA20-9B38-3C3A-369218E7BDDB}"/>
              </a:ext>
            </a:extLst>
          </p:cNvPr>
          <p:cNvSpPr txBox="1"/>
          <p:nvPr/>
        </p:nvSpPr>
        <p:spPr>
          <a:xfrm>
            <a:off x="4353499" y="4826820"/>
            <a:ext cx="1467612" cy="815608"/>
          </a:xfrm>
          <a:prstGeom prst="rect">
            <a:avLst/>
          </a:prstGeom>
          <a:noFill/>
        </p:spPr>
        <p:txBody>
          <a:bodyPr wrap="square" lIns="0" tIns="0" rIns="0" bIns="4572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1000" b="0" i="0" u="none" strike="noStrike" kern="1200" cap="none" spc="0" normalizeH="0" baseline="0" noProof="0">
                <a:ln>
                  <a:noFill/>
                </a:ln>
                <a:solidFill>
                  <a:srgbClr val="000000"/>
                </a:solidFill>
                <a:effectLst/>
                <a:uLnTx/>
                <a:uFillTx/>
                <a:latin typeface="Graphik"/>
                <a:ea typeface="+mn-ea"/>
                <a:cs typeface="+mn-cs"/>
              </a:rPr>
              <a:t>(*) Los mecanismos transaccionales distribuidos afectarán al rendimiento y la escalabilidad</a:t>
            </a:r>
          </a:p>
        </p:txBody>
      </p:sp>
      <p:sp>
        <p:nvSpPr>
          <p:cNvPr id="31" name="TextBox 30">
            <a:extLst>
              <a:ext uri="{FF2B5EF4-FFF2-40B4-BE49-F238E27FC236}">
                <a16:creationId xmlns:a16="http://schemas.microsoft.com/office/drawing/2014/main" id="{CAF6F0DC-5F99-75DF-E976-9B8C75D154AC}"/>
              </a:ext>
            </a:extLst>
          </p:cNvPr>
          <p:cNvSpPr txBox="1"/>
          <p:nvPr/>
        </p:nvSpPr>
        <p:spPr>
          <a:xfrm>
            <a:off x="4056317" y="1688173"/>
            <a:ext cx="4187192" cy="215444"/>
          </a:xfrm>
          <a:prstGeom prst="rect">
            <a:avLst/>
          </a:prstGeom>
          <a:noFill/>
        </p:spPr>
        <p:txBody>
          <a:bodyPr wrap="square" lIns="0" tIns="0" rIns="0" bIns="4572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000000"/>
                </a:solidFill>
                <a:effectLst/>
                <a:uLnTx/>
                <a:uFillTx/>
                <a:latin typeface="Graphik"/>
                <a:ea typeface="+mn-ea"/>
                <a:cs typeface="+mn-cs"/>
              </a:rPr>
              <a:t>Enfoque recomendado</a:t>
            </a:r>
          </a:p>
        </p:txBody>
      </p:sp>
    </p:spTree>
    <p:extLst>
      <p:ext uri="{BB962C8B-B14F-4D97-AF65-F5344CB8AC3E}">
        <p14:creationId xmlns:p14="http://schemas.microsoft.com/office/powerpoint/2010/main" val="224030081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2703DB-22FF-8015-D3E8-4172876A0F73}"/>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209746D6-B32D-5E0F-A3C4-11C239B40E0D}"/>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alpha val="65000"/>
                  </a:srgbClr>
                </a:solidFill>
                <a:effectLst/>
                <a:uLnTx/>
                <a:uFillTx/>
                <a:latin typeface="Graphik"/>
                <a:ea typeface="+mn-ea"/>
                <a:cs typeface="+mn-cs"/>
              </a:rPr>
              <a:t>Copyright © 2025 Accenture. Todos los derechos reservados.</a:t>
            </a:r>
          </a:p>
        </p:txBody>
      </p:sp>
      <p:sp>
        <p:nvSpPr>
          <p:cNvPr id="118" name="Title 1">
            <a:extLst>
              <a:ext uri="{FF2B5EF4-FFF2-40B4-BE49-F238E27FC236}">
                <a16:creationId xmlns:a16="http://schemas.microsoft.com/office/drawing/2014/main" id="{6584EB7F-710F-0F1E-3BEF-FFF58E7342E9}"/>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a:ln>
                  <a:noFill/>
                </a:ln>
                <a:solidFill>
                  <a:srgbClr val="7500C0"/>
                </a:solidFill>
                <a:effectLst/>
                <a:uLnTx/>
                <a:uFillTx/>
                <a:latin typeface="Graphik"/>
                <a:ea typeface="+mj-ea"/>
                <a:cs typeface="+mj-cs"/>
              </a:rPr>
              <a:t>Activo de Interoperabilidad </a:t>
            </a:r>
            <a:r>
              <a:rPr kumimoji="0" lang="es" sz="2400" b="1" i="0" u="none" strike="noStrike" kern="1200" cap="none" spc="0" normalizeH="0" baseline="0" noProof="0">
                <a:ln>
                  <a:noFill/>
                </a:ln>
                <a:solidFill>
                  <a:srgbClr val="000000"/>
                </a:solidFill>
                <a:effectLst/>
                <a:uLnTx/>
                <a:uFillTx/>
                <a:latin typeface="Graphik"/>
                <a:ea typeface="+mj-ea"/>
                <a:cs typeface="+mj-cs"/>
              </a:rPr>
              <a:t>| </a:t>
            </a:r>
            <a:r>
              <a:rPr kumimoji="0" lang="es" sz="2000" b="1" i="0" u="none" strike="noStrike" kern="1200" cap="none" spc="0" normalizeH="0" baseline="0" noProof="0">
                <a:ln>
                  <a:noFill/>
                </a:ln>
                <a:solidFill>
                  <a:srgbClr val="000000"/>
                </a:solidFill>
                <a:effectLst/>
                <a:uLnTx/>
                <a:uFillTx/>
                <a:latin typeface="Graphik"/>
                <a:ea typeface="+mj-ea"/>
                <a:cs typeface="+mj-cs"/>
              </a:rPr>
              <a:t>Adaptadores heredados</a:t>
            </a:r>
            <a:endParaRPr kumimoji="0" lang="es" sz="2400" b="1" i="0" u="none" strike="noStrike" kern="1200" cap="none" spc="0" normalizeH="0" baseline="0" noProof="0">
              <a:ln>
                <a:noFill/>
              </a:ln>
              <a:solidFill>
                <a:srgbClr val="000000"/>
              </a:solidFill>
              <a:effectLst/>
              <a:uLnTx/>
              <a:uFillTx/>
              <a:latin typeface="Graphik"/>
              <a:ea typeface="+mj-ea"/>
              <a:cs typeface="+mj-cs"/>
            </a:endParaRPr>
          </a:p>
        </p:txBody>
      </p:sp>
      <p:sp>
        <p:nvSpPr>
          <p:cNvPr id="119" name="Content Placeholder 34">
            <a:extLst>
              <a:ext uri="{FF2B5EF4-FFF2-40B4-BE49-F238E27FC236}">
                <a16:creationId xmlns:a16="http://schemas.microsoft.com/office/drawing/2014/main" id="{F694E460-1D46-F7CD-4816-D31C6C47E4E1}"/>
              </a:ext>
            </a:extLst>
          </p:cNvPr>
          <p:cNvSpPr txBox="1">
            <a:spLocks/>
          </p:cNvSpPr>
          <p:nvPr/>
        </p:nvSpPr>
        <p:spPr>
          <a:xfrm>
            <a:off x="285990" y="641993"/>
            <a:ext cx="11430000" cy="246221"/>
          </a:xfrm>
          <a:prstGeom prst="rect">
            <a:avLst/>
          </a:prstGeom>
        </p:spPr>
        <p:txBody>
          <a:bodyPr/>
          <a:lstStyle>
            <a:lvl1pPr marL="228600" indent="-228600" algn="l" defTabSz="228600" rtl="0" eaLnBrk="1" latinLnBrk="0" hangingPunct="1">
              <a:lnSpc>
                <a:spcPct val="100000"/>
              </a:lnSpc>
              <a:spcBef>
                <a:spcPts val="0"/>
              </a:spcBef>
              <a:spcAft>
                <a:spcPts val="600"/>
              </a:spcAft>
              <a:buFont typeface="Arial"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Arial"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Arial"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Arial"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Arial"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Arial" panose="020B0604020202020204" pitchFamily="34" charset="0"/>
              <a:buNone/>
              <a:defRPr sz="800" kern="1200">
                <a:solidFill>
                  <a:schemeClr val="tx2"/>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s" sz="1600" b="1" i="0" u="none" strike="noStrike" kern="1200" cap="none" spc="0" normalizeH="0" baseline="0" noProof="0">
                <a:ln>
                  <a:noFill/>
                </a:ln>
                <a:solidFill>
                  <a:srgbClr val="7500C0"/>
                </a:solidFill>
                <a:effectLst/>
                <a:uLnTx/>
                <a:uFillTx/>
                <a:latin typeface="Graphik" panose="020B0503030202060203" pitchFamily="34" charset="0"/>
                <a:ea typeface="+mn-ea"/>
                <a:cs typeface="+mn-cs"/>
              </a:rPr>
              <a:t>Integración con plataformas heredadas (por ejemplo, Mainframe, Unisys, Tandem...)</a:t>
            </a:r>
          </a:p>
        </p:txBody>
      </p:sp>
      <p:sp>
        <p:nvSpPr>
          <p:cNvPr id="121" name="Rectangle 120">
            <a:extLst>
              <a:ext uri="{FF2B5EF4-FFF2-40B4-BE49-F238E27FC236}">
                <a16:creationId xmlns:a16="http://schemas.microsoft.com/office/drawing/2014/main" id="{C89525A7-825C-DE6C-7AF0-F7112E7D67E3}"/>
              </a:ext>
            </a:extLst>
          </p:cNvPr>
          <p:cNvSpPr/>
          <p:nvPr/>
        </p:nvSpPr>
        <p:spPr>
          <a:xfrm>
            <a:off x="2562571" y="1402897"/>
            <a:ext cx="3970265" cy="1134821"/>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90000" tIns="90000" rIns="90000" bIns="900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Marco de </a:t>
            </a:r>
            <a:br>
              <a:rPr kumimoji="0" lang="es" sz="900" b="0" i="0" u="none" strike="noStrike" kern="1200" cap="none" spc="0" normalizeH="0" baseline="0" noProof="0" dirty="0">
                <a:ln>
                  <a:noFill/>
                </a:ln>
                <a:solidFill>
                  <a:srgbClr val="000000"/>
                </a:solidFill>
                <a:effectLst/>
                <a:uLnTx/>
                <a:uFillTx/>
                <a:latin typeface="Graphik"/>
                <a:ea typeface="+mn-ea"/>
                <a:cs typeface="+mn-cs"/>
              </a:rPr>
            </a:br>
            <a:r>
              <a:rPr kumimoji="0" lang="es" sz="900" b="0" i="0" u="none" strike="noStrike" kern="1200" cap="none" spc="0" normalizeH="0" baseline="0" noProof="0" dirty="0">
                <a:ln>
                  <a:noFill/>
                </a:ln>
                <a:solidFill>
                  <a:srgbClr val="000000"/>
                </a:solidFill>
                <a:effectLst/>
                <a:uLnTx/>
                <a:uFillTx/>
                <a:latin typeface="Graphik"/>
                <a:ea typeface="+mn-ea"/>
                <a:cs typeface="+mn-cs"/>
              </a:rPr>
              <a:t>Microservicios </a:t>
            </a:r>
          </a:p>
        </p:txBody>
      </p:sp>
      <p:sp>
        <p:nvSpPr>
          <p:cNvPr id="122" name="Rectangle 121">
            <a:extLst>
              <a:ext uri="{FF2B5EF4-FFF2-40B4-BE49-F238E27FC236}">
                <a16:creationId xmlns:a16="http://schemas.microsoft.com/office/drawing/2014/main" id="{21F676D9-E43C-3C2D-02F7-0D5378AE1761}"/>
              </a:ext>
            </a:extLst>
          </p:cNvPr>
          <p:cNvSpPr/>
          <p:nvPr/>
        </p:nvSpPr>
        <p:spPr>
          <a:xfrm>
            <a:off x="3523415" y="1075709"/>
            <a:ext cx="2029722" cy="152083"/>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API Gateway</a:t>
            </a:r>
          </a:p>
        </p:txBody>
      </p:sp>
      <p:grpSp>
        <p:nvGrpSpPr>
          <p:cNvPr id="123" name="Group 122">
            <a:extLst>
              <a:ext uri="{FF2B5EF4-FFF2-40B4-BE49-F238E27FC236}">
                <a16:creationId xmlns:a16="http://schemas.microsoft.com/office/drawing/2014/main" id="{BDD943F3-3A83-4E75-0307-8E835AE5C1B8}"/>
              </a:ext>
            </a:extLst>
          </p:cNvPr>
          <p:cNvGrpSpPr/>
          <p:nvPr/>
        </p:nvGrpSpPr>
        <p:grpSpPr>
          <a:xfrm>
            <a:off x="6032115" y="1303163"/>
            <a:ext cx="612000" cy="180000"/>
            <a:chOff x="2436880" y="1158097"/>
            <a:chExt cx="1080000" cy="360000"/>
          </a:xfrm>
          <a:solidFill>
            <a:schemeClr val="bg1"/>
          </a:solidFill>
        </p:grpSpPr>
        <p:sp>
          <p:nvSpPr>
            <p:cNvPr id="124" name="Rectangle 123">
              <a:extLst>
                <a:ext uri="{FF2B5EF4-FFF2-40B4-BE49-F238E27FC236}">
                  <a16:creationId xmlns:a16="http://schemas.microsoft.com/office/drawing/2014/main" id="{4BE8A610-4D9A-1297-027F-BD98E067BFB1}"/>
                </a:ext>
              </a:extLst>
            </p:cNvPr>
            <p:cNvSpPr/>
            <p:nvPr/>
          </p:nvSpPr>
          <p:spPr>
            <a:xfrm>
              <a:off x="2436880" y="1158097"/>
              <a:ext cx="1080000" cy="360000"/>
            </a:xfrm>
            <a:prstGeom prst="rect">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OpenShift</a:t>
              </a:r>
            </a:p>
          </p:txBody>
        </p:sp>
        <p:pic>
          <p:nvPicPr>
            <p:cNvPr id="125" name="Picture 124">
              <a:extLst>
                <a:ext uri="{FF2B5EF4-FFF2-40B4-BE49-F238E27FC236}">
                  <a16:creationId xmlns:a16="http://schemas.microsoft.com/office/drawing/2014/main" id="{C2BCC2CB-E8EE-87CD-4746-EC3BC57DCC75}"/>
                </a:ext>
              </a:extLst>
            </p:cNvPr>
            <p:cNvPicPr>
              <a:picLocks noChangeAspect="1"/>
            </p:cNvPicPr>
            <p:nvPr/>
          </p:nvPicPr>
          <p:blipFill>
            <a:blip r:embed="rId2"/>
            <a:stretch>
              <a:fillRect/>
            </a:stretch>
          </p:blipFill>
          <p:spPr>
            <a:xfrm>
              <a:off x="2470229" y="1215368"/>
              <a:ext cx="1013303" cy="245459"/>
            </a:xfrm>
            <a:prstGeom prst="rect">
              <a:avLst/>
            </a:prstGeom>
            <a:grpFill/>
          </p:spPr>
        </p:pic>
      </p:grpSp>
      <p:sp>
        <p:nvSpPr>
          <p:cNvPr id="126" name="TextBox 125">
            <a:extLst>
              <a:ext uri="{FF2B5EF4-FFF2-40B4-BE49-F238E27FC236}">
                <a16:creationId xmlns:a16="http://schemas.microsoft.com/office/drawing/2014/main" id="{203BC68B-99F6-16AF-D416-BC62A3A01B17}"/>
              </a:ext>
            </a:extLst>
          </p:cNvPr>
          <p:cNvSpPr txBox="1"/>
          <p:nvPr/>
        </p:nvSpPr>
        <p:spPr>
          <a:xfrm>
            <a:off x="7858568" y="1066370"/>
            <a:ext cx="4169965" cy="3810429"/>
          </a:xfrm>
          <a:prstGeom prst="rect">
            <a:avLst/>
          </a:prstGeom>
          <a:noFill/>
        </p:spPr>
        <p:txBody>
          <a:bodyPr wrap="square" lIns="0" tIns="0" rIns="0" bIns="0" rtlCol="0">
            <a:noAutofit/>
          </a:bodyPr>
          <a:lstStyle/>
          <a:p>
            <a:pPr marL="0" marR="0" lvl="0" indent="0" algn="l" defTabSz="228600" rtl="0" eaLnBrk="1" fontAlgn="auto" latinLnBrk="0" hangingPunct="1">
              <a:lnSpc>
                <a:spcPct val="100000"/>
              </a:lnSpc>
              <a:spcBef>
                <a:spcPts val="0"/>
              </a:spcBef>
              <a:spcAft>
                <a:spcPts val="300"/>
              </a:spcAft>
              <a:buClrTx/>
              <a:buSzTx/>
              <a:buFontTx/>
              <a:buNone/>
              <a:tabLst/>
              <a:defRPr/>
            </a:pPr>
            <a:r>
              <a:rPr kumimoji="0" lang="es" sz="1000" b="1" i="0" u="none" strike="noStrike" kern="1200" cap="none" spc="0" normalizeH="0" baseline="0" noProof="0">
                <a:ln>
                  <a:noFill/>
                </a:ln>
                <a:solidFill>
                  <a:srgbClr val="000000"/>
                </a:solidFill>
                <a:effectLst/>
                <a:uLnTx/>
                <a:uFillTx/>
                <a:latin typeface="Graphik"/>
                <a:ea typeface="+mn-ea"/>
                <a:cs typeface="+mn-cs"/>
              </a:rPr>
              <a:t>Notas</a:t>
            </a:r>
          </a:p>
          <a:p>
            <a:pPr marL="285750" marR="0" lvl="0" indent="-285750" algn="l" defTabSz="2286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s" sz="1000" b="0" i="0" u="none" strike="noStrike" kern="1200" cap="none" spc="0" normalizeH="0" baseline="0" noProof="0">
                <a:ln>
                  <a:noFill/>
                </a:ln>
                <a:solidFill>
                  <a:srgbClr val="000000"/>
                </a:solidFill>
                <a:effectLst/>
                <a:uLnTx/>
                <a:uFillTx/>
                <a:latin typeface="Graphik"/>
                <a:ea typeface="+mn-ea"/>
                <a:cs typeface="+mn-cs"/>
              </a:rPr>
              <a:t>Envoltorios de servicio en forma de microservicios para:</a:t>
            </a:r>
          </a:p>
          <a:p>
            <a:pPr marL="742950" marR="0" lvl="1" indent="-285750" algn="l" defTabSz="2286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s" sz="1000" b="0" i="0" u="none" strike="noStrike" kern="1200" cap="none" spc="0" normalizeH="0" baseline="0" noProof="0">
                <a:ln>
                  <a:noFill/>
                </a:ln>
                <a:solidFill>
                  <a:srgbClr val="000000"/>
                </a:solidFill>
                <a:effectLst/>
                <a:uLnTx/>
                <a:uFillTx/>
                <a:latin typeface="Graphik"/>
                <a:ea typeface="+mn-ea"/>
                <a:cs typeface="+mn-cs"/>
              </a:rPr>
              <a:t>Habilitar servicios basados en legados en forma de APIs</a:t>
            </a:r>
          </a:p>
          <a:p>
            <a:pPr marL="742950" marR="0" lvl="1" indent="-285750" algn="l" defTabSz="2286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s" sz="1000" b="0" i="0" u="none" strike="noStrike" kern="1200" cap="none" spc="0" normalizeH="0" baseline="0" noProof="0">
                <a:ln>
                  <a:noFill/>
                </a:ln>
                <a:solidFill>
                  <a:srgbClr val="000000"/>
                </a:solidFill>
                <a:effectLst/>
                <a:uLnTx/>
                <a:uFillTx/>
                <a:latin typeface="Graphik"/>
                <a:ea typeface="+mn-ea"/>
                <a:cs typeface="+mn-cs"/>
              </a:rPr>
              <a:t>Facilitar la orquestación con otros servicios</a:t>
            </a:r>
          </a:p>
          <a:p>
            <a:pPr marL="742950" marR="0" lvl="1" indent="-285750" algn="l" defTabSz="2286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s" sz="1000" b="0" i="0" u="none" strike="noStrike" kern="1200" cap="none" spc="0" normalizeH="0" baseline="0" noProof="0">
                <a:ln>
                  <a:noFill/>
                </a:ln>
                <a:solidFill>
                  <a:srgbClr val="000000"/>
                </a:solidFill>
                <a:effectLst/>
                <a:uLnTx/>
                <a:uFillTx/>
                <a:latin typeface="Graphik"/>
                <a:ea typeface="+mn-ea"/>
                <a:cs typeface="+mn-cs"/>
              </a:rPr>
              <a:t>Acceso a la plataforma heredada donde reside el servicio real</a:t>
            </a:r>
          </a:p>
          <a:p>
            <a:pPr marL="285750" marR="0" lvl="0" indent="-285750" algn="l" defTabSz="2286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s" sz="1000" b="0" i="0" u="none" strike="noStrike" kern="1200" cap="none" spc="0" normalizeH="0" baseline="0" noProof="0">
                <a:ln>
                  <a:noFill/>
                </a:ln>
                <a:solidFill>
                  <a:srgbClr val="000000"/>
                </a:solidFill>
                <a:effectLst/>
                <a:uLnTx/>
                <a:uFillTx/>
                <a:latin typeface="Graphik"/>
                <a:ea typeface="+mn-ea"/>
                <a:cs typeface="+mn-cs"/>
              </a:rPr>
              <a:t>Los adaptadores conectan entre la arquitectura basada en microservicios y las plataformas heredadas</a:t>
            </a:r>
          </a:p>
          <a:p>
            <a:pPr marL="285750" marR="0" lvl="0" indent="-285750" algn="l" defTabSz="2286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s" sz="1000" b="0" i="0" u="none" strike="noStrike" kern="1200" cap="none" spc="0" normalizeH="0" baseline="0" noProof="0">
                <a:ln>
                  <a:noFill/>
                </a:ln>
                <a:solidFill>
                  <a:srgbClr val="000000"/>
                </a:solidFill>
                <a:effectLst/>
                <a:uLnTx/>
                <a:uFillTx/>
                <a:latin typeface="Graphik"/>
                <a:ea typeface="+mn-ea"/>
                <a:cs typeface="+mn-cs"/>
              </a:rPr>
              <a:t>Algunos de los elementos del marco de integración pueden estar presentes solo tácticamente (por ejemplo, Tibco)</a:t>
            </a:r>
          </a:p>
          <a:p>
            <a:pPr marL="285750" marR="0" lvl="0" indent="-285750" algn="l" defTabSz="228600" rtl="0" eaLnBrk="1" fontAlgn="auto" latinLnBrk="0" hangingPunct="1">
              <a:lnSpc>
                <a:spcPct val="100000"/>
              </a:lnSpc>
              <a:spcBef>
                <a:spcPts val="0"/>
              </a:spcBef>
              <a:spcAft>
                <a:spcPts val="300"/>
              </a:spcAft>
              <a:buClrTx/>
              <a:buSzTx/>
              <a:buFont typeface="Arial" panose="020B0604020202020204" pitchFamily="34" charset="0"/>
              <a:buChar char="•"/>
              <a:tabLst/>
              <a:defRPr/>
            </a:pPr>
            <a:endParaRPr kumimoji="0" lang="en-US" sz="1000" b="0" i="0" u="none" strike="noStrike" kern="1200" cap="none" spc="0" normalizeH="0" baseline="0" noProof="0">
              <a:ln>
                <a:noFill/>
              </a:ln>
              <a:solidFill>
                <a:srgbClr val="000000"/>
              </a:solidFill>
              <a:effectLst/>
              <a:uLnTx/>
              <a:uFillTx/>
              <a:latin typeface="Graphik"/>
              <a:ea typeface="+mn-ea"/>
              <a:cs typeface="+mn-cs"/>
            </a:endParaRPr>
          </a:p>
          <a:p>
            <a:pPr marL="285750" marR="0" lvl="0" indent="-285750" algn="l" defTabSz="2286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s" sz="1000" b="0" i="0" u="none" strike="noStrike" kern="1200" cap="none" spc="0" normalizeH="0" baseline="0" noProof="0">
                <a:ln>
                  <a:noFill/>
                </a:ln>
                <a:solidFill>
                  <a:srgbClr val="000000"/>
                </a:solidFill>
                <a:effectLst/>
                <a:uLnTx/>
                <a:uFillTx/>
                <a:latin typeface="Graphik"/>
                <a:ea typeface="+mn-ea"/>
                <a:cs typeface="+mn-cs"/>
              </a:rPr>
              <a:t>Idealmente, tanto los mecanismos de integración síncronos como asíncronos serían convenientes, por ejemplo, usando servicios REST para comunicación síncrona y MQ otros mecanismos de eventos basados en Change Data Capture + Kafka</a:t>
            </a:r>
          </a:p>
          <a:p>
            <a:pPr marL="285750" marR="0" lvl="0" indent="-285750" algn="l" defTabSz="228600" rtl="0" eaLnBrk="1" fontAlgn="auto" latinLnBrk="0" hangingPunct="1">
              <a:lnSpc>
                <a:spcPct val="100000"/>
              </a:lnSpc>
              <a:spcBef>
                <a:spcPts val="0"/>
              </a:spcBef>
              <a:spcAft>
                <a:spcPts val="300"/>
              </a:spcAft>
              <a:buClrTx/>
              <a:buSzTx/>
              <a:buFont typeface="Arial" panose="020B0604020202020204" pitchFamily="34" charset="0"/>
              <a:buChar char="•"/>
              <a:tabLst/>
              <a:defRPr/>
            </a:pPr>
            <a:endParaRPr kumimoji="0" lang="en-US" sz="1000" b="0" i="1" u="none" strike="noStrike" kern="1200" cap="none" spc="0" normalizeH="0" baseline="0" noProof="0">
              <a:ln>
                <a:noFill/>
              </a:ln>
              <a:solidFill>
                <a:srgbClr val="000000"/>
              </a:solidFill>
              <a:effectLst/>
              <a:uLnTx/>
              <a:uFillTx/>
              <a:latin typeface="Graphik"/>
              <a:ea typeface="+mn-ea"/>
              <a:cs typeface="+mn-cs"/>
            </a:endParaRPr>
          </a:p>
          <a:p>
            <a:pPr marL="285750" marR="0" lvl="0" indent="-285750" algn="l" defTabSz="2286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s" sz="1000" b="0" i="1" u="none" strike="noStrike" kern="1200" cap="none" spc="0" normalizeH="0" baseline="0" noProof="0">
                <a:ln>
                  <a:noFill/>
                </a:ln>
                <a:solidFill>
                  <a:srgbClr val="000000"/>
                </a:solidFill>
                <a:effectLst/>
                <a:uLnTx/>
                <a:uFillTx/>
                <a:latin typeface="Graphik"/>
                <a:ea typeface="+mn-ea"/>
                <a:cs typeface="+mn-cs"/>
              </a:rPr>
              <a:t>Nota: Los legados suelen requerir también componentes por lotes y mecanismos de sincronización de datos, que no se representan aquí</a:t>
            </a:r>
          </a:p>
        </p:txBody>
      </p:sp>
      <p:sp>
        <p:nvSpPr>
          <p:cNvPr id="127" name="Rectangle 126">
            <a:extLst>
              <a:ext uri="{FF2B5EF4-FFF2-40B4-BE49-F238E27FC236}">
                <a16:creationId xmlns:a16="http://schemas.microsoft.com/office/drawing/2014/main" id="{D78451F9-752E-7A42-F9A9-0C988E877F34}"/>
              </a:ext>
            </a:extLst>
          </p:cNvPr>
          <p:cNvSpPr/>
          <p:nvPr/>
        </p:nvSpPr>
        <p:spPr>
          <a:xfrm>
            <a:off x="3136144" y="1791639"/>
            <a:ext cx="720000" cy="296242"/>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Servicio</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Envolvente</a:t>
            </a:r>
          </a:p>
        </p:txBody>
      </p:sp>
      <p:sp>
        <p:nvSpPr>
          <p:cNvPr id="128" name="Rectangle 127">
            <a:extLst>
              <a:ext uri="{FF2B5EF4-FFF2-40B4-BE49-F238E27FC236}">
                <a16:creationId xmlns:a16="http://schemas.microsoft.com/office/drawing/2014/main" id="{D90BB212-0F81-04DC-02E7-CE21B2C9435F}"/>
              </a:ext>
            </a:extLst>
          </p:cNvPr>
          <p:cNvSpPr/>
          <p:nvPr/>
        </p:nvSpPr>
        <p:spPr>
          <a:xfrm>
            <a:off x="4187703" y="1791639"/>
            <a:ext cx="720000" cy="296242"/>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Servicio</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Envolvente</a:t>
            </a:r>
          </a:p>
        </p:txBody>
      </p:sp>
      <p:sp>
        <p:nvSpPr>
          <p:cNvPr id="129" name="Rectangle 128">
            <a:extLst>
              <a:ext uri="{FF2B5EF4-FFF2-40B4-BE49-F238E27FC236}">
                <a16:creationId xmlns:a16="http://schemas.microsoft.com/office/drawing/2014/main" id="{882DECAC-D637-03F8-B480-26FDAB3583AB}"/>
              </a:ext>
            </a:extLst>
          </p:cNvPr>
          <p:cNvSpPr/>
          <p:nvPr/>
        </p:nvSpPr>
        <p:spPr>
          <a:xfrm>
            <a:off x="5233068" y="1791639"/>
            <a:ext cx="720000" cy="296242"/>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defRPr/>
            </a:pPr>
            <a:r>
              <a:rPr lang="es" sz="900" dirty="0">
                <a:solidFill>
                  <a:srgbClr val="000000"/>
                </a:solidFill>
              </a:rPr>
              <a:t>Servicio</a:t>
            </a:r>
          </a:p>
          <a:p>
            <a:pPr lvl="0" algn="ctr">
              <a:defRPr/>
            </a:pPr>
            <a:r>
              <a:rPr lang="es" sz="900" dirty="0">
                <a:solidFill>
                  <a:srgbClr val="000000"/>
                </a:solidFill>
              </a:rPr>
              <a:t>Envolvente</a:t>
            </a:r>
          </a:p>
        </p:txBody>
      </p:sp>
      <p:cxnSp>
        <p:nvCxnSpPr>
          <p:cNvPr id="130" name="Connector: Elbow 129">
            <a:extLst>
              <a:ext uri="{FF2B5EF4-FFF2-40B4-BE49-F238E27FC236}">
                <a16:creationId xmlns:a16="http://schemas.microsoft.com/office/drawing/2014/main" id="{6362F1D9-2112-FEAB-421A-1C28A54A8658}"/>
              </a:ext>
            </a:extLst>
          </p:cNvPr>
          <p:cNvCxnSpPr>
            <a:cxnSpLocks/>
            <a:stCxn id="122" idx="2"/>
            <a:endCxn id="127" idx="0"/>
          </p:cNvCxnSpPr>
          <p:nvPr/>
        </p:nvCxnSpPr>
        <p:spPr>
          <a:xfrm rot="5400000">
            <a:off x="3735287" y="988649"/>
            <a:ext cx="563847" cy="1042132"/>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1" name="Connector: Elbow 130">
            <a:extLst>
              <a:ext uri="{FF2B5EF4-FFF2-40B4-BE49-F238E27FC236}">
                <a16:creationId xmlns:a16="http://schemas.microsoft.com/office/drawing/2014/main" id="{4518FD97-3D55-CFDA-71A8-5E58E48D5FAA}"/>
              </a:ext>
            </a:extLst>
          </p:cNvPr>
          <p:cNvCxnSpPr>
            <a:cxnSpLocks/>
            <a:stCxn id="122" idx="2"/>
            <a:endCxn id="128" idx="0"/>
          </p:cNvCxnSpPr>
          <p:nvPr/>
        </p:nvCxnSpPr>
        <p:spPr>
          <a:xfrm rot="16200000" flipH="1">
            <a:off x="4261066" y="1505001"/>
            <a:ext cx="563847" cy="9427"/>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2" name="Connector: Elbow 131">
            <a:extLst>
              <a:ext uri="{FF2B5EF4-FFF2-40B4-BE49-F238E27FC236}">
                <a16:creationId xmlns:a16="http://schemas.microsoft.com/office/drawing/2014/main" id="{BF9F02F8-AFA4-35C1-7435-880AA1A46A90}"/>
              </a:ext>
            </a:extLst>
          </p:cNvPr>
          <p:cNvCxnSpPr>
            <a:cxnSpLocks/>
            <a:stCxn id="122" idx="2"/>
            <a:endCxn id="129" idx="0"/>
          </p:cNvCxnSpPr>
          <p:nvPr/>
        </p:nvCxnSpPr>
        <p:spPr>
          <a:xfrm rot="16200000" flipH="1">
            <a:off x="4783749" y="982319"/>
            <a:ext cx="563847" cy="1054792"/>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3" name="Connector: Elbow 132">
            <a:extLst>
              <a:ext uri="{FF2B5EF4-FFF2-40B4-BE49-F238E27FC236}">
                <a16:creationId xmlns:a16="http://schemas.microsoft.com/office/drawing/2014/main" id="{3C856A6A-DCEE-C5D8-A411-A19D63C35B74}"/>
              </a:ext>
            </a:extLst>
          </p:cNvPr>
          <p:cNvCxnSpPr>
            <a:cxnSpLocks/>
            <a:stCxn id="158" idx="2"/>
            <a:endCxn id="156" idx="0"/>
          </p:cNvCxnSpPr>
          <p:nvPr/>
        </p:nvCxnSpPr>
        <p:spPr>
          <a:xfrm rot="16200000" flipH="1">
            <a:off x="3524806" y="2337626"/>
            <a:ext cx="988082" cy="1056309"/>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4" name="Rectangle 133">
            <a:extLst>
              <a:ext uri="{FF2B5EF4-FFF2-40B4-BE49-F238E27FC236}">
                <a16:creationId xmlns:a16="http://schemas.microsoft.com/office/drawing/2014/main" id="{23D2C322-7A65-2DD2-2B46-2E12E1438958}"/>
              </a:ext>
            </a:extLst>
          </p:cNvPr>
          <p:cNvSpPr/>
          <p:nvPr/>
        </p:nvSpPr>
        <p:spPr>
          <a:xfrm>
            <a:off x="2599648" y="4949598"/>
            <a:ext cx="942808" cy="753827"/>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Mainframe</a:t>
            </a:r>
          </a:p>
        </p:txBody>
      </p:sp>
      <p:sp>
        <p:nvSpPr>
          <p:cNvPr id="135" name="Rectangle 134">
            <a:extLst>
              <a:ext uri="{FF2B5EF4-FFF2-40B4-BE49-F238E27FC236}">
                <a16:creationId xmlns:a16="http://schemas.microsoft.com/office/drawing/2014/main" id="{C62E02DD-B9E4-5C16-815D-922686AC2269}"/>
              </a:ext>
            </a:extLst>
          </p:cNvPr>
          <p:cNvSpPr/>
          <p:nvPr/>
        </p:nvSpPr>
        <p:spPr>
          <a:xfrm>
            <a:off x="5628559" y="4949598"/>
            <a:ext cx="942808" cy="753827"/>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Unisys</a:t>
            </a:r>
          </a:p>
        </p:txBody>
      </p:sp>
      <p:sp>
        <p:nvSpPr>
          <p:cNvPr id="136" name="Rectangle 135">
            <a:extLst>
              <a:ext uri="{FF2B5EF4-FFF2-40B4-BE49-F238E27FC236}">
                <a16:creationId xmlns:a16="http://schemas.microsoft.com/office/drawing/2014/main" id="{924069BE-EFD7-04B6-3A4C-F3EF62E60DF0}"/>
              </a:ext>
            </a:extLst>
          </p:cNvPr>
          <p:cNvSpPr/>
          <p:nvPr/>
        </p:nvSpPr>
        <p:spPr>
          <a:xfrm>
            <a:off x="4067305" y="4949598"/>
            <a:ext cx="942808" cy="753827"/>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Tandem</a:t>
            </a:r>
          </a:p>
        </p:txBody>
      </p:sp>
      <p:sp>
        <p:nvSpPr>
          <p:cNvPr id="137" name="Rectangle 136">
            <a:extLst>
              <a:ext uri="{FF2B5EF4-FFF2-40B4-BE49-F238E27FC236}">
                <a16:creationId xmlns:a16="http://schemas.microsoft.com/office/drawing/2014/main" id="{FA16AA94-6104-0447-74E4-DAC3D7FB3023}"/>
              </a:ext>
            </a:extLst>
          </p:cNvPr>
          <p:cNvSpPr/>
          <p:nvPr/>
        </p:nvSpPr>
        <p:spPr>
          <a:xfrm>
            <a:off x="5698659" y="5031732"/>
            <a:ext cx="794422" cy="180000"/>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Enrutamiento</a:t>
            </a:r>
          </a:p>
        </p:txBody>
      </p:sp>
      <p:sp>
        <p:nvSpPr>
          <p:cNvPr id="138" name="Rectangle 137">
            <a:extLst>
              <a:ext uri="{FF2B5EF4-FFF2-40B4-BE49-F238E27FC236}">
                <a16:creationId xmlns:a16="http://schemas.microsoft.com/office/drawing/2014/main" id="{0F4E7F52-6069-81D4-3ABF-1337F82C40DC}"/>
              </a:ext>
            </a:extLst>
          </p:cNvPr>
          <p:cNvSpPr/>
          <p:nvPr/>
        </p:nvSpPr>
        <p:spPr>
          <a:xfrm>
            <a:off x="2765052" y="5053277"/>
            <a:ext cx="612001" cy="180000"/>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CICS</a:t>
            </a:r>
          </a:p>
        </p:txBody>
      </p:sp>
      <p:cxnSp>
        <p:nvCxnSpPr>
          <p:cNvPr id="139" name="Connector: Elbow 138">
            <a:extLst>
              <a:ext uri="{FF2B5EF4-FFF2-40B4-BE49-F238E27FC236}">
                <a16:creationId xmlns:a16="http://schemas.microsoft.com/office/drawing/2014/main" id="{8500A0AA-0581-FA6D-D7CF-B7E9F2FB91C0}"/>
              </a:ext>
            </a:extLst>
          </p:cNvPr>
          <p:cNvCxnSpPr>
            <a:cxnSpLocks/>
          </p:cNvCxnSpPr>
          <p:nvPr/>
        </p:nvCxnSpPr>
        <p:spPr>
          <a:xfrm rot="5400000">
            <a:off x="3525516" y="3175418"/>
            <a:ext cx="567022" cy="1475950"/>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1" name="Rectangle 140">
            <a:extLst>
              <a:ext uri="{FF2B5EF4-FFF2-40B4-BE49-F238E27FC236}">
                <a16:creationId xmlns:a16="http://schemas.microsoft.com/office/drawing/2014/main" id="{C39DF34D-0151-7278-6FB1-EC47AE05FC62}"/>
              </a:ext>
            </a:extLst>
          </p:cNvPr>
          <p:cNvSpPr/>
          <p:nvPr/>
        </p:nvSpPr>
        <p:spPr>
          <a:xfrm>
            <a:off x="2765052" y="5338024"/>
            <a:ext cx="612001" cy="180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Servicio </a:t>
            </a:r>
          </a:p>
        </p:txBody>
      </p:sp>
      <p:sp>
        <p:nvSpPr>
          <p:cNvPr id="142" name="Rectangle 141">
            <a:extLst>
              <a:ext uri="{FF2B5EF4-FFF2-40B4-BE49-F238E27FC236}">
                <a16:creationId xmlns:a16="http://schemas.microsoft.com/office/drawing/2014/main" id="{AA50A55C-1A82-6D64-E6DE-CA8EE8A1414A}"/>
              </a:ext>
            </a:extLst>
          </p:cNvPr>
          <p:cNvSpPr/>
          <p:nvPr/>
        </p:nvSpPr>
        <p:spPr>
          <a:xfrm>
            <a:off x="5793963" y="5308528"/>
            <a:ext cx="612001" cy="180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Servicio </a:t>
            </a:r>
          </a:p>
        </p:txBody>
      </p:sp>
      <p:sp>
        <p:nvSpPr>
          <p:cNvPr id="143" name="Rectangle 142">
            <a:extLst>
              <a:ext uri="{FF2B5EF4-FFF2-40B4-BE49-F238E27FC236}">
                <a16:creationId xmlns:a16="http://schemas.microsoft.com/office/drawing/2014/main" id="{3F58E5A2-8837-FE76-E42D-08A057BF2413}"/>
              </a:ext>
            </a:extLst>
          </p:cNvPr>
          <p:cNvSpPr/>
          <p:nvPr/>
        </p:nvSpPr>
        <p:spPr>
          <a:xfrm>
            <a:off x="4232709" y="5338024"/>
            <a:ext cx="612001" cy="180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Servicio </a:t>
            </a:r>
          </a:p>
        </p:txBody>
      </p:sp>
      <p:cxnSp>
        <p:nvCxnSpPr>
          <p:cNvPr id="144" name="Connector: Elbow 143">
            <a:extLst>
              <a:ext uri="{FF2B5EF4-FFF2-40B4-BE49-F238E27FC236}">
                <a16:creationId xmlns:a16="http://schemas.microsoft.com/office/drawing/2014/main" id="{97124BDF-E980-D629-4D1F-70C6201D5A5D}"/>
              </a:ext>
            </a:extLst>
          </p:cNvPr>
          <p:cNvCxnSpPr>
            <a:cxnSpLocks/>
            <a:stCxn id="159" idx="2"/>
            <a:endCxn id="156" idx="0"/>
          </p:cNvCxnSpPr>
          <p:nvPr/>
        </p:nvCxnSpPr>
        <p:spPr>
          <a:xfrm rot="5400000">
            <a:off x="4048235" y="2860352"/>
            <a:ext cx="998237" cy="702"/>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5" name="Rectangle 144">
            <a:extLst>
              <a:ext uri="{FF2B5EF4-FFF2-40B4-BE49-F238E27FC236}">
                <a16:creationId xmlns:a16="http://schemas.microsoft.com/office/drawing/2014/main" id="{B8CB785D-F317-0E1A-E1E4-4F707BBBD96D}"/>
              </a:ext>
            </a:extLst>
          </p:cNvPr>
          <p:cNvSpPr/>
          <p:nvPr/>
        </p:nvSpPr>
        <p:spPr>
          <a:xfrm>
            <a:off x="2720406" y="4204855"/>
            <a:ext cx="701292" cy="292722"/>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Adaptador IBM MF</a:t>
            </a:r>
          </a:p>
        </p:txBody>
      </p:sp>
      <p:sp>
        <p:nvSpPr>
          <p:cNvPr id="146" name="Rectangle 145">
            <a:extLst>
              <a:ext uri="{FF2B5EF4-FFF2-40B4-BE49-F238E27FC236}">
                <a16:creationId xmlns:a16="http://schemas.microsoft.com/office/drawing/2014/main" id="{D23677E0-EFA8-0657-C354-B9717CA27500}"/>
              </a:ext>
            </a:extLst>
          </p:cNvPr>
          <p:cNvSpPr/>
          <p:nvPr/>
        </p:nvSpPr>
        <p:spPr>
          <a:xfrm>
            <a:off x="5738414" y="4196327"/>
            <a:ext cx="701292" cy="292722"/>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Adaptador Unisys</a:t>
            </a:r>
          </a:p>
        </p:txBody>
      </p:sp>
      <p:sp>
        <p:nvSpPr>
          <p:cNvPr id="147" name="Rectangle 146">
            <a:extLst>
              <a:ext uri="{FF2B5EF4-FFF2-40B4-BE49-F238E27FC236}">
                <a16:creationId xmlns:a16="http://schemas.microsoft.com/office/drawing/2014/main" id="{A5AFD4BB-1CE4-8E60-C9C9-DCB216A47B16}"/>
              </a:ext>
            </a:extLst>
          </p:cNvPr>
          <p:cNvSpPr/>
          <p:nvPr/>
        </p:nvSpPr>
        <p:spPr>
          <a:xfrm>
            <a:off x="4188063" y="4191916"/>
            <a:ext cx="701292" cy="292722"/>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Adaptador Tándem</a:t>
            </a:r>
          </a:p>
        </p:txBody>
      </p:sp>
      <p:cxnSp>
        <p:nvCxnSpPr>
          <p:cNvPr id="149" name="Straight Arrow Connector 148">
            <a:extLst>
              <a:ext uri="{FF2B5EF4-FFF2-40B4-BE49-F238E27FC236}">
                <a16:creationId xmlns:a16="http://schemas.microsoft.com/office/drawing/2014/main" id="{8A6F0223-CA67-3576-A283-800D0D9FF5AF}"/>
              </a:ext>
            </a:extLst>
          </p:cNvPr>
          <p:cNvCxnSpPr>
            <a:stCxn id="147" idx="2"/>
            <a:endCxn id="136" idx="0"/>
          </p:cNvCxnSpPr>
          <p:nvPr/>
        </p:nvCxnSpPr>
        <p:spPr>
          <a:xfrm>
            <a:off x="4538709" y="4484638"/>
            <a:ext cx="0" cy="464960"/>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1" name="Straight Arrow Connector 150">
            <a:extLst>
              <a:ext uri="{FF2B5EF4-FFF2-40B4-BE49-F238E27FC236}">
                <a16:creationId xmlns:a16="http://schemas.microsoft.com/office/drawing/2014/main" id="{F8ADD93C-C3A3-67A3-117B-976AEFD0E173}"/>
              </a:ext>
            </a:extLst>
          </p:cNvPr>
          <p:cNvCxnSpPr>
            <a:cxnSpLocks/>
            <a:stCxn id="145" idx="2"/>
            <a:endCxn id="134" idx="0"/>
          </p:cNvCxnSpPr>
          <p:nvPr/>
        </p:nvCxnSpPr>
        <p:spPr>
          <a:xfrm>
            <a:off x="3071052" y="4497577"/>
            <a:ext cx="0" cy="452021"/>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5" name="Rectangle 154">
            <a:extLst>
              <a:ext uri="{FF2B5EF4-FFF2-40B4-BE49-F238E27FC236}">
                <a16:creationId xmlns:a16="http://schemas.microsoft.com/office/drawing/2014/main" id="{177213BC-5909-7EDC-E316-3E75954E0013}"/>
              </a:ext>
            </a:extLst>
          </p:cNvPr>
          <p:cNvSpPr/>
          <p:nvPr/>
        </p:nvSpPr>
        <p:spPr>
          <a:xfrm>
            <a:off x="3089011" y="4471195"/>
            <a:ext cx="679467" cy="222519"/>
          </a:xfrm>
          <a:prstGeom prst="rect">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lvl="0" algn="ctr">
              <a:defRPr/>
            </a:pPr>
            <a:r>
              <a:rPr lang="es" sz="700" dirty="0">
                <a:solidFill>
                  <a:srgbClr val="FFFFFF"/>
                </a:solidFill>
              </a:rPr>
              <a:t>Componente customizado</a:t>
            </a:r>
          </a:p>
        </p:txBody>
      </p:sp>
      <p:sp>
        <p:nvSpPr>
          <p:cNvPr id="156" name="Rectangle 155">
            <a:extLst>
              <a:ext uri="{FF2B5EF4-FFF2-40B4-BE49-F238E27FC236}">
                <a16:creationId xmlns:a16="http://schemas.microsoft.com/office/drawing/2014/main" id="{1BB0F1E7-AB8C-F8F4-99FC-09F1951B5076}"/>
              </a:ext>
            </a:extLst>
          </p:cNvPr>
          <p:cNvSpPr/>
          <p:nvPr/>
        </p:nvSpPr>
        <p:spPr>
          <a:xfrm>
            <a:off x="3768483" y="3359822"/>
            <a:ext cx="1557037" cy="278011"/>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Despachador de Servicio</a:t>
            </a:r>
          </a:p>
        </p:txBody>
      </p:sp>
      <p:sp>
        <p:nvSpPr>
          <p:cNvPr id="158" name="Rectangle 157">
            <a:extLst>
              <a:ext uri="{FF2B5EF4-FFF2-40B4-BE49-F238E27FC236}">
                <a16:creationId xmlns:a16="http://schemas.microsoft.com/office/drawing/2014/main" id="{0DAAAFDC-41B4-ADDC-3A51-7935A8A56732}"/>
              </a:ext>
            </a:extLst>
          </p:cNvPr>
          <p:cNvSpPr/>
          <p:nvPr/>
        </p:nvSpPr>
        <p:spPr>
          <a:xfrm>
            <a:off x="3189002" y="2075498"/>
            <a:ext cx="603381" cy="296242"/>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API de dominio</a:t>
            </a:r>
          </a:p>
        </p:txBody>
      </p:sp>
      <p:sp>
        <p:nvSpPr>
          <p:cNvPr id="159" name="Rectangle 158">
            <a:extLst>
              <a:ext uri="{FF2B5EF4-FFF2-40B4-BE49-F238E27FC236}">
                <a16:creationId xmlns:a16="http://schemas.microsoft.com/office/drawing/2014/main" id="{1C949067-ABE6-C69E-35AA-072F333770BF}"/>
              </a:ext>
            </a:extLst>
          </p:cNvPr>
          <p:cNvSpPr/>
          <p:nvPr/>
        </p:nvSpPr>
        <p:spPr>
          <a:xfrm>
            <a:off x="4246013" y="2065343"/>
            <a:ext cx="603381" cy="296242"/>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API de dominio</a:t>
            </a:r>
          </a:p>
        </p:txBody>
      </p:sp>
      <p:sp>
        <p:nvSpPr>
          <p:cNvPr id="160" name="Rectangle 159">
            <a:extLst>
              <a:ext uri="{FF2B5EF4-FFF2-40B4-BE49-F238E27FC236}">
                <a16:creationId xmlns:a16="http://schemas.microsoft.com/office/drawing/2014/main" id="{7B7DC84B-7B62-A07C-E0F9-2EB8FEF7A96F}"/>
              </a:ext>
            </a:extLst>
          </p:cNvPr>
          <p:cNvSpPr/>
          <p:nvPr/>
        </p:nvSpPr>
        <p:spPr>
          <a:xfrm>
            <a:off x="5286706" y="2075498"/>
            <a:ext cx="603381" cy="296242"/>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API de dominio</a:t>
            </a:r>
          </a:p>
        </p:txBody>
      </p:sp>
      <p:cxnSp>
        <p:nvCxnSpPr>
          <p:cNvPr id="161" name="Connector: Elbow 160">
            <a:extLst>
              <a:ext uri="{FF2B5EF4-FFF2-40B4-BE49-F238E27FC236}">
                <a16:creationId xmlns:a16="http://schemas.microsoft.com/office/drawing/2014/main" id="{D87DB573-2E0F-D9FB-70FD-3294B625FFC8}"/>
              </a:ext>
            </a:extLst>
          </p:cNvPr>
          <p:cNvCxnSpPr>
            <a:cxnSpLocks/>
            <a:stCxn id="160" idx="2"/>
            <a:endCxn id="156" idx="0"/>
          </p:cNvCxnSpPr>
          <p:nvPr/>
        </p:nvCxnSpPr>
        <p:spPr>
          <a:xfrm rot="5400000">
            <a:off x="4573659" y="2345084"/>
            <a:ext cx="988082" cy="1041395"/>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65" name="Rectangle 164">
            <a:extLst>
              <a:ext uri="{FF2B5EF4-FFF2-40B4-BE49-F238E27FC236}">
                <a16:creationId xmlns:a16="http://schemas.microsoft.com/office/drawing/2014/main" id="{DEDA369A-5D57-45F2-8679-A5633295C712}"/>
              </a:ext>
            </a:extLst>
          </p:cNvPr>
          <p:cNvSpPr/>
          <p:nvPr/>
        </p:nvSpPr>
        <p:spPr>
          <a:xfrm>
            <a:off x="5018408" y="3598566"/>
            <a:ext cx="734753" cy="222519"/>
          </a:xfrm>
          <a:prstGeom prst="rect">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lvl="0" algn="ctr">
              <a:defRPr/>
            </a:pPr>
            <a:r>
              <a:rPr lang="es" sz="700" dirty="0">
                <a:solidFill>
                  <a:srgbClr val="FFFFFF"/>
                </a:solidFill>
              </a:rPr>
              <a:t>Componente customizado</a:t>
            </a:r>
          </a:p>
        </p:txBody>
      </p:sp>
      <p:grpSp>
        <p:nvGrpSpPr>
          <p:cNvPr id="166" name="Group 165">
            <a:extLst>
              <a:ext uri="{FF2B5EF4-FFF2-40B4-BE49-F238E27FC236}">
                <a16:creationId xmlns:a16="http://schemas.microsoft.com/office/drawing/2014/main" id="{151989C5-0890-7416-53A9-F75EBFABD003}"/>
              </a:ext>
            </a:extLst>
          </p:cNvPr>
          <p:cNvGrpSpPr/>
          <p:nvPr/>
        </p:nvGrpSpPr>
        <p:grpSpPr>
          <a:xfrm>
            <a:off x="4756084" y="4447118"/>
            <a:ext cx="612000" cy="180000"/>
            <a:chOff x="8138043" y="3996066"/>
            <a:chExt cx="1080000" cy="360000"/>
          </a:xfrm>
          <a:solidFill>
            <a:schemeClr val="bg1"/>
          </a:solidFill>
        </p:grpSpPr>
        <p:sp>
          <p:nvSpPr>
            <p:cNvPr id="167" name="Rectangle 166">
              <a:extLst>
                <a:ext uri="{FF2B5EF4-FFF2-40B4-BE49-F238E27FC236}">
                  <a16:creationId xmlns:a16="http://schemas.microsoft.com/office/drawing/2014/main" id="{C867786C-5E09-4820-3D6E-0F1FF31DBB68}"/>
                </a:ext>
              </a:extLst>
            </p:cNvPr>
            <p:cNvSpPr/>
            <p:nvPr/>
          </p:nvSpPr>
          <p:spPr>
            <a:xfrm>
              <a:off x="8138043" y="3996066"/>
              <a:ext cx="1080000" cy="360000"/>
            </a:xfrm>
            <a:prstGeom prst="rect">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TIBCO</a:t>
              </a:r>
            </a:p>
          </p:txBody>
        </p:sp>
        <p:pic>
          <p:nvPicPr>
            <p:cNvPr id="168" name="Picture 167">
              <a:extLst>
                <a:ext uri="{FF2B5EF4-FFF2-40B4-BE49-F238E27FC236}">
                  <a16:creationId xmlns:a16="http://schemas.microsoft.com/office/drawing/2014/main" id="{FBCCAB09-186A-5A6D-22A7-41D1F951C7FC}"/>
                </a:ext>
              </a:extLst>
            </p:cNvPr>
            <p:cNvPicPr>
              <a:picLocks noChangeAspect="1"/>
            </p:cNvPicPr>
            <p:nvPr/>
          </p:nvPicPr>
          <p:blipFill>
            <a:blip r:embed="rId3"/>
            <a:stretch>
              <a:fillRect/>
            </a:stretch>
          </p:blipFill>
          <p:spPr>
            <a:xfrm>
              <a:off x="8148798" y="4038275"/>
              <a:ext cx="1058490" cy="275582"/>
            </a:xfrm>
            <a:prstGeom prst="rect">
              <a:avLst/>
            </a:prstGeom>
            <a:grpFill/>
          </p:spPr>
        </p:pic>
      </p:grpSp>
      <p:cxnSp>
        <p:nvCxnSpPr>
          <p:cNvPr id="170" name="Straight Arrow Connector 169">
            <a:extLst>
              <a:ext uri="{FF2B5EF4-FFF2-40B4-BE49-F238E27FC236}">
                <a16:creationId xmlns:a16="http://schemas.microsoft.com/office/drawing/2014/main" id="{B7FA88C0-BD7D-FD5C-1864-187F7DD6FA36}"/>
              </a:ext>
            </a:extLst>
          </p:cNvPr>
          <p:cNvCxnSpPr>
            <a:cxnSpLocks/>
            <a:stCxn id="146" idx="2"/>
            <a:endCxn id="135" idx="0"/>
          </p:cNvCxnSpPr>
          <p:nvPr/>
        </p:nvCxnSpPr>
        <p:spPr>
          <a:xfrm>
            <a:off x="6089060" y="4489049"/>
            <a:ext cx="10903" cy="460549"/>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173" name="Group 172">
            <a:extLst>
              <a:ext uri="{FF2B5EF4-FFF2-40B4-BE49-F238E27FC236}">
                <a16:creationId xmlns:a16="http://schemas.microsoft.com/office/drawing/2014/main" id="{D7F66191-1ABD-5B3F-79C1-A0012F66CA51}"/>
              </a:ext>
            </a:extLst>
          </p:cNvPr>
          <p:cNvGrpSpPr/>
          <p:nvPr/>
        </p:nvGrpSpPr>
        <p:grpSpPr>
          <a:xfrm>
            <a:off x="9914018" y="286451"/>
            <a:ext cx="1862854" cy="253275"/>
            <a:chOff x="9929190" y="421028"/>
            <a:chExt cx="1862854" cy="253275"/>
          </a:xfrm>
        </p:grpSpPr>
        <p:sp>
          <p:nvSpPr>
            <p:cNvPr id="174" name="TextBox 173">
              <a:extLst>
                <a:ext uri="{FF2B5EF4-FFF2-40B4-BE49-F238E27FC236}">
                  <a16:creationId xmlns:a16="http://schemas.microsoft.com/office/drawing/2014/main" id="{0D3A2F15-8E60-F485-CF1E-C8C9E82BAB62}"/>
                </a:ext>
              </a:extLst>
            </p:cNvPr>
            <p:cNvSpPr txBox="1"/>
            <p:nvPr/>
          </p:nvSpPr>
          <p:spPr>
            <a:xfrm>
              <a:off x="9936972" y="460821"/>
              <a:ext cx="1847290" cy="173690"/>
            </a:xfrm>
            <a:prstGeom prst="rect">
              <a:avLst/>
            </a:prstGeom>
            <a:noFill/>
          </p:spPr>
          <p:txBody>
            <a:bodyPr wrap="none" lIns="0" tIns="0" rIns="0" bIns="0" rtlCol="0">
              <a:noAutofit/>
            </a:bodyPr>
            <a:lstStyle/>
            <a:p>
              <a:pPr marL="0" marR="0" lvl="0" indent="0" algn="l" defTabSz="228600" rtl="0" eaLnBrk="1" fontAlgn="auto" latinLnBrk="0" hangingPunct="1">
                <a:lnSpc>
                  <a:spcPct val="100000"/>
                </a:lnSpc>
                <a:spcBef>
                  <a:spcPts val="0"/>
                </a:spcBef>
                <a:spcAft>
                  <a:spcPts val="1200"/>
                </a:spcAft>
                <a:buClrTx/>
                <a:buSzTx/>
                <a:buFontTx/>
                <a:buNone/>
                <a:tabLst/>
                <a:defRPr/>
              </a:pPr>
              <a:r>
                <a:rPr kumimoji="0" lang="es" sz="1100" b="0" i="0" u="none" strike="noStrike" kern="1200" cap="none" spc="0" normalizeH="0" baseline="0" noProof="0">
                  <a:ln>
                    <a:noFill/>
                  </a:ln>
                  <a:solidFill>
                    <a:srgbClr val="000000"/>
                  </a:solidFill>
                  <a:effectLst/>
                  <a:uLnTx/>
                  <a:uFillTx/>
                  <a:latin typeface="Graphik"/>
                  <a:ea typeface="+mn-ea"/>
                  <a:cs typeface="+mn-cs"/>
                </a:rPr>
                <a:t>Ilustrativo no exhaustivo</a:t>
              </a:r>
            </a:p>
          </p:txBody>
        </p:sp>
        <p:cxnSp>
          <p:nvCxnSpPr>
            <p:cNvPr id="175" name="Straight Connector 174">
              <a:extLst>
                <a:ext uri="{FF2B5EF4-FFF2-40B4-BE49-F238E27FC236}">
                  <a16:creationId xmlns:a16="http://schemas.microsoft.com/office/drawing/2014/main" id="{31E258E4-30B3-9A71-1F8C-E12C2DAEB6E2}"/>
                </a:ext>
              </a:extLst>
            </p:cNvPr>
            <p:cNvCxnSpPr>
              <a:cxnSpLocks/>
            </p:cNvCxnSpPr>
            <p:nvPr/>
          </p:nvCxnSpPr>
          <p:spPr>
            <a:xfrm>
              <a:off x="9929190" y="421028"/>
              <a:ext cx="186285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6" name="Straight Connector 175">
              <a:extLst>
                <a:ext uri="{FF2B5EF4-FFF2-40B4-BE49-F238E27FC236}">
                  <a16:creationId xmlns:a16="http://schemas.microsoft.com/office/drawing/2014/main" id="{0FEDB600-B230-199C-4152-A2D5F526B79A}"/>
                </a:ext>
              </a:extLst>
            </p:cNvPr>
            <p:cNvCxnSpPr>
              <a:cxnSpLocks/>
            </p:cNvCxnSpPr>
            <p:nvPr/>
          </p:nvCxnSpPr>
          <p:spPr>
            <a:xfrm>
              <a:off x="9929190" y="674303"/>
              <a:ext cx="186285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4" name="Connector: Elbow 3">
            <a:extLst>
              <a:ext uri="{FF2B5EF4-FFF2-40B4-BE49-F238E27FC236}">
                <a16:creationId xmlns:a16="http://schemas.microsoft.com/office/drawing/2014/main" id="{15DB04E0-C64A-EF3C-E677-7C2DBD576C3B}"/>
              </a:ext>
            </a:extLst>
          </p:cNvPr>
          <p:cNvCxnSpPr>
            <a:cxnSpLocks/>
          </p:cNvCxnSpPr>
          <p:nvPr/>
        </p:nvCxnSpPr>
        <p:spPr>
          <a:xfrm rot="16200000" flipH="1">
            <a:off x="5038784" y="3146051"/>
            <a:ext cx="558494" cy="1542058"/>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 name="Connector: Elbow 7">
            <a:extLst>
              <a:ext uri="{FF2B5EF4-FFF2-40B4-BE49-F238E27FC236}">
                <a16:creationId xmlns:a16="http://schemas.microsoft.com/office/drawing/2014/main" id="{6DE200B8-BDB5-C570-A9EE-73B2AD1257A4}"/>
              </a:ext>
            </a:extLst>
          </p:cNvPr>
          <p:cNvCxnSpPr>
            <a:cxnSpLocks/>
            <a:stCxn id="156" idx="2"/>
            <a:endCxn id="147" idx="0"/>
          </p:cNvCxnSpPr>
          <p:nvPr/>
        </p:nvCxnSpPr>
        <p:spPr>
          <a:xfrm rot="5400000">
            <a:off x="4265815" y="3910728"/>
            <a:ext cx="554083" cy="8293"/>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 name="Rectangle 4">
            <a:extLst>
              <a:ext uri="{FF2B5EF4-FFF2-40B4-BE49-F238E27FC236}">
                <a16:creationId xmlns:a16="http://schemas.microsoft.com/office/drawing/2014/main" id="{29B14F33-0A70-83CE-C80F-B3A1378007D9}"/>
              </a:ext>
            </a:extLst>
          </p:cNvPr>
          <p:cNvSpPr/>
          <p:nvPr/>
        </p:nvSpPr>
        <p:spPr>
          <a:xfrm>
            <a:off x="7860146" y="5585430"/>
            <a:ext cx="3439086" cy="205327"/>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Componentes principales de esta capacidad</a:t>
            </a:r>
          </a:p>
        </p:txBody>
      </p:sp>
      <p:sp>
        <p:nvSpPr>
          <p:cNvPr id="7" name="Rectangle 6">
            <a:extLst>
              <a:ext uri="{FF2B5EF4-FFF2-40B4-BE49-F238E27FC236}">
                <a16:creationId xmlns:a16="http://schemas.microsoft.com/office/drawing/2014/main" id="{AC3E1DB3-60D5-EBFF-432F-C3C1E1935F60}"/>
              </a:ext>
            </a:extLst>
          </p:cNvPr>
          <p:cNvSpPr/>
          <p:nvPr/>
        </p:nvSpPr>
        <p:spPr>
          <a:xfrm>
            <a:off x="7860146" y="5819582"/>
            <a:ext cx="3439086" cy="187603"/>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Componentes de otras capacidades relacionadas</a:t>
            </a:r>
          </a:p>
        </p:txBody>
      </p:sp>
      <p:sp>
        <p:nvSpPr>
          <p:cNvPr id="10" name="Rectangle 9">
            <a:extLst>
              <a:ext uri="{FF2B5EF4-FFF2-40B4-BE49-F238E27FC236}">
                <a16:creationId xmlns:a16="http://schemas.microsoft.com/office/drawing/2014/main" id="{FA7EDB68-60C2-935E-2A00-BB0F8A39DDE1}"/>
              </a:ext>
            </a:extLst>
          </p:cNvPr>
          <p:cNvSpPr/>
          <p:nvPr/>
        </p:nvSpPr>
        <p:spPr>
          <a:xfrm>
            <a:off x="7860145" y="6036007"/>
            <a:ext cx="3439086" cy="165055"/>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Componentes funcionales relacionados con esta capacidad</a:t>
            </a:r>
          </a:p>
        </p:txBody>
      </p:sp>
    </p:spTree>
    <p:extLst>
      <p:ext uri="{BB962C8B-B14F-4D97-AF65-F5344CB8AC3E}">
        <p14:creationId xmlns:p14="http://schemas.microsoft.com/office/powerpoint/2010/main" val="289992040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C927B5-8AC7-8331-ADC9-8D8E9D3CC285}"/>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21B4C531-859C-F4C4-5F02-170811504C7B}"/>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alpha val="65000"/>
                  </a:srgbClr>
                </a:solidFill>
                <a:effectLst/>
                <a:uLnTx/>
                <a:uFillTx/>
                <a:latin typeface="Graphik"/>
                <a:ea typeface="+mn-ea"/>
                <a:cs typeface="+mn-cs"/>
              </a:rPr>
              <a:t>Copyright © 2025 Accenture. Todos los derechos reservados.</a:t>
            </a:r>
          </a:p>
        </p:txBody>
      </p:sp>
      <p:sp>
        <p:nvSpPr>
          <p:cNvPr id="118" name="Title 1">
            <a:extLst>
              <a:ext uri="{FF2B5EF4-FFF2-40B4-BE49-F238E27FC236}">
                <a16:creationId xmlns:a16="http://schemas.microsoft.com/office/drawing/2014/main" id="{AA8C6C2B-B54D-5A28-C133-387574D8A324}"/>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a:ln>
                  <a:noFill/>
                </a:ln>
                <a:solidFill>
                  <a:srgbClr val="7500C0"/>
                </a:solidFill>
                <a:effectLst/>
                <a:uLnTx/>
                <a:uFillTx/>
                <a:latin typeface="Graphik"/>
                <a:ea typeface="+mj-ea"/>
                <a:cs typeface="+mj-cs"/>
              </a:rPr>
              <a:t>Activo de Interoperabilidad </a:t>
            </a:r>
            <a:r>
              <a:rPr kumimoji="0" lang="es" sz="2400" b="1" i="0" u="none" strike="noStrike" kern="1200" cap="none" spc="0" normalizeH="0" baseline="0" noProof="0">
                <a:ln>
                  <a:noFill/>
                </a:ln>
                <a:solidFill>
                  <a:srgbClr val="000000"/>
                </a:solidFill>
                <a:effectLst/>
                <a:uLnTx/>
                <a:uFillTx/>
                <a:latin typeface="Graphik"/>
                <a:ea typeface="+mj-ea"/>
                <a:cs typeface="+mj-cs"/>
              </a:rPr>
              <a:t>| </a:t>
            </a:r>
            <a:r>
              <a:rPr kumimoji="0" lang="es" sz="2000" b="1" i="0" u="none" strike="noStrike" kern="1200" cap="none" spc="0" normalizeH="0" baseline="0" noProof="0">
                <a:ln>
                  <a:noFill/>
                </a:ln>
                <a:solidFill>
                  <a:srgbClr val="000000"/>
                </a:solidFill>
                <a:effectLst/>
                <a:uLnTx/>
                <a:uFillTx/>
                <a:latin typeface="Graphik"/>
                <a:ea typeface="+mj-ea"/>
                <a:cs typeface="+mj-cs"/>
              </a:rPr>
              <a:t>Mecanismo de almacenamiento y reenvío</a:t>
            </a:r>
            <a:endParaRPr kumimoji="0" lang="es" sz="2400" b="1" i="0" u="none" strike="noStrike" kern="1200" cap="none" spc="0" normalizeH="0" baseline="0" noProof="0">
              <a:ln>
                <a:noFill/>
              </a:ln>
              <a:solidFill>
                <a:srgbClr val="000000"/>
              </a:solidFill>
              <a:effectLst/>
              <a:uLnTx/>
              <a:uFillTx/>
              <a:latin typeface="Graphik"/>
              <a:ea typeface="+mj-ea"/>
              <a:cs typeface="+mj-cs"/>
            </a:endParaRPr>
          </a:p>
        </p:txBody>
      </p:sp>
      <p:sp>
        <p:nvSpPr>
          <p:cNvPr id="119" name="Content Placeholder 34">
            <a:extLst>
              <a:ext uri="{FF2B5EF4-FFF2-40B4-BE49-F238E27FC236}">
                <a16:creationId xmlns:a16="http://schemas.microsoft.com/office/drawing/2014/main" id="{85CC1D32-3FEB-B3BD-77DD-078ADCDE2DB8}"/>
              </a:ext>
            </a:extLst>
          </p:cNvPr>
          <p:cNvSpPr txBox="1">
            <a:spLocks/>
          </p:cNvSpPr>
          <p:nvPr/>
        </p:nvSpPr>
        <p:spPr>
          <a:xfrm>
            <a:off x="285990" y="641993"/>
            <a:ext cx="11430000" cy="246221"/>
          </a:xfrm>
          <a:prstGeom prst="rect">
            <a:avLst/>
          </a:prstGeom>
        </p:spPr>
        <p:txBody>
          <a:bodyPr/>
          <a:lstStyle>
            <a:lvl1pPr marL="228600" indent="-228600" algn="l" defTabSz="228600" rtl="0" eaLnBrk="1" latinLnBrk="0" hangingPunct="1">
              <a:lnSpc>
                <a:spcPct val="100000"/>
              </a:lnSpc>
              <a:spcBef>
                <a:spcPts val="0"/>
              </a:spcBef>
              <a:spcAft>
                <a:spcPts val="600"/>
              </a:spcAft>
              <a:buFont typeface="Arial"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Arial"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Arial"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Arial"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Arial"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Arial" panose="020B0604020202020204" pitchFamily="34" charset="0"/>
              <a:buNone/>
              <a:defRPr sz="800" kern="1200">
                <a:solidFill>
                  <a:schemeClr val="tx2"/>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s" sz="1600" b="1" i="0" u="none" strike="noStrike" kern="1200" cap="none" spc="0" normalizeH="0" baseline="0" noProof="0">
                <a:ln>
                  <a:noFill/>
                </a:ln>
                <a:solidFill>
                  <a:srgbClr val="7500C0"/>
                </a:solidFill>
                <a:effectLst/>
                <a:uLnTx/>
                <a:uFillTx/>
                <a:latin typeface="Graphik" panose="020B0503030202060203" pitchFamily="34" charset="0"/>
                <a:ea typeface="+mn-ea"/>
                <a:cs typeface="+mn-cs"/>
              </a:rPr>
              <a:t>Mecanismo de almacenamiento y reenvío</a:t>
            </a:r>
          </a:p>
        </p:txBody>
      </p:sp>
      <p:grpSp>
        <p:nvGrpSpPr>
          <p:cNvPr id="4" name="Group 3">
            <a:extLst>
              <a:ext uri="{FF2B5EF4-FFF2-40B4-BE49-F238E27FC236}">
                <a16:creationId xmlns:a16="http://schemas.microsoft.com/office/drawing/2014/main" id="{F16D6817-85B3-3BC9-AE01-46E24E98C912}"/>
              </a:ext>
            </a:extLst>
          </p:cNvPr>
          <p:cNvGrpSpPr/>
          <p:nvPr/>
        </p:nvGrpSpPr>
        <p:grpSpPr>
          <a:xfrm>
            <a:off x="9914018" y="286451"/>
            <a:ext cx="1862854" cy="253275"/>
            <a:chOff x="9929190" y="421028"/>
            <a:chExt cx="1862854" cy="253275"/>
          </a:xfrm>
        </p:grpSpPr>
        <p:sp>
          <p:nvSpPr>
            <p:cNvPr id="5" name="TextBox 4">
              <a:extLst>
                <a:ext uri="{FF2B5EF4-FFF2-40B4-BE49-F238E27FC236}">
                  <a16:creationId xmlns:a16="http://schemas.microsoft.com/office/drawing/2014/main" id="{34894FAE-E7C7-EFD2-FA3E-0ACFB3ACC363}"/>
                </a:ext>
              </a:extLst>
            </p:cNvPr>
            <p:cNvSpPr txBox="1"/>
            <p:nvPr/>
          </p:nvSpPr>
          <p:spPr>
            <a:xfrm>
              <a:off x="9936972" y="460821"/>
              <a:ext cx="1847290" cy="173690"/>
            </a:xfrm>
            <a:prstGeom prst="rect">
              <a:avLst/>
            </a:prstGeom>
            <a:noFill/>
          </p:spPr>
          <p:txBody>
            <a:bodyPr wrap="none" lIns="0" tIns="0" rIns="0" bIns="0" rtlCol="0">
              <a:noAutofit/>
            </a:bodyPr>
            <a:lstStyle/>
            <a:p>
              <a:pPr marL="0" marR="0" lvl="0" indent="0" algn="l" defTabSz="228600" rtl="0" eaLnBrk="1" fontAlgn="auto" latinLnBrk="0" hangingPunct="1">
                <a:lnSpc>
                  <a:spcPct val="100000"/>
                </a:lnSpc>
                <a:spcBef>
                  <a:spcPts val="0"/>
                </a:spcBef>
                <a:spcAft>
                  <a:spcPts val="1200"/>
                </a:spcAft>
                <a:buClrTx/>
                <a:buSzTx/>
                <a:buFontTx/>
                <a:buNone/>
                <a:tabLst/>
                <a:defRPr/>
              </a:pPr>
              <a:r>
                <a:rPr kumimoji="0" lang="es" sz="1100" b="0" i="0" u="none" strike="noStrike" kern="1200" cap="none" spc="0" normalizeH="0" baseline="0" noProof="0">
                  <a:ln>
                    <a:noFill/>
                  </a:ln>
                  <a:solidFill>
                    <a:srgbClr val="000000"/>
                  </a:solidFill>
                  <a:effectLst/>
                  <a:uLnTx/>
                  <a:uFillTx/>
                  <a:latin typeface="Graphik"/>
                  <a:ea typeface="+mn-ea"/>
                  <a:cs typeface="+mn-cs"/>
                </a:rPr>
                <a:t>Ilustrativo no exhaustivo</a:t>
              </a:r>
            </a:p>
          </p:txBody>
        </p:sp>
        <p:cxnSp>
          <p:nvCxnSpPr>
            <p:cNvPr id="6" name="Straight Connector 5">
              <a:extLst>
                <a:ext uri="{FF2B5EF4-FFF2-40B4-BE49-F238E27FC236}">
                  <a16:creationId xmlns:a16="http://schemas.microsoft.com/office/drawing/2014/main" id="{E339E996-1725-95C3-3647-4A1F7EEDE5E5}"/>
                </a:ext>
              </a:extLst>
            </p:cNvPr>
            <p:cNvCxnSpPr>
              <a:cxnSpLocks/>
            </p:cNvCxnSpPr>
            <p:nvPr/>
          </p:nvCxnSpPr>
          <p:spPr>
            <a:xfrm>
              <a:off x="9929190" y="421028"/>
              <a:ext cx="186285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40009E08-6796-5BF4-62E6-1DAA3CF0FAB3}"/>
                </a:ext>
              </a:extLst>
            </p:cNvPr>
            <p:cNvCxnSpPr>
              <a:cxnSpLocks/>
            </p:cNvCxnSpPr>
            <p:nvPr/>
          </p:nvCxnSpPr>
          <p:spPr>
            <a:xfrm>
              <a:off x="9929190" y="674303"/>
              <a:ext cx="186285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8" name="Rectangle 7">
            <a:extLst>
              <a:ext uri="{FF2B5EF4-FFF2-40B4-BE49-F238E27FC236}">
                <a16:creationId xmlns:a16="http://schemas.microsoft.com/office/drawing/2014/main" id="{69F9DD58-18D6-276C-1D63-19F53C642F48}"/>
              </a:ext>
            </a:extLst>
          </p:cNvPr>
          <p:cNvSpPr/>
          <p:nvPr/>
        </p:nvSpPr>
        <p:spPr>
          <a:xfrm>
            <a:off x="504904" y="2182654"/>
            <a:ext cx="4981442" cy="2112717"/>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90000" tIns="90000" rIns="90000" bIns="900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Marco de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Microservicios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 sz="900" b="0" i="0" u="none" strike="noStrike" kern="1200" cap="none" spc="0" normalizeH="0" baseline="0" noProof="0" dirty="0">
              <a:ln>
                <a:noFill/>
              </a:ln>
              <a:solidFill>
                <a:srgbClr val="000000"/>
              </a:solidFill>
              <a:effectLst/>
              <a:uLnTx/>
              <a:uFillTx/>
              <a:latin typeface="Graphik"/>
              <a:ea typeface="+mn-ea"/>
              <a:cs typeface="+mn-cs"/>
            </a:endParaRPr>
          </a:p>
        </p:txBody>
      </p:sp>
      <p:grpSp>
        <p:nvGrpSpPr>
          <p:cNvPr id="9" name="Group 8">
            <a:extLst>
              <a:ext uri="{FF2B5EF4-FFF2-40B4-BE49-F238E27FC236}">
                <a16:creationId xmlns:a16="http://schemas.microsoft.com/office/drawing/2014/main" id="{F39A8FE5-15C8-BD50-400B-7A64280D085C}"/>
              </a:ext>
            </a:extLst>
          </p:cNvPr>
          <p:cNvGrpSpPr/>
          <p:nvPr/>
        </p:nvGrpSpPr>
        <p:grpSpPr>
          <a:xfrm>
            <a:off x="4907077" y="2072739"/>
            <a:ext cx="844771" cy="284934"/>
            <a:chOff x="2436880" y="1158097"/>
            <a:chExt cx="1080000" cy="360000"/>
          </a:xfrm>
          <a:solidFill>
            <a:schemeClr val="bg1"/>
          </a:solidFill>
        </p:grpSpPr>
        <p:sp>
          <p:nvSpPr>
            <p:cNvPr id="10" name="Rectangle 9">
              <a:extLst>
                <a:ext uri="{FF2B5EF4-FFF2-40B4-BE49-F238E27FC236}">
                  <a16:creationId xmlns:a16="http://schemas.microsoft.com/office/drawing/2014/main" id="{CFA46BD6-4020-A671-C3B9-B5EC88DFED2B}"/>
                </a:ext>
              </a:extLst>
            </p:cNvPr>
            <p:cNvSpPr/>
            <p:nvPr/>
          </p:nvSpPr>
          <p:spPr>
            <a:xfrm>
              <a:off x="2436880" y="1158097"/>
              <a:ext cx="1080000" cy="360000"/>
            </a:xfrm>
            <a:prstGeom prst="rect">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OpenShift</a:t>
              </a:r>
            </a:p>
          </p:txBody>
        </p:sp>
        <p:pic>
          <p:nvPicPr>
            <p:cNvPr id="11" name="Picture 10">
              <a:extLst>
                <a:ext uri="{FF2B5EF4-FFF2-40B4-BE49-F238E27FC236}">
                  <a16:creationId xmlns:a16="http://schemas.microsoft.com/office/drawing/2014/main" id="{3E6DEDA3-C44D-77AE-DBA2-296993B32D45}"/>
                </a:ext>
              </a:extLst>
            </p:cNvPr>
            <p:cNvPicPr>
              <a:picLocks noChangeAspect="1"/>
            </p:cNvPicPr>
            <p:nvPr/>
          </p:nvPicPr>
          <p:blipFill>
            <a:blip r:embed="rId2"/>
            <a:stretch>
              <a:fillRect/>
            </a:stretch>
          </p:blipFill>
          <p:spPr>
            <a:xfrm>
              <a:off x="2470229" y="1215368"/>
              <a:ext cx="1013303" cy="245459"/>
            </a:xfrm>
            <a:prstGeom prst="rect">
              <a:avLst/>
            </a:prstGeom>
            <a:grpFill/>
          </p:spPr>
        </p:pic>
      </p:grpSp>
      <p:sp>
        <p:nvSpPr>
          <p:cNvPr id="12" name="Rectangle 11">
            <a:extLst>
              <a:ext uri="{FF2B5EF4-FFF2-40B4-BE49-F238E27FC236}">
                <a16:creationId xmlns:a16="http://schemas.microsoft.com/office/drawing/2014/main" id="{6FF3F33F-A589-47CE-2BB9-4AD283DEB9C5}"/>
              </a:ext>
            </a:extLst>
          </p:cNvPr>
          <p:cNvSpPr/>
          <p:nvPr/>
        </p:nvSpPr>
        <p:spPr>
          <a:xfrm>
            <a:off x="1276396" y="2737399"/>
            <a:ext cx="720000" cy="180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Servicio 1</a:t>
            </a:r>
          </a:p>
        </p:txBody>
      </p:sp>
      <p:sp>
        <p:nvSpPr>
          <p:cNvPr id="13" name="Rectangle 12">
            <a:extLst>
              <a:ext uri="{FF2B5EF4-FFF2-40B4-BE49-F238E27FC236}">
                <a16:creationId xmlns:a16="http://schemas.microsoft.com/office/drawing/2014/main" id="{ECD0D046-1276-C112-B59C-C240EC0AAD93}"/>
              </a:ext>
            </a:extLst>
          </p:cNvPr>
          <p:cNvSpPr/>
          <p:nvPr/>
        </p:nvSpPr>
        <p:spPr>
          <a:xfrm>
            <a:off x="736939" y="3453691"/>
            <a:ext cx="1097144" cy="25200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Gestor de Solicitudes</a:t>
            </a:r>
          </a:p>
        </p:txBody>
      </p:sp>
      <p:sp>
        <p:nvSpPr>
          <p:cNvPr id="14" name="Rectangle 13">
            <a:extLst>
              <a:ext uri="{FF2B5EF4-FFF2-40B4-BE49-F238E27FC236}">
                <a16:creationId xmlns:a16="http://schemas.microsoft.com/office/drawing/2014/main" id="{14D93689-A639-DCD9-DADE-14CB5D2B7292}"/>
              </a:ext>
            </a:extLst>
          </p:cNvPr>
          <p:cNvSpPr/>
          <p:nvPr/>
        </p:nvSpPr>
        <p:spPr>
          <a:xfrm>
            <a:off x="4048208" y="3764981"/>
            <a:ext cx="1097144" cy="25200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Procesador de peticiones</a:t>
            </a:r>
          </a:p>
        </p:txBody>
      </p:sp>
      <p:sp>
        <p:nvSpPr>
          <p:cNvPr id="15" name="Rectangle 14">
            <a:extLst>
              <a:ext uri="{FF2B5EF4-FFF2-40B4-BE49-F238E27FC236}">
                <a16:creationId xmlns:a16="http://schemas.microsoft.com/office/drawing/2014/main" id="{ADB689F5-E465-9BE6-FB86-D6C48A1061B5}"/>
              </a:ext>
            </a:extLst>
          </p:cNvPr>
          <p:cNvSpPr/>
          <p:nvPr/>
        </p:nvSpPr>
        <p:spPr>
          <a:xfrm>
            <a:off x="2364005" y="3444627"/>
            <a:ext cx="1097144" cy="25200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Enrutador de peticiones</a:t>
            </a:r>
          </a:p>
        </p:txBody>
      </p:sp>
      <p:sp>
        <p:nvSpPr>
          <p:cNvPr id="16" name="Rectangle 15">
            <a:extLst>
              <a:ext uri="{FF2B5EF4-FFF2-40B4-BE49-F238E27FC236}">
                <a16:creationId xmlns:a16="http://schemas.microsoft.com/office/drawing/2014/main" id="{480AFB43-EE28-499F-EA6F-C81D34C62460}"/>
              </a:ext>
            </a:extLst>
          </p:cNvPr>
          <p:cNvSpPr/>
          <p:nvPr/>
        </p:nvSpPr>
        <p:spPr>
          <a:xfrm>
            <a:off x="2275625" y="2731791"/>
            <a:ext cx="720000" cy="180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Servicio 2</a:t>
            </a:r>
          </a:p>
        </p:txBody>
      </p:sp>
      <p:sp>
        <p:nvSpPr>
          <p:cNvPr id="17" name="Rectangle 16">
            <a:extLst>
              <a:ext uri="{FF2B5EF4-FFF2-40B4-BE49-F238E27FC236}">
                <a16:creationId xmlns:a16="http://schemas.microsoft.com/office/drawing/2014/main" id="{945300D9-47BB-A782-0027-831B8EBB13CE}"/>
              </a:ext>
            </a:extLst>
          </p:cNvPr>
          <p:cNvSpPr/>
          <p:nvPr/>
        </p:nvSpPr>
        <p:spPr>
          <a:xfrm>
            <a:off x="3508830" y="1347029"/>
            <a:ext cx="1097144" cy="25200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Consola S&amp;F</a:t>
            </a:r>
          </a:p>
        </p:txBody>
      </p:sp>
      <p:sp>
        <p:nvSpPr>
          <p:cNvPr id="18" name="Rectangle 17">
            <a:extLst>
              <a:ext uri="{FF2B5EF4-FFF2-40B4-BE49-F238E27FC236}">
                <a16:creationId xmlns:a16="http://schemas.microsoft.com/office/drawing/2014/main" id="{825AB9D1-3743-02A0-E973-4B464B44AF05}"/>
              </a:ext>
            </a:extLst>
          </p:cNvPr>
          <p:cNvSpPr/>
          <p:nvPr/>
        </p:nvSpPr>
        <p:spPr>
          <a:xfrm>
            <a:off x="6073344" y="3764981"/>
            <a:ext cx="1097144" cy="25200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Programador</a:t>
            </a:r>
          </a:p>
        </p:txBody>
      </p:sp>
      <p:cxnSp>
        <p:nvCxnSpPr>
          <p:cNvPr id="19" name="Connector: Elbow 18">
            <a:extLst>
              <a:ext uri="{FF2B5EF4-FFF2-40B4-BE49-F238E27FC236}">
                <a16:creationId xmlns:a16="http://schemas.microsoft.com/office/drawing/2014/main" id="{ABF837F9-3B4B-E0C6-B6CE-8C715B9D740A}"/>
              </a:ext>
            </a:extLst>
          </p:cNvPr>
          <p:cNvCxnSpPr>
            <a:cxnSpLocks/>
            <a:stCxn id="12" idx="2"/>
            <a:endCxn id="13" idx="0"/>
          </p:cNvCxnSpPr>
          <p:nvPr/>
        </p:nvCxnSpPr>
        <p:spPr>
          <a:xfrm rot="5400000">
            <a:off x="1192808" y="3010103"/>
            <a:ext cx="536292" cy="350885"/>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Connector: Elbow 19">
            <a:extLst>
              <a:ext uri="{FF2B5EF4-FFF2-40B4-BE49-F238E27FC236}">
                <a16:creationId xmlns:a16="http://schemas.microsoft.com/office/drawing/2014/main" id="{7DF9B777-F313-9FE8-2F7A-C8E611151AD8}"/>
              </a:ext>
            </a:extLst>
          </p:cNvPr>
          <p:cNvCxnSpPr>
            <a:cxnSpLocks/>
            <a:stCxn id="16" idx="2"/>
            <a:endCxn id="13" idx="0"/>
          </p:cNvCxnSpPr>
          <p:nvPr/>
        </p:nvCxnSpPr>
        <p:spPr>
          <a:xfrm rot="5400000">
            <a:off x="1689618" y="2507684"/>
            <a:ext cx="541900" cy="1350114"/>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0476F3DF-A3AD-7ACE-68B9-3274CCBEDE79}"/>
              </a:ext>
            </a:extLst>
          </p:cNvPr>
          <p:cNvSpPr txBox="1"/>
          <p:nvPr/>
        </p:nvSpPr>
        <p:spPr>
          <a:xfrm>
            <a:off x="709755" y="3234168"/>
            <a:ext cx="690645" cy="152083"/>
          </a:xfrm>
          <a:prstGeom prst="rect">
            <a:avLst/>
          </a:prstGeom>
          <a:noFill/>
        </p:spPr>
        <p:txBody>
          <a:bodyPr wrap="none" lIns="0" tIns="0" rIns="0" bIns="0" rtlCol="0">
            <a:noAutofit/>
          </a:bodyPr>
          <a:lstStyle/>
          <a:p>
            <a:pPr marL="0" marR="0" lvl="0" indent="0" algn="ctr" defTabSz="228600" rtl="0" eaLnBrk="1" fontAlgn="auto" latinLnBrk="0" hangingPunct="1">
              <a:lnSpc>
                <a:spcPct val="100000"/>
              </a:lnSpc>
              <a:spcBef>
                <a:spcPts val="0"/>
              </a:spcBef>
              <a:spcAft>
                <a:spcPts val="1200"/>
              </a:spcAft>
              <a:buClrTx/>
              <a:buSzTx/>
              <a:buFontTx/>
              <a:buNone/>
              <a:tabLst/>
              <a:defRPr/>
            </a:pPr>
            <a:r>
              <a:rPr kumimoji="0" lang="es" sz="800" b="0" i="0" u="none" strike="noStrike" kern="1200" cap="none" spc="0" normalizeH="0" baseline="0" noProof="0">
                <a:ln>
                  <a:noFill/>
                </a:ln>
                <a:solidFill>
                  <a:srgbClr val="000000"/>
                </a:solidFill>
                <a:effectLst/>
                <a:uLnTx/>
                <a:uFillTx/>
                <a:latin typeface="Graphik"/>
                <a:ea typeface="+mn-ea"/>
                <a:cs typeface="+mn-cs"/>
              </a:rPr>
              <a:t>a. Fracaso</a:t>
            </a:r>
          </a:p>
        </p:txBody>
      </p:sp>
      <p:cxnSp>
        <p:nvCxnSpPr>
          <p:cNvPr id="22" name="Connector: Elbow 21">
            <a:extLst>
              <a:ext uri="{FF2B5EF4-FFF2-40B4-BE49-F238E27FC236}">
                <a16:creationId xmlns:a16="http://schemas.microsoft.com/office/drawing/2014/main" id="{1E87DC4B-F3B6-E75E-9C5B-CFEBD55FA1CF}"/>
              </a:ext>
            </a:extLst>
          </p:cNvPr>
          <p:cNvCxnSpPr>
            <a:cxnSpLocks/>
            <a:stCxn id="13" idx="2"/>
            <a:endCxn id="32" idx="1"/>
          </p:cNvCxnSpPr>
          <p:nvPr/>
        </p:nvCxnSpPr>
        <p:spPr>
          <a:xfrm rot="16200000" flipH="1">
            <a:off x="1231515" y="3759686"/>
            <a:ext cx="1182544" cy="1074553"/>
          </a:xfrm>
          <a:prstGeom prst="bentConnector2">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5AF7ECCC-50DA-0744-D3A9-20B35D36D000}"/>
              </a:ext>
            </a:extLst>
          </p:cNvPr>
          <p:cNvSpPr txBox="1"/>
          <p:nvPr/>
        </p:nvSpPr>
        <p:spPr>
          <a:xfrm>
            <a:off x="1519566" y="4745215"/>
            <a:ext cx="690645" cy="152083"/>
          </a:xfrm>
          <a:prstGeom prst="rect">
            <a:avLst/>
          </a:prstGeom>
          <a:noFill/>
        </p:spPr>
        <p:txBody>
          <a:bodyPr wrap="none" lIns="0" tIns="0" rIns="0" bIns="0" rtlCol="0">
            <a:noAutofit/>
          </a:bodyPr>
          <a:lstStyle/>
          <a:p>
            <a:pPr marL="0" marR="0" lvl="0" indent="0" algn="ctr" defTabSz="228600" rtl="0" eaLnBrk="1" fontAlgn="auto" latinLnBrk="0" hangingPunct="1">
              <a:lnSpc>
                <a:spcPct val="100000"/>
              </a:lnSpc>
              <a:spcBef>
                <a:spcPts val="0"/>
              </a:spcBef>
              <a:spcAft>
                <a:spcPts val="1200"/>
              </a:spcAft>
              <a:buClrTx/>
              <a:buSzTx/>
              <a:buFontTx/>
              <a:buNone/>
              <a:tabLst/>
              <a:defRPr/>
            </a:pPr>
            <a:r>
              <a:rPr kumimoji="0" lang="es" sz="800" b="0" i="0" u="none" strike="noStrike" kern="1200" cap="none" spc="0" normalizeH="0" baseline="0" noProof="0">
                <a:ln>
                  <a:noFill/>
                </a:ln>
                <a:solidFill>
                  <a:srgbClr val="000000"/>
                </a:solidFill>
                <a:effectLst/>
                <a:uLnTx/>
                <a:uFillTx/>
                <a:latin typeface="Graphik"/>
                <a:ea typeface="+mn-ea"/>
                <a:cs typeface="+mn-cs"/>
              </a:rPr>
              <a:t>Tienda</a:t>
            </a:r>
          </a:p>
        </p:txBody>
      </p:sp>
      <p:sp>
        <p:nvSpPr>
          <p:cNvPr id="24" name="TextBox 23">
            <a:extLst>
              <a:ext uri="{FF2B5EF4-FFF2-40B4-BE49-F238E27FC236}">
                <a16:creationId xmlns:a16="http://schemas.microsoft.com/office/drawing/2014/main" id="{4C520F01-12E2-760D-518C-1C4BED2C099A}"/>
              </a:ext>
            </a:extLst>
          </p:cNvPr>
          <p:cNvSpPr txBox="1"/>
          <p:nvPr/>
        </p:nvSpPr>
        <p:spPr>
          <a:xfrm>
            <a:off x="5434001" y="3738898"/>
            <a:ext cx="690645" cy="152083"/>
          </a:xfrm>
          <a:prstGeom prst="rect">
            <a:avLst/>
          </a:prstGeom>
          <a:noFill/>
        </p:spPr>
        <p:txBody>
          <a:bodyPr wrap="none" lIns="0" tIns="0" rIns="0" bIns="0" rtlCol="0">
            <a:noAutofit/>
          </a:bodyPr>
          <a:lstStyle/>
          <a:p>
            <a:pPr marL="0" marR="0" lvl="0" indent="0" algn="ctr" defTabSz="228600" rtl="0" eaLnBrk="1" fontAlgn="auto" latinLnBrk="0" hangingPunct="1">
              <a:lnSpc>
                <a:spcPct val="100000"/>
              </a:lnSpc>
              <a:spcBef>
                <a:spcPts val="0"/>
              </a:spcBef>
              <a:spcAft>
                <a:spcPts val="1200"/>
              </a:spcAft>
              <a:buClrTx/>
              <a:buSzTx/>
              <a:buFontTx/>
              <a:buNone/>
              <a:tabLst/>
              <a:defRPr/>
            </a:pPr>
            <a:r>
              <a:rPr kumimoji="0" lang="es" sz="800" b="0" i="0" u="none" strike="noStrike" kern="1200" cap="none" spc="0" normalizeH="0" baseline="0" noProof="0">
                <a:ln>
                  <a:noFill/>
                </a:ln>
                <a:solidFill>
                  <a:srgbClr val="000000"/>
                </a:solidFill>
                <a:effectLst/>
                <a:uLnTx/>
                <a:uFillTx/>
                <a:latin typeface="Graphik"/>
                <a:ea typeface="+mn-ea"/>
                <a:cs typeface="+mn-cs"/>
              </a:rPr>
              <a:t>Disparador</a:t>
            </a:r>
          </a:p>
        </p:txBody>
      </p:sp>
      <p:sp>
        <p:nvSpPr>
          <p:cNvPr id="25" name="Rectangle 24">
            <a:extLst>
              <a:ext uri="{FF2B5EF4-FFF2-40B4-BE49-F238E27FC236}">
                <a16:creationId xmlns:a16="http://schemas.microsoft.com/office/drawing/2014/main" id="{E782871E-8314-5ACE-FE7C-17069A2D56CD}"/>
              </a:ext>
            </a:extLst>
          </p:cNvPr>
          <p:cNvSpPr/>
          <p:nvPr/>
        </p:nvSpPr>
        <p:spPr>
          <a:xfrm>
            <a:off x="3629597" y="2459802"/>
            <a:ext cx="1097144" cy="25200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Gestion de S&amp;F</a:t>
            </a:r>
          </a:p>
        </p:txBody>
      </p:sp>
      <p:sp>
        <p:nvSpPr>
          <p:cNvPr id="26" name="Rectangle 25">
            <a:extLst>
              <a:ext uri="{FF2B5EF4-FFF2-40B4-BE49-F238E27FC236}">
                <a16:creationId xmlns:a16="http://schemas.microsoft.com/office/drawing/2014/main" id="{141A95DA-7ADE-DD44-FA45-EF5A3C952E72}"/>
              </a:ext>
            </a:extLst>
          </p:cNvPr>
          <p:cNvSpPr/>
          <p:nvPr/>
        </p:nvSpPr>
        <p:spPr>
          <a:xfrm>
            <a:off x="2275625" y="1825773"/>
            <a:ext cx="2029722" cy="152083"/>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API Gateway</a:t>
            </a:r>
          </a:p>
        </p:txBody>
      </p:sp>
      <p:sp>
        <p:nvSpPr>
          <p:cNvPr id="27" name="Rectangle 26">
            <a:extLst>
              <a:ext uri="{FF2B5EF4-FFF2-40B4-BE49-F238E27FC236}">
                <a16:creationId xmlns:a16="http://schemas.microsoft.com/office/drawing/2014/main" id="{FA49F3E3-29EF-3D78-9BC2-D328AB352A3B}"/>
              </a:ext>
            </a:extLst>
          </p:cNvPr>
          <p:cNvSpPr/>
          <p:nvPr/>
        </p:nvSpPr>
        <p:spPr>
          <a:xfrm>
            <a:off x="1010539" y="1420932"/>
            <a:ext cx="2029722" cy="152083"/>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Canales</a:t>
            </a:r>
          </a:p>
        </p:txBody>
      </p:sp>
      <p:cxnSp>
        <p:nvCxnSpPr>
          <p:cNvPr id="28" name="Connector: Elbow 27">
            <a:extLst>
              <a:ext uri="{FF2B5EF4-FFF2-40B4-BE49-F238E27FC236}">
                <a16:creationId xmlns:a16="http://schemas.microsoft.com/office/drawing/2014/main" id="{1F98250F-CC60-54B0-EBA9-7DA0AA8A82A7}"/>
              </a:ext>
            </a:extLst>
          </p:cNvPr>
          <p:cNvCxnSpPr>
            <a:cxnSpLocks/>
            <a:stCxn id="27" idx="2"/>
            <a:endCxn id="26" idx="0"/>
          </p:cNvCxnSpPr>
          <p:nvPr/>
        </p:nvCxnSpPr>
        <p:spPr>
          <a:xfrm rot="16200000" flipH="1">
            <a:off x="2531564" y="1066851"/>
            <a:ext cx="252758" cy="1265086"/>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Connector: Elbow 28">
            <a:extLst>
              <a:ext uri="{FF2B5EF4-FFF2-40B4-BE49-F238E27FC236}">
                <a16:creationId xmlns:a16="http://schemas.microsoft.com/office/drawing/2014/main" id="{FD17C52C-8C5A-D756-72D9-5440D767B5FE}"/>
              </a:ext>
            </a:extLst>
          </p:cNvPr>
          <p:cNvCxnSpPr>
            <a:cxnSpLocks/>
            <a:stCxn id="17" idx="2"/>
            <a:endCxn id="26" idx="0"/>
          </p:cNvCxnSpPr>
          <p:nvPr/>
        </p:nvCxnSpPr>
        <p:spPr>
          <a:xfrm rot="5400000">
            <a:off x="3560572" y="1328943"/>
            <a:ext cx="226744" cy="766916"/>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Connector: Elbow 29">
            <a:extLst>
              <a:ext uri="{FF2B5EF4-FFF2-40B4-BE49-F238E27FC236}">
                <a16:creationId xmlns:a16="http://schemas.microsoft.com/office/drawing/2014/main" id="{28F34228-5272-2AE6-1D11-1D634BB44E10}"/>
              </a:ext>
            </a:extLst>
          </p:cNvPr>
          <p:cNvCxnSpPr>
            <a:cxnSpLocks/>
            <a:stCxn id="26" idx="2"/>
            <a:endCxn id="25" idx="0"/>
          </p:cNvCxnSpPr>
          <p:nvPr/>
        </p:nvCxnSpPr>
        <p:spPr>
          <a:xfrm rot="16200000" flipH="1">
            <a:off x="3493354" y="1774987"/>
            <a:ext cx="481946" cy="887683"/>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 name="Connector: Elbow 30">
            <a:extLst>
              <a:ext uri="{FF2B5EF4-FFF2-40B4-BE49-F238E27FC236}">
                <a16:creationId xmlns:a16="http://schemas.microsoft.com/office/drawing/2014/main" id="{370E2F0B-4108-7878-7B1A-E475F0D86B3C}"/>
              </a:ext>
            </a:extLst>
          </p:cNvPr>
          <p:cNvCxnSpPr>
            <a:cxnSpLocks/>
            <a:stCxn id="26" idx="2"/>
            <a:endCxn id="16" idx="0"/>
          </p:cNvCxnSpPr>
          <p:nvPr/>
        </p:nvCxnSpPr>
        <p:spPr>
          <a:xfrm rot="5400000">
            <a:off x="2586089" y="2027393"/>
            <a:ext cx="753935" cy="654861"/>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2" name="Rectangle 31">
            <a:extLst>
              <a:ext uri="{FF2B5EF4-FFF2-40B4-BE49-F238E27FC236}">
                <a16:creationId xmlns:a16="http://schemas.microsoft.com/office/drawing/2014/main" id="{B59D98AD-A3B2-A3FC-5C75-BA83FE53815C}"/>
              </a:ext>
            </a:extLst>
          </p:cNvPr>
          <p:cNvSpPr/>
          <p:nvPr/>
        </p:nvSpPr>
        <p:spPr>
          <a:xfrm>
            <a:off x="2360064" y="4478411"/>
            <a:ext cx="942808" cy="819647"/>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OSE/Cloud</a:t>
            </a:r>
          </a:p>
        </p:txBody>
      </p:sp>
      <p:sp>
        <p:nvSpPr>
          <p:cNvPr id="33" name="Flowchart: Magnetic Disk 32">
            <a:extLst>
              <a:ext uri="{FF2B5EF4-FFF2-40B4-BE49-F238E27FC236}">
                <a16:creationId xmlns:a16="http://schemas.microsoft.com/office/drawing/2014/main" id="{02952D79-FCD4-3945-2064-8BF1A2460B0C}"/>
              </a:ext>
            </a:extLst>
          </p:cNvPr>
          <p:cNvSpPr/>
          <p:nvPr/>
        </p:nvSpPr>
        <p:spPr>
          <a:xfrm>
            <a:off x="2447745" y="4595347"/>
            <a:ext cx="736093" cy="471419"/>
          </a:xfrm>
          <a:prstGeom prst="flowChartMagneticDisk">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Registro de Almacenar y Reenviar</a:t>
            </a:r>
          </a:p>
        </p:txBody>
      </p:sp>
      <p:sp>
        <p:nvSpPr>
          <p:cNvPr id="34" name="Rectangle 33">
            <a:extLst>
              <a:ext uri="{FF2B5EF4-FFF2-40B4-BE49-F238E27FC236}">
                <a16:creationId xmlns:a16="http://schemas.microsoft.com/office/drawing/2014/main" id="{0F5D160E-D0CB-5610-CA10-968B30767E7F}"/>
              </a:ext>
            </a:extLst>
          </p:cNvPr>
          <p:cNvSpPr/>
          <p:nvPr/>
        </p:nvSpPr>
        <p:spPr>
          <a:xfrm>
            <a:off x="3085347" y="4474397"/>
            <a:ext cx="709385" cy="222519"/>
          </a:xfrm>
          <a:prstGeom prst="rect">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lvl="0" algn="ctr">
              <a:defRPr/>
            </a:pPr>
            <a:r>
              <a:rPr lang="es" sz="700" dirty="0">
                <a:solidFill>
                  <a:srgbClr val="FFFFFF"/>
                </a:solidFill>
              </a:rPr>
              <a:t>Componente customizado</a:t>
            </a:r>
          </a:p>
        </p:txBody>
      </p:sp>
      <p:cxnSp>
        <p:nvCxnSpPr>
          <p:cNvPr id="35" name="Connector: Elbow 34">
            <a:extLst>
              <a:ext uri="{FF2B5EF4-FFF2-40B4-BE49-F238E27FC236}">
                <a16:creationId xmlns:a16="http://schemas.microsoft.com/office/drawing/2014/main" id="{7A6CFF55-797E-AA1E-1D18-18182F53C408}"/>
              </a:ext>
            </a:extLst>
          </p:cNvPr>
          <p:cNvCxnSpPr>
            <a:cxnSpLocks/>
            <a:stCxn id="25" idx="2"/>
            <a:endCxn id="14" idx="0"/>
          </p:cNvCxnSpPr>
          <p:nvPr/>
        </p:nvCxnSpPr>
        <p:spPr>
          <a:xfrm rot="16200000" flipH="1">
            <a:off x="3860885" y="3029085"/>
            <a:ext cx="1053179" cy="418611"/>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F25744A2-0119-B9A2-D4E7-45129C95F1C5}"/>
              </a:ext>
            </a:extLst>
          </p:cNvPr>
          <p:cNvCxnSpPr>
            <a:stCxn id="18" idx="1"/>
            <a:endCxn id="14" idx="3"/>
          </p:cNvCxnSpPr>
          <p:nvPr/>
        </p:nvCxnSpPr>
        <p:spPr>
          <a:xfrm flipH="1">
            <a:off x="5145352" y="3890981"/>
            <a:ext cx="927992" cy="0"/>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Connector: Elbow 36">
            <a:extLst>
              <a:ext uri="{FF2B5EF4-FFF2-40B4-BE49-F238E27FC236}">
                <a16:creationId xmlns:a16="http://schemas.microsoft.com/office/drawing/2014/main" id="{3152F438-4CB9-998E-8DA1-5DCB6C26EE28}"/>
              </a:ext>
            </a:extLst>
          </p:cNvPr>
          <p:cNvCxnSpPr>
            <a:cxnSpLocks/>
            <a:stCxn id="32" idx="3"/>
            <a:endCxn id="14" idx="2"/>
          </p:cNvCxnSpPr>
          <p:nvPr/>
        </p:nvCxnSpPr>
        <p:spPr>
          <a:xfrm flipV="1">
            <a:off x="3302872" y="4016981"/>
            <a:ext cx="1293908" cy="871254"/>
          </a:xfrm>
          <a:prstGeom prst="bentConnector2">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Connector: Elbow 37">
            <a:extLst>
              <a:ext uri="{FF2B5EF4-FFF2-40B4-BE49-F238E27FC236}">
                <a16:creationId xmlns:a16="http://schemas.microsoft.com/office/drawing/2014/main" id="{C07EE8D1-6EF9-8686-508A-2CB7ACA9A476}"/>
              </a:ext>
            </a:extLst>
          </p:cNvPr>
          <p:cNvCxnSpPr>
            <a:cxnSpLocks/>
            <a:stCxn id="14" idx="1"/>
            <a:endCxn id="15" idx="3"/>
          </p:cNvCxnSpPr>
          <p:nvPr/>
        </p:nvCxnSpPr>
        <p:spPr>
          <a:xfrm rot="10800000">
            <a:off x="3461150" y="3570627"/>
            <a:ext cx="587059" cy="320354"/>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987FACCF-D827-7A82-21A6-CD4277D49FE4}"/>
              </a:ext>
            </a:extLst>
          </p:cNvPr>
          <p:cNvSpPr txBox="1"/>
          <p:nvPr/>
        </p:nvSpPr>
        <p:spPr>
          <a:xfrm>
            <a:off x="3522315" y="3386251"/>
            <a:ext cx="690645" cy="152083"/>
          </a:xfrm>
          <a:prstGeom prst="rect">
            <a:avLst/>
          </a:prstGeom>
          <a:noFill/>
        </p:spPr>
        <p:txBody>
          <a:bodyPr wrap="none" lIns="0" tIns="0" rIns="0" bIns="0" rtlCol="0">
            <a:noAutofit/>
          </a:bodyPr>
          <a:lstStyle/>
          <a:p>
            <a:pPr marL="0" marR="0" lvl="0" indent="0" algn="ctr" defTabSz="228600" rtl="0" eaLnBrk="1" fontAlgn="auto" latinLnBrk="0" hangingPunct="1">
              <a:lnSpc>
                <a:spcPct val="100000"/>
              </a:lnSpc>
              <a:spcBef>
                <a:spcPts val="0"/>
              </a:spcBef>
              <a:spcAft>
                <a:spcPts val="1200"/>
              </a:spcAft>
              <a:buClrTx/>
              <a:buSzTx/>
              <a:buFontTx/>
              <a:buNone/>
              <a:tabLst/>
              <a:defRPr/>
            </a:pPr>
            <a:r>
              <a:rPr kumimoji="0" lang="es" sz="800" b="0" i="0" u="none" strike="noStrike" kern="1200" cap="none" spc="0" normalizeH="0" baseline="0" noProof="0">
                <a:ln>
                  <a:noFill/>
                </a:ln>
                <a:solidFill>
                  <a:srgbClr val="000000"/>
                </a:solidFill>
                <a:effectLst/>
                <a:uLnTx/>
                <a:uFillTx/>
                <a:latin typeface="Graphik"/>
                <a:ea typeface="+mn-ea"/>
                <a:cs typeface="+mn-cs"/>
              </a:rPr>
              <a:t>Reintentar/Avanzar</a:t>
            </a:r>
          </a:p>
        </p:txBody>
      </p:sp>
      <p:cxnSp>
        <p:nvCxnSpPr>
          <p:cNvPr id="40" name="Connector: Elbow 39">
            <a:extLst>
              <a:ext uri="{FF2B5EF4-FFF2-40B4-BE49-F238E27FC236}">
                <a16:creationId xmlns:a16="http://schemas.microsoft.com/office/drawing/2014/main" id="{36168B67-19D6-8B1A-C420-9C88B8F26B39}"/>
              </a:ext>
            </a:extLst>
          </p:cNvPr>
          <p:cNvCxnSpPr>
            <a:cxnSpLocks/>
            <a:stCxn id="15" idx="1"/>
            <a:endCxn id="12" idx="3"/>
          </p:cNvCxnSpPr>
          <p:nvPr/>
        </p:nvCxnSpPr>
        <p:spPr>
          <a:xfrm rot="10800000">
            <a:off x="1996397" y="2827399"/>
            <a:ext cx="367609" cy="743228"/>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Connector: Elbow 40">
            <a:extLst>
              <a:ext uri="{FF2B5EF4-FFF2-40B4-BE49-F238E27FC236}">
                <a16:creationId xmlns:a16="http://schemas.microsoft.com/office/drawing/2014/main" id="{85A34F8B-0A59-D3E8-B755-0848AE3FFFF5}"/>
              </a:ext>
            </a:extLst>
          </p:cNvPr>
          <p:cNvCxnSpPr>
            <a:cxnSpLocks/>
            <a:stCxn id="15" idx="0"/>
            <a:endCxn id="16" idx="3"/>
          </p:cNvCxnSpPr>
          <p:nvPr/>
        </p:nvCxnSpPr>
        <p:spPr>
          <a:xfrm rot="5400000" flipH="1" flipV="1">
            <a:off x="2642683" y="3091685"/>
            <a:ext cx="622836" cy="83048"/>
          </a:xfrm>
          <a:prstGeom prst="bentConnector4">
            <a:avLst>
              <a:gd name="adj1" fmla="val 42775"/>
              <a:gd name="adj2" fmla="val 375262"/>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F95A982A-F6A0-9ED0-D900-6D01CC87BD22}"/>
              </a:ext>
            </a:extLst>
          </p:cNvPr>
          <p:cNvSpPr txBox="1"/>
          <p:nvPr/>
        </p:nvSpPr>
        <p:spPr>
          <a:xfrm>
            <a:off x="7336370" y="865363"/>
            <a:ext cx="4527540" cy="4271255"/>
          </a:xfrm>
          <a:prstGeom prst="rect">
            <a:avLst/>
          </a:prstGeom>
          <a:noFill/>
        </p:spPr>
        <p:txBody>
          <a:bodyPr wrap="square" lIns="0" tIns="0" rIns="0" bIns="0" rtlCol="0">
            <a:noAutofit/>
          </a:bodyPr>
          <a:lstStyle/>
          <a:p>
            <a:pPr marL="0" marR="0" lvl="0" indent="0" algn="l" defTabSz="228600" rtl="0" eaLnBrk="1" fontAlgn="auto" latinLnBrk="0" hangingPunct="1">
              <a:lnSpc>
                <a:spcPct val="100000"/>
              </a:lnSpc>
              <a:spcBef>
                <a:spcPts val="0"/>
              </a:spcBef>
              <a:spcAft>
                <a:spcPts val="600"/>
              </a:spcAft>
              <a:buClrTx/>
              <a:buSzTx/>
              <a:buFontTx/>
              <a:buNone/>
              <a:tabLst/>
              <a:defRPr/>
            </a:pPr>
            <a:r>
              <a:rPr kumimoji="0" lang="es" sz="1000" b="1" i="0" u="none" strike="noStrike" kern="1200" cap="none" spc="0" normalizeH="0" baseline="0" noProof="0" dirty="0">
                <a:ln>
                  <a:noFill/>
                </a:ln>
                <a:solidFill>
                  <a:srgbClr val="000000"/>
                </a:solidFill>
                <a:effectLst/>
                <a:uLnTx/>
                <a:uFillTx/>
                <a:latin typeface="Graphik"/>
                <a:ea typeface="+mn-ea"/>
                <a:cs typeface="+mn-cs"/>
              </a:rPr>
              <a:t>Notas:</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1000" b="0" i="0" u="none" strike="noStrike" kern="1200" cap="none" spc="0" normalizeH="0" baseline="0" noProof="0" dirty="0">
                <a:ln>
                  <a:noFill/>
                </a:ln>
                <a:solidFill>
                  <a:srgbClr val="000000"/>
                </a:solidFill>
                <a:effectLst/>
                <a:uLnTx/>
                <a:uFillTx/>
                <a:latin typeface="Graphik"/>
                <a:ea typeface="+mn-ea"/>
                <a:cs typeface="+mn-cs"/>
              </a:rPr>
              <a:t>Puede haber dos tipos de servicios que aprovechen la capacidad de Almacenar y Reenviar</a:t>
            </a:r>
          </a:p>
          <a:p>
            <a:pPr marL="742950" marR="0" lvl="1" indent="-285750" algn="l" defTabSz="228600" rtl="0" eaLnBrk="1" fontAlgn="auto" latinLnBrk="0" hangingPunct="1">
              <a:lnSpc>
                <a:spcPct val="100000"/>
              </a:lnSpc>
              <a:spcBef>
                <a:spcPts val="0"/>
              </a:spcBef>
              <a:spcAft>
                <a:spcPts val="600"/>
              </a:spcAft>
              <a:buClrTx/>
              <a:buSzTx/>
              <a:buFont typeface="+mj-lt"/>
              <a:buAutoNum type="alphaLcPeriod"/>
              <a:tabLst/>
              <a:defRPr/>
            </a:pPr>
            <a:r>
              <a:rPr kumimoji="0" lang="es" sz="1000" b="0" i="0" u="none" strike="noStrike" kern="1200" cap="none" spc="0" normalizeH="0" baseline="0" noProof="0" dirty="0">
                <a:ln>
                  <a:noFill/>
                </a:ln>
                <a:solidFill>
                  <a:srgbClr val="000000"/>
                </a:solidFill>
                <a:effectLst/>
                <a:uLnTx/>
                <a:uFillTx/>
                <a:latin typeface="Graphik"/>
                <a:ea typeface="+mn-ea"/>
                <a:cs typeface="+mn-cs"/>
              </a:rPr>
              <a:t>Servicios marcados como S&amp;F habilitados que informan de algún tipo de fallo sujeto a reintento (por ejemplo, indisponibilidad en el backend)</a:t>
            </a:r>
          </a:p>
          <a:p>
            <a:pPr marL="742950" marR="0" lvl="1" indent="-285750" algn="l" defTabSz="228600" rtl="0" eaLnBrk="1" fontAlgn="auto" latinLnBrk="0" hangingPunct="1">
              <a:lnSpc>
                <a:spcPct val="100000"/>
              </a:lnSpc>
              <a:spcBef>
                <a:spcPts val="0"/>
              </a:spcBef>
              <a:spcAft>
                <a:spcPts val="600"/>
              </a:spcAft>
              <a:buClrTx/>
              <a:buSzTx/>
              <a:buFont typeface="+mj-lt"/>
              <a:buAutoNum type="alphaLcPeriod"/>
              <a:tabLst/>
              <a:defRPr/>
            </a:pPr>
            <a:r>
              <a:rPr kumimoji="0" lang="es" sz="1000" b="0" i="0" u="none" strike="noStrike" kern="1200" cap="none" spc="0" normalizeH="0" baseline="0" noProof="0" dirty="0">
                <a:ln>
                  <a:noFill/>
                </a:ln>
                <a:solidFill>
                  <a:srgbClr val="000000"/>
                </a:solidFill>
                <a:effectLst/>
                <a:uLnTx/>
                <a:uFillTx/>
                <a:latin typeface="Graphik"/>
                <a:ea typeface="+mn-ea"/>
                <a:cs typeface="+mn-cs"/>
              </a:rPr>
              <a:t>Servicios específicos solicitados directamente por los usuarios (clientes o empleados) según lo programado para el futuro.</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1000" b="0" i="0" u="none" strike="noStrike" kern="1200" cap="none" spc="0" normalizeH="0" baseline="0" noProof="0" dirty="0">
                <a:ln>
                  <a:noFill/>
                </a:ln>
                <a:solidFill>
                  <a:srgbClr val="000000"/>
                </a:solidFill>
                <a:effectLst/>
                <a:uLnTx/>
                <a:uFillTx/>
                <a:latin typeface="Graphik"/>
                <a:ea typeface="+mn-ea"/>
                <a:cs typeface="+mn-cs"/>
              </a:rPr>
              <a:t>Ambos tipos de servicios enviarán al gestor de solicitudes la transacción pendiente con todos los datos relevantes para su almacenamiento</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1000" b="0" i="0" u="none" strike="noStrike" kern="1200" cap="none" spc="0" normalizeH="0" baseline="0" noProof="0" dirty="0">
                <a:ln>
                  <a:noFill/>
                </a:ln>
                <a:solidFill>
                  <a:srgbClr val="000000"/>
                </a:solidFill>
                <a:effectLst/>
                <a:uLnTx/>
                <a:uFillTx/>
                <a:latin typeface="Graphik"/>
                <a:ea typeface="+mn-ea"/>
                <a:cs typeface="+mn-cs"/>
              </a:rPr>
              <a:t>Según las reglas especificadas para cada tipo de transacción, el Procesador de Solicitudes decidirá cuándo y cuántas veces volver a intentarlo.</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1000" b="0" i="0" u="none" strike="noStrike" kern="1200" cap="none" spc="0" normalizeH="0" baseline="0" noProof="0" dirty="0">
                <a:ln>
                  <a:noFill/>
                </a:ln>
                <a:solidFill>
                  <a:srgbClr val="000000"/>
                </a:solidFill>
                <a:effectLst/>
                <a:uLnTx/>
                <a:uFillTx/>
                <a:latin typeface="Graphik"/>
                <a:ea typeface="+mn-ea"/>
                <a:cs typeface="+mn-cs"/>
              </a:rPr>
              <a:t>Las reglas pueden incluir prioridades de programación de transacciones, ciclos, eventos de disponibilidad del sistema, entre otros</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1000" b="0" i="0" u="none" strike="noStrike" kern="1200" cap="none" spc="0" normalizeH="0" baseline="0" noProof="0" dirty="0">
                <a:ln>
                  <a:noFill/>
                </a:ln>
                <a:solidFill>
                  <a:srgbClr val="000000"/>
                </a:solidFill>
                <a:effectLst/>
                <a:uLnTx/>
                <a:uFillTx/>
                <a:latin typeface="Graphik"/>
                <a:ea typeface="+mn-ea"/>
                <a:cs typeface="+mn-cs"/>
              </a:rPr>
              <a:t>Después, el procesador iniciará el reintento y el Enrutador de Solicitudes reenviará cada transacción al servicio empresarial correspondiente.</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1000" b="0" i="0" u="none" strike="noStrike" kern="1200" cap="none" spc="0" normalizeH="0" baseline="0" noProof="0" dirty="0">
                <a:ln>
                  <a:noFill/>
                </a:ln>
                <a:solidFill>
                  <a:srgbClr val="000000"/>
                </a:solidFill>
                <a:effectLst/>
                <a:uLnTx/>
                <a:uFillTx/>
                <a:latin typeface="Graphik"/>
                <a:ea typeface="+mn-ea"/>
                <a:cs typeface="+mn-cs"/>
              </a:rPr>
              <a:t>Habrá una consola de búsqueda y búsqueda para monitorizar las transacciones que aún están pendientes de reintentar, así como para fines administrativos.</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1000" b="0" i="0" u="none" strike="noStrike" kern="1200" cap="none" spc="0" normalizeH="0" baseline="0" noProof="0" dirty="0">
                <a:ln>
                  <a:noFill/>
                </a:ln>
                <a:solidFill>
                  <a:srgbClr val="000000"/>
                </a:solidFill>
                <a:effectLst/>
                <a:uLnTx/>
                <a:uFillTx/>
                <a:latin typeface="Graphik"/>
                <a:ea typeface="+mn-ea"/>
                <a:cs typeface="+mn-cs"/>
              </a:rPr>
              <a:t>Los servicios almacenados para reintentos no deberían formar parte de una transacción atómica. Estos tienen sus propios mecanismos de reintentos como parte de la gestión de transacciones</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US" sz="1000" b="0" i="0" u="none" strike="noStrike" kern="1200" cap="none" spc="0" normalizeH="0" baseline="0" noProof="0" dirty="0">
              <a:ln>
                <a:noFill/>
              </a:ln>
              <a:solidFill>
                <a:srgbClr val="000000"/>
              </a:solidFill>
              <a:effectLst/>
              <a:uLnTx/>
              <a:uFillTx/>
              <a:latin typeface="Graphik"/>
              <a:ea typeface="+mn-ea"/>
              <a:cs typeface="+mn-cs"/>
            </a:endParaRPr>
          </a:p>
        </p:txBody>
      </p:sp>
      <p:sp>
        <p:nvSpPr>
          <p:cNvPr id="43" name="Rectangle 42">
            <a:extLst>
              <a:ext uri="{FF2B5EF4-FFF2-40B4-BE49-F238E27FC236}">
                <a16:creationId xmlns:a16="http://schemas.microsoft.com/office/drawing/2014/main" id="{34A440E1-5FB7-F596-F85A-F13FD5841E6C}"/>
              </a:ext>
            </a:extLst>
          </p:cNvPr>
          <p:cNvSpPr/>
          <p:nvPr/>
        </p:nvSpPr>
        <p:spPr>
          <a:xfrm>
            <a:off x="1487901" y="3259855"/>
            <a:ext cx="675185" cy="222519"/>
          </a:xfrm>
          <a:prstGeom prst="rect">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lvl="0" algn="ctr">
              <a:defRPr/>
            </a:pPr>
            <a:r>
              <a:rPr lang="es" sz="700" dirty="0">
                <a:solidFill>
                  <a:srgbClr val="FFFFFF"/>
                </a:solidFill>
              </a:rPr>
              <a:t>Componente customizado</a:t>
            </a:r>
          </a:p>
        </p:txBody>
      </p:sp>
      <p:sp>
        <p:nvSpPr>
          <p:cNvPr id="44" name="Rectangle 43">
            <a:extLst>
              <a:ext uri="{FF2B5EF4-FFF2-40B4-BE49-F238E27FC236}">
                <a16:creationId xmlns:a16="http://schemas.microsoft.com/office/drawing/2014/main" id="{BE6CF04D-4082-300D-A262-1B6841E6036C}"/>
              </a:ext>
            </a:extLst>
          </p:cNvPr>
          <p:cNvSpPr/>
          <p:nvPr/>
        </p:nvSpPr>
        <p:spPr>
          <a:xfrm>
            <a:off x="2165278" y="3716397"/>
            <a:ext cx="671205" cy="222519"/>
          </a:xfrm>
          <a:prstGeom prst="rect">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lvl="0" algn="ctr">
              <a:defRPr/>
            </a:pPr>
            <a:r>
              <a:rPr lang="es" sz="700" dirty="0">
                <a:solidFill>
                  <a:srgbClr val="FFFFFF"/>
                </a:solidFill>
              </a:rPr>
              <a:t>Componente customizado</a:t>
            </a:r>
          </a:p>
        </p:txBody>
      </p:sp>
      <p:sp>
        <p:nvSpPr>
          <p:cNvPr id="45" name="Rectangle 44">
            <a:extLst>
              <a:ext uri="{FF2B5EF4-FFF2-40B4-BE49-F238E27FC236}">
                <a16:creationId xmlns:a16="http://schemas.microsoft.com/office/drawing/2014/main" id="{1E618077-0885-4322-C21D-B6B2BB038CC5}"/>
              </a:ext>
            </a:extLst>
          </p:cNvPr>
          <p:cNvSpPr/>
          <p:nvPr/>
        </p:nvSpPr>
        <p:spPr>
          <a:xfrm>
            <a:off x="3846599" y="4031826"/>
            <a:ext cx="663139" cy="222519"/>
          </a:xfrm>
          <a:prstGeom prst="rect">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lvl="0" algn="ctr">
              <a:defRPr/>
            </a:pPr>
            <a:r>
              <a:rPr lang="es" sz="700" dirty="0">
                <a:solidFill>
                  <a:srgbClr val="FFFFFF"/>
                </a:solidFill>
              </a:rPr>
              <a:t>Componente customizado</a:t>
            </a:r>
          </a:p>
        </p:txBody>
      </p:sp>
      <p:sp>
        <p:nvSpPr>
          <p:cNvPr id="46" name="Rectangle 45">
            <a:extLst>
              <a:ext uri="{FF2B5EF4-FFF2-40B4-BE49-F238E27FC236}">
                <a16:creationId xmlns:a16="http://schemas.microsoft.com/office/drawing/2014/main" id="{C8B3DD11-68A4-9179-EEE2-D2B034E7F039}"/>
              </a:ext>
            </a:extLst>
          </p:cNvPr>
          <p:cNvSpPr/>
          <p:nvPr/>
        </p:nvSpPr>
        <p:spPr>
          <a:xfrm>
            <a:off x="4425299" y="2680459"/>
            <a:ext cx="640552" cy="222519"/>
          </a:xfrm>
          <a:prstGeom prst="rect">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lvl="0" algn="ctr">
              <a:defRPr/>
            </a:pPr>
            <a:r>
              <a:rPr lang="es" sz="700" dirty="0">
                <a:solidFill>
                  <a:srgbClr val="FFFFFF"/>
                </a:solidFill>
              </a:rPr>
              <a:t>Componente customizado</a:t>
            </a:r>
          </a:p>
        </p:txBody>
      </p:sp>
      <p:sp>
        <p:nvSpPr>
          <p:cNvPr id="47" name="Rectangle 46">
            <a:extLst>
              <a:ext uri="{FF2B5EF4-FFF2-40B4-BE49-F238E27FC236}">
                <a16:creationId xmlns:a16="http://schemas.microsoft.com/office/drawing/2014/main" id="{FBD3B936-AFA9-0FC3-862A-AD2AE25A4AF4}"/>
              </a:ext>
            </a:extLst>
          </p:cNvPr>
          <p:cNvSpPr/>
          <p:nvPr/>
        </p:nvSpPr>
        <p:spPr>
          <a:xfrm>
            <a:off x="4255510" y="1533629"/>
            <a:ext cx="677651" cy="255058"/>
          </a:xfrm>
          <a:prstGeom prst="rect">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FFFFFF"/>
                </a:solidFill>
                <a:effectLst/>
                <a:uLnTx/>
                <a:uFillTx/>
                <a:latin typeface="Graphik"/>
                <a:ea typeface="+mn-ea"/>
                <a:cs typeface="+mn-cs"/>
              </a:rPr>
              <a:t>Customizado o de terceros </a:t>
            </a:r>
          </a:p>
        </p:txBody>
      </p:sp>
      <p:cxnSp>
        <p:nvCxnSpPr>
          <p:cNvPr id="51" name="Connector: Elbow 50">
            <a:extLst>
              <a:ext uri="{FF2B5EF4-FFF2-40B4-BE49-F238E27FC236}">
                <a16:creationId xmlns:a16="http://schemas.microsoft.com/office/drawing/2014/main" id="{271DC1A0-4979-2841-6EC7-7B961A67B211}"/>
              </a:ext>
            </a:extLst>
          </p:cNvPr>
          <p:cNvCxnSpPr>
            <a:cxnSpLocks/>
            <a:stCxn id="25" idx="1"/>
            <a:endCxn id="13" idx="1"/>
          </p:cNvCxnSpPr>
          <p:nvPr/>
        </p:nvCxnSpPr>
        <p:spPr>
          <a:xfrm rot="10800000" flipV="1">
            <a:off x="736939" y="2585801"/>
            <a:ext cx="2892658" cy="993889"/>
          </a:xfrm>
          <a:prstGeom prst="bentConnector3">
            <a:avLst>
              <a:gd name="adj1" fmla="val 103484"/>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CEE23531-64BD-5427-122B-E8A5CEE91793}"/>
              </a:ext>
            </a:extLst>
          </p:cNvPr>
          <p:cNvSpPr txBox="1"/>
          <p:nvPr/>
        </p:nvSpPr>
        <p:spPr>
          <a:xfrm>
            <a:off x="1725585" y="2466209"/>
            <a:ext cx="690645" cy="152083"/>
          </a:xfrm>
          <a:prstGeom prst="rect">
            <a:avLst/>
          </a:prstGeom>
          <a:noFill/>
        </p:spPr>
        <p:txBody>
          <a:bodyPr wrap="none" lIns="0" tIns="0" rIns="0" bIns="0" rtlCol="0">
            <a:noAutofit/>
          </a:bodyPr>
          <a:lstStyle/>
          <a:p>
            <a:pPr marL="0" marR="0" lvl="0" indent="0" algn="ctr" defTabSz="228600" rtl="0" eaLnBrk="1" fontAlgn="auto" latinLnBrk="0" hangingPunct="1">
              <a:lnSpc>
                <a:spcPct val="100000"/>
              </a:lnSpc>
              <a:spcBef>
                <a:spcPts val="0"/>
              </a:spcBef>
              <a:spcAft>
                <a:spcPts val="1200"/>
              </a:spcAft>
              <a:buClrTx/>
              <a:buSzTx/>
              <a:buFontTx/>
              <a:buNone/>
              <a:tabLst/>
              <a:defRPr/>
            </a:pPr>
            <a:r>
              <a:rPr kumimoji="0" lang="es" sz="800" b="0" i="0" u="none" strike="noStrike" kern="1200" cap="none" spc="0" normalizeH="0" baseline="0" noProof="0">
                <a:ln>
                  <a:noFill/>
                </a:ln>
                <a:solidFill>
                  <a:srgbClr val="000000"/>
                </a:solidFill>
                <a:effectLst/>
                <a:uLnTx/>
                <a:uFillTx/>
                <a:latin typeface="Graphik"/>
                <a:ea typeface="+mn-ea"/>
                <a:cs typeface="+mn-cs"/>
              </a:rPr>
              <a:t>b. Servicio programado</a:t>
            </a:r>
          </a:p>
        </p:txBody>
      </p:sp>
      <p:sp>
        <p:nvSpPr>
          <p:cNvPr id="53" name="Rectangle 52">
            <a:extLst>
              <a:ext uri="{FF2B5EF4-FFF2-40B4-BE49-F238E27FC236}">
                <a16:creationId xmlns:a16="http://schemas.microsoft.com/office/drawing/2014/main" id="{06F4E22C-CF52-5147-576B-4D62FB93365A}"/>
              </a:ext>
            </a:extLst>
          </p:cNvPr>
          <p:cNvSpPr/>
          <p:nvPr/>
        </p:nvSpPr>
        <p:spPr>
          <a:xfrm>
            <a:off x="7860146" y="5903481"/>
            <a:ext cx="3439086" cy="205327"/>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Componentes principales de esta capacidad</a:t>
            </a:r>
          </a:p>
        </p:txBody>
      </p:sp>
      <p:sp>
        <p:nvSpPr>
          <p:cNvPr id="55" name="Rectangle 54">
            <a:extLst>
              <a:ext uri="{FF2B5EF4-FFF2-40B4-BE49-F238E27FC236}">
                <a16:creationId xmlns:a16="http://schemas.microsoft.com/office/drawing/2014/main" id="{F98BDC49-AFC3-2AA1-7439-42B6D37D76B0}"/>
              </a:ext>
            </a:extLst>
          </p:cNvPr>
          <p:cNvSpPr/>
          <p:nvPr/>
        </p:nvSpPr>
        <p:spPr>
          <a:xfrm>
            <a:off x="7860146" y="6137633"/>
            <a:ext cx="3439086" cy="187603"/>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Componentes de otras capacidades relacionadas</a:t>
            </a:r>
          </a:p>
        </p:txBody>
      </p:sp>
      <p:sp>
        <p:nvSpPr>
          <p:cNvPr id="57" name="Rectangle 56">
            <a:extLst>
              <a:ext uri="{FF2B5EF4-FFF2-40B4-BE49-F238E27FC236}">
                <a16:creationId xmlns:a16="http://schemas.microsoft.com/office/drawing/2014/main" id="{A5EAA37E-B3F0-ED35-C1D5-81601DE6786E}"/>
              </a:ext>
            </a:extLst>
          </p:cNvPr>
          <p:cNvSpPr/>
          <p:nvPr/>
        </p:nvSpPr>
        <p:spPr>
          <a:xfrm>
            <a:off x="7860145" y="6354058"/>
            <a:ext cx="3439086" cy="165055"/>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Componentes funcionales relacionados con esta capacidad</a:t>
            </a:r>
          </a:p>
        </p:txBody>
      </p:sp>
    </p:spTree>
    <p:extLst>
      <p:ext uri="{BB962C8B-B14F-4D97-AF65-F5344CB8AC3E}">
        <p14:creationId xmlns:p14="http://schemas.microsoft.com/office/powerpoint/2010/main" val="33536784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C1994A-72EA-653A-76EB-C6D2C62B8CB7}"/>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A249E8D3-9975-3272-F482-873BF017A3BA}"/>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alpha val="65000"/>
                  </a:srgbClr>
                </a:solidFill>
                <a:effectLst/>
                <a:uLnTx/>
                <a:uFillTx/>
                <a:latin typeface="Graphik"/>
                <a:ea typeface="+mn-ea"/>
                <a:cs typeface="+mn-cs"/>
              </a:rPr>
              <a:t>Copyright © 2025 Accenture. Todos los derechos reservados.</a:t>
            </a:r>
          </a:p>
        </p:txBody>
      </p:sp>
      <p:sp>
        <p:nvSpPr>
          <p:cNvPr id="118" name="Title 1">
            <a:extLst>
              <a:ext uri="{FF2B5EF4-FFF2-40B4-BE49-F238E27FC236}">
                <a16:creationId xmlns:a16="http://schemas.microsoft.com/office/drawing/2014/main" id="{B1C6998D-F4F3-3C23-6C28-EE7AC8C2F9F3}"/>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dirty="0">
                <a:ln>
                  <a:noFill/>
                </a:ln>
                <a:solidFill>
                  <a:srgbClr val="7500C0"/>
                </a:solidFill>
                <a:effectLst/>
                <a:uLnTx/>
                <a:uFillTx/>
                <a:latin typeface="Graphik"/>
                <a:ea typeface="+mj-ea"/>
                <a:cs typeface="+mj-cs"/>
              </a:rPr>
              <a:t>Activo de Interoperabilidad </a:t>
            </a:r>
            <a:r>
              <a:rPr kumimoji="0" lang="es" sz="2400" b="1" i="0" u="none" strike="noStrike" kern="1200" cap="none" spc="0" normalizeH="0" baseline="0" noProof="0" dirty="0">
                <a:ln>
                  <a:noFill/>
                </a:ln>
                <a:solidFill>
                  <a:srgbClr val="000000"/>
                </a:solidFill>
                <a:effectLst/>
                <a:uLnTx/>
                <a:uFillTx/>
                <a:latin typeface="Graphik"/>
                <a:ea typeface="+mj-ea"/>
                <a:cs typeface="+mj-cs"/>
              </a:rPr>
              <a:t>| </a:t>
            </a:r>
            <a:r>
              <a:rPr kumimoji="0" lang="es" sz="2000" b="1" i="0" u="none" strike="noStrike" kern="1200" cap="none" spc="0" normalizeH="0" baseline="0" noProof="0" dirty="0">
                <a:ln>
                  <a:noFill/>
                </a:ln>
                <a:solidFill>
                  <a:srgbClr val="000000"/>
                </a:solidFill>
                <a:effectLst/>
                <a:uLnTx/>
                <a:uFillTx/>
                <a:latin typeface="Graphik"/>
                <a:ea typeface="+mj-ea"/>
                <a:cs typeface="+mj-cs"/>
              </a:rPr>
              <a:t>Gestión de APIs</a:t>
            </a:r>
            <a:endParaRPr kumimoji="0" lang="es" sz="2400" b="1" i="0" u="none" strike="noStrike" kern="1200" cap="none" spc="0" normalizeH="0" baseline="0" noProof="0" dirty="0">
              <a:ln>
                <a:noFill/>
              </a:ln>
              <a:solidFill>
                <a:srgbClr val="000000"/>
              </a:solidFill>
              <a:effectLst/>
              <a:uLnTx/>
              <a:uFillTx/>
              <a:latin typeface="Graphik"/>
              <a:ea typeface="+mj-ea"/>
              <a:cs typeface="+mj-cs"/>
            </a:endParaRPr>
          </a:p>
        </p:txBody>
      </p:sp>
      <p:sp>
        <p:nvSpPr>
          <p:cNvPr id="119" name="Content Placeholder 34">
            <a:extLst>
              <a:ext uri="{FF2B5EF4-FFF2-40B4-BE49-F238E27FC236}">
                <a16:creationId xmlns:a16="http://schemas.microsoft.com/office/drawing/2014/main" id="{992002CC-C23B-CC26-7AF0-1FF1ACCED51F}"/>
              </a:ext>
            </a:extLst>
          </p:cNvPr>
          <p:cNvSpPr txBox="1">
            <a:spLocks/>
          </p:cNvSpPr>
          <p:nvPr/>
        </p:nvSpPr>
        <p:spPr>
          <a:xfrm>
            <a:off x="285990" y="641993"/>
            <a:ext cx="11430000" cy="246221"/>
          </a:xfrm>
          <a:prstGeom prst="rect">
            <a:avLst/>
          </a:prstGeom>
        </p:spPr>
        <p:txBody>
          <a:bodyPr/>
          <a:lstStyle>
            <a:lvl1pPr marL="228600" indent="-228600" algn="l" defTabSz="228600" rtl="0" eaLnBrk="1" latinLnBrk="0" hangingPunct="1">
              <a:lnSpc>
                <a:spcPct val="100000"/>
              </a:lnSpc>
              <a:spcBef>
                <a:spcPts val="0"/>
              </a:spcBef>
              <a:spcAft>
                <a:spcPts val="600"/>
              </a:spcAft>
              <a:buFont typeface="Arial"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Arial"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Arial"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Arial"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Arial"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Arial" panose="020B0604020202020204" pitchFamily="34" charset="0"/>
              <a:buNone/>
              <a:defRPr sz="800" kern="1200">
                <a:solidFill>
                  <a:schemeClr val="tx2"/>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s" sz="1600" b="1" i="0" u="none" strike="noStrike" kern="1200" cap="none" spc="0" normalizeH="0" baseline="0" noProof="0" dirty="0">
                <a:ln>
                  <a:noFill/>
                </a:ln>
                <a:solidFill>
                  <a:srgbClr val="7500C0"/>
                </a:solidFill>
                <a:effectLst/>
                <a:uLnTx/>
                <a:uFillTx/>
                <a:latin typeface="Graphik" panose="020B0503030202060203" pitchFamily="34" charset="0"/>
                <a:ea typeface="+mn-ea"/>
                <a:cs typeface="+mn-cs"/>
              </a:rPr>
              <a:t>Componentes principales del servicio de almacenamiento y reenvío</a:t>
            </a:r>
          </a:p>
          <a:p>
            <a:pPr marL="0" marR="0" lvl="0" indent="0" algn="l" defTabSz="228600" rtl="0" eaLnBrk="1" fontAlgn="auto" latinLnBrk="0" hangingPunct="1">
              <a:lnSpc>
                <a:spcPct val="100000"/>
              </a:lnSpc>
              <a:spcBef>
                <a:spcPts val="0"/>
              </a:spcBef>
              <a:spcAft>
                <a:spcPts val="600"/>
              </a:spcAft>
              <a:buClrTx/>
              <a:buSzTx/>
              <a:buFont typeface="Arial" panose="020B0604020202020204" pitchFamily="34" charset="0"/>
              <a:buNone/>
              <a:tabLst/>
              <a:defRPr/>
            </a:pPr>
            <a:endParaRPr kumimoji="0" lang="en-US" sz="1600" b="1" i="0" u="none" strike="noStrike" kern="1200" cap="none" spc="0" normalizeH="0" baseline="0" noProof="0" dirty="0">
              <a:ln>
                <a:noFill/>
              </a:ln>
              <a:solidFill>
                <a:srgbClr val="7500C0"/>
              </a:solidFill>
              <a:effectLst/>
              <a:uLnTx/>
              <a:uFillTx/>
              <a:latin typeface="Graphik" panose="020B0503030202060203" pitchFamily="34" charset="0"/>
              <a:ea typeface="+mn-ea"/>
              <a:cs typeface="+mn-cs"/>
            </a:endParaRPr>
          </a:p>
        </p:txBody>
      </p:sp>
      <p:grpSp>
        <p:nvGrpSpPr>
          <p:cNvPr id="4" name="Group 3">
            <a:extLst>
              <a:ext uri="{FF2B5EF4-FFF2-40B4-BE49-F238E27FC236}">
                <a16:creationId xmlns:a16="http://schemas.microsoft.com/office/drawing/2014/main" id="{4FCA2A7A-6178-37E2-3DEC-312BCEAFCDD2}"/>
              </a:ext>
            </a:extLst>
          </p:cNvPr>
          <p:cNvGrpSpPr/>
          <p:nvPr/>
        </p:nvGrpSpPr>
        <p:grpSpPr>
          <a:xfrm>
            <a:off x="9914018" y="286451"/>
            <a:ext cx="1862854" cy="253275"/>
            <a:chOff x="9929190" y="421028"/>
            <a:chExt cx="1862854" cy="253275"/>
          </a:xfrm>
        </p:grpSpPr>
        <p:sp>
          <p:nvSpPr>
            <p:cNvPr id="5" name="TextBox 4">
              <a:extLst>
                <a:ext uri="{FF2B5EF4-FFF2-40B4-BE49-F238E27FC236}">
                  <a16:creationId xmlns:a16="http://schemas.microsoft.com/office/drawing/2014/main" id="{B588AFC3-A03F-B252-6784-4A728125E791}"/>
                </a:ext>
              </a:extLst>
            </p:cNvPr>
            <p:cNvSpPr txBox="1"/>
            <p:nvPr/>
          </p:nvSpPr>
          <p:spPr>
            <a:xfrm>
              <a:off x="9936972" y="460821"/>
              <a:ext cx="1847290" cy="173690"/>
            </a:xfrm>
            <a:prstGeom prst="rect">
              <a:avLst/>
            </a:prstGeom>
            <a:noFill/>
          </p:spPr>
          <p:txBody>
            <a:bodyPr wrap="none" lIns="0" tIns="0" rIns="0" bIns="0" rtlCol="0">
              <a:noAutofit/>
            </a:bodyPr>
            <a:lstStyle/>
            <a:p>
              <a:pPr marL="0" marR="0" lvl="0" indent="0" algn="l" defTabSz="228600" rtl="0" eaLnBrk="1" fontAlgn="auto" latinLnBrk="0" hangingPunct="1">
                <a:lnSpc>
                  <a:spcPct val="100000"/>
                </a:lnSpc>
                <a:spcBef>
                  <a:spcPts val="0"/>
                </a:spcBef>
                <a:spcAft>
                  <a:spcPts val="1200"/>
                </a:spcAft>
                <a:buClrTx/>
                <a:buSzTx/>
                <a:buFontTx/>
                <a:buNone/>
                <a:tabLst/>
                <a:defRPr/>
              </a:pPr>
              <a:r>
                <a:rPr kumimoji="0" lang="es" sz="1100" b="0" i="0" u="none" strike="noStrike" kern="1200" cap="none" spc="0" normalizeH="0" baseline="0" noProof="0">
                  <a:ln>
                    <a:noFill/>
                  </a:ln>
                  <a:solidFill>
                    <a:srgbClr val="000000"/>
                  </a:solidFill>
                  <a:effectLst/>
                  <a:uLnTx/>
                  <a:uFillTx/>
                  <a:latin typeface="Graphik"/>
                  <a:ea typeface="+mn-ea"/>
                  <a:cs typeface="+mn-cs"/>
                </a:rPr>
                <a:t>Ilustrativo no exhaustivo</a:t>
              </a:r>
            </a:p>
          </p:txBody>
        </p:sp>
        <p:cxnSp>
          <p:nvCxnSpPr>
            <p:cNvPr id="6" name="Straight Connector 5">
              <a:extLst>
                <a:ext uri="{FF2B5EF4-FFF2-40B4-BE49-F238E27FC236}">
                  <a16:creationId xmlns:a16="http://schemas.microsoft.com/office/drawing/2014/main" id="{385CA6CF-B63A-BE3B-9268-17AF1106592E}"/>
                </a:ext>
              </a:extLst>
            </p:cNvPr>
            <p:cNvCxnSpPr>
              <a:cxnSpLocks/>
            </p:cNvCxnSpPr>
            <p:nvPr/>
          </p:nvCxnSpPr>
          <p:spPr>
            <a:xfrm>
              <a:off x="9929190" y="421028"/>
              <a:ext cx="186285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8680D9CF-5E76-E54E-789E-119D925413E7}"/>
                </a:ext>
              </a:extLst>
            </p:cNvPr>
            <p:cNvCxnSpPr>
              <a:cxnSpLocks/>
            </p:cNvCxnSpPr>
            <p:nvPr/>
          </p:nvCxnSpPr>
          <p:spPr>
            <a:xfrm>
              <a:off x="9929190" y="674303"/>
              <a:ext cx="186285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3" name="Rectangle 42">
            <a:extLst>
              <a:ext uri="{FF2B5EF4-FFF2-40B4-BE49-F238E27FC236}">
                <a16:creationId xmlns:a16="http://schemas.microsoft.com/office/drawing/2014/main" id="{71E30FDB-174B-F36B-9F98-8F4B08DA7432}"/>
              </a:ext>
            </a:extLst>
          </p:cNvPr>
          <p:cNvSpPr/>
          <p:nvPr/>
        </p:nvSpPr>
        <p:spPr>
          <a:xfrm>
            <a:off x="9095473" y="1041910"/>
            <a:ext cx="2880000" cy="148655"/>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Componentes principales de esta capacidad</a:t>
            </a:r>
          </a:p>
        </p:txBody>
      </p:sp>
      <p:sp>
        <p:nvSpPr>
          <p:cNvPr id="44" name="Rectangle 43">
            <a:extLst>
              <a:ext uri="{FF2B5EF4-FFF2-40B4-BE49-F238E27FC236}">
                <a16:creationId xmlns:a16="http://schemas.microsoft.com/office/drawing/2014/main" id="{911D4BE6-5BE4-3519-F18B-8BC10CCFCE93}"/>
              </a:ext>
            </a:extLst>
          </p:cNvPr>
          <p:cNvSpPr/>
          <p:nvPr/>
        </p:nvSpPr>
        <p:spPr>
          <a:xfrm>
            <a:off x="9095473" y="1234617"/>
            <a:ext cx="2880000" cy="192707"/>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Componentes de otras capacidades relacionadas</a:t>
            </a:r>
          </a:p>
        </p:txBody>
      </p:sp>
      <p:sp>
        <p:nvSpPr>
          <p:cNvPr id="45" name="Rectangle 44">
            <a:extLst>
              <a:ext uri="{FF2B5EF4-FFF2-40B4-BE49-F238E27FC236}">
                <a16:creationId xmlns:a16="http://schemas.microsoft.com/office/drawing/2014/main" id="{E84E6BF8-DBFE-F8F1-DCC4-2767CEA5CE11}"/>
              </a:ext>
            </a:extLst>
          </p:cNvPr>
          <p:cNvSpPr/>
          <p:nvPr/>
        </p:nvSpPr>
        <p:spPr bwMode="blackWhite">
          <a:xfrm>
            <a:off x="515364" y="3071837"/>
            <a:ext cx="11021979" cy="1741063"/>
          </a:xfrm>
          <a:prstGeom prst="rect">
            <a:avLst/>
          </a:prstGeom>
          <a:solidFill>
            <a:schemeClr val="bg1">
              <a:lumMod val="95000"/>
            </a:schemeClr>
          </a:solidFill>
          <a:ln w="19050">
            <a:solidFill>
              <a:schemeClr val="accent2"/>
            </a:solidFill>
          </a:ln>
        </p:spPr>
        <p:txBody>
          <a:bodyPr wrap="none" lIns="62198" tIns="62198" rIns="62198" bIns="62198"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600" b="0" i="0" u="none" strike="noStrike" kern="1200" cap="none" spc="0" normalizeH="0" baseline="0" noProof="0">
              <a:ln>
                <a:noFill/>
              </a:ln>
              <a:solidFill>
                <a:srgbClr val="000000"/>
              </a:solidFill>
              <a:effectLst/>
              <a:uLnTx/>
              <a:uFillTx/>
              <a:latin typeface="Graphik"/>
              <a:ea typeface="+mn-ea"/>
              <a:cs typeface="+mn-cs"/>
            </a:endParaRPr>
          </a:p>
        </p:txBody>
      </p:sp>
      <p:sp>
        <p:nvSpPr>
          <p:cNvPr id="46" name="TextBox 9">
            <a:extLst>
              <a:ext uri="{FF2B5EF4-FFF2-40B4-BE49-F238E27FC236}">
                <a16:creationId xmlns:a16="http://schemas.microsoft.com/office/drawing/2014/main" id="{C346D15E-A162-ABD0-1F22-55047E14153F}"/>
              </a:ext>
            </a:extLst>
          </p:cNvPr>
          <p:cNvSpPr txBox="1"/>
          <p:nvPr/>
        </p:nvSpPr>
        <p:spPr bwMode="gray">
          <a:xfrm>
            <a:off x="1593163" y="2763185"/>
            <a:ext cx="1192833" cy="262957"/>
          </a:xfrm>
          <a:prstGeom prst="rect">
            <a:avLst/>
          </a:prstGeom>
          <a:solidFill>
            <a:schemeClr val="accent2"/>
          </a:solidFill>
          <a:ln w="12700">
            <a:solidFill>
              <a:schemeClr val="bg1"/>
            </a:solidFill>
          </a:ln>
        </p:spPr>
        <p:txBody>
          <a:bodyPr wrap="square" lIns="62198" tIns="62198" rIns="62198" bIns="62198"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Flujo de integración</a:t>
            </a:r>
          </a:p>
        </p:txBody>
      </p:sp>
      <p:sp>
        <p:nvSpPr>
          <p:cNvPr id="47" name="TextBox 10">
            <a:extLst>
              <a:ext uri="{FF2B5EF4-FFF2-40B4-BE49-F238E27FC236}">
                <a16:creationId xmlns:a16="http://schemas.microsoft.com/office/drawing/2014/main" id="{B979CE20-8911-2A20-FFE0-6393F4CEFE73}"/>
              </a:ext>
            </a:extLst>
          </p:cNvPr>
          <p:cNvSpPr txBox="1"/>
          <p:nvPr/>
        </p:nvSpPr>
        <p:spPr bwMode="gray">
          <a:xfrm>
            <a:off x="2891227" y="2759415"/>
            <a:ext cx="1192833" cy="262957"/>
          </a:xfrm>
          <a:prstGeom prst="rect">
            <a:avLst/>
          </a:prstGeom>
          <a:solidFill>
            <a:schemeClr val="accent2"/>
          </a:solidFill>
          <a:ln w="12700">
            <a:solidFill>
              <a:schemeClr val="bg1"/>
            </a:solidFill>
          </a:ln>
        </p:spPr>
        <p:txBody>
          <a:bodyPr wrap="square" lIns="62198" tIns="62198" rIns="62198" bIns="62198"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Flujo de integración</a:t>
            </a:r>
          </a:p>
        </p:txBody>
      </p:sp>
      <p:sp>
        <p:nvSpPr>
          <p:cNvPr id="48" name="TextBox 11">
            <a:extLst>
              <a:ext uri="{FF2B5EF4-FFF2-40B4-BE49-F238E27FC236}">
                <a16:creationId xmlns:a16="http://schemas.microsoft.com/office/drawing/2014/main" id="{0BB2A138-CB84-C21A-FEAE-C08EDED70B15}"/>
              </a:ext>
            </a:extLst>
          </p:cNvPr>
          <p:cNvSpPr txBox="1"/>
          <p:nvPr/>
        </p:nvSpPr>
        <p:spPr bwMode="gray">
          <a:xfrm>
            <a:off x="4137200" y="2751247"/>
            <a:ext cx="1192833" cy="262957"/>
          </a:xfrm>
          <a:prstGeom prst="rect">
            <a:avLst/>
          </a:prstGeom>
          <a:solidFill>
            <a:schemeClr val="accent2"/>
          </a:solidFill>
          <a:ln w="12700">
            <a:solidFill>
              <a:schemeClr val="bg1"/>
            </a:solidFill>
          </a:ln>
        </p:spPr>
        <p:txBody>
          <a:bodyPr wrap="square" lIns="62198" tIns="62198" rIns="62198" bIns="62198"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Flujo de integración</a:t>
            </a:r>
          </a:p>
        </p:txBody>
      </p:sp>
      <p:sp>
        <p:nvSpPr>
          <p:cNvPr id="49" name="TextBox 12">
            <a:extLst>
              <a:ext uri="{FF2B5EF4-FFF2-40B4-BE49-F238E27FC236}">
                <a16:creationId xmlns:a16="http://schemas.microsoft.com/office/drawing/2014/main" id="{EA72D4F9-07B7-6860-320C-0AF34B52DACD}"/>
              </a:ext>
            </a:extLst>
          </p:cNvPr>
          <p:cNvSpPr txBox="1"/>
          <p:nvPr/>
        </p:nvSpPr>
        <p:spPr bwMode="gray">
          <a:xfrm>
            <a:off x="5426213" y="2746902"/>
            <a:ext cx="1192833" cy="262957"/>
          </a:xfrm>
          <a:prstGeom prst="rect">
            <a:avLst/>
          </a:prstGeom>
          <a:solidFill>
            <a:schemeClr val="accent2"/>
          </a:solidFill>
          <a:ln w="12700">
            <a:solidFill>
              <a:schemeClr val="bg1"/>
            </a:solidFill>
          </a:ln>
        </p:spPr>
        <p:txBody>
          <a:bodyPr wrap="square" lIns="62198" tIns="62198" rIns="62198" bIns="62198"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Flujo de integración</a:t>
            </a:r>
          </a:p>
        </p:txBody>
      </p:sp>
      <p:sp>
        <p:nvSpPr>
          <p:cNvPr id="50" name="Rectangle 49">
            <a:extLst>
              <a:ext uri="{FF2B5EF4-FFF2-40B4-BE49-F238E27FC236}">
                <a16:creationId xmlns:a16="http://schemas.microsoft.com/office/drawing/2014/main" id="{1EA92EA2-7016-2044-F48C-1D80D1F090C1}"/>
              </a:ext>
            </a:extLst>
          </p:cNvPr>
          <p:cNvSpPr/>
          <p:nvPr/>
        </p:nvSpPr>
        <p:spPr bwMode="ltGray">
          <a:xfrm>
            <a:off x="1524376" y="4846504"/>
            <a:ext cx="2499305" cy="325805"/>
          </a:xfrm>
          <a:prstGeom prst="rect">
            <a:avLst/>
          </a:prstGeom>
          <a:solidFill>
            <a:schemeClr val="tx1">
              <a:lumMod val="50000"/>
              <a:lumOff val="50000"/>
            </a:schemeClr>
          </a:solidFill>
          <a:ln w="12700">
            <a:solidFill>
              <a:schemeClr val="bg1"/>
            </a:solidFill>
          </a:ln>
        </p:spPr>
        <p:txBody>
          <a:bodyPr wrap="none" lIns="62198" tIns="62198" rIns="62198" bIns="62198"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Infraestructura del sistema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1" u="none" strike="noStrike" kern="1200" cap="none" spc="0" normalizeH="0" baseline="0" noProof="0">
                <a:ln>
                  <a:noFill/>
                </a:ln>
                <a:solidFill>
                  <a:srgbClr val="FFFFFF"/>
                </a:solidFill>
                <a:effectLst/>
                <a:uLnTx/>
                <a:uFillTx/>
                <a:latin typeface="Graphik"/>
                <a:ea typeface="+mn-ea"/>
                <a:cs typeface="+mn-cs"/>
              </a:rPr>
              <a:t>(Servidores, Almacenamiento, Redes y SO)</a:t>
            </a:r>
            <a:endParaRPr kumimoji="0" lang="en-US" sz="900" b="0" i="1" u="none" strike="noStrike" kern="1200" cap="none" spc="0" normalizeH="0" baseline="0" noProof="0">
              <a:ln>
                <a:noFill/>
              </a:ln>
              <a:solidFill>
                <a:srgbClr val="FFFFFF"/>
              </a:solidFill>
              <a:effectLst/>
              <a:uLnTx/>
              <a:uFillTx/>
              <a:latin typeface="Graphik"/>
              <a:ea typeface="+mn-ea"/>
              <a:cs typeface="+mn-cs"/>
            </a:endParaRPr>
          </a:p>
        </p:txBody>
      </p:sp>
      <p:sp>
        <p:nvSpPr>
          <p:cNvPr id="51" name="TextBox 14">
            <a:extLst>
              <a:ext uri="{FF2B5EF4-FFF2-40B4-BE49-F238E27FC236}">
                <a16:creationId xmlns:a16="http://schemas.microsoft.com/office/drawing/2014/main" id="{2F5C206A-9436-051E-718F-3644A9A3B1AC}"/>
              </a:ext>
            </a:extLst>
          </p:cNvPr>
          <p:cNvSpPr txBox="1"/>
          <p:nvPr/>
        </p:nvSpPr>
        <p:spPr bwMode="blackWhite">
          <a:xfrm>
            <a:off x="5367980" y="3876522"/>
            <a:ext cx="1155442" cy="752400"/>
          </a:xfrm>
          <a:prstGeom prst="rect">
            <a:avLst/>
          </a:prstGeom>
          <a:solidFill>
            <a:schemeClr val="accent3">
              <a:lumMod val="40000"/>
              <a:lumOff val="60000"/>
            </a:schemeClr>
          </a:solidFill>
          <a:ln w="12700">
            <a:solidFill>
              <a:schemeClr val="accent1"/>
            </a:solidFill>
          </a:ln>
        </p:spPr>
        <p:txBody>
          <a:bodyPr wrap="square" lIns="62198" tIns="62198" rIns="62198" bIns="62198"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r>
              <a:rPr lang="es" sz="900" dirty="0">
                <a:solidFill>
                  <a:srgbClr val="FFFFFF"/>
                </a:solidFill>
              </a:rPr>
              <a:t>Plataforma de Gestión de API</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Despliegue y </a:t>
            </a:r>
            <a:r>
              <a:rPr lang="es" sz="900" dirty="0">
                <a:solidFill>
                  <a:srgbClr val="FFFFFF"/>
                </a:solidFill>
                <a:latin typeface="Graphik"/>
              </a:rPr>
              <a:t>O</a:t>
            </a:r>
            <a:r>
              <a:rPr kumimoji="0" lang="es" sz="900" b="0" i="0" u="none" strike="noStrike" kern="1200" cap="none" spc="0" normalizeH="0" baseline="0" noProof="0" dirty="0">
                <a:ln>
                  <a:noFill/>
                </a:ln>
                <a:solidFill>
                  <a:srgbClr val="FFFFFF"/>
                </a:solidFill>
                <a:effectLst/>
                <a:uLnTx/>
                <a:uFillTx/>
                <a:latin typeface="Graphik"/>
                <a:ea typeface="+mn-ea"/>
                <a:cs typeface="+mn-cs"/>
              </a:rPr>
              <a:t>peraciones</a:t>
            </a:r>
            <a:endParaRPr kumimoji="0" lang="en-US" sz="900" b="0" i="0" u="none" strike="noStrike" kern="1200" cap="none" spc="0" normalizeH="0" baseline="0" noProof="0" dirty="0">
              <a:ln>
                <a:noFill/>
              </a:ln>
              <a:solidFill>
                <a:srgbClr val="FFFFFF"/>
              </a:solidFill>
              <a:effectLst/>
              <a:uLnTx/>
              <a:uFillTx/>
              <a:latin typeface="Graphik"/>
              <a:ea typeface="+mn-ea"/>
              <a:cs typeface="+mn-cs"/>
            </a:endParaRPr>
          </a:p>
        </p:txBody>
      </p:sp>
      <p:sp>
        <p:nvSpPr>
          <p:cNvPr id="52" name="TextBox 15">
            <a:extLst>
              <a:ext uri="{FF2B5EF4-FFF2-40B4-BE49-F238E27FC236}">
                <a16:creationId xmlns:a16="http://schemas.microsoft.com/office/drawing/2014/main" id="{79261E06-6156-86F8-6BCC-98D54E91E287}"/>
              </a:ext>
            </a:extLst>
          </p:cNvPr>
          <p:cNvSpPr txBox="1"/>
          <p:nvPr/>
        </p:nvSpPr>
        <p:spPr bwMode="blackWhite">
          <a:xfrm>
            <a:off x="2899814" y="3892430"/>
            <a:ext cx="1155442" cy="752626"/>
          </a:xfrm>
          <a:prstGeom prst="rect">
            <a:avLst/>
          </a:prstGeom>
          <a:solidFill>
            <a:schemeClr val="accent3">
              <a:lumMod val="40000"/>
              <a:lumOff val="60000"/>
            </a:schemeClr>
          </a:solidFill>
          <a:ln>
            <a:solidFill>
              <a:schemeClr val="accent1"/>
            </a:solidFill>
          </a:ln>
        </p:spPr>
        <p:style>
          <a:lnRef idx="2">
            <a:schemeClr val="accent5">
              <a:shade val="15000"/>
            </a:schemeClr>
          </a:lnRef>
          <a:fillRef idx="1">
            <a:schemeClr val="accent5"/>
          </a:fillRef>
          <a:effectRef idx="0">
            <a:schemeClr val="accent5"/>
          </a:effectRef>
          <a:fontRef idx="minor">
            <a:schemeClr val="lt1"/>
          </a:fontRef>
        </p:style>
        <p:txBody>
          <a:bodyPr wrap="square" lIns="62198" tIns="62198" rIns="62198" bIns="62198"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Diseño de API y Portal de Desarrolladores</a:t>
            </a:r>
          </a:p>
        </p:txBody>
      </p:sp>
      <p:sp>
        <p:nvSpPr>
          <p:cNvPr id="53" name="TextBox 19">
            <a:extLst>
              <a:ext uri="{FF2B5EF4-FFF2-40B4-BE49-F238E27FC236}">
                <a16:creationId xmlns:a16="http://schemas.microsoft.com/office/drawing/2014/main" id="{AFA414CC-C3B0-4FB4-4708-80334A03D304}"/>
              </a:ext>
            </a:extLst>
          </p:cNvPr>
          <p:cNvSpPr txBox="1"/>
          <p:nvPr/>
        </p:nvSpPr>
        <p:spPr bwMode="blackWhite">
          <a:xfrm>
            <a:off x="4133896" y="3884473"/>
            <a:ext cx="1155442" cy="752624"/>
          </a:xfrm>
          <a:prstGeom prst="rect">
            <a:avLst/>
          </a:prstGeom>
          <a:solidFill>
            <a:schemeClr val="accent3">
              <a:lumMod val="40000"/>
              <a:lumOff val="60000"/>
            </a:schemeClr>
          </a:solidFill>
          <a:ln w="12700">
            <a:solidFill>
              <a:schemeClr val="accent1"/>
            </a:solidFill>
          </a:ln>
        </p:spPr>
        <p:txBody>
          <a:bodyPr wrap="square" lIns="62198" tIns="62198" rIns="62198" bIns="62198"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Gestión del Ciclo de Vida de las API</a:t>
            </a:r>
          </a:p>
        </p:txBody>
      </p:sp>
      <p:sp>
        <p:nvSpPr>
          <p:cNvPr id="54" name="TextBox 20">
            <a:extLst>
              <a:ext uri="{FF2B5EF4-FFF2-40B4-BE49-F238E27FC236}">
                <a16:creationId xmlns:a16="http://schemas.microsoft.com/office/drawing/2014/main" id="{F426F305-3561-970D-3160-9ABFEFD48DCE}"/>
              </a:ext>
            </a:extLst>
          </p:cNvPr>
          <p:cNvSpPr txBox="1"/>
          <p:nvPr/>
        </p:nvSpPr>
        <p:spPr bwMode="blackWhite">
          <a:xfrm>
            <a:off x="1665730" y="3893005"/>
            <a:ext cx="1155442" cy="752400"/>
          </a:xfrm>
          <a:prstGeom prst="rect">
            <a:avLst/>
          </a:prstGeom>
          <a:solidFill>
            <a:schemeClr val="accent3">
              <a:lumMod val="40000"/>
              <a:lumOff val="60000"/>
            </a:schemeClr>
          </a:solidFill>
          <a:ln w="12700">
            <a:solidFill>
              <a:schemeClr val="accent1"/>
            </a:solidFill>
          </a:ln>
        </p:spPr>
        <p:txBody>
          <a:bodyPr wrap="square" lIns="62198" tIns="62198" rIns="62198" bIns="62198"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Monitorización, Análisis y Monetización de API</a:t>
            </a:r>
          </a:p>
        </p:txBody>
      </p:sp>
      <p:sp>
        <p:nvSpPr>
          <p:cNvPr id="55" name="Rectangle 54">
            <a:extLst>
              <a:ext uri="{FF2B5EF4-FFF2-40B4-BE49-F238E27FC236}">
                <a16:creationId xmlns:a16="http://schemas.microsoft.com/office/drawing/2014/main" id="{DB439624-1487-DD41-E175-79824C11CD26}"/>
              </a:ext>
            </a:extLst>
          </p:cNvPr>
          <p:cNvSpPr/>
          <p:nvPr/>
        </p:nvSpPr>
        <p:spPr bwMode="ltGray">
          <a:xfrm>
            <a:off x="4139084" y="4846930"/>
            <a:ext cx="2500227" cy="325805"/>
          </a:xfrm>
          <a:prstGeom prst="rect">
            <a:avLst/>
          </a:prstGeom>
          <a:solidFill>
            <a:schemeClr val="tx1">
              <a:lumMod val="50000"/>
              <a:lumOff val="50000"/>
            </a:schemeClr>
          </a:solidFill>
          <a:ln w="12700">
            <a:solidFill>
              <a:schemeClr val="bg1"/>
            </a:solidFill>
          </a:ln>
        </p:spPr>
        <p:txBody>
          <a:bodyPr wrap="none" lIns="62198" tIns="62198" rIns="62198" bIns="62198"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Servicios de Infraestructura del Sistema</a:t>
            </a:r>
            <a:br>
              <a:rPr kumimoji="0" lang="en-US" sz="900" b="0" i="0" u="none" strike="noStrike" kern="1200" cap="none" spc="0" normalizeH="0" baseline="0" noProof="0" dirty="0">
                <a:ln>
                  <a:noFill/>
                </a:ln>
                <a:solidFill>
                  <a:srgbClr val="FFFFFF"/>
                </a:solidFill>
                <a:effectLst/>
                <a:uLnTx/>
                <a:uFillTx/>
                <a:latin typeface="Graphik"/>
                <a:ea typeface="+mn-ea"/>
                <a:cs typeface="+mn-cs"/>
              </a:rPr>
            </a:br>
            <a:r>
              <a:rPr kumimoji="0" lang="es" sz="900" b="0" i="0" u="none" strike="noStrike" kern="1200" cap="none" spc="0" normalizeH="0" baseline="0" noProof="0" dirty="0">
                <a:ln>
                  <a:noFill/>
                </a:ln>
                <a:solidFill>
                  <a:srgbClr val="FFFFFF"/>
                </a:solidFill>
                <a:effectLst/>
                <a:uLnTx/>
                <a:uFillTx/>
                <a:latin typeface="Graphik"/>
                <a:ea typeface="+mn-ea"/>
                <a:cs typeface="+mn-cs"/>
              </a:rPr>
              <a:t> (</a:t>
            </a:r>
            <a:r>
              <a:rPr kumimoji="0" lang="es" sz="900" b="0" i="1" u="none" strike="noStrike" kern="1200" cap="none" spc="0" normalizeH="0" baseline="0" noProof="0" dirty="0">
                <a:ln>
                  <a:noFill/>
                </a:ln>
                <a:solidFill>
                  <a:srgbClr val="FFFFFF"/>
                </a:solidFill>
                <a:effectLst/>
                <a:uLnTx/>
                <a:uFillTx/>
                <a:latin typeface="Graphik"/>
                <a:ea typeface="+mn-ea"/>
                <a:cs typeface="+mn-cs"/>
              </a:rPr>
              <a:t>IaaS) </a:t>
            </a:r>
          </a:p>
        </p:txBody>
      </p:sp>
      <p:sp>
        <p:nvSpPr>
          <p:cNvPr id="56" name="Rectangle 55">
            <a:extLst>
              <a:ext uri="{FF2B5EF4-FFF2-40B4-BE49-F238E27FC236}">
                <a16:creationId xmlns:a16="http://schemas.microsoft.com/office/drawing/2014/main" id="{AD081FA2-F7E5-3ED0-CD86-7DAA5EB1B47F}"/>
              </a:ext>
            </a:extLst>
          </p:cNvPr>
          <p:cNvSpPr/>
          <p:nvPr/>
        </p:nvSpPr>
        <p:spPr bwMode="gray">
          <a:xfrm>
            <a:off x="995784" y="5303241"/>
            <a:ext cx="2645667" cy="505560"/>
          </a:xfrm>
          <a:prstGeom prst="rect">
            <a:avLst/>
          </a:prstGeom>
        </p:spPr>
        <p:txBody>
          <a:bodyPr wrap="square" lIns="62198" tIns="0" rIns="0" bIns="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64789" marR="0" lvl="2" indent="-64789" algn="l" defTabSz="914400" rtl="0" eaLnBrk="1" fontAlgn="auto" latinLnBrk="0" hangingPunct="1">
              <a:lnSpc>
                <a:spcPct val="100000"/>
              </a:lnSpc>
              <a:spcBef>
                <a:spcPts val="0"/>
              </a:spcBef>
              <a:spcAft>
                <a:spcPts val="0"/>
              </a:spcAft>
              <a:buClr>
                <a:srgbClr val="000000"/>
              </a:buClr>
              <a:buSzTx/>
              <a:buFont typeface="Arial" pitchFamily="34" charset="0"/>
              <a:buChar char="•"/>
              <a:tabLst/>
              <a:defRPr/>
            </a:pPr>
            <a:r>
              <a:rPr kumimoji="0" lang="es" sz="800" b="0" i="0" u="none" strike="noStrike" kern="1200" cap="none" spc="0" normalizeH="0" baseline="0" noProof="0">
                <a:ln>
                  <a:noFill/>
                </a:ln>
                <a:solidFill>
                  <a:srgbClr val="000000"/>
                </a:solidFill>
                <a:effectLst/>
                <a:uLnTx/>
                <a:uFillTx/>
                <a:latin typeface="Graphik"/>
                <a:ea typeface="+mn-ea"/>
                <a:cs typeface="+mn-cs"/>
              </a:rPr>
              <a:t>Registro de actividad</a:t>
            </a:r>
          </a:p>
          <a:p>
            <a:pPr marL="64789" marR="0" lvl="2" indent="-64789" algn="l" defTabSz="914400" rtl="0" eaLnBrk="1" fontAlgn="auto" latinLnBrk="0" hangingPunct="1">
              <a:lnSpc>
                <a:spcPct val="100000"/>
              </a:lnSpc>
              <a:spcBef>
                <a:spcPts val="0"/>
              </a:spcBef>
              <a:spcAft>
                <a:spcPts val="0"/>
              </a:spcAft>
              <a:buClr>
                <a:srgbClr val="000000"/>
              </a:buClr>
              <a:buSzTx/>
              <a:buFont typeface="Arial" pitchFamily="34" charset="0"/>
              <a:buChar char="•"/>
              <a:tabLst/>
              <a:defRPr/>
            </a:pPr>
            <a:r>
              <a:rPr kumimoji="0" lang="es" sz="800" b="0" i="0" u="none" strike="noStrike" kern="1200" cap="none" spc="0" normalizeH="0" baseline="0" noProof="0">
                <a:ln>
                  <a:noFill/>
                </a:ln>
                <a:solidFill>
                  <a:srgbClr val="000000"/>
                </a:solidFill>
                <a:effectLst/>
                <a:uLnTx/>
                <a:uFillTx/>
                <a:latin typeface="Graphik"/>
                <a:ea typeface="+mn-ea"/>
                <a:cs typeface="+mn-cs"/>
              </a:rPr>
              <a:t>Auditoría de usuarios</a:t>
            </a:r>
          </a:p>
          <a:p>
            <a:pPr marL="64789" marR="0" lvl="2" indent="-64789" algn="l" defTabSz="914400" rtl="0" eaLnBrk="1" fontAlgn="auto" latinLnBrk="0" hangingPunct="1">
              <a:lnSpc>
                <a:spcPct val="100000"/>
              </a:lnSpc>
              <a:spcBef>
                <a:spcPts val="0"/>
              </a:spcBef>
              <a:spcAft>
                <a:spcPts val="0"/>
              </a:spcAft>
              <a:buClr>
                <a:srgbClr val="000000"/>
              </a:buClr>
              <a:buSzTx/>
              <a:buFont typeface="Arial" pitchFamily="34" charset="0"/>
              <a:buChar char="•"/>
              <a:tabLst/>
              <a:defRPr/>
            </a:pPr>
            <a:r>
              <a:rPr kumimoji="0" lang="es" sz="800" b="0" i="0" u="none" strike="noStrike" kern="1200" cap="none" spc="0" normalizeH="0" baseline="0" noProof="0">
                <a:ln>
                  <a:noFill/>
                </a:ln>
                <a:solidFill>
                  <a:srgbClr val="000000"/>
                </a:solidFill>
                <a:effectLst/>
                <a:uLnTx/>
                <a:uFillTx/>
                <a:latin typeface="Graphik"/>
                <a:ea typeface="+mn-ea"/>
                <a:cs typeface="+mn-cs"/>
              </a:rPr>
              <a:t>Reportajes</a:t>
            </a:r>
          </a:p>
          <a:p>
            <a:pPr marL="64789" marR="0" lvl="2" indent="-64789" algn="l" defTabSz="914400" rtl="0" eaLnBrk="1" fontAlgn="auto" latinLnBrk="0" hangingPunct="1">
              <a:lnSpc>
                <a:spcPct val="100000"/>
              </a:lnSpc>
              <a:spcBef>
                <a:spcPts val="0"/>
              </a:spcBef>
              <a:spcAft>
                <a:spcPts val="0"/>
              </a:spcAft>
              <a:buClr>
                <a:srgbClr val="000000"/>
              </a:buClr>
              <a:buSzTx/>
              <a:buFont typeface="Arial" pitchFamily="34" charset="0"/>
              <a:buChar char="•"/>
              <a:tabLst/>
              <a:defRPr/>
            </a:pPr>
            <a:r>
              <a:rPr kumimoji="0" lang="es" sz="800" b="0" i="0" u="none" strike="noStrike" kern="1200" cap="none" spc="0" normalizeH="0" baseline="0" noProof="0">
                <a:ln>
                  <a:noFill/>
                </a:ln>
                <a:solidFill>
                  <a:srgbClr val="000000"/>
                </a:solidFill>
                <a:effectLst/>
                <a:uLnTx/>
                <a:uFillTx/>
                <a:latin typeface="Graphik"/>
                <a:ea typeface="+mn-ea"/>
                <a:cs typeface="+mn-cs"/>
              </a:rPr>
              <a:t>Analítica</a:t>
            </a:r>
          </a:p>
        </p:txBody>
      </p:sp>
      <p:cxnSp>
        <p:nvCxnSpPr>
          <p:cNvPr id="57" name="Elbow Connector 40">
            <a:extLst>
              <a:ext uri="{FF2B5EF4-FFF2-40B4-BE49-F238E27FC236}">
                <a16:creationId xmlns:a16="http://schemas.microsoft.com/office/drawing/2014/main" id="{08DB0554-275B-24EE-18F3-35877FF68487}"/>
              </a:ext>
            </a:extLst>
          </p:cNvPr>
          <p:cNvCxnSpPr>
            <a:cxnSpLocks/>
            <a:stCxn id="56" idx="1"/>
            <a:endCxn id="54" idx="1"/>
          </p:cNvCxnSpPr>
          <p:nvPr/>
        </p:nvCxnSpPr>
        <p:spPr bwMode="gray">
          <a:xfrm rot="10800000" flipH="1">
            <a:off x="995784" y="4269205"/>
            <a:ext cx="669946" cy="1286816"/>
          </a:xfrm>
          <a:prstGeom prst="bentConnector3">
            <a:avLst>
              <a:gd name="adj1" fmla="val -34122"/>
            </a:avLst>
          </a:prstGeom>
          <a:solidFill>
            <a:srgbClr val="00529B"/>
          </a:solidFill>
          <a:ln w="12700" cap="flat" cmpd="sng" algn="ctr">
            <a:solidFill>
              <a:schemeClr val="tx1"/>
            </a:solidFill>
            <a:prstDash val="sysDash"/>
            <a:round/>
            <a:headEnd type="none" w="med" len="med"/>
            <a:tailEnd type="triangle" w="med" len="med"/>
          </a:ln>
          <a:effectLst/>
        </p:spPr>
      </p:cxnSp>
      <p:sp>
        <p:nvSpPr>
          <p:cNvPr id="58" name="Rectangle 57">
            <a:extLst>
              <a:ext uri="{FF2B5EF4-FFF2-40B4-BE49-F238E27FC236}">
                <a16:creationId xmlns:a16="http://schemas.microsoft.com/office/drawing/2014/main" id="{E4918D27-F3B2-4A70-DB64-23347449C5C9}"/>
              </a:ext>
            </a:extLst>
          </p:cNvPr>
          <p:cNvSpPr/>
          <p:nvPr/>
        </p:nvSpPr>
        <p:spPr bwMode="gray">
          <a:xfrm>
            <a:off x="6952791" y="5004114"/>
            <a:ext cx="1607331" cy="404447"/>
          </a:xfrm>
          <a:prstGeom prst="rect">
            <a:avLst/>
          </a:prstGeom>
        </p:spPr>
        <p:txBody>
          <a:bodyPr wrap="square" lIns="0" tIns="0" rIns="0" bIns="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64789" marR="0" lvl="2" indent="-64789" algn="l" defTabSz="914400" rtl="0" eaLnBrk="1" fontAlgn="auto" latinLnBrk="0" hangingPunct="1">
              <a:lnSpc>
                <a:spcPct val="100000"/>
              </a:lnSpc>
              <a:spcBef>
                <a:spcPts val="0"/>
              </a:spcBef>
              <a:spcAft>
                <a:spcPts val="0"/>
              </a:spcAft>
              <a:buClr>
                <a:srgbClr val="000000"/>
              </a:buClr>
              <a:buSzTx/>
              <a:buFont typeface="Arial" pitchFamily="34" charset="0"/>
              <a:buChar char="•"/>
              <a:tabLst/>
              <a:defRPr/>
            </a:pPr>
            <a:r>
              <a:rPr kumimoji="0" lang="es" sz="800" b="0" i="0" u="none" strike="noStrike" kern="1200" cap="none" spc="0" normalizeH="0" baseline="0" noProof="0">
                <a:ln>
                  <a:noFill/>
                </a:ln>
                <a:solidFill>
                  <a:srgbClr val="000000"/>
                </a:solidFill>
                <a:effectLst/>
                <a:uLnTx/>
                <a:uFillTx/>
                <a:latin typeface="Graphik"/>
                <a:ea typeface="+mn-ea"/>
                <a:cs typeface="+mn-cs"/>
              </a:rPr>
              <a:t>Nube vs. On-Prem vs. Híbrido</a:t>
            </a:r>
          </a:p>
          <a:p>
            <a:pPr marL="64789" marR="0" lvl="2" indent="-64789" algn="l" defTabSz="914400" rtl="0" eaLnBrk="1" fontAlgn="auto" latinLnBrk="0" hangingPunct="1">
              <a:lnSpc>
                <a:spcPct val="100000"/>
              </a:lnSpc>
              <a:spcBef>
                <a:spcPts val="0"/>
              </a:spcBef>
              <a:spcAft>
                <a:spcPts val="0"/>
              </a:spcAft>
              <a:buClr>
                <a:srgbClr val="000000"/>
              </a:buClr>
              <a:buSzTx/>
              <a:buFont typeface="Arial" pitchFamily="34" charset="0"/>
              <a:buChar char="•"/>
              <a:tabLst/>
              <a:defRPr/>
            </a:pPr>
            <a:r>
              <a:rPr kumimoji="0" lang="es" sz="800" b="0" i="0" u="none" strike="noStrike" kern="1200" cap="none" spc="0" normalizeH="0" baseline="0" noProof="0">
                <a:ln>
                  <a:noFill/>
                </a:ln>
                <a:solidFill>
                  <a:srgbClr val="000000"/>
                </a:solidFill>
                <a:effectLst/>
                <a:uLnTx/>
                <a:uFillTx/>
                <a:latin typeface="Graphik"/>
                <a:ea typeface="+mn-ea"/>
                <a:cs typeface="+mn-cs"/>
              </a:rPr>
              <a:t>Topología de despliegue</a:t>
            </a:r>
          </a:p>
          <a:p>
            <a:pPr marL="64789" marR="0" lvl="2" indent="-64789" algn="l" defTabSz="914400" rtl="0" eaLnBrk="1" fontAlgn="auto" latinLnBrk="0" hangingPunct="1">
              <a:lnSpc>
                <a:spcPct val="100000"/>
              </a:lnSpc>
              <a:spcBef>
                <a:spcPts val="0"/>
              </a:spcBef>
              <a:spcAft>
                <a:spcPts val="0"/>
              </a:spcAft>
              <a:buClr>
                <a:srgbClr val="000000"/>
              </a:buClr>
              <a:buSzTx/>
              <a:buFont typeface="Arial" pitchFamily="34" charset="0"/>
              <a:buChar char="•"/>
              <a:tabLst/>
              <a:defRPr/>
            </a:pPr>
            <a:r>
              <a:rPr kumimoji="0" lang="es" sz="800" b="0" i="0" u="none" strike="noStrike" kern="1200" cap="none" spc="0" normalizeH="0" baseline="0" noProof="0">
                <a:ln>
                  <a:noFill/>
                </a:ln>
                <a:solidFill>
                  <a:srgbClr val="000000"/>
                </a:solidFill>
                <a:effectLst/>
                <a:uLnTx/>
                <a:uFillTx/>
                <a:latin typeface="Graphik"/>
                <a:ea typeface="+mn-ea"/>
                <a:cs typeface="+mn-cs"/>
              </a:rPr>
              <a:t>Automatización de despliegue</a:t>
            </a:r>
          </a:p>
          <a:p>
            <a:pPr marL="64789" marR="0" lvl="2" indent="-64789" algn="l" defTabSz="914400" rtl="0" eaLnBrk="1" fontAlgn="auto" latinLnBrk="0" hangingPunct="1">
              <a:lnSpc>
                <a:spcPct val="100000"/>
              </a:lnSpc>
              <a:spcBef>
                <a:spcPts val="0"/>
              </a:spcBef>
              <a:spcAft>
                <a:spcPts val="0"/>
              </a:spcAft>
              <a:buClr>
                <a:srgbClr val="000000"/>
              </a:buClr>
              <a:buSzTx/>
              <a:buFont typeface="Arial" pitchFamily="34" charset="0"/>
              <a:buChar char="•"/>
              <a:tabLst/>
              <a:defRPr/>
            </a:pPr>
            <a:r>
              <a:rPr kumimoji="0" lang="es" sz="800" b="0" i="0" u="none" strike="noStrike" kern="1200" cap="none" spc="0" normalizeH="0" baseline="0" noProof="0">
                <a:ln>
                  <a:noFill/>
                </a:ln>
                <a:solidFill>
                  <a:srgbClr val="000000"/>
                </a:solidFill>
                <a:effectLst/>
                <a:uLnTx/>
                <a:uFillTx/>
                <a:latin typeface="Graphik"/>
                <a:ea typeface="+mn-ea"/>
                <a:cs typeface="+mn-cs"/>
              </a:rPr>
              <a:t>Apoyo Operativo</a:t>
            </a:r>
          </a:p>
          <a:p>
            <a:pPr marL="64789" marR="0" lvl="2" indent="-64789" algn="l" defTabSz="914400" rtl="0" eaLnBrk="1" fontAlgn="auto" latinLnBrk="0" hangingPunct="1">
              <a:lnSpc>
                <a:spcPct val="100000"/>
              </a:lnSpc>
              <a:spcBef>
                <a:spcPts val="0"/>
              </a:spcBef>
              <a:spcAft>
                <a:spcPts val="0"/>
              </a:spcAft>
              <a:buClr>
                <a:srgbClr val="000000"/>
              </a:buClr>
              <a:buSzTx/>
              <a:buFont typeface="Arial" pitchFamily="34" charset="0"/>
              <a:buChar char="•"/>
              <a:tabLst/>
              <a:defRPr/>
            </a:pPr>
            <a:r>
              <a:rPr kumimoji="0" lang="es" sz="800" b="0" i="0" u="none" strike="noStrike" kern="1200" cap="none" spc="0" normalizeH="0" baseline="0" noProof="0">
                <a:ln>
                  <a:noFill/>
                </a:ln>
                <a:solidFill>
                  <a:srgbClr val="000000"/>
                </a:solidFill>
                <a:effectLst/>
                <a:uLnTx/>
                <a:uFillTx/>
                <a:latin typeface="Graphik"/>
                <a:ea typeface="+mn-ea"/>
                <a:cs typeface="+mn-cs"/>
              </a:rPr>
              <a:t>Mejoras de plataforma</a:t>
            </a:r>
          </a:p>
          <a:p>
            <a:pPr marL="64789" marR="0" lvl="2" indent="-64789" algn="l" defTabSz="914400" rtl="0" eaLnBrk="1" fontAlgn="auto" latinLnBrk="0" hangingPunct="1">
              <a:lnSpc>
                <a:spcPct val="100000"/>
              </a:lnSpc>
              <a:spcBef>
                <a:spcPts val="0"/>
              </a:spcBef>
              <a:spcAft>
                <a:spcPts val="0"/>
              </a:spcAft>
              <a:buClr>
                <a:srgbClr val="00529B"/>
              </a:buClr>
              <a:buSzTx/>
              <a:buFont typeface="Arial" pitchFamily="34" charset="0"/>
              <a:buChar char="•"/>
              <a:tabLst/>
              <a:defRPr/>
            </a:pPr>
            <a:endParaRPr kumimoji="0" lang="en-US" sz="800" b="0" i="0" u="none" strike="noStrike" kern="1200" cap="none" spc="0" normalizeH="0" baseline="0" noProof="0">
              <a:ln>
                <a:noFill/>
              </a:ln>
              <a:solidFill>
                <a:srgbClr val="000000"/>
              </a:solidFill>
              <a:effectLst/>
              <a:uLnTx/>
              <a:uFillTx/>
              <a:latin typeface="Graphik"/>
              <a:ea typeface="+mn-ea"/>
              <a:cs typeface="+mn-cs"/>
            </a:endParaRPr>
          </a:p>
        </p:txBody>
      </p:sp>
      <p:sp>
        <p:nvSpPr>
          <p:cNvPr id="59" name="Rectangle 58">
            <a:extLst>
              <a:ext uri="{FF2B5EF4-FFF2-40B4-BE49-F238E27FC236}">
                <a16:creationId xmlns:a16="http://schemas.microsoft.com/office/drawing/2014/main" id="{85DA86A8-812D-E2E1-2069-2EE98D1D1651}"/>
              </a:ext>
            </a:extLst>
          </p:cNvPr>
          <p:cNvSpPr/>
          <p:nvPr/>
        </p:nvSpPr>
        <p:spPr bwMode="gray">
          <a:xfrm>
            <a:off x="3675456" y="2056781"/>
            <a:ext cx="1163460" cy="277624"/>
          </a:xfrm>
          <a:prstGeom prst="rect">
            <a:avLst/>
          </a:prstGeom>
        </p:spPr>
        <p:txBody>
          <a:bodyPr wrap="none" lIns="0" tIns="0" rIns="0" bIns="31099">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64789" marR="0" lvl="2" indent="-64789" algn="l" defTabSz="914400" rtl="0" eaLnBrk="1" fontAlgn="auto" latinLnBrk="0" hangingPunct="1">
              <a:lnSpc>
                <a:spcPct val="100000"/>
              </a:lnSpc>
              <a:spcBef>
                <a:spcPts val="0"/>
              </a:spcBef>
              <a:spcAft>
                <a:spcPts val="0"/>
              </a:spcAft>
              <a:buClr>
                <a:srgbClr val="000000"/>
              </a:buClr>
              <a:buSzTx/>
              <a:buFont typeface="Arial" pitchFamily="34" charset="0"/>
              <a:buChar char="•"/>
              <a:tabLst/>
              <a:defRPr/>
            </a:pPr>
            <a:r>
              <a:rPr kumimoji="0" lang="es" sz="800" b="0" i="0" u="none" strike="noStrike" kern="1200" cap="none" spc="0" normalizeH="0" baseline="0" noProof="0">
                <a:ln>
                  <a:noFill/>
                </a:ln>
                <a:solidFill>
                  <a:srgbClr val="000000"/>
                </a:solidFill>
                <a:effectLst/>
                <a:uLnTx/>
                <a:uFillTx/>
                <a:latin typeface="Graphik"/>
                <a:ea typeface="+mn-ea"/>
                <a:cs typeface="+mn-cs"/>
              </a:rPr>
              <a:t>Desarrollado a medida</a:t>
            </a:r>
          </a:p>
          <a:p>
            <a:pPr marL="64789" marR="0" lvl="2" indent="-64789" algn="l" defTabSz="914400" rtl="0" eaLnBrk="1" fontAlgn="auto" latinLnBrk="0" hangingPunct="1">
              <a:lnSpc>
                <a:spcPct val="100000"/>
              </a:lnSpc>
              <a:spcBef>
                <a:spcPts val="0"/>
              </a:spcBef>
              <a:spcAft>
                <a:spcPts val="0"/>
              </a:spcAft>
              <a:buClr>
                <a:srgbClr val="000000"/>
              </a:buClr>
              <a:buSzTx/>
              <a:buFont typeface="Arial" pitchFamily="34" charset="0"/>
              <a:buChar char="•"/>
              <a:tabLst/>
              <a:defRPr/>
            </a:pPr>
            <a:r>
              <a:rPr kumimoji="0" lang="es" sz="800" b="0" i="0" u="none" strike="noStrike" kern="1200" cap="none" spc="0" normalizeH="0" baseline="0" noProof="0">
                <a:ln>
                  <a:noFill/>
                </a:ln>
                <a:solidFill>
                  <a:srgbClr val="000000"/>
                </a:solidFill>
                <a:effectLst/>
                <a:uLnTx/>
                <a:uFillTx/>
                <a:latin typeface="Graphik"/>
                <a:ea typeface="+mn-ea"/>
                <a:cs typeface="+mn-cs"/>
              </a:rPr>
              <a:t>Preempaquetado</a:t>
            </a:r>
          </a:p>
        </p:txBody>
      </p:sp>
      <p:sp>
        <p:nvSpPr>
          <p:cNvPr id="60" name="Rectangle 59">
            <a:extLst>
              <a:ext uri="{FF2B5EF4-FFF2-40B4-BE49-F238E27FC236}">
                <a16:creationId xmlns:a16="http://schemas.microsoft.com/office/drawing/2014/main" id="{F12F603D-4676-A92F-A3D6-2EF7D1D005D0}"/>
              </a:ext>
            </a:extLst>
          </p:cNvPr>
          <p:cNvSpPr/>
          <p:nvPr/>
        </p:nvSpPr>
        <p:spPr bwMode="gray">
          <a:xfrm>
            <a:off x="5965482" y="1853707"/>
            <a:ext cx="1974618" cy="555248"/>
          </a:xfrm>
          <a:prstGeom prst="rect">
            <a:avLst/>
          </a:prstGeom>
        </p:spPr>
        <p:txBody>
          <a:bodyPr wrap="square" lIns="0" tIns="0" rIns="0" bIns="6219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64789" marR="0" lvl="2" indent="-64789" algn="l" defTabSz="914400" rtl="0" eaLnBrk="1" fontAlgn="auto" latinLnBrk="0" hangingPunct="1">
              <a:lnSpc>
                <a:spcPct val="100000"/>
              </a:lnSpc>
              <a:spcBef>
                <a:spcPts val="0"/>
              </a:spcBef>
              <a:spcAft>
                <a:spcPts val="0"/>
              </a:spcAft>
              <a:buClr>
                <a:srgbClr val="000000"/>
              </a:buClr>
              <a:buSzTx/>
              <a:buFont typeface="Arial" pitchFamily="34" charset="0"/>
              <a:buChar char="•"/>
              <a:tabLst/>
              <a:defRPr/>
            </a:pPr>
            <a:r>
              <a:rPr kumimoji="0" lang="es" sz="800" b="0" i="0" u="none" strike="noStrike" kern="1200" cap="none" spc="0" normalizeH="0" baseline="0" noProof="0" dirty="0">
                <a:ln>
                  <a:noFill/>
                </a:ln>
                <a:solidFill>
                  <a:srgbClr val="000000"/>
                </a:solidFill>
                <a:effectLst/>
                <a:uLnTx/>
                <a:uFillTx/>
                <a:latin typeface="Graphik"/>
                <a:ea typeface="+mn-ea"/>
                <a:cs typeface="+mn-cs"/>
              </a:rPr>
              <a:t>Desarrollo y publicación de APIs</a:t>
            </a:r>
          </a:p>
          <a:p>
            <a:pPr marL="64789" marR="0" lvl="2" indent="-64789" algn="l" defTabSz="914400" rtl="0" eaLnBrk="1" fontAlgn="auto" latinLnBrk="0" hangingPunct="1">
              <a:lnSpc>
                <a:spcPct val="100000"/>
              </a:lnSpc>
              <a:spcBef>
                <a:spcPts val="0"/>
              </a:spcBef>
              <a:spcAft>
                <a:spcPts val="0"/>
              </a:spcAft>
              <a:buClr>
                <a:srgbClr val="000000"/>
              </a:buClr>
              <a:buSzTx/>
              <a:buFont typeface="Arial" pitchFamily="34" charset="0"/>
              <a:buChar char="•"/>
              <a:tabLst/>
              <a:defRPr/>
            </a:pPr>
            <a:r>
              <a:rPr kumimoji="0" lang="es" sz="800" b="0" i="0" u="none" strike="noStrike" kern="1200" cap="none" spc="0" normalizeH="0" baseline="0" noProof="0" dirty="0">
                <a:ln>
                  <a:noFill/>
                </a:ln>
                <a:solidFill>
                  <a:srgbClr val="000000"/>
                </a:solidFill>
                <a:effectLst/>
                <a:uLnTx/>
                <a:uFillTx/>
                <a:latin typeface="Graphik"/>
                <a:ea typeface="+mn-ea"/>
                <a:cs typeface="+mn-cs"/>
              </a:rPr>
              <a:t>Gestión de versiones</a:t>
            </a:r>
          </a:p>
          <a:p>
            <a:pPr marL="64789" marR="0" lvl="2" indent="-64789" algn="l" defTabSz="914400" rtl="0" eaLnBrk="1" fontAlgn="auto" latinLnBrk="0" hangingPunct="1">
              <a:lnSpc>
                <a:spcPct val="100000"/>
              </a:lnSpc>
              <a:spcBef>
                <a:spcPts val="0"/>
              </a:spcBef>
              <a:spcAft>
                <a:spcPts val="0"/>
              </a:spcAft>
              <a:buClr>
                <a:srgbClr val="000000"/>
              </a:buClr>
              <a:buSzTx/>
              <a:buFont typeface="Arial" pitchFamily="34" charset="0"/>
              <a:buChar char="•"/>
              <a:tabLst/>
              <a:defRPr/>
            </a:pPr>
            <a:r>
              <a:rPr kumimoji="0" lang="es" sz="800" b="0" i="0" u="none" strike="noStrike" kern="1200" cap="none" spc="0" normalizeH="0" baseline="0" noProof="0" dirty="0">
                <a:ln>
                  <a:noFill/>
                </a:ln>
                <a:solidFill>
                  <a:srgbClr val="000000"/>
                </a:solidFill>
                <a:effectLst/>
                <a:uLnTx/>
                <a:uFillTx/>
                <a:latin typeface="Graphik"/>
                <a:ea typeface="+mn-ea"/>
                <a:cs typeface="+mn-cs"/>
              </a:rPr>
              <a:t>Notificación de cambio</a:t>
            </a:r>
          </a:p>
          <a:p>
            <a:pPr marL="64789" marR="0" lvl="2" indent="-64789" algn="l" defTabSz="914400" rtl="0" eaLnBrk="1" fontAlgn="auto" latinLnBrk="0" hangingPunct="1">
              <a:lnSpc>
                <a:spcPct val="100000"/>
              </a:lnSpc>
              <a:spcBef>
                <a:spcPts val="0"/>
              </a:spcBef>
              <a:spcAft>
                <a:spcPts val="0"/>
              </a:spcAft>
              <a:buClr>
                <a:srgbClr val="000000"/>
              </a:buClr>
              <a:buSzTx/>
              <a:buFont typeface="Arial" pitchFamily="34" charset="0"/>
              <a:buChar char="•"/>
              <a:tabLst/>
              <a:defRPr/>
            </a:pPr>
            <a:r>
              <a:rPr kumimoji="0" lang="es" sz="800" b="0" i="0" u="none" strike="noStrike" kern="1200" cap="none" spc="0" normalizeH="0" baseline="0" noProof="0" dirty="0">
                <a:ln>
                  <a:noFill/>
                </a:ln>
                <a:solidFill>
                  <a:srgbClr val="000000"/>
                </a:solidFill>
                <a:effectLst/>
                <a:uLnTx/>
                <a:uFillTx/>
                <a:latin typeface="Graphik"/>
                <a:ea typeface="+mn-ea"/>
                <a:cs typeface="+mn-cs"/>
              </a:rPr>
              <a:t>Gestión de Incidencias</a:t>
            </a:r>
          </a:p>
        </p:txBody>
      </p:sp>
      <p:sp>
        <p:nvSpPr>
          <p:cNvPr id="62" name="Rectangle 61">
            <a:extLst>
              <a:ext uri="{FF2B5EF4-FFF2-40B4-BE49-F238E27FC236}">
                <a16:creationId xmlns:a16="http://schemas.microsoft.com/office/drawing/2014/main" id="{D8F1B22C-E8E0-EBD9-41DC-F4CB642DCAD4}"/>
              </a:ext>
            </a:extLst>
          </p:cNvPr>
          <p:cNvSpPr/>
          <p:nvPr/>
        </p:nvSpPr>
        <p:spPr bwMode="gray">
          <a:xfrm>
            <a:off x="960319" y="1431533"/>
            <a:ext cx="3015010" cy="910009"/>
          </a:xfrm>
          <a:prstGeom prst="rect">
            <a:avLst/>
          </a:prstGeom>
        </p:spPr>
        <p:txBody>
          <a:bodyPr wrap="square" lIns="62198" tIns="0" rIns="0" bIns="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64789" marR="0" lvl="2" indent="-64789" algn="l" defTabSz="914400" rtl="0" eaLnBrk="1" fontAlgn="auto" latinLnBrk="0" hangingPunct="1">
              <a:lnSpc>
                <a:spcPct val="100000"/>
              </a:lnSpc>
              <a:spcBef>
                <a:spcPts val="0"/>
              </a:spcBef>
              <a:spcAft>
                <a:spcPts val="0"/>
              </a:spcAft>
              <a:buClr>
                <a:srgbClr val="000000"/>
              </a:buClr>
              <a:buSzTx/>
              <a:buFont typeface="Arial" pitchFamily="34" charset="0"/>
              <a:buChar char="•"/>
              <a:tabLst/>
              <a:defRPr/>
            </a:pPr>
            <a:r>
              <a:rPr kumimoji="0" lang="es" sz="800" b="0" i="0" u="none" strike="noStrike" kern="1200" cap="none" spc="0" normalizeH="0" baseline="0" noProof="0" dirty="0">
                <a:ln>
                  <a:noFill/>
                </a:ln>
                <a:solidFill>
                  <a:srgbClr val="000000"/>
                </a:solidFill>
                <a:effectLst/>
                <a:uLnTx/>
                <a:uFillTx/>
                <a:latin typeface="Graphik"/>
                <a:ea typeface="+mn-ea"/>
                <a:cs typeface="+mn-cs"/>
              </a:rPr>
              <a:t>Portal para desarrolladores</a:t>
            </a:r>
          </a:p>
          <a:p>
            <a:pPr marL="64789" marR="0" lvl="2" indent="-64789" algn="l" defTabSz="914400" rtl="0" eaLnBrk="1" fontAlgn="auto" latinLnBrk="0" hangingPunct="1">
              <a:lnSpc>
                <a:spcPct val="100000"/>
              </a:lnSpc>
              <a:spcBef>
                <a:spcPts val="0"/>
              </a:spcBef>
              <a:spcAft>
                <a:spcPts val="0"/>
              </a:spcAft>
              <a:buClr>
                <a:srgbClr val="000000"/>
              </a:buClr>
              <a:buSzTx/>
              <a:buFont typeface="Arial" pitchFamily="34" charset="0"/>
              <a:buChar char="•"/>
              <a:tabLst/>
              <a:defRPr/>
            </a:pPr>
            <a:r>
              <a:rPr kumimoji="0" lang="es" sz="800" b="0" i="0" u="none" strike="noStrike" kern="1200" cap="none" spc="0" normalizeH="0" baseline="0" noProof="0" dirty="0">
                <a:ln>
                  <a:noFill/>
                </a:ln>
                <a:solidFill>
                  <a:srgbClr val="000000"/>
                </a:solidFill>
                <a:effectLst/>
                <a:uLnTx/>
                <a:uFillTx/>
                <a:latin typeface="Graphik"/>
                <a:ea typeface="+mn-ea"/>
                <a:cs typeface="+mn-cs"/>
              </a:rPr>
              <a:t>Registro y Administración de Desarrolladores</a:t>
            </a:r>
          </a:p>
          <a:p>
            <a:pPr marL="64789" marR="0" lvl="2" indent="-64789" algn="l" defTabSz="914400" rtl="0" eaLnBrk="1" fontAlgn="auto" latinLnBrk="0" hangingPunct="1">
              <a:lnSpc>
                <a:spcPct val="100000"/>
              </a:lnSpc>
              <a:spcBef>
                <a:spcPts val="0"/>
              </a:spcBef>
              <a:spcAft>
                <a:spcPts val="0"/>
              </a:spcAft>
              <a:buClr>
                <a:srgbClr val="000000"/>
              </a:buClr>
              <a:buSzTx/>
              <a:buFont typeface="Arial" pitchFamily="34" charset="0"/>
              <a:buChar char="•"/>
              <a:tabLst/>
              <a:defRPr/>
            </a:pPr>
            <a:r>
              <a:rPr kumimoji="0" lang="es" sz="800" b="0" i="0" u="none" strike="noStrike" kern="1200" cap="none" spc="0" normalizeH="0" baseline="0" noProof="0" dirty="0">
                <a:ln>
                  <a:noFill/>
                </a:ln>
                <a:solidFill>
                  <a:srgbClr val="000000"/>
                </a:solidFill>
                <a:effectLst/>
                <a:uLnTx/>
                <a:uFillTx/>
                <a:latin typeface="Graphik"/>
                <a:ea typeface="+mn-ea"/>
                <a:cs typeface="+mn-cs"/>
              </a:rPr>
              <a:t>Documentación de API y Descubrimiento de Metadatos</a:t>
            </a:r>
          </a:p>
          <a:p>
            <a:pPr marL="64789" marR="0" lvl="2" indent="-64789" algn="l" defTabSz="914400" rtl="0" eaLnBrk="1" fontAlgn="auto" latinLnBrk="0" hangingPunct="1">
              <a:lnSpc>
                <a:spcPct val="100000"/>
              </a:lnSpc>
              <a:spcBef>
                <a:spcPts val="0"/>
              </a:spcBef>
              <a:spcAft>
                <a:spcPts val="0"/>
              </a:spcAft>
              <a:buClr>
                <a:srgbClr val="000000"/>
              </a:buClr>
              <a:buSzTx/>
              <a:buFont typeface="Arial" pitchFamily="34" charset="0"/>
              <a:buChar char="•"/>
              <a:tabLst/>
              <a:defRPr/>
            </a:pPr>
            <a:r>
              <a:rPr kumimoji="0" lang="es" sz="800" b="0" i="0" u="none" strike="noStrike" kern="1200" cap="none" spc="0" normalizeH="0" baseline="0" noProof="0" dirty="0">
                <a:ln>
                  <a:noFill/>
                </a:ln>
                <a:solidFill>
                  <a:srgbClr val="000000"/>
                </a:solidFill>
                <a:effectLst/>
                <a:uLnTx/>
                <a:uFillTx/>
                <a:latin typeface="Graphik"/>
                <a:ea typeface="+mn-ea"/>
                <a:cs typeface="+mn-cs"/>
              </a:rPr>
              <a:t>Colaboración y gestión comunitaria</a:t>
            </a:r>
          </a:p>
          <a:p>
            <a:pPr marL="64789" marR="0" lvl="2" indent="-64789" algn="l" defTabSz="914400" rtl="0" eaLnBrk="1" fontAlgn="auto" latinLnBrk="0" hangingPunct="1">
              <a:lnSpc>
                <a:spcPct val="100000"/>
              </a:lnSpc>
              <a:spcBef>
                <a:spcPts val="0"/>
              </a:spcBef>
              <a:spcAft>
                <a:spcPts val="0"/>
              </a:spcAft>
              <a:buClr>
                <a:srgbClr val="000000"/>
              </a:buClr>
              <a:buSzTx/>
              <a:buFont typeface="Arial" pitchFamily="34" charset="0"/>
              <a:buChar char="•"/>
              <a:tabLst/>
              <a:defRPr/>
            </a:pPr>
            <a:r>
              <a:rPr kumimoji="0" lang="es" sz="800" b="0" i="0" u="none" strike="noStrike" kern="1200" cap="none" spc="0" normalizeH="0" baseline="0" noProof="0" dirty="0">
                <a:ln>
                  <a:noFill/>
                </a:ln>
                <a:solidFill>
                  <a:srgbClr val="000000"/>
                </a:solidFill>
                <a:effectLst/>
                <a:uLnTx/>
                <a:uFillTx/>
                <a:latin typeface="Graphik"/>
                <a:ea typeface="+mn-ea"/>
                <a:cs typeface="+mn-cs"/>
              </a:rPr>
              <a:t>Autosoporte del Desarrollador</a:t>
            </a:r>
          </a:p>
        </p:txBody>
      </p:sp>
      <p:sp>
        <p:nvSpPr>
          <p:cNvPr id="63" name="TextBox 29">
            <a:extLst>
              <a:ext uri="{FF2B5EF4-FFF2-40B4-BE49-F238E27FC236}">
                <a16:creationId xmlns:a16="http://schemas.microsoft.com/office/drawing/2014/main" id="{A0F61D78-8EF7-6F7D-6D53-42D9909A18A5}"/>
              </a:ext>
            </a:extLst>
          </p:cNvPr>
          <p:cNvSpPr txBox="1"/>
          <p:nvPr/>
        </p:nvSpPr>
        <p:spPr bwMode="blackWhite">
          <a:xfrm>
            <a:off x="1665731" y="3176667"/>
            <a:ext cx="4857690" cy="176009"/>
          </a:xfrm>
          <a:prstGeom prst="rect">
            <a:avLst/>
          </a:prstGeom>
          <a:solidFill>
            <a:schemeClr val="accent3">
              <a:lumMod val="40000"/>
              <a:lumOff val="60000"/>
            </a:schemeClr>
          </a:solidFill>
          <a:ln>
            <a:solidFill>
              <a:schemeClr val="accent1"/>
            </a:solidFill>
          </a:ln>
        </p:spPr>
        <p:style>
          <a:lnRef idx="2">
            <a:schemeClr val="accent5">
              <a:shade val="15000"/>
            </a:schemeClr>
          </a:lnRef>
          <a:fillRef idx="1">
            <a:schemeClr val="accent5"/>
          </a:fillRef>
          <a:effectRef idx="0">
            <a:schemeClr val="accent5"/>
          </a:effectRef>
          <a:fontRef idx="minor">
            <a:schemeClr val="lt1"/>
          </a:fontRef>
        </p:style>
        <p:txBody>
          <a:bodyPr wrap="square" lIns="62198" tIns="62198" rIns="62198" bIns="62198"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API Gateway-APIs abiertas</a:t>
            </a:r>
          </a:p>
        </p:txBody>
      </p:sp>
      <p:sp>
        <p:nvSpPr>
          <p:cNvPr id="64" name="TextBox 10">
            <a:extLst>
              <a:ext uri="{FF2B5EF4-FFF2-40B4-BE49-F238E27FC236}">
                <a16:creationId xmlns:a16="http://schemas.microsoft.com/office/drawing/2014/main" id="{94429417-C504-9F37-9B95-C204BE8B2918}"/>
              </a:ext>
            </a:extLst>
          </p:cNvPr>
          <p:cNvSpPr txBox="1"/>
          <p:nvPr/>
        </p:nvSpPr>
        <p:spPr bwMode="gray">
          <a:xfrm>
            <a:off x="9095473" y="849202"/>
            <a:ext cx="2880000" cy="180000"/>
          </a:xfrm>
          <a:prstGeom prst="rect">
            <a:avLst/>
          </a:prstGeom>
          <a:solidFill>
            <a:schemeClr val="accent2"/>
          </a:solidFill>
          <a:ln w="12700">
            <a:solidFill>
              <a:schemeClr val="bg1"/>
            </a:solidFill>
          </a:ln>
        </p:spPr>
        <p:txBody>
          <a:bodyPr wrap="square" lIns="62198" tIns="62198" rIns="62198" bIns="62198"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FFFFFF"/>
                </a:solidFill>
                <a:effectLst/>
                <a:uLnTx/>
                <a:uFillTx/>
                <a:latin typeface="Graphik"/>
                <a:ea typeface="+mn-ea"/>
                <a:cs typeface="+mn-cs"/>
              </a:rPr>
              <a:t>Desarrollado a medida</a:t>
            </a:r>
            <a:r>
              <a:rPr kumimoji="0" lang="es" sz="600" b="0" i="0" u="none" strike="noStrike" kern="1200" cap="none" spc="0" normalizeH="0" baseline="0" noProof="0">
                <a:ln>
                  <a:noFill/>
                </a:ln>
                <a:solidFill>
                  <a:srgbClr val="FFFFFF"/>
                </a:solidFill>
                <a:effectLst/>
                <a:uLnTx/>
                <a:uFillTx/>
                <a:latin typeface="Graphik"/>
                <a:ea typeface="+mn-ea"/>
                <a:cs typeface="+mn-cs"/>
              </a:rPr>
              <a:t> / </a:t>
            </a:r>
            <a:r>
              <a:rPr kumimoji="0" lang="es" sz="800" b="0" i="0" u="none" strike="noStrike" kern="1200" cap="none" spc="0" normalizeH="0" baseline="0" noProof="0">
                <a:ln>
                  <a:noFill/>
                </a:ln>
                <a:solidFill>
                  <a:srgbClr val="FFFFFF"/>
                </a:solidFill>
                <a:effectLst/>
                <a:uLnTx/>
                <a:uFillTx/>
                <a:latin typeface="Graphik"/>
                <a:ea typeface="+mn-ea"/>
                <a:cs typeface="+mn-cs"/>
              </a:rPr>
              <a:t>preempaquetado</a:t>
            </a:r>
            <a:endParaRPr kumimoji="0" lang="en-US" sz="600" b="0" i="0" u="none" strike="noStrike" kern="1200" cap="none" spc="0" normalizeH="0" baseline="0" noProof="0">
              <a:ln>
                <a:noFill/>
              </a:ln>
              <a:solidFill>
                <a:srgbClr val="FFFFFF"/>
              </a:solidFill>
              <a:effectLst/>
              <a:uLnTx/>
              <a:uFillTx/>
              <a:latin typeface="Graphik"/>
              <a:ea typeface="+mn-ea"/>
              <a:cs typeface="+mn-cs"/>
            </a:endParaRPr>
          </a:p>
        </p:txBody>
      </p:sp>
      <p:sp>
        <p:nvSpPr>
          <p:cNvPr id="65" name="TextBox 10">
            <a:extLst>
              <a:ext uri="{FF2B5EF4-FFF2-40B4-BE49-F238E27FC236}">
                <a16:creationId xmlns:a16="http://schemas.microsoft.com/office/drawing/2014/main" id="{67959346-4B6C-1043-5574-09C4C7520339}"/>
              </a:ext>
            </a:extLst>
          </p:cNvPr>
          <p:cNvSpPr txBox="1"/>
          <p:nvPr/>
        </p:nvSpPr>
        <p:spPr bwMode="gray">
          <a:xfrm>
            <a:off x="9095473" y="1427325"/>
            <a:ext cx="2880000" cy="180000"/>
          </a:xfrm>
          <a:prstGeom prst="rect">
            <a:avLst/>
          </a:prstGeom>
          <a:solidFill>
            <a:schemeClr val="tx1">
              <a:lumMod val="50000"/>
              <a:lumOff val="50000"/>
            </a:schemeClr>
          </a:solidFill>
          <a:ln w="12700">
            <a:solidFill>
              <a:schemeClr val="bg1"/>
            </a:solidFill>
          </a:ln>
        </p:spPr>
        <p:txBody>
          <a:bodyPr wrap="square" lIns="62198" tIns="62198" rIns="62198" bIns="62198"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FFFFFF"/>
                </a:solidFill>
                <a:effectLst/>
                <a:uLnTx/>
                <a:uFillTx/>
                <a:latin typeface="Graphik"/>
                <a:ea typeface="+mn-ea"/>
                <a:cs typeface="+mn-cs"/>
              </a:rPr>
              <a:t>Infraestructura</a:t>
            </a:r>
            <a:endParaRPr kumimoji="0" lang="en-US" sz="600" b="0" i="0" u="none" strike="noStrike" kern="1200" cap="none" spc="0" normalizeH="0" baseline="0" noProof="0">
              <a:ln>
                <a:noFill/>
              </a:ln>
              <a:solidFill>
                <a:srgbClr val="FFFFFF"/>
              </a:solidFill>
              <a:effectLst/>
              <a:uLnTx/>
              <a:uFillTx/>
              <a:latin typeface="Graphik"/>
              <a:ea typeface="+mn-ea"/>
              <a:cs typeface="+mn-cs"/>
            </a:endParaRPr>
          </a:p>
        </p:txBody>
      </p:sp>
      <p:sp>
        <p:nvSpPr>
          <p:cNvPr id="66" name="Rechteck 31">
            <a:extLst>
              <a:ext uri="{FF2B5EF4-FFF2-40B4-BE49-F238E27FC236}">
                <a16:creationId xmlns:a16="http://schemas.microsoft.com/office/drawing/2014/main" id="{A94BFD07-34EB-008B-E46F-5A83AA3756E2}"/>
              </a:ext>
            </a:extLst>
          </p:cNvPr>
          <p:cNvSpPr/>
          <p:nvPr/>
        </p:nvSpPr>
        <p:spPr>
          <a:xfrm>
            <a:off x="7706809" y="1765503"/>
            <a:ext cx="2061971" cy="1077218"/>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64789" marR="0" lvl="2" indent="-64789" algn="l" defTabSz="914400" rtl="0" eaLnBrk="1" fontAlgn="auto" latinLnBrk="0" hangingPunct="1">
              <a:lnSpc>
                <a:spcPct val="100000"/>
              </a:lnSpc>
              <a:spcBef>
                <a:spcPts val="0"/>
              </a:spcBef>
              <a:spcAft>
                <a:spcPts val="0"/>
              </a:spcAft>
              <a:buClr>
                <a:srgbClr val="000000"/>
              </a:buClr>
              <a:buSzTx/>
              <a:buFont typeface="Arial" pitchFamily="34" charset="0"/>
              <a:buChar char="•"/>
              <a:tabLst/>
              <a:defRPr/>
            </a:pPr>
            <a:r>
              <a:rPr kumimoji="0" lang="es" sz="800" b="1" i="0" u="none" strike="noStrike" kern="1200" cap="none" spc="0" normalizeH="0" baseline="0" noProof="0" dirty="0">
                <a:ln>
                  <a:noFill/>
                </a:ln>
                <a:solidFill>
                  <a:srgbClr val="000000"/>
                </a:solidFill>
                <a:effectLst/>
                <a:uLnTx/>
                <a:uFillTx/>
                <a:latin typeface="Graphik"/>
                <a:ea typeface="+mn-ea"/>
                <a:cs typeface="+mn-cs"/>
              </a:rPr>
              <a:t>Seguridad API y Gestión del Tráfico.</a:t>
            </a:r>
          </a:p>
          <a:p>
            <a:pPr marL="64789" marR="0" lvl="2" indent="-64789" algn="l" defTabSz="914400" rtl="0" eaLnBrk="1" fontAlgn="auto" latinLnBrk="0" hangingPunct="1">
              <a:lnSpc>
                <a:spcPct val="100000"/>
              </a:lnSpc>
              <a:spcBef>
                <a:spcPts val="0"/>
              </a:spcBef>
              <a:spcAft>
                <a:spcPts val="0"/>
              </a:spcAft>
              <a:buClr>
                <a:srgbClr val="000000"/>
              </a:buClr>
              <a:buSzTx/>
              <a:buFont typeface="Arial" pitchFamily="34" charset="0"/>
              <a:buChar char="•"/>
              <a:tabLst/>
              <a:defRPr/>
            </a:pPr>
            <a:r>
              <a:rPr kumimoji="0" lang="es" sz="800" b="0" i="0" u="none" strike="noStrike" kern="1200" cap="none" spc="0" normalizeH="0" baseline="0" noProof="0" dirty="0">
                <a:ln>
                  <a:noFill/>
                </a:ln>
                <a:solidFill>
                  <a:srgbClr val="000000"/>
                </a:solidFill>
                <a:effectLst/>
                <a:uLnTx/>
                <a:uFillTx/>
                <a:latin typeface="Graphik"/>
                <a:ea typeface="+mn-ea"/>
                <a:cs typeface="+mn-cs"/>
              </a:rPr>
              <a:t>Mediación, Enrutamiento y Orquestación</a:t>
            </a:r>
          </a:p>
          <a:p>
            <a:pPr marL="64789" marR="0" lvl="2" indent="-64789" algn="l" defTabSz="914400" rtl="0" eaLnBrk="1" fontAlgn="auto" latinLnBrk="0" hangingPunct="1">
              <a:lnSpc>
                <a:spcPct val="100000"/>
              </a:lnSpc>
              <a:spcBef>
                <a:spcPts val="0"/>
              </a:spcBef>
              <a:spcAft>
                <a:spcPts val="0"/>
              </a:spcAft>
              <a:buClr>
                <a:srgbClr val="000000"/>
              </a:buClr>
              <a:buSzTx/>
              <a:buFont typeface="Arial" pitchFamily="34" charset="0"/>
              <a:buChar char="•"/>
              <a:tabLst/>
              <a:defRPr/>
            </a:pPr>
            <a:r>
              <a:rPr kumimoji="0" lang="es" sz="800" b="0" i="0" u="none" strike="noStrike" kern="1200" cap="none" spc="0" normalizeH="0" baseline="0" noProof="0" dirty="0">
                <a:ln>
                  <a:noFill/>
                </a:ln>
                <a:solidFill>
                  <a:srgbClr val="000000"/>
                </a:solidFill>
                <a:effectLst/>
                <a:uLnTx/>
                <a:uFillTx/>
                <a:latin typeface="Graphik"/>
                <a:ea typeface="+mn-ea"/>
                <a:cs typeface="+mn-cs"/>
              </a:rPr>
              <a:t>Caché</a:t>
            </a:r>
          </a:p>
          <a:p>
            <a:pPr marL="64789" marR="0" lvl="2" indent="-64789" algn="l" defTabSz="914400" rtl="0" eaLnBrk="1" fontAlgn="auto" latinLnBrk="0" hangingPunct="1">
              <a:lnSpc>
                <a:spcPct val="100000"/>
              </a:lnSpc>
              <a:spcBef>
                <a:spcPts val="0"/>
              </a:spcBef>
              <a:spcAft>
                <a:spcPts val="0"/>
              </a:spcAft>
              <a:buClr>
                <a:srgbClr val="000000"/>
              </a:buClr>
              <a:buSzTx/>
              <a:buFont typeface="Arial" pitchFamily="34" charset="0"/>
              <a:buChar char="•"/>
              <a:tabLst/>
              <a:defRPr/>
            </a:pPr>
            <a:r>
              <a:rPr kumimoji="0" lang="es" sz="800" b="0" i="0" u="none" strike="noStrike" kern="1200" cap="none" spc="0" normalizeH="0" baseline="0" noProof="0" dirty="0">
                <a:ln>
                  <a:noFill/>
                </a:ln>
                <a:solidFill>
                  <a:srgbClr val="000000"/>
                </a:solidFill>
                <a:effectLst/>
                <a:uLnTx/>
                <a:uFillTx/>
                <a:latin typeface="Graphik"/>
                <a:ea typeface="+mn-ea"/>
                <a:cs typeface="+mn-cs"/>
              </a:rPr>
              <a:t>Gestión de QoS</a:t>
            </a:r>
          </a:p>
          <a:p>
            <a:pPr marL="64789" marR="0" lvl="2" indent="-64789" algn="l" defTabSz="914400" rtl="0" eaLnBrk="1" fontAlgn="auto" latinLnBrk="0" hangingPunct="1">
              <a:lnSpc>
                <a:spcPct val="100000"/>
              </a:lnSpc>
              <a:spcBef>
                <a:spcPts val="0"/>
              </a:spcBef>
              <a:spcAft>
                <a:spcPts val="0"/>
              </a:spcAft>
              <a:buClr>
                <a:srgbClr val="000000"/>
              </a:buClr>
              <a:buSzTx/>
              <a:buFont typeface="Arial" pitchFamily="34" charset="0"/>
              <a:buChar char="•"/>
              <a:tabLst/>
              <a:defRPr/>
            </a:pPr>
            <a:r>
              <a:rPr kumimoji="0" lang="es" sz="800" b="1" i="0" u="none" strike="noStrike" kern="1200" cap="none" spc="0" normalizeH="0" baseline="0" noProof="0" dirty="0">
                <a:ln>
                  <a:noFill/>
                </a:ln>
                <a:solidFill>
                  <a:srgbClr val="000000"/>
                </a:solidFill>
                <a:effectLst/>
                <a:uLnTx/>
                <a:uFillTx/>
                <a:latin typeface="Graphik"/>
                <a:ea typeface="+mn-ea"/>
                <a:cs typeface="+mn-cs"/>
              </a:rPr>
              <a:t>Gestión y seguimiento de políticas</a:t>
            </a:r>
          </a:p>
          <a:p>
            <a:pPr marL="64789" marR="0" lvl="2" indent="-64789" algn="l" defTabSz="914400" rtl="0" eaLnBrk="1" fontAlgn="auto" latinLnBrk="0" hangingPunct="1">
              <a:lnSpc>
                <a:spcPct val="100000"/>
              </a:lnSpc>
              <a:spcBef>
                <a:spcPts val="0"/>
              </a:spcBef>
              <a:spcAft>
                <a:spcPts val="0"/>
              </a:spcAft>
              <a:buClr>
                <a:srgbClr val="000000"/>
              </a:buClr>
              <a:buSzTx/>
              <a:buFont typeface="Arial" pitchFamily="34" charset="0"/>
              <a:buChar char="•"/>
              <a:tabLst/>
              <a:defRPr/>
            </a:pPr>
            <a:r>
              <a:rPr kumimoji="0" lang="es" sz="800" b="0" i="0" u="none" strike="noStrike" kern="1200" cap="none" spc="0" normalizeH="0" baseline="0" noProof="0" dirty="0">
                <a:ln>
                  <a:noFill/>
                </a:ln>
                <a:solidFill>
                  <a:srgbClr val="000000"/>
                </a:solidFill>
                <a:effectLst/>
                <a:uLnTx/>
                <a:uFillTx/>
                <a:latin typeface="Graphik"/>
                <a:ea typeface="+mn-ea"/>
                <a:cs typeface="+mn-cs"/>
              </a:rPr>
              <a:t>Cuotas y límites de tarifas</a:t>
            </a:r>
          </a:p>
          <a:p>
            <a:pPr marL="64789" marR="0" lvl="2" indent="-64789" algn="l" defTabSz="914400" rtl="0" eaLnBrk="1" fontAlgn="auto" latinLnBrk="0" hangingPunct="1">
              <a:lnSpc>
                <a:spcPct val="100000"/>
              </a:lnSpc>
              <a:spcBef>
                <a:spcPts val="0"/>
              </a:spcBef>
              <a:spcAft>
                <a:spcPts val="0"/>
              </a:spcAft>
              <a:buClr>
                <a:srgbClr val="000000"/>
              </a:buClr>
              <a:buSzTx/>
              <a:buFont typeface="Arial" pitchFamily="34" charset="0"/>
              <a:buChar char="•"/>
              <a:tabLst/>
              <a:defRPr/>
            </a:pPr>
            <a:r>
              <a:rPr kumimoji="0" lang="es" sz="800" b="0" i="0" u="none" strike="noStrike" kern="1200" cap="none" spc="0" normalizeH="0" baseline="0" noProof="0" dirty="0">
                <a:ln>
                  <a:noFill/>
                </a:ln>
                <a:solidFill>
                  <a:srgbClr val="000000"/>
                </a:solidFill>
                <a:effectLst/>
                <a:uLnTx/>
                <a:uFillTx/>
                <a:latin typeface="Graphik"/>
                <a:ea typeface="+mn-ea"/>
                <a:cs typeface="+mn-cs"/>
              </a:rPr>
              <a:t>Control de acceso</a:t>
            </a:r>
          </a:p>
        </p:txBody>
      </p:sp>
      <p:sp>
        <p:nvSpPr>
          <p:cNvPr id="69" name="TextBox 29">
            <a:extLst>
              <a:ext uri="{FF2B5EF4-FFF2-40B4-BE49-F238E27FC236}">
                <a16:creationId xmlns:a16="http://schemas.microsoft.com/office/drawing/2014/main" id="{71FC9D21-CDA4-375A-7D54-EE2778A18909}"/>
              </a:ext>
            </a:extLst>
          </p:cNvPr>
          <p:cNvSpPr txBox="1"/>
          <p:nvPr/>
        </p:nvSpPr>
        <p:spPr bwMode="blackWhite">
          <a:xfrm>
            <a:off x="1663600" y="3434232"/>
            <a:ext cx="4857690" cy="176009"/>
          </a:xfrm>
          <a:prstGeom prst="rect">
            <a:avLst/>
          </a:prstGeom>
          <a:solidFill>
            <a:schemeClr val="accent3">
              <a:lumMod val="40000"/>
              <a:lumOff val="60000"/>
            </a:schemeClr>
          </a:solidFill>
          <a:ln>
            <a:solidFill>
              <a:schemeClr val="accent1"/>
            </a:solidFill>
          </a:ln>
        </p:spPr>
        <p:style>
          <a:lnRef idx="2">
            <a:schemeClr val="accent5">
              <a:shade val="15000"/>
            </a:schemeClr>
          </a:lnRef>
          <a:fillRef idx="1">
            <a:schemeClr val="accent5"/>
          </a:fillRef>
          <a:effectRef idx="0">
            <a:schemeClr val="accent5"/>
          </a:effectRef>
          <a:fontRef idx="minor">
            <a:schemeClr val="lt1"/>
          </a:fontRef>
        </p:style>
        <p:txBody>
          <a:bodyPr wrap="square" lIns="62198" tIns="62198" rIns="62198" bIns="62198"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API Gateway-Partner API</a:t>
            </a:r>
          </a:p>
        </p:txBody>
      </p:sp>
      <p:sp>
        <p:nvSpPr>
          <p:cNvPr id="70" name="TextBox 29">
            <a:extLst>
              <a:ext uri="{FF2B5EF4-FFF2-40B4-BE49-F238E27FC236}">
                <a16:creationId xmlns:a16="http://schemas.microsoft.com/office/drawing/2014/main" id="{E6C1FA95-B8F5-02F4-A230-EE7F108937AE}"/>
              </a:ext>
            </a:extLst>
          </p:cNvPr>
          <p:cNvSpPr txBox="1"/>
          <p:nvPr/>
        </p:nvSpPr>
        <p:spPr bwMode="blackWhite">
          <a:xfrm>
            <a:off x="1663600" y="3668764"/>
            <a:ext cx="4857690" cy="176009"/>
          </a:xfrm>
          <a:prstGeom prst="rect">
            <a:avLst/>
          </a:prstGeom>
          <a:solidFill>
            <a:schemeClr val="accent3">
              <a:lumMod val="40000"/>
              <a:lumOff val="60000"/>
            </a:schemeClr>
          </a:solidFill>
          <a:ln>
            <a:solidFill>
              <a:schemeClr val="accent1"/>
            </a:solidFill>
          </a:ln>
        </p:spPr>
        <p:style>
          <a:lnRef idx="2">
            <a:schemeClr val="accent5">
              <a:shade val="15000"/>
            </a:schemeClr>
          </a:lnRef>
          <a:fillRef idx="1">
            <a:schemeClr val="accent5"/>
          </a:fillRef>
          <a:effectRef idx="0">
            <a:schemeClr val="accent5"/>
          </a:effectRef>
          <a:fontRef idx="minor">
            <a:schemeClr val="lt1"/>
          </a:fontRef>
        </p:style>
        <p:txBody>
          <a:bodyPr wrap="square" lIns="62198" tIns="62198" rIns="62198" bIns="62198"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API Gateway – APIs internas</a:t>
            </a:r>
          </a:p>
        </p:txBody>
      </p:sp>
      <p:sp>
        <p:nvSpPr>
          <p:cNvPr id="71" name="TextBox 15">
            <a:extLst>
              <a:ext uri="{FF2B5EF4-FFF2-40B4-BE49-F238E27FC236}">
                <a16:creationId xmlns:a16="http://schemas.microsoft.com/office/drawing/2014/main" id="{C8931C50-8916-86A6-23E1-92A650A6EFCD}"/>
              </a:ext>
            </a:extLst>
          </p:cNvPr>
          <p:cNvSpPr txBox="1"/>
          <p:nvPr/>
        </p:nvSpPr>
        <p:spPr bwMode="blackWhite">
          <a:xfrm>
            <a:off x="6661237" y="3197007"/>
            <a:ext cx="1092138" cy="752626"/>
          </a:xfrm>
          <a:prstGeom prst="rect">
            <a:avLst/>
          </a:prstGeom>
          <a:solidFill>
            <a:schemeClr val="accent3">
              <a:lumMod val="40000"/>
              <a:lumOff val="60000"/>
            </a:schemeClr>
          </a:solidFill>
          <a:ln>
            <a:solidFill>
              <a:schemeClr val="accent1"/>
            </a:solidFill>
          </a:ln>
        </p:spPr>
        <p:style>
          <a:lnRef idx="2">
            <a:schemeClr val="accent5">
              <a:shade val="15000"/>
            </a:schemeClr>
          </a:lnRef>
          <a:fillRef idx="1">
            <a:schemeClr val="accent5"/>
          </a:fillRef>
          <a:effectRef idx="0">
            <a:schemeClr val="accent5"/>
          </a:effectRef>
          <a:fontRef idx="minor">
            <a:schemeClr val="lt1"/>
          </a:fontRef>
        </p:style>
        <p:txBody>
          <a:bodyPr wrap="square" lIns="62198" tIns="62198" rIns="62198" bIns="62198"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API Marketplace</a:t>
            </a:r>
          </a:p>
        </p:txBody>
      </p:sp>
      <p:sp>
        <p:nvSpPr>
          <p:cNvPr id="72" name="TextBox 15">
            <a:extLst>
              <a:ext uri="{FF2B5EF4-FFF2-40B4-BE49-F238E27FC236}">
                <a16:creationId xmlns:a16="http://schemas.microsoft.com/office/drawing/2014/main" id="{52D747CC-D279-6CBA-88AE-831F1288764E}"/>
              </a:ext>
            </a:extLst>
          </p:cNvPr>
          <p:cNvSpPr txBox="1"/>
          <p:nvPr/>
        </p:nvSpPr>
        <p:spPr bwMode="blackWhite">
          <a:xfrm>
            <a:off x="7910612" y="3192068"/>
            <a:ext cx="1155442" cy="752626"/>
          </a:xfrm>
          <a:prstGeom prst="rect">
            <a:avLst/>
          </a:prstGeom>
          <a:solidFill>
            <a:schemeClr val="accent3">
              <a:lumMod val="40000"/>
              <a:lumOff val="60000"/>
            </a:schemeClr>
          </a:solidFill>
          <a:ln>
            <a:solidFill>
              <a:schemeClr val="accent1"/>
            </a:solidFill>
          </a:ln>
        </p:spPr>
        <p:style>
          <a:lnRef idx="2">
            <a:schemeClr val="accent5">
              <a:shade val="15000"/>
            </a:schemeClr>
          </a:lnRef>
          <a:fillRef idx="1">
            <a:schemeClr val="accent5"/>
          </a:fillRef>
          <a:effectRef idx="0">
            <a:schemeClr val="accent5"/>
          </a:effectRef>
          <a:fontRef idx="minor">
            <a:schemeClr val="lt1"/>
          </a:fontRef>
        </p:style>
        <p:txBody>
          <a:bodyPr wrap="square" lIns="62198" tIns="62198" rIns="62198" bIns="62198"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API Sandbox</a:t>
            </a:r>
          </a:p>
        </p:txBody>
      </p:sp>
      <p:cxnSp>
        <p:nvCxnSpPr>
          <p:cNvPr id="73" name="Elbow Connector 33">
            <a:extLst>
              <a:ext uri="{FF2B5EF4-FFF2-40B4-BE49-F238E27FC236}">
                <a16:creationId xmlns:a16="http://schemas.microsoft.com/office/drawing/2014/main" id="{7DA5432F-9B87-4AFC-EE2F-168E217A45CE}"/>
              </a:ext>
            </a:extLst>
          </p:cNvPr>
          <p:cNvCxnSpPr>
            <a:cxnSpLocks/>
            <a:stCxn id="58" idx="1"/>
            <a:endCxn id="51" idx="3"/>
          </p:cNvCxnSpPr>
          <p:nvPr/>
        </p:nvCxnSpPr>
        <p:spPr bwMode="gray">
          <a:xfrm rot="10800000">
            <a:off x="6523423" y="4252722"/>
            <a:ext cx="429369" cy="953616"/>
          </a:xfrm>
          <a:prstGeom prst="bentConnector3">
            <a:avLst>
              <a:gd name="adj1" fmla="val 50000"/>
            </a:avLst>
          </a:prstGeom>
          <a:solidFill>
            <a:srgbClr val="00529B"/>
          </a:solidFill>
          <a:ln w="12700" cap="flat" cmpd="sng" algn="ctr">
            <a:solidFill>
              <a:schemeClr val="tx1"/>
            </a:solidFill>
            <a:prstDash val="sysDash"/>
            <a:round/>
            <a:headEnd type="none" w="med" len="med"/>
            <a:tailEnd type="triangle" w="med" len="med"/>
          </a:ln>
          <a:effectLst/>
        </p:spPr>
      </p:cxnSp>
      <p:sp>
        <p:nvSpPr>
          <p:cNvPr id="74" name="TextBox 15">
            <a:extLst>
              <a:ext uri="{FF2B5EF4-FFF2-40B4-BE49-F238E27FC236}">
                <a16:creationId xmlns:a16="http://schemas.microsoft.com/office/drawing/2014/main" id="{D35E02FA-5334-8D14-463D-F120AA98CFDF}"/>
              </a:ext>
            </a:extLst>
          </p:cNvPr>
          <p:cNvSpPr txBox="1"/>
          <p:nvPr/>
        </p:nvSpPr>
        <p:spPr bwMode="blackWhite">
          <a:xfrm>
            <a:off x="9233352" y="3192068"/>
            <a:ext cx="2121059" cy="1607549"/>
          </a:xfrm>
          <a:prstGeom prst="rect">
            <a:avLst/>
          </a:prstGeom>
          <a:solidFill>
            <a:schemeClr val="accent3">
              <a:lumMod val="40000"/>
              <a:lumOff val="60000"/>
            </a:schemeClr>
          </a:solidFill>
          <a:ln>
            <a:solidFill>
              <a:schemeClr val="accent1"/>
            </a:solidFill>
          </a:ln>
        </p:spPr>
        <p:style>
          <a:lnRef idx="2">
            <a:schemeClr val="accent5">
              <a:shade val="15000"/>
            </a:schemeClr>
          </a:lnRef>
          <a:fillRef idx="1">
            <a:schemeClr val="accent5"/>
          </a:fillRef>
          <a:effectRef idx="0">
            <a:schemeClr val="accent5"/>
          </a:effectRef>
          <a:fontRef idx="minor">
            <a:schemeClr val="lt1"/>
          </a:fontRef>
        </p:style>
        <p:txBody>
          <a:bodyPr wrap="square" lIns="62198" tIns="62198" rIns="62198" bIns="62198"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Graphik"/>
              <a:ea typeface="+mn-ea"/>
              <a:cs typeface="+mn-cs"/>
            </a:endParaRPr>
          </a:p>
        </p:txBody>
      </p:sp>
      <p:sp>
        <p:nvSpPr>
          <p:cNvPr id="75" name="Rectangle 74">
            <a:extLst>
              <a:ext uri="{FF2B5EF4-FFF2-40B4-BE49-F238E27FC236}">
                <a16:creationId xmlns:a16="http://schemas.microsoft.com/office/drawing/2014/main" id="{8AD44557-1AB0-F66A-F8A9-6C0E5AE45E22}"/>
              </a:ext>
            </a:extLst>
          </p:cNvPr>
          <p:cNvSpPr/>
          <p:nvPr/>
        </p:nvSpPr>
        <p:spPr>
          <a:xfrm>
            <a:off x="9244323" y="4572216"/>
            <a:ext cx="2105597" cy="150798"/>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Gestión del tráfico</a:t>
            </a:r>
          </a:p>
        </p:txBody>
      </p:sp>
      <p:sp>
        <p:nvSpPr>
          <p:cNvPr id="76" name="Rectangle 75">
            <a:extLst>
              <a:ext uri="{FF2B5EF4-FFF2-40B4-BE49-F238E27FC236}">
                <a16:creationId xmlns:a16="http://schemas.microsoft.com/office/drawing/2014/main" id="{403EEB35-1C9F-61F2-E1F4-63D7A2967F39}"/>
              </a:ext>
            </a:extLst>
          </p:cNvPr>
          <p:cNvSpPr/>
          <p:nvPr/>
        </p:nvSpPr>
        <p:spPr>
          <a:xfrm>
            <a:off x="9228861" y="4347532"/>
            <a:ext cx="2121059" cy="155015"/>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Cifrado de datos</a:t>
            </a:r>
          </a:p>
        </p:txBody>
      </p:sp>
      <p:sp>
        <p:nvSpPr>
          <p:cNvPr id="77" name="Rectangle 76">
            <a:extLst>
              <a:ext uri="{FF2B5EF4-FFF2-40B4-BE49-F238E27FC236}">
                <a16:creationId xmlns:a16="http://schemas.microsoft.com/office/drawing/2014/main" id="{B1DA9A0E-E4FC-5AC9-8FC2-1A789BA257EA}"/>
              </a:ext>
            </a:extLst>
          </p:cNvPr>
          <p:cNvSpPr/>
          <p:nvPr/>
        </p:nvSpPr>
        <p:spPr>
          <a:xfrm>
            <a:off x="9244323" y="4116072"/>
            <a:ext cx="2105597" cy="146958"/>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Validación de mensajes</a:t>
            </a:r>
          </a:p>
        </p:txBody>
      </p:sp>
      <p:sp>
        <p:nvSpPr>
          <p:cNvPr id="78" name="Rectangle 77">
            <a:extLst>
              <a:ext uri="{FF2B5EF4-FFF2-40B4-BE49-F238E27FC236}">
                <a16:creationId xmlns:a16="http://schemas.microsoft.com/office/drawing/2014/main" id="{80F7AEE4-DC96-0A64-B833-51CB647789F0}"/>
              </a:ext>
            </a:extLst>
          </p:cNvPr>
          <p:cNvSpPr/>
          <p:nvPr/>
        </p:nvSpPr>
        <p:spPr>
          <a:xfrm>
            <a:off x="9257281" y="3887906"/>
            <a:ext cx="2097130" cy="155015"/>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Ataques basados en contenido</a:t>
            </a:r>
          </a:p>
        </p:txBody>
      </p:sp>
      <p:sp>
        <p:nvSpPr>
          <p:cNvPr id="79" name="Rectangle 78">
            <a:extLst>
              <a:ext uri="{FF2B5EF4-FFF2-40B4-BE49-F238E27FC236}">
                <a16:creationId xmlns:a16="http://schemas.microsoft.com/office/drawing/2014/main" id="{90F7C8F7-ACF2-64C8-0DCE-92293158EF9E}"/>
              </a:ext>
            </a:extLst>
          </p:cNvPr>
          <p:cNvSpPr/>
          <p:nvPr/>
        </p:nvSpPr>
        <p:spPr>
          <a:xfrm>
            <a:off x="9252790" y="3669123"/>
            <a:ext cx="2097130" cy="149192"/>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Seguimiento de identidad</a:t>
            </a:r>
          </a:p>
        </p:txBody>
      </p:sp>
      <p:sp>
        <p:nvSpPr>
          <p:cNvPr id="80" name="Rectangle 79">
            <a:extLst>
              <a:ext uri="{FF2B5EF4-FFF2-40B4-BE49-F238E27FC236}">
                <a16:creationId xmlns:a16="http://schemas.microsoft.com/office/drawing/2014/main" id="{16F5AAFF-CF28-CB8D-E423-19475FB70775}"/>
              </a:ext>
            </a:extLst>
          </p:cNvPr>
          <p:cNvSpPr/>
          <p:nvPr/>
        </p:nvSpPr>
        <p:spPr>
          <a:xfrm>
            <a:off x="9240825" y="3462222"/>
            <a:ext cx="2097130" cy="180713"/>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Autenticación y autorización</a:t>
            </a:r>
          </a:p>
        </p:txBody>
      </p:sp>
      <p:sp>
        <p:nvSpPr>
          <p:cNvPr id="81" name="TextBox 15">
            <a:extLst>
              <a:ext uri="{FF2B5EF4-FFF2-40B4-BE49-F238E27FC236}">
                <a16:creationId xmlns:a16="http://schemas.microsoft.com/office/drawing/2014/main" id="{BF74835B-A3E6-8971-66E8-F38A507DA6DC}"/>
              </a:ext>
            </a:extLst>
          </p:cNvPr>
          <p:cNvSpPr txBox="1"/>
          <p:nvPr/>
        </p:nvSpPr>
        <p:spPr bwMode="blackWhite">
          <a:xfrm>
            <a:off x="9254275" y="3200622"/>
            <a:ext cx="1155442" cy="222531"/>
          </a:xfrm>
          <a:prstGeom prst="rect">
            <a:avLst/>
          </a:prstGeom>
          <a:solidFill>
            <a:schemeClr val="accent3">
              <a:lumMod val="40000"/>
              <a:lumOff val="60000"/>
            </a:schemeClr>
          </a:solidFill>
          <a:ln>
            <a:solidFill>
              <a:schemeClr val="accent1"/>
            </a:solidFill>
          </a:ln>
        </p:spPr>
        <p:style>
          <a:lnRef idx="2">
            <a:schemeClr val="accent5">
              <a:shade val="15000"/>
            </a:schemeClr>
          </a:lnRef>
          <a:fillRef idx="1">
            <a:schemeClr val="accent5"/>
          </a:fillRef>
          <a:effectRef idx="0">
            <a:schemeClr val="accent5"/>
          </a:effectRef>
          <a:fontRef idx="minor">
            <a:schemeClr val="lt1"/>
          </a:fontRef>
        </p:style>
        <p:txBody>
          <a:bodyPr wrap="square" lIns="62198" tIns="62198" rIns="62198" bIns="62198"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1000" b="0" i="0" u="none" strike="noStrike" kern="1200" cap="none" spc="0" normalizeH="0" baseline="0" noProof="0">
                <a:ln>
                  <a:noFill/>
                </a:ln>
                <a:solidFill>
                  <a:srgbClr val="FFFFFF"/>
                </a:solidFill>
                <a:effectLst/>
                <a:uLnTx/>
                <a:uFillTx/>
                <a:latin typeface="Graphik"/>
                <a:ea typeface="+mn-ea"/>
                <a:cs typeface="+mn-cs"/>
              </a:rPr>
              <a:t>Seguridad</a:t>
            </a:r>
            <a:endParaRPr kumimoji="0" lang="en-US" sz="900" b="0" i="0" u="none" strike="noStrike" kern="1200" cap="none" spc="0" normalizeH="0" baseline="0" noProof="0">
              <a:ln>
                <a:noFill/>
              </a:ln>
              <a:solidFill>
                <a:srgbClr val="FFFFFF"/>
              </a:solidFill>
              <a:effectLst/>
              <a:uLnTx/>
              <a:uFillTx/>
              <a:latin typeface="Graphik"/>
              <a:ea typeface="+mn-ea"/>
              <a:cs typeface="+mn-cs"/>
            </a:endParaRPr>
          </a:p>
        </p:txBody>
      </p:sp>
      <p:sp>
        <p:nvSpPr>
          <p:cNvPr id="82" name="Rectangle 81">
            <a:extLst>
              <a:ext uri="{FF2B5EF4-FFF2-40B4-BE49-F238E27FC236}">
                <a16:creationId xmlns:a16="http://schemas.microsoft.com/office/drawing/2014/main" id="{048ABF54-24F8-868F-D391-347A3057D00F}"/>
              </a:ext>
            </a:extLst>
          </p:cNvPr>
          <p:cNvSpPr/>
          <p:nvPr/>
        </p:nvSpPr>
        <p:spPr>
          <a:xfrm>
            <a:off x="1587263" y="2501225"/>
            <a:ext cx="5031783" cy="179787"/>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400" b="0" i="0" u="none" strike="noStrike" kern="1200" cap="none" spc="0" normalizeH="0" baseline="0" noProof="0">
              <a:ln>
                <a:noFill/>
              </a:ln>
              <a:solidFill>
                <a:srgbClr val="000000"/>
              </a:solidFill>
              <a:effectLst/>
              <a:highlight>
                <a:srgbClr val="F2F2F2"/>
              </a:highlight>
              <a:uLnTx/>
              <a:uFillTx/>
              <a:latin typeface="Graphik"/>
              <a:ea typeface="+mn-ea"/>
              <a:cs typeface="+mn-cs"/>
            </a:endParaRPr>
          </a:p>
        </p:txBody>
      </p:sp>
      <p:pic>
        <p:nvPicPr>
          <p:cNvPr id="83" name="Picture 82">
            <a:extLst>
              <a:ext uri="{FF2B5EF4-FFF2-40B4-BE49-F238E27FC236}">
                <a16:creationId xmlns:a16="http://schemas.microsoft.com/office/drawing/2014/main" id="{CB294DBC-EC25-720E-9B4D-FC1728A1681A}"/>
              </a:ext>
            </a:extLst>
          </p:cNvPr>
          <p:cNvPicPr>
            <a:picLocks noChangeAspect="1"/>
          </p:cNvPicPr>
          <p:nvPr/>
        </p:nvPicPr>
        <p:blipFill>
          <a:blip r:embed="rId2"/>
          <a:stretch>
            <a:fillRect/>
          </a:stretch>
        </p:blipFill>
        <p:spPr>
          <a:xfrm>
            <a:off x="4016369" y="2556747"/>
            <a:ext cx="282726" cy="93327"/>
          </a:xfrm>
          <a:prstGeom prst="rect">
            <a:avLst/>
          </a:prstGeom>
        </p:spPr>
      </p:pic>
      <p:cxnSp>
        <p:nvCxnSpPr>
          <p:cNvPr id="84" name="Elbow Connector 38">
            <a:extLst>
              <a:ext uri="{FF2B5EF4-FFF2-40B4-BE49-F238E27FC236}">
                <a16:creationId xmlns:a16="http://schemas.microsoft.com/office/drawing/2014/main" id="{89D4C1AD-2511-A42F-915E-4D9696201687}"/>
              </a:ext>
            </a:extLst>
          </p:cNvPr>
          <p:cNvCxnSpPr>
            <a:cxnSpLocks/>
          </p:cNvCxnSpPr>
          <p:nvPr/>
        </p:nvCxnSpPr>
        <p:spPr bwMode="gray">
          <a:xfrm rot="5400000">
            <a:off x="3621438" y="2160856"/>
            <a:ext cx="425010" cy="692598"/>
          </a:xfrm>
          <a:prstGeom prst="bentConnector3">
            <a:avLst>
              <a:gd name="adj1" fmla="val 50000"/>
            </a:avLst>
          </a:prstGeom>
          <a:solidFill>
            <a:srgbClr val="00529B"/>
          </a:solidFill>
          <a:ln w="12700" cap="flat" cmpd="sng" algn="ctr">
            <a:solidFill>
              <a:schemeClr val="tx1"/>
            </a:solidFill>
            <a:prstDash val="sysDash"/>
            <a:round/>
            <a:headEnd type="none" w="med" len="med"/>
            <a:tailEnd type="triangle" w="med" len="med"/>
          </a:ln>
          <a:effectLst/>
        </p:spPr>
      </p:cxnSp>
      <p:cxnSp>
        <p:nvCxnSpPr>
          <p:cNvPr id="85" name="Elbow Connector 37">
            <a:extLst>
              <a:ext uri="{FF2B5EF4-FFF2-40B4-BE49-F238E27FC236}">
                <a16:creationId xmlns:a16="http://schemas.microsoft.com/office/drawing/2014/main" id="{9C765434-4575-756B-6E7A-6CB7BE8A3282}"/>
              </a:ext>
            </a:extLst>
          </p:cNvPr>
          <p:cNvCxnSpPr>
            <a:cxnSpLocks/>
          </p:cNvCxnSpPr>
          <p:nvPr/>
        </p:nvCxnSpPr>
        <p:spPr bwMode="gray">
          <a:xfrm rot="16200000" flipH="1">
            <a:off x="4248508" y="2234334"/>
            <a:ext cx="416842" cy="553375"/>
          </a:xfrm>
          <a:prstGeom prst="bentConnector3">
            <a:avLst>
              <a:gd name="adj1" fmla="val 50000"/>
            </a:avLst>
          </a:prstGeom>
          <a:solidFill>
            <a:srgbClr val="00529B"/>
          </a:solidFill>
          <a:ln w="12700" cap="flat" cmpd="sng" algn="ctr">
            <a:solidFill>
              <a:schemeClr val="tx1"/>
            </a:solidFill>
            <a:prstDash val="sysDash"/>
            <a:round/>
            <a:headEnd type="none" w="med" len="med"/>
            <a:tailEnd type="triangle" w="med" len="med"/>
          </a:ln>
          <a:effectLst/>
        </p:spPr>
      </p:cxnSp>
      <p:sp>
        <p:nvSpPr>
          <p:cNvPr id="86" name="TextBox 10">
            <a:extLst>
              <a:ext uri="{FF2B5EF4-FFF2-40B4-BE49-F238E27FC236}">
                <a16:creationId xmlns:a16="http://schemas.microsoft.com/office/drawing/2014/main" id="{3F55E502-7898-D764-0AF3-0B154F520263}"/>
              </a:ext>
            </a:extLst>
          </p:cNvPr>
          <p:cNvSpPr txBox="1"/>
          <p:nvPr/>
        </p:nvSpPr>
        <p:spPr bwMode="gray">
          <a:xfrm>
            <a:off x="9095473" y="1601827"/>
            <a:ext cx="2880000" cy="180000"/>
          </a:xfrm>
          <a:prstGeom prst="rect">
            <a:avLst/>
          </a:prstGeom>
          <a:solidFill>
            <a:schemeClr val="accent4">
              <a:lumMod val="40000"/>
              <a:lumOff val="60000"/>
            </a:schemeClr>
          </a:solidFill>
          <a:ln w="12700">
            <a:solidFill>
              <a:schemeClr val="bg1"/>
            </a:solidFill>
          </a:ln>
        </p:spPr>
        <p:txBody>
          <a:bodyPr wrap="square" lIns="62198" tIns="62198" rIns="62198" bIns="62198"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FFFFFF"/>
                </a:solidFill>
                <a:effectLst/>
                <a:uLnTx/>
                <a:uFillTx/>
                <a:latin typeface="Graphik"/>
                <a:ea typeface="+mn-ea"/>
                <a:cs typeface="+mn-cs"/>
              </a:rPr>
              <a:t>Solo referencias</a:t>
            </a:r>
            <a:endParaRPr kumimoji="0" lang="en-US" sz="600" b="0" i="0" u="none" strike="noStrike" kern="1200" cap="none" spc="0" normalizeH="0" baseline="0" noProof="0">
              <a:ln>
                <a:noFill/>
              </a:ln>
              <a:solidFill>
                <a:srgbClr val="FFFFFF"/>
              </a:solidFill>
              <a:effectLst/>
              <a:uLnTx/>
              <a:uFillTx/>
              <a:latin typeface="Graphik"/>
              <a:ea typeface="+mn-ea"/>
              <a:cs typeface="+mn-cs"/>
            </a:endParaRPr>
          </a:p>
        </p:txBody>
      </p:sp>
      <p:cxnSp>
        <p:nvCxnSpPr>
          <p:cNvPr id="68" name="Elbow Connector 31">
            <a:extLst>
              <a:ext uri="{FF2B5EF4-FFF2-40B4-BE49-F238E27FC236}">
                <a16:creationId xmlns:a16="http://schemas.microsoft.com/office/drawing/2014/main" id="{D5C3FDDA-DDA8-FBAE-EE9D-DC6BCDE5C811}"/>
              </a:ext>
            </a:extLst>
          </p:cNvPr>
          <p:cNvCxnSpPr>
            <a:cxnSpLocks/>
          </p:cNvCxnSpPr>
          <p:nvPr/>
        </p:nvCxnSpPr>
        <p:spPr bwMode="gray">
          <a:xfrm rot="10800000" flipH="1" flipV="1">
            <a:off x="960317" y="1601827"/>
            <a:ext cx="1939495" cy="2382205"/>
          </a:xfrm>
          <a:prstGeom prst="bentConnector3">
            <a:avLst>
              <a:gd name="adj1" fmla="val -13017"/>
            </a:avLst>
          </a:prstGeom>
          <a:solidFill>
            <a:srgbClr val="00529B"/>
          </a:solidFill>
          <a:ln w="12700" cap="flat" cmpd="sng" algn="ctr">
            <a:solidFill>
              <a:schemeClr val="tx1"/>
            </a:solidFill>
            <a:prstDash val="sysDash"/>
            <a:round/>
            <a:headEnd type="none" w="med" len="med"/>
            <a:tailEnd type="triangle" w="med" len="med"/>
          </a:ln>
          <a:effectLst/>
        </p:spPr>
      </p:cxnSp>
      <p:cxnSp>
        <p:nvCxnSpPr>
          <p:cNvPr id="61" name="Elbow Connector 33">
            <a:extLst>
              <a:ext uri="{FF2B5EF4-FFF2-40B4-BE49-F238E27FC236}">
                <a16:creationId xmlns:a16="http://schemas.microsoft.com/office/drawing/2014/main" id="{BF694216-BFA0-7E66-264D-7B107E8FA3BA}"/>
              </a:ext>
            </a:extLst>
          </p:cNvPr>
          <p:cNvCxnSpPr>
            <a:cxnSpLocks/>
            <a:stCxn id="60" idx="1"/>
          </p:cNvCxnSpPr>
          <p:nvPr/>
        </p:nvCxnSpPr>
        <p:spPr bwMode="gray">
          <a:xfrm rot="10800000" flipV="1">
            <a:off x="5367642" y="2131330"/>
            <a:ext cx="597841" cy="1577339"/>
          </a:xfrm>
          <a:prstGeom prst="bentConnector2">
            <a:avLst/>
          </a:prstGeom>
          <a:solidFill>
            <a:srgbClr val="00529B"/>
          </a:solidFill>
          <a:ln w="12700" cap="flat" cmpd="sng" algn="ctr">
            <a:solidFill>
              <a:schemeClr val="tx1"/>
            </a:solidFill>
            <a:prstDash val="sysDash"/>
            <a:round/>
            <a:headEnd type="none" w="med" len="med"/>
            <a:tailEnd type="triangle" w="med" len="med"/>
          </a:ln>
          <a:effectLst/>
        </p:spPr>
      </p:cxnSp>
      <p:cxnSp>
        <p:nvCxnSpPr>
          <p:cNvPr id="67" name="Elbow Connector 33">
            <a:extLst>
              <a:ext uri="{FF2B5EF4-FFF2-40B4-BE49-F238E27FC236}">
                <a16:creationId xmlns:a16="http://schemas.microsoft.com/office/drawing/2014/main" id="{6CB52AD2-E5F7-FD40-76E0-4D298F50A057}"/>
              </a:ext>
            </a:extLst>
          </p:cNvPr>
          <p:cNvCxnSpPr>
            <a:cxnSpLocks/>
            <a:endCxn id="69" idx="3"/>
          </p:cNvCxnSpPr>
          <p:nvPr/>
        </p:nvCxnSpPr>
        <p:spPr bwMode="gray">
          <a:xfrm rot="10800000" flipV="1">
            <a:off x="6521291" y="2626091"/>
            <a:ext cx="1185519" cy="896146"/>
          </a:xfrm>
          <a:prstGeom prst="bentConnector3">
            <a:avLst>
              <a:gd name="adj1" fmla="val 90242"/>
            </a:avLst>
          </a:prstGeom>
          <a:solidFill>
            <a:srgbClr val="00529B"/>
          </a:solidFill>
          <a:ln w="12700" cap="flat" cmpd="sng" algn="ctr">
            <a:solidFill>
              <a:schemeClr val="tx1"/>
            </a:solidFill>
            <a:prstDash val="sysDash"/>
            <a:round/>
            <a:headEnd type="none" w="med" len="med"/>
            <a:tailEnd type="triangle" w="med" len="med"/>
          </a:ln>
          <a:effectLst/>
        </p:spPr>
      </p:cxnSp>
    </p:spTree>
    <p:extLst>
      <p:ext uri="{BB962C8B-B14F-4D97-AF65-F5344CB8AC3E}">
        <p14:creationId xmlns:p14="http://schemas.microsoft.com/office/powerpoint/2010/main" val="133059835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24FBB9-49CE-C366-BA52-E980AE6DA89C}"/>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4A6C8A94-F9B2-DDD4-7EDC-FCEE29D5334D}"/>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alpha val="65000"/>
                  </a:srgbClr>
                </a:solidFill>
                <a:effectLst/>
                <a:uLnTx/>
                <a:uFillTx/>
                <a:latin typeface="Graphik"/>
                <a:ea typeface="+mn-ea"/>
                <a:cs typeface="+mn-cs"/>
              </a:rPr>
              <a:t>Copyright © 2025 Accenture. Todos los derechos reservados.</a:t>
            </a:r>
          </a:p>
        </p:txBody>
      </p:sp>
      <p:sp>
        <p:nvSpPr>
          <p:cNvPr id="118" name="Title 1">
            <a:extLst>
              <a:ext uri="{FF2B5EF4-FFF2-40B4-BE49-F238E27FC236}">
                <a16:creationId xmlns:a16="http://schemas.microsoft.com/office/drawing/2014/main" id="{3782DD83-79A7-0F7C-6F2B-23103D1FD27A}"/>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a:ln>
                  <a:noFill/>
                </a:ln>
                <a:solidFill>
                  <a:srgbClr val="7500C0"/>
                </a:solidFill>
                <a:effectLst/>
                <a:uLnTx/>
                <a:uFillTx/>
                <a:latin typeface="Graphik"/>
                <a:ea typeface="+mj-ea"/>
                <a:cs typeface="+mj-cs"/>
              </a:rPr>
              <a:t>Activo de Interoperabilidad </a:t>
            </a:r>
            <a:r>
              <a:rPr kumimoji="0" lang="es" sz="2400" b="1" i="0" u="none" strike="noStrike" kern="1200" cap="none" spc="0" normalizeH="0" baseline="0" noProof="0">
                <a:ln>
                  <a:noFill/>
                </a:ln>
                <a:solidFill>
                  <a:srgbClr val="000000"/>
                </a:solidFill>
                <a:effectLst/>
                <a:uLnTx/>
                <a:uFillTx/>
                <a:latin typeface="Graphik"/>
                <a:ea typeface="+mj-ea"/>
                <a:cs typeface="+mj-cs"/>
              </a:rPr>
              <a:t>| </a:t>
            </a:r>
            <a:r>
              <a:rPr kumimoji="0" lang="es" sz="2000" b="1" i="0" u="none" strike="noStrike" kern="1200" cap="none" spc="0" normalizeH="0" baseline="0" noProof="0">
                <a:ln>
                  <a:noFill/>
                </a:ln>
                <a:solidFill>
                  <a:srgbClr val="000000"/>
                </a:solidFill>
                <a:effectLst/>
                <a:uLnTx/>
                <a:uFillTx/>
                <a:latin typeface="Graphik"/>
                <a:ea typeface="+mj-ea"/>
                <a:cs typeface="+mj-cs"/>
              </a:rPr>
              <a:t>Omnicanal</a:t>
            </a:r>
            <a:endParaRPr kumimoji="0" lang="es" sz="2400" b="1" i="0" u="none" strike="noStrike" kern="1200" cap="none" spc="0" normalizeH="0" baseline="0" noProof="0">
              <a:ln>
                <a:noFill/>
              </a:ln>
              <a:solidFill>
                <a:srgbClr val="000000"/>
              </a:solidFill>
              <a:effectLst/>
              <a:uLnTx/>
              <a:uFillTx/>
              <a:latin typeface="Graphik"/>
              <a:ea typeface="+mj-ea"/>
              <a:cs typeface="+mj-cs"/>
            </a:endParaRPr>
          </a:p>
        </p:txBody>
      </p:sp>
      <p:sp>
        <p:nvSpPr>
          <p:cNvPr id="119" name="Content Placeholder 34">
            <a:extLst>
              <a:ext uri="{FF2B5EF4-FFF2-40B4-BE49-F238E27FC236}">
                <a16:creationId xmlns:a16="http://schemas.microsoft.com/office/drawing/2014/main" id="{6CB2919E-AA40-A1D5-F144-1B2B5257EF74}"/>
              </a:ext>
            </a:extLst>
          </p:cNvPr>
          <p:cNvSpPr txBox="1">
            <a:spLocks/>
          </p:cNvSpPr>
          <p:nvPr/>
        </p:nvSpPr>
        <p:spPr>
          <a:xfrm>
            <a:off x="285990" y="641993"/>
            <a:ext cx="11430000" cy="246221"/>
          </a:xfrm>
          <a:prstGeom prst="rect">
            <a:avLst/>
          </a:prstGeom>
        </p:spPr>
        <p:txBody>
          <a:bodyPr/>
          <a:lstStyle>
            <a:lvl1pPr marL="228600" indent="-228600" algn="l" defTabSz="228600" rtl="0" eaLnBrk="1" latinLnBrk="0" hangingPunct="1">
              <a:lnSpc>
                <a:spcPct val="100000"/>
              </a:lnSpc>
              <a:spcBef>
                <a:spcPts val="0"/>
              </a:spcBef>
              <a:spcAft>
                <a:spcPts val="600"/>
              </a:spcAft>
              <a:buFont typeface="Arial"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Arial"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Arial"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Arial"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Arial"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Arial" panose="020B0604020202020204" pitchFamily="34" charset="0"/>
              <a:buNone/>
              <a:defRPr sz="800" kern="1200">
                <a:solidFill>
                  <a:schemeClr val="tx2"/>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s" sz="1600" b="1" i="0" u="none" strike="noStrike" kern="1200" cap="none" spc="0" normalizeH="0" baseline="0" noProof="0">
                <a:ln>
                  <a:noFill/>
                </a:ln>
                <a:solidFill>
                  <a:srgbClr val="7500C0"/>
                </a:solidFill>
                <a:effectLst/>
                <a:uLnTx/>
                <a:uFillTx/>
                <a:latin typeface="Graphik" panose="020B0503030202060203" pitchFamily="34" charset="0"/>
                <a:ea typeface="+mn-ea"/>
                <a:cs typeface="+mn-cs"/>
              </a:rPr>
              <a:t>Flujo de trabajo y datos omnicanal</a:t>
            </a:r>
          </a:p>
        </p:txBody>
      </p:sp>
      <p:grpSp>
        <p:nvGrpSpPr>
          <p:cNvPr id="4" name="Group 3">
            <a:extLst>
              <a:ext uri="{FF2B5EF4-FFF2-40B4-BE49-F238E27FC236}">
                <a16:creationId xmlns:a16="http://schemas.microsoft.com/office/drawing/2014/main" id="{DDFEC414-85EB-1279-63E2-CCE7CD87D611}"/>
              </a:ext>
            </a:extLst>
          </p:cNvPr>
          <p:cNvGrpSpPr/>
          <p:nvPr/>
        </p:nvGrpSpPr>
        <p:grpSpPr>
          <a:xfrm>
            <a:off x="9914018" y="286451"/>
            <a:ext cx="1862854" cy="253275"/>
            <a:chOff x="9929190" y="421028"/>
            <a:chExt cx="1862854" cy="253275"/>
          </a:xfrm>
        </p:grpSpPr>
        <p:sp>
          <p:nvSpPr>
            <p:cNvPr id="5" name="TextBox 4">
              <a:extLst>
                <a:ext uri="{FF2B5EF4-FFF2-40B4-BE49-F238E27FC236}">
                  <a16:creationId xmlns:a16="http://schemas.microsoft.com/office/drawing/2014/main" id="{5CFB5343-A9B7-7661-6880-4DDEB6CAE989}"/>
                </a:ext>
              </a:extLst>
            </p:cNvPr>
            <p:cNvSpPr txBox="1"/>
            <p:nvPr/>
          </p:nvSpPr>
          <p:spPr>
            <a:xfrm>
              <a:off x="9936972" y="460821"/>
              <a:ext cx="1847290" cy="173690"/>
            </a:xfrm>
            <a:prstGeom prst="rect">
              <a:avLst/>
            </a:prstGeom>
            <a:noFill/>
          </p:spPr>
          <p:txBody>
            <a:bodyPr wrap="none" lIns="0" tIns="0" rIns="0" bIns="0" rtlCol="0">
              <a:noAutofit/>
            </a:bodyPr>
            <a:lstStyle/>
            <a:p>
              <a:pPr marL="0" marR="0" lvl="0" indent="0" algn="l" defTabSz="228600" rtl="0" eaLnBrk="1" fontAlgn="auto" latinLnBrk="0" hangingPunct="1">
                <a:lnSpc>
                  <a:spcPct val="100000"/>
                </a:lnSpc>
                <a:spcBef>
                  <a:spcPts val="0"/>
                </a:spcBef>
                <a:spcAft>
                  <a:spcPts val="1200"/>
                </a:spcAft>
                <a:buClrTx/>
                <a:buSzTx/>
                <a:buFontTx/>
                <a:buNone/>
                <a:tabLst/>
                <a:defRPr/>
              </a:pPr>
              <a:r>
                <a:rPr kumimoji="0" lang="es" sz="1100" b="0" i="0" u="none" strike="noStrike" kern="1200" cap="none" spc="0" normalizeH="0" baseline="0" noProof="0">
                  <a:ln>
                    <a:noFill/>
                  </a:ln>
                  <a:solidFill>
                    <a:srgbClr val="000000"/>
                  </a:solidFill>
                  <a:effectLst/>
                  <a:uLnTx/>
                  <a:uFillTx/>
                  <a:latin typeface="Graphik"/>
                  <a:ea typeface="+mn-ea"/>
                  <a:cs typeface="+mn-cs"/>
                </a:rPr>
                <a:t>Ilustrativo no exhaustivo</a:t>
              </a:r>
            </a:p>
          </p:txBody>
        </p:sp>
        <p:cxnSp>
          <p:nvCxnSpPr>
            <p:cNvPr id="6" name="Straight Connector 5">
              <a:extLst>
                <a:ext uri="{FF2B5EF4-FFF2-40B4-BE49-F238E27FC236}">
                  <a16:creationId xmlns:a16="http://schemas.microsoft.com/office/drawing/2014/main" id="{FD5C366E-2DD6-663A-ECF7-15F7F84B6A5B}"/>
                </a:ext>
              </a:extLst>
            </p:cNvPr>
            <p:cNvCxnSpPr>
              <a:cxnSpLocks/>
            </p:cNvCxnSpPr>
            <p:nvPr/>
          </p:nvCxnSpPr>
          <p:spPr>
            <a:xfrm>
              <a:off x="9929190" y="421028"/>
              <a:ext cx="186285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9AAA68AE-B81D-AC04-C987-6073064B1996}"/>
                </a:ext>
              </a:extLst>
            </p:cNvPr>
            <p:cNvCxnSpPr>
              <a:cxnSpLocks/>
            </p:cNvCxnSpPr>
            <p:nvPr/>
          </p:nvCxnSpPr>
          <p:spPr>
            <a:xfrm>
              <a:off x="9929190" y="674303"/>
              <a:ext cx="186285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8" name="Rectangle 7">
            <a:extLst>
              <a:ext uri="{FF2B5EF4-FFF2-40B4-BE49-F238E27FC236}">
                <a16:creationId xmlns:a16="http://schemas.microsoft.com/office/drawing/2014/main" id="{FE4CC9C4-D5FE-88DA-FBC6-560161E37CA6}"/>
              </a:ext>
            </a:extLst>
          </p:cNvPr>
          <p:cNvSpPr/>
          <p:nvPr/>
        </p:nvSpPr>
        <p:spPr>
          <a:xfrm>
            <a:off x="2788542" y="2119646"/>
            <a:ext cx="3499922" cy="2170482"/>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90000" tIns="90000" rIns="90000" bIns="900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Marco de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Microservicios </a:t>
            </a:r>
          </a:p>
        </p:txBody>
      </p:sp>
      <p:sp>
        <p:nvSpPr>
          <p:cNvPr id="9" name="Rectangle 8">
            <a:extLst>
              <a:ext uri="{FF2B5EF4-FFF2-40B4-BE49-F238E27FC236}">
                <a16:creationId xmlns:a16="http://schemas.microsoft.com/office/drawing/2014/main" id="{4E5E5A0B-0634-4DB3-B0B8-1DD1DC4EE169}"/>
              </a:ext>
            </a:extLst>
          </p:cNvPr>
          <p:cNvSpPr/>
          <p:nvPr/>
        </p:nvSpPr>
        <p:spPr>
          <a:xfrm>
            <a:off x="3315299" y="1799997"/>
            <a:ext cx="2029722" cy="152083"/>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API Gateway</a:t>
            </a:r>
          </a:p>
        </p:txBody>
      </p:sp>
      <p:sp>
        <p:nvSpPr>
          <p:cNvPr id="10" name="Rectangle 9">
            <a:extLst>
              <a:ext uri="{FF2B5EF4-FFF2-40B4-BE49-F238E27FC236}">
                <a16:creationId xmlns:a16="http://schemas.microsoft.com/office/drawing/2014/main" id="{69ACF1B1-B23E-6B67-CA73-B27F910ED51D}"/>
              </a:ext>
            </a:extLst>
          </p:cNvPr>
          <p:cNvSpPr/>
          <p:nvPr/>
        </p:nvSpPr>
        <p:spPr>
          <a:xfrm>
            <a:off x="1317688" y="2756777"/>
            <a:ext cx="1141171" cy="28800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Herramienta de flujo de trabajo</a:t>
            </a:r>
          </a:p>
        </p:txBody>
      </p:sp>
      <p:sp>
        <p:nvSpPr>
          <p:cNvPr id="11" name="Rectangle 10">
            <a:extLst>
              <a:ext uri="{FF2B5EF4-FFF2-40B4-BE49-F238E27FC236}">
                <a16:creationId xmlns:a16="http://schemas.microsoft.com/office/drawing/2014/main" id="{2E0E6BAA-E2F4-FD8A-EE66-A205E4C17A10}"/>
              </a:ext>
            </a:extLst>
          </p:cNvPr>
          <p:cNvSpPr/>
          <p:nvPr/>
        </p:nvSpPr>
        <p:spPr>
          <a:xfrm>
            <a:off x="2940912" y="2748841"/>
            <a:ext cx="1294876" cy="28800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Servicios de flujo de trabajo</a:t>
            </a:r>
          </a:p>
        </p:txBody>
      </p:sp>
      <p:grpSp>
        <p:nvGrpSpPr>
          <p:cNvPr id="12" name="Group 11">
            <a:extLst>
              <a:ext uri="{FF2B5EF4-FFF2-40B4-BE49-F238E27FC236}">
                <a16:creationId xmlns:a16="http://schemas.microsoft.com/office/drawing/2014/main" id="{41DE08F2-5A67-A2EB-8DAD-B75FBF37402A}"/>
              </a:ext>
            </a:extLst>
          </p:cNvPr>
          <p:cNvGrpSpPr/>
          <p:nvPr/>
        </p:nvGrpSpPr>
        <p:grpSpPr>
          <a:xfrm>
            <a:off x="5701222" y="2036475"/>
            <a:ext cx="612000" cy="180000"/>
            <a:chOff x="2436880" y="1158097"/>
            <a:chExt cx="1080000" cy="360000"/>
          </a:xfrm>
          <a:solidFill>
            <a:schemeClr val="bg1"/>
          </a:solidFill>
        </p:grpSpPr>
        <p:sp>
          <p:nvSpPr>
            <p:cNvPr id="13" name="Rectangle 12">
              <a:extLst>
                <a:ext uri="{FF2B5EF4-FFF2-40B4-BE49-F238E27FC236}">
                  <a16:creationId xmlns:a16="http://schemas.microsoft.com/office/drawing/2014/main" id="{DA49B3D5-ABA9-304D-944F-2E6DF0EC368D}"/>
                </a:ext>
              </a:extLst>
            </p:cNvPr>
            <p:cNvSpPr/>
            <p:nvPr/>
          </p:nvSpPr>
          <p:spPr>
            <a:xfrm>
              <a:off x="2436880" y="1158097"/>
              <a:ext cx="1080000" cy="360000"/>
            </a:xfrm>
            <a:prstGeom prst="rect">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OpenShift</a:t>
              </a:r>
            </a:p>
          </p:txBody>
        </p:sp>
        <p:pic>
          <p:nvPicPr>
            <p:cNvPr id="14" name="Picture 13">
              <a:extLst>
                <a:ext uri="{FF2B5EF4-FFF2-40B4-BE49-F238E27FC236}">
                  <a16:creationId xmlns:a16="http://schemas.microsoft.com/office/drawing/2014/main" id="{1B754C81-233D-82EE-F27B-2649C4E9200B}"/>
                </a:ext>
              </a:extLst>
            </p:cNvPr>
            <p:cNvPicPr>
              <a:picLocks noChangeAspect="1"/>
            </p:cNvPicPr>
            <p:nvPr/>
          </p:nvPicPr>
          <p:blipFill>
            <a:blip r:embed="rId2"/>
            <a:stretch>
              <a:fillRect/>
            </a:stretch>
          </p:blipFill>
          <p:spPr>
            <a:xfrm>
              <a:off x="2470229" y="1215368"/>
              <a:ext cx="1013303" cy="245459"/>
            </a:xfrm>
            <a:prstGeom prst="rect">
              <a:avLst/>
            </a:prstGeom>
            <a:grpFill/>
          </p:spPr>
        </p:pic>
      </p:grpSp>
      <p:sp>
        <p:nvSpPr>
          <p:cNvPr id="15" name="TextBox 14">
            <a:extLst>
              <a:ext uri="{FF2B5EF4-FFF2-40B4-BE49-F238E27FC236}">
                <a16:creationId xmlns:a16="http://schemas.microsoft.com/office/drawing/2014/main" id="{5559341B-DC03-222D-BBE3-C433C513C84E}"/>
              </a:ext>
            </a:extLst>
          </p:cNvPr>
          <p:cNvSpPr txBox="1"/>
          <p:nvPr/>
        </p:nvSpPr>
        <p:spPr>
          <a:xfrm>
            <a:off x="7308545" y="1413770"/>
            <a:ext cx="4406619" cy="3352869"/>
          </a:xfrm>
          <a:prstGeom prst="rect">
            <a:avLst/>
          </a:prstGeom>
          <a:noFill/>
        </p:spPr>
        <p:txBody>
          <a:bodyPr wrap="square" lIns="0" tIns="0" rIns="0" bIns="0" rtlCol="0">
            <a:noAutofit/>
          </a:bodyPr>
          <a:lstStyle/>
          <a:p>
            <a:pPr marL="0" marR="0" lvl="0" indent="0" algn="l" defTabSz="228600" rtl="0" eaLnBrk="1" fontAlgn="auto" latinLnBrk="0" hangingPunct="1">
              <a:lnSpc>
                <a:spcPct val="100000"/>
              </a:lnSpc>
              <a:spcBef>
                <a:spcPts val="0"/>
              </a:spcBef>
              <a:spcAft>
                <a:spcPts val="600"/>
              </a:spcAft>
              <a:buClrTx/>
              <a:buSzTx/>
              <a:buFontTx/>
              <a:buNone/>
              <a:tabLst/>
              <a:defRPr/>
            </a:pPr>
            <a:r>
              <a:rPr kumimoji="0" lang="es" sz="1100" b="1" i="0" u="none" strike="noStrike" kern="1200" cap="none" spc="0" normalizeH="0" baseline="0" noProof="0" dirty="0">
                <a:ln>
                  <a:noFill/>
                </a:ln>
                <a:solidFill>
                  <a:srgbClr val="000000"/>
                </a:solidFill>
                <a:effectLst/>
                <a:uLnTx/>
                <a:uFillTx/>
                <a:latin typeface="Graphik"/>
                <a:ea typeface="+mn-ea"/>
                <a:cs typeface="+mn-cs"/>
              </a:rPr>
              <a:t>Notas:</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1100" b="0" i="0" u="none" strike="noStrike" kern="1200" cap="none" spc="0" normalizeH="0" baseline="0" noProof="0" dirty="0">
                <a:ln>
                  <a:noFill/>
                </a:ln>
                <a:solidFill>
                  <a:srgbClr val="000000"/>
                </a:solidFill>
                <a:effectLst/>
                <a:uLnTx/>
                <a:uFillTx/>
                <a:latin typeface="Graphik"/>
                <a:ea typeface="+mn-ea"/>
                <a:cs typeface="+mn-cs"/>
              </a:rPr>
              <a:t>El Omnichannel Data Caching Service permite almacenar y recuperar datos capturados en los canales mediante API</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1100" b="0" i="0" u="none" strike="noStrike" kern="1200" cap="none" spc="0" normalizeH="0" baseline="0" noProof="0" dirty="0">
                <a:ln>
                  <a:noFill/>
                </a:ln>
                <a:solidFill>
                  <a:srgbClr val="000000"/>
                </a:solidFill>
                <a:effectLst/>
                <a:uLnTx/>
                <a:uFillTx/>
                <a:latin typeface="Graphik"/>
                <a:ea typeface="+mn-ea"/>
                <a:cs typeface="+mn-cs"/>
              </a:rPr>
              <a:t>Los datos están asociados a cada flujo de trabajo omnicanal específico </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1100" b="0" i="0" u="none" strike="noStrike" kern="1200" cap="none" spc="0" normalizeH="0" baseline="0" noProof="0" dirty="0">
                <a:ln>
                  <a:noFill/>
                </a:ln>
                <a:solidFill>
                  <a:srgbClr val="000000"/>
                </a:solidFill>
                <a:effectLst/>
                <a:uLnTx/>
                <a:uFillTx/>
                <a:latin typeface="Graphik"/>
                <a:ea typeface="+mn-ea"/>
                <a:cs typeface="+mn-cs"/>
              </a:rPr>
              <a:t>Pero las pantallas de captura no tienen que corresponder 1:1 con los pasos del flujo de trabajo</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1100" b="0" i="0" u="none" strike="noStrike" kern="1200" cap="none" spc="0" normalizeH="0" baseline="0" noProof="0" dirty="0">
                <a:ln>
                  <a:noFill/>
                </a:ln>
                <a:solidFill>
                  <a:srgbClr val="000000"/>
                </a:solidFill>
                <a:effectLst/>
                <a:uLnTx/>
                <a:uFillTx/>
                <a:latin typeface="Graphik"/>
                <a:ea typeface="+mn-ea"/>
                <a:cs typeface="+mn-cs"/>
              </a:rPr>
              <a:t>Mecanismos apropiados a considerar para:</a:t>
            </a:r>
          </a:p>
          <a:p>
            <a:pPr marL="742950" marR="0" lvl="1"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1100" b="0" i="0" u="none" strike="noStrike" kern="1200" cap="none" spc="0" normalizeH="0" baseline="0" noProof="0" dirty="0">
                <a:ln>
                  <a:noFill/>
                </a:ln>
                <a:solidFill>
                  <a:srgbClr val="000000"/>
                </a:solidFill>
                <a:effectLst/>
                <a:uLnTx/>
                <a:uFillTx/>
                <a:latin typeface="Graphik"/>
                <a:ea typeface="+mn-ea"/>
                <a:cs typeface="+mn-cs"/>
              </a:rPr>
              <a:t>Confirma los cambios cuando se completan las actividades y los datos se envían a los sistemas centrales</a:t>
            </a:r>
          </a:p>
          <a:p>
            <a:pPr marL="742950" marR="0" lvl="1"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1100" b="0" i="0" u="none" strike="noStrike" kern="1200" cap="none" spc="0" normalizeH="0" baseline="0" noProof="0" dirty="0">
                <a:ln>
                  <a:noFill/>
                </a:ln>
                <a:solidFill>
                  <a:srgbClr val="000000"/>
                </a:solidFill>
                <a:effectLst/>
                <a:uLnTx/>
                <a:uFillTx/>
                <a:latin typeface="Graphik"/>
                <a:ea typeface="+mn-ea"/>
                <a:cs typeface="+mn-cs"/>
              </a:rPr>
              <a:t>Datos de limpieza ya enviados</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US" sz="1100" b="0" i="0" u="none" strike="noStrike" kern="1200" cap="none" spc="0" normalizeH="0" baseline="0" noProof="0" dirty="0">
              <a:ln>
                <a:noFill/>
              </a:ln>
              <a:solidFill>
                <a:srgbClr val="000000"/>
              </a:solidFill>
              <a:effectLst/>
              <a:uLnTx/>
              <a:uFillTx/>
              <a:latin typeface="Graphik"/>
              <a:ea typeface="+mn-ea"/>
              <a:cs typeface="+mn-cs"/>
            </a:endParaRP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1100" b="0" i="1" u="none" strike="noStrike" kern="1200" cap="none" spc="0" normalizeH="0" baseline="0" noProof="0" dirty="0">
                <a:ln>
                  <a:noFill/>
                </a:ln>
                <a:solidFill>
                  <a:srgbClr val="000000"/>
                </a:solidFill>
                <a:effectLst/>
                <a:uLnTx/>
                <a:uFillTx/>
                <a:latin typeface="Graphik"/>
                <a:ea typeface="+mn-ea"/>
                <a:cs typeface="+mn-cs"/>
              </a:rPr>
              <a:t>Se asume que habrá una herramienta de terceros para orquestar procesos de larga duración. Por ahora, se prefieren productos de flujo de trabajo ligeros (por ejemplo, Camunda, Appian, Temporal) frente a las herramientas empresariales de BPM</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US" sz="1100" b="0" i="0" u="none" strike="noStrike" kern="1200" cap="none" spc="0" normalizeH="0" baseline="0" noProof="0" dirty="0">
              <a:ln>
                <a:noFill/>
              </a:ln>
              <a:solidFill>
                <a:srgbClr val="000000"/>
              </a:solidFill>
              <a:effectLst/>
              <a:uLnTx/>
              <a:uFillTx/>
              <a:latin typeface="Graphik"/>
              <a:ea typeface="+mn-ea"/>
              <a:cs typeface="+mn-cs"/>
            </a:endParaRPr>
          </a:p>
        </p:txBody>
      </p:sp>
      <p:cxnSp>
        <p:nvCxnSpPr>
          <p:cNvPr id="19" name="Connector: Elbow 18">
            <a:extLst>
              <a:ext uri="{FF2B5EF4-FFF2-40B4-BE49-F238E27FC236}">
                <a16:creationId xmlns:a16="http://schemas.microsoft.com/office/drawing/2014/main" id="{E75B3729-20DC-4D27-B5E9-1BEA4C9833AF}"/>
              </a:ext>
            </a:extLst>
          </p:cNvPr>
          <p:cNvCxnSpPr>
            <a:cxnSpLocks/>
            <a:stCxn id="10" idx="2"/>
            <a:endCxn id="24" idx="1"/>
          </p:cNvCxnSpPr>
          <p:nvPr/>
        </p:nvCxnSpPr>
        <p:spPr>
          <a:xfrm rot="16200000" flipH="1">
            <a:off x="2257831" y="2675219"/>
            <a:ext cx="326038" cy="1065153"/>
          </a:xfrm>
          <a:prstGeom prst="bentConnector2">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Connector: Elbow 19">
            <a:extLst>
              <a:ext uri="{FF2B5EF4-FFF2-40B4-BE49-F238E27FC236}">
                <a16:creationId xmlns:a16="http://schemas.microsoft.com/office/drawing/2014/main" id="{C97470BB-020E-5F97-8D7F-DDB35B90D090}"/>
              </a:ext>
            </a:extLst>
          </p:cNvPr>
          <p:cNvCxnSpPr>
            <a:cxnSpLocks/>
            <a:stCxn id="9" idx="2"/>
            <a:endCxn id="11" idx="0"/>
          </p:cNvCxnSpPr>
          <p:nvPr/>
        </p:nvCxnSpPr>
        <p:spPr>
          <a:xfrm rot="5400000">
            <a:off x="3560875" y="1979555"/>
            <a:ext cx="796761" cy="741810"/>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7E44311E-B482-D751-F32B-F155ED1BB13F}"/>
              </a:ext>
            </a:extLst>
          </p:cNvPr>
          <p:cNvCxnSpPr>
            <a:cxnSpLocks/>
            <a:stCxn id="11" idx="1"/>
            <a:endCxn id="10" idx="3"/>
          </p:cNvCxnSpPr>
          <p:nvPr/>
        </p:nvCxnSpPr>
        <p:spPr>
          <a:xfrm flipH="1">
            <a:off x="2458859" y="2892841"/>
            <a:ext cx="482053" cy="7936"/>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2" name="Rectangle 21">
            <a:extLst>
              <a:ext uri="{FF2B5EF4-FFF2-40B4-BE49-F238E27FC236}">
                <a16:creationId xmlns:a16="http://schemas.microsoft.com/office/drawing/2014/main" id="{37A885F2-BE1A-F9F5-1DB4-18CE53A2DF0D}"/>
              </a:ext>
            </a:extLst>
          </p:cNvPr>
          <p:cNvSpPr/>
          <p:nvPr/>
        </p:nvSpPr>
        <p:spPr>
          <a:xfrm>
            <a:off x="4406346" y="2748841"/>
            <a:ext cx="1294876" cy="28800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Servicio de Caché de Datos Omnicanal</a:t>
            </a:r>
          </a:p>
        </p:txBody>
      </p:sp>
      <p:cxnSp>
        <p:nvCxnSpPr>
          <p:cNvPr id="23" name="Connector: Elbow 22">
            <a:extLst>
              <a:ext uri="{FF2B5EF4-FFF2-40B4-BE49-F238E27FC236}">
                <a16:creationId xmlns:a16="http://schemas.microsoft.com/office/drawing/2014/main" id="{DBADBDCB-BC08-857B-5D1A-8FE213AD239B}"/>
              </a:ext>
            </a:extLst>
          </p:cNvPr>
          <p:cNvCxnSpPr>
            <a:cxnSpLocks/>
            <a:stCxn id="9" idx="2"/>
            <a:endCxn id="22" idx="0"/>
          </p:cNvCxnSpPr>
          <p:nvPr/>
        </p:nvCxnSpPr>
        <p:spPr>
          <a:xfrm rot="16200000" flipH="1">
            <a:off x="4293592" y="1988648"/>
            <a:ext cx="796761" cy="723624"/>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458C254B-48AC-F610-9B39-E259B3215509}"/>
              </a:ext>
            </a:extLst>
          </p:cNvPr>
          <p:cNvSpPr/>
          <p:nvPr/>
        </p:nvSpPr>
        <p:spPr>
          <a:xfrm>
            <a:off x="2953427" y="3226815"/>
            <a:ext cx="987809"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Paso 1 del flujo de trabajo</a:t>
            </a:r>
          </a:p>
        </p:txBody>
      </p:sp>
      <p:sp>
        <p:nvSpPr>
          <p:cNvPr id="25" name="Rectangle 24">
            <a:extLst>
              <a:ext uri="{FF2B5EF4-FFF2-40B4-BE49-F238E27FC236}">
                <a16:creationId xmlns:a16="http://schemas.microsoft.com/office/drawing/2014/main" id="{BF4E537D-77E4-DBF6-C40D-3331131C3E01}"/>
              </a:ext>
            </a:extLst>
          </p:cNvPr>
          <p:cNvSpPr/>
          <p:nvPr/>
        </p:nvSpPr>
        <p:spPr>
          <a:xfrm>
            <a:off x="2953427" y="3576396"/>
            <a:ext cx="987809"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Paso 2 del flujo de trabajo</a:t>
            </a:r>
          </a:p>
        </p:txBody>
      </p:sp>
      <p:cxnSp>
        <p:nvCxnSpPr>
          <p:cNvPr id="26" name="Connector: Elbow 25">
            <a:extLst>
              <a:ext uri="{FF2B5EF4-FFF2-40B4-BE49-F238E27FC236}">
                <a16:creationId xmlns:a16="http://schemas.microsoft.com/office/drawing/2014/main" id="{92156FCD-B4AB-0AB7-323A-9FA6B58361F6}"/>
              </a:ext>
            </a:extLst>
          </p:cNvPr>
          <p:cNvCxnSpPr>
            <a:cxnSpLocks/>
            <a:stCxn id="10" idx="2"/>
            <a:endCxn id="25" idx="1"/>
          </p:cNvCxnSpPr>
          <p:nvPr/>
        </p:nvCxnSpPr>
        <p:spPr>
          <a:xfrm rot="16200000" flipH="1">
            <a:off x="2083041" y="2850009"/>
            <a:ext cx="675619" cy="1065153"/>
          </a:xfrm>
          <a:prstGeom prst="bentConnector2">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7" name="Rectangle 26">
            <a:extLst>
              <a:ext uri="{FF2B5EF4-FFF2-40B4-BE49-F238E27FC236}">
                <a16:creationId xmlns:a16="http://schemas.microsoft.com/office/drawing/2014/main" id="{0ED9F03B-CA86-D080-90EC-ACA90E9F614F}"/>
              </a:ext>
            </a:extLst>
          </p:cNvPr>
          <p:cNvSpPr/>
          <p:nvPr/>
        </p:nvSpPr>
        <p:spPr>
          <a:xfrm>
            <a:off x="2953427" y="3925977"/>
            <a:ext cx="987809"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Paso 2 del flujo de trabajo</a:t>
            </a:r>
          </a:p>
        </p:txBody>
      </p:sp>
      <p:cxnSp>
        <p:nvCxnSpPr>
          <p:cNvPr id="28" name="Connector: Elbow 27">
            <a:extLst>
              <a:ext uri="{FF2B5EF4-FFF2-40B4-BE49-F238E27FC236}">
                <a16:creationId xmlns:a16="http://schemas.microsoft.com/office/drawing/2014/main" id="{84F4FECC-8DCB-B653-A5AE-262CB2ECC820}"/>
              </a:ext>
            </a:extLst>
          </p:cNvPr>
          <p:cNvCxnSpPr>
            <a:cxnSpLocks/>
            <a:stCxn id="10" idx="2"/>
            <a:endCxn id="27" idx="1"/>
          </p:cNvCxnSpPr>
          <p:nvPr/>
        </p:nvCxnSpPr>
        <p:spPr>
          <a:xfrm rot="16200000" flipH="1">
            <a:off x="1908250" y="3024800"/>
            <a:ext cx="1025200" cy="1065153"/>
          </a:xfrm>
          <a:prstGeom prst="bentConnector2">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9" name="Rectangle 28">
            <a:extLst>
              <a:ext uri="{FF2B5EF4-FFF2-40B4-BE49-F238E27FC236}">
                <a16:creationId xmlns:a16="http://schemas.microsoft.com/office/drawing/2014/main" id="{662E71B0-9585-6F8A-8585-AFF7AFD032DA}"/>
              </a:ext>
            </a:extLst>
          </p:cNvPr>
          <p:cNvSpPr/>
          <p:nvPr/>
        </p:nvSpPr>
        <p:spPr>
          <a:xfrm>
            <a:off x="4440646" y="3793267"/>
            <a:ext cx="1226276" cy="420329"/>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Servicios de acceso a datos omnicanal</a:t>
            </a:r>
          </a:p>
        </p:txBody>
      </p:sp>
      <p:sp>
        <p:nvSpPr>
          <p:cNvPr id="30" name="Rectangle 29">
            <a:extLst>
              <a:ext uri="{FF2B5EF4-FFF2-40B4-BE49-F238E27FC236}">
                <a16:creationId xmlns:a16="http://schemas.microsoft.com/office/drawing/2014/main" id="{5F749E06-8C66-5D1C-3CA3-4A520C8C2727}"/>
              </a:ext>
            </a:extLst>
          </p:cNvPr>
          <p:cNvSpPr/>
          <p:nvPr/>
        </p:nvSpPr>
        <p:spPr>
          <a:xfrm>
            <a:off x="4548145" y="4488722"/>
            <a:ext cx="1016798" cy="819647"/>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OSE/Cloud</a:t>
            </a:r>
          </a:p>
        </p:txBody>
      </p:sp>
      <p:sp>
        <p:nvSpPr>
          <p:cNvPr id="31" name="Flowchart: Magnetic Disk 30">
            <a:extLst>
              <a:ext uri="{FF2B5EF4-FFF2-40B4-BE49-F238E27FC236}">
                <a16:creationId xmlns:a16="http://schemas.microsoft.com/office/drawing/2014/main" id="{D134E423-418F-BB0C-21BE-2EF5864A0E60}"/>
              </a:ext>
            </a:extLst>
          </p:cNvPr>
          <p:cNvSpPr/>
          <p:nvPr/>
        </p:nvSpPr>
        <p:spPr>
          <a:xfrm>
            <a:off x="4582380" y="4617341"/>
            <a:ext cx="942808" cy="544157"/>
          </a:xfrm>
          <a:prstGeom prst="flowChartMagneticDisk">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Almacenamiento de datos omnicanal</a:t>
            </a:r>
          </a:p>
        </p:txBody>
      </p:sp>
      <p:cxnSp>
        <p:nvCxnSpPr>
          <p:cNvPr id="32" name="Straight Arrow Connector 31">
            <a:extLst>
              <a:ext uri="{FF2B5EF4-FFF2-40B4-BE49-F238E27FC236}">
                <a16:creationId xmlns:a16="http://schemas.microsoft.com/office/drawing/2014/main" id="{5EFDC3DE-329F-926D-3A36-183CE206740A}"/>
              </a:ext>
            </a:extLst>
          </p:cNvPr>
          <p:cNvCxnSpPr>
            <a:cxnSpLocks/>
          </p:cNvCxnSpPr>
          <p:nvPr/>
        </p:nvCxnSpPr>
        <p:spPr>
          <a:xfrm>
            <a:off x="5047044" y="3036841"/>
            <a:ext cx="0" cy="756426"/>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D91F7481-C59E-ACF8-C34C-CC34028AC0F0}"/>
              </a:ext>
            </a:extLst>
          </p:cNvPr>
          <p:cNvCxnSpPr>
            <a:cxnSpLocks/>
          </p:cNvCxnSpPr>
          <p:nvPr/>
        </p:nvCxnSpPr>
        <p:spPr>
          <a:xfrm>
            <a:off x="5050042" y="4213596"/>
            <a:ext cx="1" cy="403745"/>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4" name="Rectangle 33">
            <a:extLst>
              <a:ext uri="{FF2B5EF4-FFF2-40B4-BE49-F238E27FC236}">
                <a16:creationId xmlns:a16="http://schemas.microsoft.com/office/drawing/2014/main" id="{6DE6717F-5E19-A652-F099-286B0629AB18}"/>
              </a:ext>
            </a:extLst>
          </p:cNvPr>
          <p:cNvSpPr/>
          <p:nvPr/>
        </p:nvSpPr>
        <p:spPr>
          <a:xfrm>
            <a:off x="5571719" y="2558054"/>
            <a:ext cx="600122" cy="222519"/>
          </a:xfrm>
          <a:prstGeom prst="rect">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lvl="0" algn="ctr">
              <a:defRPr/>
            </a:pPr>
            <a:r>
              <a:rPr lang="es" sz="700" dirty="0">
                <a:solidFill>
                  <a:srgbClr val="FFFFFF"/>
                </a:solidFill>
              </a:rPr>
              <a:t>Componente customizado</a:t>
            </a:r>
          </a:p>
        </p:txBody>
      </p:sp>
      <p:sp>
        <p:nvSpPr>
          <p:cNvPr id="35" name="Rectangle 34">
            <a:extLst>
              <a:ext uri="{FF2B5EF4-FFF2-40B4-BE49-F238E27FC236}">
                <a16:creationId xmlns:a16="http://schemas.microsoft.com/office/drawing/2014/main" id="{5E0317C0-5817-234A-5ABB-CB5BFC89E639}"/>
              </a:ext>
            </a:extLst>
          </p:cNvPr>
          <p:cNvSpPr/>
          <p:nvPr/>
        </p:nvSpPr>
        <p:spPr>
          <a:xfrm>
            <a:off x="5411021" y="4506017"/>
            <a:ext cx="600122" cy="222519"/>
          </a:xfrm>
          <a:prstGeom prst="rect">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lvl="0" algn="ctr">
              <a:defRPr/>
            </a:pPr>
            <a:r>
              <a:rPr lang="es" sz="700" dirty="0">
                <a:solidFill>
                  <a:srgbClr val="FFFFFF"/>
                </a:solidFill>
              </a:rPr>
              <a:t>Componente customizado</a:t>
            </a:r>
          </a:p>
        </p:txBody>
      </p:sp>
      <p:sp>
        <p:nvSpPr>
          <p:cNvPr id="36" name="Rectangle 35">
            <a:extLst>
              <a:ext uri="{FF2B5EF4-FFF2-40B4-BE49-F238E27FC236}">
                <a16:creationId xmlns:a16="http://schemas.microsoft.com/office/drawing/2014/main" id="{41D63737-5E59-5AEA-886F-DD03FC5D133B}"/>
              </a:ext>
            </a:extLst>
          </p:cNvPr>
          <p:cNvSpPr/>
          <p:nvPr/>
        </p:nvSpPr>
        <p:spPr>
          <a:xfrm>
            <a:off x="3781284" y="2541131"/>
            <a:ext cx="600122" cy="222519"/>
          </a:xfrm>
          <a:prstGeom prst="rect">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FFFFFF"/>
                </a:solidFill>
                <a:effectLst/>
                <a:uLnTx/>
                <a:uFillTx/>
                <a:latin typeface="Graphik"/>
                <a:ea typeface="+mn-ea"/>
                <a:cs typeface="+mn-cs"/>
              </a:rPr>
              <a:t>Componente customizado</a:t>
            </a:r>
          </a:p>
        </p:txBody>
      </p:sp>
      <p:sp>
        <p:nvSpPr>
          <p:cNvPr id="37" name="Rectangle 36">
            <a:extLst>
              <a:ext uri="{FF2B5EF4-FFF2-40B4-BE49-F238E27FC236}">
                <a16:creationId xmlns:a16="http://schemas.microsoft.com/office/drawing/2014/main" id="{5B594EDE-955C-DC9F-DE9A-29613569A6A9}"/>
              </a:ext>
            </a:extLst>
          </p:cNvPr>
          <p:cNvSpPr/>
          <p:nvPr/>
        </p:nvSpPr>
        <p:spPr>
          <a:xfrm>
            <a:off x="3317726" y="1490071"/>
            <a:ext cx="2029722" cy="152083"/>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Canales</a:t>
            </a:r>
          </a:p>
        </p:txBody>
      </p:sp>
      <p:cxnSp>
        <p:nvCxnSpPr>
          <p:cNvPr id="38" name="Straight Arrow Connector 37">
            <a:extLst>
              <a:ext uri="{FF2B5EF4-FFF2-40B4-BE49-F238E27FC236}">
                <a16:creationId xmlns:a16="http://schemas.microsoft.com/office/drawing/2014/main" id="{DFA9C8F4-B086-BA77-68DC-8E10AC2354E3}"/>
              </a:ext>
            </a:extLst>
          </p:cNvPr>
          <p:cNvCxnSpPr>
            <a:cxnSpLocks/>
            <a:stCxn id="37" idx="2"/>
            <a:endCxn id="9" idx="0"/>
          </p:cNvCxnSpPr>
          <p:nvPr/>
        </p:nvCxnSpPr>
        <p:spPr>
          <a:xfrm flipH="1">
            <a:off x="4330160" y="1642154"/>
            <a:ext cx="2427" cy="157843"/>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9" name="Rectangle 38">
            <a:extLst>
              <a:ext uri="{FF2B5EF4-FFF2-40B4-BE49-F238E27FC236}">
                <a16:creationId xmlns:a16="http://schemas.microsoft.com/office/drawing/2014/main" id="{BCCA4AD6-8A0F-B0D7-EA94-4809ED873951}"/>
              </a:ext>
            </a:extLst>
          </p:cNvPr>
          <p:cNvSpPr/>
          <p:nvPr/>
        </p:nvSpPr>
        <p:spPr>
          <a:xfrm>
            <a:off x="5370565" y="3651943"/>
            <a:ext cx="600122" cy="222519"/>
          </a:xfrm>
          <a:prstGeom prst="rect">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lvl="0" algn="ctr">
              <a:defRPr/>
            </a:pPr>
            <a:r>
              <a:rPr lang="es" sz="700" dirty="0">
                <a:solidFill>
                  <a:srgbClr val="FFFFFF"/>
                </a:solidFill>
              </a:rPr>
              <a:t>Componente customizado</a:t>
            </a:r>
          </a:p>
        </p:txBody>
      </p:sp>
      <p:sp>
        <p:nvSpPr>
          <p:cNvPr id="40" name="Rectangle 39">
            <a:extLst>
              <a:ext uri="{FF2B5EF4-FFF2-40B4-BE49-F238E27FC236}">
                <a16:creationId xmlns:a16="http://schemas.microsoft.com/office/drawing/2014/main" id="{08B95971-22F0-C87B-9FC4-220DD165B59E}"/>
              </a:ext>
            </a:extLst>
          </p:cNvPr>
          <p:cNvSpPr/>
          <p:nvPr/>
        </p:nvSpPr>
        <p:spPr>
          <a:xfrm>
            <a:off x="956106" y="2554069"/>
            <a:ext cx="600122" cy="222519"/>
          </a:xfrm>
          <a:prstGeom prst="rect">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FFFFFF"/>
                </a:solidFill>
                <a:effectLst/>
                <a:uLnTx/>
                <a:uFillTx/>
                <a:latin typeface="Graphik"/>
                <a:ea typeface="+mn-ea"/>
                <a:cs typeface="+mn-cs"/>
              </a:rPr>
              <a:t>3ª parte</a:t>
            </a:r>
          </a:p>
        </p:txBody>
      </p:sp>
      <p:sp>
        <p:nvSpPr>
          <p:cNvPr id="41" name="Rectangle 40">
            <a:extLst>
              <a:ext uri="{FF2B5EF4-FFF2-40B4-BE49-F238E27FC236}">
                <a16:creationId xmlns:a16="http://schemas.microsoft.com/office/drawing/2014/main" id="{959A8820-9B10-4BB2-5690-4A0629F2ED43}"/>
              </a:ext>
            </a:extLst>
          </p:cNvPr>
          <p:cNvSpPr/>
          <p:nvPr/>
        </p:nvSpPr>
        <p:spPr>
          <a:xfrm>
            <a:off x="7860146" y="5585430"/>
            <a:ext cx="3439086" cy="205327"/>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Componentes principales de esta capacidad</a:t>
            </a:r>
          </a:p>
        </p:txBody>
      </p:sp>
      <p:sp>
        <p:nvSpPr>
          <p:cNvPr id="43" name="Rectangle 42">
            <a:extLst>
              <a:ext uri="{FF2B5EF4-FFF2-40B4-BE49-F238E27FC236}">
                <a16:creationId xmlns:a16="http://schemas.microsoft.com/office/drawing/2014/main" id="{D4B5C774-0A5F-0E5F-B233-9B9D32BE2897}"/>
              </a:ext>
            </a:extLst>
          </p:cNvPr>
          <p:cNvSpPr/>
          <p:nvPr/>
        </p:nvSpPr>
        <p:spPr>
          <a:xfrm>
            <a:off x="7860146" y="5819582"/>
            <a:ext cx="3439086" cy="187603"/>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Componentes de otras capacidades relacionadas</a:t>
            </a:r>
          </a:p>
        </p:txBody>
      </p:sp>
      <p:sp>
        <p:nvSpPr>
          <p:cNvPr id="45" name="Rectangle 44">
            <a:extLst>
              <a:ext uri="{FF2B5EF4-FFF2-40B4-BE49-F238E27FC236}">
                <a16:creationId xmlns:a16="http://schemas.microsoft.com/office/drawing/2014/main" id="{50650E2E-78F7-9184-9FE3-6EA7800A62F7}"/>
              </a:ext>
            </a:extLst>
          </p:cNvPr>
          <p:cNvSpPr/>
          <p:nvPr/>
        </p:nvSpPr>
        <p:spPr>
          <a:xfrm>
            <a:off x="7860145" y="6036007"/>
            <a:ext cx="3439086" cy="165055"/>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Componentes funcionales relacionados con esta capacidad</a:t>
            </a:r>
          </a:p>
        </p:txBody>
      </p:sp>
    </p:spTree>
    <p:extLst>
      <p:ext uri="{BB962C8B-B14F-4D97-AF65-F5344CB8AC3E}">
        <p14:creationId xmlns:p14="http://schemas.microsoft.com/office/powerpoint/2010/main" val="216174494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7310E6-66B3-30ED-CE60-A003822B5577}"/>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71E63D46-E8F4-4CD7-98DA-321570B8C866}"/>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alpha val="65000"/>
                  </a:srgbClr>
                </a:solidFill>
                <a:effectLst/>
                <a:uLnTx/>
                <a:uFillTx/>
                <a:latin typeface="Graphik"/>
                <a:ea typeface="+mn-ea"/>
                <a:cs typeface="+mn-cs"/>
              </a:rPr>
              <a:t>Copyright © 2025 Accenture. Todos los derechos reservados.</a:t>
            </a:r>
          </a:p>
        </p:txBody>
      </p:sp>
      <p:sp>
        <p:nvSpPr>
          <p:cNvPr id="118" name="Title 1">
            <a:extLst>
              <a:ext uri="{FF2B5EF4-FFF2-40B4-BE49-F238E27FC236}">
                <a16:creationId xmlns:a16="http://schemas.microsoft.com/office/drawing/2014/main" id="{F311FD0B-ADDD-F7F2-C3C4-A50A057062F3}"/>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a:ln>
                  <a:noFill/>
                </a:ln>
                <a:solidFill>
                  <a:srgbClr val="7500C0"/>
                </a:solidFill>
                <a:effectLst/>
                <a:uLnTx/>
                <a:uFillTx/>
                <a:latin typeface="Graphik"/>
                <a:ea typeface="+mj-ea"/>
                <a:cs typeface="+mj-cs"/>
              </a:rPr>
              <a:t>Activo de Interoperabilidad </a:t>
            </a:r>
            <a:r>
              <a:rPr kumimoji="0" lang="es" sz="2400" b="1" i="0" u="none" strike="noStrike" kern="1200" cap="none" spc="0" normalizeH="0" baseline="0" noProof="0">
                <a:ln>
                  <a:noFill/>
                </a:ln>
                <a:solidFill>
                  <a:srgbClr val="000000"/>
                </a:solidFill>
                <a:effectLst/>
                <a:uLnTx/>
                <a:uFillTx/>
                <a:latin typeface="Graphik"/>
                <a:ea typeface="+mj-ea"/>
                <a:cs typeface="+mj-cs"/>
              </a:rPr>
              <a:t>| </a:t>
            </a:r>
            <a:r>
              <a:rPr kumimoji="0" lang="es" sz="2000" b="1" i="0" u="none" strike="noStrike" kern="1200" cap="none" spc="0" normalizeH="0" baseline="0" noProof="0">
                <a:ln>
                  <a:noFill/>
                </a:ln>
                <a:solidFill>
                  <a:srgbClr val="000000"/>
                </a:solidFill>
                <a:effectLst/>
                <a:uLnTx/>
                <a:uFillTx/>
                <a:latin typeface="Graphik"/>
                <a:ea typeface="+mj-ea"/>
                <a:cs typeface="+mj-cs"/>
              </a:rPr>
              <a:t>Omnicanal</a:t>
            </a:r>
            <a:endParaRPr kumimoji="0" lang="es" sz="2400" b="1" i="0" u="none" strike="noStrike" kern="1200" cap="none" spc="0" normalizeH="0" baseline="0" noProof="0">
              <a:ln>
                <a:noFill/>
              </a:ln>
              <a:solidFill>
                <a:srgbClr val="000000"/>
              </a:solidFill>
              <a:effectLst/>
              <a:uLnTx/>
              <a:uFillTx/>
              <a:latin typeface="Graphik"/>
              <a:ea typeface="+mj-ea"/>
              <a:cs typeface="+mj-cs"/>
            </a:endParaRPr>
          </a:p>
        </p:txBody>
      </p:sp>
      <p:sp>
        <p:nvSpPr>
          <p:cNvPr id="119" name="Content Placeholder 34">
            <a:extLst>
              <a:ext uri="{FF2B5EF4-FFF2-40B4-BE49-F238E27FC236}">
                <a16:creationId xmlns:a16="http://schemas.microsoft.com/office/drawing/2014/main" id="{A8EB0F61-5CB0-B6A2-CAF4-25A929242AB8}"/>
              </a:ext>
            </a:extLst>
          </p:cNvPr>
          <p:cNvSpPr txBox="1">
            <a:spLocks/>
          </p:cNvSpPr>
          <p:nvPr/>
        </p:nvSpPr>
        <p:spPr>
          <a:xfrm>
            <a:off x="285990" y="641993"/>
            <a:ext cx="11430000" cy="246221"/>
          </a:xfrm>
          <a:prstGeom prst="rect">
            <a:avLst/>
          </a:prstGeom>
        </p:spPr>
        <p:txBody>
          <a:bodyPr/>
          <a:lstStyle>
            <a:lvl1pPr marL="228600" indent="-228600" algn="l" defTabSz="228600" rtl="0" eaLnBrk="1" latinLnBrk="0" hangingPunct="1">
              <a:lnSpc>
                <a:spcPct val="100000"/>
              </a:lnSpc>
              <a:spcBef>
                <a:spcPts val="0"/>
              </a:spcBef>
              <a:spcAft>
                <a:spcPts val="600"/>
              </a:spcAft>
              <a:buFont typeface="Arial"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Arial"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Arial"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Arial"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Arial"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Arial" panose="020B0604020202020204" pitchFamily="34" charset="0"/>
              <a:buNone/>
              <a:defRPr sz="800" kern="1200">
                <a:solidFill>
                  <a:schemeClr val="tx2"/>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s" sz="1600" b="1" i="0" u="none" strike="noStrike" kern="1200" cap="none" spc="0" normalizeH="0" baseline="0" noProof="0">
                <a:ln>
                  <a:noFill/>
                </a:ln>
                <a:solidFill>
                  <a:srgbClr val="7500C0"/>
                </a:solidFill>
                <a:effectLst/>
                <a:uLnTx/>
                <a:uFillTx/>
                <a:latin typeface="Graphik" panose="020B0503030202060203" pitchFamily="34" charset="0"/>
                <a:ea typeface="+mn-ea"/>
                <a:cs typeface="+mn-cs"/>
              </a:rPr>
              <a:t>Aprobaciones</a:t>
            </a:r>
          </a:p>
        </p:txBody>
      </p:sp>
      <p:grpSp>
        <p:nvGrpSpPr>
          <p:cNvPr id="4" name="Group 3">
            <a:extLst>
              <a:ext uri="{FF2B5EF4-FFF2-40B4-BE49-F238E27FC236}">
                <a16:creationId xmlns:a16="http://schemas.microsoft.com/office/drawing/2014/main" id="{6E5489CC-7058-D604-4BD6-24CDD4379F78}"/>
              </a:ext>
            </a:extLst>
          </p:cNvPr>
          <p:cNvGrpSpPr/>
          <p:nvPr/>
        </p:nvGrpSpPr>
        <p:grpSpPr>
          <a:xfrm>
            <a:off x="9914018" y="286451"/>
            <a:ext cx="1862854" cy="253275"/>
            <a:chOff x="9929190" y="421028"/>
            <a:chExt cx="1862854" cy="253275"/>
          </a:xfrm>
        </p:grpSpPr>
        <p:sp>
          <p:nvSpPr>
            <p:cNvPr id="5" name="TextBox 4">
              <a:extLst>
                <a:ext uri="{FF2B5EF4-FFF2-40B4-BE49-F238E27FC236}">
                  <a16:creationId xmlns:a16="http://schemas.microsoft.com/office/drawing/2014/main" id="{AA0AF132-7301-D357-3EF7-B0040C88D63F}"/>
                </a:ext>
              </a:extLst>
            </p:cNvPr>
            <p:cNvSpPr txBox="1"/>
            <p:nvPr/>
          </p:nvSpPr>
          <p:spPr>
            <a:xfrm>
              <a:off x="9936972" y="460821"/>
              <a:ext cx="1847290" cy="173690"/>
            </a:xfrm>
            <a:prstGeom prst="rect">
              <a:avLst/>
            </a:prstGeom>
            <a:noFill/>
          </p:spPr>
          <p:txBody>
            <a:bodyPr wrap="none" lIns="0" tIns="0" rIns="0" bIns="0" rtlCol="0">
              <a:noAutofit/>
            </a:bodyPr>
            <a:lstStyle/>
            <a:p>
              <a:pPr marL="0" marR="0" lvl="0" indent="0" algn="l" defTabSz="228600" rtl="0" eaLnBrk="1" fontAlgn="auto" latinLnBrk="0" hangingPunct="1">
                <a:lnSpc>
                  <a:spcPct val="100000"/>
                </a:lnSpc>
                <a:spcBef>
                  <a:spcPts val="0"/>
                </a:spcBef>
                <a:spcAft>
                  <a:spcPts val="1200"/>
                </a:spcAft>
                <a:buClrTx/>
                <a:buSzTx/>
                <a:buFontTx/>
                <a:buNone/>
                <a:tabLst/>
                <a:defRPr/>
              </a:pPr>
              <a:r>
                <a:rPr kumimoji="0" lang="es" sz="1100" b="0" i="0" u="none" strike="noStrike" kern="1200" cap="none" spc="0" normalizeH="0" baseline="0" noProof="0">
                  <a:ln>
                    <a:noFill/>
                  </a:ln>
                  <a:solidFill>
                    <a:srgbClr val="000000"/>
                  </a:solidFill>
                  <a:effectLst/>
                  <a:uLnTx/>
                  <a:uFillTx/>
                  <a:latin typeface="Graphik"/>
                  <a:ea typeface="+mn-ea"/>
                  <a:cs typeface="+mn-cs"/>
                </a:rPr>
                <a:t>Ilustrativo no exhaustivo</a:t>
              </a:r>
            </a:p>
          </p:txBody>
        </p:sp>
        <p:cxnSp>
          <p:nvCxnSpPr>
            <p:cNvPr id="6" name="Straight Connector 5">
              <a:extLst>
                <a:ext uri="{FF2B5EF4-FFF2-40B4-BE49-F238E27FC236}">
                  <a16:creationId xmlns:a16="http://schemas.microsoft.com/office/drawing/2014/main" id="{26E8E0AE-6D36-2B76-4A32-825726E146F5}"/>
                </a:ext>
              </a:extLst>
            </p:cNvPr>
            <p:cNvCxnSpPr>
              <a:cxnSpLocks/>
            </p:cNvCxnSpPr>
            <p:nvPr/>
          </p:nvCxnSpPr>
          <p:spPr>
            <a:xfrm>
              <a:off x="9929190" y="421028"/>
              <a:ext cx="186285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D4933252-8AAF-84D9-C524-E6DE5EC1EABE}"/>
                </a:ext>
              </a:extLst>
            </p:cNvPr>
            <p:cNvCxnSpPr>
              <a:cxnSpLocks/>
            </p:cNvCxnSpPr>
            <p:nvPr/>
          </p:nvCxnSpPr>
          <p:spPr>
            <a:xfrm>
              <a:off x="9929190" y="674303"/>
              <a:ext cx="186285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8" name="Rectangle 7">
            <a:extLst>
              <a:ext uri="{FF2B5EF4-FFF2-40B4-BE49-F238E27FC236}">
                <a16:creationId xmlns:a16="http://schemas.microsoft.com/office/drawing/2014/main" id="{003ECD63-634F-8FA5-354E-FD6B562CAFFC}"/>
              </a:ext>
            </a:extLst>
          </p:cNvPr>
          <p:cNvSpPr/>
          <p:nvPr/>
        </p:nvSpPr>
        <p:spPr>
          <a:xfrm>
            <a:off x="2404738" y="1942755"/>
            <a:ext cx="4253422" cy="2696737"/>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90000" tIns="90000" rIns="90000" bIns="900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Marco de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Microservicios </a:t>
            </a:r>
          </a:p>
        </p:txBody>
      </p:sp>
      <p:sp>
        <p:nvSpPr>
          <p:cNvPr id="9" name="Rectangle 8">
            <a:extLst>
              <a:ext uri="{FF2B5EF4-FFF2-40B4-BE49-F238E27FC236}">
                <a16:creationId xmlns:a16="http://schemas.microsoft.com/office/drawing/2014/main" id="{5AA89045-3599-A308-C8F5-B87A8DF536EB}"/>
              </a:ext>
            </a:extLst>
          </p:cNvPr>
          <p:cNvSpPr/>
          <p:nvPr/>
        </p:nvSpPr>
        <p:spPr>
          <a:xfrm>
            <a:off x="4243715" y="1615171"/>
            <a:ext cx="2029722" cy="152083"/>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API Gateway</a:t>
            </a:r>
          </a:p>
        </p:txBody>
      </p:sp>
      <p:sp>
        <p:nvSpPr>
          <p:cNvPr id="10" name="Rectangle 9">
            <a:extLst>
              <a:ext uri="{FF2B5EF4-FFF2-40B4-BE49-F238E27FC236}">
                <a16:creationId xmlns:a16="http://schemas.microsoft.com/office/drawing/2014/main" id="{5E31C9DA-70E0-E2CE-12A4-DC6399E3CDE3}"/>
              </a:ext>
            </a:extLst>
          </p:cNvPr>
          <p:cNvSpPr/>
          <p:nvPr/>
        </p:nvSpPr>
        <p:spPr>
          <a:xfrm>
            <a:off x="866692" y="3191383"/>
            <a:ext cx="1203059" cy="288000"/>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Herramienta de flujo de trabajo</a:t>
            </a:r>
          </a:p>
        </p:txBody>
      </p:sp>
      <p:sp>
        <p:nvSpPr>
          <p:cNvPr id="11" name="Rectangle 10">
            <a:extLst>
              <a:ext uri="{FF2B5EF4-FFF2-40B4-BE49-F238E27FC236}">
                <a16:creationId xmlns:a16="http://schemas.microsoft.com/office/drawing/2014/main" id="{35CA32BB-EAB2-3208-8933-39AB45F4B79C}"/>
              </a:ext>
            </a:extLst>
          </p:cNvPr>
          <p:cNvSpPr/>
          <p:nvPr/>
        </p:nvSpPr>
        <p:spPr>
          <a:xfrm>
            <a:off x="2551804" y="3183447"/>
            <a:ext cx="1294876" cy="288000"/>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Servicios de flujo de trabajo</a:t>
            </a:r>
          </a:p>
        </p:txBody>
      </p:sp>
      <p:grpSp>
        <p:nvGrpSpPr>
          <p:cNvPr id="12" name="Group 11">
            <a:extLst>
              <a:ext uri="{FF2B5EF4-FFF2-40B4-BE49-F238E27FC236}">
                <a16:creationId xmlns:a16="http://schemas.microsoft.com/office/drawing/2014/main" id="{429EC116-BCB6-841E-A85A-0508D56264F1}"/>
              </a:ext>
            </a:extLst>
          </p:cNvPr>
          <p:cNvGrpSpPr/>
          <p:nvPr/>
        </p:nvGrpSpPr>
        <p:grpSpPr>
          <a:xfrm>
            <a:off x="6400553" y="1854422"/>
            <a:ext cx="612000" cy="180000"/>
            <a:chOff x="2436880" y="1158097"/>
            <a:chExt cx="1080000" cy="360000"/>
          </a:xfrm>
          <a:solidFill>
            <a:schemeClr val="bg1"/>
          </a:solidFill>
        </p:grpSpPr>
        <p:sp>
          <p:nvSpPr>
            <p:cNvPr id="13" name="Rectangle 12">
              <a:extLst>
                <a:ext uri="{FF2B5EF4-FFF2-40B4-BE49-F238E27FC236}">
                  <a16:creationId xmlns:a16="http://schemas.microsoft.com/office/drawing/2014/main" id="{FD100289-C23C-B20E-5AC4-D4A5164ABA6C}"/>
                </a:ext>
              </a:extLst>
            </p:cNvPr>
            <p:cNvSpPr/>
            <p:nvPr/>
          </p:nvSpPr>
          <p:spPr>
            <a:xfrm>
              <a:off x="2436880" y="1158097"/>
              <a:ext cx="1080000" cy="360000"/>
            </a:xfrm>
            <a:prstGeom prst="rect">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OpenShift</a:t>
              </a:r>
            </a:p>
          </p:txBody>
        </p:sp>
        <p:pic>
          <p:nvPicPr>
            <p:cNvPr id="14" name="Picture 13">
              <a:extLst>
                <a:ext uri="{FF2B5EF4-FFF2-40B4-BE49-F238E27FC236}">
                  <a16:creationId xmlns:a16="http://schemas.microsoft.com/office/drawing/2014/main" id="{C748D03F-A5FA-5ECE-018F-6ECBA4B8195A}"/>
                </a:ext>
              </a:extLst>
            </p:cNvPr>
            <p:cNvPicPr>
              <a:picLocks noChangeAspect="1"/>
            </p:cNvPicPr>
            <p:nvPr/>
          </p:nvPicPr>
          <p:blipFill>
            <a:blip r:embed="rId2"/>
            <a:stretch>
              <a:fillRect/>
            </a:stretch>
          </p:blipFill>
          <p:spPr>
            <a:xfrm>
              <a:off x="2470229" y="1215368"/>
              <a:ext cx="1013303" cy="245459"/>
            </a:xfrm>
            <a:prstGeom prst="rect">
              <a:avLst/>
            </a:prstGeom>
            <a:grpFill/>
          </p:spPr>
        </p:pic>
      </p:grpSp>
      <p:sp>
        <p:nvSpPr>
          <p:cNvPr id="15" name="TextBox 14">
            <a:extLst>
              <a:ext uri="{FF2B5EF4-FFF2-40B4-BE49-F238E27FC236}">
                <a16:creationId xmlns:a16="http://schemas.microsoft.com/office/drawing/2014/main" id="{E6D1EB12-FAD6-1786-0252-DAD5228576AE}"/>
              </a:ext>
            </a:extLst>
          </p:cNvPr>
          <p:cNvSpPr txBox="1"/>
          <p:nvPr/>
        </p:nvSpPr>
        <p:spPr>
          <a:xfrm>
            <a:off x="7333618" y="1408519"/>
            <a:ext cx="4307760" cy="4107378"/>
          </a:xfrm>
          <a:prstGeom prst="rect">
            <a:avLst/>
          </a:prstGeom>
          <a:noFill/>
        </p:spPr>
        <p:txBody>
          <a:bodyPr wrap="square" lIns="0" tIns="0" rIns="0" bIns="0" rtlCol="0">
            <a:noAutofit/>
          </a:bodyPr>
          <a:lstStyle/>
          <a:p>
            <a:pPr marL="0" marR="0" lvl="0" indent="0" algn="l" defTabSz="228600" rtl="0" eaLnBrk="1" fontAlgn="auto" latinLnBrk="0" hangingPunct="1">
              <a:lnSpc>
                <a:spcPct val="100000"/>
              </a:lnSpc>
              <a:spcBef>
                <a:spcPts val="0"/>
              </a:spcBef>
              <a:spcAft>
                <a:spcPts val="600"/>
              </a:spcAft>
              <a:buClrTx/>
              <a:buSzTx/>
              <a:buFontTx/>
              <a:buNone/>
              <a:tabLst/>
              <a:defRPr/>
            </a:pPr>
            <a:r>
              <a:rPr kumimoji="0" lang="es" sz="1000" b="1" i="0" u="none" strike="noStrike" kern="1200" cap="none" spc="0" normalizeH="0" baseline="0" noProof="0">
                <a:ln>
                  <a:noFill/>
                </a:ln>
                <a:solidFill>
                  <a:srgbClr val="000000"/>
                </a:solidFill>
                <a:effectLst/>
                <a:uLnTx/>
                <a:uFillTx/>
                <a:latin typeface="Graphik"/>
                <a:ea typeface="+mn-ea"/>
                <a:cs typeface="+mn-cs"/>
              </a:rPr>
              <a:t>Notas</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1000" b="0" i="0" u="none" strike="noStrike" kern="1200" cap="none" spc="0" normalizeH="0" baseline="0" noProof="0">
                <a:ln>
                  <a:noFill/>
                </a:ln>
                <a:solidFill>
                  <a:srgbClr val="000000"/>
                </a:solidFill>
                <a:effectLst/>
                <a:uLnTx/>
                <a:uFillTx/>
                <a:latin typeface="Graphik"/>
                <a:ea typeface="+mn-ea"/>
                <a:cs typeface="+mn-cs"/>
              </a:rPr>
              <a:t>Según los permisos asignados al solicitante del servicio, puede ser necesario un proceso de aprobación.</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1000" b="0" i="0" u="none" strike="noStrike" kern="1200" cap="none" spc="0" normalizeH="0" baseline="0" noProof="0">
                <a:ln>
                  <a:noFill/>
                </a:ln>
                <a:solidFill>
                  <a:srgbClr val="000000"/>
                </a:solidFill>
                <a:effectLst/>
                <a:uLnTx/>
                <a:uFillTx/>
                <a:latin typeface="Graphik"/>
                <a:ea typeface="+mn-ea"/>
                <a:cs typeface="+mn-cs"/>
              </a:rPr>
              <a:t>En ese caso, se intercepta la ejecución del servicio y se activa un flujo de trabajo de aprobación</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1000" b="0" i="0" u="none" strike="noStrike" kern="1200" cap="none" spc="0" normalizeH="0" baseline="0" noProof="0">
                <a:ln>
                  <a:noFill/>
                </a:ln>
                <a:solidFill>
                  <a:srgbClr val="000000"/>
                </a:solidFill>
                <a:effectLst/>
                <a:uLnTx/>
                <a:uFillTx/>
                <a:latin typeface="Graphik"/>
                <a:ea typeface="+mn-ea"/>
                <a:cs typeface="+mn-cs"/>
              </a:rPr>
              <a:t>Ese flujo está controlado por la herramienta de flujo de trabajo y su lista de tareas</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1000" b="0" i="0" u="none" strike="noStrike" kern="1200" cap="none" spc="0" normalizeH="0" baseline="0" noProof="0">
                <a:ln>
                  <a:noFill/>
                </a:ln>
                <a:solidFill>
                  <a:srgbClr val="000000"/>
                </a:solidFill>
                <a:effectLst/>
                <a:uLnTx/>
                <a:uFillTx/>
                <a:latin typeface="Graphik"/>
                <a:ea typeface="+mn-ea"/>
                <a:cs typeface="+mn-cs"/>
              </a:rPr>
              <a:t>El servicio se añade a la base de datos de Aprobaciones Pendientes</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1000" b="0" i="0" u="none" strike="noStrike" kern="1200" cap="none" spc="0" normalizeH="0" baseline="0" noProof="0">
                <a:ln>
                  <a:noFill/>
                </a:ln>
                <a:solidFill>
                  <a:srgbClr val="000000"/>
                </a:solidFill>
                <a:effectLst/>
                <a:uLnTx/>
                <a:uFillTx/>
                <a:latin typeface="Graphik"/>
                <a:ea typeface="+mn-ea"/>
                <a:cs typeface="+mn-cs"/>
              </a:rPr>
              <a:t>La configuración de servicios y reglas está en el registro de servicios, administrado a través de una consola</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1000" b="0" i="0" u="none" strike="noStrike" kern="1200" cap="none" spc="0" normalizeH="0" baseline="0" noProof="0">
                <a:ln>
                  <a:noFill/>
                </a:ln>
                <a:solidFill>
                  <a:srgbClr val="000000"/>
                </a:solidFill>
                <a:effectLst/>
                <a:uLnTx/>
                <a:uFillTx/>
                <a:latin typeface="Graphik"/>
                <a:ea typeface="+mn-ea"/>
                <a:cs typeface="+mn-cs"/>
              </a:rPr>
              <a:t>La herramienta de flujo de trabajo ejecuta el flujo de aprobación según las reglas especificadas para ese servicio (tipo de servicio, rol, etc.)</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1000" b="0" i="0" u="none" strike="noStrike" kern="1200" cap="none" spc="0" normalizeH="0" baseline="0" noProof="0">
                <a:ln>
                  <a:noFill/>
                </a:ln>
                <a:solidFill>
                  <a:srgbClr val="000000"/>
                </a:solidFill>
                <a:effectLst/>
                <a:uLnTx/>
                <a:uFillTx/>
                <a:latin typeface="Graphik"/>
                <a:ea typeface="+mn-ea"/>
                <a:cs typeface="+mn-cs"/>
              </a:rPr>
              <a:t>En algún momento el flujo de trabajo terminará con aprobación, denegación, escalado, etc., y finalmente se completará</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1000" b="0" i="0" u="none" strike="noStrike" kern="1200" cap="none" spc="0" normalizeH="0" baseline="0" noProof="0">
                <a:ln>
                  <a:noFill/>
                </a:ln>
                <a:solidFill>
                  <a:srgbClr val="000000"/>
                </a:solidFill>
                <a:effectLst/>
                <a:uLnTx/>
                <a:uFillTx/>
                <a:latin typeface="Graphik"/>
                <a:ea typeface="+mn-ea"/>
                <a:cs typeface="+mn-cs"/>
              </a:rPr>
              <a:t>La lista de aprobaciones pendientes puede ser controlada por la Consola</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US" sz="1000" b="0" i="0" u="none" strike="noStrike" kern="1200" cap="none" spc="0" normalizeH="0" baseline="0" noProof="0">
              <a:ln>
                <a:noFill/>
              </a:ln>
              <a:solidFill>
                <a:srgbClr val="000000"/>
              </a:solidFill>
              <a:effectLst/>
              <a:uLnTx/>
              <a:uFillTx/>
              <a:latin typeface="Graphik"/>
              <a:ea typeface="+mn-ea"/>
              <a:cs typeface="+mn-cs"/>
            </a:endParaRPr>
          </a:p>
          <a:p>
            <a:pPr marL="0" marR="0" lvl="0" indent="0" algn="l" defTabSz="228600" rtl="0" eaLnBrk="1" fontAlgn="auto" latinLnBrk="0" hangingPunct="1">
              <a:lnSpc>
                <a:spcPct val="100000"/>
              </a:lnSpc>
              <a:spcBef>
                <a:spcPts val="0"/>
              </a:spcBef>
              <a:spcAft>
                <a:spcPts val="60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Graphik"/>
              <a:ea typeface="+mn-ea"/>
              <a:cs typeface="+mn-cs"/>
            </a:endParaRP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US" sz="1000" b="0" i="0" u="none" strike="noStrike" kern="1200" cap="none" spc="0" normalizeH="0" baseline="0" noProof="0">
              <a:ln>
                <a:noFill/>
              </a:ln>
              <a:solidFill>
                <a:srgbClr val="000000"/>
              </a:solidFill>
              <a:effectLst/>
              <a:uLnTx/>
              <a:uFillTx/>
              <a:latin typeface="Graphik"/>
              <a:ea typeface="+mn-ea"/>
              <a:cs typeface="+mn-cs"/>
            </a:endParaRPr>
          </a:p>
        </p:txBody>
      </p:sp>
      <p:cxnSp>
        <p:nvCxnSpPr>
          <p:cNvPr id="19" name="Connector: Elbow 18">
            <a:extLst>
              <a:ext uri="{FF2B5EF4-FFF2-40B4-BE49-F238E27FC236}">
                <a16:creationId xmlns:a16="http://schemas.microsoft.com/office/drawing/2014/main" id="{34EC113C-7528-5974-7836-38EB762AF321}"/>
              </a:ext>
            </a:extLst>
          </p:cNvPr>
          <p:cNvCxnSpPr>
            <a:cxnSpLocks/>
            <a:stCxn id="10" idx="2"/>
            <a:endCxn id="22" idx="1"/>
          </p:cNvCxnSpPr>
          <p:nvPr/>
        </p:nvCxnSpPr>
        <p:spPr>
          <a:xfrm rot="16200000" flipH="1">
            <a:off x="1882972" y="3064633"/>
            <a:ext cx="303630" cy="1133130"/>
          </a:xfrm>
          <a:prstGeom prst="bentConnector2">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E7A96276-8BCA-4AB3-0219-64CEE924D951}"/>
              </a:ext>
            </a:extLst>
          </p:cNvPr>
          <p:cNvCxnSpPr>
            <a:cxnSpLocks/>
            <a:stCxn id="11" idx="1"/>
            <a:endCxn id="10" idx="3"/>
          </p:cNvCxnSpPr>
          <p:nvPr/>
        </p:nvCxnSpPr>
        <p:spPr>
          <a:xfrm flipH="1">
            <a:off x="2069751" y="3327447"/>
            <a:ext cx="482053" cy="7936"/>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Connector: Elbow 20">
            <a:extLst>
              <a:ext uri="{FF2B5EF4-FFF2-40B4-BE49-F238E27FC236}">
                <a16:creationId xmlns:a16="http://schemas.microsoft.com/office/drawing/2014/main" id="{B93DD96E-9FCF-A67B-F458-0814AF7FBC8C}"/>
              </a:ext>
            </a:extLst>
          </p:cNvPr>
          <p:cNvCxnSpPr>
            <a:cxnSpLocks/>
            <a:stCxn id="9" idx="2"/>
            <a:endCxn id="26" idx="0"/>
          </p:cNvCxnSpPr>
          <p:nvPr/>
        </p:nvCxnSpPr>
        <p:spPr>
          <a:xfrm rot="5400000">
            <a:off x="4926267" y="2097615"/>
            <a:ext cx="662670" cy="1949"/>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2" name="Rectangle 21">
            <a:extLst>
              <a:ext uri="{FF2B5EF4-FFF2-40B4-BE49-F238E27FC236}">
                <a16:creationId xmlns:a16="http://schemas.microsoft.com/office/drawing/2014/main" id="{3F119E17-5EAA-7CB4-6E72-468BF8D2C1AA}"/>
              </a:ext>
            </a:extLst>
          </p:cNvPr>
          <p:cNvSpPr/>
          <p:nvPr/>
        </p:nvSpPr>
        <p:spPr>
          <a:xfrm>
            <a:off x="2601352" y="3639013"/>
            <a:ext cx="1524711" cy="28800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Flujo de Trabajo de Aprobación</a:t>
            </a:r>
          </a:p>
        </p:txBody>
      </p:sp>
      <p:sp>
        <p:nvSpPr>
          <p:cNvPr id="23" name="Rectangle 22">
            <a:extLst>
              <a:ext uri="{FF2B5EF4-FFF2-40B4-BE49-F238E27FC236}">
                <a16:creationId xmlns:a16="http://schemas.microsoft.com/office/drawing/2014/main" id="{46ABFDCF-5C27-DC4D-A6B1-4F0D6BD46491}"/>
              </a:ext>
            </a:extLst>
          </p:cNvPr>
          <p:cNvSpPr/>
          <p:nvPr/>
        </p:nvSpPr>
        <p:spPr>
          <a:xfrm>
            <a:off x="4246142" y="1305245"/>
            <a:ext cx="2029722" cy="152083"/>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Canales</a:t>
            </a:r>
          </a:p>
        </p:txBody>
      </p:sp>
      <p:cxnSp>
        <p:nvCxnSpPr>
          <p:cNvPr id="24" name="Straight Arrow Connector 23">
            <a:extLst>
              <a:ext uri="{FF2B5EF4-FFF2-40B4-BE49-F238E27FC236}">
                <a16:creationId xmlns:a16="http://schemas.microsoft.com/office/drawing/2014/main" id="{DF5B066D-0FD2-DC65-CCF5-53C25F5790A9}"/>
              </a:ext>
            </a:extLst>
          </p:cNvPr>
          <p:cNvCxnSpPr>
            <a:cxnSpLocks/>
            <a:stCxn id="23" idx="2"/>
            <a:endCxn id="9" idx="0"/>
          </p:cNvCxnSpPr>
          <p:nvPr/>
        </p:nvCxnSpPr>
        <p:spPr>
          <a:xfrm flipH="1">
            <a:off x="5258576" y="1457328"/>
            <a:ext cx="2427" cy="157843"/>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5" name="Rectangle 24">
            <a:extLst>
              <a:ext uri="{FF2B5EF4-FFF2-40B4-BE49-F238E27FC236}">
                <a16:creationId xmlns:a16="http://schemas.microsoft.com/office/drawing/2014/main" id="{5150C370-7D3A-CA4E-9531-3973B065A79E}"/>
              </a:ext>
            </a:extLst>
          </p:cNvPr>
          <p:cNvSpPr/>
          <p:nvPr/>
        </p:nvSpPr>
        <p:spPr>
          <a:xfrm>
            <a:off x="566998" y="2980723"/>
            <a:ext cx="600122" cy="222519"/>
          </a:xfrm>
          <a:prstGeom prst="rect">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FFFFFF"/>
                </a:solidFill>
                <a:effectLst/>
                <a:uLnTx/>
                <a:uFillTx/>
                <a:latin typeface="Graphik"/>
                <a:ea typeface="+mn-ea"/>
                <a:cs typeface="+mn-cs"/>
              </a:rPr>
              <a:t>3ª parte</a:t>
            </a:r>
          </a:p>
        </p:txBody>
      </p:sp>
      <p:sp>
        <p:nvSpPr>
          <p:cNvPr id="26" name="Rectangle 25">
            <a:extLst>
              <a:ext uri="{FF2B5EF4-FFF2-40B4-BE49-F238E27FC236}">
                <a16:creationId xmlns:a16="http://schemas.microsoft.com/office/drawing/2014/main" id="{5E82B8B4-2181-8B0D-D91C-6C94C7543BCB}"/>
              </a:ext>
            </a:extLst>
          </p:cNvPr>
          <p:cNvSpPr/>
          <p:nvPr/>
        </p:nvSpPr>
        <p:spPr>
          <a:xfrm>
            <a:off x="4517893" y="2429924"/>
            <a:ext cx="1477468"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Servicio de aprobación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habilitado</a:t>
            </a:r>
          </a:p>
        </p:txBody>
      </p:sp>
      <p:cxnSp>
        <p:nvCxnSpPr>
          <p:cNvPr id="27" name="Straight Arrow Connector 26">
            <a:extLst>
              <a:ext uri="{FF2B5EF4-FFF2-40B4-BE49-F238E27FC236}">
                <a16:creationId xmlns:a16="http://schemas.microsoft.com/office/drawing/2014/main" id="{3C592C6B-F395-1F62-F9C9-8F0D8C277CE8}"/>
              </a:ext>
            </a:extLst>
          </p:cNvPr>
          <p:cNvCxnSpPr>
            <a:cxnSpLocks/>
            <a:stCxn id="26" idx="1"/>
            <a:endCxn id="28" idx="3"/>
          </p:cNvCxnSpPr>
          <p:nvPr/>
        </p:nvCxnSpPr>
        <p:spPr>
          <a:xfrm flipH="1" flipV="1">
            <a:off x="3862504" y="2568357"/>
            <a:ext cx="655389" cy="5567"/>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8" name="Rectangle 27">
            <a:extLst>
              <a:ext uri="{FF2B5EF4-FFF2-40B4-BE49-F238E27FC236}">
                <a16:creationId xmlns:a16="http://schemas.microsoft.com/office/drawing/2014/main" id="{8C4091A0-991E-151F-D66C-55DC85B64924}"/>
              </a:ext>
            </a:extLst>
          </p:cNvPr>
          <p:cNvSpPr/>
          <p:nvPr/>
        </p:nvSpPr>
        <p:spPr>
          <a:xfrm>
            <a:off x="2551804" y="2438867"/>
            <a:ext cx="1310700" cy="25898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 sz="900" dirty="0">
                <a:solidFill>
                  <a:srgbClr val="FFFFFF"/>
                </a:solidFill>
                <a:latin typeface="Graphik"/>
              </a:rPr>
              <a:t>Servicio de control de aprobaciones</a:t>
            </a:r>
            <a:endParaRPr kumimoji="0" lang="es" sz="900" b="0" i="0" u="none" strike="noStrike" kern="1200" cap="none" spc="0" normalizeH="0" baseline="0" noProof="0" dirty="0">
              <a:ln>
                <a:noFill/>
              </a:ln>
              <a:solidFill>
                <a:srgbClr val="FFFFFF"/>
              </a:solidFill>
              <a:effectLst/>
              <a:uLnTx/>
              <a:uFillTx/>
              <a:latin typeface="Graphik"/>
              <a:ea typeface="+mn-ea"/>
              <a:cs typeface="+mn-cs"/>
            </a:endParaRPr>
          </a:p>
        </p:txBody>
      </p:sp>
      <p:sp>
        <p:nvSpPr>
          <p:cNvPr id="29" name="Rectangle 28">
            <a:extLst>
              <a:ext uri="{FF2B5EF4-FFF2-40B4-BE49-F238E27FC236}">
                <a16:creationId xmlns:a16="http://schemas.microsoft.com/office/drawing/2014/main" id="{8ACCFB92-CC49-AF41-B1D5-3609AED5ACDF}"/>
              </a:ext>
            </a:extLst>
          </p:cNvPr>
          <p:cNvSpPr/>
          <p:nvPr/>
        </p:nvSpPr>
        <p:spPr>
          <a:xfrm>
            <a:off x="3525941" y="2234672"/>
            <a:ext cx="600122" cy="222519"/>
          </a:xfrm>
          <a:prstGeom prst="rect">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lvl="0" algn="ctr">
              <a:defRPr/>
            </a:pPr>
            <a:r>
              <a:rPr lang="es" sz="700" dirty="0">
                <a:solidFill>
                  <a:srgbClr val="FFFFFF"/>
                </a:solidFill>
              </a:rPr>
              <a:t>Componente customizado</a:t>
            </a:r>
          </a:p>
        </p:txBody>
      </p:sp>
      <p:cxnSp>
        <p:nvCxnSpPr>
          <p:cNvPr id="30" name="Straight Arrow Connector 29">
            <a:extLst>
              <a:ext uri="{FF2B5EF4-FFF2-40B4-BE49-F238E27FC236}">
                <a16:creationId xmlns:a16="http://schemas.microsoft.com/office/drawing/2014/main" id="{89F23DBB-9610-25A1-3F82-DBCF4C849211}"/>
              </a:ext>
            </a:extLst>
          </p:cNvPr>
          <p:cNvCxnSpPr>
            <a:cxnSpLocks/>
            <a:stCxn id="28" idx="2"/>
            <a:endCxn id="11" idx="0"/>
          </p:cNvCxnSpPr>
          <p:nvPr/>
        </p:nvCxnSpPr>
        <p:spPr>
          <a:xfrm flipH="1">
            <a:off x="3199242" y="2697847"/>
            <a:ext cx="7912" cy="485600"/>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1" name="Flowchart: Magnetic Disk 30">
            <a:extLst>
              <a:ext uri="{FF2B5EF4-FFF2-40B4-BE49-F238E27FC236}">
                <a16:creationId xmlns:a16="http://schemas.microsoft.com/office/drawing/2014/main" id="{A1408686-7608-D416-5DE2-E7EC30B691A1}"/>
              </a:ext>
            </a:extLst>
          </p:cNvPr>
          <p:cNvSpPr/>
          <p:nvPr/>
        </p:nvSpPr>
        <p:spPr>
          <a:xfrm>
            <a:off x="2999359" y="4114448"/>
            <a:ext cx="736093" cy="471419"/>
          </a:xfrm>
          <a:prstGeom prst="flowChartMagneticDisk">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Registro de Servicio</a:t>
            </a:r>
          </a:p>
        </p:txBody>
      </p:sp>
      <p:cxnSp>
        <p:nvCxnSpPr>
          <p:cNvPr id="32" name="Connector: Elbow 31">
            <a:extLst>
              <a:ext uri="{FF2B5EF4-FFF2-40B4-BE49-F238E27FC236}">
                <a16:creationId xmlns:a16="http://schemas.microsoft.com/office/drawing/2014/main" id="{F361D2CB-A7EB-1E33-AA7B-BAA03C8D15ED}"/>
              </a:ext>
            </a:extLst>
          </p:cNvPr>
          <p:cNvCxnSpPr>
            <a:cxnSpLocks/>
            <a:stCxn id="31" idx="1"/>
            <a:endCxn id="22" idx="2"/>
          </p:cNvCxnSpPr>
          <p:nvPr/>
        </p:nvCxnSpPr>
        <p:spPr>
          <a:xfrm rot="16200000" flipV="1">
            <a:off x="3271840" y="4018882"/>
            <a:ext cx="187435" cy="3698"/>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3" name="Rectangle 32">
            <a:extLst>
              <a:ext uri="{FF2B5EF4-FFF2-40B4-BE49-F238E27FC236}">
                <a16:creationId xmlns:a16="http://schemas.microsoft.com/office/drawing/2014/main" id="{41556FC2-F940-C858-E69D-FB145DEE7623}"/>
              </a:ext>
            </a:extLst>
          </p:cNvPr>
          <p:cNvSpPr/>
          <p:nvPr/>
        </p:nvSpPr>
        <p:spPr>
          <a:xfrm>
            <a:off x="3846680" y="4842687"/>
            <a:ext cx="1120180" cy="400142"/>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Consola de Administración de Aprobaciones</a:t>
            </a:r>
          </a:p>
        </p:txBody>
      </p:sp>
      <p:sp>
        <p:nvSpPr>
          <p:cNvPr id="34" name="Oval 33">
            <a:extLst>
              <a:ext uri="{FF2B5EF4-FFF2-40B4-BE49-F238E27FC236}">
                <a16:creationId xmlns:a16="http://schemas.microsoft.com/office/drawing/2014/main" id="{062F0B5F-31ED-F332-0D9C-303F08436930}"/>
              </a:ext>
            </a:extLst>
          </p:cNvPr>
          <p:cNvSpPr/>
          <p:nvPr/>
        </p:nvSpPr>
        <p:spPr>
          <a:xfrm>
            <a:off x="2926191" y="2752382"/>
            <a:ext cx="538692" cy="288001"/>
          </a:xfrm>
          <a:prstGeom prst="ellipse">
            <a:avLst/>
          </a:prstGeom>
          <a:solidFill>
            <a:schemeClr val="bg1"/>
          </a:solidFill>
          <a:ln>
            <a:solidFill>
              <a:schemeClr val="tx1"/>
            </a:solidFill>
          </a:ln>
        </p:spPr>
        <p:txBody>
          <a:bodyPr wrap="none" lIns="0" tIns="0" rIns="0" bIns="0" rtlCol="0" anchor="ctr">
            <a:noAutofit/>
          </a:bodyPr>
          <a:lstStyle/>
          <a:p>
            <a:pPr marL="0" marR="0" lvl="0" indent="0" algn="ctr" defTabSz="228600" rtl="0" eaLnBrk="1" fontAlgn="auto" latinLnBrk="0" hangingPunct="1">
              <a:lnSpc>
                <a:spcPct val="100000"/>
              </a:lnSpc>
              <a:spcBef>
                <a:spcPts val="0"/>
              </a:spcBef>
              <a:spcAft>
                <a:spcPts val="0"/>
              </a:spcAft>
              <a:buClrTx/>
              <a:buSzTx/>
              <a:buFontTx/>
              <a:buNone/>
              <a:tabLst/>
              <a:defRPr/>
            </a:pPr>
            <a:r>
              <a:rPr kumimoji="0" lang="es" sz="700" b="0" i="1" u="none" strike="noStrike" kern="1200" cap="none" spc="0" normalizeH="0" baseline="0" noProof="0" dirty="0">
                <a:ln>
                  <a:noFill/>
                </a:ln>
                <a:solidFill>
                  <a:srgbClr val="000000"/>
                </a:solidFill>
                <a:effectLst/>
                <a:uLnTx/>
                <a:uFillTx/>
                <a:latin typeface="Graphik"/>
                <a:ea typeface="+mn-ea"/>
                <a:cs typeface="+mn-cs"/>
              </a:rPr>
              <a:t>Petición de</a:t>
            </a:r>
            <a:br>
              <a:rPr kumimoji="0" lang="es" sz="700" b="0" i="1" u="none" strike="noStrike" kern="1200" cap="none" spc="0" normalizeH="0" baseline="0" noProof="0" dirty="0">
                <a:ln>
                  <a:noFill/>
                </a:ln>
                <a:solidFill>
                  <a:srgbClr val="000000"/>
                </a:solidFill>
                <a:effectLst/>
                <a:uLnTx/>
                <a:uFillTx/>
                <a:latin typeface="Graphik"/>
                <a:ea typeface="+mn-ea"/>
                <a:cs typeface="+mn-cs"/>
              </a:rPr>
            </a:br>
            <a:r>
              <a:rPr kumimoji="0" lang="es" sz="700" b="0" i="1" u="none" strike="noStrike" kern="1200" cap="none" spc="0" normalizeH="0" baseline="0" noProof="0" dirty="0">
                <a:ln>
                  <a:noFill/>
                </a:ln>
                <a:solidFill>
                  <a:srgbClr val="000000"/>
                </a:solidFill>
                <a:effectLst/>
                <a:uLnTx/>
                <a:uFillTx/>
                <a:latin typeface="Graphik"/>
                <a:ea typeface="+mn-ea"/>
                <a:cs typeface="+mn-cs"/>
              </a:rPr>
              <a:t>	Aprobación</a:t>
            </a:r>
          </a:p>
        </p:txBody>
      </p:sp>
      <p:sp>
        <p:nvSpPr>
          <p:cNvPr id="35" name="Flowchart: Magnetic Disk 34">
            <a:extLst>
              <a:ext uri="{FF2B5EF4-FFF2-40B4-BE49-F238E27FC236}">
                <a16:creationId xmlns:a16="http://schemas.microsoft.com/office/drawing/2014/main" id="{569C7A25-60B8-6F8A-1A2D-898117492587}"/>
              </a:ext>
            </a:extLst>
          </p:cNvPr>
          <p:cNvSpPr/>
          <p:nvPr/>
        </p:nvSpPr>
        <p:spPr>
          <a:xfrm>
            <a:off x="4416214" y="4114073"/>
            <a:ext cx="840413" cy="471419"/>
          </a:xfrm>
          <a:prstGeom prst="flowChartMagneticDisk">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Aprobaciones pendientes</a:t>
            </a:r>
          </a:p>
        </p:txBody>
      </p:sp>
      <p:cxnSp>
        <p:nvCxnSpPr>
          <p:cNvPr id="36" name="Connector: Elbow 35">
            <a:extLst>
              <a:ext uri="{FF2B5EF4-FFF2-40B4-BE49-F238E27FC236}">
                <a16:creationId xmlns:a16="http://schemas.microsoft.com/office/drawing/2014/main" id="{8889C62E-B451-8075-1661-630D26D323C4}"/>
              </a:ext>
            </a:extLst>
          </p:cNvPr>
          <p:cNvCxnSpPr>
            <a:cxnSpLocks/>
            <a:endCxn id="35" idx="1"/>
          </p:cNvCxnSpPr>
          <p:nvPr/>
        </p:nvCxnSpPr>
        <p:spPr>
          <a:xfrm>
            <a:off x="4137345" y="3850652"/>
            <a:ext cx="699076" cy="263421"/>
          </a:xfrm>
          <a:prstGeom prst="bentConnector2">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Connector: Elbow 36">
            <a:extLst>
              <a:ext uri="{FF2B5EF4-FFF2-40B4-BE49-F238E27FC236}">
                <a16:creationId xmlns:a16="http://schemas.microsoft.com/office/drawing/2014/main" id="{D8B69B84-F2A8-2DA7-3A51-65D4AB28970B}"/>
              </a:ext>
            </a:extLst>
          </p:cNvPr>
          <p:cNvCxnSpPr>
            <a:cxnSpLocks/>
            <a:stCxn id="33" idx="0"/>
            <a:endCxn id="31" idx="3"/>
          </p:cNvCxnSpPr>
          <p:nvPr/>
        </p:nvCxnSpPr>
        <p:spPr>
          <a:xfrm rot="16200000" flipV="1">
            <a:off x="3758678" y="4194595"/>
            <a:ext cx="256820" cy="1039364"/>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Connector: Elbow 37">
            <a:extLst>
              <a:ext uri="{FF2B5EF4-FFF2-40B4-BE49-F238E27FC236}">
                <a16:creationId xmlns:a16="http://schemas.microsoft.com/office/drawing/2014/main" id="{8D5C3002-6BC1-598B-D068-4EAC9B9C87A9}"/>
              </a:ext>
            </a:extLst>
          </p:cNvPr>
          <p:cNvCxnSpPr>
            <a:cxnSpLocks/>
            <a:stCxn id="33" idx="0"/>
            <a:endCxn id="35" idx="3"/>
          </p:cNvCxnSpPr>
          <p:nvPr/>
        </p:nvCxnSpPr>
        <p:spPr>
          <a:xfrm rot="5400000" flipH="1" flipV="1">
            <a:off x="4492998" y="4499265"/>
            <a:ext cx="257195" cy="429651"/>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Connector: Elbow 38">
            <a:extLst>
              <a:ext uri="{FF2B5EF4-FFF2-40B4-BE49-F238E27FC236}">
                <a16:creationId xmlns:a16="http://schemas.microsoft.com/office/drawing/2014/main" id="{8F64D468-F9A6-4F93-C2A3-5F7E305A11DF}"/>
              </a:ext>
            </a:extLst>
          </p:cNvPr>
          <p:cNvCxnSpPr>
            <a:cxnSpLocks/>
            <a:stCxn id="41" idx="0"/>
            <a:endCxn id="26" idx="2"/>
          </p:cNvCxnSpPr>
          <p:nvPr/>
        </p:nvCxnSpPr>
        <p:spPr>
          <a:xfrm rot="5400000" flipH="1" flipV="1">
            <a:off x="4727059" y="2881094"/>
            <a:ext cx="692738" cy="366398"/>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0" name="Oval 39">
            <a:extLst>
              <a:ext uri="{FF2B5EF4-FFF2-40B4-BE49-F238E27FC236}">
                <a16:creationId xmlns:a16="http://schemas.microsoft.com/office/drawing/2014/main" id="{50362ED1-AD2A-A8B6-5A84-B115121E452D}"/>
              </a:ext>
            </a:extLst>
          </p:cNvPr>
          <p:cNvSpPr/>
          <p:nvPr/>
        </p:nvSpPr>
        <p:spPr>
          <a:xfrm>
            <a:off x="4973463" y="2945772"/>
            <a:ext cx="538692" cy="288001"/>
          </a:xfrm>
          <a:prstGeom prst="ellipse">
            <a:avLst/>
          </a:prstGeom>
          <a:solidFill>
            <a:schemeClr val="bg1"/>
          </a:solidFill>
          <a:ln>
            <a:solidFill>
              <a:schemeClr val="tx1"/>
            </a:solidFill>
          </a:ln>
        </p:spPr>
        <p:txBody>
          <a:bodyPr wrap="none" lIns="0" tIns="0" rIns="0" bIns="0" rtlCol="0" anchor="ctr">
            <a:noAutofit/>
          </a:bodyPr>
          <a:lstStyle/>
          <a:p>
            <a:pPr marL="0" marR="0" lvl="0" indent="0" algn="ctr" defTabSz="228600" rtl="0" eaLnBrk="1" fontAlgn="auto" latinLnBrk="0" hangingPunct="1">
              <a:lnSpc>
                <a:spcPct val="100000"/>
              </a:lnSpc>
              <a:spcBef>
                <a:spcPts val="0"/>
              </a:spcBef>
              <a:spcAft>
                <a:spcPts val="0"/>
              </a:spcAft>
              <a:buClrTx/>
              <a:buSzTx/>
              <a:buFontTx/>
              <a:buNone/>
              <a:tabLst/>
              <a:defRPr/>
            </a:pPr>
            <a:r>
              <a:rPr kumimoji="0" lang="es" sz="700" b="0" i="1" u="none" strike="noStrike" kern="1200" cap="none" spc="0" normalizeH="0" baseline="0" noProof="0">
                <a:ln>
                  <a:noFill/>
                </a:ln>
                <a:solidFill>
                  <a:srgbClr val="000000"/>
                </a:solidFill>
                <a:effectLst/>
                <a:uLnTx/>
                <a:uFillTx/>
                <a:latin typeface="Graphik"/>
                <a:ea typeface="+mn-ea"/>
                <a:cs typeface="+mn-cs"/>
              </a:rPr>
              <a:t>Aprobado</a:t>
            </a:r>
          </a:p>
        </p:txBody>
      </p:sp>
      <p:sp>
        <p:nvSpPr>
          <p:cNvPr id="41" name="Rectangle 40">
            <a:extLst>
              <a:ext uri="{FF2B5EF4-FFF2-40B4-BE49-F238E27FC236}">
                <a16:creationId xmlns:a16="http://schemas.microsoft.com/office/drawing/2014/main" id="{1ADEAD6D-FBA5-D928-C27B-FF8AC0831A83}"/>
              </a:ext>
            </a:extLst>
          </p:cNvPr>
          <p:cNvSpPr/>
          <p:nvPr/>
        </p:nvSpPr>
        <p:spPr>
          <a:xfrm>
            <a:off x="4396274" y="3410662"/>
            <a:ext cx="987910" cy="25898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Servicio de reinicio</a:t>
            </a:r>
          </a:p>
        </p:txBody>
      </p:sp>
      <p:cxnSp>
        <p:nvCxnSpPr>
          <p:cNvPr id="42" name="Connector: Elbow 41">
            <a:extLst>
              <a:ext uri="{FF2B5EF4-FFF2-40B4-BE49-F238E27FC236}">
                <a16:creationId xmlns:a16="http://schemas.microsoft.com/office/drawing/2014/main" id="{6CC4E52A-C0FF-B51C-52D5-4B42659D5F58}"/>
              </a:ext>
            </a:extLst>
          </p:cNvPr>
          <p:cNvCxnSpPr>
            <a:cxnSpLocks/>
            <a:stCxn id="22" idx="3"/>
            <a:endCxn id="41" idx="2"/>
          </p:cNvCxnSpPr>
          <p:nvPr/>
        </p:nvCxnSpPr>
        <p:spPr>
          <a:xfrm flipV="1">
            <a:off x="4126063" y="3669642"/>
            <a:ext cx="764166" cy="113371"/>
          </a:xfrm>
          <a:prstGeom prst="bentConnector2">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3" name="Rectangle 42">
            <a:extLst>
              <a:ext uri="{FF2B5EF4-FFF2-40B4-BE49-F238E27FC236}">
                <a16:creationId xmlns:a16="http://schemas.microsoft.com/office/drawing/2014/main" id="{ED4A44BB-D91F-CFAF-09AD-3ACA97CBDB09}"/>
              </a:ext>
            </a:extLst>
          </p:cNvPr>
          <p:cNvSpPr/>
          <p:nvPr/>
        </p:nvSpPr>
        <p:spPr>
          <a:xfrm>
            <a:off x="5212094" y="3623394"/>
            <a:ext cx="600122" cy="222519"/>
          </a:xfrm>
          <a:prstGeom prst="rect">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lvl="0" algn="ctr">
              <a:defRPr/>
            </a:pPr>
            <a:r>
              <a:rPr lang="es" sz="700" dirty="0">
                <a:solidFill>
                  <a:srgbClr val="FFFFFF"/>
                </a:solidFill>
              </a:rPr>
              <a:t>Componente customizado</a:t>
            </a:r>
          </a:p>
        </p:txBody>
      </p:sp>
      <p:sp>
        <p:nvSpPr>
          <p:cNvPr id="44" name="Rectangle 43">
            <a:extLst>
              <a:ext uri="{FF2B5EF4-FFF2-40B4-BE49-F238E27FC236}">
                <a16:creationId xmlns:a16="http://schemas.microsoft.com/office/drawing/2014/main" id="{5BE15280-6367-3131-FE24-944AB4464BCD}"/>
              </a:ext>
            </a:extLst>
          </p:cNvPr>
          <p:cNvSpPr/>
          <p:nvPr/>
        </p:nvSpPr>
        <p:spPr>
          <a:xfrm>
            <a:off x="3579490" y="2892391"/>
            <a:ext cx="684752" cy="306652"/>
          </a:xfrm>
          <a:prstGeom prst="rect">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FFFFFF"/>
                </a:solidFill>
                <a:effectLst/>
                <a:uLnTx/>
                <a:uFillTx/>
                <a:latin typeface="Graphik"/>
                <a:ea typeface="+mn-ea"/>
                <a:cs typeface="+mn-cs"/>
              </a:rPr>
              <a:t>Tercera parte por determinar</a:t>
            </a:r>
          </a:p>
        </p:txBody>
      </p:sp>
      <p:sp>
        <p:nvSpPr>
          <p:cNvPr id="45" name="Rectangle 44">
            <a:extLst>
              <a:ext uri="{FF2B5EF4-FFF2-40B4-BE49-F238E27FC236}">
                <a16:creationId xmlns:a16="http://schemas.microsoft.com/office/drawing/2014/main" id="{5E875308-79E7-36EA-01D6-C871E21EF968}"/>
              </a:ext>
            </a:extLst>
          </p:cNvPr>
          <p:cNvSpPr/>
          <p:nvPr/>
        </p:nvSpPr>
        <p:spPr>
          <a:xfrm>
            <a:off x="3621805" y="3441649"/>
            <a:ext cx="600122" cy="222519"/>
          </a:xfrm>
          <a:prstGeom prst="rect">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lvl="0" algn="ctr">
              <a:defRPr/>
            </a:pPr>
            <a:r>
              <a:rPr lang="es" sz="700" dirty="0">
                <a:solidFill>
                  <a:srgbClr val="FFFFFF"/>
                </a:solidFill>
              </a:rPr>
              <a:t>Componente customizado</a:t>
            </a:r>
          </a:p>
        </p:txBody>
      </p:sp>
      <p:sp>
        <p:nvSpPr>
          <p:cNvPr id="46" name="Rectangle 45">
            <a:extLst>
              <a:ext uri="{FF2B5EF4-FFF2-40B4-BE49-F238E27FC236}">
                <a16:creationId xmlns:a16="http://schemas.microsoft.com/office/drawing/2014/main" id="{2421EF01-9813-31F2-0312-5AB9E4673719}"/>
              </a:ext>
            </a:extLst>
          </p:cNvPr>
          <p:cNvSpPr/>
          <p:nvPr/>
        </p:nvSpPr>
        <p:spPr>
          <a:xfrm>
            <a:off x="7860146" y="5585430"/>
            <a:ext cx="3439086" cy="205327"/>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Componentes principales de esta capacidad</a:t>
            </a:r>
          </a:p>
        </p:txBody>
      </p:sp>
      <p:sp>
        <p:nvSpPr>
          <p:cNvPr id="48" name="Rectangle 47">
            <a:extLst>
              <a:ext uri="{FF2B5EF4-FFF2-40B4-BE49-F238E27FC236}">
                <a16:creationId xmlns:a16="http://schemas.microsoft.com/office/drawing/2014/main" id="{CC8FE61D-061E-FFAA-E407-E8F14DA5FE7C}"/>
              </a:ext>
            </a:extLst>
          </p:cNvPr>
          <p:cNvSpPr/>
          <p:nvPr/>
        </p:nvSpPr>
        <p:spPr>
          <a:xfrm>
            <a:off x="7860146" y="5819582"/>
            <a:ext cx="3439086" cy="187603"/>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Componentes de otras capacidades relacionadas</a:t>
            </a:r>
          </a:p>
        </p:txBody>
      </p:sp>
      <p:sp>
        <p:nvSpPr>
          <p:cNvPr id="50" name="Rectangle 49">
            <a:extLst>
              <a:ext uri="{FF2B5EF4-FFF2-40B4-BE49-F238E27FC236}">
                <a16:creationId xmlns:a16="http://schemas.microsoft.com/office/drawing/2014/main" id="{8B360A9E-73F7-8D03-4FCB-A9D1C659F789}"/>
              </a:ext>
            </a:extLst>
          </p:cNvPr>
          <p:cNvSpPr/>
          <p:nvPr/>
        </p:nvSpPr>
        <p:spPr>
          <a:xfrm>
            <a:off x="7860145" y="6036007"/>
            <a:ext cx="3439086" cy="165055"/>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Componentes funcionales relacionados con esta capacidad</a:t>
            </a:r>
          </a:p>
        </p:txBody>
      </p:sp>
    </p:spTree>
    <p:extLst>
      <p:ext uri="{BB962C8B-B14F-4D97-AF65-F5344CB8AC3E}">
        <p14:creationId xmlns:p14="http://schemas.microsoft.com/office/powerpoint/2010/main" val="207070014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19CDBB-F0E0-2F14-7C1B-CEADDBBCCF1E}"/>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76C1E71D-CB98-EEDD-128F-D2B7567BB95C}"/>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dirty="0">
                <a:ln>
                  <a:noFill/>
                </a:ln>
                <a:solidFill>
                  <a:srgbClr val="000000">
                    <a:alpha val="65000"/>
                  </a:srgbClr>
                </a:solidFill>
                <a:effectLst/>
                <a:uLnTx/>
                <a:uFillTx/>
                <a:latin typeface="Graphik"/>
                <a:ea typeface="+mn-ea"/>
                <a:cs typeface="+mn-cs"/>
              </a:rPr>
              <a:t>Copyright © 2025 Accenture. Todos los derechos reservados.</a:t>
            </a:r>
          </a:p>
        </p:txBody>
      </p:sp>
      <p:sp>
        <p:nvSpPr>
          <p:cNvPr id="118" name="Title 1">
            <a:extLst>
              <a:ext uri="{FF2B5EF4-FFF2-40B4-BE49-F238E27FC236}">
                <a16:creationId xmlns:a16="http://schemas.microsoft.com/office/drawing/2014/main" id="{D9BEAEB8-C642-85C2-6840-2E411FDC95FB}"/>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a:ln>
                  <a:noFill/>
                </a:ln>
                <a:solidFill>
                  <a:srgbClr val="7500C0"/>
                </a:solidFill>
                <a:effectLst/>
                <a:uLnTx/>
                <a:uFillTx/>
                <a:latin typeface="Graphik"/>
                <a:ea typeface="+mj-ea"/>
                <a:cs typeface="+mj-cs"/>
              </a:rPr>
              <a:t>Activo de Interoperabilidad </a:t>
            </a:r>
            <a:r>
              <a:rPr kumimoji="0" lang="es" sz="2400" b="1" i="0" u="none" strike="noStrike" kern="1200" cap="none" spc="0" normalizeH="0" baseline="0" noProof="0">
                <a:ln>
                  <a:noFill/>
                </a:ln>
                <a:solidFill>
                  <a:srgbClr val="000000"/>
                </a:solidFill>
                <a:effectLst/>
                <a:uLnTx/>
                <a:uFillTx/>
                <a:latin typeface="Graphik"/>
                <a:ea typeface="+mj-ea"/>
                <a:cs typeface="+mj-cs"/>
              </a:rPr>
              <a:t>| </a:t>
            </a:r>
            <a:r>
              <a:rPr kumimoji="0" lang="es" sz="2000" b="1" i="0" u="none" strike="noStrike" kern="1200" cap="none" spc="0" normalizeH="0" baseline="0" noProof="0">
                <a:ln>
                  <a:noFill/>
                </a:ln>
                <a:solidFill>
                  <a:srgbClr val="000000"/>
                </a:solidFill>
                <a:effectLst/>
                <a:uLnTx/>
                <a:uFillTx/>
                <a:latin typeface="Graphik"/>
                <a:ea typeface="+mj-ea"/>
                <a:cs typeface="+mj-cs"/>
              </a:rPr>
              <a:t>Observabilidad</a:t>
            </a:r>
            <a:endParaRPr kumimoji="0" lang="es" sz="2400" b="1" i="0" u="none" strike="noStrike" kern="1200" cap="none" spc="0" normalizeH="0" baseline="0" noProof="0">
              <a:ln>
                <a:noFill/>
              </a:ln>
              <a:solidFill>
                <a:srgbClr val="000000"/>
              </a:solidFill>
              <a:effectLst/>
              <a:uLnTx/>
              <a:uFillTx/>
              <a:latin typeface="Graphik"/>
              <a:ea typeface="+mj-ea"/>
              <a:cs typeface="+mj-cs"/>
            </a:endParaRPr>
          </a:p>
        </p:txBody>
      </p:sp>
      <p:sp>
        <p:nvSpPr>
          <p:cNvPr id="119" name="Content Placeholder 34">
            <a:extLst>
              <a:ext uri="{FF2B5EF4-FFF2-40B4-BE49-F238E27FC236}">
                <a16:creationId xmlns:a16="http://schemas.microsoft.com/office/drawing/2014/main" id="{832531B3-69FA-C995-B096-1ADF736EB5E6}"/>
              </a:ext>
            </a:extLst>
          </p:cNvPr>
          <p:cNvSpPr txBox="1">
            <a:spLocks/>
          </p:cNvSpPr>
          <p:nvPr/>
        </p:nvSpPr>
        <p:spPr>
          <a:xfrm>
            <a:off x="285990" y="641993"/>
            <a:ext cx="11430000" cy="246221"/>
          </a:xfrm>
          <a:prstGeom prst="rect">
            <a:avLst/>
          </a:prstGeom>
        </p:spPr>
        <p:txBody>
          <a:bodyPr/>
          <a:lstStyle>
            <a:lvl1pPr marL="228600" indent="-228600" algn="l" defTabSz="228600" rtl="0" eaLnBrk="1" latinLnBrk="0" hangingPunct="1">
              <a:lnSpc>
                <a:spcPct val="100000"/>
              </a:lnSpc>
              <a:spcBef>
                <a:spcPts val="0"/>
              </a:spcBef>
              <a:spcAft>
                <a:spcPts val="600"/>
              </a:spcAft>
              <a:buFont typeface="Arial"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Arial"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Arial"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Arial"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Arial"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Arial" panose="020B0604020202020204" pitchFamily="34" charset="0"/>
              <a:buNone/>
              <a:defRPr sz="800" kern="1200">
                <a:solidFill>
                  <a:schemeClr val="tx2"/>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s" sz="1600" b="1" i="0" u="none" strike="noStrike" kern="1200" cap="none" spc="0" normalizeH="0" baseline="0" noProof="0">
                <a:ln>
                  <a:noFill/>
                </a:ln>
                <a:solidFill>
                  <a:srgbClr val="7500C0"/>
                </a:solidFill>
                <a:effectLst/>
                <a:uLnTx/>
                <a:uFillTx/>
                <a:latin typeface="Graphik" panose="020B0503030202060203" pitchFamily="34" charset="0"/>
                <a:ea typeface="+mn-ea"/>
                <a:cs typeface="+mn-cs"/>
              </a:rPr>
              <a:t>Monitorización | Detección | Respuesta</a:t>
            </a:r>
          </a:p>
          <a:p>
            <a:pPr marL="0" marR="0" lvl="0" indent="0" algn="l" defTabSz="228600" rtl="0" eaLnBrk="1" fontAlgn="auto" latinLnBrk="0" hangingPunct="1">
              <a:lnSpc>
                <a:spcPct val="100000"/>
              </a:lnSpc>
              <a:spcBef>
                <a:spcPts val="0"/>
              </a:spcBef>
              <a:spcAft>
                <a:spcPts val="600"/>
              </a:spcAft>
              <a:buClrTx/>
              <a:buSzTx/>
              <a:buFont typeface="Arial" panose="020B0604020202020204" pitchFamily="34" charset="0"/>
              <a:buNone/>
              <a:tabLst/>
              <a:defRPr/>
            </a:pPr>
            <a:endParaRPr kumimoji="0" lang="en-US" sz="1600" b="1" i="0" u="none" strike="noStrike" kern="1200" cap="none" spc="0" normalizeH="0" baseline="0" noProof="0">
              <a:ln>
                <a:noFill/>
              </a:ln>
              <a:solidFill>
                <a:srgbClr val="7500C0"/>
              </a:solidFill>
              <a:effectLst/>
              <a:uLnTx/>
              <a:uFillTx/>
              <a:latin typeface="Graphik" panose="020B0503030202060203" pitchFamily="34" charset="0"/>
              <a:ea typeface="+mn-ea"/>
              <a:cs typeface="+mn-cs"/>
            </a:endParaRPr>
          </a:p>
        </p:txBody>
      </p:sp>
      <p:grpSp>
        <p:nvGrpSpPr>
          <p:cNvPr id="4" name="Group 3">
            <a:extLst>
              <a:ext uri="{FF2B5EF4-FFF2-40B4-BE49-F238E27FC236}">
                <a16:creationId xmlns:a16="http://schemas.microsoft.com/office/drawing/2014/main" id="{327A72FF-4358-A0E9-3130-F2F778548836}"/>
              </a:ext>
            </a:extLst>
          </p:cNvPr>
          <p:cNvGrpSpPr/>
          <p:nvPr/>
        </p:nvGrpSpPr>
        <p:grpSpPr>
          <a:xfrm>
            <a:off x="9914018" y="286451"/>
            <a:ext cx="1862854" cy="253275"/>
            <a:chOff x="9929190" y="421028"/>
            <a:chExt cx="1862854" cy="253275"/>
          </a:xfrm>
        </p:grpSpPr>
        <p:sp>
          <p:nvSpPr>
            <p:cNvPr id="5" name="TextBox 4">
              <a:extLst>
                <a:ext uri="{FF2B5EF4-FFF2-40B4-BE49-F238E27FC236}">
                  <a16:creationId xmlns:a16="http://schemas.microsoft.com/office/drawing/2014/main" id="{01607A77-3310-DF9C-5A85-9A3FF270B686}"/>
                </a:ext>
              </a:extLst>
            </p:cNvPr>
            <p:cNvSpPr txBox="1"/>
            <p:nvPr/>
          </p:nvSpPr>
          <p:spPr>
            <a:xfrm>
              <a:off x="9936972" y="460821"/>
              <a:ext cx="1847290" cy="173690"/>
            </a:xfrm>
            <a:prstGeom prst="rect">
              <a:avLst/>
            </a:prstGeom>
            <a:noFill/>
          </p:spPr>
          <p:txBody>
            <a:bodyPr wrap="none" lIns="0" tIns="0" rIns="0" bIns="0" rtlCol="0">
              <a:noAutofit/>
            </a:bodyPr>
            <a:lstStyle/>
            <a:p>
              <a:pPr marL="0" marR="0" lvl="0" indent="0" algn="l" defTabSz="228600" rtl="0" eaLnBrk="1" fontAlgn="auto" latinLnBrk="0" hangingPunct="1">
                <a:lnSpc>
                  <a:spcPct val="100000"/>
                </a:lnSpc>
                <a:spcBef>
                  <a:spcPts val="0"/>
                </a:spcBef>
                <a:spcAft>
                  <a:spcPts val="1200"/>
                </a:spcAft>
                <a:buClrTx/>
                <a:buSzTx/>
                <a:buFontTx/>
                <a:buNone/>
                <a:tabLst/>
                <a:defRPr/>
              </a:pPr>
              <a:r>
                <a:rPr kumimoji="0" lang="es" sz="1100" b="0" i="0" u="none" strike="noStrike" kern="1200" cap="none" spc="0" normalizeH="0" baseline="0" noProof="0">
                  <a:ln>
                    <a:noFill/>
                  </a:ln>
                  <a:solidFill>
                    <a:srgbClr val="000000"/>
                  </a:solidFill>
                  <a:effectLst/>
                  <a:uLnTx/>
                  <a:uFillTx/>
                  <a:latin typeface="Graphik"/>
                  <a:ea typeface="+mn-ea"/>
                  <a:cs typeface="+mn-cs"/>
                </a:rPr>
                <a:t>Ilustrativo no exhaustivo</a:t>
              </a:r>
            </a:p>
          </p:txBody>
        </p:sp>
        <p:cxnSp>
          <p:nvCxnSpPr>
            <p:cNvPr id="6" name="Straight Connector 5">
              <a:extLst>
                <a:ext uri="{FF2B5EF4-FFF2-40B4-BE49-F238E27FC236}">
                  <a16:creationId xmlns:a16="http://schemas.microsoft.com/office/drawing/2014/main" id="{7350D4A3-929F-BFD9-61F8-086B908190E3}"/>
                </a:ext>
              </a:extLst>
            </p:cNvPr>
            <p:cNvCxnSpPr>
              <a:cxnSpLocks/>
            </p:cNvCxnSpPr>
            <p:nvPr/>
          </p:nvCxnSpPr>
          <p:spPr>
            <a:xfrm>
              <a:off x="9929190" y="421028"/>
              <a:ext cx="186285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B40611FC-07EB-A4DB-4069-64977B5BA586}"/>
                </a:ext>
              </a:extLst>
            </p:cNvPr>
            <p:cNvCxnSpPr>
              <a:cxnSpLocks/>
            </p:cNvCxnSpPr>
            <p:nvPr/>
          </p:nvCxnSpPr>
          <p:spPr>
            <a:xfrm>
              <a:off x="9929190" y="674303"/>
              <a:ext cx="186285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8" name="Rectangle 185">
            <a:extLst>
              <a:ext uri="{FF2B5EF4-FFF2-40B4-BE49-F238E27FC236}">
                <a16:creationId xmlns:a16="http://schemas.microsoft.com/office/drawing/2014/main" id="{C4A2FE3E-EB67-C438-7E51-1BA400CA5359}"/>
              </a:ext>
            </a:extLst>
          </p:cNvPr>
          <p:cNvSpPr/>
          <p:nvPr/>
        </p:nvSpPr>
        <p:spPr>
          <a:xfrm>
            <a:off x="5099685" y="3192145"/>
            <a:ext cx="1293495" cy="953770"/>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90000" tIns="90000" rIns="90000" bIns="900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altLang="en-US" sz="900" b="0" i="0" u="none" strike="noStrike" kern="1200" cap="none" spc="0" normalizeH="0" baseline="0" noProof="0">
                <a:ln>
                  <a:noFill/>
                </a:ln>
                <a:solidFill>
                  <a:srgbClr val="000000"/>
                </a:solidFill>
                <a:effectLst/>
                <a:uLnTx/>
                <a:uFillTx/>
                <a:latin typeface="Graphik"/>
                <a:ea typeface="+mn-ea"/>
                <a:cs typeface="+mn-cs"/>
              </a:rPr>
              <a:t>Respuesta:</a:t>
            </a:r>
          </a:p>
        </p:txBody>
      </p:sp>
      <p:sp>
        <p:nvSpPr>
          <p:cNvPr id="9" name="Rectangle 8">
            <a:extLst>
              <a:ext uri="{FF2B5EF4-FFF2-40B4-BE49-F238E27FC236}">
                <a16:creationId xmlns:a16="http://schemas.microsoft.com/office/drawing/2014/main" id="{D66BAC23-EA94-981D-ADC6-672B1A6873C9}"/>
              </a:ext>
            </a:extLst>
          </p:cNvPr>
          <p:cNvSpPr/>
          <p:nvPr/>
        </p:nvSpPr>
        <p:spPr>
          <a:xfrm>
            <a:off x="295910" y="4319905"/>
            <a:ext cx="1085850" cy="1931035"/>
          </a:xfrm>
          <a:prstGeom prst="rect">
            <a:avLst/>
          </a:prstGeom>
          <a:solidFill>
            <a:schemeClr val="bg1"/>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90000" tIns="90000" rIns="90000" bIns="900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altLang="es-MX" sz="900" b="0" i="0" u="none" strike="noStrike" kern="1200" cap="none" spc="0" normalizeH="0" baseline="0" noProof="0" dirty="0">
                <a:ln>
                  <a:noFill/>
                </a:ln>
                <a:solidFill>
                  <a:srgbClr val="000000"/>
                </a:solidFill>
                <a:effectLst/>
                <a:uLnTx/>
                <a:uFillTx/>
                <a:latin typeface="Graphik"/>
                <a:ea typeface="+mn-ea"/>
                <a:cs typeface="+mn-cs"/>
              </a:rPr>
              <a:t>Monitorización actual y fuentes de datos</a:t>
            </a:r>
          </a:p>
        </p:txBody>
      </p:sp>
      <p:sp>
        <p:nvSpPr>
          <p:cNvPr id="10" name="Rectangle 9">
            <a:extLst>
              <a:ext uri="{FF2B5EF4-FFF2-40B4-BE49-F238E27FC236}">
                <a16:creationId xmlns:a16="http://schemas.microsoft.com/office/drawing/2014/main" id="{B5DF789B-70C5-1F61-19A7-A2407D52BCEC}"/>
              </a:ext>
            </a:extLst>
          </p:cNvPr>
          <p:cNvSpPr/>
          <p:nvPr/>
        </p:nvSpPr>
        <p:spPr>
          <a:xfrm>
            <a:off x="1506721" y="4083131"/>
            <a:ext cx="2667254" cy="2352003"/>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90000" tIns="90000" rIns="90000" bIns="900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Casos de uso implementados</a:t>
            </a:r>
          </a:p>
        </p:txBody>
      </p:sp>
      <p:sp>
        <p:nvSpPr>
          <p:cNvPr id="11" name="Rectangle 10">
            <a:extLst>
              <a:ext uri="{FF2B5EF4-FFF2-40B4-BE49-F238E27FC236}">
                <a16:creationId xmlns:a16="http://schemas.microsoft.com/office/drawing/2014/main" id="{5E23D521-BEA0-A51F-DF6B-38228E9D9E47}"/>
              </a:ext>
            </a:extLst>
          </p:cNvPr>
          <p:cNvSpPr/>
          <p:nvPr/>
        </p:nvSpPr>
        <p:spPr>
          <a:xfrm>
            <a:off x="6038907" y="4228552"/>
            <a:ext cx="1880704" cy="2065657"/>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90000" tIns="90000" rIns="90000" bIns="900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Monitorización</a:t>
            </a:r>
          </a:p>
        </p:txBody>
      </p:sp>
      <p:cxnSp>
        <p:nvCxnSpPr>
          <p:cNvPr id="13" name="Connector: Elbow 12">
            <a:extLst>
              <a:ext uri="{FF2B5EF4-FFF2-40B4-BE49-F238E27FC236}">
                <a16:creationId xmlns:a16="http://schemas.microsoft.com/office/drawing/2014/main" id="{EC026195-1890-7D80-AA72-09B880E8CCE0}"/>
              </a:ext>
            </a:extLst>
          </p:cNvPr>
          <p:cNvCxnSpPr>
            <a:stCxn id="14" idx="3"/>
            <a:endCxn id="17" idx="1"/>
          </p:cNvCxnSpPr>
          <p:nvPr/>
        </p:nvCxnSpPr>
        <p:spPr>
          <a:xfrm flipV="1">
            <a:off x="4173855" y="1297305"/>
            <a:ext cx="367665" cy="1270"/>
          </a:xfrm>
          <a:prstGeom prst="bentConnector3">
            <a:avLst>
              <a:gd name="adj1" fmla="val 50086"/>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8F782012-DE3E-EC43-B2D3-76461E27153D}"/>
              </a:ext>
            </a:extLst>
          </p:cNvPr>
          <p:cNvSpPr/>
          <p:nvPr/>
        </p:nvSpPr>
        <p:spPr>
          <a:xfrm>
            <a:off x="3032880" y="1154352"/>
            <a:ext cx="1141171" cy="288000"/>
          </a:xfrm>
          <a:prstGeom prst="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altLang="es-MX" sz="900" b="0" i="0" u="none" strike="noStrike" kern="1200" cap="none" spc="0" normalizeH="0" baseline="0" noProof="0" dirty="0">
                <a:ln>
                  <a:noFill/>
                </a:ln>
                <a:solidFill>
                  <a:srgbClr val="000000"/>
                </a:solidFill>
                <a:effectLst/>
                <a:uLnTx/>
                <a:uFillTx/>
                <a:latin typeface="Graphik"/>
                <a:ea typeface="+mn-ea"/>
                <a:cs typeface="+mn-cs"/>
                <a:sym typeface="+mn-ea"/>
              </a:rPr>
              <a:t>Agente de reenvío completo</a:t>
            </a:r>
          </a:p>
        </p:txBody>
      </p:sp>
      <p:sp>
        <p:nvSpPr>
          <p:cNvPr id="15" name="Can 172">
            <a:extLst>
              <a:ext uri="{FF2B5EF4-FFF2-40B4-BE49-F238E27FC236}">
                <a16:creationId xmlns:a16="http://schemas.microsoft.com/office/drawing/2014/main" id="{8C46FE5B-98C0-AF74-BAB8-1E7FF38442F4}"/>
              </a:ext>
            </a:extLst>
          </p:cNvPr>
          <p:cNvSpPr/>
          <p:nvPr/>
        </p:nvSpPr>
        <p:spPr bwMode="auto">
          <a:xfrm>
            <a:off x="3139040" y="2559685"/>
            <a:ext cx="830980" cy="1264920"/>
          </a:xfrm>
          <a:prstGeom prst="can">
            <a:avLst>
              <a:gd name="adj" fmla="val 59089"/>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altLang="es-MX" sz="900" b="0" i="0" u="none" strike="noStrike" kern="1200" cap="none" spc="0" normalizeH="0" baseline="0" noProof="0" dirty="0">
                <a:ln>
                  <a:noFill/>
                </a:ln>
                <a:solidFill>
                  <a:srgbClr val="000000"/>
                </a:solidFill>
                <a:effectLst/>
                <a:uLnTx/>
                <a:uFillTx/>
                <a:latin typeface="Graphik"/>
                <a:ea typeface="+mn-ea"/>
                <a:cs typeface="+mn-cs"/>
                <a:sym typeface="+mn-ea"/>
              </a:rPr>
              <a:t>Núcleo de Monitorización</a:t>
            </a:r>
          </a:p>
        </p:txBody>
      </p:sp>
      <p:pic>
        <p:nvPicPr>
          <p:cNvPr id="16" name="Picture 2" descr="Logo negro de Splunk PNG transparente - StickPNG">
            <a:extLst>
              <a:ext uri="{FF2B5EF4-FFF2-40B4-BE49-F238E27FC236}">
                <a16:creationId xmlns:a16="http://schemas.microsoft.com/office/drawing/2014/main" id="{7AD926DE-3578-407C-9A1F-ECC655FB1EE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1588" t="30330" r="10744" b="32049"/>
          <a:stretch>
            <a:fillRect/>
          </a:stretch>
        </p:blipFill>
        <p:spPr bwMode="auto">
          <a:xfrm>
            <a:off x="4008823" y="3214923"/>
            <a:ext cx="677803" cy="245921"/>
          </a:xfrm>
          <a:prstGeom prst="rect">
            <a:avLst/>
          </a:prstGeom>
          <a:noFill/>
          <a:extLst>
            <a:ext uri="{909E8E84-426E-40DD-AFC4-6F175D3DCCD1}">
              <a14:hiddenFill xmlns:a14="http://schemas.microsoft.com/office/drawing/2010/main">
                <a:solidFill>
                  <a:srgbClr val="FFFFFF"/>
                </a:solidFill>
              </a14:hiddenFill>
            </a:ext>
          </a:extLst>
        </p:spPr>
      </p:pic>
      <p:sp>
        <p:nvSpPr>
          <p:cNvPr id="17" name="Rectangle 16">
            <a:extLst>
              <a:ext uri="{FF2B5EF4-FFF2-40B4-BE49-F238E27FC236}">
                <a16:creationId xmlns:a16="http://schemas.microsoft.com/office/drawing/2014/main" id="{B2DA282B-D366-FF73-47CB-DE1065FA8ACA}"/>
              </a:ext>
            </a:extLst>
          </p:cNvPr>
          <p:cNvSpPr/>
          <p:nvPr/>
        </p:nvSpPr>
        <p:spPr>
          <a:xfrm>
            <a:off x="4541356" y="1125612"/>
            <a:ext cx="844771" cy="342045"/>
          </a:xfrm>
          <a:prstGeom prst="rect">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FFFFFF"/>
                </a:solidFill>
                <a:effectLst/>
                <a:uLnTx/>
                <a:uFillTx/>
                <a:latin typeface="Graphik"/>
                <a:ea typeface="+mn-ea"/>
                <a:cs typeface="+mn-cs"/>
              </a:rPr>
              <a:t>Componente customizado de análisis sintáctico</a:t>
            </a:r>
          </a:p>
        </p:txBody>
      </p:sp>
      <p:sp>
        <p:nvSpPr>
          <p:cNvPr id="18" name="Rectangle 17">
            <a:extLst>
              <a:ext uri="{FF2B5EF4-FFF2-40B4-BE49-F238E27FC236}">
                <a16:creationId xmlns:a16="http://schemas.microsoft.com/office/drawing/2014/main" id="{73305762-E02A-DE4D-BAE3-33E0AF9F59B1}"/>
              </a:ext>
            </a:extLst>
          </p:cNvPr>
          <p:cNvSpPr/>
          <p:nvPr/>
        </p:nvSpPr>
        <p:spPr>
          <a:xfrm>
            <a:off x="3032770" y="1749982"/>
            <a:ext cx="1141171" cy="288000"/>
          </a:xfrm>
          <a:prstGeom prst="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altLang="es-MX" sz="900" b="0" i="0" u="none" strike="noStrike" kern="1200" cap="none" spc="0" normalizeH="0" baseline="0" noProof="0" dirty="0">
                <a:ln>
                  <a:noFill/>
                </a:ln>
                <a:solidFill>
                  <a:srgbClr val="000000"/>
                </a:solidFill>
                <a:effectLst/>
                <a:uLnTx/>
                <a:uFillTx/>
                <a:latin typeface="Graphik"/>
                <a:ea typeface="+mn-ea"/>
                <a:cs typeface="+mn-cs"/>
                <a:sym typeface="+mn-ea"/>
              </a:rPr>
              <a:t>Indexador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altLang="es-MX" sz="900" b="0" i="0" u="none" strike="noStrike" kern="1200" cap="none" spc="0" normalizeH="0" baseline="0" noProof="0" dirty="0">
                <a:ln>
                  <a:noFill/>
                </a:ln>
                <a:solidFill>
                  <a:srgbClr val="000000"/>
                </a:solidFill>
                <a:effectLst/>
                <a:uLnTx/>
                <a:uFillTx/>
                <a:latin typeface="Graphik"/>
                <a:ea typeface="+mn-ea"/>
                <a:cs typeface="+mn-cs"/>
                <a:sym typeface="+mn-ea"/>
              </a:rPr>
              <a:t>(Event HUB)</a:t>
            </a:r>
          </a:p>
        </p:txBody>
      </p:sp>
      <p:cxnSp>
        <p:nvCxnSpPr>
          <p:cNvPr id="19" name="Connector: Elbow 140">
            <a:extLst>
              <a:ext uri="{FF2B5EF4-FFF2-40B4-BE49-F238E27FC236}">
                <a16:creationId xmlns:a16="http://schemas.microsoft.com/office/drawing/2014/main" id="{4AC1A47E-BDE8-BB21-261A-04BF451571F9}"/>
              </a:ext>
            </a:extLst>
          </p:cNvPr>
          <p:cNvCxnSpPr>
            <a:cxnSpLocks/>
            <a:stCxn id="18" idx="3"/>
            <a:endCxn id="15" idx="4"/>
          </p:cNvCxnSpPr>
          <p:nvPr/>
        </p:nvCxnSpPr>
        <p:spPr>
          <a:xfrm flipH="1">
            <a:off x="3970020" y="1893982"/>
            <a:ext cx="203921" cy="1298163"/>
          </a:xfrm>
          <a:prstGeom prst="bentConnector3">
            <a:avLst>
              <a:gd name="adj1" fmla="val -112102"/>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20" name="Connector: Elbow 124">
            <a:extLst>
              <a:ext uri="{FF2B5EF4-FFF2-40B4-BE49-F238E27FC236}">
                <a16:creationId xmlns:a16="http://schemas.microsoft.com/office/drawing/2014/main" id="{DFEF5F2F-AFA4-9CAB-8AA4-C81CB958D288}"/>
              </a:ext>
            </a:extLst>
          </p:cNvPr>
          <p:cNvCxnSpPr>
            <a:stCxn id="17" idx="2"/>
            <a:endCxn id="18" idx="0"/>
          </p:cNvCxnSpPr>
          <p:nvPr/>
        </p:nvCxnSpPr>
        <p:spPr>
          <a:xfrm rot="5400000">
            <a:off x="4142740" y="929005"/>
            <a:ext cx="281940" cy="1360170"/>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21" name="Can 172">
            <a:extLst>
              <a:ext uri="{FF2B5EF4-FFF2-40B4-BE49-F238E27FC236}">
                <a16:creationId xmlns:a16="http://schemas.microsoft.com/office/drawing/2014/main" id="{F30B8306-D284-2AF3-9FD5-8EF731A353B4}"/>
              </a:ext>
            </a:extLst>
          </p:cNvPr>
          <p:cNvSpPr/>
          <p:nvPr/>
        </p:nvSpPr>
        <p:spPr bwMode="auto">
          <a:xfrm>
            <a:off x="1011295" y="1153813"/>
            <a:ext cx="312661" cy="1621605"/>
          </a:xfrm>
          <a:prstGeom prst="can">
            <a:avLst>
              <a:gd name="adj" fmla="val 59089"/>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Fuentes de datos</a:t>
            </a:r>
          </a:p>
        </p:txBody>
      </p:sp>
      <p:cxnSp>
        <p:nvCxnSpPr>
          <p:cNvPr id="22" name="Straight Arrow Connector 21">
            <a:extLst>
              <a:ext uri="{FF2B5EF4-FFF2-40B4-BE49-F238E27FC236}">
                <a16:creationId xmlns:a16="http://schemas.microsoft.com/office/drawing/2014/main" id="{91D0DB44-B305-7F4E-42BA-790D3441D04B}"/>
              </a:ext>
            </a:extLst>
          </p:cNvPr>
          <p:cNvCxnSpPr>
            <a:stCxn id="21" idx="4"/>
          </p:cNvCxnSpPr>
          <p:nvPr/>
        </p:nvCxnSpPr>
        <p:spPr>
          <a:xfrm>
            <a:off x="1323956" y="1964616"/>
            <a:ext cx="422386" cy="0"/>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600B4551-FC33-92AF-516B-EF2992542A76}"/>
              </a:ext>
            </a:extLst>
          </p:cNvPr>
          <p:cNvSpPr/>
          <p:nvPr/>
        </p:nvSpPr>
        <p:spPr>
          <a:xfrm>
            <a:off x="2405250" y="4381451"/>
            <a:ext cx="801612"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Trazabilidad E2E</a:t>
            </a:r>
          </a:p>
        </p:txBody>
      </p:sp>
      <p:sp>
        <p:nvSpPr>
          <p:cNvPr id="24" name="Rectangle 23">
            <a:extLst>
              <a:ext uri="{FF2B5EF4-FFF2-40B4-BE49-F238E27FC236}">
                <a16:creationId xmlns:a16="http://schemas.microsoft.com/office/drawing/2014/main" id="{6B0AB8B0-51CE-8A5B-C542-5B8821F3A8B0}"/>
              </a:ext>
            </a:extLst>
          </p:cNvPr>
          <p:cNvSpPr/>
          <p:nvPr/>
        </p:nvSpPr>
        <p:spPr>
          <a:xfrm>
            <a:off x="1583638" y="5659486"/>
            <a:ext cx="736093"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Feature flag</a:t>
            </a:r>
          </a:p>
        </p:txBody>
      </p:sp>
      <p:sp>
        <p:nvSpPr>
          <p:cNvPr id="25" name="Rectangle 24">
            <a:extLst>
              <a:ext uri="{FF2B5EF4-FFF2-40B4-BE49-F238E27FC236}">
                <a16:creationId xmlns:a16="http://schemas.microsoft.com/office/drawing/2014/main" id="{3C98096D-4D50-758F-D07B-5EB438C654B6}"/>
              </a:ext>
            </a:extLst>
          </p:cNvPr>
          <p:cNvSpPr/>
          <p:nvPr/>
        </p:nvSpPr>
        <p:spPr>
          <a:xfrm>
            <a:off x="3272234" y="5223483"/>
            <a:ext cx="736093"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Operaciones de Folio</a:t>
            </a:r>
          </a:p>
        </p:txBody>
      </p:sp>
      <p:sp>
        <p:nvSpPr>
          <p:cNvPr id="26" name="Rectangle 25">
            <a:extLst>
              <a:ext uri="{FF2B5EF4-FFF2-40B4-BE49-F238E27FC236}">
                <a16:creationId xmlns:a16="http://schemas.microsoft.com/office/drawing/2014/main" id="{C490F54B-0B26-12B9-1BE0-D01D27CE0219}"/>
              </a:ext>
            </a:extLst>
          </p:cNvPr>
          <p:cNvSpPr/>
          <p:nvPr/>
        </p:nvSpPr>
        <p:spPr>
          <a:xfrm>
            <a:off x="3272235" y="4763536"/>
            <a:ext cx="736093"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Servicios UUID</a:t>
            </a:r>
          </a:p>
        </p:txBody>
      </p:sp>
      <p:sp>
        <p:nvSpPr>
          <p:cNvPr id="27" name="Rectangle 26">
            <a:extLst>
              <a:ext uri="{FF2B5EF4-FFF2-40B4-BE49-F238E27FC236}">
                <a16:creationId xmlns:a16="http://schemas.microsoft.com/office/drawing/2014/main" id="{E8CD3EFF-2F11-1810-2959-541482EC0EEC}"/>
              </a:ext>
            </a:extLst>
          </p:cNvPr>
          <p:cNvSpPr/>
          <p:nvPr/>
        </p:nvSpPr>
        <p:spPr>
          <a:xfrm>
            <a:off x="1571661" y="4385096"/>
            <a:ext cx="774654"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Registro de auditoría</a:t>
            </a:r>
          </a:p>
        </p:txBody>
      </p:sp>
      <p:sp>
        <p:nvSpPr>
          <p:cNvPr id="28" name="Rectangle 27">
            <a:extLst>
              <a:ext uri="{FF2B5EF4-FFF2-40B4-BE49-F238E27FC236}">
                <a16:creationId xmlns:a16="http://schemas.microsoft.com/office/drawing/2014/main" id="{7BFB05C9-EFC1-FC8F-C6CF-60F95465B174}"/>
              </a:ext>
            </a:extLst>
          </p:cNvPr>
          <p:cNvSpPr/>
          <p:nvPr/>
        </p:nvSpPr>
        <p:spPr>
          <a:xfrm>
            <a:off x="1571659" y="4767576"/>
            <a:ext cx="761893"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Agregación de logs</a:t>
            </a:r>
          </a:p>
        </p:txBody>
      </p:sp>
      <p:sp>
        <p:nvSpPr>
          <p:cNvPr id="29" name="Rectangle 28">
            <a:extLst>
              <a:ext uri="{FF2B5EF4-FFF2-40B4-BE49-F238E27FC236}">
                <a16:creationId xmlns:a16="http://schemas.microsoft.com/office/drawing/2014/main" id="{1FEF22B6-C98B-1375-D9DB-143477FFFBFF}"/>
              </a:ext>
            </a:extLst>
          </p:cNvPr>
          <p:cNvSpPr/>
          <p:nvPr/>
        </p:nvSpPr>
        <p:spPr>
          <a:xfrm>
            <a:off x="3276335" y="4381451"/>
            <a:ext cx="736093"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Registro operativo</a:t>
            </a:r>
          </a:p>
        </p:txBody>
      </p:sp>
      <p:sp>
        <p:nvSpPr>
          <p:cNvPr id="30" name="Rectangle 29">
            <a:extLst>
              <a:ext uri="{FF2B5EF4-FFF2-40B4-BE49-F238E27FC236}">
                <a16:creationId xmlns:a16="http://schemas.microsoft.com/office/drawing/2014/main" id="{355798B7-C814-3C32-C0D6-F4DF79120069}"/>
              </a:ext>
            </a:extLst>
          </p:cNvPr>
          <p:cNvSpPr/>
          <p:nvPr/>
        </p:nvSpPr>
        <p:spPr>
          <a:xfrm>
            <a:off x="1583639" y="5216124"/>
            <a:ext cx="736093"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Trazabilidad distribuida</a:t>
            </a:r>
          </a:p>
        </p:txBody>
      </p:sp>
      <p:sp>
        <p:nvSpPr>
          <p:cNvPr id="31" name="Rectangle 30">
            <a:extLst>
              <a:ext uri="{FF2B5EF4-FFF2-40B4-BE49-F238E27FC236}">
                <a16:creationId xmlns:a16="http://schemas.microsoft.com/office/drawing/2014/main" id="{60998D4B-CCA6-DEF3-DB28-701C4B202869}"/>
              </a:ext>
            </a:extLst>
          </p:cNvPr>
          <p:cNvSpPr/>
          <p:nvPr/>
        </p:nvSpPr>
        <p:spPr>
          <a:xfrm>
            <a:off x="2405249" y="4765688"/>
            <a:ext cx="783429"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API Health</a:t>
            </a:r>
          </a:p>
        </p:txBody>
      </p:sp>
      <p:sp>
        <p:nvSpPr>
          <p:cNvPr id="32" name="Rectangle 31">
            <a:extLst>
              <a:ext uri="{FF2B5EF4-FFF2-40B4-BE49-F238E27FC236}">
                <a16:creationId xmlns:a16="http://schemas.microsoft.com/office/drawing/2014/main" id="{D4327D75-FF20-9E0A-8F40-75B1A0BBF8A8}"/>
              </a:ext>
            </a:extLst>
          </p:cNvPr>
          <p:cNvSpPr/>
          <p:nvPr/>
        </p:nvSpPr>
        <p:spPr>
          <a:xfrm>
            <a:off x="2405249" y="5216124"/>
            <a:ext cx="801611"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defRPr/>
            </a:pPr>
            <a:r>
              <a:rPr lang="es" sz="800" dirty="0">
                <a:solidFill>
                  <a:srgbClr val="000000"/>
                </a:solidFill>
              </a:rPr>
              <a:t>Monitorización del estado</a:t>
            </a:r>
          </a:p>
        </p:txBody>
      </p:sp>
      <p:sp>
        <p:nvSpPr>
          <p:cNvPr id="33" name="Rectangle 32">
            <a:extLst>
              <a:ext uri="{FF2B5EF4-FFF2-40B4-BE49-F238E27FC236}">
                <a16:creationId xmlns:a16="http://schemas.microsoft.com/office/drawing/2014/main" id="{7B38AAB8-E682-C9C2-0479-50E145102ECB}"/>
              </a:ext>
            </a:extLst>
          </p:cNvPr>
          <p:cNvSpPr/>
          <p:nvPr/>
        </p:nvSpPr>
        <p:spPr>
          <a:xfrm>
            <a:off x="6171399" y="4590143"/>
            <a:ext cx="809846"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Alertas</a:t>
            </a:r>
          </a:p>
        </p:txBody>
      </p:sp>
      <p:sp>
        <p:nvSpPr>
          <p:cNvPr id="34" name="Rectangle 33">
            <a:extLst>
              <a:ext uri="{FF2B5EF4-FFF2-40B4-BE49-F238E27FC236}">
                <a16:creationId xmlns:a16="http://schemas.microsoft.com/office/drawing/2014/main" id="{56B1FC81-D729-7DCB-CA23-654E14CE1D26}"/>
              </a:ext>
            </a:extLst>
          </p:cNvPr>
          <p:cNvSpPr/>
          <p:nvPr/>
        </p:nvSpPr>
        <p:spPr>
          <a:xfrm>
            <a:off x="7045570" y="4590143"/>
            <a:ext cx="736093"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 sz="900" dirty="0">
                <a:solidFill>
                  <a:srgbClr val="000000"/>
                </a:solidFill>
                <a:latin typeface="Graphik"/>
              </a:rPr>
              <a:t>Análitica de metricas</a:t>
            </a:r>
            <a:endParaRPr kumimoji="0" lang="es" sz="900" b="0" i="0" u="none" strike="noStrike" kern="1200" cap="none" spc="0" normalizeH="0" baseline="0" noProof="0" dirty="0">
              <a:ln>
                <a:noFill/>
              </a:ln>
              <a:solidFill>
                <a:srgbClr val="000000"/>
              </a:solidFill>
              <a:effectLst/>
              <a:uLnTx/>
              <a:uFillTx/>
              <a:latin typeface="Graphik"/>
              <a:ea typeface="+mn-ea"/>
              <a:cs typeface="+mn-cs"/>
            </a:endParaRPr>
          </a:p>
        </p:txBody>
      </p:sp>
      <p:sp>
        <p:nvSpPr>
          <p:cNvPr id="35" name="Rectangle 34">
            <a:extLst>
              <a:ext uri="{FF2B5EF4-FFF2-40B4-BE49-F238E27FC236}">
                <a16:creationId xmlns:a16="http://schemas.microsoft.com/office/drawing/2014/main" id="{BB919534-13B1-3B95-4281-0E9291CB0642}"/>
              </a:ext>
            </a:extLst>
          </p:cNvPr>
          <p:cNvSpPr/>
          <p:nvPr/>
        </p:nvSpPr>
        <p:spPr>
          <a:xfrm>
            <a:off x="6171398" y="5026405"/>
            <a:ext cx="809846"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Informes</a:t>
            </a:r>
          </a:p>
        </p:txBody>
      </p:sp>
      <p:sp>
        <p:nvSpPr>
          <p:cNvPr id="36" name="TextBox 35">
            <a:extLst>
              <a:ext uri="{FF2B5EF4-FFF2-40B4-BE49-F238E27FC236}">
                <a16:creationId xmlns:a16="http://schemas.microsoft.com/office/drawing/2014/main" id="{375C51A6-D782-67F4-A281-2FA1312F6E9B}"/>
              </a:ext>
            </a:extLst>
          </p:cNvPr>
          <p:cNvSpPr txBox="1"/>
          <p:nvPr/>
        </p:nvSpPr>
        <p:spPr>
          <a:xfrm>
            <a:off x="9459310" y="2354317"/>
            <a:ext cx="0" cy="0"/>
          </a:xfrm>
          <a:prstGeom prst="rect">
            <a:avLst/>
          </a:prstGeom>
          <a:noFill/>
        </p:spPr>
        <p:txBody>
          <a:bodyPr wrap="none" lIns="0" tIns="0" rIns="0" bIns="0" rtlCol="0">
            <a:noAutofit/>
          </a:bodyPr>
          <a:lstStyle/>
          <a:p>
            <a:pPr marL="0" marR="0" lvl="0" indent="0" algn="l" defTabSz="228600" rtl="0" eaLnBrk="1" fontAlgn="auto" latinLnBrk="0" hangingPunct="1">
              <a:lnSpc>
                <a:spcPct val="100000"/>
              </a:lnSpc>
              <a:spcBef>
                <a:spcPts val="0"/>
              </a:spcBef>
              <a:spcAft>
                <a:spcPts val="120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Graphik"/>
              <a:ea typeface="+mn-ea"/>
              <a:cs typeface="+mn-cs"/>
            </a:endParaRPr>
          </a:p>
        </p:txBody>
      </p:sp>
      <p:sp>
        <p:nvSpPr>
          <p:cNvPr id="37" name="Rectangle 36">
            <a:extLst>
              <a:ext uri="{FF2B5EF4-FFF2-40B4-BE49-F238E27FC236}">
                <a16:creationId xmlns:a16="http://schemas.microsoft.com/office/drawing/2014/main" id="{891413EE-7A27-2479-45CE-6541F88DA2EC}"/>
              </a:ext>
            </a:extLst>
          </p:cNvPr>
          <p:cNvSpPr/>
          <p:nvPr/>
        </p:nvSpPr>
        <p:spPr>
          <a:xfrm>
            <a:off x="1781121" y="1125633"/>
            <a:ext cx="844771" cy="342045"/>
          </a:xfrm>
          <a:prstGeom prst="rect">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FFFFFF"/>
                </a:solidFill>
                <a:effectLst/>
                <a:uLnTx/>
                <a:uFillTx/>
                <a:latin typeface="Graphik"/>
                <a:ea typeface="+mn-ea"/>
                <a:cs typeface="+mn-cs"/>
              </a:rPr>
              <a:t>Colector (API, Syslog, Agent)</a:t>
            </a:r>
          </a:p>
        </p:txBody>
      </p:sp>
      <p:cxnSp>
        <p:nvCxnSpPr>
          <p:cNvPr id="38" name="Straight Arrow Connector 37">
            <a:extLst>
              <a:ext uri="{FF2B5EF4-FFF2-40B4-BE49-F238E27FC236}">
                <a16:creationId xmlns:a16="http://schemas.microsoft.com/office/drawing/2014/main" id="{F656C774-DFBD-0EAA-8AC1-0B22E2FA835B}"/>
              </a:ext>
            </a:extLst>
          </p:cNvPr>
          <p:cNvCxnSpPr>
            <a:cxnSpLocks/>
            <a:stCxn id="10" idx="3"/>
            <a:endCxn id="72" idx="2"/>
          </p:cNvCxnSpPr>
          <p:nvPr/>
        </p:nvCxnSpPr>
        <p:spPr>
          <a:xfrm>
            <a:off x="4173975" y="5259133"/>
            <a:ext cx="1120129" cy="11685"/>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9" name="Rectangle 38">
            <a:extLst>
              <a:ext uri="{FF2B5EF4-FFF2-40B4-BE49-F238E27FC236}">
                <a16:creationId xmlns:a16="http://schemas.microsoft.com/office/drawing/2014/main" id="{5B46E7F5-82FB-42FC-8FD7-026DE763FFD3}"/>
              </a:ext>
            </a:extLst>
          </p:cNvPr>
          <p:cNvSpPr/>
          <p:nvPr/>
        </p:nvSpPr>
        <p:spPr>
          <a:xfrm>
            <a:off x="6187573" y="5438184"/>
            <a:ext cx="793672"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Dashboards empresariales</a:t>
            </a:r>
          </a:p>
        </p:txBody>
      </p:sp>
      <p:sp>
        <p:nvSpPr>
          <p:cNvPr id="40" name="Rectangle 39">
            <a:extLst>
              <a:ext uri="{FF2B5EF4-FFF2-40B4-BE49-F238E27FC236}">
                <a16:creationId xmlns:a16="http://schemas.microsoft.com/office/drawing/2014/main" id="{B5FD1899-D4D5-B44A-FAD9-1BEE2602C73C}"/>
              </a:ext>
            </a:extLst>
          </p:cNvPr>
          <p:cNvSpPr/>
          <p:nvPr/>
        </p:nvSpPr>
        <p:spPr>
          <a:xfrm>
            <a:off x="6187573" y="5861990"/>
            <a:ext cx="793672"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Dashboards </a:t>
            </a:r>
            <a:r>
              <a:rPr lang="es" sz="900" dirty="0">
                <a:solidFill>
                  <a:srgbClr val="000000"/>
                </a:solidFill>
                <a:latin typeface="Graphik"/>
              </a:rPr>
              <a:t>Té</a:t>
            </a:r>
            <a:r>
              <a:rPr kumimoji="0" lang="es" sz="900" b="0" i="0" u="none" strike="noStrike" kern="1200" cap="none" spc="0" normalizeH="0" baseline="0" noProof="0" dirty="0">
                <a:ln>
                  <a:noFill/>
                </a:ln>
                <a:solidFill>
                  <a:srgbClr val="000000"/>
                </a:solidFill>
                <a:effectLst/>
                <a:uLnTx/>
                <a:uFillTx/>
                <a:latin typeface="Graphik"/>
                <a:ea typeface="+mn-ea"/>
                <a:cs typeface="+mn-cs"/>
              </a:rPr>
              <a:t>cnicos</a:t>
            </a:r>
          </a:p>
        </p:txBody>
      </p:sp>
      <p:sp>
        <p:nvSpPr>
          <p:cNvPr id="41" name="TextBox 40">
            <a:extLst>
              <a:ext uri="{FF2B5EF4-FFF2-40B4-BE49-F238E27FC236}">
                <a16:creationId xmlns:a16="http://schemas.microsoft.com/office/drawing/2014/main" id="{7B230B89-5260-DFBB-7685-9DE289149A14}"/>
              </a:ext>
            </a:extLst>
          </p:cNvPr>
          <p:cNvSpPr txBox="1"/>
          <p:nvPr/>
        </p:nvSpPr>
        <p:spPr>
          <a:xfrm>
            <a:off x="4300151" y="6250954"/>
            <a:ext cx="0" cy="0"/>
          </a:xfrm>
          <a:prstGeom prst="rect">
            <a:avLst/>
          </a:prstGeom>
          <a:noFill/>
        </p:spPr>
        <p:txBody>
          <a:bodyPr wrap="none" lIns="0" tIns="0" rIns="0" bIns="0" rtlCol="0">
            <a:noAutofit/>
          </a:bodyPr>
          <a:lstStyle/>
          <a:p>
            <a:pPr marL="0" marR="0" lvl="0" indent="0" algn="l" defTabSz="228600" rtl="0" eaLnBrk="1" fontAlgn="auto" latinLnBrk="0" hangingPunct="1">
              <a:lnSpc>
                <a:spcPct val="100000"/>
              </a:lnSpc>
              <a:spcBef>
                <a:spcPts val="0"/>
              </a:spcBef>
              <a:spcAft>
                <a:spcPts val="120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Graphik"/>
              <a:ea typeface="+mn-ea"/>
              <a:cs typeface="+mn-cs"/>
            </a:endParaRPr>
          </a:p>
        </p:txBody>
      </p:sp>
      <p:cxnSp>
        <p:nvCxnSpPr>
          <p:cNvPr id="42" name="Straight Arrow Connector 41">
            <a:extLst>
              <a:ext uri="{FF2B5EF4-FFF2-40B4-BE49-F238E27FC236}">
                <a16:creationId xmlns:a16="http://schemas.microsoft.com/office/drawing/2014/main" id="{545E0F0C-31B1-B7D2-F84C-3A82AF7B00A2}"/>
              </a:ext>
            </a:extLst>
          </p:cNvPr>
          <p:cNvCxnSpPr/>
          <p:nvPr/>
        </p:nvCxnSpPr>
        <p:spPr>
          <a:xfrm>
            <a:off x="5721576" y="5250627"/>
            <a:ext cx="317500" cy="6985"/>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3" name="Rectangle 42">
            <a:extLst>
              <a:ext uri="{FF2B5EF4-FFF2-40B4-BE49-F238E27FC236}">
                <a16:creationId xmlns:a16="http://schemas.microsoft.com/office/drawing/2014/main" id="{D0074FE2-440C-0D97-BD66-D18C23B13CB3}"/>
              </a:ext>
            </a:extLst>
          </p:cNvPr>
          <p:cNvSpPr/>
          <p:nvPr/>
        </p:nvSpPr>
        <p:spPr>
          <a:xfrm>
            <a:off x="1746265" y="1749775"/>
            <a:ext cx="917761" cy="457912"/>
          </a:xfrm>
          <a:prstGeom prst="rect">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FFFFFF"/>
                </a:solidFill>
                <a:effectLst/>
                <a:uLnTx/>
                <a:uFillTx/>
                <a:latin typeface="Graphik"/>
                <a:ea typeface="+mn-ea"/>
                <a:cs typeface="+mn-cs"/>
              </a:rPr>
              <a:t> Enrutamiento de terceros (S2S, C2S, FIREWALL</a:t>
            </a:r>
          </a:p>
        </p:txBody>
      </p:sp>
      <p:sp>
        <p:nvSpPr>
          <p:cNvPr id="44" name="Rectangle 43">
            <a:extLst>
              <a:ext uri="{FF2B5EF4-FFF2-40B4-BE49-F238E27FC236}">
                <a16:creationId xmlns:a16="http://schemas.microsoft.com/office/drawing/2014/main" id="{05CD9692-9404-37CC-F6C4-129EC9662DFE}"/>
              </a:ext>
            </a:extLst>
          </p:cNvPr>
          <p:cNvSpPr/>
          <p:nvPr/>
        </p:nvSpPr>
        <p:spPr>
          <a:xfrm>
            <a:off x="240757" y="3380294"/>
            <a:ext cx="1141171" cy="288000"/>
          </a:xfrm>
          <a:prstGeom prst="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altLang="es-MX" sz="900" b="0" i="0" u="none" strike="noStrike" kern="1200" cap="none" spc="0" normalizeH="0" baseline="0" noProof="0" dirty="0">
                <a:ln>
                  <a:noFill/>
                </a:ln>
                <a:solidFill>
                  <a:srgbClr val="000000"/>
                </a:solidFill>
                <a:effectLst/>
                <a:uLnTx/>
                <a:uFillTx/>
                <a:latin typeface="Graphik"/>
                <a:ea typeface="+mn-ea"/>
                <a:cs typeface="+mn-cs"/>
                <a:sym typeface="+mn-ea"/>
              </a:rPr>
              <a:t>Busqueda de Cabecera</a:t>
            </a:r>
          </a:p>
        </p:txBody>
      </p:sp>
      <p:cxnSp>
        <p:nvCxnSpPr>
          <p:cNvPr id="45" name="Connector: Elbow 140">
            <a:extLst>
              <a:ext uri="{FF2B5EF4-FFF2-40B4-BE49-F238E27FC236}">
                <a16:creationId xmlns:a16="http://schemas.microsoft.com/office/drawing/2014/main" id="{41D2E064-0A4B-5B49-4EAC-7CB364932CA3}"/>
              </a:ext>
            </a:extLst>
          </p:cNvPr>
          <p:cNvCxnSpPr>
            <a:cxnSpLocks/>
            <a:stCxn id="15" idx="2"/>
            <a:endCxn id="44" idx="0"/>
          </p:cNvCxnSpPr>
          <p:nvPr/>
        </p:nvCxnSpPr>
        <p:spPr>
          <a:xfrm rot="10800000" flipV="1">
            <a:off x="811344" y="3192144"/>
            <a:ext cx="2327697" cy="188149"/>
          </a:xfrm>
          <a:prstGeom prst="bentConnector2">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6" name="Connector: Elbow 140">
            <a:extLst>
              <a:ext uri="{FF2B5EF4-FFF2-40B4-BE49-F238E27FC236}">
                <a16:creationId xmlns:a16="http://schemas.microsoft.com/office/drawing/2014/main" id="{34FE29BA-B472-E2E1-6972-95028811D860}"/>
              </a:ext>
            </a:extLst>
          </p:cNvPr>
          <p:cNvCxnSpPr>
            <a:stCxn id="44" idx="2"/>
            <a:endCxn id="10" idx="0"/>
          </p:cNvCxnSpPr>
          <p:nvPr/>
        </p:nvCxnSpPr>
        <p:spPr>
          <a:xfrm rot="5400000" flipV="1">
            <a:off x="1618615" y="2861310"/>
            <a:ext cx="414655" cy="2028825"/>
          </a:xfrm>
          <a:prstGeom prst="bentConnector3">
            <a:avLst>
              <a:gd name="adj1" fmla="val 50077"/>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pic>
        <p:nvPicPr>
          <p:cNvPr id="47" name="Picture 2" descr="Logo negro de Splunk PNG transparente - StickPNG">
            <a:extLst>
              <a:ext uri="{FF2B5EF4-FFF2-40B4-BE49-F238E27FC236}">
                <a16:creationId xmlns:a16="http://schemas.microsoft.com/office/drawing/2014/main" id="{B8D99B4B-379E-E007-1178-47676249F37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1588" t="30330" r="10744" b="32049"/>
          <a:stretch>
            <a:fillRect/>
          </a:stretch>
        </p:blipFill>
        <p:spPr bwMode="auto">
          <a:xfrm>
            <a:off x="5200401" y="6124697"/>
            <a:ext cx="677803" cy="245921"/>
          </a:xfrm>
          <a:prstGeom prst="rect">
            <a:avLst/>
          </a:prstGeom>
          <a:noFill/>
          <a:extLst>
            <a:ext uri="{909E8E84-426E-40DD-AFC4-6F175D3DCCD1}">
              <a14:hiddenFill xmlns:a14="http://schemas.microsoft.com/office/drawing/2010/main">
                <a:solidFill>
                  <a:srgbClr val="FFFFFF"/>
                </a:solidFill>
              </a14:hiddenFill>
            </a:ext>
          </a:extLst>
        </p:spPr>
      </p:pic>
      <p:sp>
        <p:nvSpPr>
          <p:cNvPr id="48" name="Can 172">
            <a:extLst>
              <a:ext uri="{FF2B5EF4-FFF2-40B4-BE49-F238E27FC236}">
                <a16:creationId xmlns:a16="http://schemas.microsoft.com/office/drawing/2014/main" id="{9BAB9BA6-0BD9-8C49-1CA0-6DE8863E910F}"/>
              </a:ext>
            </a:extLst>
          </p:cNvPr>
          <p:cNvSpPr/>
          <p:nvPr/>
        </p:nvSpPr>
        <p:spPr bwMode="auto">
          <a:xfrm>
            <a:off x="399949" y="1154238"/>
            <a:ext cx="312661" cy="1621605"/>
          </a:xfrm>
          <a:prstGeom prst="can">
            <a:avLst>
              <a:gd name="adj" fmla="val 59089"/>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Evento por diseño</a:t>
            </a:r>
          </a:p>
        </p:txBody>
      </p:sp>
      <p:sp>
        <p:nvSpPr>
          <p:cNvPr id="49" name="Rectangle 48">
            <a:extLst>
              <a:ext uri="{FF2B5EF4-FFF2-40B4-BE49-F238E27FC236}">
                <a16:creationId xmlns:a16="http://schemas.microsoft.com/office/drawing/2014/main" id="{DF5E55A6-8B72-0570-FA8F-159FE10714EB}"/>
              </a:ext>
            </a:extLst>
          </p:cNvPr>
          <p:cNvSpPr/>
          <p:nvPr/>
        </p:nvSpPr>
        <p:spPr>
          <a:xfrm>
            <a:off x="5099685" y="1842135"/>
            <a:ext cx="1557020" cy="1261745"/>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90000" tIns="90000" rIns="90000" bIns="900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Almacenamiento de eventos (S3... Etcétera).</a:t>
            </a:r>
          </a:p>
        </p:txBody>
      </p:sp>
      <p:cxnSp>
        <p:nvCxnSpPr>
          <p:cNvPr id="50" name="Connector: Elbow 140">
            <a:extLst>
              <a:ext uri="{FF2B5EF4-FFF2-40B4-BE49-F238E27FC236}">
                <a16:creationId xmlns:a16="http://schemas.microsoft.com/office/drawing/2014/main" id="{799D634D-6563-A11D-DBAC-145A5212C435}"/>
              </a:ext>
            </a:extLst>
          </p:cNvPr>
          <p:cNvCxnSpPr>
            <a:cxnSpLocks/>
            <a:stCxn id="18" idx="3"/>
            <a:endCxn id="49" idx="0"/>
          </p:cNvCxnSpPr>
          <p:nvPr/>
        </p:nvCxnSpPr>
        <p:spPr>
          <a:xfrm flipV="1">
            <a:off x="4173941" y="1842135"/>
            <a:ext cx="1704254" cy="51847"/>
          </a:xfrm>
          <a:prstGeom prst="bentConnector4">
            <a:avLst>
              <a:gd name="adj1" fmla="val 48850"/>
              <a:gd name="adj2" fmla="val 399695"/>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51" name="Rectangle 50">
            <a:extLst>
              <a:ext uri="{FF2B5EF4-FFF2-40B4-BE49-F238E27FC236}">
                <a16:creationId xmlns:a16="http://schemas.microsoft.com/office/drawing/2014/main" id="{E426D0A3-7E8E-9675-4DF3-102003C39011}"/>
              </a:ext>
            </a:extLst>
          </p:cNvPr>
          <p:cNvSpPr/>
          <p:nvPr/>
        </p:nvSpPr>
        <p:spPr>
          <a:xfrm>
            <a:off x="5201920" y="2253175"/>
            <a:ext cx="1325880" cy="21336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Cloud</a:t>
            </a:r>
          </a:p>
        </p:txBody>
      </p:sp>
      <p:sp>
        <p:nvSpPr>
          <p:cNvPr id="52" name="Rectangle 51">
            <a:extLst>
              <a:ext uri="{FF2B5EF4-FFF2-40B4-BE49-F238E27FC236}">
                <a16:creationId xmlns:a16="http://schemas.microsoft.com/office/drawing/2014/main" id="{7ADA3FBE-89BD-9882-806C-60ED06378CF7}"/>
              </a:ext>
            </a:extLst>
          </p:cNvPr>
          <p:cNvSpPr/>
          <p:nvPr/>
        </p:nvSpPr>
        <p:spPr>
          <a:xfrm>
            <a:off x="5201920" y="2525558"/>
            <a:ext cx="1325880" cy="22098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DB</a:t>
            </a:r>
          </a:p>
        </p:txBody>
      </p:sp>
      <p:sp>
        <p:nvSpPr>
          <p:cNvPr id="53" name="Rectangle 52">
            <a:extLst>
              <a:ext uri="{FF2B5EF4-FFF2-40B4-BE49-F238E27FC236}">
                <a16:creationId xmlns:a16="http://schemas.microsoft.com/office/drawing/2014/main" id="{27F2620D-DBA0-B44A-16B5-5D03C60C72C7}"/>
              </a:ext>
            </a:extLst>
          </p:cNvPr>
          <p:cNvSpPr/>
          <p:nvPr/>
        </p:nvSpPr>
        <p:spPr>
          <a:xfrm>
            <a:off x="5201919" y="2807389"/>
            <a:ext cx="1325879" cy="21209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Rotación de </a:t>
            </a:r>
            <a:r>
              <a:rPr lang="es" sz="900" dirty="0">
                <a:solidFill>
                  <a:srgbClr val="000000"/>
                </a:solidFill>
                <a:latin typeface="Graphik"/>
              </a:rPr>
              <a:t>logs</a:t>
            </a:r>
            <a:endParaRPr kumimoji="0" lang="es" sz="900" b="0" i="0" u="none" strike="noStrike" kern="1200" cap="none" spc="0" normalizeH="0" baseline="0" noProof="0" dirty="0">
              <a:ln>
                <a:noFill/>
              </a:ln>
              <a:solidFill>
                <a:srgbClr val="000000"/>
              </a:solidFill>
              <a:effectLst/>
              <a:uLnTx/>
              <a:uFillTx/>
              <a:latin typeface="Graphik"/>
              <a:ea typeface="+mn-ea"/>
              <a:cs typeface="+mn-cs"/>
            </a:endParaRPr>
          </a:p>
        </p:txBody>
      </p:sp>
      <p:sp>
        <p:nvSpPr>
          <p:cNvPr id="54" name="Rectangle 53">
            <a:extLst>
              <a:ext uri="{FF2B5EF4-FFF2-40B4-BE49-F238E27FC236}">
                <a16:creationId xmlns:a16="http://schemas.microsoft.com/office/drawing/2014/main" id="{2C1AB51A-C928-C8DA-43F2-417D469A0B55}"/>
              </a:ext>
            </a:extLst>
          </p:cNvPr>
          <p:cNvSpPr/>
          <p:nvPr/>
        </p:nvSpPr>
        <p:spPr>
          <a:xfrm>
            <a:off x="8041005" y="4514215"/>
            <a:ext cx="1880704" cy="1779905"/>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90000" tIns="90000" rIns="90000" bIns="900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Notificación</a:t>
            </a:r>
          </a:p>
        </p:txBody>
      </p:sp>
      <p:sp>
        <p:nvSpPr>
          <p:cNvPr id="55" name="Rectangle 54">
            <a:extLst>
              <a:ext uri="{FF2B5EF4-FFF2-40B4-BE49-F238E27FC236}">
                <a16:creationId xmlns:a16="http://schemas.microsoft.com/office/drawing/2014/main" id="{A434F84B-AC2B-75AC-FECE-0286024EC6E9}"/>
              </a:ext>
            </a:extLst>
          </p:cNvPr>
          <p:cNvSpPr/>
          <p:nvPr/>
        </p:nvSpPr>
        <p:spPr>
          <a:xfrm>
            <a:off x="8164447" y="4784241"/>
            <a:ext cx="736093"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MAIL</a:t>
            </a:r>
          </a:p>
        </p:txBody>
      </p:sp>
      <p:sp>
        <p:nvSpPr>
          <p:cNvPr id="56" name="Rectangle 55">
            <a:extLst>
              <a:ext uri="{FF2B5EF4-FFF2-40B4-BE49-F238E27FC236}">
                <a16:creationId xmlns:a16="http://schemas.microsoft.com/office/drawing/2014/main" id="{43EF9A92-E0B3-767E-ED74-497C52EE29F3}"/>
              </a:ext>
            </a:extLst>
          </p:cNvPr>
          <p:cNvSpPr/>
          <p:nvPr/>
        </p:nvSpPr>
        <p:spPr>
          <a:xfrm>
            <a:off x="8164447" y="5155455"/>
            <a:ext cx="736093"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RSS</a:t>
            </a:r>
          </a:p>
        </p:txBody>
      </p:sp>
      <p:sp>
        <p:nvSpPr>
          <p:cNvPr id="57" name="Rectangle 56">
            <a:extLst>
              <a:ext uri="{FF2B5EF4-FFF2-40B4-BE49-F238E27FC236}">
                <a16:creationId xmlns:a16="http://schemas.microsoft.com/office/drawing/2014/main" id="{6706E68C-F9EF-BEB5-9E1E-554798C46EEC}"/>
              </a:ext>
            </a:extLst>
          </p:cNvPr>
          <p:cNvSpPr/>
          <p:nvPr/>
        </p:nvSpPr>
        <p:spPr>
          <a:xfrm>
            <a:off x="8164447" y="5533152"/>
            <a:ext cx="736093"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SMS</a:t>
            </a:r>
          </a:p>
        </p:txBody>
      </p:sp>
      <p:sp>
        <p:nvSpPr>
          <p:cNvPr id="58" name="Rectangle 57">
            <a:extLst>
              <a:ext uri="{FF2B5EF4-FFF2-40B4-BE49-F238E27FC236}">
                <a16:creationId xmlns:a16="http://schemas.microsoft.com/office/drawing/2014/main" id="{20F65E03-DD6A-F4BC-5CDA-72A0F1AB25C1}"/>
              </a:ext>
            </a:extLst>
          </p:cNvPr>
          <p:cNvSpPr/>
          <p:nvPr/>
        </p:nvSpPr>
        <p:spPr>
          <a:xfrm>
            <a:off x="8952578" y="5890411"/>
            <a:ext cx="831965"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Service Now</a:t>
            </a:r>
          </a:p>
        </p:txBody>
      </p:sp>
      <p:sp>
        <p:nvSpPr>
          <p:cNvPr id="59" name="Rectangle 58">
            <a:extLst>
              <a:ext uri="{FF2B5EF4-FFF2-40B4-BE49-F238E27FC236}">
                <a16:creationId xmlns:a16="http://schemas.microsoft.com/office/drawing/2014/main" id="{7B93860B-4111-9D3B-81A7-9F61BB982ACF}"/>
              </a:ext>
            </a:extLst>
          </p:cNvPr>
          <p:cNvSpPr/>
          <p:nvPr/>
        </p:nvSpPr>
        <p:spPr>
          <a:xfrm>
            <a:off x="1800225" y="2928620"/>
            <a:ext cx="1079500" cy="658495"/>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90000" tIns="90000" rIns="90000" bIns="900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Seguridad</a:t>
            </a:r>
          </a:p>
        </p:txBody>
      </p:sp>
      <p:sp>
        <p:nvSpPr>
          <p:cNvPr id="60" name="Rectangle 59">
            <a:extLst>
              <a:ext uri="{FF2B5EF4-FFF2-40B4-BE49-F238E27FC236}">
                <a16:creationId xmlns:a16="http://schemas.microsoft.com/office/drawing/2014/main" id="{96590DEA-C550-7945-B7EA-13DEBF0AEBAE}"/>
              </a:ext>
            </a:extLst>
          </p:cNvPr>
          <p:cNvSpPr/>
          <p:nvPr/>
        </p:nvSpPr>
        <p:spPr>
          <a:xfrm>
            <a:off x="1889760" y="3215005"/>
            <a:ext cx="849630" cy="26289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Acceso</a:t>
            </a:r>
          </a:p>
        </p:txBody>
      </p:sp>
      <p:sp>
        <p:nvSpPr>
          <p:cNvPr id="61" name="Rectangle 60">
            <a:extLst>
              <a:ext uri="{FF2B5EF4-FFF2-40B4-BE49-F238E27FC236}">
                <a16:creationId xmlns:a16="http://schemas.microsoft.com/office/drawing/2014/main" id="{AA9F4D2F-E03F-4AFD-D467-CF0512D75A1E}"/>
              </a:ext>
            </a:extLst>
          </p:cNvPr>
          <p:cNvSpPr/>
          <p:nvPr/>
        </p:nvSpPr>
        <p:spPr>
          <a:xfrm>
            <a:off x="4216650" y="4688840"/>
            <a:ext cx="963520" cy="1283335"/>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90000" tIns="90000" rIns="90000" bIns="900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Caso de uso automatizado:</a:t>
            </a:r>
            <a:br>
              <a:rPr kumimoji="0" lang="en-US" sz="900" b="0" i="0" u="none" strike="noStrike" kern="1200" cap="none" spc="0" normalizeH="0" baseline="0" noProof="0">
                <a:ln>
                  <a:noFill/>
                </a:ln>
                <a:solidFill>
                  <a:srgbClr val="000000"/>
                </a:solidFill>
                <a:effectLst/>
                <a:uLnTx/>
                <a:uFillTx/>
                <a:latin typeface="Graphik"/>
                <a:ea typeface="+mn-ea"/>
                <a:cs typeface="+mn-cs"/>
              </a:rPr>
            </a:br>
            <a:br>
              <a:rPr kumimoji="0" lang="en-US" sz="900" b="0" i="0" u="none" strike="noStrike" kern="1200" cap="none" spc="0" normalizeH="0" baseline="0" noProof="0">
                <a:ln>
                  <a:noFill/>
                </a:ln>
                <a:solidFill>
                  <a:srgbClr val="000000"/>
                </a:solidFill>
                <a:effectLst/>
                <a:uLnTx/>
                <a:uFillTx/>
                <a:latin typeface="Graphik"/>
                <a:ea typeface="+mn-ea"/>
                <a:cs typeface="+mn-cs"/>
              </a:rPr>
            </a:br>
            <a:r>
              <a:rPr kumimoji="0" lang="es" altLang="en-US" sz="900" b="0" i="0" u="none" strike="noStrike" kern="1200" cap="none" spc="0" normalizeH="0" baseline="0" noProof="0">
                <a:ln>
                  <a:noFill/>
                </a:ln>
                <a:solidFill>
                  <a:srgbClr val="000000"/>
                </a:solidFill>
                <a:effectLst/>
                <a:uLnTx/>
                <a:uFillTx/>
                <a:latin typeface="Graphik"/>
                <a:ea typeface="+mn-ea"/>
                <a:cs typeface="+mn-cs"/>
              </a:rPr>
              <a:t> ML </a:t>
            </a:r>
            <a:br>
              <a:rPr kumimoji="0" lang="en-US" sz="900" b="0" i="0" u="none" strike="noStrike" kern="1200" cap="none" spc="0" normalizeH="0" baseline="0" noProof="0">
                <a:ln>
                  <a:noFill/>
                </a:ln>
                <a:solidFill>
                  <a:srgbClr val="000000"/>
                </a:solidFill>
                <a:effectLst/>
                <a:uLnTx/>
                <a:uFillTx/>
                <a:latin typeface="Graphik"/>
                <a:ea typeface="+mn-ea"/>
                <a:cs typeface="+mn-cs"/>
              </a:rPr>
            </a:br>
            <a:r>
              <a:rPr kumimoji="0" lang="es" altLang="en-US" sz="900" b="0" i="0" u="none" strike="noStrike" kern="1200" cap="none" spc="0" normalizeH="0" baseline="0" noProof="0">
                <a:ln>
                  <a:noFill/>
                </a:ln>
                <a:solidFill>
                  <a:srgbClr val="000000"/>
                </a:solidFill>
                <a:effectLst/>
                <a:uLnTx/>
                <a:uFillTx/>
                <a:latin typeface="Graphik"/>
                <a:ea typeface="+mn-ea"/>
                <a:cs typeface="+mn-cs"/>
              </a:rPr>
              <a:t>- SOAR </a:t>
            </a:r>
            <a:br>
              <a:rPr kumimoji="0" lang="en-US" sz="900" b="0" i="0" u="none" strike="noStrike" kern="1200" cap="none" spc="0" normalizeH="0" baseline="0" noProof="0">
                <a:ln>
                  <a:noFill/>
                </a:ln>
                <a:solidFill>
                  <a:srgbClr val="000000"/>
                </a:solidFill>
                <a:effectLst/>
                <a:uLnTx/>
                <a:uFillTx/>
                <a:latin typeface="Graphik"/>
                <a:ea typeface="+mn-ea"/>
                <a:cs typeface="+mn-cs"/>
              </a:rPr>
            </a:br>
            <a:r>
              <a:rPr kumimoji="0" lang="es" altLang="en-US" sz="900" b="0" i="0" u="none" strike="noStrike" kern="1200" cap="none" spc="0" normalizeH="0" baseline="0" noProof="0">
                <a:ln>
                  <a:noFill/>
                </a:ln>
                <a:solidFill>
                  <a:srgbClr val="000000"/>
                </a:solidFill>
                <a:effectLst/>
                <a:uLnTx/>
                <a:uFillTx/>
                <a:latin typeface="Graphik"/>
                <a:ea typeface="+mn-ea"/>
                <a:cs typeface="+mn-cs"/>
              </a:rPr>
              <a:t>- IA</a:t>
            </a:r>
          </a:p>
        </p:txBody>
      </p:sp>
      <p:sp>
        <p:nvSpPr>
          <p:cNvPr id="62" name="Rectangle 61">
            <a:extLst>
              <a:ext uri="{FF2B5EF4-FFF2-40B4-BE49-F238E27FC236}">
                <a16:creationId xmlns:a16="http://schemas.microsoft.com/office/drawing/2014/main" id="{17B07E57-790B-1D70-D729-CA832A984C91}"/>
              </a:ext>
            </a:extLst>
          </p:cNvPr>
          <p:cNvSpPr/>
          <p:nvPr/>
        </p:nvSpPr>
        <p:spPr>
          <a:xfrm>
            <a:off x="7046574" y="5023058"/>
            <a:ext cx="736093"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Correlación empresarial</a:t>
            </a:r>
          </a:p>
        </p:txBody>
      </p:sp>
      <p:sp>
        <p:nvSpPr>
          <p:cNvPr id="63" name="Rectangle 62">
            <a:extLst>
              <a:ext uri="{FF2B5EF4-FFF2-40B4-BE49-F238E27FC236}">
                <a16:creationId xmlns:a16="http://schemas.microsoft.com/office/drawing/2014/main" id="{62FA7060-719E-B4D4-088B-6E58106D0D15}"/>
              </a:ext>
            </a:extLst>
          </p:cNvPr>
          <p:cNvSpPr/>
          <p:nvPr/>
        </p:nvSpPr>
        <p:spPr>
          <a:xfrm>
            <a:off x="2396649" y="5635210"/>
            <a:ext cx="801612"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Incidente (Op. Sec, Buss).</a:t>
            </a:r>
          </a:p>
        </p:txBody>
      </p:sp>
      <p:sp>
        <p:nvSpPr>
          <p:cNvPr id="64" name="Rectangle 63">
            <a:extLst>
              <a:ext uri="{FF2B5EF4-FFF2-40B4-BE49-F238E27FC236}">
                <a16:creationId xmlns:a16="http://schemas.microsoft.com/office/drawing/2014/main" id="{6FD01F8D-B17E-9BF8-12AF-12B98469146F}"/>
              </a:ext>
            </a:extLst>
          </p:cNvPr>
          <p:cNvSpPr/>
          <p:nvPr/>
        </p:nvSpPr>
        <p:spPr>
          <a:xfrm>
            <a:off x="8164447" y="5887664"/>
            <a:ext cx="736093"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Web Socket</a:t>
            </a:r>
          </a:p>
        </p:txBody>
      </p:sp>
      <p:cxnSp>
        <p:nvCxnSpPr>
          <p:cNvPr id="65" name="Connector: Elbow 140">
            <a:extLst>
              <a:ext uri="{FF2B5EF4-FFF2-40B4-BE49-F238E27FC236}">
                <a16:creationId xmlns:a16="http://schemas.microsoft.com/office/drawing/2014/main" id="{1BC71F56-AB6B-9E7F-6392-81EB824AE235}"/>
              </a:ext>
            </a:extLst>
          </p:cNvPr>
          <p:cNvCxnSpPr>
            <a:cxnSpLocks/>
            <a:stCxn id="11" idx="3"/>
            <a:endCxn id="54" idx="0"/>
          </p:cNvCxnSpPr>
          <p:nvPr/>
        </p:nvCxnSpPr>
        <p:spPr>
          <a:xfrm flipV="1">
            <a:off x="7919611" y="4514215"/>
            <a:ext cx="1061746" cy="747166"/>
          </a:xfrm>
          <a:prstGeom prst="bentConnector4">
            <a:avLst>
              <a:gd name="adj1" fmla="val 5717"/>
              <a:gd name="adj2" fmla="val 168828"/>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66" name="Rectangle 65">
            <a:extLst>
              <a:ext uri="{FF2B5EF4-FFF2-40B4-BE49-F238E27FC236}">
                <a16:creationId xmlns:a16="http://schemas.microsoft.com/office/drawing/2014/main" id="{01D741BD-5463-61B7-E514-7DBEE7546B10}"/>
              </a:ext>
            </a:extLst>
          </p:cNvPr>
          <p:cNvSpPr/>
          <p:nvPr/>
        </p:nvSpPr>
        <p:spPr>
          <a:xfrm>
            <a:off x="5173439" y="3470578"/>
            <a:ext cx="1141171" cy="288000"/>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ITSM</a:t>
            </a:r>
          </a:p>
        </p:txBody>
      </p:sp>
      <p:sp>
        <p:nvSpPr>
          <p:cNvPr id="67" name="Rectangle 66">
            <a:extLst>
              <a:ext uri="{FF2B5EF4-FFF2-40B4-BE49-F238E27FC236}">
                <a16:creationId xmlns:a16="http://schemas.microsoft.com/office/drawing/2014/main" id="{80AB594C-0A35-CF11-E45F-3357FF496120}"/>
              </a:ext>
            </a:extLst>
          </p:cNvPr>
          <p:cNvSpPr/>
          <p:nvPr/>
        </p:nvSpPr>
        <p:spPr>
          <a:xfrm>
            <a:off x="3281886" y="5624939"/>
            <a:ext cx="736093"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DevOps</a:t>
            </a:r>
          </a:p>
        </p:txBody>
      </p:sp>
      <p:sp>
        <p:nvSpPr>
          <p:cNvPr id="68" name="Rectangle 67">
            <a:extLst>
              <a:ext uri="{FF2B5EF4-FFF2-40B4-BE49-F238E27FC236}">
                <a16:creationId xmlns:a16="http://schemas.microsoft.com/office/drawing/2014/main" id="{E384B292-8ACD-4A66-2611-60DF4658F985}"/>
              </a:ext>
            </a:extLst>
          </p:cNvPr>
          <p:cNvSpPr/>
          <p:nvPr/>
        </p:nvSpPr>
        <p:spPr>
          <a:xfrm>
            <a:off x="5182730" y="3824502"/>
            <a:ext cx="1141171" cy="288000"/>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FinOps</a:t>
            </a:r>
          </a:p>
        </p:txBody>
      </p:sp>
      <p:sp>
        <p:nvSpPr>
          <p:cNvPr id="69" name="Rectangle 68">
            <a:extLst>
              <a:ext uri="{FF2B5EF4-FFF2-40B4-BE49-F238E27FC236}">
                <a16:creationId xmlns:a16="http://schemas.microsoft.com/office/drawing/2014/main" id="{40D4A08D-720C-DAA0-C50A-BA01FB2F830D}"/>
              </a:ext>
            </a:extLst>
          </p:cNvPr>
          <p:cNvSpPr/>
          <p:nvPr/>
        </p:nvSpPr>
        <p:spPr>
          <a:xfrm>
            <a:off x="1583637" y="6082159"/>
            <a:ext cx="736093"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Seguridad en la nube</a:t>
            </a:r>
          </a:p>
        </p:txBody>
      </p:sp>
      <p:sp>
        <p:nvSpPr>
          <p:cNvPr id="70" name="TextBox 69">
            <a:extLst>
              <a:ext uri="{FF2B5EF4-FFF2-40B4-BE49-F238E27FC236}">
                <a16:creationId xmlns:a16="http://schemas.microsoft.com/office/drawing/2014/main" id="{BC8CF9A6-643E-30D0-469E-D212AFCC7DD0}"/>
              </a:ext>
            </a:extLst>
          </p:cNvPr>
          <p:cNvSpPr txBox="1"/>
          <p:nvPr/>
        </p:nvSpPr>
        <p:spPr>
          <a:xfrm>
            <a:off x="11413067" y="2125133"/>
            <a:ext cx="0" cy="0"/>
          </a:xfrm>
          <a:prstGeom prst="rect">
            <a:avLst/>
          </a:prstGeom>
          <a:noFill/>
        </p:spPr>
        <p:txBody>
          <a:bodyPr wrap="none" lIns="0" tIns="0" rIns="0" bIns="0" rtlCol="0">
            <a:noAutofit/>
          </a:bodyPr>
          <a:lstStyle/>
          <a:p>
            <a:pPr marL="0" marR="0" lvl="0" indent="0" algn="l" defTabSz="228600" rtl="0" eaLnBrk="1" fontAlgn="auto" latinLnBrk="0" hangingPunct="1">
              <a:lnSpc>
                <a:spcPct val="100000"/>
              </a:lnSpc>
              <a:spcBef>
                <a:spcPts val="0"/>
              </a:spcBef>
              <a:spcAft>
                <a:spcPts val="120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Graphik"/>
              <a:ea typeface="+mn-ea"/>
              <a:cs typeface="+mn-cs"/>
            </a:endParaRPr>
          </a:p>
        </p:txBody>
      </p:sp>
      <p:sp>
        <p:nvSpPr>
          <p:cNvPr id="71" name="TextBox 70">
            <a:extLst>
              <a:ext uri="{FF2B5EF4-FFF2-40B4-BE49-F238E27FC236}">
                <a16:creationId xmlns:a16="http://schemas.microsoft.com/office/drawing/2014/main" id="{F53F06E0-163B-EC7B-4BED-10162CFE16A9}"/>
              </a:ext>
            </a:extLst>
          </p:cNvPr>
          <p:cNvSpPr txBox="1"/>
          <p:nvPr/>
        </p:nvSpPr>
        <p:spPr>
          <a:xfrm>
            <a:off x="11379200" y="2429933"/>
            <a:ext cx="0" cy="0"/>
          </a:xfrm>
          <a:prstGeom prst="rect">
            <a:avLst/>
          </a:prstGeom>
          <a:noFill/>
        </p:spPr>
        <p:txBody>
          <a:bodyPr wrap="none" lIns="0" tIns="0" rIns="0" bIns="0" rtlCol="0">
            <a:noAutofit/>
          </a:bodyPr>
          <a:lstStyle/>
          <a:p>
            <a:pPr marL="0" marR="0" lvl="0" indent="0" algn="l" defTabSz="228600" rtl="0" eaLnBrk="1" fontAlgn="auto" latinLnBrk="0" hangingPunct="1">
              <a:lnSpc>
                <a:spcPct val="100000"/>
              </a:lnSpc>
              <a:spcBef>
                <a:spcPts val="0"/>
              </a:spcBef>
              <a:spcAft>
                <a:spcPts val="120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Graphik"/>
              <a:ea typeface="+mn-ea"/>
              <a:cs typeface="+mn-cs"/>
            </a:endParaRPr>
          </a:p>
        </p:txBody>
      </p:sp>
      <p:sp>
        <p:nvSpPr>
          <p:cNvPr id="72" name="Can 172">
            <a:extLst>
              <a:ext uri="{FF2B5EF4-FFF2-40B4-BE49-F238E27FC236}">
                <a16:creationId xmlns:a16="http://schemas.microsoft.com/office/drawing/2014/main" id="{AE1E49C2-0206-D95D-57F9-A496FA637130}"/>
              </a:ext>
            </a:extLst>
          </p:cNvPr>
          <p:cNvSpPr/>
          <p:nvPr/>
        </p:nvSpPr>
        <p:spPr bwMode="auto">
          <a:xfrm>
            <a:off x="5294104" y="4469130"/>
            <a:ext cx="481330" cy="1603375"/>
          </a:xfrm>
          <a:prstGeom prst="can">
            <a:avLst>
              <a:gd name="adj" fmla="val 74823"/>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Procesamiento de datos (tablas, correlación, etc.).</a:t>
            </a:r>
          </a:p>
        </p:txBody>
      </p:sp>
      <p:sp>
        <p:nvSpPr>
          <p:cNvPr id="76" name="TextBox 75">
            <a:extLst>
              <a:ext uri="{FF2B5EF4-FFF2-40B4-BE49-F238E27FC236}">
                <a16:creationId xmlns:a16="http://schemas.microsoft.com/office/drawing/2014/main" id="{4BC4EB07-3C0C-6342-33BD-29B05C572766}"/>
              </a:ext>
            </a:extLst>
          </p:cNvPr>
          <p:cNvSpPr txBox="1"/>
          <p:nvPr/>
        </p:nvSpPr>
        <p:spPr>
          <a:xfrm>
            <a:off x="10038945" y="3492230"/>
            <a:ext cx="0" cy="0"/>
          </a:xfrm>
          <a:prstGeom prst="rect">
            <a:avLst/>
          </a:prstGeom>
          <a:noFill/>
        </p:spPr>
        <p:txBody>
          <a:bodyPr wrap="none" lIns="0" tIns="0" rIns="0" bIns="0" rtlCol="0">
            <a:noAutofit/>
          </a:bodyPr>
          <a:lstStyle/>
          <a:p>
            <a:pPr marL="0" marR="0" lvl="0" indent="0" algn="l" defTabSz="228600" rtl="0" eaLnBrk="1" fontAlgn="auto" latinLnBrk="0" hangingPunct="1">
              <a:lnSpc>
                <a:spcPct val="100000"/>
              </a:lnSpc>
              <a:spcBef>
                <a:spcPts val="0"/>
              </a:spcBef>
              <a:spcAft>
                <a:spcPts val="120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Graphik"/>
              <a:ea typeface="+mn-ea"/>
              <a:cs typeface="+mn-cs"/>
            </a:endParaRPr>
          </a:p>
        </p:txBody>
      </p:sp>
      <p:sp>
        <p:nvSpPr>
          <p:cNvPr id="77" name="Rectangle 76">
            <a:extLst>
              <a:ext uri="{FF2B5EF4-FFF2-40B4-BE49-F238E27FC236}">
                <a16:creationId xmlns:a16="http://schemas.microsoft.com/office/drawing/2014/main" id="{82030910-F5C7-9346-699F-08A5E793A66A}"/>
              </a:ext>
            </a:extLst>
          </p:cNvPr>
          <p:cNvSpPr/>
          <p:nvPr/>
        </p:nvSpPr>
        <p:spPr>
          <a:xfrm>
            <a:off x="400050" y="5784215"/>
            <a:ext cx="923925" cy="229235"/>
          </a:xfrm>
          <a:prstGeom prst="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altLang="es-MX" sz="900" b="0" i="0" u="none" strike="noStrike" kern="1200" cap="none" spc="0" normalizeH="0" baseline="0" noProof="0">
                <a:ln>
                  <a:noFill/>
                </a:ln>
                <a:solidFill>
                  <a:srgbClr val="000000"/>
                </a:solidFill>
                <a:effectLst/>
                <a:uLnTx/>
                <a:uFillTx/>
                <a:latin typeface="Graphik"/>
                <a:ea typeface="+mn-ea"/>
                <a:cs typeface="+mn-cs"/>
                <a:sym typeface="+mn-ea"/>
              </a:rPr>
              <a:t>OpenShift</a:t>
            </a:r>
          </a:p>
        </p:txBody>
      </p:sp>
      <p:cxnSp>
        <p:nvCxnSpPr>
          <p:cNvPr id="78" name="Connector: Elbow 140">
            <a:extLst>
              <a:ext uri="{FF2B5EF4-FFF2-40B4-BE49-F238E27FC236}">
                <a16:creationId xmlns:a16="http://schemas.microsoft.com/office/drawing/2014/main" id="{2EF6E7DC-6C2A-F7CC-825B-A8993B44D8C5}"/>
              </a:ext>
            </a:extLst>
          </p:cNvPr>
          <p:cNvCxnSpPr/>
          <p:nvPr/>
        </p:nvCxnSpPr>
        <p:spPr>
          <a:xfrm rot="10800000" flipH="1">
            <a:off x="400050" y="1069975"/>
            <a:ext cx="3307715" cy="4131310"/>
          </a:xfrm>
          <a:prstGeom prst="bentConnector4">
            <a:avLst>
              <a:gd name="adj1" fmla="val -7199"/>
              <a:gd name="adj2" fmla="val 102766"/>
            </a:avLst>
          </a:prstGeom>
          <a:ln w="9525">
            <a:solidFill>
              <a:srgbClr val="00B050"/>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79" name="Rectangle 78">
            <a:extLst>
              <a:ext uri="{FF2B5EF4-FFF2-40B4-BE49-F238E27FC236}">
                <a16:creationId xmlns:a16="http://schemas.microsoft.com/office/drawing/2014/main" id="{1B5FF9B4-5032-F540-04E4-ACBEFA7A2DF0}"/>
              </a:ext>
            </a:extLst>
          </p:cNvPr>
          <p:cNvSpPr/>
          <p:nvPr/>
        </p:nvSpPr>
        <p:spPr>
          <a:xfrm>
            <a:off x="400050" y="5413375"/>
            <a:ext cx="924560" cy="278130"/>
          </a:xfrm>
          <a:prstGeom prst="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altLang="es-MX" sz="900" b="0" i="0" u="none" strike="noStrike" kern="1200" cap="none" spc="0" normalizeH="0" baseline="0" noProof="0" dirty="0">
                <a:ln>
                  <a:noFill/>
                </a:ln>
                <a:solidFill>
                  <a:srgbClr val="000000"/>
                </a:solidFill>
                <a:effectLst/>
                <a:uLnTx/>
                <a:uFillTx/>
                <a:latin typeface="Graphik"/>
                <a:ea typeface="+mn-ea"/>
                <a:cs typeface="+mn-cs"/>
                <a:sym typeface="+mn-ea"/>
              </a:rPr>
              <a:t>Microservicios</a:t>
            </a:r>
          </a:p>
        </p:txBody>
      </p:sp>
      <p:sp>
        <p:nvSpPr>
          <p:cNvPr id="80" name="Rectangle 79">
            <a:extLst>
              <a:ext uri="{FF2B5EF4-FFF2-40B4-BE49-F238E27FC236}">
                <a16:creationId xmlns:a16="http://schemas.microsoft.com/office/drawing/2014/main" id="{5C1F9CCD-944D-9BF2-E670-186125B9688D}"/>
              </a:ext>
            </a:extLst>
          </p:cNvPr>
          <p:cNvSpPr/>
          <p:nvPr/>
        </p:nvSpPr>
        <p:spPr>
          <a:xfrm>
            <a:off x="400050" y="5127625"/>
            <a:ext cx="923925" cy="191770"/>
          </a:xfrm>
          <a:prstGeom prst="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altLang="en-US" sz="900" b="0" i="0" u="none" strike="noStrike" kern="1200" cap="none" spc="0" normalizeH="0" baseline="0" noProof="0" dirty="0">
                <a:ln>
                  <a:noFill/>
                </a:ln>
                <a:solidFill>
                  <a:srgbClr val="000000"/>
                </a:solidFill>
                <a:effectLst/>
                <a:uLnTx/>
                <a:uFillTx/>
                <a:latin typeface="Graphik"/>
                <a:ea typeface="+mn-ea"/>
                <a:cs typeface="+mn-cs"/>
                <a:sym typeface="+mn-ea"/>
              </a:rPr>
              <a:t>Canales</a:t>
            </a:r>
          </a:p>
        </p:txBody>
      </p:sp>
      <p:cxnSp>
        <p:nvCxnSpPr>
          <p:cNvPr id="82" name="Straight Arrow Connector 59">
            <a:extLst>
              <a:ext uri="{FF2B5EF4-FFF2-40B4-BE49-F238E27FC236}">
                <a16:creationId xmlns:a16="http://schemas.microsoft.com/office/drawing/2014/main" id="{744FED20-BE05-CBDF-AFA0-5D89AE3906D6}"/>
              </a:ext>
            </a:extLst>
          </p:cNvPr>
          <p:cNvCxnSpPr/>
          <p:nvPr/>
        </p:nvCxnSpPr>
        <p:spPr>
          <a:xfrm>
            <a:off x="712451" y="1964616"/>
            <a:ext cx="268605" cy="6985"/>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3" name="Straight Arrow Connector 59">
            <a:extLst>
              <a:ext uri="{FF2B5EF4-FFF2-40B4-BE49-F238E27FC236}">
                <a16:creationId xmlns:a16="http://schemas.microsoft.com/office/drawing/2014/main" id="{33F7ACE9-0157-D001-4767-18395F5D9BF5}"/>
              </a:ext>
            </a:extLst>
          </p:cNvPr>
          <p:cNvCxnSpPr>
            <a:stCxn id="43" idx="0"/>
            <a:endCxn id="37" idx="2"/>
          </p:cNvCxnSpPr>
          <p:nvPr/>
        </p:nvCxnSpPr>
        <p:spPr>
          <a:xfrm flipH="1" flipV="1">
            <a:off x="2203431" y="1468046"/>
            <a:ext cx="1905" cy="281940"/>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4" name="Straight Arrow Connector 59">
            <a:extLst>
              <a:ext uri="{FF2B5EF4-FFF2-40B4-BE49-F238E27FC236}">
                <a16:creationId xmlns:a16="http://schemas.microsoft.com/office/drawing/2014/main" id="{9D1DB1A9-444B-551F-AA6F-F6B8CDB71684}"/>
              </a:ext>
            </a:extLst>
          </p:cNvPr>
          <p:cNvCxnSpPr>
            <a:stCxn id="37" idx="3"/>
            <a:endCxn id="14" idx="1"/>
          </p:cNvCxnSpPr>
          <p:nvPr/>
        </p:nvCxnSpPr>
        <p:spPr>
          <a:xfrm>
            <a:off x="2625706" y="1297231"/>
            <a:ext cx="407035" cy="1270"/>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5" name="TextBox 84">
            <a:extLst>
              <a:ext uri="{FF2B5EF4-FFF2-40B4-BE49-F238E27FC236}">
                <a16:creationId xmlns:a16="http://schemas.microsoft.com/office/drawing/2014/main" id="{A84FE9D9-54F9-6D95-1B0D-0A8ADA4DFE10}"/>
              </a:ext>
            </a:extLst>
          </p:cNvPr>
          <p:cNvSpPr txBox="1"/>
          <p:nvPr/>
        </p:nvSpPr>
        <p:spPr>
          <a:xfrm>
            <a:off x="8258113" y="1629410"/>
            <a:ext cx="3510978" cy="2840355"/>
          </a:xfrm>
          <a:prstGeom prst="rect">
            <a:avLst/>
          </a:prstGeom>
          <a:noFill/>
        </p:spPr>
        <p:txBody>
          <a:bodyPr wrap="square" lIns="0" tIns="0" rIns="0" bIns="0" rtlCol="0">
            <a:noAutofit/>
          </a:bodyPr>
          <a:lstStyle/>
          <a:p>
            <a:pPr marL="0" marR="0" lvl="0" indent="0" algn="l" defTabSz="228600" rtl="0" eaLnBrk="1" fontAlgn="auto" latinLnBrk="0" hangingPunct="1">
              <a:lnSpc>
                <a:spcPct val="100000"/>
              </a:lnSpc>
              <a:spcBef>
                <a:spcPts val="0"/>
              </a:spcBef>
              <a:spcAft>
                <a:spcPts val="600"/>
              </a:spcAft>
              <a:buClrTx/>
              <a:buSzTx/>
              <a:buFontTx/>
              <a:buNone/>
              <a:tabLst/>
              <a:defRPr/>
            </a:pPr>
            <a:r>
              <a:rPr kumimoji="0" lang="es" sz="1000" b="1" i="0" u="none" strike="noStrike" kern="1200" cap="none" spc="0" normalizeH="0" baseline="0" noProof="0" dirty="0">
                <a:ln>
                  <a:noFill/>
                </a:ln>
                <a:solidFill>
                  <a:srgbClr val="000000"/>
                </a:solidFill>
                <a:effectLst/>
                <a:uLnTx/>
                <a:uFillTx/>
                <a:latin typeface="Graphik"/>
                <a:ea typeface="+mn-ea"/>
                <a:cs typeface="+mn-cs"/>
              </a:rPr>
              <a:t>Notas:</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altLang="es-MX" sz="1000" b="0" i="0" u="none" strike="noStrike" kern="1200" cap="none" spc="0" normalizeH="0" baseline="0" noProof="0" dirty="0">
                <a:ln>
                  <a:noFill/>
                </a:ln>
                <a:solidFill>
                  <a:srgbClr val="000000"/>
                </a:solidFill>
                <a:effectLst/>
                <a:uLnTx/>
                <a:uFillTx/>
                <a:latin typeface="Graphik"/>
                <a:ea typeface="+mn-ea"/>
                <a:cs typeface="+mn-cs"/>
              </a:rPr>
              <a:t>Las líneas verdes representan el flujo de datos actual.</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altLang="es-MX" sz="1000" b="0" i="0" u="none" strike="noStrike" kern="1200" cap="none" spc="0" normalizeH="0" baseline="0" noProof="0" dirty="0">
                <a:ln>
                  <a:noFill/>
                </a:ln>
                <a:solidFill>
                  <a:srgbClr val="000000"/>
                </a:solidFill>
                <a:effectLst/>
                <a:uLnTx/>
                <a:uFillTx/>
                <a:latin typeface="Graphik"/>
                <a:ea typeface="+mn-ea"/>
                <a:cs typeface="+mn-cs"/>
              </a:rPr>
              <a:t>Actualmente hay problemas de rendimiento</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altLang="es-MX" sz="1000" b="0" i="0" u="none" strike="noStrike" kern="1200" cap="none" spc="0" normalizeH="0" baseline="0" noProof="0" dirty="0">
                <a:ln>
                  <a:noFill/>
                </a:ln>
                <a:solidFill>
                  <a:srgbClr val="000000"/>
                </a:solidFill>
                <a:effectLst/>
                <a:uLnTx/>
                <a:uFillTx/>
                <a:latin typeface="Graphik"/>
                <a:ea typeface="+mn-ea"/>
                <a:cs typeface="+mn-cs"/>
              </a:rPr>
              <a:t>Debe diseñarse un plan de capacidad (Medir el EPS).</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altLang="es-MX" sz="1000" b="0" i="0" u="none" strike="noStrike" kern="1200" cap="none" spc="0" normalizeH="0" baseline="0" noProof="0" dirty="0">
                <a:ln>
                  <a:noFill/>
                </a:ln>
                <a:solidFill>
                  <a:srgbClr val="000000"/>
                </a:solidFill>
                <a:effectLst/>
                <a:uLnTx/>
                <a:uFillTx/>
                <a:latin typeface="Graphik"/>
                <a:ea typeface="+mn-ea"/>
                <a:cs typeface="+mn-cs"/>
              </a:rPr>
              <a:t>Actualmente, no existe observabilidad en seguridad, infraestructuras ni negocios.</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altLang="es-MX" sz="1000" b="0" i="0" u="none" strike="noStrike" kern="1200" cap="none" spc="0" normalizeH="0" baseline="0" noProof="0" dirty="0">
                <a:ln>
                  <a:noFill/>
                </a:ln>
                <a:solidFill>
                  <a:srgbClr val="000000"/>
                </a:solidFill>
                <a:effectLst/>
                <a:uLnTx/>
                <a:uFillTx/>
                <a:latin typeface="Graphik"/>
                <a:ea typeface="+mn-ea"/>
                <a:cs typeface="+mn-cs"/>
              </a:rPr>
              <a:t>Es necesario analizar, diseñar e implementar los casos de uso necesarios para la interoperabilidad.</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altLang="es-MX" sz="1000" b="0" i="0" u="none" strike="noStrike" kern="1200" cap="none" spc="0" normalizeH="0" baseline="0" noProof="0" dirty="0">
                <a:ln>
                  <a:noFill/>
                </a:ln>
                <a:solidFill>
                  <a:srgbClr val="000000"/>
                </a:solidFill>
                <a:effectLst/>
                <a:uLnTx/>
                <a:uFillTx/>
                <a:latin typeface="Graphik"/>
                <a:ea typeface="+mn-ea"/>
                <a:cs typeface="+mn-cs"/>
              </a:rPr>
              <a:t>Aunque existen capacidades actuales, no cumplen con la arquitectura necesaria para la interoperabilidad.</a:t>
            </a:r>
          </a:p>
        </p:txBody>
      </p:sp>
      <p:cxnSp>
        <p:nvCxnSpPr>
          <p:cNvPr id="86" name="Connector: Elbow 140">
            <a:extLst>
              <a:ext uri="{FF2B5EF4-FFF2-40B4-BE49-F238E27FC236}">
                <a16:creationId xmlns:a16="http://schemas.microsoft.com/office/drawing/2014/main" id="{7D3DBDA7-E3B3-7C25-810F-32FB83A3FE4F}"/>
              </a:ext>
            </a:extLst>
          </p:cNvPr>
          <p:cNvCxnSpPr>
            <a:endCxn id="8" idx="3"/>
          </p:cNvCxnSpPr>
          <p:nvPr/>
        </p:nvCxnSpPr>
        <p:spPr>
          <a:xfrm rot="16200000">
            <a:off x="5936615" y="3771900"/>
            <a:ext cx="559435" cy="353060"/>
          </a:xfrm>
          <a:prstGeom prst="bentConnector4">
            <a:avLst>
              <a:gd name="adj1" fmla="val 7435"/>
              <a:gd name="adj2" fmla="val 177248"/>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2" name="Rectangle 1060">
            <a:extLst>
              <a:ext uri="{FF2B5EF4-FFF2-40B4-BE49-F238E27FC236}">
                <a16:creationId xmlns:a16="http://schemas.microsoft.com/office/drawing/2014/main" id="{3E5C8407-228E-42BD-7819-13EFF1847B10}"/>
              </a:ext>
            </a:extLst>
          </p:cNvPr>
          <p:cNvSpPr/>
          <p:nvPr/>
        </p:nvSpPr>
        <p:spPr>
          <a:xfrm>
            <a:off x="8307142" y="1376182"/>
            <a:ext cx="3439086" cy="153955"/>
          </a:xfrm>
          <a:prstGeom prst="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altLang="es-MX" sz="900" b="0" i="0" u="none" strike="noStrike" kern="1200" cap="none" spc="0" normalizeH="0" baseline="0" noProof="0">
                <a:ln>
                  <a:noFill/>
                </a:ln>
                <a:solidFill>
                  <a:srgbClr val="000000"/>
                </a:solidFill>
                <a:effectLst/>
                <a:uLnTx/>
                <a:uFillTx/>
                <a:latin typeface="Graphik"/>
                <a:ea typeface="+mn-ea"/>
                <a:cs typeface="+mn-cs"/>
              </a:rPr>
              <a:t>Componentes actuales</a:t>
            </a:r>
          </a:p>
        </p:txBody>
      </p:sp>
      <p:sp>
        <p:nvSpPr>
          <p:cNvPr id="88" name="Rectangle 87">
            <a:extLst>
              <a:ext uri="{FF2B5EF4-FFF2-40B4-BE49-F238E27FC236}">
                <a16:creationId xmlns:a16="http://schemas.microsoft.com/office/drawing/2014/main" id="{2BB5A13F-10FE-1AAD-A535-0118CECD1402}"/>
              </a:ext>
            </a:extLst>
          </p:cNvPr>
          <p:cNvSpPr/>
          <p:nvPr/>
        </p:nvSpPr>
        <p:spPr>
          <a:xfrm>
            <a:off x="8307143" y="709177"/>
            <a:ext cx="3439086" cy="205327"/>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Componentes principales de esta capacidad</a:t>
            </a:r>
          </a:p>
        </p:txBody>
      </p:sp>
      <p:sp>
        <p:nvSpPr>
          <p:cNvPr id="90" name="Rectangle 89">
            <a:extLst>
              <a:ext uri="{FF2B5EF4-FFF2-40B4-BE49-F238E27FC236}">
                <a16:creationId xmlns:a16="http://schemas.microsoft.com/office/drawing/2014/main" id="{37C50A26-EEE9-3A57-57DC-F6FE7E6DDE03}"/>
              </a:ext>
            </a:extLst>
          </p:cNvPr>
          <p:cNvSpPr/>
          <p:nvPr/>
        </p:nvSpPr>
        <p:spPr>
          <a:xfrm>
            <a:off x="8307143" y="943329"/>
            <a:ext cx="3439086" cy="187603"/>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Componentes de otras capacidades relacionadas</a:t>
            </a:r>
          </a:p>
        </p:txBody>
      </p:sp>
      <p:sp>
        <p:nvSpPr>
          <p:cNvPr id="92" name="Rectangle 91">
            <a:extLst>
              <a:ext uri="{FF2B5EF4-FFF2-40B4-BE49-F238E27FC236}">
                <a16:creationId xmlns:a16="http://schemas.microsoft.com/office/drawing/2014/main" id="{B29BC5E7-6A92-4E37-3D26-1EA06356F20F}"/>
              </a:ext>
            </a:extLst>
          </p:cNvPr>
          <p:cNvSpPr/>
          <p:nvPr/>
        </p:nvSpPr>
        <p:spPr>
          <a:xfrm>
            <a:off x="8307142" y="1159754"/>
            <a:ext cx="3439086" cy="165055"/>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Componentes funcionales relacionados con esta capacidad</a:t>
            </a:r>
          </a:p>
        </p:txBody>
      </p:sp>
    </p:spTree>
    <p:extLst>
      <p:ext uri="{BB962C8B-B14F-4D97-AF65-F5344CB8AC3E}">
        <p14:creationId xmlns:p14="http://schemas.microsoft.com/office/powerpoint/2010/main" val="140546616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6F8B67-FA34-6902-B520-9E0311999606}"/>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C6EE023D-D10B-9849-6C2B-08E17C1A8EC5}"/>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alpha val="65000"/>
                  </a:srgbClr>
                </a:solidFill>
                <a:effectLst/>
                <a:uLnTx/>
                <a:uFillTx/>
                <a:latin typeface="Graphik"/>
                <a:ea typeface="+mn-ea"/>
                <a:cs typeface="+mn-cs"/>
              </a:rPr>
              <a:t>Copyright © 2025 Accenture. Todos los derechos reservados.</a:t>
            </a:r>
          </a:p>
        </p:txBody>
      </p:sp>
      <p:sp>
        <p:nvSpPr>
          <p:cNvPr id="118" name="Title 1">
            <a:extLst>
              <a:ext uri="{FF2B5EF4-FFF2-40B4-BE49-F238E27FC236}">
                <a16:creationId xmlns:a16="http://schemas.microsoft.com/office/drawing/2014/main" id="{2CCCDEB8-AB19-8870-74FD-E37E3AC7B042}"/>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dirty="0">
                <a:ln>
                  <a:noFill/>
                </a:ln>
                <a:solidFill>
                  <a:srgbClr val="7500C0"/>
                </a:solidFill>
                <a:effectLst/>
                <a:uLnTx/>
                <a:uFillTx/>
                <a:latin typeface="Graphik"/>
                <a:ea typeface="+mj-ea"/>
                <a:cs typeface="+mj-cs"/>
              </a:rPr>
              <a:t>Activo de Interoperabilidad </a:t>
            </a:r>
            <a:r>
              <a:rPr kumimoji="0" lang="es" sz="2400" b="1" i="0" u="none" strike="noStrike" kern="1200" cap="none" spc="0" normalizeH="0" baseline="0" noProof="0" dirty="0">
                <a:ln>
                  <a:noFill/>
                </a:ln>
                <a:solidFill>
                  <a:srgbClr val="000000"/>
                </a:solidFill>
                <a:effectLst/>
                <a:uLnTx/>
                <a:uFillTx/>
                <a:latin typeface="Graphik"/>
                <a:ea typeface="+mj-ea"/>
                <a:cs typeface="+mj-cs"/>
              </a:rPr>
              <a:t>| </a:t>
            </a:r>
            <a:r>
              <a:rPr kumimoji="0" lang="es" sz="2000" b="1" i="0" u="none" strike="noStrike" kern="1200" cap="none" spc="0" normalizeH="0" baseline="0" noProof="0" dirty="0">
                <a:ln>
                  <a:noFill/>
                </a:ln>
                <a:solidFill>
                  <a:srgbClr val="000000"/>
                </a:solidFill>
                <a:effectLst/>
                <a:uLnTx/>
                <a:uFillTx/>
                <a:latin typeface="Graphik"/>
                <a:ea typeface="+mj-ea"/>
                <a:cs typeface="+mj-cs"/>
              </a:rPr>
              <a:t>Servicios de Gateway</a:t>
            </a:r>
            <a:endParaRPr kumimoji="0" lang="es" sz="2400" b="1" i="0" u="none" strike="noStrike" kern="1200" cap="none" spc="0" normalizeH="0" baseline="0" noProof="0" dirty="0">
              <a:ln>
                <a:noFill/>
              </a:ln>
              <a:solidFill>
                <a:srgbClr val="000000"/>
              </a:solidFill>
              <a:effectLst/>
              <a:uLnTx/>
              <a:uFillTx/>
              <a:latin typeface="Graphik"/>
              <a:ea typeface="+mj-ea"/>
              <a:cs typeface="+mj-cs"/>
            </a:endParaRPr>
          </a:p>
        </p:txBody>
      </p:sp>
      <p:sp>
        <p:nvSpPr>
          <p:cNvPr id="119" name="Content Placeholder 34">
            <a:extLst>
              <a:ext uri="{FF2B5EF4-FFF2-40B4-BE49-F238E27FC236}">
                <a16:creationId xmlns:a16="http://schemas.microsoft.com/office/drawing/2014/main" id="{C4E806CC-DEAA-6D35-D40F-072458FB10C2}"/>
              </a:ext>
            </a:extLst>
          </p:cNvPr>
          <p:cNvSpPr txBox="1">
            <a:spLocks/>
          </p:cNvSpPr>
          <p:nvPr/>
        </p:nvSpPr>
        <p:spPr>
          <a:xfrm>
            <a:off x="285990" y="641993"/>
            <a:ext cx="11430000" cy="246221"/>
          </a:xfrm>
          <a:prstGeom prst="rect">
            <a:avLst/>
          </a:prstGeom>
        </p:spPr>
        <p:txBody>
          <a:bodyPr/>
          <a:lstStyle>
            <a:lvl1pPr marL="228600" indent="-228600" algn="l" defTabSz="228600" rtl="0" eaLnBrk="1" latinLnBrk="0" hangingPunct="1">
              <a:lnSpc>
                <a:spcPct val="100000"/>
              </a:lnSpc>
              <a:spcBef>
                <a:spcPts val="0"/>
              </a:spcBef>
              <a:spcAft>
                <a:spcPts val="600"/>
              </a:spcAft>
              <a:buFont typeface="Arial"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Arial"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Arial"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Arial"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Arial"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Arial" panose="020B0604020202020204" pitchFamily="34" charset="0"/>
              <a:buNone/>
              <a:defRPr sz="800" kern="1200">
                <a:solidFill>
                  <a:schemeClr val="tx2"/>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s" sz="1600" b="1" i="0" u="none" strike="noStrike" kern="1200" cap="none" spc="0" normalizeH="0" baseline="0" noProof="0">
                <a:ln>
                  <a:noFill/>
                </a:ln>
                <a:solidFill>
                  <a:srgbClr val="7500C0"/>
                </a:solidFill>
                <a:effectLst/>
                <a:uLnTx/>
                <a:uFillTx/>
                <a:latin typeface="Graphik" panose="020B0503030202060203" pitchFamily="34" charset="0"/>
                <a:ea typeface="+mn-ea"/>
                <a:cs typeface="+mn-cs"/>
              </a:rPr>
              <a:t>Componentes principales</a:t>
            </a:r>
          </a:p>
        </p:txBody>
      </p:sp>
      <p:grpSp>
        <p:nvGrpSpPr>
          <p:cNvPr id="4" name="Group 3">
            <a:extLst>
              <a:ext uri="{FF2B5EF4-FFF2-40B4-BE49-F238E27FC236}">
                <a16:creationId xmlns:a16="http://schemas.microsoft.com/office/drawing/2014/main" id="{FF8BF94D-AF7E-F011-05DC-7300AB11124B}"/>
              </a:ext>
            </a:extLst>
          </p:cNvPr>
          <p:cNvGrpSpPr/>
          <p:nvPr/>
        </p:nvGrpSpPr>
        <p:grpSpPr>
          <a:xfrm>
            <a:off x="9914018" y="286451"/>
            <a:ext cx="1862854" cy="253275"/>
            <a:chOff x="9929190" y="421028"/>
            <a:chExt cx="1862854" cy="253275"/>
          </a:xfrm>
        </p:grpSpPr>
        <p:sp>
          <p:nvSpPr>
            <p:cNvPr id="5" name="TextBox 4">
              <a:extLst>
                <a:ext uri="{FF2B5EF4-FFF2-40B4-BE49-F238E27FC236}">
                  <a16:creationId xmlns:a16="http://schemas.microsoft.com/office/drawing/2014/main" id="{FC60861A-E3B5-F0F8-F6A0-41773B10E059}"/>
                </a:ext>
              </a:extLst>
            </p:cNvPr>
            <p:cNvSpPr txBox="1"/>
            <p:nvPr/>
          </p:nvSpPr>
          <p:spPr>
            <a:xfrm>
              <a:off x="9936972" y="460821"/>
              <a:ext cx="1847290" cy="173690"/>
            </a:xfrm>
            <a:prstGeom prst="rect">
              <a:avLst/>
            </a:prstGeom>
            <a:noFill/>
          </p:spPr>
          <p:txBody>
            <a:bodyPr wrap="none" lIns="0" tIns="0" rIns="0" bIns="0" rtlCol="0">
              <a:noAutofit/>
            </a:bodyPr>
            <a:lstStyle/>
            <a:p>
              <a:pPr marL="0" marR="0" lvl="0" indent="0" algn="l" defTabSz="228600" rtl="0" eaLnBrk="1" fontAlgn="auto" latinLnBrk="0" hangingPunct="1">
                <a:lnSpc>
                  <a:spcPct val="100000"/>
                </a:lnSpc>
                <a:spcBef>
                  <a:spcPts val="0"/>
                </a:spcBef>
                <a:spcAft>
                  <a:spcPts val="1200"/>
                </a:spcAft>
                <a:buClrTx/>
                <a:buSzTx/>
                <a:buFontTx/>
                <a:buNone/>
                <a:tabLst/>
                <a:defRPr/>
              </a:pPr>
              <a:r>
                <a:rPr kumimoji="0" lang="es" sz="1100" b="0" i="0" u="none" strike="noStrike" kern="1200" cap="none" spc="0" normalizeH="0" baseline="0" noProof="0">
                  <a:ln>
                    <a:noFill/>
                  </a:ln>
                  <a:solidFill>
                    <a:srgbClr val="000000"/>
                  </a:solidFill>
                  <a:effectLst/>
                  <a:uLnTx/>
                  <a:uFillTx/>
                  <a:latin typeface="Graphik"/>
                  <a:ea typeface="+mn-ea"/>
                  <a:cs typeface="+mn-cs"/>
                </a:rPr>
                <a:t>Ilustrativo no exhaustivo</a:t>
              </a:r>
            </a:p>
          </p:txBody>
        </p:sp>
        <p:cxnSp>
          <p:nvCxnSpPr>
            <p:cNvPr id="6" name="Straight Connector 5">
              <a:extLst>
                <a:ext uri="{FF2B5EF4-FFF2-40B4-BE49-F238E27FC236}">
                  <a16:creationId xmlns:a16="http://schemas.microsoft.com/office/drawing/2014/main" id="{DAFDD7A3-81E7-14C3-8C91-78ED46F4F8D2}"/>
                </a:ext>
              </a:extLst>
            </p:cNvPr>
            <p:cNvCxnSpPr>
              <a:cxnSpLocks/>
            </p:cNvCxnSpPr>
            <p:nvPr/>
          </p:nvCxnSpPr>
          <p:spPr>
            <a:xfrm>
              <a:off x="9929190" y="421028"/>
              <a:ext cx="186285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0A8A0611-ED87-AAB7-5D73-B5E676D41F13}"/>
                </a:ext>
              </a:extLst>
            </p:cNvPr>
            <p:cNvCxnSpPr>
              <a:cxnSpLocks/>
            </p:cNvCxnSpPr>
            <p:nvPr/>
          </p:nvCxnSpPr>
          <p:spPr>
            <a:xfrm>
              <a:off x="9929190" y="674303"/>
              <a:ext cx="186285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8" name="Rectangle 7">
            <a:extLst>
              <a:ext uri="{FF2B5EF4-FFF2-40B4-BE49-F238E27FC236}">
                <a16:creationId xmlns:a16="http://schemas.microsoft.com/office/drawing/2014/main" id="{EBA4F97A-4529-5B1F-C3ED-56C2A62AF8E0}"/>
              </a:ext>
            </a:extLst>
          </p:cNvPr>
          <p:cNvSpPr/>
          <p:nvPr/>
        </p:nvSpPr>
        <p:spPr>
          <a:xfrm>
            <a:off x="400050" y="2934970"/>
            <a:ext cx="5334635" cy="1008380"/>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90000" tIns="90000" rIns="90000" bIns="90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Servicios Principales</a:t>
            </a:r>
          </a:p>
        </p:txBody>
      </p:sp>
      <p:sp>
        <p:nvSpPr>
          <p:cNvPr id="9" name="Rectangle 8">
            <a:extLst>
              <a:ext uri="{FF2B5EF4-FFF2-40B4-BE49-F238E27FC236}">
                <a16:creationId xmlns:a16="http://schemas.microsoft.com/office/drawing/2014/main" id="{84E46FC8-6374-8C53-4912-1D4EED129FE7}"/>
              </a:ext>
            </a:extLst>
          </p:cNvPr>
          <p:cNvSpPr/>
          <p:nvPr/>
        </p:nvSpPr>
        <p:spPr>
          <a:xfrm>
            <a:off x="400050" y="2268855"/>
            <a:ext cx="5334000" cy="553720"/>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90000" tIns="90000" rIns="90000" bIns="900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Pasarela de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Servicios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Inbound</a:t>
            </a:r>
          </a:p>
        </p:txBody>
      </p:sp>
      <p:sp>
        <p:nvSpPr>
          <p:cNvPr id="10" name="Rectangle 9">
            <a:extLst>
              <a:ext uri="{FF2B5EF4-FFF2-40B4-BE49-F238E27FC236}">
                <a16:creationId xmlns:a16="http://schemas.microsoft.com/office/drawing/2014/main" id="{A7C25BCA-C6AE-8FB2-AE54-3F0B124D25FF}"/>
              </a:ext>
            </a:extLst>
          </p:cNvPr>
          <p:cNvSpPr/>
          <p:nvPr/>
        </p:nvSpPr>
        <p:spPr>
          <a:xfrm>
            <a:off x="1090898" y="2544052"/>
            <a:ext cx="1260000" cy="233072"/>
          </a:xfrm>
          <a:prstGeom prst="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altLang="es-MX" sz="900" b="0" i="0" u="none" strike="noStrike" kern="1200" cap="none" spc="0" normalizeH="0" baseline="0" noProof="0" dirty="0">
                <a:ln>
                  <a:noFill/>
                </a:ln>
                <a:solidFill>
                  <a:srgbClr val="000000"/>
                </a:solidFill>
                <a:effectLst/>
                <a:uLnTx/>
                <a:uFillTx/>
                <a:latin typeface="Graphik"/>
                <a:ea typeface="+mn-ea"/>
                <a:cs typeface="+mn-cs"/>
                <a:sym typeface="+mn-ea"/>
              </a:rPr>
              <a:t>API Gateway</a:t>
            </a:r>
          </a:p>
        </p:txBody>
      </p:sp>
      <p:sp>
        <p:nvSpPr>
          <p:cNvPr id="11" name="Rectangle 10">
            <a:extLst>
              <a:ext uri="{FF2B5EF4-FFF2-40B4-BE49-F238E27FC236}">
                <a16:creationId xmlns:a16="http://schemas.microsoft.com/office/drawing/2014/main" id="{CD0411E4-3BCB-186A-373F-F8DF78F723BE}"/>
              </a:ext>
            </a:extLst>
          </p:cNvPr>
          <p:cNvSpPr/>
          <p:nvPr/>
        </p:nvSpPr>
        <p:spPr>
          <a:xfrm>
            <a:off x="1136239" y="1655664"/>
            <a:ext cx="1440000" cy="252000"/>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Canales digitales</a:t>
            </a:r>
          </a:p>
        </p:txBody>
      </p:sp>
      <p:sp>
        <p:nvSpPr>
          <p:cNvPr id="12" name="TextBox 11">
            <a:extLst>
              <a:ext uri="{FF2B5EF4-FFF2-40B4-BE49-F238E27FC236}">
                <a16:creationId xmlns:a16="http://schemas.microsoft.com/office/drawing/2014/main" id="{EF115ADE-F187-2288-C45C-617C1BC83641}"/>
              </a:ext>
            </a:extLst>
          </p:cNvPr>
          <p:cNvSpPr txBox="1"/>
          <p:nvPr/>
        </p:nvSpPr>
        <p:spPr>
          <a:xfrm>
            <a:off x="7860146" y="769620"/>
            <a:ext cx="4040390" cy="4222115"/>
          </a:xfrm>
          <a:prstGeom prst="rect">
            <a:avLst/>
          </a:prstGeom>
          <a:noFill/>
        </p:spPr>
        <p:txBody>
          <a:bodyPr wrap="square" lIns="0" tIns="0" rIns="0" bIns="0" rtlCol="0">
            <a:noAutofit/>
          </a:bodyPr>
          <a:lstStyle/>
          <a:p>
            <a:pPr marL="0" marR="0" lvl="0" indent="0" algn="l" defTabSz="228600" rtl="0" eaLnBrk="1" fontAlgn="auto" latinLnBrk="0" hangingPunct="1">
              <a:lnSpc>
                <a:spcPct val="100000"/>
              </a:lnSpc>
              <a:spcBef>
                <a:spcPts val="0"/>
              </a:spcBef>
              <a:spcAft>
                <a:spcPts val="600"/>
              </a:spcAft>
              <a:buClrTx/>
              <a:buSzTx/>
              <a:buFontTx/>
              <a:buNone/>
              <a:tabLst/>
              <a:defRPr/>
            </a:pPr>
            <a:r>
              <a:rPr kumimoji="0" lang="es" sz="1000" b="1" i="0" u="none" strike="noStrike" kern="1200" cap="none" spc="0" normalizeH="0" baseline="0" noProof="0" dirty="0">
                <a:ln>
                  <a:noFill/>
                </a:ln>
                <a:solidFill>
                  <a:srgbClr val="000000"/>
                </a:solidFill>
                <a:effectLst/>
                <a:uLnTx/>
                <a:uFillTx/>
                <a:latin typeface="Graphik"/>
                <a:ea typeface="+mn-ea"/>
                <a:cs typeface="+mn-cs"/>
              </a:rPr>
              <a:t>Notas:</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1000" b="0" i="0" u="none" strike="noStrike" kern="1200" cap="none" spc="0" normalizeH="0" baseline="0" noProof="0" dirty="0">
                <a:ln>
                  <a:noFill/>
                </a:ln>
                <a:solidFill>
                  <a:srgbClr val="000000"/>
                </a:solidFill>
                <a:effectLst/>
                <a:uLnTx/>
                <a:uFillTx/>
                <a:latin typeface="Graphik"/>
                <a:ea typeface="+mn-ea"/>
                <a:cs typeface="+mn-cs"/>
              </a:rPr>
              <a:t>El banco se comunica con sistemas externos utilizando diferentes mecanismos</a:t>
            </a:r>
          </a:p>
          <a:p>
            <a:pPr marL="742950" marR="0" lvl="1"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1000" b="0" i="0" u="none" strike="noStrike" kern="1200" cap="none" spc="0" normalizeH="0" baseline="0" noProof="0" dirty="0">
                <a:ln>
                  <a:noFill/>
                </a:ln>
                <a:solidFill>
                  <a:srgbClr val="000000"/>
                </a:solidFill>
                <a:effectLst/>
                <a:uLnTx/>
                <a:uFillTx/>
                <a:latin typeface="Graphik"/>
                <a:ea typeface="+mn-ea"/>
                <a:cs typeface="+mn-cs"/>
              </a:rPr>
              <a:t>Llamadas a API</a:t>
            </a:r>
          </a:p>
          <a:p>
            <a:pPr marL="742950" marR="0" lvl="1"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1000" b="0" i="0" u="none" strike="noStrike" kern="1200" cap="none" spc="0" normalizeH="0" baseline="0" noProof="0" dirty="0">
                <a:ln>
                  <a:noFill/>
                </a:ln>
                <a:solidFill>
                  <a:srgbClr val="000000"/>
                </a:solidFill>
                <a:effectLst/>
                <a:uLnTx/>
                <a:uFillTx/>
                <a:latin typeface="Graphik"/>
                <a:ea typeface="+mn-ea"/>
                <a:cs typeface="+mn-cs"/>
              </a:rPr>
              <a:t>Eventos (en diferentes tecnologías (MQ y </a:t>
            </a:r>
            <a:r>
              <a:rPr kumimoji="0" lang="es-ES" sz="1000" b="0" i="0" u="none" strike="noStrike" kern="1200" cap="none" spc="0" normalizeH="0" baseline="0" noProof="0" dirty="0" err="1">
                <a:ln>
                  <a:noFill/>
                </a:ln>
                <a:solidFill>
                  <a:srgbClr val="000000"/>
                </a:solidFill>
                <a:effectLst/>
                <a:uLnTx/>
                <a:uFillTx/>
                <a:latin typeface="Graphik"/>
                <a:ea typeface="+mn-ea"/>
                <a:cs typeface="+mn-cs"/>
              </a:rPr>
              <a:t>APIgee</a:t>
            </a:r>
            <a:r>
              <a:rPr kumimoji="0" lang="es" sz="1000" b="0" i="0" u="none" strike="noStrike" kern="1200" cap="none" spc="0" normalizeH="0" baseline="0" noProof="0" dirty="0">
                <a:ln>
                  <a:noFill/>
                </a:ln>
                <a:solidFill>
                  <a:srgbClr val="000000"/>
                </a:solidFill>
                <a:effectLst/>
                <a:uLnTx/>
                <a:uFillTx/>
                <a:latin typeface="Graphik"/>
                <a:ea typeface="+mn-ea"/>
                <a:cs typeface="+mn-cs"/>
              </a:rPr>
              <a:t>).</a:t>
            </a:r>
            <a:endParaRPr kumimoji="0" lang="en-US" sz="1000" b="0" i="0" u="none" strike="noStrike" kern="1200" cap="none" spc="0" normalizeH="0" baseline="0" noProof="0" dirty="0">
              <a:ln>
                <a:noFill/>
              </a:ln>
              <a:solidFill>
                <a:srgbClr val="000000"/>
              </a:solidFill>
              <a:effectLst/>
              <a:uLnTx/>
              <a:uFillTx/>
              <a:latin typeface="Graphik"/>
              <a:ea typeface="+mn-ea"/>
              <a:cs typeface="+mn-cs"/>
            </a:endParaRP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1000" b="0" i="0" u="none" strike="noStrike" kern="1200" cap="none" spc="0" normalizeH="0" baseline="0" noProof="0" dirty="0">
                <a:ln>
                  <a:noFill/>
                </a:ln>
                <a:solidFill>
                  <a:srgbClr val="000000"/>
                </a:solidFill>
                <a:effectLst/>
                <a:uLnTx/>
                <a:uFillTx/>
                <a:latin typeface="Graphik"/>
                <a:ea typeface="+mn-ea"/>
                <a:cs typeface="+mn-cs"/>
              </a:rPr>
              <a:t>Los sistemas pueden colocarse aguas arriba (generalmente canales) o aguas abajo (terceros, proveedores de pago, instituciones...)</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1000" b="0" i="0" u="none" strike="noStrike" kern="1200" cap="none" spc="0" normalizeH="0" baseline="0" noProof="0" dirty="0">
                <a:ln>
                  <a:noFill/>
                </a:ln>
                <a:solidFill>
                  <a:srgbClr val="000000"/>
                </a:solidFill>
                <a:effectLst/>
                <a:uLnTx/>
                <a:uFillTx/>
                <a:latin typeface="Graphik"/>
                <a:ea typeface="+mn-ea"/>
                <a:cs typeface="+mn-cs"/>
              </a:rPr>
              <a:t>Los aspectos de seguridad son esenciales en la conectividad con el exterior (zonificación de red, cifrado de comunicaciones, etc.)</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altLang="es-MX" sz="1000" b="0" i="0" u="none" strike="noStrike" kern="1200" cap="none" spc="0" normalizeH="0" baseline="0" noProof="0" dirty="0">
                <a:ln>
                  <a:noFill/>
                </a:ln>
                <a:solidFill>
                  <a:srgbClr val="000000"/>
                </a:solidFill>
                <a:effectLst/>
                <a:uLnTx/>
                <a:uFillTx/>
                <a:latin typeface="Graphik"/>
                <a:ea typeface="+mn-ea"/>
                <a:cs typeface="+mn-cs"/>
              </a:rPr>
              <a:t>Es necesario exponer (saliente) a través de una DMZ.</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altLang="es-MX" sz="1000" b="0" i="0" u="none" strike="noStrike" kern="1200" cap="none" spc="0" normalizeH="0" baseline="0" noProof="0" dirty="0">
                <a:ln>
                  <a:noFill/>
                </a:ln>
                <a:solidFill>
                  <a:srgbClr val="000000"/>
                </a:solidFill>
                <a:effectLst/>
                <a:uLnTx/>
                <a:uFillTx/>
                <a:latin typeface="Graphik"/>
                <a:ea typeface="+mn-ea"/>
                <a:cs typeface="+mn-cs"/>
              </a:rPr>
              <a:t>Es necesario diseñar una Pasarela de Archivos (Salida), actualmente un SFTP.</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altLang="es-MX" sz="1000" b="0" i="0" u="none" strike="noStrike" kern="1200" cap="none" spc="0" normalizeH="0" baseline="0" noProof="0" dirty="0">
                <a:ln>
                  <a:noFill/>
                </a:ln>
                <a:solidFill>
                  <a:srgbClr val="000000"/>
                </a:solidFill>
                <a:effectLst/>
                <a:uLnTx/>
                <a:uFillTx/>
                <a:latin typeface="Graphik"/>
                <a:ea typeface="+mn-ea"/>
                <a:cs typeface="+mn-cs"/>
              </a:rPr>
              <a:t>Aún no hay definición para Event Gateway (Saliente).</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altLang="es-MX" sz="1000" b="0" i="0" u="none" strike="noStrike" kern="1200" cap="none" spc="0" normalizeH="0" baseline="0" noProof="0" dirty="0">
                <a:ln>
                  <a:noFill/>
                </a:ln>
                <a:solidFill>
                  <a:srgbClr val="000000"/>
                </a:solidFill>
                <a:effectLst/>
                <a:uLnTx/>
                <a:uFillTx/>
                <a:latin typeface="Graphik"/>
                <a:ea typeface="+mn-ea"/>
                <a:cs typeface="+mn-cs"/>
              </a:rPr>
              <a:t>File y Event Gateway (Inbound) a</a:t>
            </a:r>
            <a:r>
              <a:rPr kumimoji="0" lang="es" altLang="en-US" sz="1000" b="0" i="0" u="none" strike="noStrike" kern="1200" cap="none" spc="0" normalizeH="0" baseline="0" noProof="0" dirty="0">
                <a:ln>
                  <a:noFill/>
                </a:ln>
                <a:solidFill>
                  <a:srgbClr val="000000"/>
                </a:solidFill>
                <a:effectLst/>
                <a:uLnTx/>
                <a:uFillTx/>
                <a:latin typeface="Graphik"/>
                <a:ea typeface="+mn-ea"/>
                <a:cs typeface="+mn-cs"/>
              </a:rPr>
              <a:t>ú</a:t>
            </a:r>
            <a:r>
              <a:rPr kumimoji="0" lang="es" altLang="es-MX" sz="1000" b="0" i="0" u="none" strike="noStrike" kern="1200" cap="none" spc="0" normalizeH="0" baseline="0" noProof="0" dirty="0">
                <a:ln>
                  <a:noFill/>
                </a:ln>
                <a:solidFill>
                  <a:srgbClr val="000000"/>
                </a:solidFill>
                <a:effectLst/>
                <a:uLnTx/>
                <a:uFillTx/>
                <a:latin typeface="Graphik"/>
                <a:ea typeface="+mn-ea"/>
                <a:cs typeface="+mn-cs"/>
              </a:rPr>
              <a:t>n no tienen definici</a:t>
            </a:r>
            <a:r>
              <a:rPr kumimoji="0" lang="es" altLang="en-US" sz="1000" b="0" i="0" u="none" strike="noStrike" kern="1200" cap="none" spc="0" normalizeH="0" baseline="0" noProof="0" dirty="0">
                <a:ln>
                  <a:noFill/>
                </a:ln>
                <a:solidFill>
                  <a:srgbClr val="000000"/>
                </a:solidFill>
                <a:effectLst/>
                <a:uLnTx/>
                <a:uFillTx/>
                <a:latin typeface="Graphik"/>
                <a:ea typeface="+mn-ea"/>
                <a:cs typeface="+mn-cs"/>
              </a:rPr>
              <a:t>ó</a:t>
            </a:r>
            <a:r>
              <a:rPr kumimoji="0" lang="es" altLang="es-MX" sz="1000" b="0" i="0" u="none" strike="noStrike" kern="1200" cap="none" spc="0" normalizeH="0" baseline="0" noProof="0" dirty="0">
                <a:ln>
                  <a:noFill/>
                </a:ln>
                <a:solidFill>
                  <a:srgbClr val="000000"/>
                </a:solidFill>
                <a:effectLst/>
                <a:uLnTx/>
                <a:uFillTx/>
                <a:latin typeface="Graphik"/>
                <a:ea typeface="+mn-ea"/>
                <a:cs typeface="+mn-cs"/>
              </a:rPr>
              <a:t>n, es necesario proponer. </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altLang="es-MX" sz="1000" b="0" i="0" u="none" strike="noStrike" kern="1200" cap="none" spc="0" normalizeH="0" baseline="0" noProof="0" dirty="0">
                <a:ln>
                  <a:noFill/>
                </a:ln>
                <a:solidFill>
                  <a:srgbClr val="000000"/>
                </a:solidFill>
                <a:effectLst/>
                <a:uLnTx/>
                <a:uFillTx/>
                <a:latin typeface="Graphik"/>
                <a:ea typeface="+mn-ea"/>
                <a:cs typeface="+mn-cs"/>
              </a:rPr>
              <a:t>MarketPlace aún no tiene definición.</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ES" altLang="es-MX" sz="1000" b="0" i="0" u="none" strike="noStrike" kern="1200" cap="none" spc="0" normalizeH="0" baseline="0" noProof="0" dirty="0" err="1">
                <a:ln>
                  <a:noFill/>
                </a:ln>
                <a:solidFill>
                  <a:srgbClr val="000000"/>
                </a:solidFill>
                <a:effectLst/>
                <a:uLnTx/>
                <a:uFillTx/>
                <a:latin typeface="Graphik"/>
                <a:ea typeface="+mn-ea"/>
                <a:cs typeface="+mn-cs"/>
              </a:rPr>
              <a:t>APIgee</a:t>
            </a:r>
            <a:r>
              <a:rPr kumimoji="0" lang="es" altLang="es-MX" sz="1000" b="0" i="0" u="none" strike="noStrike" kern="1200" cap="none" spc="0" normalizeH="0" baseline="0" noProof="0" dirty="0">
                <a:ln>
                  <a:noFill/>
                </a:ln>
                <a:solidFill>
                  <a:srgbClr val="000000"/>
                </a:solidFill>
                <a:effectLst/>
                <a:uLnTx/>
                <a:uFillTx/>
                <a:latin typeface="Graphik"/>
                <a:ea typeface="+mn-ea"/>
                <a:cs typeface="+mn-cs"/>
              </a:rPr>
              <a:t> es actualmente el principal proveedor de esta arquitectura.</a:t>
            </a:r>
          </a:p>
        </p:txBody>
      </p:sp>
      <p:sp>
        <p:nvSpPr>
          <p:cNvPr id="16" name="Rectangle 15">
            <a:extLst>
              <a:ext uri="{FF2B5EF4-FFF2-40B4-BE49-F238E27FC236}">
                <a16:creationId xmlns:a16="http://schemas.microsoft.com/office/drawing/2014/main" id="{03540869-FBAB-8763-4FB1-80EE0370CC96}"/>
              </a:ext>
            </a:extLst>
          </p:cNvPr>
          <p:cNvSpPr/>
          <p:nvPr/>
        </p:nvSpPr>
        <p:spPr>
          <a:xfrm>
            <a:off x="2476500" y="2528384"/>
            <a:ext cx="1524000" cy="265616"/>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Pasarela de archivos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(por determinar)</a:t>
            </a:r>
          </a:p>
        </p:txBody>
      </p:sp>
      <p:sp>
        <p:nvSpPr>
          <p:cNvPr id="17" name="Rectangle 16">
            <a:extLst>
              <a:ext uri="{FF2B5EF4-FFF2-40B4-BE49-F238E27FC236}">
                <a16:creationId xmlns:a16="http://schemas.microsoft.com/office/drawing/2014/main" id="{156CFED7-FCFC-BD9C-6C04-E1C4E92F385B}"/>
              </a:ext>
            </a:extLst>
          </p:cNvPr>
          <p:cNvSpPr/>
          <p:nvPr/>
        </p:nvSpPr>
        <p:spPr>
          <a:xfrm>
            <a:off x="4076700" y="2537075"/>
            <a:ext cx="1587500" cy="256925"/>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Pasarela de Eventos (por determinar)</a:t>
            </a:r>
          </a:p>
        </p:txBody>
      </p:sp>
      <p:sp>
        <p:nvSpPr>
          <p:cNvPr id="18" name="Rectangle 17">
            <a:extLst>
              <a:ext uri="{FF2B5EF4-FFF2-40B4-BE49-F238E27FC236}">
                <a16:creationId xmlns:a16="http://schemas.microsoft.com/office/drawing/2014/main" id="{D3FB948E-AF63-37EC-DBC7-489A20FAC77D}"/>
              </a:ext>
            </a:extLst>
          </p:cNvPr>
          <p:cNvSpPr/>
          <p:nvPr/>
        </p:nvSpPr>
        <p:spPr>
          <a:xfrm>
            <a:off x="1023879" y="5222526"/>
            <a:ext cx="1197282" cy="430849"/>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Banco Central</a:t>
            </a:r>
          </a:p>
        </p:txBody>
      </p:sp>
      <p:sp>
        <p:nvSpPr>
          <p:cNvPr id="19" name="Rectangle 18">
            <a:extLst>
              <a:ext uri="{FF2B5EF4-FFF2-40B4-BE49-F238E27FC236}">
                <a16:creationId xmlns:a16="http://schemas.microsoft.com/office/drawing/2014/main" id="{203784E0-33FE-5CD8-5255-30F4B3F0DFEF}"/>
              </a:ext>
            </a:extLst>
          </p:cNvPr>
          <p:cNvSpPr/>
          <p:nvPr/>
        </p:nvSpPr>
        <p:spPr>
          <a:xfrm>
            <a:off x="2336486" y="5214287"/>
            <a:ext cx="1197282" cy="439089"/>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Procesadores de tarjetas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(Visa, Mastercard...)</a:t>
            </a:r>
          </a:p>
        </p:txBody>
      </p:sp>
      <p:sp>
        <p:nvSpPr>
          <p:cNvPr id="20" name="Rectangle 19">
            <a:extLst>
              <a:ext uri="{FF2B5EF4-FFF2-40B4-BE49-F238E27FC236}">
                <a16:creationId xmlns:a16="http://schemas.microsoft.com/office/drawing/2014/main" id="{25FB7245-CC4F-3537-3995-E5147BC73DF6}"/>
              </a:ext>
            </a:extLst>
          </p:cNvPr>
          <p:cNvSpPr/>
          <p:nvPr/>
        </p:nvSpPr>
        <p:spPr>
          <a:xfrm>
            <a:off x="3634965" y="5222527"/>
            <a:ext cx="1197282" cy="430848"/>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Esquemas de pagos</a:t>
            </a:r>
          </a:p>
        </p:txBody>
      </p:sp>
      <p:sp>
        <p:nvSpPr>
          <p:cNvPr id="21" name="Rectangle 20">
            <a:extLst>
              <a:ext uri="{FF2B5EF4-FFF2-40B4-BE49-F238E27FC236}">
                <a16:creationId xmlns:a16="http://schemas.microsoft.com/office/drawing/2014/main" id="{70E5800D-7E2C-A6A9-AEE9-4168F98838CC}"/>
              </a:ext>
            </a:extLst>
          </p:cNvPr>
          <p:cNvSpPr/>
          <p:nvPr/>
        </p:nvSpPr>
        <p:spPr>
          <a:xfrm>
            <a:off x="2715529" y="1655664"/>
            <a:ext cx="1440000" cy="252000"/>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Canales corporativos</a:t>
            </a:r>
          </a:p>
        </p:txBody>
      </p:sp>
      <p:cxnSp>
        <p:nvCxnSpPr>
          <p:cNvPr id="22" name="Connector: Elbow 21">
            <a:extLst>
              <a:ext uri="{FF2B5EF4-FFF2-40B4-BE49-F238E27FC236}">
                <a16:creationId xmlns:a16="http://schemas.microsoft.com/office/drawing/2014/main" id="{03D48E8C-E13D-6B8C-F51F-A4960168A5CE}"/>
              </a:ext>
            </a:extLst>
          </p:cNvPr>
          <p:cNvCxnSpPr>
            <a:stCxn id="11" idx="2"/>
            <a:endCxn id="9" idx="0"/>
          </p:cNvCxnSpPr>
          <p:nvPr/>
        </p:nvCxnSpPr>
        <p:spPr>
          <a:xfrm rot="5400000" flipV="1">
            <a:off x="2280920" y="1482725"/>
            <a:ext cx="361315" cy="1210945"/>
          </a:xfrm>
          <a:prstGeom prst="bentConnector3">
            <a:avLst>
              <a:gd name="adj1" fmla="val 50088"/>
            </a:avLst>
          </a:prstGeom>
          <a:ln w="9525">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3" name="Connector: Elbow 22">
            <a:extLst>
              <a:ext uri="{FF2B5EF4-FFF2-40B4-BE49-F238E27FC236}">
                <a16:creationId xmlns:a16="http://schemas.microsoft.com/office/drawing/2014/main" id="{B1C51259-F8DF-8585-5C91-F6C8C27B5B7B}"/>
              </a:ext>
            </a:extLst>
          </p:cNvPr>
          <p:cNvCxnSpPr>
            <a:stCxn id="21" idx="2"/>
            <a:endCxn id="9" idx="0"/>
          </p:cNvCxnSpPr>
          <p:nvPr/>
        </p:nvCxnSpPr>
        <p:spPr>
          <a:xfrm rot="5400000">
            <a:off x="3070543" y="1904048"/>
            <a:ext cx="361315" cy="368300"/>
          </a:xfrm>
          <a:prstGeom prst="bentConnector3">
            <a:avLst>
              <a:gd name="adj1" fmla="val 50000"/>
            </a:avLst>
          </a:prstGeom>
          <a:ln w="9525">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4F672A89-0DF4-8867-EF47-8268CB718016}"/>
              </a:ext>
            </a:extLst>
          </p:cNvPr>
          <p:cNvCxnSpPr>
            <a:cxnSpLocks/>
            <a:stCxn id="10" idx="0"/>
          </p:cNvCxnSpPr>
          <p:nvPr/>
        </p:nvCxnSpPr>
        <p:spPr>
          <a:xfrm flipV="1">
            <a:off x="1720898" y="2261916"/>
            <a:ext cx="6782" cy="282136"/>
          </a:xfrm>
          <a:prstGeom prst="straightConnector1">
            <a:avLst/>
          </a:prstGeom>
          <a:ln w="9525">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D93E9877-352E-37FC-B08B-3E2B208886B4}"/>
              </a:ext>
            </a:extLst>
          </p:cNvPr>
          <p:cNvCxnSpPr>
            <a:cxnSpLocks/>
            <a:stCxn id="16" idx="0"/>
          </p:cNvCxnSpPr>
          <p:nvPr/>
        </p:nvCxnSpPr>
        <p:spPr>
          <a:xfrm flipV="1">
            <a:off x="3238500" y="2286133"/>
            <a:ext cx="2109" cy="242251"/>
          </a:xfrm>
          <a:prstGeom prst="straightConnector1">
            <a:avLst/>
          </a:prstGeom>
          <a:ln w="9525">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DA0E2B36-AE5B-3778-4B88-EF74B5D7FA9C}"/>
              </a:ext>
            </a:extLst>
          </p:cNvPr>
          <p:cNvCxnSpPr>
            <a:cxnSpLocks/>
            <a:stCxn id="17" idx="0"/>
          </p:cNvCxnSpPr>
          <p:nvPr/>
        </p:nvCxnSpPr>
        <p:spPr>
          <a:xfrm flipH="1" flipV="1">
            <a:off x="4870172" y="2304506"/>
            <a:ext cx="278" cy="232569"/>
          </a:xfrm>
          <a:prstGeom prst="straightConnector1">
            <a:avLst/>
          </a:prstGeom>
          <a:ln w="9525">
            <a:solidFill>
              <a:schemeClr val="tx1"/>
            </a:solidFill>
            <a:prstDash val="sysDash"/>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7" name="Rectangle 26">
            <a:extLst>
              <a:ext uri="{FF2B5EF4-FFF2-40B4-BE49-F238E27FC236}">
                <a16:creationId xmlns:a16="http://schemas.microsoft.com/office/drawing/2014/main" id="{99F9DC19-A3E8-F933-B60C-554032148E96}"/>
              </a:ext>
            </a:extLst>
          </p:cNvPr>
          <p:cNvSpPr/>
          <p:nvPr/>
        </p:nvSpPr>
        <p:spPr>
          <a:xfrm>
            <a:off x="4901120" y="5222526"/>
            <a:ext cx="1197282" cy="430847"/>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Puntuación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crediticia</a:t>
            </a:r>
          </a:p>
        </p:txBody>
      </p:sp>
      <p:sp>
        <p:nvSpPr>
          <p:cNvPr id="28" name="Rectangle 27">
            <a:extLst>
              <a:ext uri="{FF2B5EF4-FFF2-40B4-BE49-F238E27FC236}">
                <a16:creationId xmlns:a16="http://schemas.microsoft.com/office/drawing/2014/main" id="{6964950C-25A4-86F5-A294-817AD176BBC2}"/>
              </a:ext>
            </a:extLst>
          </p:cNvPr>
          <p:cNvSpPr/>
          <p:nvPr/>
        </p:nvSpPr>
        <p:spPr>
          <a:xfrm>
            <a:off x="400050" y="4123055"/>
            <a:ext cx="5335270" cy="553720"/>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90000" tIns="90000" rIns="90000" bIns="900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Pasarela de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Servicios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Outbound</a:t>
            </a:r>
          </a:p>
        </p:txBody>
      </p:sp>
      <p:sp>
        <p:nvSpPr>
          <p:cNvPr id="29" name="Rectangle 28">
            <a:extLst>
              <a:ext uri="{FF2B5EF4-FFF2-40B4-BE49-F238E27FC236}">
                <a16:creationId xmlns:a16="http://schemas.microsoft.com/office/drawing/2014/main" id="{66324819-47E3-857B-3197-9F9C880F332E}"/>
              </a:ext>
            </a:extLst>
          </p:cNvPr>
          <p:cNvSpPr/>
          <p:nvPr/>
        </p:nvSpPr>
        <p:spPr>
          <a:xfrm>
            <a:off x="1226185" y="3592830"/>
            <a:ext cx="1111250" cy="229870"/>
          </a:xfrm>
          <a:prstGeom prst="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altLang="es-MX" sz="900" b="0" i="0" u="none" strike="noStrike" kern="1200" cap="none" spc="0" normalizeH="0" baseline="0" noProof="0" dirty="0">
                <a:ln>
                  <a:noFill/>
                </a:ln>
                <a:solidFill>
                  <a:srgbClr val="000000"/>
                </a:solidFill>
                <a:effectLst/>
                <a:uLnTx/>
                <a:uFillTx/>
                <a:latin typeface="Graphik"/>
                <a:ea typeface="+mn-ea"/>
                <a:cs typeface="+mn-cs"/>
                <a:sym typeface="+mn-ea"/>
              </a:rPr>
              <a:t>API Gateway</a:t>
            </a:r>
          </a:p>
        </p:txBody>
      </p:sp>
      <p:sp>
        <p:nvSpPr>
          <p:cNvPr id="30" name="Rectangle 29">
            <a:extLst>
              <a:ext uri="{FF2B5EF4-FFF2-40B4-BE49-F238E27FC236}">
                <a16:creationId xmlns:a16="http://schemas.microsoft.com/office/drawing/2014/main" id="{BA6B2FAD-3959-1DBA-3728-FA10FD59AC34}"/>
              </a:ext>
            </a:extLst>
          </p:cNvPr>
          <p:cNvSpPr/>
          <p:nvPr/>
        </p:nvSpPr>
        <p:spPr>
          <a:xfrm>
            <a:off x="2476500" y="4202430"/>
            <a:ext cx="1523365" cy="278433"/>
          </a:xfrm>
          <a:prstGeom prst="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altLang="es-MX" sz="900" b="0" i="0" u="none" strike="noStrike" kern="1200" cap="none" spc="0" normalizeH="0" baseline="0" noProof="0" dirty="0">
                <a:ln>
                  <a:noFill/>
                </a:ln>
                <a:solidFill>
                  <a:srgbClr val="000000"/>
                </a:solidFill>
                <a:effectLst/>
                <a:uLnTx/>
                <a:uFillTx/>
                <a:latin typeface="Graphik"/>
                <a:ea typeface="+mn-ea"/>
                <a:cs typeface="+mn-cs"/>
                <a:sym typeface="+mn-ea"/>
              </a:rPr>
              <a:t>Pasarela de Archivos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altLang="es-MX" sz="900" b="0" i="0" u="none" strike="noStrike" kern="1200" cap="none" spc="0" normalizeH="0" baseline="0" noProof="0" dirty="0">
                <a:ln>
                  <a:noFill/>
                </a:ln>
                <a:solidFill>
                  <a:srgbClr val="000000"/>
                </a:solidFill>
                <a:effectLst/>
                <a:uLnTx/>
                <a:uFillTx/>
                <a:latin typeface="Graphik"/>
                <a:ea typeface="+mn-ea"/>
                <a:cs typeface="+mn-cs"/>
                <a:sym typeface="+mn-ea"/>
              </a:rPr>
              <a:t>(SFTP)</a:t>
            </a:r>
          </a:p>
        </p:txBody>
      </p:sp>
      <p:cxnSp>
        <p:nvCxnSpPr>
          <p:cNvPr id="31" name="Straight Arrow Connector 30">
            <a:extLst>
              <a:ext uri="{FF2B5EF4-FFF2-40B4-BE49-F238E27FC236}">
                <a16:creationId xmlns:a16="http://schemas.microsoft.com/office/drawing/2014/main" id="{D1AB34B4-CD90-2CED-D4A8-81F33362AE90}"/>
              </a:ext>
            </a:extLst>
          </p:cNvPr>
          <p:cNvCxnSpPr/>
          <p:nvPr/>
        </p:nvCxnSpPr>
        <p:spPr>
          <a:xfrm>
            <a:off x="4680618" y="4677013"/>
            <a:ext cx="0" cy="285621"/>
          </a:xfrm>
          <a:prstGeom prst="straightConnector1">
            <a:avLst/>
          </a:prstGeom>
          <a:ln w="9525">
            <a:solidFill>
              <a:schemeClr val="tx1"/>
            </a:solidFill>
            <a:prstDash val="sysDash"/>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2" name="Arrow: Up-Down 31">
            <a:extLst>
              <a:ext uri="{FF2B5EF4-FFF2-40B4-BE49-F238E27FC236}">
                <a16:creationId xmlns:a16="http://schemas.microsoft.com/office/drawing/2014/main" id="{66DA3114-6123-73F4-FDA2-FC26FEE60F05}"/>
              </a:ext>
            </a:extLst>
          </p:cNvPr>
          <p:cNvSpPr/>
          <p:nvPr/>
        </p:nvSpPr>
        <p:spPr>
          <a:xfrm>
            <a:off x="3047970" y="3941240"/>
            <a:ext cx="307065" cy="260998"/>
          </a:xfrm>
          <a:prstGeom prst="upDownArrow">
            <a:avLst>
              <a:gd name="adj1" fmla="val 43596"/>
              <a:gd name="adj2" fmla="val 30788"/>
            </a:avLst>
          </a:prstGeom>
          <a:ln w="9525">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Graphik"/>
              <a:ea typeface="+mn-ea"/>
              <a:cs typeface="+mn-cs"/>
            </a:endParaRPr>
          </a:p>
        </p:txBody>
      </p:sp>
      <p:cxnSp>
        <p:nvCxnSpPr>
          <p:cNvPr id="33" name="Connector: Elbow 32">
            <a:extLst>
              <a:ext uri="{FF2B5EF4-FFF2-40B4-BE49-F238E27FC236}">
                <a16:creationId xmlns:a16="http://schemas.microsoft.com/office/drawing/2014/main" id="{76907C47-3C7C-E5B1-390C-03442E5F37E4}"/>
              </a:ext>
            </a:extLst>
          </p:cNvPr>
          <p:cNvCxnSpPr>
            <a:cxnSpLocks/>
            <a:stCxn id="28" idx="2"/>
            <a:endCxn id="18" idx="0"/>
          </p:cNvCxnSpPr>
          <p:nvPr/>
        </p:nvCxnSpPr>
        <p:spPr>
          <a:xfrm rot="5400000">
            <a:off x="2072228" y="4227068"/>
            <a:ext cx="545751" cy="1445165"/>
          </a:xfrm>
          <a:prstGeom prst="bentConnector3">
            <a:avLst>
              <a:gd name="adj1" fmla="val 50000"/>
            </a:avLst>
          </a:prstGeom>
          <a:ln w="9525">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4" name="Connector: Elbow 33">
            <a:extLst>
              <a:ext uri="{FF2B5EF4-FFF2-40B4-BE49-F238E27FC236}">
                <a16:creationId xmlns:a16="http://schemas.microsoft.com/office/drawing/2014/main" id="{FF6CAC54-4669-7314-2607-1174CE6DDB06}"/>
              </a:ext>
            </a:extLst>
          </p:cNvPr>
          <p:cNvCxnSpPr>
            <a:cxnSpLocks/>
            <a:stCxn id="28" idx="2"/>
            <a:endCxn id="19" idx="0"/>
          </p:cNvCxnSpPr>
          <p:nvPr/>
        </p:nvCxnSpPr>
        <p:spPr>
          <a:xfrm rot="5400000">
            <a:off x="2732650" y="4879252"/>
            <a:ext cx="537512" cy="132558"/>
          </a:xfrm>
          <a:prstGeom prst="bentConnector3">
            <a:avLst>
              <a:gd name="adj1" fmla="val 50000"/>
            </a:avLst>
          </a:prstGeom>
          <a:ln w="9525">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5" name="Connector: Elbow 34">
            <a:extLst>
              <a:ext uri="{FF2B5EF4-FFF2-40B4-BE49-F238E27FC236}">
                <a16:creationId xmlns:a16="http://schemas.microsoft.com/office/drawing/2014/main" id="{5FDBA73B-0438-4FCF-0CCB-9742B44101F0}"/>
              </a:ext>
            </a:extLst>
          </p:cNvPr>
          <p:cNvCxnSpPr>
            <a:cxnSpLocks/>
            <a:stCxn id="28" idx="2"/>
            <a:endCxn id="20" idx="0"/>
          </p:cNvCxnSpPr>
          <p:nvPr/>
        </p:nvCxnSpPr>
        <p:spPr>
          <a:xfrm rot="16200000" flipH="1">
            <a:off x="3377769" y="4366690"/>
            <a:ext cx="545752" cy="1165921"/>
          </a:xfrm>
          <a:prstGeom prst="bentConnector3">
            <a:avLst>
              <a:gd name="adj1" fmla="val 50000"/>
            </a:avLst>
          </a:prstGeom>
          <a:ln w="9525">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6" name="Connector: Elbow 35">
            <a:extLst>
              <a:ext uri="{FF2B5EF4-FFF2-40B4-BE49-F238E27FC236}">
                <a16:creationId xmlns:a16="http://schemas.microsoft.com/office/drawing/2014/main" id="{10E1D8E6-6D42-5513-6AF6-248D39DDD2DA}"/>
              </a:ext>
            </a:extLst>
          </p:cNvPr>
          <p:cNvCxnSpPr>
            <a:cxnSpLocks/>
            <a:stCxn id="28" idx="2"/>
            <a:endCxn id="27" idx="0"/>
          </p:cNvCxnSpPr>
          <p:nvPr/>
        </p:nvCxnSpPr>
        <p:spPr>
          <a:xfrm rot="16200000" flipH="1">
            <a:off x="4010848" y="3733612"/>
            <a:ext cx="545751" cy="2432076"/>
          </a:xfrm>
          <a:prstGeom prst="bentConnector3">
            <a:avLst>
              <a:gd name="adj1" fmla="val 50000"/>
            </a:avLst>
          </a:prstGeom>
          <a:ln w="9525">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7" name="Rectangle 36">
            <a:extLst>
              <a:ext uri="{FF2B5EF4-FFF2-40B4-BE49-F238E27FC236}">
                <a16:creationId xmlns:a16="http://schemas.microsoft.com/office/drawing/2014/main" id="{7149C42B-B8FB-701F-F05D-39D58595FA4B}"/>
              </a:ext>
            </a:extLst>
          </p:cNvPr>
          <p:cNvSpPr/>
          <p:nvPr/>
        </p:nvSpPr>
        <p:spPr>
          <a:xfrm>
            <a:off x="1226185" y="3025140"/>
            <a:ext cx="1124585" cy="218440"/>
          </a:xfrm>
          <a:prstGeom prst="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altLang="es-MX" sz="900" b="0" i="0" u="none" strike="noStrike" kern="1200" cap="none" spc="0" normalizeH="0" baseline="0" noProof="0" dirty="0">
                <a:ln>
                  <a:noFill/>
                </a:ln>
                <a:solidFill>
                  <a:srgbClr val="000000"/>
                </a:solidFill>
                <a:effectLst/>
                <a:uLnTx/>
                <a:uFillTx/>
                <a:latin typeface="Graphik"/>
                <a:ea typeface="+mn-ea"/>
                <a:cs typeface="+mn-cs"/>
                <a:sym typeface="+mn-ea"/>
              </a:rPr>
              <a:t>Open Banking Edge</a:t>
            </a:r>
          </a:p>
        </p:txBody>
      </p:sp>
      <p:sp>
        <p:nvSpPr>
          <p:cNvPr id="38" name="Rectangle 37">
            <a:extLst>
              <a:ext uri="{FF2B5EF4-FFF2-40B4-BE49-F238E27FC236}">
                <a16:creationId xmlns:a16="http://schemas.microsoft.com/office/drawing/2014/main" id="{BA5B979B-F283-E865-CAB4-C6F94E357C1A}"/>
              </a:ext>
            </a:extLst>
          </p:cNvPr>
          <p:cNvSpPr/>
          <p:nvPr/>
        </p:nvSpPr>
        <p:spPr>
          <a:xfrm>
            <a:off x="4294819" y="1655664"/>
            <a:ext cx="1440000" cy="252000"/>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Socios</a:t>
            </a:r>
          </a:p>
        </p:txBody>
      </p:sp>
      <p:cxnSp>
        <p:nvCxnSpPr>
          <p:cNvPr id="39" name="Connector: Elbow 38">
            <a:extLst>
              <a:ext uri="{FF2B5EF4-FFF2-40B4-BE49-F238E27FC236}">
                <a16:creationId xmlns:a16="http://schemas.microsoft.com/office/drawing/2014/main" id="{981337D4-869F-B282-3110-EADA0ADB19FD}"/>
              </a:ext>
            </a:extLst>
          </p:cNvPr>
          <p:cNvCxnSpPr>
            <a:stCxn id="38" idx="2"/>
            <a:endCxn id="9" idx="0"/>
          </p:cNvCxnSpPr>
          <p:nvPr/>
        </p:nvCxnSpPr>
        <p:spPr>
          <a:xfrm rot="5400000">
            <a:off x="3860165" y="1114425"/>
            <a:ext cx="361315" cy="1947545"/>
          </a:xfrm>
          <a:prstGeom prst="bentConnector3">
            <a:avLst>
              <a:gd name="adj1" fmla="val 50088"/>
            </a:avLst>
          </a:prstGeom>
          <a:ln w="9525">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95F4A4B5-EE3E-D712-C936-A020104A901B}"/>
              </a:ext>
            </a:extLst>
          </p:cNvPr>
          <p:cNvCxnSpPr/>
          <p:nvPr/>
        </p:nvCxnSpPr>
        <p:spPr>
          <a:xfrm flipH="1" flipV="1">
            <a:off x="2409878" y="3029103"/>
            <a:ext cx="9525" cy="990600"/>
          </a:xfrm>
          <a:prstGeom prst="straightConnector1">
            <a:avLst/>
          </a:prstGeom>
          <a:ln w="9525">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749A6CC3-F1DD-E395-826E-EAC228DCAE82}"/>
              </a:ext>
            </a:extLst>
          </p:cNvPr>
          <p:cNvCxnSpPr>
            <a:cxnSpLocks/>
            <a:endCxn id="30" idx="2"/>
          </p:cNvCxnSpPr>
          <p:nvPr/>
        </p:nvCxnSpPr>
        <p:spPr>
          <a:xfrm flipV="1">
            <a:off x="3237179" y="4480863"/>
            <a:ext cx="1004" cy="171306"/>
          </a:xfrm>
          <a:prstGeom prst="straightConnector1">
            <a:avLst/>
          </a:prstGeom>
          <a:ln w="9525">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pic>
        <p:nvPicPr>
          <p:cNvPr id="44" name="Picture 43">
            <a:extLst>
              <a:ext uri="{FF2B5EF4-FFF2-40B4-BE49-F238E27FC236}">
                <a16:creationId xmlns:a16="http://schemas.microsoft.com/office/drawing/2014/main" id="{41169109-6951-D0E4-9922-9F5D1A564E32}"/>
              </a:ext>
            </a:extLst>
          </p:cNvPr>
          <p:cNvPicPr>
            <a:picLocks noChangeAspect="1"/>
          </p:cNvPicPr>
          <p:nvPr/>
        </p:nvPicPr>
        <p:blipFill>
          <a:blip r:embed="rId2"/>
          <a:stretch>
            <a:fillRect/>
          </a:stretch>
        </p:blipFill>
        <p:spPr>
          <a:xfrm>
            <a:off x="1858586" y="2379794"/>
            <a:ext cx="478306" cy="157281"/>
          </a:xfrm>
          <a:prstGeom prst="rect">
            <a:avLst/>
          </a:prstGeom>
        </p:spPr>
      </p:pic>
      <p:pic>
        <p:nvPicPr>
          <p:cNvPr id="45" name="Picture 44">
            <a:extLst>
              <a:ext uri="{FF2B5EF4-FFF2-40B4-BE49-F238E27FC236}">
                <a16:creationId xmlns:a16="http://schemas.microsoft.com/office/drawing/2014/main" id="{13A71E76-3B87-6ADA-FDD5-4CE0DCE3CDD1}"/>
              </a:ext>
            </a:extLst>
          </p:cNvPr>
          <p:cNvPicPr>
            <a:picLocks noChangeAspect="1"/>
          </p:cNvPicPr>
          <p:nvPr/>
        </p:nvPicPr>
        <p:blipFill>
          <a:blip r:embed="rId2"/>
          <a:stretch>
            <a:fillRect/>
          </a:stretch>
        </p:blipFill>
        <p:spPr>
          <a:xfrm>
            <a:off x="843418" y="3481512"/>
            <a:ext cx="330559" cy="123190"/>
          </a:xfrm>
          <a:prstGeom prst="rect">
            <a:avLst/>
          </a:prstGeom>
        </p:spPr>
      </p:pic>
      <p:sp>
        <p:nvSpPr>
          <p:cNvPr id="46" name="Rectangle 45">
            <a:extLst>
              <a:ext uri="{FF2B5EF4-FFF2-40B4-BE49-F238E27FC236}">
                <a16:creationId xmlns:a16="http://schemas.microsoft.com/office/drawing/2014/main" id="{439FCE98-9F3B-E564-B511-F0EDFEF12CFD}"/>
              </a:ext>
            </a:extLst>
          </p:cNvPr>
          <p:cNvSpPr/>
          <p:nvPr/>
        </p:nvSpPr>
        <p:spPr>
          <a:xfrm>
            <a:off x="424809" y="3708899"/>
            <a:ext cx="770635" cy="210550"/>
          </a:xfrm>
          <a:prstGeom prst="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altLang="es-MX" sz="900" b="0" i="0" u="none" strike="noStrike" kern="1200" cap="none" spc="0" normalizeH="0" baseline="0" noProof="0" dirty="0">
                <a:ln>
                  <a:noFill/>
                </a:ln>
                <a:solidFill>
                  <a:srgbClr val="000000"/>
                </a:solidFill>
                <a:effectLst/>
                <a:uLnTx/>
                <a:uFillTx/>
                <a:latin typeface="Graphik"/>
                <a:ea typeface="+mn-ea"/>
                <a:cs typeface="+mn-cs"/>
                <a:sym typeface="+mn-ea"/>
              </a:rPr>
              <a:t>SSG</a:t>
            </a:r>
          </a:p>
        </p:txBody>
      </p:sp>
      <p:sp>
        <p:nvSpPr>
          <p:cNvPr id="47" name="Rectangle 46">
            <a:extLst>
              <a:ext uri="{FF2B5EF4-FFF2-40B4-BE49-F238E27FC236}">
                <a16:creationId xmlns:a16="http://schemas.microsoft.com/office/drawing/2014/main" id="{5C2AE379-9480-F8BD-05C7-ED09D3D310B2}"/>
              </a:ext>
            </a:extLst>
          </p:cNvPr>
          <p:cNvSpPr/>
          <p:nvPr/>
        </p:nvSpPr>
        <p:spPr>
          <a:xfrm>
            <a:off x="1226185" y="4203699"/>
            <a:ext cx="1124585" cy="277163"/>
          </a:xfrm>
          <a:prstGeom prst="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altLang="es-MX" sz="900" b="0" i="0" u="none" strike="noStrike" kern="1200" cap="none" spc="0" normalizeH="0" baseline="0" noProof="0">
                <a:ln>
                  <a:noFill/>
                </a:ln>
                <a:solidFill>
                  <a:srgbClr val="000000"/>
                </a:solidFill>
                <a:effectLst/>
                <a:uLnTx/>
                <a:uFillTx/>
                <a:latin typeface="Graphik"/>
                <a:ea typeface="+mn-ea"/>
                <a:cs typeface="+mn-cs"/>
                <a:sym typeface="+mn-ea"/>
              </a:rPr>
              <a:t>AKAMAI</a:t>
            </a:r>
          </a:p>
        </p:txBody>
      </p:sp>
      <p:sp>
        <p:nvSpPr>
          <p:cNvPr id="48" name="Rectangle 47">
            <a:extLst>
              <a:ext uri="{FF2B5EF4-FFF2-40B4-BE49-F238E27FC236}">
                <a16:creationId xmlns:a16="http://schemas.microsoft.com/office/drawing/2014/main" id="{BFA075FB-F019-6E7C-3FEB-122B845236BC}"/>
              </a:ext>
            </a:extLst>
          </p:cNvPr>
          <p:cNvSpPr/>
          <p:nvPr/>
        </p:nvSpPr>
        <p:spPr>
          <a:xfrm>
            <a:off x="1226185" y="3331845"/>
            <a:ext cx="1122045" cy="179705"/>
          </a:xfrm>
          <a:prstGeom prst="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altLang="es-MX" sz="900" b="0" i="0" u="none" strike="noStrike" kern="1200" cap="none" spc="0" normalizeH="0" baseline="0" noProof="0">
                <a:ln>
                  <a:noFill/>
                </a:ln>
                <a:solidFill>
                  <a:srgbClr val="000000"/>
                </a:solidFill>
                <a:effectLst/>
                <a:uLnTx/>
                <a:uFillTx/>
                <a:latin typeface="Graphik"/>
                <a:ea typeface="+mn-ea"/>
                <a:cs typeface="+mn-cs"/>
                <a:sym typeface="+mn-ea"/>
              </a:rPr>
              <a:t>Autorizador</a:t>
            </a:r>
          </a:p>
        </p:txBody>
      </p:sp>
      <p:sp>
        <p:nvSpPr>
          <p:cNvPr id="49" name="Rectangle 48">
            <a:extLst>
              <a:ext uri="{FF2B5EF4-FFF2-40B4-BE49-F238E27FC236}">
                <a16:creationId xmlns:a16="http://schemas.microsoft.com/office/drawing/2014/main" id="{298575CF-CD33-72A6-BFC7-88A798142465}"/>
              </a:ext>
            </a:extLst>
          </p:cNvPr>
          <p:cNvSpPr/>
          <p:nvPr/>
        </p:nvSpPr>
        <p:spPr>
          <a:xfrm>
            <a:off x="440703" y="3025063"/>
            <a:ext cx="739386" cy="218378"/>
          </a:xfrm>
          <a:prstGeom prst="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altLang="es-MX" sz="900" b="0" i="0" u="none" strike="noStrike" kern="1200" cap="none" spc="0" normalizeH="0" baseline="0" noProof="0" dirty="0">
                <a:ln>
                  <a:noFill/>
                </a:ln>
                <a:solidFill>
                  <a:srgbClr val="000000"/>
                </a:solidFill>
                <a:effectLst/>
                <a:uLnTx/>
                <a:uFillTx/>
                <a:latin typeface="Graphik"/>
                <a:ea typeface="+mn-ea"/>
                <a:cs typeface="+mn-cs"/>
                <a:sym typeface="+mn-ea"/>
              </a:rPr>
              <a:t>Edge</a:t>
            </a:r>
          </a:p>
        </p:txBody>
      </p:sp>
      <p:sp>
        <p:nvSpPr>
          <p:cNvPr id="50" name="Rectangle 49">
            <a:extLst>
              <a:ext uri="{FF2B5EF4-FFF2-40B4-BE49-F238E27FC236}">
                <a16:creationId xmlns:a16="http://schemas.microsoft.com/office/drawing/2014/main" id="{551CC50B-DDF8-05CF-6738-9C6CE61D09F5}"/>
              </a:ext>
            </a:extLst>
          </p:cNvPr>
          <p:cNvSpPr/>
          <p:nvPr/>
        </p:nvSpPr>
        <p:spPr>
          <a:xfrm>
            <a:off x="4076700" y="4202430"/>
            <a:ext cx="1587500" cy="281816"/>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Pasarelade Eventos (por determinar)</a:t>
            </a:r>
          </a:p>
        </p:txBody>
      </p:sp>
      <p:sp>
        <p:nvSpPr>
          <p:cNvPr id="51" name="Rectangle 50">
            <a:extLst>
              <a:ext uri="{FF2B5EF4-FFF2-40B4-BE49-F238E27FC236}">
                <a16:creationId xmlns:a16="http://schemas.microsoft.com/office/drawing/2014/main" id="{C46085AA-5C9C-B588-F752-97411E0C5F18}"/>
              </a:ext>
            </a:extLst>
          </p:cNvPr>
          <p:cNvSpPr/>
          <p:nvPr/>
        </p:nvSpPr>
        <p:spPr>
          <a:xfrm>
            <a:off x="5807710" y="2940685"/>
            <a:ext cx="1111885" cy="100076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SANDBOX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(para los socios)</a:t>
            </a:r>
          </a:p>
        </p:txBody>
      </p:sp>
      <p:sp>
        <p:nvSpPr>
          <p:cNvPr id="52" name="Rectangle 51">
            <a:extLst>
              <a:ext uri="{FF2B5EF4-FFF2-40B4-BE49-F238E27FC236}">
                <a16:creationId xmlns:a16="http://schemas.microsoft.com/office/drawing/2014/main" id="{90D8E8B4-E8FB-2160-7025-5E294AC0B4EC}"/>
              </a:ext>
            </a:extLst>
          </p:cNvPr>
          <p:cNvSpPr/>
          <p:nvPr/>
        </p:nvSpPr>
        <p:spPr>
          <a:xfrm>
            <a:off x="5807710" y="2528385"/>
            <a:ext cx="1111885" cy="265616"/>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sym typeface="+mn-ea"/>
              </a:rPr>
              <a:t>MarketPlace (por determinar)</a:t>
            </a:r>
          </a:p>
        </p:txBody>
      </p:sp>
      <p:sp>
        <p:nvSpPr>
          <p:cNvPr id="53" name="Rectangle 1060">
            <a:extLst>
              <a:ext uri="{FF2B5EF4-FFF2-40B4-BE49-F238E27FC236}">
                <a16:creationId xmlns:a16="http://schemas.microsoft.com/office/drawing/2014/main" id="{66B9A512-7147-A0E8-53FA-4D61B22CD130}"/>
              </a:ext>
            </a:extLst>
          </p:cNvPr>
          <p:cNvSpPr/>
          <p:nvPr/>
        </p:nvSpPr>
        <p:spPr>
          <a:xfrm>
            <a:off x="7860145" y="6252435"/>
            <a:ext cx="3439086" cy="153955"/>
          </a:xfrm>
          <a:prstGeom prst="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altLang="es-MX" sz="900" b="0" i="0" u="none" strike="noStrike" kern="1200" cap="none" spc="0" normalizeH="0" baseline="0" noProof="0">
                <a:ln>
                  <a:noFill/>
                </a:ln>
                <a:solidFill>
                  <a:srgbClr val="000000"/>
                </a:solidFill>
                <a:effectLst/>
                <a:uLnTx/>
                <a:uFillTx/>
                <a:latin typeface="Graphik"/>
                <a:ea typeface="+mn-ea"/>
                <a:cs typeface="+mn-cs"/>
              </a:rPr>
              <a:t>Componentes actuales</a:t>
            </a:r>
          </a:p>
        </p:txBody>
      </p:sp>
      <p:cxnSp>
        <p:nvCxnSpPr>
          <p:cNvPr id="54" name="Connector: Elbow 140">
            <a:extLst>
              <a:ext uri="{FF2B5EF4-FFF2-40B4-BE49-F238E27FC236}">
                <a16:creationId xmlns:a16="http://schemas.microsoft.com/office/drawing/2014/main" id="{5D7C1A08-6A0B-31FF-E151-BCAC09DED52C}"/>
              </a:ext>
            </a:extLst>
          </p:cNvPr>
          <p:cNvCxnSpPr>
            <a:cxnSpLocks/>
            <a:stCxn id="47" idx="2"/>
          </p:cNvCxnSpPr>
          <p:nvPr/>
        </p:nvCxnSpPr>
        <p:spPr>
          <a:xfrm rot="16200000" flipH="1">
            <a:off x="2416803" y="3852537"/>
            <a:ext cx="195594" cy="1452244"/>
          </a:xfrm>
          <a:prstGeom prst="bentConnector2">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55" name="Arrow: Up-Down 54">
            <a:extLst>
              <a:ext uri="{FF2B5EF4-FFF2-40B4-BE49-F238E27FC236}">
                <a16:creationId xmlns:a16="http://schemas.microsoft.com/office/drawing/2014/main" id="{F170BDBF-0EFD-D088-B440-73DF60424698}"/>
              </a:ext>
            </a:extLst>
          </p:cNvPr>
          <p:cNvSpPr/>
          <p:nvPr/>
        </p:nvSpPr>
        <p:spPr>
          <a:xfrm>
            <a:off x="3006300" y="2823024"/>
            <a:ext cx="307065" cy="260998"/>
          </a:xfrm>
          <a:prstGeom prst="upDownArrow">
            <a:avLst>
              <a:gd name="adj1" fmla="val 43596"/>
              <a:gd name="adj2" fmla="val 30788"/>
            </a:avLst>
          </a:prstGeom>
          <a:ln w="9525">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Graphik"/>
              <a:ea typeface="+mn-ea"/>
              <a:cs typeface="+mn-cs"/>
            </a:endParaRPr>
          </a:p>
        </p:txBody>
      </p:sp>
      <p:sp>
        <p:nvSpPr>
          <p:cNvPr id="56" name="Rectangle 32">
            <a:extLst>
              <a:ext uri="{FF2B5EF4-FFF2-40B4-BE49-F238E27FC236}">
                <a16:creationId xmlns:a16="http://schemas.microsoft.com/office/drawing/2014/main" id="{46CC6183-1267-AAA3-C1BB-2BC5AA8F1E2C}"/>
              </a:ext>
            </a:extLst>
          </p:cNvPr>
          <p:cNvSpPr/>
          <p:nvPr/>
        </p:nvSpPr>
        <p:spPr>
          <a:xfrm>
            <a:off x="1226185" y="3911600"/>
            <a:ext cx="1111885" cy="197485"/>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altLang="en-US" sz="900" b="0" i="0" u="none" strike="noStrike" kern="1200" cap="none" spc="0" normalizeH="0" baseline="0" noProof="0">
                <a:ln>
                  <a:noFill/>
                </a:ln>
                <a:solidFill>
                  <a:srgbClr val="FFFFFF"/>
                </a:solidFill>
                <a:effectLst/>
                <a:uLnTx/>
                <a:uFillTx/>
                <a:latin typeface="Graphik"/>
                <a:ea typeface="+mn-ea"/>
                <a:cs typeface="+mn-cs"/>
                <a:sym typeface="+mn-ea"/>
              </a:rPr>
              <a:t>DMZ</a:t>
            </a:r>
          </a:p>
        </p:txBody>
      </p:sp>
      <p:sp>
        <p:nvSpPr>
          <p:cNvPr id="57" name="Rectangle 56">
            <a:extLst>
              <a:ext uri="{FF2B5EF4-FFF2-40B4-BE49-F238E27FC236}">
                <a16:creationId xmlns:a16="http://schemas.microsoft.com/office/drawing/2014/main" id="{9725A485-2E14-8961-9D1A-8207BBC735AF}"/>
              </a:ext>
            </a:extLst>
          </p:cNvPr>
          <p:cNvSpPr/>
          <p:nvPr/>
        </p:nvSpPr>
        <p:spPr>
          <a:xfrm>
            <a:off x="7860146" y="5585430"/>
            <a:ext cx="3439086" cy="205327"/>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Componentes principales de esta capacidad</a:t>
            </a:r>
          </a:p>
        </p:txBody>
      </p:sp>
      <p:sp>
        <p:nvSpPr>
          <p:cNvPr id="59" name="Rectangle 58">
            <a:extLst>
              <a:ext uri="{FF2B5EF4-FFF2-40B4-BE49-F238E27FC236}">
                <a16:creationId xmlns:a16="http://schemas.microsoft.com/office/drawing/2014/main" id="{41D6ADCA-F326-7135-5A9E-2B6A8E9B5155}"/>
              </a:ext>
            </a:extLst>
          </p:cNvPr>
          <p:cNvSpPr/>
          <p:nvPr/>
        </p:nvSpPr>
        <p:spPr>
          <a:xfrm>
            <a:off x="7860146" y="5819582"/>
            <a:ext cx="3439086" cy="187603"/>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Componentes de otras capacidades relacionadas</a:t>
            </a:r>
          </a:p>
        </p:txBody>
      </p:sp>
      <p:sp>
        <p:nvSpPr>
          <p:cNvPr id="61" name="Rectangle 60">
            <a:extLst>
              <a:ext uri="{FF2B5EF4-FFF2-40B4-BE49-F238E27FC236}">
                <a16:creationId xmlns:a16="http://schemas.microsoft.com/office/drawing/2014/main" id="{CB8F1080-3A3C-EECC-D032-8AE5BEE214FF}"/>
              </a:ext>
            </a:extLst>
          </p:cNvPr>
          <p:cNvSpPr/>
          <p:nvPr/>
        </p:nvSpPr>
        <p:spPr>
          <a:xfrm>
            <a:off x="7860145" y="6036007"/>
            <a:ext cx="3439086" cy="165055"/>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Componentes funcionales relacionados con esta capacidad</a:t>
            </a:r>
          </a:p>
        </p:txBody>
      </p:sp>
    </p:spTree>
    <p:extLst>
      <p:ext uri="{BB962C8B-B14F-4D97-AF65-F5344CB8AC3E}">
        <p14:creationId xmlns:p14="http://schemas.microsoft.com/office/powerpoint/2010/main" val="259354377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BD7636-D3AE-C7F1-5F77-65AFA539A066}"/>
            </a:ext>
          </a:extLst>
        </p:cNvPr>
        <p:cNvGrpSpPr/>
        <p:nvPr/>
      </p:nvGrpSpPr>
      <p:grpSpPr>
        <a:xfrm>
          <a:off x="0" y="0"/>
          <a:ext cx="0" cy="0"/>
          <a:chOff x="0" y="0"/>
          <a:chExt cx="0" cy="0"/>
        </a:xfrm>
      </p:grpSpPr>
      <p:sp>
        <p:nvSpPr>
          <p:cNvPr id="118" name="Title 1">
            <a:extLst>
              <a:ext uri="{FF2B5EF4-FFF2-40B4-BE49-F238E27FC236}">
                <a16:creationId xmlns:a16="http://schemas.microsoft.com/office/drawing/2014/main" id="{21F5739B-AC3D-1414-E7D0-4D980279C598}"/>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dirty="0">
                <a:ln>
                  <a:noFill/>
                </a:ln>
                <a:solidFill>
                  <a:srgbClr val="7500C0"/>
                </a:solidFill>
                <a:effectLst/>
                <a:uLnTx/>
                <a:uFillTx/>
                <a:latin typeface="Graphik"/>
                <a:ea typeface="+mj-ea"/>
                <a:cs typeface="+mj-cs"/>
              </a:rPr>
              <a:t>Activo de Interoperabilidad </a:t>
            </a:r>
            <a:r>
              <a:rPr kumimoji="0" lang="es" sz="2400" b="1" i="0" u="none" strike="noStrike" kern="1200" cap="none" spc="0" normalizeH="0" baseline="0" noProof="0" dirty="0">
                <a:ln>
                  <a:noFill/>
                </a:ln>
                <a:solidFill>
                  <a:srgbClr val="000000"/>
                </a:solidFill>
                <a:effectLst/>
                <a:uLnTx/>
                <a:uFillTx/>
                <a:latin typeface="Graphik"/>
                <a:ea typeface="+mj-ea"/>
                <a:cs typeface="+mj-cs"/>
              </a:rPr>
              <a:t>| </a:t>
            </a:r>
            <a:r>
              <a:rPr kumimoji="0" lang="es" sz="2000" b="1" i="0" u="none" strike="noStrike" kern="1200" cap="none" spc="0" normalizeH="0" baseline="0" noProof="0" dirty="0">
                <a:ln>
                  <a:noFill/>
                </a:ln>
                <a:solidFill>
                  <a:srgbClr val="000000"/>
                </a:solidFill>
                <a:effectLst/>
                <a:uLnTx/>
                <a:uFillTx/>
                <a:latin typeface="Graphik"/>
                <a:ea typeface="+mj-ea"/>
                <a:cs typeface="+mj-cs"/>
              </a:rPr>
              <a:t>Seguridad</a:t>
            </a:r>
            <a:endParaRPr kumimoji="0" lang="es" sz="2400" b="1" i="0" u="none" strike="noStrike" kern="1200" cap="none" spc="0" normalizeH="0" baseline="0" noProof="0" dirty="0">
              <a:ln>
                <a:noFill/>
              </a:ln>
              <a:solidFill>
                <a:srgbClr val="000000"/>
              </a:solidFill>
              <a:effectLst/>
              <a:uLnTx/>
              <a:uFillTx/>
              <a:latin typeface="Graphik"/>
              <a:ea typeface="+mj-ea"/>
              <a:cs typeface="+mj-cs"/>
            </a:endParaRPr>
          </a:p>
        </p:txBody>
      </p:sp>
      <p:grpSp>
        <p:nvGrpSpPr>
          <p:cNvPr id="4" name="Group 3">
            <a:extLst>
              <a:ext uri="{FF2B5EF4-FFF2-40B4-BE49-F238E27FC236}">
                <a16:creationId xmlns:a16="http://schemas.microsoft.com/office/drawing/2014/main" id="{64307479-E53E-44D8-C537-6C0CD8CBCBBF}"/>
              </a:ext>
            </a:extLst>
          </p:cNvPr>
          <p:cNvGrpSpPr/>
          <p:nvPr/>
        </p:nvGrpSpPr>
        <p:grpSpPr>
          <a:xfrm>
            <a:off x="9914018" y="286451"/>
            <a:ext cx="1862854" cy="253275"/>
            <a:chOff x="9929190" y="421028"/>
            <a:chExt cx="1862854" cy="253275"/>
          </a:xfrm>
        </p:grpSpPr>
        <p:sp>
          <p:nvSpPr>
            <p:cNvPr id="5" name="TextBox 4">
              <a:extLst>
                <a:ext uri="{FF2B5EF4-FFF2-40B4-BE49-F238E27FC236}">
                  <a16:creationId xmlns:a16="http://schemas.microsoft.com/office/drawing/2014/main" id="{35AC0E75-02CE-7512-E4D8-78541B660E1F}"/>
                </a:ext>
              </a:extLst>
            </p:cNvPr>
            <p:cNvSpPr txBox="1"/>
            <p:nvPr/>
          </p:nvSpPr>
          <p:spPr>
            <a:xfrm>
              <a:off x="9936972" y="460821"/>
              <a:ext cx="1847290" cy="173690"/>
            </a:xfrm>
            <a:prstGeom prst="rect">
              <a:avLst/>
            </a:prstGeom>
            <a:noFill/>
          </p:spPr>
          <p:txBody>
            <a:bodyPr wrap="none" lIns="0" tIns="0" rIns="0" bIns="0" rtlCol="0">
              <a:noAutofit/>
            </a:bodyPr>
            <a:lstStyle/>
            <a:p>
              <a:pPr marL="0" marR="0" lvl="0" indent="0" algn="l" defTabSz="228600" rtl="0" eaLnBrk="1" fontAlgn="auto" latinLnBrk="0" hangingPunct="1">
                <a:lnSpc>
                  <a:spcPct val="100000"/>
                </a:lnSpc>
                <a:spcBef>
                  <a:spcPts val="0"/>
                </a:spcBef>
                <a:spcAft>
                  <a:spcPts val="1200"/>
                </a:spcAft>
                <a:buClrTx/>
                <a:buSzTx/>
                <a:buFontTx/>
                <a:buNone/>
                <a:tabLst/>
                <a:defRPr/>
              </a:pPr>
              <a:r>
                <a:rPr kumimoji="0" lang="es" sz="1100" b="0" i="0" u="none" strike="noStrike" kern="1200" cap="none" spc="0" normalizeH="0" baseline="0" noProof="0">
                  <a:ln>
                    <a:noFill/>
                  </a:ln>
                  <a:solidFill>
                    <a:srgbClr val="000000"/>
                  </a:solidFill>
                  <a:effectLst/>
                  <a:uLnTx/>
                  <a:uFillTx/>
                  <a:latin typeface="Graphik"/>
                  <a:ea typeface="+mn-ea"/>
                  <a:cs typeface="+mn-cs"/>
                </a:rPr>
                <a:t>Ilustrativo no exhaustivo</a:t>
              </a:r>
            </a:p>
          </p:txBody>
        </p:sp>
        <p:cxnSp>
          <p:nvCxnSpPr>
            <p:cNvPr id="6" name="Straight Connector 5">
              <a:extLst>
                <a:ext uri="{FF2B5EF4-FFF2-40B4-BE49-F238E27FC236}">
                  <a16:creationId xmlns:a16="http://schemas.microsoft.com/office/drawing/2014/main" id="{17623EBF-0B75-A7E8-A39D-F854C81F910A}"/>
                </a:ext>
              </a:extLst>
            </p:cNvPr>
            <p:cNvCxnSpPr>
              <a:cxnSpLocks/>
            </p:cNvCxnSpPr>
            <p:nvPr/>
          </p:nvCxnSpPr>
          <p:spPr>
            <a:xfrm>
              <a:off x="9929190" y="421028"/>
              <a:ext cx="186285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953EAA96-47A1-F70B-C2AC-26BE9DCD648A}"/>
                </a:ext>
              </a:extLst>
            </p:cNvPr>
            <p:cNvCxnSpPr>
              <a:cxnSpLocks/>
            </p:cNvCxnSpPr>
            <p:nvPr/>
          </p:nvCxnSpPr>
          <p:spPr>
            <a:xfrm>
              <a:off x="9929190" y="674303"/>
              <a:ext cx="186285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00" name="Rectangle 99">
            <a:extLst>
              <a:ext uri="{FF2B5EF4-FFF2-40B4-BE49-F238E27FC236}">
                <a16:creationId xmlns:a16="http://schemas.microsoft.com/office/drawing/2014/main" id="{00E7A019-5C0B-BD40-7217-068974E57EC5}"/>
              </a:ext>
            </a:extLst>
          </p:cNvPr>
          <p:cNvSpPr/>
          <p:nvPr/>
        </p:nvSpPr>
        <p:spPr>
          <a:xfrm>
            <a:off x="3847488" y="5513159"/>
            <a:ext cx="4795770" cy="1155991"/>
          </a:xfrm>
          <a:prstGeom prst="rect">
            <a:avLst/>
          </a:prstGeom>
          <a:solidFill>
            <a:schemeClr val="accent1">
              <a:alpha val="15932"/>
            </a:schemeClr>
          </a:solidFill>
        </p:spPr>
        <p:style>
          <a:lnRef idx="2">
            <a:schemeClr val="accent1"/>
          </a:lnRef>
          <a:fillRef idx="1">
            <a:schemeClr val="lt1"/>
          </a:fillRef>
          <a:effectRef idx="0">
            <a:schemeClr val="accent1"/>
          </a:effectRef>
          <a:fontRef idx="minor">
            <a:schemeClr val="dk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_tradnl" sz="1400" b="0" i="0" u="none" strike="noStrike" kern="1200" cap="none" spc="0" normalizeH="0" baseline="0" noProof="0">
              <a:ln>
                <a:noFill/>
              </a:ln>
              <a:solidFill>
                <a:srgbClr val="000000"/>
              </a:solidFill>
              <a:effectLst/>
              <a:uLnTx/>
              <a:uFillTx/>
              <a:latin typeface="Graphik"/>
              <a:ea typeface="+mn-ea"/>
              <a:cs typeface="+mn-cs"/>
            </a:endParaRPr>
          </a:p>
        </p:txBody>
      </p:sp>
      <p:sp>
        <p:nvSpPr>
          <p:cNvPr id="104" name="Rectangle 103">
            <a:extLst>
              <a:ext uri="{FF2B5EF4-FFF2-40B4-BE49-F238E27FC236}">
                <a16:creationId xmlns:a16="http://schemas.microsoft.com/office/drawing/2014/main" id="{A21890F0-D264-E20F-F4DC-E4627912EFE7}"/>
              </a:ext>
            </a:extLst>
          </p:cNvPr>
          <p:cNvSpPr/>
          <p:nvPr/>
        </p:nvSpPr>
        <p:spPr>
          <a:xfrm>
            <a:off x="3924601" y="1764313"/>
            <a:ext cx="4623332" cy="26828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800" b="0" i="1" u="none" strike="noStrike" kern="1200" cap="none" spc="0" normalizeH="0" baseline="0" noProof="0" dirty="0">
                <a:ln>
                  <a:noFill/>
                </a:ln>
                <a:solidFill>
                  <a:srgbClr val="000000"/>
                </a:solidFill>
                <a:effectLst/>
                <a:uLnTx/>
                <a:uFillTx/>
                <a:latin typeface="Graphik"/>
                <a:ea typeface="+mn-ea"/>
                <a:cs typeface="+mn-cs"/>
              </a:rPr>
              <a:t>Outbound</a:t>
            </a:r>
          </a:p>
        </p:txBody>
      </p:sp>
      <p:sp>
        <p:nvSpPr>
          <p:cNvPr id="105" name="Rectangle 104">
            <a:extLst>
              <a:ext uri="{FF2B5EF4-FFF2-40B4-BE49-F238E27FC236}">
                <a16:creationId xmlns:a16="http://schemas.microsoft.com/office/drawing/2014/main" id="{2BF9DA2B-9A19-BBA9-9BC6-C4EC5AC361D1}"/>
              </a:ext>
            </a:extLst>
          </p:cNvPr>
          <p:cNvSpPr/>
          <p:nvPr/>
        </p:nvSpPr>
        <p:spPr>
          <a:xfrm>
            <a:off x="3932267" y="1458620"/>
            <a:ext cx="4623332" cy="26828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800" b="0" i="1" u="none" strike="noStrike" kern="1200" cap="none" spc="0" normalizeH="0" baseline="0" noProof="0">
                <a:ln>
                  <a:noFill/>
                </a:ln>
                <a:solidFill>
                  <a:srgbClr val="000000"/>
                </a:solidFill>
                <a:effectLst/>
                <a:uLnTx/>
                <a:uFillTx/>
                <a:latin typeface="Graphik"/>
                <a:ea typeface="+mn-ea"/>
                <a:cs typeface="+mn-cs"/>
              </a:rPr>
              <a:t>Inbound</a:t>
            </a:r>
          </a:p>
        </p:txBody>
      </p:sp>
      <p:sp>
        <p:nvSpPr>
          <p:cNvPr id="106" name="TextBox 105">
            <a:extLst>
              <a:ext uri="{FF2B5EF4-FFF2-40B4-BE49-F238E27FC236}">
                <a16:creationId xmlns:a16="http://schemas.microsoft.com/office/drawing/2014/main" id="{518D815F-F889-811B-EB63-3277CEE97798}"/>
              </a:ext>
            </a:extLst>
          </p:cNvPr>
          <p:cNvSpPr txBox="1"/>
          <p:nvPr/>
        </p:nvSpPr>
        <p:spPr>
          <a:xfrm>
            <a:off x="3929736" y="1016466"/>
            <a:ext cx="1966403" cy="192392"/>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algn="ctr">
              <a:defRPr sz="900"/>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dirty="0">
                <a:ln>
                  <a:noFill/>
                </a:ln>
                <a:solidFill>
                  <a:srgbClr val="000000"/>
                </a:solidFill>
                <a:effectLst/>
                <a:uLnTx/>
                <a:uFillTx/>
                <a:latin typeface="Graphik"/>
                <a:ea typeface="+mn-ea"/>
                <a:cs typeface="+mn-cs"/>
              </a:rPr>
              <a:t>Servicios de Gateway</a:t>
            </a:r>
          </a:p>
        </p:txBody>
      </p:sp>
      <p:sp>
        <p:nvSpPr>
          <p:cNvPr id="107" name="Rectangle 106">
            <a:extLst>
              <a:ext uri="{FF2B5EF4-FFF2-40B4-BE49-F238E27FC236}">
                <a16:creationId xmlns:a16="http://schemas.microsoft.com/office/drawing/2014/main" id="{00A6270B-4F86-51E3-277B-EE70D07215B9}"/>
              </a:ext>
            </a:extLst>
          </p:cNvPr>
          <p:cNvSpPr/>
          <p:nvPr/>
        </p:nvSpPr>
        <p:spPr>
          <a:xfrm>
            <a:off x="3932266" y="2585323"/>
            <a:ext cx="4623333" cy="28800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Perimetral  Security (FW) Reglas de Ruteo</a:t>
            </a:r>
            <a:endParaRPr kumimoji="0" lang="en-US" sz="900" b="0" i="0" u="none" strike="noStrike" kern="1200" cap="none" spc="0" normalizeH="0" baseline="0" noProof="0">
              <a:ln>
                <a:noFill/>
              </a:ln>
              <a:solidFill>
                <a:srgbClr val="FFFFFF"/>
              </a:solidFill>
              <a:effectLst/>
              <a:uLnTx/>
              <a:uFillTx/>
              <a:latin typeface="Graphik"/>
              <a:ea typeface="+mn-ea"/>
              <a:cs typeface="+mn-cs"/>
            </a:endParaRPr>
          </a:p>
        </p:txBody>
      </p:sp>
      <p:sp>
        <p:nvSpPr>
          <p:cNvPr id="108" name="Rectangle 107">
            <a:extLst>
              <a:ext uri="{FF2B5EF4-FFF2-40B4-BE49-F238E27FC236}">
                <a16:creationId xmlns:a16="http://schemas.microsoft.com/office/drawing/2014/main" id="{36272C7F-5ADD-F870-8753-3D6FD231D985}"/>
              </a:ext>
            </a:extLst>
          </p:cNvPr>
          <p:cNvSpPr/>
          <p:nvPr/>
        </p:nvSpPr>
        <p:spPr>
          <a:xfrm>
            <a:off x="3932266" y="2077762"/>
            <a:ext cx="4623332" cy="28800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DMZ </a:t>
            </a:r>
          </a:p>
        </p:txBody>
      </p:sp>
      <p:sp>
        <p:nvSpPr>
          <p:cNvPr id="109" name="Can 172">
            <a:extLst>
              <a:ext uri="{FF2B5EF4-FFF2-40B4-BE49-F238E27FC236}">
                <a16:creationId xmlns:a16="http://schemas.microsoft.com/office/drawing/2014/main" id="{D208E0A0-3175-3539-E61C-FA1146970091}"/>
              </a:ext>
            </a:extLst>
          </p:cNvPr>
          <p:cNvSpPr/>
          <p:nvPr/>
        </p:nvSpPr>
        <p:spPr bwMode="auto">
          <a:xfrm>
            <a:off x="2220595" y="2631665"/>
            <a:ext cx="354330" cy="1452245"/>
          </a:xfrm>
          <a:prstGeom prst="can">
            <a:avLst>
              <a:gd name="adj" fmla="val 59089"/>
            </a:avLst>
          </a:prstGeom>
          <a:solidFill>
            <a:srgbClr val="FF0000"/>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Observabilidad de seguridad</a:t>
            </a:r>
          </a:p>
        </p:txBody>
      </p:sp>
      <p:cxnSp>
        <p:nvCxnSpPr>
          <p:cNvPr id="110" name="Connector: Elbow 124">
            <a:extLst>
              <a:ext uri="{FF2B5EF4-FFF2-40B4-BE49-F238E27FC236}">
                <a16:creationId xmlns:a16="http://schemas.microsoft.com/office/drawing/2014/main" id="{ABE2A46E-6BB2-DCB5-572D-BE2657D8FA30}"/>
              </a:ext>
            </a:extLst>
          </p:cNvPr>
          <p:cNvCxnSpPr>
            <a:stCxn id="108" idx="1"/>
            <a:endCxn id="109" idx="4"/>
          </p:cNvCxnSpPr>
          <p:nvPr/>
        </p:nvCxnSpPr>
        <p:spPr>
          <a:xfrm rot="10800000" flipV="1">
            <a:off x="2574925" y="2222090"/>
            <a:ext cx="1357630" cy="1136015"/>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11" name="TextBox 110">
            <a:extLst>
              <a:ext uri="{FF2B5EF4-FFF2-40B4-BE49-F238E27FC236}">
                <a16:creationId xmlns:a16="http://schemas.microsoft.com/office/drawing/2014/main" id="{9BBF82CE-974F-8FDD-2AFB-4FD071BA0CA7}"/>
              </a:ext>
            </a:extLst>
          </p:cNvPr>
          <p:cNvSpPr txBox="1"/>
          <p:nvPr/>
        </p:nvSpPr>
        <p:spPr>
          <a:xfrm>
            <a:off x="3932266" y="3032794"/>
            <a:ext cx="1966403" cy="230832"/>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algn="ctr">
              <a:defRPr sz="900"/>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dirty="0">
                <a:ln>
                  <a:noFill/>
                </a:ln>
                <a:solidFill>
                  <a:srgbClr val="000000"/>
                </a:solidFill>
                <a:effectLst/>
                <a:uLnTx/>
                <a:uFillTx/>
                <a:latin typeface="Graphik"/>
                <a:ea typeface="+mn-ea"/>
                <a:cs typeface="+mn-cs"/>
              </a:rPr>
              <a:t>Gestión de APIs</a:t>
            </a:r>
          </a:p>
        </p:txBody>
      </p:sp>
      <p:sp>
        <p:nvSpPr>
          <p:cNvPr id="112" name="Rectangle 111">
            <a:extLst>
              <a:ext uri="{FF2B5EF4-FFF2-40B4-BE49-F238E27FC236}">
                <a16:creationId xmlns:a16="http://schemas.microsoft.com/office/drawing/2014/main" id="{2FCA7666-39F0-1494-38EF-37DA4A839138}"/>
              </a:ext>
            </a:extLst>
          </p:cNvPr>
          <p:cNvSpPr/>
          <p:nvPr/>
        </p:nvSpPr>
        <p:spPr>
          <a:xfrm>
            <a:off x="3933115" y="3305635"/>
            <a:ext cx="4623333" cy="28800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Gestión de Identidad y Acceso</a:t>
            </a:r>
          </a:p>
        </p:txBody>
      </p:sp>
      <p:sp>
        <p:nvSpPr>
          <p:cNvPr id="113" name="Rectangle 112">
            <a:extLst>
              <a:ext uri="{FF2B5EF4-FFF2-40B4-BE49-F238E27FC236}">
                <a16:creationId xmlns:a16="http://schemas.microsoft.com/office/drawing/2014/main" id="{9C6A4068-8E3D-DC80-5D2A-EF2B901B2778}"/>
              </a:ext>
            </a:extLst>
          </p:cNvPr>
          <p:cNvSpPr/>
          <p:nvPr/>
        </p:nvSpPr>
        <p:spPr>
          <a:xfrm>
            <a:off x="3932266" y="3658641"/>
            <a:ext cx="1111041" cy="329957"/>
          </a:xfrm>
          <a:prstGeom prst="rect">
            <a:avLst/>
          </a:prstGeom>
          <a:solidFill>
            <a:srgbClr val="92D050"/>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Gestión de usuarios</a:t>
            </a:r>
          </a:p>
        </p:txBody>
      </p:sp>
      <p:sp>
        <p:nvSpPr>
          <p:cNvPr id="114" name="Rectangle 113">
            <a:extLst>
              <a:ext uri="{FF2B5EF4-FFF2-40B4-BE49-F238E27FC236}">
                <a16:creationId xmlns:a16="http://schemas.microsoft.com/office/drawing/2014/main" id="{F6A48956-6EDF-65AC-8C11-AA2EA2361FD5}"/>
              </a:ext>
            </a:extLst>
          </p:cNvPr>
          <p:cNvSpPr/>
          <p:nvPr/>
        </p:nvSpPr>
        <p:spPr>
          <a:xfrm>
            <a:off x="5099440" y="3658641"/>
            <a:ext cx="1111041" cy="329957"/>
          </a:xfrm>
          <a:prstGeom prst="rect">
            <a:avLst/>
          </a:prstGeom>
          <a:solidFill>
            <a:srgbClr val="92D050"/>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Gestión de fichas</a:t>
            </a:r>
          </a:p>
        </p:txBody>
      </p:sp>
      <p:sp>
        <p:nvSpPr>
          <p:cNvPr id="115" name="Rectangle 114">
            <a:extLst>
              <a:ext uri="{FF2B5EF4-FFF2-40B4-BE49-F238E27FC236}">
                <a16:creationId xmlns:a16="http://schemas.microsoft.com/office/drawing/2014/main" id="{447AB55E-2FF0-1AC0-FF7F-05387DB6899B}"/>
              </a:ext>
            </a:extLst>
          </p:cNvPr>
          <p:cNvSpPr/>
          <p:nvPr/>
        </p:nvSpPr>
        <p:spPr>
          <a:xfrm>
            <a:off x="6275015" y="3658641"/>
            <a:ext cx="1111041" cy="329957"/>
          </a:xfrm>
          <a:prstGeom prst="rect">
            <a:avLst/>
          </a:prstGeom>
          <a:solidFill>
            <a:srgbClr val="92D050"/>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Gestión de Certificados</a:t>
            </a:r>
          </a:p>
        </p:txBody>
      </p:sp>
      <p:sp>
        <p:nvSpPr>
          <p:cNvPr id="116" name="Rectangle 115">
            <a:extLst>
              <a:ext uri="{FF2B5EF4-FFF2-40B4-BE49-F238E27FC236}">
                <a16:creationId xmlns:a16="http://schemas.microsoft.com/office/drawing/2014/main" id="{4FE2F994-B06E-B23F-F338-7FBC9F1CA761}"/>
              </a:ext>
            </a:extLst>
          </p:cNvPr>
          <p:cNvSpPr/>
          <p:nvPr/>
        </p:nvSpPr>
        <p:spPr>
          <a:xfrm>
            <a:off x="7445408" y="3660860"/>
            <a:ext cx="1111041" cy="329957"/>
          </a:xfrm>
          <a:prstGeom prst="rect">
            <a:avLst/>
          </a:prstGeom>
          <a:solidFill>
            <a:srgbClr val="92D050"/>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Gestión de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políticas</a:t>
            </a:r>
          </a:p>
        </p:txBody>
      </p:sp>
      <p:cxnSp>
        <p:nvCxnSpPr>
          <p:cNvPr id="117" name="Straight Arrow Connector 116">
            <a:extLst>
              <a:ext uri="{FF2B5EF4-FFF2-40B4-BE49-F238E27FC236}">
                <a16:creationId xmlns:a16="http://schemas.microsoft.com/office/drawing/2014/main" id="{8CB6AE69-4E1D-7013-F8DC-A18FE1938C3C}"/>
              </a:ext>
            </a:extLst>
          </p:cNvPr>
          <p:cNvCxnSpPr>
            <a:cxnSpLocks/>
            <a:stCxn id="169" idx="1"/>
            <a:endCxn id="116" idx="3"/>
          </p:cNvCxnSpPr>
          <p:nvPr/>
        </p:nvCxnSpPr>
        <p:spPr>
          <a:xfrm flipH="1">
            <a:off x="8556449" y="3822949"/>
            <a:ext cx="895576" cy="289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0" name="TextBox 119">
            <a:extLst>
              <a:ext uri="{FF2B5EF4-FFF2-40B4-BE49-F238E27FC236}">
                <a16:creationId xmlns:a16="http://schemas.microsoft.com/office/drawing/2014/main" id="{09A2206A-083A-B245-7F5E-2111E112DD8F}"/>
              </a:ext>
            </a:extLst>
          </p:cNvPr>
          <p:cNvSpPr txBox="1"/>
          <p:nvPr/>
        </p:nvSpPr>
        <p:spPr>
          <a:xfrm>
            <a:off x="3287317" y="3520825"/>
            <a:ext cx="560170" cy="292388"/>
          </a:xfrm>
          <a:prstGeom prst="rect">
            <a:avLst/>
          </a:prstGeom>
          <a:noFill/>
        </p:spPr>
        <p:txBody>
          <a:bodyPr wrap="square" lIns="0" tIns="0" rIns="0" bIns="4572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solidFill>
                <a:effectLst/>
                <a:uLnTx/>
                <a:uFillTx/>
                <a:latin typeface="Graphik"/>
                <a:ea typeface="+mn-ea"/>
                <a:cs typeface="+mn-cs"/>
              </a:rPr>
              <a:t>Desarrolladores</a:t>
            </a:r>
          </a:p>
        </p:txBody>
      </p:sp>
      <p:cxnSp>
        <p:nvCxnSpPr>
          <p:cNvPr id="121" name="Straight Arrow Connector 120">
            <a:extLst>
              <a:ext uri="{FF2B5EF4-FFF2-40B4-BE49-F238E27FC236}">
                <a16:creationId xmlns:a16="http://schemas.microsoft.com/office/drawing/2014/main" id="{AADC4529-E40E-21E6-DB32-9046A3266774}"/>
              </a:ext>
            </a:extLst>
          </p:cNvPr>
          <p:cNvCxnSpPr/>
          <p:nvPr/>
        </p:nvCxnSpPr>
        <p:spPr>
          <a:xfrm>
            <a:off x="3760892" y="3591916"/>
            <a:ext cx="171374"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2" name="Rectangle 121">
            <a:extLst>
              <a:ext uri="{FF2B5EF4-FFF2-40B4-BE49-F238E27FC236}">
                <a16:creationId xmlns:a16="http://schemas.microsoft.com/office/drawing/2014/main" id="{91383484-BD07-5185-4166-61F391E0D508}"/>
              </a:ext>
            </a:extLst>
          </p:cNvPr>
          <p:cNvSpPr/>
          <p:nvPr/>
        </p:nvSpPr>
        <p:spPr>
          <a:xfrm>
            <a:off x="3933604" y="4078545"/>
            <a:ext cx="4623333" cy="28800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Seguridad de API</a:t>
            </a:r>
          </a:p>
        </p:txBody>
      </p:sp>
      <p:sp>
        <p:nvSpPr>
          <p:cNvPr id="123" name="Rectangle 122">
            <a:extLst>
              <a:ext uri="{FF2B5EF4-FFF2-40B4-BE49-F238E27FC236}">
                <a16:creationId xmlns:a16="http://schemas.microsoft.com/office/drawing/2014/main" id="{3315AF8A-F3D8-F38E-1769-C80230093113}"/>
              </a:ext>
            </a:extLst>
          </p:cNvPr>
          <p:cNvSpPr/>
          <p:nvPr/>
        </p:nvSpPr>
        <p:spPr>
          <a:xfrm>
            <a:off x="3932266" y="4432534"/>
            <a:ext cx="1111041" cy="329957"/>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Autenticación</a:t>
            </a:r>
          </a:p>
        </p:txBody>
      </p:sp>
      <p:sp>
        <p:nvSpPr>
          <p:cNvPr id="124" name="Rectangle 123">
            <a:extLst>
              <a:ext uri="{FF2B5EF4-FFF2-40B4-BE49-F238E27FC236}">
                <a16:creationId xmlns:a16="http://schemas.microsoft.com/office/drawing/2014/main" id="{8322BF55-3AD0-B8DE-4829-51D59A16A6DE}"/>
              </a:ext>
            </a:extLst>
          </p:cNvPr>
          <p:cNvSpPr/>
          <p:nvPr/>
        </p:nvSpPr>
        <p:spPr>
          <a:xfrm>
            <a:off x="5119251" y="4432533"/>
            <a:ext cx="1111041" cy="329957"/>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Autorización</a:t>
            </a:r>
          </a:p>
        </p:txBody>
      </p:sp>
      <p:sp>
        <p:nvSpPr>
          <p:cNvPr id="125" name="Rectangle 124">
            <a:extLst>
              <a:ext uri="{FF2B5EF4-FFF2-40B4-BE49-F238E27FC236}">
                <a16:creationId xmlns:a16="http://schemas.microsoft.com/office/drawing/2014/main" id="{6F0D59EE-393E-FC52-B786-04B2ED32067E}"/>
              </a:ext>
            </a:extLst>
          </p:cNvPr>
          <p:cNvSpPr/>
          <p:nvPr/>
        </p:nvSpPr>
        <p:spPr>
          <a:xfrm>
            <a:off x="6305476" y="4432532"/>
            <a:ext cx="1070642" cy="329957"/>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Ataques por inyección</a:t>
            </a:r>
          </a:p>
        </p:txBody>
      </p:sp>
      <p:sp>
        <p:nvSpPr>
          <p:cNvPr id="126" name="Rectangle 125">
            <a:extLst>
              <a:ext uri="{FF2B5EF4-FFF2-40B4-BE49-F238E27FC236}">
                <a16:creationId xmlns:a16="http://schemas.microsoft.com/office/drawing/2014/main" id="{9674111B-3931-D0C2-0869-9B736007C9B9}"/>
              </a:ext>
            </a:extLst>
          </p:cNvPr>
          <p:cNvSpPr/>
          <p:nvPr/>
        </p:nvSpPr>
        <p:spPr>
          <a:xfrm>
            <a:off x="7453037" y="4432531"/>
            <a:ext cx="1111041" cy="329957"/>
          </a:xfrm>
          <a:prstGeom prst="rect">
            <a:avLst/>
          </a:prstGeom>
          <a:solidFill>
            <a:srgbClr val="92D050"/>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Aplicación de Políticas</a:t>
            </a:r>
          </a:p>
        </p:txBody>
      </p:sp>
      <p:sp>
        <p:nvSpPr>
          <p:cNvPr id="127" name="Rectangle 126">
            <a:extLst>
              <a:ext uri="{FF2B5EF4-FFF2-40B4-BE49-F238E27FC236}">
                <a16:creationId xmlns:a16="http://schemas.microsoft.com/office/drawing/2014/main" id="{20B938BA-8F52-7DEA-7AAE-67D75D23A915}"/>
              </a:ext>
            </a:extLst>
          </p:cNvPr>
          <p:cNvSpPr/>
          <p:nvPr/>
        </p:nvSpPr>
        <p:spPr>
          <a:xfrm>
            <a:off x="3932266" y="5161431"/>
            <a:ext cx="4631812" cy="329957"/>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Registro de auditoría </a:t>
            </a:r>
            <a:r>
              <a:rPr lang="es" sz="900" dirty="0">
                <a:solidFill>
                  <a:srgbClr val="000000"/>
                </a:solidFill>
                <a:latin typeface="Graphik"/>
              </a:rPr>
              <a:t>y</a:t>
            </a:r>
            <a:r>
              <a:rPr kumimoji="0" lang="es" sz="900" b="0" i="0" u="none" strike="noStrike" kern="1200" cap="none" spc="0" normalizeH="0" baseline="0" noProof="0" dirty="0">
                <a:ln>
                  <a:noFill/>
                </a:ln>
                <a:solidFill>
                  <a:srgbClr val="000000"/>
                </a:solidFill>
                <a:effectLst/>
                <a:uLnTx/>
                <a:uFillTx/>
                <a:latin typeface="Graphik"/>
                <a:ea typeface="+mn-ea"/>
                <a:cs typeface="+mn-cs"/>
              </a:rPr>
              <a:t> auditoría</a:t>
            </a:r>
          </a:p>
        </p:txBody>
      </p:sp>
      <p:cxnSp>
        <p:nvCxnSpPr>
          <p:cNvPr id="128" name="Connector: Elbow 124">
            <a:extLst>
              <a:ext uri="{FF2B5EF4-FFF2-40B4-BE49-F238E27FC236}">
                <a16:creationId xmlns:a16="http://schemas.microsoft.com/office/drawing/2014/main" id="{ADE24F68-1046-FD05-4E1B-8E556D231F05}"/>
              </a:ext>
            </a:extLst>
          </p:cNvPr>
          <p:cNvCxnSpPr>
            <a:stCxn id="127" idx="1"/>
            <a:endCxn id="158" idx="3"/>
          </p:cNvCxnSpPr>
          <p:nvPr/>
        </p:nvCxnSpPr>
        <p:spPr>
          <a:xfrm rot="10800000" flipV="1">
            <a:off x="3671102" y="5326409"/>
            <a:ext cx="261164" cy="4903"/>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29" name="Connector: Elbow 124">
            <a:extLst>
              <a:ext uri="{FF2B5EF4-FFF2-40B4-BE49-F238E27FC236}">
                <a16:creationId xmlns:a16="http://schemas.microsoft.com/office/drawing/2014/main" id="{C874352A-D2F2-6E1A-C3CA-367DF737FEAE}"/>
              </a:ext>
            </a:extLst>
          </p:cNvPr>
          <p:cNvCxnSpPr>
            <a:stCxn id="158" idx="1"/>
            <a:endCxn id="109" idx="4"/>
          </p:cNvCxnSpPr>
          <p:nvPr/>
        </p:nvCxnSpPr>
        <p:spPr>
          <a:xfrm rot="10800000">
            <a:off x="2574925" y="3358105"/>
            <a:ext cx="544195" cy="1973580"/>
          </a:xfrm>
          <a:prstGeom prst="bentConnector3">
            <a:avLst>
              <a:gd name="adj1" fmla="val 49942"/>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30" name="Straight Arrow Connector 129">
            <a:extLst>
              <a:ext uri="{FF2B5EF4-FFF2-40B4-BE49-F238E27FC236}">
                <a16:creationId xmlns:a16="http://schemas.microsoft.com/office/drawing/2014/main" id="{EEEB7811-D3D0-9FC4-2E0B-AD98BD29199B}"/>
              </a:ext>
            </a:extLst>
          </p:cNvPr>
          <p:cNvCxnSpPr/>
          <p:nvPr/>
        </p:nvCxnSpPr>
        <p:spPr>
          <a:xfrm>
            <a:off x="8564078" y="4328827"/>
            <a:ext cx="250127"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1" name="Straight Arrow Connector 130">
            <a:extLst>
              <a:ext uri="{FF2B5EF4-FFF2-40B4-BE49-F238E27FC236}">
                <a16:creationId xmlns:a16="http://schemas.microsoft.com/office/drawing/2014/main" id="{A4F09B6A-D871-DD48-FE76-71645B88044B}"/>
              </a:ext>
            </a:extLst>
          </p:cNvPr>
          <p:cNvCxnSpPr/>
          <p:nvPr/>
        </p:nvCxnSpPr>
        <p:spPr>
          <a:xfrm flipV="1">
            <a:off x="8559928" y="4471788"/>
            <a:ext cx="253932" cy="114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2" name="Rectangle: Rounded Corners 55">
            <a:extLst>
              <a:ext uri="{FF2B5EF4-FFF2-40B4-BE49-F238E27FC236}">
                <a16:creationId xmlns:a16="http://schemas.microsoft.com/office/drawing/2014/main" id="{5E208094-EA60-1E65-546A-CADB3BD61425}"/>
              </a:ext>
            </a:extLst>
          </p:cNvPr>
          <p:cNvSpPr/>
          <p:nvPr/>
        </p:nvSpPr>
        <p:spPr>
          <a:xfrm>
            <a:off x="3956810" y="4803024"/>
            <a:ext cx="1021723" cy="290618"/>
          </a:xfrm>
          <a:prstGeom prst="round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KEY store</a:t>
            </a:r>
          </a:p>
        </p:txBody>
      </p:sp>
      <p:sp>
        <p:nvSpPr>
          <p:cNvPr id="133" name="Can 172">
            <a:extLst>
              <a:ext uri="{FF2B5EF4-FFF2-40B4-BE49-F238E27FC236}">
                <a16:creationId xmlns:a16="http://schemas.microsoft.com/office/drawing/2014/main" id="{F8471EE6-C518-2092-6AE6-A540C52E7BEB}"/>
              </a:ext>
            </a:extLst>
          </p:cNvPr>
          <p:cNvSpPr/>
          <p:nvPr/>
        </p:nvSpPr>
        <p:spPr bwMode="auto">
          <a:xfrm>
            <a:off x="2192655" y="4261075"/>
            <a:ext cx="445770" cy="1209040"/>
          </a:xfrm>
          <a:prstGeom prst="can">
            <a:avLst>
              <a:gd name="adj" fmla="val 59089"/>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Componentes de Omni Channel</a:t>
            </a:r>
          </a:p>
        </p:txBody>
      </p:sp>
      <p:pic>
        <p:nvPicPr>
          <p:cNvPr id="134" name="Picture 133">
            <a:extLst>
              <a:ext uri="{FF2B5EF4-FFF2-40B4-BE49-F238E27FC236}">
                <a16:creationId xmlns:a16="http://schemas.microsoft.com/office/drawing/2014/main" id="{8B852413-8AD0-8EA3-BAF8-F01F3821EC94}"/>
              </a:ext>
            </a:extLst>
          </p:cNvPr>
          <p:cNvPicPr>
            <a:picLocks noChangeAspect="1"/>
          </p:cNvPicPr>
          <p:nvPr/>
        </p:nvPicPr>
        <p:blipFill>
          <a:blip r:embed="rId2">
            <a:duotone>
              <a:prstClr val="black"/>
              <a:schemeClr val="bg1">
                <a:tint val="45000"/>
                <a:satMod val="400000"/>
              </a:schemeClr>
            </a:duotone>
          </a:blip>
          <a:stretch>
            <a:fillRect/>
          </a:stretch>
        </p:blipFill>
        <p:spPr>
          <a:xfrm>
            <a:off x="4034869" y="4881312"/>
            <a:ext cx="138994" cy="138994"/>
          </a:xfrm>
          <a:prstGeom prst="rect">
            <a:avLst/>
          </a:prstGeom>
        </p:spPr>
      </p:pic>
      <p:sp>
        <p:nvSpPr>
          <p:cNvPr id="135" name="Rectangle: Rounded Corners 55">
            <a:extLst>
              <a:ext uri="{FF2B5EF4-FFF2-40B4-BE49-F238E27FC236}">
                <a16:creationId xmlns:a16="http://schemas.microsoft.com/office/drawing/2014/main" id="{D6B03170-D0D1-BE82-B976-9CFFD17AC9B6}"/>
              </a:ext>
            </a:extLst>
          </p:cNvPr>
          <p:cNvSpPr/>
          <p:nvPr/>
        </p:nvSpPr>
        <p:spPr>
          <a:xfrm>
            <a:off x="5214099" y="4806743"/>
            <a:ext cx="3199856" cy="290618"/>
          </a:xfrm>
          <a:prstGeom prst="round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Policy Store</a:t>
            </a:r>
          </a:p>
        </p:txBody>
      </p:sp>
      <p:pic>
        <p:nvPicPr>
          <p:cNvPr id="136" name="Picture 135">
            <a:extLst>
              <a:ext uri="{FF2B5EF4-FFF2-40B4-BE49-F238E27FC236}">
                <a16:creationId xmlns:a16="http://schemas.microsoft.com/office/drawing/2014/main" id="{962C4EE0-72D8-7A0D-F7F6-187F7ECE2D63}"/>
              </a:ext>
            </a:extLst>
          </p:cNvPr>
          <p:cNvPicPr>
            <a:picLocks noChangeAspect="1"/>
          </p:cNvPicPr>
          <p:nvPr/>
        </p:nvPicPr>
        <p:blipFill>
          <a:blip r:embed="rId3"/>
          <a:stretch>
            <a:fillRect/>
          </a:stretch>
        </p:blipFill>
        <p:spPr>
          <a:xfrm>
            <a:off x="6210481" y="4857532"/>
            <a:ext cx="200258" cy="200258"/>
          </a:xfrm>
          <a:prstGeom prst="rect">
            <a:avLst/>
          </a:prstGeom>
        </p:spPr>
      </p:pic>
      <p:cxnSp>
        <p:nvCxnSpPr>
          <p:cNvPr id="137" name="Connector: Elbow 124">
            <a:extLst>
              <a:ext uri="{FF2B5EF4-FFF2-40B4-BE49-F238E27FC236}">
                <a16:creationId xmlns:a16="http://schemas.microsoft.com/office/drawing/2014/main" id="{C8F2EA5F-76B3-5414-0D9E-811E9B3DB85F}"/>
              </a:ext>
            </a:extLst>
          </p:cNvPr>
          <p:cNvCxnSpPr>
            <a:stCxn id="124" idx="1"/>
            <a:endCxn id="135" idx="1"/>
          </p:cNvCxnSpPr>
          <p:nvPr/>
        </p:nvCxnSpPr>
        <p:spPr>
          <a:xfrm rot="10800000" flipH="1" flipV="1">
            <a:off x="5119251" y="4597512"/>
            <a:ext cx="94848" cy="354540"/>
          </a:xfrm>
          <a:prstGeom prst="bentConnector3">
            <a:avLst>
              <a:gd name="adj1" fmla="val -241017"/>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38" name="Connector: Elbow 124">
            <a:extLst>
              <a:ext uri="{FF2B5EF4-FFF2-40B4-BE49-F238E27FC236}">
                <a16:creationId xmlns:a16="http://schemas.microsoft.com/office/drawing/2014/main" id="{897E5A7D-D90B-F491-9542-281BF3E84B3A}"/>
              </a:ext>
            </a:extLst>
          </p:cNvPr>
          <p:cNvCxnSpPr>
            <a:stCxn id="126" idx="3"/>
            <a:endCxn id="135" idx="3"/>
          </p:cNvCxnSpPr>
          <p:nvPr/>
        </p:nvCxnSpPr>
        <p:spPr>
          <a:xfrm flipH="1">
            <a:off x="8413955" y="4597510"/>
            <a:ext cx="150123" cy="354542"/>
          </a:xfrm>
          <a:prstGeom prst="bentConnector3">
            <a:avLst>
              <a:gd name="adj1" fmla="val -152275"/>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39" name="Connector: Elbow 124">
            <a:extLst>
              <a:ext uri="{FF2B5EF4-FFF2-40B4-BE49-F238E27FC236}">
                <a16:creationId xmlns:a16="http://schemas.microsoft.com/office/drawing/2014/main" id="{2D11A522-704C-7638-43B3-63CC587703BB}"/>
              </a:ext>
            </a:extLst>
          </p:cNvPr>
          <p:cNvCxnSpPr>
            <a:stCxn id="107" idx="1"/>
            <a:endCxn id="109" idx="4"/>
          </p:cNvCxnSpPr>
          <p:nvPr/>
        </p:nvCxnSpPr>
        <p:spPr>
          <a:xfrm rot="10800000" flipV="1">
            <a:off x="2574925" y="2729455"/>
            <a:ext cx="1357630" cy="628650"/>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40" name="Connector: Elbow 124">
            <a:extLst>
              <a:ext uri="{FF2B5EF4-FFF2-40B4-BE49-F238E27FC236}">
                <a16:creationId xmlns:a16="http://schemas.microsoft.com/office/drawing/2014/main" id="{E4F5A1F6-4185-218B-83A3-3E636D6A7A37}"/>
              </a:ext>
            </a:extLst>
          </p:cNvPr>
          <p:cNvCxnSpPr>
            <a:endCxn id="109" idx="4"/>
          </p:cNvCxnSpPr>
          <p:nvPr/>
        </p:nvCxnSpPr>
        <p:spPr>
          <a:xfrm rot="10800000">
            <a:off x="2574886" y="3357830"/>
            <a:ext cx="1358723" cy="815022"/>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41" name="Can 172">
            <a:extLst>
              <a:ext uri="{FF2B5EF4-FFF2-40B4-BE49-F238E27FC236}">
                <a16:creationId xmlns:a16="http://schemas.microsoft.com/office/drawing/2014/main" id="{0CFBAB36-E49D-1B6D-4A4D-112323B2307F}"/>
              </a:ext>
            </a:extLst>
          </p:cNvPr>
          <p:cNvSpPr/>
          <p:nvPr/>
        </p:nvSpPr>
        <p:spPr bwMode="auto">
          <a:xfrm>
            <a:off x="10052050" y="2446245"/>
            <a:ext cx="612775" cy="1590040"/>
          </a:xfrm>
          <a:prstGeom prst="can">
            <a:avLst>
              <a:gd name="adj" fmla="val 59089"/>
            </a:avLst>
          </a:prstGeom>
          <a:solidFill>
            <a:schemeClr val="tx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Pentesting y Gestión de Vulnerabilidades (Capa aislada).</a:t>
            </a:r>
          </a:p>
        </p:txBody>
      </p:sp>
      <p:cxnSp>
        <p:nvCxnSpPr>
          <p:cNvPr id="142" name="Connector: Elbow 124">
            <a:extLst>
              <a:ext uri="{FF2B5EF4-FFF2-40B4-BE49-F238E27FC236}">
                <a16:creationId xmlns:a16="http://schemas.microsoft.com/office/drawing/2014/main" id="{E3195040-6745-CBB8-15E1-F7DC6FD8061E}"/>
              </a:ext>
            </a:extLst>
          </p:cNvPr>
          <p:cNvCxnSpPr>
            <a:stCxn id="141" idx="2"/>
            <a:endCxn id="108" idx="3"/>
          </p:cNvCxnSpPr>
          <p:nvPr/>
        </p:nvCxnSpPr>
        <p:spPr>
          <a:xfrm rot="10800000">
            <a:off x="8555990" y="2222090"/>
            <a:ext cx="1496060" cy="1019175"/>
          </a:xfrm>
          <a:prstGeom prst="bentConnector3">
            <a:avLst>
              <a:gd name="adj1" fmla="val 50000"/>
            </a:avLst>
          </a:prstGeom>
          <a:ln w="9525">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43" name="Connector: Elbow 124">
            <a:extLst>
              <a:ext uri="{FF2B5EF4-FFF2-40B4-BE49-F238E27FC236}">
                <a16:creationId xmlns:a16="http://schemas.microsoft.com/office/drawing/2014/main" id="{53103ADE-94A1-526B-127F-5B12A1F914D4}"/>
              </a:ext>
            </a:extLst>
          </p:cNvPr>
          <p:cNvCxnSpPr>
            <a:stCxn id="141" idx="2"/>
            <a:endCxn id="107" idx="3"/>
          </p:cNvCxnSpPr>
          <p:nvPr/>
        </p:nvCxnSpPr>
        <p:spPr>
          <a:xfrm rot="10800000">
            <a:off x="8555990" y="2729455"/>
            <a:ext cx="1496060" cy="511810"/>
          </a:xfrm>
          <a:prstGeom prst="bentConnector3">
            <a:avLst>
              <a:gd name="adj1" fmla="val 50000"/>
            </a:avLst>
          </a:prstGeom>
          <a:ln w="9525">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44" name="Connector: Elbow 124">
            <a:extLst>
              <a:ext uri="{FF2B5EF4-FFF2-40B4-BE49-F238E27FC236}">
                <a16:creationId xmlns:a16="http://schemas.microsoft.com/office/drawing/2014/main" id="{80F0AD68-0BF4-B408-8904-0B6FA8789486}"/>
              </a:ext>
            </a:extLst>
          </p:cNvPr>
          <p:cNvCxnSpPr>
            <a:stCxn id="141" idx="2"/>
            <a:endCxn id="112" idx="3"/>
          </p:cNvCxnSpPr>
          <p:nvPr/>
        </p:nvCxnSpPr>
        <p:spPr>
          <a:xfrm rot="10800000" flipV="1">
            <a:off x="8556625" y="3241265"/>
            <a:ext cx="1495425" cy="208280"/>
          </a:xfrm>
          <a:prstGeom prst="bentConnector3">
            <a:avLst>
              <a:gd name="adj1" fmla="val 49979"/>
            </a:avLst>
          </a:prstGeom>
          <a:ln w="9525">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45" name="Connector: Elbow 124">
            <a:extLst>
              <a:ext uri="{FF2B5EF4-FFF2-40B4-BE49-F238E27FC236}">
                <a16:creationId xmlns:a16="http://schemas.microsoft.com/office/drawing/2014/main" id="{9C832759-CAF1-292E-35A0-2A0E643738AC}"/>
              </a:ext>
            </a:extLst>
          </p:cNvPr>
          <p:cNvCxnSpPr>
            <a:stCxn id="141" idx="2"/>
            <a:endCxn id="122" idx="3"/>
          </p:cNvCxnSpPr>
          <p:nvPr/>
        </p:nvCxnSpPr>
        <p:spPr>
          <a:xfrm rot="10800000" flipV="1">
            <a:off x="8557260" y="3241265"/>
            <a:ext cx="1494790" cy="981710"/>
          </a:xfrm>
          <a:prstGeom prst="bentConnector3">
            <a:avLst>
              <a:gd name="adj1" fmla="val 50000"/>
            </a:avLst>
          </a:prstGeom>
          <a:ln w="9525">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46" name="Can 172">
            <a:extLst>
              <a:ext uri="{FF2B5EF4-FFF2-40B4-BE49-F238E27FC236}">
                <a16:creationId xmlns:a16="http://schemas.microsoft.com/office/drawing/2014/main" id="{65CB146C-4006-6808-19D4-27620C988209}"/>
              </a:ext>
            </a:extLst>
          </p:cNvPr>
          <p:cNvSpPr/>
          <p:nvPr/>
        </p:nvSpPr>
        <p:spPr bwMode="auto">
          <a:xfrm>
            <a:off x="947290" y="2739698"/>
            <a:ext cx="312661" cy="1236264"/>
          </a:xfrm>
          <a:prstGeom prst="can">
            <a:avLst>
              <a:gd name="adj" fmla="val 59089"/>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Capacidad de observabilidad</a:t>
            </a:r>
          </a:p>
        </p:txBody>
      </p:sp>
      <p:pic>
        <p:nvPicPr>
          <p:cNvPr id="147" name="Picture 146">
            <a:extLst>
              <a:ext uri="{FF2B5EF4-FFF2-40B4-BE49-F238E27FC236}">
                <a16:creationId xmlns:a16="http://schemas.microsoft.com/office/drawing/2014/main" id="{C3788967-604B-08E6-3F21-3F31F381A7A7}"/>
              </a:ext>
            </a:extLst>
          </p:cNvPr>
          <p:cNvPicPr>
            <a:picLocks noChangeAspect="1"/>
          </p:cNvPicPr>
          <p:nvPr/>
        </p:nvPicPr>
        <p:blipFill>
          <a:blip r:embed="rId4"/>
          <a:stretch>
            <a:fillRect/>
          </a:stretch>
        </p:blipFill>
        <p:spPr>
          <a:xfrm>
            <a:off x="8821001" y="4174502"/>
            <a:ext cx="384084" cy="384084"/>
          </a:xfrm>
          <a:prstGeom prst="rect">
            <a:avLst/>
          </a:prstGeom>
        </p:spPr>
      </p:pic>
      <p:sp>
        <p:nvSpPr>
          <p:cNvPr id="148" name="Rectangle 147">
            <a:extLst>
              <a:ext uri="{FF2B5EF4-FFF2-40B4-BE49-F238E27FC236}">
                <a16:creationId xmlns:a16="http://schemas.microsoft.com/office/drawing/2014/main" id="{13BFD2F4-6976-F8EB-CA6D-182C27BD3783}"/>
              </a:ext>
            </a:extLst>
          </p:cNvPr>
          <p:cNvSpPr/>
          <p:nvPr/>
        </p:nvSpPr>
        <p:spPr>
          <a:xfrm>
            <a:off x="3932266" y="5565274"/>
            <a:ext cx="4631812" cy="329957"/>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Protección contra Amenazas (</a:t>
            </a:r>
            <a:r>
              <a:rPr kumimoji="0" lang="es" sz="900" b="0" i="0" u="none" strike="noStrike" kern="1200" cap="none" spc="0" normalizeH="0" baseline="0" noProof="0">
                <a:ln>
                  <a:noFill/>
                </a:ln>
                <a:solidFill>
                  <a:srgbClr val="00B050"/>
                </a:solidFill>
                <a:effectLst/>
                <a:uLnTx/>
                <a:uFillTx/>
                <a:latin typeface="Graphik"/>
                <a:ea typeface="+mn-ea"/>
                <a:cs typeface="+mn-cs"/>
              </a:rPr>
              <a:t>OWASP</a:t>
            </a:r>
            <a:r>
              <a:rPr kumimoji="0" lang="es" sz="900" b="0" i="0" u="none" strike="noStrike" kern="1200" cap="none" spc="0" normalizeH="0" baseline="0" noProof="0">
                <a:ln>
                  <a:noFill/>
                </a:ln>
                <a:solidFill>
                  <a:srgbClr val="000000"/>
                </a:solidFill>
                <a:effectLst/>
                <a:uLnTx/>
                <a:uFillTx/>
                <a:latin typeface="Graphik"/>
                <a:ea typeface="+mn-ea"/>
                <a:cs typeface="+mn-cs"/>
              </a:rPr>
              <a:t>)</a:t>
            </a:r>
          </a:p>
        </p:txBody>
      </p:sp>
      <p:sp>
        <p:nvSpPr>
          <p:cNvPr id="149" name="Rectangle: Rounded Corners 55">
            <a:extLst>
              <a:ext uri="{FF2B5EF4-FFF2-40B4-BE49-F238E27FC236}">
                <a16:creationId xmlns:a16="http://schemas.microsoft.com/office/drawing/2014/main" id="{CB43E859-E2E7-1C98-DEB1-B4A62CFCAEF5}"/>
              </a:ext>
            </a:extLst>
          </p:cNvPr>
          <p:cNvSpPr/>
          <p:nvPr/>
        </p:nvSpPr>
        <p:spPr>
          <a:xfrm>
            <a:off x="3921110" y="5962256"/>
            <a:ext cx="520262" cy="290618"/>
          </a:xfrm>
          <a:prstGeom prst="roundRect">
            <a:avLst/>
          </a:prstGeom>
          <a:solidFill>
            <a:srgbClr val="92D050"/>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TLS (</a:t>
            </a:r>
            <a:r>
              <a:rPr kumimoji="0" lang="es-ES" sz="900" b="0" i="0" u="none" strike="noStrike" kern="1200" cap="none" spc="0" normalizeH="0" baseline="0" noProof="0" dirty="0" err="1">
                <a:ln>
                  <a:noFill/>
                </a:ln>
                <a:solidFill>
                  <a:srgbClr val="000000"/>
                </a:solidFill>
                <a:effectLst/>
                <a:uLnTx/>
                <a:uFillTx/>
                <a:latin typeface="Graphik"/>
                <a:ea typeface="+mn-ea"/>
                <a:cs typeface="+mn-cs"/>
              </a:rPr>
              <a:t>APIgee</a:t>
            </a:r>
            <a:r>
              <a:rPr kumimoji="0" lang="es" sz="900" b="0" i="0" u="none" strike="noStrike" kern="1200" cap="none" spc="0" normalizeH="0" baseline="0" noProof="0" dirty="0">
                <a:ln>
                  <a:noFill/>
                </a:ln>
                <a:solidFill>
                  <a:srgbClr val="000000"/>
                </a:solidFill>
                <a:effectLst/>
                <a:uLnTx/>
                <a:uFillTx/>
                <a:latin typeface="Graphik"/>
                <a:ea typeface="+mn-ea"/>
                <a:cs typeface="+mn-cs"/>
              </a:rPr>
              <a:t>)</a:t>
            </a:r>
          </a:p>
        </p:txBody>
      </p:sp>
      <p:sp>
        <p:nvSpPr>
          <p:cNvPr id="150" name="Rectangle: Rounded Corners 55">
            <a:extLst>
              <a:ext uri="{FF2B5EF4-FFF2-40B4-BE49-F238E27FC236}">
                <a16:creationId xmlns:a16="http://schemas.microsoft.com/office/drawing/2014/main" id="{50D9AA2F-A772-19A4-A19C-D83214685E38}"/>
              </a:ext>
            </a:extLst>
          </p:cNvPr>
          <p:cNvSpPr/>
          <p:nvPr/>
        </p:nvSpPr>
        <p:spPr>
          <a:xfrm>
            <a:off x="4493854" y="5968974"/>
            <a:ext cx="747662" cy="290618"/>
          </a:xfrm>
          <a:prstGeom prst="roundRect">
            <a:avLst/>
          </a:prstGeom>
          <a:solidFill>
            <a:srgbClr val="92D050"/>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DDoS (Akamai)</a:t>
            </a:r>
          </a:p>
        </p:txBody>
      </p:sp>
      <p:sp>
        <p:nvSpPr>
          <p:cNvPr id="151" name="Rectangle: Rounded Corners 55">
            <a:extLst>
              <a:ext uri="{FF2B5EF4-FFF2-40B4-BE49-F238E27FC236}">
                <a16:creationId xmlns:a16="http://schemas.microsoft.com/office/drawing/2014/main" id="{042358A4-F700-EBD9-C82B-3C4F5F5F5D30}"/>
              </a:ext>
            </a:extLst>
          </p:cNvPr>
          <p:cNvSpPr/>
          <p:nvPr/>
        </p:nvSpPr>
        <p:spPr>
          <a:xfrm>
            <a:off x="6416490" y="5954871"/>
            <a:ext cx="1021723" cy="290618"/>
          </a:xfrm>
          <a:prstGeom prst="roundRect">
            <a:avLst/>
          </a:prstGeom>
          <a:solidFill>
            <a:srgbClr val="FF0000"/>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Cuota</a:t>
            </a:r>
          </a:p>
        </p:txBody>
      </p:sp>
      <p:sp>
        <p:nvSpPr>
          <p:cNvPr id="152" name="Rectangle: Rounded Corners 55">
            <a:extLst>
              <a:ext uri="{FF2B5EF4-FFF2-40B4-BE49-F238E27FC236}">
                <a16:creationId xmlns:a16="http://schemas.microsoft.com/office/drawing/2014/main" id="{BECFF9C0-4D69-F7D6-1FD4-6CBEFD90F8D9}"/>
              </a:ext>
            </a:extLst>
          </p:cNvPr>
          <p:cNvSpPr/>
          <p:nvPr/>
        </p:nvSpPr>
        <p:spPr>
          <a:xfrm>
            <a:off x="5283753" y="5965025"/>
            <a:ext cx="1021723" cy="290618"/>
          </a:xfrm>
          <a:prstGeom prst="round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Protección de la carga útil</a:t>
            </a:r>
          </a:p>
        </p:txBody>
      </p:sp>
      <p:sp>
        <p:nvSpPr>
          <p:cNvPr id="153" name="Rectangle: Rounded Corners 55">
            <a:extLst>
              <a:ext uri="{FF2B5EF4-FFF2-40B4-BE49-F238E27FC236}">
                <a16:creationId xmlns:a16="http://schemas.microsoft.com/office/drawing/2014/main" id="{420604D4-C40E-9F40-7DC8-444EDB760D3D}"/>
              </a:ext>
            </a:extLst>
          </p:cNvPr>
          <p:cNvSpPr/>
          <p:nvPr/>
        </p:nvSpPr>
        <p:spPr>
          <a:xfrm>
            <a:off x="7543124" y="5958358"/>
            <a:ext cx="1021723" cy="290618"/>
          </a:xfrm>
          <a:prstGeom prst="round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BOTS</a:t>
            </a:r>
          </a:p>
        </p:txBody>
      </p:sp>
      <p:sp>
        <p:nvSpPr>
          <p:cNvPr id="154" name="Can 172">
            <a:extLst>
              <a:ext uri="{FF2B5EF4-FFF2-40B4-BE49-F238E27FC236}">
                <a16:creationId xmlns:a16="http://schemas.microsoft.com/office/drawing/2014/main" id="{CCC0AF4B-950A-58CA-CE9F-DF9E3A8B7641}"/>
              </a:ext>
            </a:extLst>
          </p:cNvPr>
          <p:cNvSpPr/>
          <p:nvPr/>
        </p:nvSpPr>
        <p:spPr bwMode="auto">
          <a:xfrm rot="5400000">
            <a:off x="7911921" y="5936303"/>
            <a:ext cx="312661" cy="1050255"/>
          </a:xfrm>
          <a:prstGeom prst="can">
            <a:avLst>
              <a:gd name="adj" fmla="val 59089"/>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WAF</a:t>
            </a:r>
          </a:p>
        </p:txBody>
      </p:sp>
      <p:sp>
        <p:nvSpPr>
          <p:cNvPr id="155" name="Rectangle 154">
            <a:extLst>
              <a:ext uri="{FF2B5EF4-FFF2-40B4-BE49-F238E27FC236}">
                <a16:creationId xmlns:a16="http://schemas.microsoft.com/office/drawing/2014/main" id="{EE43BF1C-CD1F-77D4-BE4E-B72C41DB7540}"/>
              </a:ext>
            </a:extLst>
          </p:cNvPr>
          <p:cNvSpPr/>
          <p:nvPr/>
        </p:nvSpPr>
        <p:spPr>
          <a:xfrm>
            <a:off x="3932266" y="2398769"/>
            <a:ext cx="4623332" cy="160548"/>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Protección contra Amenazas (AKAMAI)</a:t>
            </a:r>
          </a:p>
        </p:txBody>
      </p:sp>
      <p:cxnSp>
        <p:nvCxnSpPr>
          <p:cNvPr id="156" name="Connector: Elbow 124">
            <a:extLst>
              <a:ext uri="{FF2B5EF4-FFF2-40B4-BE49-F238E27FC236}">
                <a16:creationId xmlns:a16="http://schemas.microsoft.com/office/drawing/2014/main" id="{BD6D2DF4-9973-43CE-62B3-4583E7DD2D0E}"/>
              </a:ext>
            </a:extLst>
          </p:cNvPr>
          <p:cNvCxnSpPr>
            <a:stCxn id="155" idx="1"/>
            <a:endCxn id="109" idx="4"/>
          </p:cNvCxnSpPr>
          <p:nvPr/>
        </p:nvCxnSpPr>
        <p:spPr>
          <a:xfrm rot="10800000" flipV="1">
            <a:off x="2574925" y="2479265"/>
            <a:ext cx="1357630" cy="878840"/>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57" name="Connector: Elbow 124">
            <a:extLst>
              <a:ext uri="{FF2B5EF4-FFF2-40B4-BE49-F238E27FC236}">
                <a16:creationId xmlns:a16="http://schemas.microsoft.com/office/drawing/2014/main" id="{CFAA8A99-C069-479F-CAB9-D42915DB1193}"/>
              </a:ext>
            </a:extLst>
          </p:cNvPr>
          <p:cNvCxnSpPr>
            <a:stCxn id="148" idx="1"/>
            <a:endCxn id="109" idx="4"/>
          </p:cNvCxnSpPr>
          <p:nvPr/>
        </p:nvCxnSpPr>
        <p:spPr>
          <a:xfrm rot="10800000">
            <a:off x="2574925" y="3358105"/>
            <a:ext cx="1357630" cy="2372360"/>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58" name="Rectangle 157">
            <a:extLst>
              <a:ext uri="{FF2B5EF4-FFF2-40B4-BE49-F238E27FC236}">
                <a16:creationId xmlns:a16="http://schemas.microsoft.com/office/drawing/2014/main" id="{E2FF96F1-090C-E9D2-117C-BF3D189FCFFB}"/>
              </a:ext>
            </a:extLst>
          </p:cNvPr>
          <p:cNvSpPr/>
          <p:nvPr/>
        </p:nvSpPr>
        <p:spPr>
          <a:xfrm>
            <a:off x="3119380" y="5188888"/>
            <a:ext cx="551722" cy="284850"/>
          </a:xfrm>
          <a:prstGeom prst="rect">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FFFFFF"/>
                </a:solidFill>
                <a:effectLst/>
                <a:uLnTx/>
                <a:uFillTx/>
                <a:latin typeface="Graphik"/>
                <a:ea typeface="+mn-ea"/>
                <a:cs typeface="+mn-cs"/>
              </a:rPr>
              <a:t>Almacenamiento de Registros</a:t>
            </a:r>
          </a:p>
        </p:txBody>
      </p:sp>
      <p:cxnSp>
        <p:nvCxnSpPr>
          <p:cNvPr id="159" name="Connector: Elbow 124">
            <a:extLst>
              <a:ext uri="{FF2B5EF4-FFF2-40B4-BE49-F238E27FC236}">
                <a16:creationId xmlns:a16="http://schemas.microsoft.com/office/drawing/2014/main" id="{3D7AEA3B-0874-E3F3-8F95-854EC63AA316}"/>
              </a:ext>
            </a:extLst>
          </p:cNvPr>
          <p:cNvCxnSpPr>
            <a:stCxn id="154" idx="1"/>
            <a:endCxn id="155" idx="3"/>
          </p:cNvCxnSpPr>
          <p:nvPr/>
        </p:nvCxnSpPr>
        <p:spPr>
          <a:xfrm flipH="1" flipV="1">
            <a:off x="8555598" y="2479043"/>
            <a:ext cx="37781" cy="3982388"/>
          </a:xfrm>
          <a:prstGeom prst="bentConnector3">
            <a:avLst>
              <a:gd name="adj1" fmla="val -505066"/>
            </a:avLst>
          </a:prstGeom>
          <a:ln w="9525">
            <a:solidFill>
              <a:schemeClr val="accent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60" name="Connector: Elbow 124">
            <a:extLst>
              <a:ext uri="{FF2B5EF4-FFF2-40B4-BE49-F238E27FC236}">
                <a16:creationId xmlns:a16="http://schemas.microsoft.com/office/drawing/2014/main" id="{A0EDCAE4-2E44-E243-A6F2-E42AFE6BFFDA}"/>
              </a:ext>
            </a:extLst>
          </p:cNvPr>
          <p:cNvCxnSpPr>
            <a:stCxn id="154" idx="1"/>
            <a:endCxn id="148" idx="3"/>
          </p:cNvCxnSpPr>
          <p:nvPr/>
        </p:nvCxnSpPr>
        <p:spPr>
          <a:xfrm flipH="1" flipV="1">
            <a:off x="8564078" y="5730253"/>
            <a:ext cx="29301" cy="731178"/>
          </a:xfrm>
          <a:prstGeom prst="bentConnector3">
            <a:avLst>
              <a:gd name="adj1" fmla="val -1014542"/>
            </a:avLst>
          </a:prstGeom>
          <a:ln w="9525">
            <a:solidFill>
              <a:schemeClr val="accent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61" name="Can 172">
            <a:extLst>
              <a:ext uri="{FF2B5EF4-FFF2-40B4-BE49-F238E27FC236}">
                <a16:creationId xmlns:a16="http://schemas.microsoft.com/office/drawing/2014/main" id="{97B27A22-9DC4-82BE-06A2-FDE69A1BAA5F}"/>
              </a:ext>
            </a:extLst>
          </p:cNvPr>
          <p:cNvSpPr/>
          <p:nvPr/>
        </p:nvSpPr>
        <p:spPr bwMode="auto">
          <a:xfrm>
            <a:off x="1461135" y="2593565"/>
            <a:ext cx="457200" cy="1547495"/>
          </a:xfrm>
          <a:prstGeom prst="can">
            <a:avLst>
              <a:gd name="adj" fmla="val 59089"/>
            </a:avLst>
          </a:prstGeom>
          <a:solidFill>
            <a:srgbClr val="FF0000"/>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Alertas de seguridad, métricas, paneles de control</a:t>
            </a:r>
          </a:p>
        </p:txBody>
      </p:sp>
      <p:cxnSp>
        <p:nvCxnSpPr>
          <p:cNvPr id="162" name="Straight Arrow Connector 161">
            <a:extLst>
              <a:ext uri="{FF2B5EF4-FFF2-40B4-BE49-F238E27FC236}">
                <a16:creationId xmlns:a16="http://schemas.microsoft.com/office/drawing/2014/main" id="{53AA437D-320A-4BA7-8577-59E6E7E01EDC}"/>
              </a:ext>
            </a:extLst>
          </p:cNvPr>
          <p:cNvCxnSpPr>
            <a:stCxn id="109" idx="2"/>
            <a:endCxn id="161" idx="4"/>
          </p:cNvCxnSpPr>
          <p:nvPr/>
        </p:nvCxnSpPr>
        <p:spPr>
          <a:xfrm flipH="1">
            <a:off x="1918054" y="3357830"/>
            <a:ext cx="302260" cy="9525"/>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3" name="Straight Arrow Connector 162">
            <a:extLst>
              <a:ext uri="{FF2B5EF4-FFF2-40B4-BE49-F238E27FC236}">
                <a16:creationId xmlns:a16="http://schemas.microsoft.com/office/drawing/2014/main" id="{0C1C35F7-0683-59EC-D3D1-BFBEC92EE6D9}"/>
              </a:ext>
            </a:extLst>
          </p:cNvPr>
          <p:cNvCxnSpPr>
            <a:stCxn id="161" idx="2"/>
            <a:endCxn id="146" idx="4"/>
          </p:cNvCxnSpPr>
          <p:nvPr/>
        </p:nvCxnSpPr>
        <p:spPr>
          <a:xfrm flipH="1" flipV="1">
            <a:off x="1259593" y="3357830"/>
            <a:ext cx="201295" cy="9525"/>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64" name="TextBox 163">
            <a:extLst>
              <a:ext uri="{FF2B5EF4-FFF2-40B4-BE49-F238E27FC236}">
                <a16:creationId xmlns:a16="http://schemas.microsoft.com/office/drawing/2014/main" id="{695CFEBF-E72F-2369-585A-B44B67009469}"/>
              </a:ext>
            </a:extLst>
          </p:cNvPr>
          <p:cNvSpPr txBox="1"/>
          <p:nvPr/>
        </p:nvSpPr>
        <p:spPr>
          <a:xfrm>
            <a:off x="9356090" y="4148680"/>
            <a:ext cx="2750185" cy="705485"/>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algn="ctr">
              <a:defRPr sz="900"/>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Microservicios (Open Shift)</a:t>
            </a:r>
            <a:br>
              <a:rPr kumimoji="0" lang="en-US" sz="900" b="1" i="0" u="none" strike="noStrike" kern="1200" cap="none" spc="0" normalizeH="0" baseline="0" noProof="0">
                <a:ln>
                  <a:noFill/>
                </a:ln>
                <a:solidFill>
                  <a:srgbClr val="000000"/>
                </a:solidFill>
                <a:effectLst/>
                <a:uLnTx/>
                <a:uFillTx/>
                <a:latin typeface="Graphik"/>
                <a:ea typeface="+mn-ea"/>
                <a:cs typeface="+mn-cs"/>
              </a:rPr>
            </a:br>
            <a:r>
              <a:rPr kumimoji="0" lang="es" sz="900" b="1" i="0" u="none" strike="noStrike" kern="1200" cap="none" spc="0" normalizeH="0" baseline="0" noProof="0">
                <a:ln>
                  <a:noFill/>
                </a:ln>
                <a:solidFill>
                  <a:srgbClr val="000000"/>
                </a:solidFill>
                <a:effectLst/>
                <a:uLnTx/>
                <a:uFillTx/>
                <a:latin typeface="Graphik"/>
                <a:ea typeface="+mn-ea"/>
                <a:cs typeface="+mn-cs"/>
              </a:rPr>
              <a:t> Marco común de microservicios.</a:t>
            </a:r>
            <a:br>
              <a:rPr kumimoji="0" lang="en-US" sz="900" b="1" i="0" u="none" strike="noStrike" kern="1200" cap="none" spc="0" normalizeH="0" baseline="0" noProof="0">
                <a:ln>
                  <a:noFill/>
                </a:ln>
                <a:solidFill>
                  <a:srgbClr val="000000"/>
                </a:solidFill>
                <a:effectLst/>
                <a:uLnTx/>
                <a:uFillTx/>
                <a:latin typeface="Graphik"/>
                <a:ea typeface="+mn-ea"/>
                <a:cs typeface="+mn-cs"/>
              </a:rPr>
            </a:br>
            <a:endParaRPr kumimoji="0" lang="en-US" sz="900" b="1" i="0" u="none" strike="noStrike" kern="1200" cap="none" spc="0" normalizeH="0" baseline="0" noProof="0">
              <a:ln>
                <a:noFill/>
              </a:ln>
              <a:solidFill>
                <a:srgbClr val="000000"/>
              </a:solidFill>
              <a:effectLst/>
              <a:uLnTx/>
              <a:uFillTx/>
              <a:latin typeface="Graphik"/>
              <a:ea typeface="+mn-ea"/>
              <a:cs typeface="+mn-cs"/>
            </a:endParaRPr>
          </a:p>
        </p:txBody>
      </p:sp>
      <p:sp>
        <p:nvSpPr>
          <p:cNvPr id="165" name="Rectangle 164">
            <a:extLst>
              <a:ext uri="{FF2B5EF4-FFF2-40B4-BE49-F238E27FC236}">
                <a16:creationId xmlns:a16="http://schemas.microsoft.com/office/drawing/2014/main" id="{22F5A1B7-16A3-9280-F448-19697EBA1041}"/>
              </a:ext>
            </a:extLst>
          </p:cNvPr>
          <p:cNvSpPr/>
          <p:nvPr/>
        </p:nvSpPr>
        <p:spPr>
          <a:xfrm>
            <a:off x="9342038" y="5224471"/>
            <a:ext cx="2820513" cy="1080629"/>
          </a:xfrm>
          <a:prstGeom prst="rect">
            <a:avLst/>
          </a:prstGeom>
          <a:solidFill>
            <a:schemeClr val="accent1">
              <a:alpha val="15932"/>
            </a:schemeClr>
          </a:solidFill>
        </p:spPr>
        <p:style>
          <a:lnRef idx="2">
            <a:schemeClr val="accent1"/>
          </a:lnRef>
          <a:fillRef idx="1">
            <a:schemeClr val="lt1"/>
          </a:fillRef>
          <a:effectRef idx="0">
            <a:schemeClr val="accent1"/>
          </a:effectRef>
          <a:fontRef idx="minor">
            <a:schemeClr val="dk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_tradnl" sz="1400" b="0" i="0" u="none" strike="noStrike" kern="1200" cap="none" spc="0" normalizeH="0" baseline="0" noProof="0">
              <a:ln>
                <a:noFill/>
              </a:ln>
              <a:solidFill>
                <a:srgbClr val="000000"/>
              </a:solidFill>
              <a:effectLst/>
              <a:uLnTx/>
              <a:uFillTx/>
              <a:latin typeface="Graphik"/>
              <a:ea typeface="+mn-ea"/>
              <a:cs typeface="+mn-cs"/>
            </a:endParaRPr>
          </a:p>
        </p:txBody>
      </p:sp>
      <p:sp>
        <p:nvSpPr>
          <p:cNvPr id="166" name="Rectangle 165">
            <a:extLst>
              <a:ext uri="{FF2B5EF4-FFF2-40B4-BE49-F238E27FC236}">
                <a16:creationId xmlns:a16="http://schemas.microsoft.com/office/drawing/2014/main" id="{49A53C03-CD3A-8513-CC48-EA05433D86EC}"/>
              </a:ext>
            </a:extLst>
          </p:cNvPr>
          <p:cNvSpPr/>
          <p:nvPr/>
        </p:nvSpPr>
        <p:spPr>
          <a:xfrm>
            <a:off x="9439229" y="6409146"/>
            <a:ext cx="2703854" cy="28800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Despliegues</a:t>
            </a:r>
          </a:p>
        </p:txBody>
      </p:sp>
      <p:sp>
        <p:nvSpPr>
          <p:cNvPr id="167" name="Rectangle 166">
            <a:extLst>
              <a:ext uri="{FF2B5EF4-FFF2-40B4-BE49-F238E27FC236}">
                <a16:creationId xmlns:a16="http://schemas.microsoft.com/office/drawing/2014/main" id="{29D1175F-A364-74E8-BE90-9D823DAE79CC}"/>
              </a:ext>
            </a:extLst>
          </p:cNvPr>
          <p:cNvSpPr/>
          <p:nvPr/>
        </p:nvSpPr>
        <p:spPr>
          <a:xfrm>
            <a:off x="9402270" y="5977414"/>
            <a:ext cx="2710995" cy="281287"/>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Protección contra amenazas</a:t>
            </a:r>
          </a:p>
        </p:txBody>
      </p:sp>
      <p:cxnSp>
        <p:nvCxnSpPr>
          <p:cNvPr id="168" name="Connector: Elbow 124">
            <a:extLst>
              <a:ext uri="{FF2B5EF4-FFF2-40B4-BE49-F238E27FC236}">
                <a16:creationId xmlns:a16="http://schemas.microsoft.com/office/drawing/2014/main" id="{785A3C43-C2F6-EE7F-7328-B4E3E986E812}"/>
              </a:ext>
            </a:extLst>
          </p:cNvPr>
          <p:cNvCxnSpPr>
            <a:stCxn id="141" idx="2"/>
            <a:endCxn id="166" idx="1"/>
          </p:cNvCxnSpPr>
          <p:nvPr/>
        </p:nvCxnSpPr>
        <p:spPr>
          <a:xfrm rot="10800000" flipV="1">
            <a:off x="9439275" y="3241265"/>
            <a:ext cx="612775" cy="3312160"/>
          </a:xfrm>
          <a:prstGeom prst="bentConnector3">
            <a:avLst>
              <a:gd name="adj1" fmla="val 138860"/>
            </a:avLst>
          </a:prstGeom>
          <a:ln w="9525">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69" name="TextBox 168">
            <a:extLst>
              <a:ext uri="{FF2B5EF4-FFF2-40B4-BE49-F238E27FC236}">
                <a16:creationId xmlns:a16="http://schemas.microsoft.com/office/drawing/2014/main" id="{D35A5A25-DF68-A13C-E88D-9C9AC9C0FAAC}"/>
              </a:ext>
            </a:extLst>
          </p:cNvPr>
          <p:cNvSpPr txBox="1"/>
          <p:nvPr/>
        </p:nvSpPr>
        <p:spPr>
          <a:xfrm>
            <a:off x="9452025" y="3676755"/>
            <a:ext cx="683209" cy="292388"/>
          </a:xfrm>
          <a:prstGeom prst="rect">
            <a:avLst/>
          </a:prstGeom>
          <a:noFill/>
        </p:spPr>
        <p:txBody>
          <a:bodyPr wrap="square" lIns="0" tIns="0" rIns="0" bIns="4572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dirty="0">
                <a:ln>
                  <a:noFill/>
                </a:ln>
                <a:solidFill>
                  <a:srgbClr val="000000"/>
                </a:solidFill>
                <a:effectLst/>
                <a:uLnTx/>
                <a:uFillTx/>
                <a:latin typeface="Graphik"/>
                <a:ea typeface="+mn-ea"/>
                <a:cs typeface="+mn-cs"/>
              </a:rPr>
              <a:t>Arquitectos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dirty="0">
                <a:ln>
                  <a:noFill/>
                </a:ln>
                <a:solidFill>
                  <a:srgbClr val="000000"/>
                </a:solidFill>
                <a:effectLst/>
                <a:uLnTx/>
                <a:uFillTx/>
                <a:latin typeface="Graphik"/>
                <a:ea typeface="+mn-ea"/>
                <a:cs typeface="+mn-cs"/>
              </a:rPr>
              <a:t>/ DevOps</a:t>
            </a:r>
          </a:p>
        </p:txBody>
      </p:sp>
      <p:sp>
        <p:nvSpPr>
          <p:cNvPr id="170" name="Can 172">
            <a:extLst>
              <a:ext uri="{FF2B5EF4-FFF2-40B4-BE49-F238E27FC236}">
                <a16:creationId xmlns:a16="http://schemas.microsoft.com/office/drawing/2014/main" id="{34A3D866-604B-AF20-BBD0-1294F56C14F7}"/>
              </a:ext>
            </a:extLst>
          </p:cNvPr>
          <p:cNvSpPr/>
          <p:nvPr/>
        </p:nvSpPr>
        <p:spPr bwMode="auto">
          <a:xfrm>
            <a:off x="11146942" y="2624535"/>
            <a:ext cx="492234" cy="1236264"/>
          </a:xfrm>
          <a:prstGeom prst="can">
            <a:avLst>
              <a:gd name="adj" fmla="val 59089"/>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Ingeniería del Caos</a:t>
            </a:r>
          </a:p>
        </p:txBody>
      </p:sp>
      <p:cxnSp>
        <p:nvCxnSpPr>
          <p:cNvPr id="173" name="Straight Arrow Connector 172">
            <a:extLst>
              <a:ext uri="{FF2B5EF4-FFF2-40B4-BE49-F238E27FC236}">
                <a16:creationId xmlns:a16="http://schemas.microsoft.com/office/drawing/2014/main" id="{7068717B-995C-9BC5-92F7-252FBFD63EE0}"/>
              </a:ext>
            </a:extLst>
          </p:cNvPr>
          <p:cNvCxnSpPr>
            <a:stCxn id="141" idx="4"/>
            <a:endCxn id="170" idx="2"/>
          </p:cNvCxnSpPr>
          <p:nvPr/>
        </p:nvCxnSpPr>
        <p:spPr>
          <a:xfrm>
            <a:off x="10664660" y="3241533"/>
            <a:ext cx="481965" cy="1905"/>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74" name="Rectangle 173">
            <a:extLst>
              <a:ext uri="{FF2B5EF4-FFF2-40B4-BE49-F238E27FC236}">
                <a16:creationId xmlns:a16="http://schemas.microsoft.com/office/drawing/2014/main" id="{AC52D757-099E-F4DB-784D-8F1775EA7DD7}"/>
              </a:ext>
            </a:extLst>
          </p:cNvPr>
          <p:cNvSpPr/>
          <p:nvPr/>
        </p:nvSpPr>
        <p:spPr>
          <a:xfrm>
            <a:off x="9402271" y="5277762"/>
            <a:ext cx="2703854" cy="28800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Seguridad de contenedores</a:t>
            </a:r>
          </a:p>
        </p:txBody>
      </p:sp>
      <p:sp>
        <p:nvSpPr>
          <p:cNvPr id="175" name="Rectangle 174">
            <a:extLst>
              <a:ext uri="{FF2B5EF4-FFF2-40B4-BE49-F238E27FC236}">
                <a16:creationId xmlns:a16="http://schemas.microsoft.com/office/drawing/2014/main" id="{80633EAA-587D-0217-4746-73C55A0563F4}"/>
              </a:ext>
            </a:extLst>
          </p:cNvPr>
          <p:cNvSpPr/>
          <p:nvPr/>
        </p:nvSpPr>
        <p:spPr>
          <a:xfrm>
            <a:off x="9409412" y="5633090"/>
            <a:ext cx="2703854" cy="28800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Seguridad en streaming</a:t>
            </a:r>
          </a:p>
        </p:txBody>
      </p:sp>
      <p:cxnSp>
        <p:nvCxnSpPr>
          <p:cNvPr id="176" name="Connector: Elbow 124">
            <a:extLst>
              <a:ext uri="{FF2B5EF4-FFF2-40B4-BE49-F238E27FC236}">
                <a16:creationId xmlns:a16="http://schemas.microsoft.com/office/drawing/2014/main" id="{ABBC1743-05E5-16C1-B697-A210AD268FFB}"/>
              </a:ext>
            </a:extLst>
          </p:cNvPr>
          <p:cNvCxnSpPr>
            <a:stCxn id="154" idx="1"/>
            <a:endCxn id="167" idx="1"/>
          </p:cNvCxnSpPr>
          <p:nvPr/>
        </p:nvCxnSpPr>
        <p:spPr>
          <a:xfrm flipV="1">
            <a:off x="8593379" y="6118058"/>
            <a:ext cx="808891" cy="343373"/>
          </a:xfrm>
          <a:prstGeom prst="bentConnector3">
            <a:avLst>
              <a:gd name="adj1" fmla="val 50000"/>
            </a:avLst>
          </a:prstGeom>
          <a:ln w="9525">
            <a:solidFill>
              <a:schemeClr val="accent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77" name="Rectangle 176">
            <a:extLst>
              <a:ext uri="{FF2B5EF4-FFF2-40B4-BE49-F238E27FC236}">
                <a16:creationId xmlns:a16="http://schemas.microsoft.com/office/drawing/2014/main" id="{89B60292-6474-51CA-AE54-8A0E675CDF08}"/>
              </a:ext>
            </a:extLst>
          </p:cNvPr>
          <p:cNvSpPr/>
          <p:nvPr/>
        </p:nvSpPr>
        <p:spPr>
          <a:xfrm>
            <a:off x="3934493" y="1251701"/>
            <a:ext cx="4623333" cy="17079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Seguridad Interna (FW + WAF)</a:t>
            </a:r>
          </a:p>
        </p:txBody>
      </p:sp>
      <p:cxnSp>
        <p:nvCxnSpPr>
          <p:cNvPr id="178" name="Connector: Elbow 124">
            <a:extLst>
              <a:ext uri="{FF2B5EF4-FFF2-40B4-BE49-F238E27FC236}">
                <a16:creationId xmlns:a16="http://schemas.microsoft.com/office/drawing/2014/main" id="{0C872D0B-617C-D440-481F-2D7E73CD19F1}"/>
              </a:ext>
            </a:extLst>
          </p:cNvPr>
          <p:cNvCxnSpPr>
            <a:stCxn id="177" idx="1"/>
            <a:endCxn id="109" idx="4"/>
          </p:cNvCxnSpPr>
          <p:nvPr/>
        </p:nvCxnSpPr>
        <p:spPr>
          <a:xfrm rot="10800000" flipV="1">
            <a:off x="2574925" y="1337535"/>
            <a:ext cx="1359535" cy="2020570"/>
          </a:xfrm>
          <a:prstGeom prst="bentConnector3">
            <a:avLst>
              <a:gd name="adj1" fmla="val 49977"/>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79" name="Can 172">
            <a:extLst>
              <a:ext uri="{FF2B5EF4-FFF2-40B4-BE49-F238E27FC236}">
                <a16:creationId xmlns:a16="http://schemas.microsoft.com/office/drawing/2014/main" id="{0B5497B0-000B-A2DD-FFEC-CC5FC69FEB61}"/>
              </a:ext>
            </a:extLst>
          </p:cNvPr>
          <p:cNvSpPr/>
          <p:nvPr/>
        </p:nvSpPr>
        <p:spPr bwMode="auto">
          <a:xfrm>
            <a:off x="1582664" y="5491388"/>
            <a:ext cx="373397" cy="733160"/>
          </a:xfrm>
          <a:prstGeom prst="can">
            <a:avLst>
              <a:gd name="adj" fmla="val 59089"/>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HSM</a:t>
            </a:r>
          </a:p>
        </p:txBody>
      </p:sp>
      <p:cxnSp>
        <p:nvCxnSpPr>
          <p:cNvPr id="180" name="Connector: Elbow 124">
            <a:extLst>
              <a:ext uri="{FF2B5EF4-FFF2-40B4-BE49-F238E27FC236}">
                <a16:creationId xmlns:a16="http://schemas.microsoft.com/office/drawing/2014/main" id="{F21633D0-7A20-7992-2E5E-9C981C77980B}"/>
              </a:ext>
            </a:extLst>
          </p:cNvPr>
          <p:cNvCxnSpPr>
            <a:stCxn id="149" idx="1"/>
            <a:endCxn id="179" idx="4"/>
          </p:cNvCxnSpPr>
          <p:nvPr/>
        </p:nvCxnSpPr>
        <p:spPr>
          <a:xfrm rot="10800000">
            <a:off x="1956062" y="5857969"/>
            <a:ext cx="1965049" cy="249597"/>
          </a:xfrm>
          <a:prstGeom prst="bentConnector3">
            <a:avLst>
              <a:gd name="adj1" fmla="val 50000"/>
            </a:avLst>
          </a:prstGeom>
          <a:ln w="9525">
            <a:solidFill>
              <a:srgbClr val="00B0F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81" name="Connector: Elbow 124">
            <a:extLst>
              <a:ext uri="{FF2B5EF4-FFF2-40B4-BE49-F238E27FC236}">
                <a16:creationId xmlns:a16="http://schemas.microsoft.com/office/drawing/2014/main" id="{DBA63C84-5714-74B2-2283-71520F72D6EB}"/>
              </a:ext>
            </a:extLst>
          </p:cNvPr>
          <p:cNvCxnSpPr>
            <a:stCxn id="123" idx="1"/>
            <a:endCxn id="179" idx="4"/>
          </p:cNvCxnSpPr>
          <p:nvPr/>
        </p:nvCxnSpPr>
        <p:spPr>
          <a:xfrm rot="10800000" flipV="1">
            <a:off x="1956062" y="4597512"/>
            <a:ext cx="1976205" cy="1260455"/>
          </a:xfrm>
          <a:prstGeom prst="bentConnector3">
            <a:avLst>
              <a:gd name="adj1" fmla="val 50000"/>
            </a:avLst>
          </a:prstGeom>
          <a:ln w="9525">
            <a:solidFill>
              <a:srgbClr val="00B0F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82" name="Connector: Elbow 124">
            <a:extLst>
              <a:ext uri="{FF2B5EF4-FFF2-40B4-BE49-F238E27FC236}">
                <a16:creationId xmlns:a16="http://schemas.microsoft.com/office/drawing/2014/main" id="{5CC0B449-295E-982C-79EF-BD18D59360C9}"/>
              </a:ext>
            </a:extLst>
          </p:cNvPr>
          <p:cNvCxnSpPr>
            <a:stCxn id="133" idx="4"/>
            <a:endCxn id="122" idx="1"/>
          </p:cNvCxnSpPr>
          <p:nvPr/>
        </p:nvCxnSpPr>
        <p:spPr>
          <a:xfrm flipV="1">
            <a:off x="2638425" y="4222975"/>
            <a:ext cx="1295400" cy="642620"/>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83" name="Connector: Elbow 124">
            <a:extLst>
              <a:ext uri="{FF2B5EF4-FFF2-40B4-BE49-F238E27FC236}">
                <a16:creationId xmlns:a16="http://schemas.microsoft.com/office/drawing/2014/main" id="{14729251-32CE-C362-8750-2DC315847E3D}"/>
              </a:ext>
            </a:extLst>
          </p:cNvPr>
          <p:cNvCxnSpPr>
            <a:stCxn id="112" idx="1"/>
            <a:endCxn id="179" idx="4"/>
          </p:cNvCxnSpPr>
          <p:nvPr/>
        </p:nvCxnSpPr>
        <p:spPr>
          <a:xfrm rot="10800000" flipV="1">
            <a:off x="1956061" y="3449634"/>
            <a:ext cx="1977054" cy="2408333"/>
          </a:xfrm>
          <a:prstGeom prst="bentConnector3">
            <a:avLst>
              <a:gd name="adj1" fmla="val 50000"/>
            </a:avLst>
          </a:prstGeom>
          <a:ln w="9525">
            <a:solidFill>
              <a:srgbClr val="00B0F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84" name="Connector: Elbow 124">
            <a:extLst>
              <a:ext uri="{FF2B5EF4-FFF2-40B4-BE49-F238E27FC236}">
                <a16:creationId xmlns:a16="http://schemas.microsoft.com/office/drawing/2014/main" id="{50251EBE-21E3-80C9-37D1-556B41D03A35}"/>
              </a:ext>
            </a:extLst>
          </p:cNvPr>
          <p:cNvCxnSpPr>
            <a:stCxn id="104" idx="1"/>
            <a:endCxn id="179" idx="4"/>
          </p:cNvCxnSpPr>
          <p:nvPr/>
        </p:nvCxnSpPr>
        <p:spPr>
          <a:xfrm rot="10800000" flipV="1">
            <a:off x="1956061" y="1898454"/>
            <a:ext cx="1968540" cy="3959513"/>
          </a:xfrm>
          <a:prstGeom prst="bentConnector3">
            <a:avLst>
              <a:gd name="adj1" fmla="val 50000"/>
            </a:avLst>
          </a:prstGeom>
          <a:ln w="9525">
            <a:solidFill>
              <a:srgbClr val="00B0F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85" name="Connector: Elbow 124">
            <a:extLst>
              <a:ext uri="{FF2B5EF4-FFF2-40B4-BE49-F238E27FC236}">
                <a16:creationId xmlns:a16="http://schemas.microsoft.com/office/drawing/2014/main" id="{89D6DD59-7971-1945-21F8-166B05053213}"/>
              </a:ext>
            </a:extLst>
          </p:cNvPr>
          <p:cNvCxnSpPr>
            <a:stCxn id="105" idx="1"/>
            <a:endCxn id="179" idx="4"/>
          </p:cNvCxnSpPr>
          <p:nvPr/>
        </p:nvCxnSpPr>
        <p:spPr>
          <a:xfrm rot="10800000" flipV="1">
            <a:off x="1956061" y="1592762"/>
            <a:ext cx="1976206" cy="4265206"/>
          </a:xfrm>
          <a:prstGeom prst="bentConnector3">
            <a:avLst>
              <a:gd name="adj1" fmla="val 50000"/>
            </a:avLst>
          </a:prstGeom>
          <a:ln w="9525">
            <a:solidFill>
              <a:srgbClr val="00B0F0"/>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86" name="Rectangle 185">
            <a:extLst>
              <a:ext uri="{FF2B5EF4-FFF2-40B4-BE49-F238E27FC236}">
                <a16:creationId xmlns:a16="http://schemas.microsoft.com/office/drawing/2014/main" id="{0DB640B5-8B4A-9146-EF3F-E74EE926C408}"/>
              </a:ext>
            </a:extLst>
          </p:cNvPr>
          <p:cNvSpPr/>
          <p:nvPr/>
        </p:nvSpPr>
        <p:spPr>
          <a:xfrm>
            <a:off x="3686012" y="1990938"/>
            <a:ext cx="1260000" cy="146415"/>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API Gateway</a:t>
            </a:r>
          </a:p>
        </p:txBody>
      </p:sp>
      <p:sp>
        <p:nvSpPr>
          <p:cNvPr id="187" name="Arrow: Up-Down 75">
            <a:extLst>
              <a:ext uri="{FF2B5EF4-FFF2-40B4-BE49-F238E27FC236}">
                <a16:creationId xmlns:a16="http://schemas.microsoft.com/office/drawing/2014/main" id="{B9ABACB1-32C6-8D10-9D8A-356FDE50C75B}"/>
              </a:ext>
            </a:extLst>
          </p:cNvPr>
          <p:cNvSpPr/>
          <p:nvPr/>
        </p:nvSpPr>
        <p:spPr>
          <a:xfrm>
            <a:off x="7847395" y="1287565"/>
            <a:ext cx="307065" cy="260998"/>
          </a:xfrm>
          <a:prstGeom prst="upDownArrow">
            <a:avLst>
              <a:gd name="adj1" fmla="val 43596"/>
              <a:gd name="adj2" fmla="val 30788"/>
            </a:avLst>
          </a:prstGeom>
          <a:ln w="9525">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Graphik"/>
              <a:ea typeface="+mn-ea"/>
              <a:cs typeface="+mn-cs"/>
            </a:endParaRPr>
          </a:p>
        </p:txBody>
      </p:sp>
      <p:sp>
        <p:nvSpPr>
          <p:cNvPr id="188" name="Arrow: Up-Down 75">
            <a:extLst>
              <a:ext uri="{FF2B5EF4-FFF2-40B4-BE49-F238E27FC236}">
                <a16:creationId xmlns:a16="http://schemas.microsoft.com/office/drawing/2014/main" id="{C56EF78A-8C2A-ADFE-BB59-F52A2700146A}"/>
              </a:ext>
            </a:extLst>
          </p:cNvPr>
          <p:cNvSpPr/>
          <p:nvPr/>
        </p:nvSpPr>
        <p:spPr>
          <a:xfrm>
            <a:off x="7847395" y="1921782"/>
            <a:ext cx="307065" cy="260998"/>
          </a:xfrm>
          <a:prstGeom prst="upDownArrow">
            <a:avLst>
              <a:gd name="adj1" fmla="val 43596"/>
              <a:gd name="adj2" fmla="val 30788"/>
            </a:avLst>
          </a:prstGeom>
          <a:ln w="9525">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Graphik"/>
              <a:ea typeface="+mn-ea"/>
              <a:cs typeface="+mn-cs"/>
            </a:endParaRPr>
          </a:p>
        </p:txBody>
      </p:sp>
      <p:sp>
        <p:nvSpPr>
          <p:cNvPr id="189" name="Rectangle 188">
            <a:extLst>
              <a:ext uri="{FF2B5EF4-FFF2-40B4-BE49-F238E27FC236}">
                <a16:creationId xmlns:a16="http://schemas.microsoft.com/office/drawing/2014/main" id="{2C9B4B7D-8D45-921C-B33F-B49569A10318}"/>
              </a:ext>
            </a:extLst>
          </p:cNvPr>
          <p:cNvSpPr/>
          <p:nvPr/>
        </p:nvSpPr>
        <p:spPr>
          <a:xfrm>
            <a:off x="2220747" y="5651204"/>
            <a:ext cx="575302" cy="447906"/>
          </a:xfrm>
          <a:prstGeom prst="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altLang="es-MX" sz="700" b="0" i="0" u="none" strike="noStrike" kern="1200" cap="none" spc="0" normalizeH="0" baseline="0" noProof="0">
                <a:ln>
                  <a:noFill/>
                </a:ln>
                <a:solidFill>
                  <a:srgbClr val="000000"/>
                </a:solidFill>
                <a:effectLst/>
                <a:uLnTx/>
                <a:uFillTx/>
                <a:latin typeface="Graphik"/>
                <a:ea typeface="+mn-ea"/>
                <a:cs typeface="+mn-cs"/>
                <a:sym typeface="+mn-ea"/>
              </a:rPr>
              <a:t>Controlador Luna (infra)</a:t>
            </a:r>
          </a:p>
        </p:txBody>
      </p:sp>
      <p:cxnSp>
        <p:nvCxnSpPr>
          <p:cNvPr id="190" name="Connector: Elbow 124">
            <a:extLst>
              <a:ext uri="{FF2B5EF4-FFF2-40B4-BE49-F238E27FC236}">
                <a16:creationId xmlns:a16="http://schemas.microsoft.com/office/drawing/2014/main" id="{A9DCA53A-D604-9E77-2F2E-0CD451CDC2C1}"/>
              </a:ext>
            </a:extLst>
          </p:cNvPr>
          <p:cNvCxnSpPr>
            <a:stCxn id="179" idx="3"/>
            <a:endCxn id="164" idx="1"/>
          </p:cNvCxnSpPr>
          <p:nvPr/>
        </p:nvCxnSpPr>
        <p:spPr>
          <a:xfrm rot="5400000" flipH="1" flipV="1">
            <a:off x="4700905" y="1569945"/>
            <a:ext cx="1723390" cy="7586980"/>
          </a:xfrm>
          <a:prstGeom prst="bentConnector4">
            <a:avLst>
              <a:gd name="adj1" fmla="val -31503"/>
              <a:gd name="adj2" fmla="val 95672"/>
            </a:avLst>
          </a:prstGeom>
          <a:ln w="9525">
            <a:solidFill>
              <a:srgbClr val="00B050"/>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91" name="Rectangle 190">
            <a:extLst>
              <a:ext uri="{FF2B5EF4-FFF2-40B4-BE49-F238E27FC236}">
                <a16:creationId xmlns:a16="http://schemas.microsoft.com/office/drawing/2014/main" id="{2BE9E00D-EE07-7170-447C-EB0AC6510781}"/>
              </a:ext>
            </a:extLst>
          </p:cNvPr>
          <p:cNvSpPr/>
          <p:nvPr/>
        </p:nvSpPr>
        <p:spPr>
          <a:xfrm>
            <a:off x="9383490" y="4671268"/>
            <a:ext cx="2710995" cy="281287"/>
          </a:xfrm>
          <a:prstGeom prst="rect">
            <a:avLst/>
          </a:prstGeom>
          <a:solidFill>
            <a:srgbClr val="92D050"/>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Protección contra amenazas (Gateway)</a:t>
            </a:r>
          </a:p>
        </p:txBody>
      </p:sp>
      <p:sp>
        <p:nvSpPr>
          <p:cNvPr id="192" name="Rectangle: Rounded Corners 55">
            <a:extLst>
              <a:ext uri="{FF2B5EF4-FFF2-40B4-BE49-F238E27FC236}">
                <a16:creationId xmlns:a16="http://schemas.microsoft.com/office/drawing/2014/main" id="{76FCA79D-C9FA-E6D1-94EF-49068483A1A5}"/>
              </a:ext>
            </a:extLst>
          </p:cNvPr>
          <p:cNvSpPr/>
          <p:nvPr/>
        </p:nvSpPr>
        <p:spPr>
          <a:xfrm>
            <a:off x="3928219" y="6316121"/>
            <a:ext cx="966510" cy="290618"/>
          </a:xfrm>
          <a:prstGeom prst="roundRect">
            <a:avLst/>
          </a:prstGeom>
          <a:solidFill>
            <a:srgbClr val="92D050"/>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Rate Limits (</a:t>
            </a:r>
            <a:r>
              <a:rPr kumimoji="0" lang="es-ES" sz="900" b="0" i="0" u="none" strike="noStrike" kern="1200" cap="none" spc="0" normalizeH="0" baseline="0" noProof="0" dirty="0" err="1">
                <a:ln>
                  <a:noFill/>
                </a:ln>
                <a:solidFill>
                  <a:srgbClr val="000000"/>
                </a:solidFill>
                <a:effectLst/>
                <a:uLnTx/>
                <a:uFillTx/>
                <a:latin typeface="Graphik"/>
                <a:ea typeface="+mn-ea"/>
                <a:cs typeface="+mn-cs"/>
              </a:rPr>
              <a:t>APIgee</a:t>
            </a:r>
            <a:r>
              <a:rPr kumimoji="0" lang="es" sz="900" b="0" i="0" u="none" strike="noStrike" kern="1200" cap="none" spc="0" normalizeH="0" baseline="0" noProof="0" dirty="0">
                <a:ln>
                  <a:noFill/>
                </a:ln>
                <a:solidFill>
                  <a:srgbClr val="000000"/>
                </a:solidFill>
                <a:effectLst/>
                <a:uLnTx/>
                <a:uFillTx/>
                <a:latin typeface="Graphik"/>
                <a:ea typeface="+mn-ea"/>
                <a:cs typeface="+mn-cs"/>
              </a:rPr>
              <a:t>)</a:t>
            </a:r>
          </a:p>
        </p:txBody>
      </p:sp>
      <p:sp>
        <p:nvSpPr>
          <p:cNvPr id="194" name="TextBox 164">
            <a:extLst>
              <a:ext uri="{FF2B5EF4-FFF2-40B4-BE49-F238E27FC236}">
                <a16:creationId xmlns:a16="http://schemas.microsoft.com/office/drawing/2014/main" id="{D2D72A87-6837-78AD-1F69-63D84C4F0E8D}"/>
              </a:ext>
            </a:extLst>
          </p:cNvPr>
          <p:cNvSpPr txBox="1"/>
          <p:nvPr/>
        </p:nvSpPr>
        <p:spPr>
          <a:xfrm>
            <a:off x="335953" y="1005737"/>
            <a:ext cx="2679700" cy="1586865"/>
          </a:xfrm>
          <a:prstGeom prst="rect">
            <a:avLst/>
          </a:prstGeom>
          <a:noFill/>
        </p:spPr>
        <p:txBody>
          <a:bodyPr wrap="square" lIns="0" tIns="0" rIns="0" bIns="0" rtlCol="0">
            <a:noAutofit/>
          </a:bodyPr>
          <a:lstStyle/>
          <a:p>
            <a:pPr marL="0" marR="0" lvl="0" indent="0" algn="l" defTabSz="228600" rtl="0" eaLnBrk="1" fontAlgn="auto" latinLnBrk="0" hangingPunct="1">
              <a:lnSpc>
                <a:spcPct val="100000"/>
              </a:lnSpc>
              <a:spcBef>
                <a:spcPts val="0"/>
              </a:spcBef>
              <a:spcAft>
                <a:spcPts val="600"/>
              </a:spcAft>
              <a:buClrTx/>
              <a:buSzTx/>
              <a:buFontTx/>
              <a:buNone/>
              <a:tabLst/>
              <a:defRPr/>
            </a:pPr>
            <a:r>
              <a:rPr kumimoji="0" lang="es" sz="800" b="1" i="0" u="none" strike="noStrike" kern="1200" cap="none" spc="0" normalizeH="0" baseline="0" noProof="0" dirty="0">
                <a:ln>
                  <a:noFill/>
                </a:ln>
                <a:solidFill>
                  <a:srgbClr val="000000"/>
                </a:solidFill>
                <a:effectLst/>
                <a:uLnTx/>
                <a:uFillTx/>
                <a:latin typeface="Graphik"/>
                <a:ea typeface="+mn-ea"/>
                <a:cs typeface="+mn-cs"/>
              </a:rPr>
              <a:t>Notas:</a:t>
            </a:r>
          </a:p>
          <a:p>
            <a:pPr marL="115888" marR="0" lvl="0" indent="-115888"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altLang="es-MX" sz="800" b="0" i="0" u="none" strike="noStrike" kern="1200" cap="none" spc="0" normalizeH="0" baseline="0" noProof="0" dirty="0">
                <a:ln>
                  <a:noFill/>
                </a:ln>
                <a:solidFill>
                  <a:srgbClr val="000000"/>
                </a:solidFill>
                <a:effectLst/>
                <a:uLnTx/>
                <a:uFillTx/>
                <a:latin typeface="Graphik"/>
                <a:ea typeface="+mn-ea"/>
                <a:cs typeface="+mn-cs"/>
              </a:rPr>
              <a:t>Los componentes en rojo no existen y se consideran críticos</a:t>
            </a:r>
            <a:r>
              <a:rPr kumimoji="0" lang="es" altLang="es-MX" sz="1000" b="0" i="0" u="none" strike="noStrike" kern="1200" cap="none" spc="0" normalizeH="0" baseline="0" noProof="0" dirty="0">
                <a:ln>
                  <a:noFill/>
                </a:ln>
                <a:solidFill>
                  <a:srgbClr val="000000"/>
                </a:solidFill>
                <a:effectLst/>
                <a:uLnTx/>
                <a:uFillTx/>
                <a:latin typeface="Graphik"/>
                <a:ea typeface="+mn-ea"/>
                <a:cs typeface="+mn-cs"/>
              </a:rPr>
              <a:t>.</a:t>
            </a:r>
          </a:p>
          <a:p>
            <a:pPr marL="115888" marR="0" lvl="0" indent="-115888"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altLang="es-MX" sz="800" b="0" i="0" u="none" strike="noStrike" kern="1200" cap="none" spc="0" normalizeH="0" baseline="0" noProof="0" dirty="0">
                <a:ln>
                  <a:noFill/>
                </a:ln>
                <a:solidFill>
                  <a:srgbClr val="000000"/>
                </a:solidFill>
                <a:effectLst/>
                <a:uLnTx/>
                <a:uFillTx/>
                <a:latin typeface="Graphik"/>
                <a:ea typeface="+mn-ea"/>
                <a:cs typeface="+mn-cs"/>
              </a:rPr>
              <a:t>Las líneas verdes representan el flujo de actual.</a:t>
            </a:r>
          </a:p>
          <a:p>
            <a:pPr marL="115888" marR="0" lvl="0" indent="-115888"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altLang="es-MX" sz="800" b="0" i="0" u="none" strike="noStrike" kern="1200" cap="none" spc="0" normalizeH="0" baseline="0" noProof="0" dirty="0">
                <a:ln>
                  <a:noFill/>
                </a:ln>
                <a:solidFill>
                  <a:srgbClr val="000000"/>
                </a:solidFill>
                <a:effectLst/>
                <a:uLnTx/>
                <a:uFillTx/>
                <a:latin typeface="Graphik"/>
                <a:ea typeface="+mn-ea"/>
                <a:cs typeface="+mn-cs"/>
              </a:rPr>
              <a:t>En su mayor parte, los servicios de seguridad dependen de un microservicio.</a:t>
            </a:r>
          </a:p>
          <a:p>
            <a:pPr marL="115888" marR="0" lvl="0" indent="-115888"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altLang="es-MX" sz="800" b="0" i="0" u="none" strike="noStrike" kern="1200" cap="none" spc="0" normalizeH="0" baseline="0" noProof="0" dirty="0">
                <a:ln>
                  <a:noFill/>
                </a:ln>
                <a:solidFill>
                  <a:srgbClr val="000000"/>
                </a:solidFill>
                <a:effectLst/>
                <a:uLnTx/>
                <a:uFillTx/>
                <a:latin typeface="Graphik"/>
                <a:ea typeface="+mn-ea"/>
                <a:cs typeface="+mn-cs"/>
              </a:rPr>
              <a:t>Sin observabilidad ni respuesta de ciberseguridad.</a:t>
            </a:r>
          </a:p>
          <a:p>
            <a:pPr marL="115888" marR="0" lvl="0" indent="-115888"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altLang="es-MX" sz="800" b="0" i="0" u="none" strike="noStrike" kern="1200" cap="none" spc="0" normalizeH="0" baseline="0" noProof="0" dirty="0">
                <a:ln>
                  <a:noFill/>
                </a:ln>
                <a:solidFill>
                  <a:srgbClr val="000000"/>
                </a:solidFill>
                <a:effectLst/>
                <a:uLnTx/>
                <a:uFillTx/>
                <a:latin typeface="Graphik"/>
                <a:ea typeface="+mn-ea"/>
                <a:cs typeface="+mn-cs"/>
              </a:rPr>
              <a:t>Es necesario evaluar la seguridad en las capas de interoperabilidad.</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US" altLang="es-MX" sz="800" b="0" i="0" u="none" strike="noStrike" kern="1200" cap="none" spc="0" normalizeH="0" baseline="0" noProof="0" dirty="0">
              <a:ln>
                <a:noFill/>
              </a:ln>
              <a:solidFill>
                <a:srgbClr val="000000"/>
              </a:solidFill>
              <a:effectLst/>
              <a:uLnTx/>
              <a:uFillTx/>
              <a:latin typeface="Graphik"/>
              <a:ea typeface="+mn-ea"/>
              <a:cs typeface="+mn-cs"/>
            </a:endParaRP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s-MX" altLang="en-US" sz="1000" b="0" i="0" u="none" strike="noStrike" kern="1200" cap="none" spc="0" normalizeH="0" baseline="0" noProof="0" dirty="0">
              <a:ln>
                <a:noFill/>
              </a:ln>
              <a:solidFill>
                <a:srgbClr val="000000"/>
              </a:solidFill>
              <a:effectLst/>
              <a:uLnTx/>
              <a:uFillTx/>
              <a:latin typeface="Graphik"/>
              <a:ea typeface="+mn-ea"/>
              <a:cs typeface="+mn-cs"/>
            </a:endParaRPr>
          </a:p>
        </p:txBody>
      </p:sp>
      <p:sp>
        <p:nvSpPr>
          <p:cNvPr id="195" name="Rectangle 1060">
            <a:extLst>
              <a:ext uri="{FF2B5EF4-FFF2-40B4-BE49-F238E27FC236}">
                <a16:creationId xmlns:a16="http://schemas.microsoft.com/office/drawing/2014/main" id="{491C86F6-7F70-3A2A-79A5-86F988457801}"/>
              </a:ext>
            </a:extLst>
          </p:cNvPr>
          <p:cNvSpPr/>
          <p:nvPr/>
        </p:nvSpPr>
        <p:spPr>
          <a:xfrm>
            <a:off x="8676210" y="1757742"/>
            <a:ext cx="3437055" cy="174788"/>
          </a:xfrm>
          <a:prstGeom prst="rect">
            <a:avLst/>
          </a:prstGeom>
          <a:solidFill>
            <a:schemeClr val="tx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altLang="es-MX" sz="900" b="0" i="0" u="none" strike="noStrike" kern="1200" cap="none" spc="0" normalizeH="0" baseline="0" noProof="0" dirty="0">
                <a:ln>
                  <a:noFill/>
                </a:ln>
                <a:solidFill>
                  <a:srgbClr val="FFFFFF"/>
                </a:solidFill>
                <a:effectLst/>
                <a:uLnTx/>
                <a:uFillTx/>
                <a:latin typeface="Graphik"/>
                <a:ea typeface="+mn-ea"/>
                <a:cs typeface="+mn-cs"/>
              </a:rPr>
              <a:t>Dependencia de terceros</a:t>
            </a:r>
          </a:p>
        </p:txBody>
      </p:sp>
      <p:sp>
        <p:nvSpPr>
          <p:cNvPr id="3" name="Rectangle 1060">
            <a:extLst>
              <a:ext uri="{FF2B5EF4-FFF2-40B4-BE49-F238E27FC236}">
                <a16:creationId xmlns:a16="http://schemas.microsoft.com/office/drawing/2014/main" id="{C439D808-7584-8D6B-503B-ACC8E2929678}"/>
              </a:ext>
            </a:extLst>
          </p:cNvPr>
          <p:cNvSpPr/>
          <p:nvPr/>
        </p:nvSpPr>
        <p:spPr>
          <a:xfrm>
            <a:off x="8674178" y="1540683"/>
            <a:ext cx="3439086" cy="153955"/>
          </a:xfrm>
          <a:prstGeom prst="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altLang="es-MX" sz="900" b="0" i="0" u="none" strike="noStrike" kern="1200" cap="none" spc="0" normalizeH="0" baseline="0" noProof="0">
                <a:ln>
                  <a:noFill/>
                </a:ln>
                <a:solidFill>
                  <a:srgbClr val="000000"/>
                </a:solidFill>
                <a:effectLst/>
                <a:uLnTx/>
                <a:uFillTx/>
                <a:latin typeface="Graphik"/>
                <a:ea typeface="+mn-ea"/>
                <a:cs typeface="+mn-cs"/>
              </a:rPr>
              <a:t>Componentes actuales</a:t>
            </a:r>
          </a:p>
        </p:txBody>
      </p:sp>
      <p:sp>
        <p:nvSpPr>
          <p:cNvPr id="9" name="Rectangle 8">
            <a:extLst>
              <a:ext uri="{FF2B5EF4-FFF2-40B4-BE49-F238E27FC236}">
                <a16:creationId xmlns:a16="http://schemas.microsoft.com/office/drawing/2014/main" id="{6F0F45C0-4B0F-4F6D-A085-6C84A99F922A}"/>
              </a:ext>
            </a:extLst>
          </p:cNvPr>
          <p:cNvSpPr/>
          <p:nvPr/>
        </p:nvSpPr>
        <p:spPr>
          <a:xfrm>
            <a:off x="8674179" y="873678"/>
            <a:ext cx="3439086" cy="205327"/>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Componentes principales de esta capacidad</a:t>
            </a:r>
          </a:p>
        </p:txBody>
      </p:sp>
      <p:sp>
        <p:nvSpPr>
          <p:cNvPr id="11" name="Rectangle 10">
            <a:extLst>
              <a:ext uri="{FF2B5EF4-FFF2-40B4-BE49-F238E27FC236}">
                <a16:creationId xmlns:a16="http://schemas.microsoft.com/office/drawing/2014/main" id="{B44804BD-3D07-86FA-AA4A-3A7D6D1033B2}"/>
              </a:ext>
            </a:extLst>
          </p:cNvPr>
          <p:cNvSpPr/>
          <p:nvPr/>
        </p:nvSpPr>
        <p:spPr>
          <a:xfrm>
            <a:off x="8674179" y="1107830"/>
            <a:ext cx="3439086" cy="187603"/>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Componentes de otras capacidades relacionadas</a:t>
            </a:r>
          </a:p>
        </p:txBody>
      </p:sp>
      <p:sp>
        <p:nvSpPr>
          <p:cNvPr id="13" name="Rectangle 12">
            <a:extLst>
              <a:ext uri="{FF2B5EF4-FFF2-40B4-BE49-F238E27FC236}">
                <a16:creationId xmlns:a16="http://schemas.microsoft.com/office/drawing/2014/main" id="{6F402B03-03E9-4F47-FC6E-D1639837E8A6}"/>
              </a:ext>
            </a:extLst>
          </p:cNvPr>
          <p:cNvSpPr/>
          <p:nvPr/>
        </p:nvSpPr>
        <p:spPr>
          <a:xfrm>
            <a:off x="8674178" y="1324255"/>
            <a:ext cx="3439086" cy="165055"/>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Componentes funcionales relacionados con esta capacidad</a:t>
            </a:r>
          </a:p>
        </p:txBody>
      </p:sp>
    </p:spTree>
    <p:extLst>
      <p:ext uri="{BB962C8B-B14F-4D97-AF65-F5344CB8AC3E}">
        <p14:creationId xmlns:p14="http://schemas.microsoft.com/office/powerpoint/2010/main" val="414244091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21FF38-C5E2-C49F-11D2-CD09F5C9F0F9}"/>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FB053FCC-2CD6-53D4-5ACE-98EBBF92EB17}"/>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alpha val="65000"/>
                  </a:srgbClr>
                </a:solidFill>
                <a:effectLst/>
                <a:uLnTx/>
                <a:uFillTx/>
                <a:latin typeface="Graphik"/>
                <a:ea typeface="+mn-ea"/>
                <a:cs typeface="+mn-cs"/>
              </a:rPr>
              <a:t>Copyright © 2025 Accenture. Todos los derechos reservados.</a:t>
            </a:r>
          </a:p>
        </p:txBody>
      </p:sp>
      <p:sp>
        <p:nvSpPr>
          <p:cNvPr id="118" name="Title 1">
            <a:extLst>
              <a:ext uri="{FF2B5EF4-FFF2-40B4-BE49-F238E27FC236}">
                <a16:creationId xmlns:a16="http://schemas.microsoft.com/office/drawing/2014/main" id="{8499636B-4A4D-9110-DBF0-7937AED24571}"/>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a:ln>
                  <a:noFill/>
                </a:ln>
                <a:solidFill>
                  <a:srgbClr val="7500C0"/>
                </a:solidFill>
                <a:effectLst/>
                <a:uLnTx/>
                <a:uFillTx/>
                <a:latin typeface="Graphik"/>
                <a:ea typeface="+mj-ea"/>
                <a:cs typeface="+mj-cs"/>
              </a:rPr>
              <a:t>Activo de Interoperabilidad </a:t>
            </a:r>
            <a:r>
              <a:rPr kumimoji="0" lang="es" sz="2400" b="1" i="0" u="none" strike="noStrike" kern="1200" cap="none" spc="0" normalizeH="0" baseline="0" noProof="0">
                <a:ln>
                  <a:noFill/>
                </a:ln>
                <a:solidFill>
                  <a:srgbClr val="000000"/>
                </a:solidFill>
                <a:effectLst/>
                <a:uLnTx/>
                <a:uFillTx/>
                <a:latin typeface="Graphik"/>
                <a:ea typeface="+mj-ea"/>
                <a:cs typeface="+mj-cs"/>
              </a:rPr>
              <a:t>| </a:t>
            </a:r>
            <a:r>
              <a:rPr kumimoji="0" lang="es" sz="2000" b="1" i="0" u="none" strike="noStrike" kern="1200" cap="none" spc="0" normalizeH="0" baseline="0" noProof="0">
                <a:ln>
                  <a:noFill/>
                </a:ln>
                <a:solidFill>
                  <a:srgbClr val="000000"/>
                </a:solidFill>
                <a:effectLst/>
                <a:uLnTx/>
                <a:uFillTx/>
                <a:latin typeface="Graphik"/>
                <a:ea typeface="+mj-ea"/>
                <a:cs typeface="+mj-cs"/>
              </a:rPr>
              <a:t>Infraestructura</a:t>
            </a:r>
            <a:endParaRPr kumimoji="0" lang="es" sz="2400" b="1" i="0" u="none" strike="noStrike" kern="1200" cap="none" spc="0" normalizeH="0" baseline="0" noProof="0">
              <a:ln>
                <a:noFill/>
              </a:ln>
              <a:solidFill>
                <a:srgbClr val="000000"/>
              </a:solidFill>
              <a:effectLst/>
              <a:uLnTx/>
              <a:uFillTx/>
              <a:latin typeface="Graphik"/>
              <a:ea typeface="+mj-ea"/>
              <a:cs typeface="+mj-cs"/>
            </a:endParaRPr>
          </a:p>
        </p:txBody>
      </p:sp>
      <p:sp>
        <p:nvSpPr>
          <p:cNvPr id="119" name="Content Placeholder 34">
            <a:extLst>
              <a:ext uri="{FF2B5EF4-FFF2-40B4-BE49-F238E27FC236}">
                <a16:creationId xmlns:a16="http://schemas.microsoft.com/office/drawing/2014/main" id="{2BDE39EB-3FAE-1593-6CEC-584E9DD2BDEF}"/>
              </a:ext>
            </a:extLst>
          </p:cNvPr>
          <p:cNvSpPr txBox="1">
            <a:spLocks/>
          </p:cNvSpPr>
          <p:nvPr/>
        </p:nvSpPr>
        <p:spPr>
          <a:xfrm>
            <a:off x="285990" y="641993"/>
            <a:ext cx="11430000" cy="246221"/>
          </a:xfrm>
          <a:prstGeom prst="rect">
            <a:avLst/>
          </a:prstGeom>
        </p:spPr>
        <p:txBody>
          <a:bodyPr/>
          <a:lstStyle>
            <a:lvl1pPr marL="228600" indent="-228600" algn="l" defTabSz="228600" rtl="0" eaLnBrk="1" latinLnBrk="0" hangingPunct="1">
              <a:lnSpc>
                <a:spcPct val="100000"/>
              </a:lnSpc>
              <a:spcBef>
                <a:spcPts val="0"/>
              </a:spcBef>
              <a:spcAft>
                <a:spcPts val="600"/>
              </a:spcAft>
              <a:buFont typeface="Arial"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Arial"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Arial"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Arial"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Arial"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Arial" panose="020B0604020202020204" pitchFamily="34" charset="0"/>
              <a:buNone/>
              <a:defRPr sz="800" kern="1200">
                <a:solidFill>
                  <a:schemeClr val="tx2"/>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s" sz="1600" b="1" i="0" u="none" strike="noStrike" kern="1200" cap="none" spc="0" normalizeH="0" baseline="0" noProof="0">
                <a:ln>
                  <a:noFill/>
                </a:ln>
                <a:solidFill>
                  <a:srgbClr val="7500C0"/>
                </a:solidFill>
                <a:effectLst/>
                <a:uLnTx/>
                <a:uFillTx/>
                <a:latin typeface="Graphik" panose="020B0503030202060203" pitchFamily="34" charset="0"/>
                <a:ea typeface="+mn-ea"/>
                <a:cs typeface="+mn-cs"/>
              </a:rPr>
              <a:t>Marco de Microservicios | Caché </a:t>
            </a:r>
          </a:p>
        </p:txBody>
      </p:sp>
      <p:grpSp>
        <p:nvGrpSpPr>
          <p:cNvPr id="4" name="Group 3">
            <a:extLst>
              <a:ext uri="{FF2B5EF4-FFF2-40B4-BE49-F238E27FC236}">
                <a16:creationId xmlns:a16="http://schemas.microsoft.com/office/drawing/2014/main" id="{E7631046-9982-4708-1CDB-6766FC8CF2EF}"/>
              </a:ext>
            </a:extLst>
          </p:cNvPr>
          <p:cNvGrpSpPr/>
          <p:nvPr/>
        </p:nvGrpSpPr>
        <p:grpSpPr>
          <a:xfrm>
            <a:off x="9914018" y="286451"/>
            <a:ext cx="1862854" cy="253275"/>
            <a:chOff x="9929190" y="421028"/>
            <a:chExt cx="1862854" cy="253275"/>
          </a:xfrm>
        </p:grpSpPr>
        <p:sp>
          <p:nvSpPr>
            <p:cNvPr id="5" name="TextBox 4">
              <a:extLst>
                <a:ext uri="{FF2B5EF4-FFF2-40B4-BE49-F238E27FC236}">
                  <a16:creationId xmlns:a16="http://schemas.microsoft.com/office/drawing/2014/main" id="{A5D2A919-02DB-60CD-D734-9AC255447A24}"/>
                </a:ext>
              </a:extLst>
            </p:cNvPr>
            <p:cNvSpPr txBox="1"/>
            <p:nvPr/>
          </p:nvSpPr>
          <p:spPr>
            <a:xfrm>
              <a:off x="9936972" y="460821"/>
              <a:ext cx="1847290" cy="173690"/>
            </a:xfrm>
            <a:prstGeom prst="rect">
              <a:avLst/>
            </a:prstGeom>
            <a:noFill/>
          </p:spPr>
          <p:txBody>
            <a:bodyPr wrap="none" lIns="0" tIns="0" rIns="0" bIns="0" rtlCol="0">
              <a:noAutofit/>
            </a:bodyPr>
            <a:lstStyle/>
            <a:p>
              <a:pPr marL="0" marR="0" lvl="0" indent="0" algn="l" defTabSz="228600" rtl="0" eaLnBrk="1" fontAlgn="auto" latinLnBrk="0" hangingPunct="1">
                <a:lnSpc>
                  <a:spcPct val="100000"/>
                </a:lnSpc>
                <a:spcBef>
                  <a:spcPts val="0"/>
                </a:spcBef>
                <a:spcAft>
                  <a:spcPts val="1200"/>
                </a:spcAft>
                <a:buClrTx/>
                <a:buSzTx/>
                <a:buFontTx/>
                <a:buNone/>
                <a:tabLst/>
                <a:defRPr/>
              </a:pPr>
              <a:r>
                <a:rPr kumimoji="0" lang="es" sz="1100" b="0" i="0" u="none" strike="noStrike" kern="1200" cap="none" spc="0" normalizeH="0" baseline="0" noProof="0">
                  <a:ln>
                    <a:noFill/>
                  </a:ln>
                  <a:solidFill>
                    <a:srgbClr val="000000"/>
                  </a:solidFill>
                  <a:effectLst/>
                  <a:uLnTx/>
                  <a:uFillTx/>
                  <a:latin typeface="Graphik"/>
                  <a:ea typeface="+mn-ea"/>
                  <a:cs typeface="+mn-cs"/>
                </a:rPr>
                <a:t>Ilustrativo no exhaustivo</a:t>
              </a:r>
            </a:p>
          </p:txBody>
        </p:sp>
        <p:cxnSp>
          <p:nvCxnSpPr>
            <p:cNvPr id="6" name="Straight Connector 5">
              <a:extLst>
                <a:ext uri="{FF2B5EF4-FFF2-40B4-BE49-F238E27FC236}">
                  <a16:creationId xmlns:a16="http://schemas.microsoft.com/office/drawing/2014/main" id="{0DC1DD97-6D75-D6C4-3C88-7E22E1761F3A}"/>
                </a:ext>
              </a:extLst>
            </p:cNvPr>
            <p:cNvCxnSpPr>
              <a:cxnSpLocks/>
            </p:cNvCxnSpPr>
            <p:nvPr/>
          </p:nvCxnSpPr>
          <p:spPr>
            <a:xfrm>
              <a:off x="9929190" y="421028"/>
              <a:ext cx="186285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B74C7F47-8235-D563-14DC-174F7DD523D9}"/>
                </a:ext>
              </a:extLst>
            </p:cNvPr>
            <p:cNvCxnSpPr>
              <a:cxnSpLocks/>
            </p:cNvCxnSpPr>
            <p:nvPr/>
          </p:nvCxnSpPr>
          <p:spPr>
            <a:xfrm>
              <a:off x="9929190" y="674303"/>
              <a:ext cx="186285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8" name="TextBox 7">
            <a:extLst>
              <a:ext uri="{FF2B5EF4-FFF2-40B4-BE49-F238E27FC236}">
                <a16:creationId xmlns:a16="http://schemas.microsoft.com/office/drawing/2014/main" id="{E7122525-1D0C-BBB6-F553-762F2D62B3CA}"/>
              </a:ext>
            </a:extLst>
          </p:cNvPr>
          <p:cNvSpPr txBox="1"/>
          <p:nvPr/>
        </p:nvSpPr>
        <p:spPr>
          <a:xfrm>
            <a:off x="2701464" y="2105063"/>
            <a:ext cx="4982983" cy="2853844"/>
          </a:xfrm>
          <a:prstGeom prst="rect">
            <a:avLst/>
          </a:prstGeom>
          <a:noFill/>
          <a:ln>
            <a:solidFill>
              <a:schemeClr val="accent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algn="ctr">
              <a:defRPr sz="900"/>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a:t>
            </a:r>
          </a:p>
        </p:txBody>
      </p:sp>
      <p:sp>
        <p:nvSpPr>
          <p:cNvPr id="9" name="Rectangle 8">
            <a:extLst>
              <a:ext uri="{FF2B5EF4-FFF2-40B4-BE49-F238E27FC236}">
                <a16:creationId xmlns:a16="http://schemas.microsoft.com/office/drawing/2014/main" id="{1E30F2F5-807E-076D-4914-39AFA0EDB981}"/>
              </a:ext>
            </a:extLst>
          </p:cNvPr>
          <p:cNvSpPr/>
          <p:nvPr/>
        </p:nvSpPr>
        <p:spPr>
          <a:xfrm>
            <a:off x="4058285" y="998200"/>
            <a:ext cx="3335606" cy="185541"/>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Componentes principales de esta capacidad</a:t>
            </a:r>
          </a:p>
        </p:txBody>
      </p:sp>
      <p:sp>
        <p:nvSpPr>
          <p:cNvPr id="10" name="Rectangle 9">
            <a:extLst>
              <a:ext uri="{FF2B5EF4-FFF2-40B4-BE49-F238E27FC236}">
                <a16:creationId xmlns:a16="http://schemas.microsoft.com/office/drawing/2014/main" id="{FF672440-0AD7-B162-5487-D4F8E94CBAD9}"/>
              </a:ext>
            </a:extLst>
          </p:cNvPr>
          <p:cNvSpPr/>
          <p:nvPr/>
        </p:nvSpPr>
        <p:spPr>
          <a:xfrm>
            <a:off x="4058919" y="1232515"/>
            <a:ext cx="3334893" cy="185541"/>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Componentes de otras capacidades relacionadas</a:t>
            </a:r>
          </a:p>
        </p:txBody>
      </p:sp>
      <p:sp>
        <p:nvSpPr>
          <p:cNvPr id="11" name="Rectangle 10">
            <a:extLst>
              <a:ext uri="{FF2B5EF4-FFF2-40B4-BE49-F238E27FC236}">
                <a16:creationId xmlns:a16="http://schemas.microsoft.com/office/drawing/2014/main" id="{D09893B6-98E5-4242-625D-6E277E0D8D4A}"/>
              </a:ext>
            </a:extLst>
          </p:cNvPr>
          <p:cNvSpPr/>
          <p:nvPr/>
        </p:nvSpPr>
        <p:spPr>
          <a:xfrm>
            <a:off x="4058285" y="1449050"/>
            <a:ext cx="3335606" cy="185541"/>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Componentes funcionales relacionados con esta capacidad</a:t>
            </a:r>
          </a:p>
        </p:txBody>
      </p:sp>
      <p:cxnSp>
        <p:nvCxnSpPr>
          <p:cNvPr id="12" name="Straight Arrow Connector 11">
            <a:extLst>
              <a:ext uri="{FF2B5EF4-FFF2-40B4-BE49-F238E27FC236}">
                <a16:creationId xmlns:a16="http://schemas.microsoft.com/office/drawing/2014/main" id="{4002B426-2E67-7B25-F2BD-C41EC5F423EA}"/>
              </a:ext>
            </a:extLst>
          </p:cNvPr>
          <p:cNvCxnSpPr>
            <a:stCxn id="8" idx="3"/>
            <a:endCxn id="13" idx="2"/>
          </p:cNvCxnSpPr>
          <p:nvPr/>
        </p:nvCxnSpPr>
        <p:spPr>
          <a:xfrm>
            <a:off x="7684447" y="3531985"/>
            <a:ext cx="661413" cy="860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Can 172">
            <a:extLst>
              <a:ext uri="{FF2B5EF4-FFF2-40B4-BE49-F238E27FC236}">
                <a16:creationId xmlns:a16="http://schemas.microsoft.com/office/drawing/2014/main" id="{3782FEDB-3050-738C-126D-68FBC47080AD}"/>
              </a:ext>
            </a:extLst>
          </p:cNvPr>
          <p:cNvSpPr/>
          <p:nvPr/>
        </p:nvSpPr>
        <p:spPr bwMode="auto">
          <a:xfrm>
            <a:off x="8345860" y="2115115"/>
            <a:ext cx="332049" cy="2850954"/>
          </a:xfrm>
          <a:prstGeom prst="can">
            <a:avLst>
              <a:gd name="adj" fmla="val 59089"/>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Servicio remoto</a:t>
            </a:r>
          </a:p>
        </p:txBody>
      </p:sp>
      <p:sp>
        <p:nvSpPr>
          <p:cNvPr id="14" name="Rectangle 13">
            <a:extLst>
              <a:ext uri="{FF2B5EF4-FFF2-40B4-BE49-F238E27FC236}">
                <a16:creationId xmlns:a16="http://schemas.microsoft.com/office/drawing/2014/main" id="{04D4C15A-6115-6D3D-A530-9686C8158B25}"/>
              </a:ext>
            </a:extLst>
          </p:cNvPr>
          <p:cNvSpPr/>
          <p:nvPr/>
        </p:nvSpPr>
        <p:spPr>
          <a:xfrm>
            <a:off x="3291926" y="2406207"/>
            <a:ext cx="4102600" cy="18000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Marco de Microservicios</a:t>
            </a:r>
          </a:p>
        </p:txBody>
      </p:sp>
      <p:sp>
        <p:nvSpPr>
          <p:cNvPr id="15" name="Rectangle: Rounded Corners 55">
            <a:extLst>
              <a:ext uri="{FF2B5EF4-FFF2-40B4-BE49-F238E27FC236}">
                <a16:creationId xmlns:a16="http://schemas.microsoft.com/office/drawing/2014/main" id="{9E7508D1-5276-64B1-F7B7-B6436E4B42BC}"/>
              </a:ext>
            </a:extLst>
          </p:cNvPr>
          <p:cNvSpPr/>
          <p:nvPr/>
        </p:nvSpPr>
        <p:spPr>
          <a:xfrm>
            <a:off x="737066" y="2337297"/>
            <a:ext cx="1021723" cy="3515491"/>
          </a:xfrm>
          <a:prstGeom prst="round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Graphik"/>
              <a:ea typeface="+mn-ea"/>
              <a:cs typeface="+mn-cs"/>
            </a:endParaRPr>
          </a:p>
        </p:txBody>
      </p:sp>
      <p:sp>
        <p:nvSpPr>
          <p:cNvPr id="16" name="Rectangle: Rounded Corners 55">
            <a:extLst>
              <a:ext uri="{FF2B5EF4-FFF2-40B4-BE49-F238E27FC236}">
                <a16:creationId xmlns:a16="http://schemas.microsoft.com/office/drawing/2014/main" id="{3E2BB48E-DC04-975B-CB88-D181A7158621}"/>
              </a:ext>
            </a:extLst>
          </p:cNvPr>
          <p:cNvSpPr/>
          <p:nvPr/>
        </p:nvSpPr>
        <p:spPr>
          <a:xfrm>
            <a:off x="945522" y="2857737"/>
            <a:ext cx="678070" cy="290618"/>
          </a:xfrm>
          <a:prstGeom prst="round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Aplicación móvil</a:t>
            </a:r>
          </a:p>
        </p:txBody>
      </p:sp>
      <p:sp>
        <p:nvSpPr>
          <p:cNvPr id="17" name="Rectangle: Rounded Corners 55">
            <a:extLst>
              <a:ext uri="{FF2B5EF4-FFF2-40B4-BE49-F238E27FC236}">
                <a16:creationId xmlns:a16="http://schemas.microsoft.com/office/drawing/2014/main" id="{7F8A43D9-1B91-6C25-0ADF-5137982E38A2}"/>
              </a:ext>
            </a:extLst>
          </p:cNvPr>
          <p:cNvSpPr/>
          <p:nvPr/>
        </p:nvSpPr>
        <p:spPr>
          <a:xfrm>
            <a:off x="945521" y="5114216"/>
            <a:ext cx="678070" cy="290618"/>
          </a:xfrm>
          <a:prstGeom prst="round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Sitio web</a:t>
            </a:r>
          </a:p>
        </p:txBody>
      </p:sp>
      <p:sp>
        <p:nvSpPr>
          <p:cNvPr id="18" name="Can 172">
            <a:extLst>
              <a:ext uri="{FF2B5EF4-FFF2-40B4-BE49-F238E27FC236}">
                <a16:creationId xmlns:a16="http://schemas.microsoft.com/office/drawing/2014/main" id="{A65FE65F-88B5-F054-122A-BBC368E0A721}"/>
              </a:ext>
            </a:extLst>
          </p:cNvPr>
          <p:cNvSpPr/>
          <p:nvPr/>
        </p:nvSpPr>
        <p:spPr bwMode="auto">
          <a:xfrm>
            <a:off x="164997" y="2311288"/>
            <a:ext cx="291475" cy="3541500"/>
          </a:xfrm>
          <a:prstGeom prst="can">
            <a:avLst>
              <a:gd name="adj" fmla="val 59089"/>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Componentes omnicanal</a:t>
            </a:r>
          </a:p>
        </p:txBody>
      </p:sp>
      <p:cxnSp>
        <p:nvCxnSpPr>
          <p:cNvPr id="19" name="Connector: Elbow 124">
            <a:extLst>
              <a:ext uri="{FF2B5EF4-FFF2-40B4-BE49-F238E27FC236}">
                <a16:creationId xmlns:a16="http://schemas.microsoft.com/office/drawing/2014/main" id="{8B80120B-B9C3-D2C1-F37E-91520B58E309}"/>
              </a:ext>
            </a:extLst>
          </p:cNvPr>
          <p:cNvCxnSpPr>
            <a:stCxn id="18" idx="4"/>
            <a:endCxn id="16" idx="1"/>
          </p:cNvCxnSpPr>
          <p:nvPr/>
        </p:nvCxnSpPr>
        <p:spPr>
          <a:xfrm flipV="1">
            <a:off x="456472" y="3003046"/>
            <a:ext cx="489050" cy="1078992"/>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20" name="Connector: Elbow 124">
            <a:extLst>
              <a:ext uri="{FF2B5EF4-FFF2-40B4-BE49-F238E27FC236}">
                <a16:creationId xmlns:a16="http://schemas.microsoft.com/office/drawing/2014/main" id="{D6B61B1D-CF47-1F78-2BBE-9B6A4A5909CC}"/>
              </a:ext>
            </a:extLst>
          </p:cNvPr>
          <p:cNvCxnSpPr>
            <a:stCxn id="18" idx="4"/>
            <a:endCxn id="17" idx="1"/>
          </p:cNvCxnSpPr>
          <p:nvPr/>
        </p:nvCxnSpPr>
        <p:spPr>
          <a:xfrm>
            <a:off x="456472" y="4082038"/>
            <a:ext cx="489049" cy="1177487"/>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21" name="Rectangle: Rounded Corners 55">
            <a:extLst>
              <a:ext uri="{FF2B5EF4-FFF2-40B4-BE49-F238E27FC236}">
                <a16:creationId xmlns:a16="http://schemas.microsoft.com/office/drawing/2014/main" id="{6683EFBD-EA0F-7654-7AC2-2D5AF9DB7F44}"/>
              </a:ext>
            </a:extLst>
          </p:cNvPr>
          <p:cNvSpPr/>
          <p:nvPr/>
        </p:nvSpPr>
        <p:spPr>
          <a:xfrm>
            <a:off x="601868" y="2234245"/>
            <a:ext cx="1021723" cy="290618"/>
          </a:xfrm>
          <a:prstGeom prst="round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Cliente</a:t>
            </a:r>
          </a:p>
        </p:txBody>
      </p:sp>
      <p:sp>
        <p:nvSpPr>
          <p:cNvPr id="22" name="Can 172">
            <a:extLst>
              <a:ext uri="{FF2B5EF4-FFF2-40B4-BE49-F238E27FC236}">
                <a16:creationId xmlns:a16="http://schemas.microsoft.com/office/drawing/2014/main" id="{F08FFA86-AB6A-B08B-A64F-6E1C5D74830A}"/>
              </a:ext>
            </a:extLst>
          </p:cNvPr>
          <p:cNvSpPr/>
          <p:nvPr/>
        </p:nvSpPr>
        <p:spPr bwMode="auto">
          <a:xfrm>
            <a:off x="2173712" y="2375905"/>
            <a:ext cx="237829" cy="2789419"/>
          </a:xfrm>
          <a:prstGeom prst="can">
            <a:avLst>
              <a:gd name="adj" fmla="val 59089"/>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API Gateway</a:t>
            </a:r>
          </a:p>
        </p:txBody>
      </p:sp>
      <p:cxnSp>
        <p:nvCxnSpPr>
          <p:cNvPr id="23" name="Straight Arrow Connector 22">
            <a:extLst>
              <a:ext uri="{FF2B5EF4-FFF2-40B4-BE49-F238E27FC236}">
                <a16:creationId xmlns:a16="http://schemas.microsoft.com/office/drawing/2014/main" id="{6BEF9797-62D5-81B5-A5DE-570A3F571788}"/>
              </a:ext>
            </a:extLst>
          </p:cNvPr>
          <p:cNvCxnSpPr>
            <a:endCxn id="22" idx="2"/>
          </p:cNvCxnSpPr>
          <p:nvPr/>
        </p:nvCxnSpPr>
        <p:spPr>
          <a:xfrm>
            <a:off x="1787955" y="3770614"/>
            <a:ext cx="385757" cy="1"/>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4" name="Rectangle: Rounded Corners 55">
            <a:extLst>
              <a:ext uri="{FF2B5EF4-FFF2-40B4-BE49-F238E27FC236}">
                <a16:creationId xmlns:a16="http://schemas.microsoft.com/office/drawing/2014/main" id="{F04F0403-BAEE-C626-EB5D-0A62BDAA2464}"/>
              </a:ext>
            </a:extLst>
          </p:cNvPr>
          <p:cNvSpPr/>
          <p:nvPr/>
        </p:nvSpPr>
        <p:spPr>
          <a:xfrm>
            <a:off x="3308985" y="2672060"/>
            <a:ext cx="1649095" cy="330835"/>
          </a:xfrm>
          <a:prstGeom prst="round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Configuraciones automaticas de Plataforma</a:t>
            </a:r>
          </a:p>
        </p:txBody>
      </p:sp>
      <p:sp>
        <p:nvSpPr>
          <p:cNvPr id="25" name="Rectangle: Rounded Corners 55">
            <a:extLst>
              <a:ext uri="{FF2B5EF4-FFF2-40B4-BE49-F238E27FC236}">
                <a16:creationId xmlns:a16="http://schemas.microsoft.com/office/drawing/2014/main" id="{ADC87055-A852-F3CB-A56C-29121F945978}"/>
              </a:ext>
            </a:extLst>
          </p:cNvPr>
          <p:cNvSpPr/>
          <p:nvPr/>
        </p:nvSpPr>
        <p:spPr>
          <a:xfrm>
            <a:off x="3291926" y="3063408"/>
            <a:ext cx="1666459" cy="233770"/>
          </a:xfrm>
          <a:prstGeom prst="round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Tiempos de ejecución del lenguaje</a:t>
            </a:r>
          </a:p>
        </p:txBody>
      </p:sp>
      <p:sp>
        <p:nvSpPr>
          <p:cNvPr id="26" name="Rectangle: Rounded Corners 25">
            <a:extLst>
              <a:ext uri="{FF2B5EF4-FFF2-40B4-BE49-F238E27FC236}">
                <a16:creationId xmlns:a16="http://schemas.microsoft.com/office/drawing/2014/main" id="{1320838C-7519-B8CE-3ACF-CC814901AD6F}"/>
              </a:ext>
            </a:extLst>
          </p:cNvPr>
          <p:cNvSpPr/>
          <p:nvPr/>
        </p:nvSpPr>
        <p:spPr>
          <a:xfrm>
            <a:off x="3300585" y="3450610"/>
            <a:ext cx="1666459" cy="233770"/>
          </a:xfrm>
          <a:prstGeom prst="round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Pruebas automatizadas</a:t>
            </a:r>
          </a:p>
        </p:txBody>
      </p:sp>
      <p:sp>
        <p:nvSpPr>
          <p:cNvPr id="27" name="Rectangle: Rounded Corners 55">
            <a:extLst>
              <a:ext uri="{FF2B5EF4-FFF2-40B4-BE49-F238E27FC236}">
                <a16:creationId xmlns:a16="http://schemas.microsoft.com/office/drawing/2014/main" id="{50D901D0-2F4D-C501-1452-040923B7EB3C}"/>
              </a:ext>
            </a:extLst>
          </p:cNvPr>
          <p:cNvSpPr/>
          <p:nvPr/>
        </p:nvSpPr>
        <p:spPr>
          <a:xfrm>
            <a:off x="3280820" y="3882602"/>
            <a:ext cx="1666459" cy="233770"/>
          </a:xfrm>
          <a:prstGeom prst="round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Estrategias de despliegue</a:t>
            </a:r>
          </a:p>
        </p:txBody>
      </p:sp>
      <p:sp>
        <p:nvSpPr>
          <p:cNvPr id="28" name="Rectangle: Rounded Corners 55">
            <a:extLst>
              <a:ext uri="{FF2B5EF4-FFF2-40B4-BE49-F238E27FC236}">
                <a16:creationId xmlns:a16="http://schemas.microsoft.com/office/drawing/2014/main" id="{C7A520D8-08A3-9004-1BC2-19CA8B8E3822}"/>
              </a:ext>
            </a:extLst>
          </p:cNvPr>
          <p:cNvSpPr/>
          <p:nvPr/>
        </p:nvSpPr>
        <p:spPr>
          <a:xfrm>
            <a:off x="3280821" y="4236039"/>
            <a:ext cx="1686224" cy="233770"/>
          </a:xfrm>
          <a:prstGeom prst="round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Librerias base</a:t>
            </a:r>
            <a:endParaRPr kumimoji="0" lang="en-US" sz="900" b="0" i="0" u="none" strike="noStrike" kern="1200" cap="none" spc="0" normalizeH="0" baseline="0" noProof="0" dirty="0">
              <a:ln>
                <a:noFill/>
              </a:ln>
              <a:solidFill>
                <a:srgbClr val="000000"/>
              </a:solidFill>
              <a:effectLst/>
              <a:uLnTx/>
              <a:uFillTx/>
              <a:latin typeface="Graphik"/>
              <a:ea typeface="+mn-ea"/>
              <a:cs typeface="+mn-cs"/>
            </a:endParaRPr>
          </a:p>
        </p:txBody>
      </p:sp>
      <p:sp>
        <p:nvSpPr>
          <p:cNvPr id="29" name="Can 172">
            <a:extLst>
              <a:ext uri="{FF2B5EF4-FFF2-40B4-BE49-F238E27FC236}">
                <a16:creationId xmlns:a16="http://schemas.microsoft.com/office/drawing/2014/main" id="{969753D1-1799-BF16-72B7-3F8FF5870AFC}"/>
              </a:ext>
            </a:extLst>
          </p:cNvPr>
          <p:cNvSpPr/>
          <p:nvPr/>
        </p:nvSpPr>
        <p:spPr bwMode="auto">
          <a:xfrm rot="5400000">
            <a:off x="3970544" y="4878457"/>
            <a:ext cx="233770" cy="1741911"/>
          </a:xfrm>
          <a:prstGeom prst="can">
            <a:avLst>
              <a:gd name="adj" fmla="val 59089"/>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Gestión | Orquestación</a:t>
            </a:r>
          </a:p>
        </p:txBody>
      </p:sp>
      <p:sp>
        <p:nvSpPr>
          <p:cNvPr id="30" name="Can 172">
            <a:extLst>
              <a:ext uri="{FF2B5EF4-FFF2-40B4-BE49-F238E27FC236}">
                <a16:creationId xmlns:a16="http://schemas.microsoft.com/office/drawing/2014/main" id="{35F2F832-5B60-0296-0BE1-117473D703F5}"/>
              </a:ext>
            </a:extLst>
          </p:cNvPr>
          <p:cNvSpPr/>
          <p:nvPr/>
        </p:nvSpPr>
        <p:spPr bwMode="auto">
          <a:xfrm>
            <a:off x="2176231" y="5200368"/>
            <a:ext cx="237829" cy="830303"/>
          </a:xfrm>
          <a:prstGeom prst="can">
            <a:avLst>
              <a:gd name="adj" fmla="val 59089"/>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Contenido estático</a:t>
            </a:r>
          </a:p>
        </p:txBody>
      </p:sp>
      <p:sp>
        <p:nvSpPr>
          <p:cNvPr id="31" name="Can 172">
            <a:extLst>
              <a:ext uri="{FF2B5EF4-FFF2-40B4-BE49-F238E27FC236}">
                <a16:creationId xmlns:a16="http://schemas.microsoft.com/office/drawing/2014/main" id="{D6C793E8-1739-FE40-4B79-01043F7D29EA}"/>
              </a:ext>
            </a:extLst>
          </p:cNvPr>
          <p:cNvSpPr/>
          <p:nvPr/>
        </p:nvSpPr>
        <p:spPr bwMode="auto">
          <a:xfrm>
            <a:off x="1841663" y="5217725"/>
            <a:ext cx="237829" cy="648572"/>
          </a:xfrm>
          <a:prstGeom prst="can">
            <a:avLst>
              <a:gd name="adj" fmla="val 55717"/>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CDN</a:t>
            </a:r>
          </a:p>
        </p:txBody>
      </p:sp>
      <p:cxnSp>
        <p:nvCxnSpPr>
          <p:cNvPr id="32" name="Straight Arrow Connector 31">
            <a:extLst>
              <a:ext uri="{FF2B5EF4-FFF2-40B4-BE49-F238E27FC236}">
                <a16:creationId xmlns:a16="http://schemas.microsoft.com/office/drawing/2014/main" id="{56B6D6E8-833E-B604-63C4-8FC900391D11}"/>
              </a:ext>
            </a:extLst>
          </p:cNvPr>
          <p:cNvCxnSpPr>
            <a:stCxn id="31" idx="2"/>
          </p:cNvCxnSpPr>
          <p:nvPr/>
        </p:nvCxnSpPr>
        <p:spPr>
          <a:xfrm flipH="1">
            <a:off x="1525797" y="5542011"/>
            <a:ext cx="315866"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C523E294-D420-1377-FC3A-5A1D8980DA71}"/>
              </a:ext>
            </a:extLst>
          </p:cNvPr>
          <p:cNvCxnSpPr>
            <a:endCxn id="31" idx="4"/>
          </p:cNvCxnSpPr>
          <p:nvPr/>
        </p:nvCxnSpPr>
        <p:spPr>
          <a:xfrm flipH="1">
            <a:off x="2079492" y="5542011"/>
            <a:ext cx="97756"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4" name="Connector: Elbow 124">
            <a:extLst>
              <a:ext uri="{FF2B5EF4-FFF2-40B4-BE49-F238E27FC236}">
                <a16:creationId xmlns:a16="http://schemas.microsoft.com/office/drawing/2014/main" id="{F964A386-BA85-9B7E-38FC-C8F383337FBA}"/>
              </a:ext>
            </a:extLst>
          </p:cNvPr>
          <p:cNvCxnSpPr>
            <a:stCxn id="22" idx="4"/>
            <a:endCxn id="24" idx="1"/>
          </p:cNvCxnSpPr>
          <p:nvPr/>
        </p:nvCxnSpPr>
        <p:spPr>
          <a:xfrm flipV="1">
            <a:off x="2411730" y="2837795"/>
            <a:ext cx="897255" cy="933450"/>
          </a:xfrm>
          <a:prstGeom prst="bentConnector3">
            <a:avLst>
              <a:gd name="adj1" fmla="val 50035"/>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35" name="Connector: Elbow 124">
            <a:extLst>
              <a:ext uri="{FF2B5EF4-FFF2-40B4-BE49-F238E27FC236}">
                <a16:creationId xmlns:a16="http://schemas.microsoft.com/office/drawing/2014/main" id="{449A9A2D-AEC5-E4D6-1189-4441A05C88F7}"/>
              </a:ext>
            </a:extLst>
          </p:cNvPr>
          <p:cNvCxnSpPr>
            <a:stCxn id="22" idx="4"/>
            <a:endCxn id="28" idx="1"/>
          </p:cNvCxnSpPr>
          <p:nvPr/>
        </p:nvCxnSpPr>
        <p:spPr>
          <a:xfrm>
            <a:off x="2411541" y="3770615"/>
            <a:ext cx="869280" cy="582309"/>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36" name="Connector: Elbow 124">
            <a:extLst>
              <a:ext uri="{FF2B5EF4-FFF2-40B4-BE49-F238E27FC236}">
                <a16:creationId xmlns:a16="http://schemas.microsoft.com/office/drawing/2014/main" id="{AAD1ABA0-5EE2-38D8-C13F-19957D274217}"/>
              </a:ext>
            </a:extLst>
          </p:cNvPr>
          <p:cNvCxnSpPr>
            <a:stCxn id="22" idx="4"/>
            <a:endCxn id="25" idx="1"/>
          </p:cNvCxnSpPr>
          <p:nvPr/>
        </p:nvCxnSpPr>
        <p:spPr>
          <a:xfrm flipV="1">
            <a:off x="2411541" y="3180293"/>
            <a:ext cx="880385" cy="590322"/>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37" name="Connector: Elbow 124">
            <a:extLst>
              <a:ext uri="{FF2B5EF4-FFF2-40B4-BE49-F238E27FC236}">
                <a16:creationId xmlns:a16="http://schemas.microsoft.com/office/drawing/2014/main" id="{CE5235EE-01E0-6E38-028F-74BEB42AFAE3}"/>
              </a:ext>
            </a:extLst>
          </p:cNvPr>
          <p:cNvCxnSpPr>
            <a:stCxn id="22" idx="4"/>
            <a:endCxn id="26" idx="1"/>
          </p:cNvCxnSpPr>
          <p:nvPr/>
        </p:nvCxnSpPr>
        <p:spPr>
          <a:xfrm flipV="1">
            <a:off x="2411541" y="3567495"/>
            <a:ext cx="889044" cy="203120"/>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38" name="Connector: Elbow 124">
            <a:extLst>
              <a:ext uri="{FF2B5EF4-FFF2-40B4-BE49-F238E27FC236}">
                <a16:creationId xmlns:a16="http://schemas.microsoft.com/office/drawing/2014/main" id="{41F722CD-FDD6-DCF6-AFAC-3040AD3E9470}"/>
              </a:ext>
            </a:extLst>
          </p:cNvPr>
          <p:cNvCxnSpPr>
            <a:stCxn id="22" idx="4"/>
            <a:endCxn id="27" idx="1"/>
          </p:cNvCxnSpPr>
          <p:nvPr/>
        </p:nvCxnSpPr>
        <p:spPr>
          <a:xfrm>
            <a:off x="2411541" y="3770615"/>
            <a:ext cx="869279" cy="228872"/>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39" name="Can 172">
            <a:extLst>
              <a:ext uri="{FF2B5EF4-FFF2-40B4-BE49-F238E27FC236}">
                <a16:creationId xmlns:a16="http://schemas.microsoft.com/office/drawing/2014/main" id="{709ED227-A4EB-5A18-9E9F-876C2F789719}"/>
              </a:ext>
            </a:extLst>
          </p:cNvPr>
          <p:cNvSpPr/>
          <p:nvPr/>
        </p:nvSpPr>
        <p:spPr bwMode="auto">
          <a:xfrm rot="5400000">
            <a:off x="6291312" y="4818771"/>
            <a:ext cx="233770" cy="1861283"/>
          </a:xfrm>
          <a:prstGeom prst="can">
            <a:avLst>
              <a:gd name="adj" fmla="val 59089"/>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Descubrimiento del servicio</a:t>
            </a:r>
          </a:p>
        </p:txBody>
      </p:sp>
      <p:cxnSp>
        <p:nvCxnSpPr>
          <p:cNvPr id="40" name="Straight Arrow Connector 39">
            <a:extLst>
              <a:ext uri="{FF2B5EF4-FFF2-40B4-BE49-F238E27FC236}">
                <a16:creationId xmlns:a16="http://schemas.microsoft.com/office/drawing/2014/main" id="{FEABB27E-E1AC-B329-4EBC-E6425A51D94B}"/>
              </a:ext>
            </a:extLst>
          </p:cNvPr>
          <p:cNvCxnSpPr>
            <a:stCxn id="29" idx="2"/>
          </p:cNvCxnSpPr>
          <p:nvPr/>
        </p:nvCxnSpPr>
        <p:spPr>
          <a:xfrm flipV="1">
            <a:off x="4087429" y="4922029"/>
            <a:ext cx="0" cy="710499"/>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6CDBC02A-B791-D594-D318-D9ADF51E8B08}"/>
              </a:ext>
            </a:extLst>
          </p:cNvPr>
          <p:cNvCxnSpPr>
            <a:stCxn id="29" idx="1"/>
            <a:endCxn id="39" idx="3"/>
          </p:cNvCxnSpPr>
          <p:nvPr/>
        </p:nvCxnSpPr>
        <p:spPr>
          <a:xfrm>
            <a:off x="4958385" y="5749413"/>
            <a:ext cx="519171"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7ACEC501-CA80-2FA8-E437-0CBB4D627699}"/>
              </a:ext>
            </a:extLst>
          </p:cNvPr>
          <p:cNvCxnSpPr>
            <a:endCxn id="39" idx="2"/>
          </p:cNvCxnSpPr>
          <p:nvPr/>
        </p:nvCxnSpPr>
        <p:spPr>
          <a:xfrm>
            <a:off x="6408197" y="4945101"/>
            <a:ext cx="0" cy="68742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43" name="Picture 2" descr="Docker, logo, icono de logos - Descarga gratuita en Iconfinder">
            <a:extLst>
              <a:ext uri="{FF2B5EF4-FFF2-40B4-BE49-F238E27FC236}">
                <a16:creationId xmlns:a16="http://schemas.microsoft.com/office/drawing/2014/main" id="{64278174-5DFE-6294-ADCE-37AA3926329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48760" y="1807090"/>
            <a:ext cx="448611" cy="448611"/>
          </a:xfrm>
          <a:prstGeom prst="rect">
            <a:avLst/>
          </a:prstGeom>
          <a:noFill/>
          <a:extLst>
            <a:ext uri="{909E8E84-426E-40DD-AFC4-6F175D3DCCD1}">
              <a14:hiddenFill xmlns:a14="http://schemas.microsoft.com/office/drawing/2010/main">
                <a:solidFill>
                  <a:srgbClr val="FFFFFF"/>
                </a:solidFill>
              </a14:hiddenFill>
            </a:ext>
          </a:extLst>
        </p:spPr>
      </p:pic>
      <p:pic>
        <p:nvPicPr>
          <p:cNvPr id="44" name="Picture 4" descr="&quot;kubernetes&quot; Icon - Descargar gratis – Iconduck">
            <a:extLst>
              <a:ext uri="{FF2B5EF4-FFF2-40B4-BE49-F238E27FC236}">
                <a16:creationId xmlns:a16="http://schemas.microsoft.com/office/drawing/2014/main" id="{FB0C3C83-C829-A51B-203C-2086F2C1422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97371" y="1864210"/>
            <a:ext cx="354394" cy="345204"/>
          </a:xfrm>
          <a:prstGeom prst="rect">
            <a:avLst/>
          </a:prstGeom>
          <a:noFill/>
          <a:extLst>
            <a:ext uri="{909E8E84-426E-40DD-AFC4-6F175D3DCCD1}">
              <a14:hiddenFill xmlns:a14="http://schemas.microsoft.com/office/drawing/2010/main">
                <a:solidFill>
                  <a:srgbClr val="FFFFFF"/>
                </a:solidFill>
              </a14:hiddenFill>
            </a:ext>
          </a:extLst>
        </p:spPr>
      </p:pic>
      <p:sp>
        <p:nvSpPr>
          <p:cNvPr id="45" name="TextBox 44">
            <a:extLst>
              <a:ext uri="{FF2B5EF4-FFF2-40B4-BE49-F238E27FC236}">
                <a16:creationId xmlns:a16="http://schemas.microsoft.com/office/drawing/2014/main" id="{1914EDE9-40A6-5759-D152-305DFC90D0D8}"/>
              </a:ext>
            </a:extLst>
          </p:cNvPr>
          <p:cNvSpPr txBox="1"/>
          <p:nvPr/>
        </p:nvSpPr>
        <p:spPr>
          <a:xfrm>
            <a:off x="11654589" y="2923286"/>
            <a:ext cx="0" cy="0"/>
          </a:xfrm>
          <a:prstGeom prst="rect">
            <a:avLst/>
          </a:prstGeom>
          <a:noFill/>
        </p:spPr>
        <p:txBody>
          <a:bodyPr wrap="none" lIns="0" tIns="0" rIns="0" bIns="0" rtlCol="0">
            <a:noAutofit/>
          </a:bodyPr>
          <a:lstStyle/>
          <a:p>
            <a:pPr marL="0" marR="0" lvl="0" indent="0" algn="l" defTabSz="228600" rtl="0" eaLnBrk="1" fontAlgn="auto" latinLnBrk="0" hangingPunct="1">
              <a:lnSpc>
                <a:spcPct val="100000"/>
              </a:lnSpc>
              <a:spcBef>
                <a:spcPts val="0"/>
              </a:spcBef>
              <a:spcAft>
                <a:spcPts val="1200"/>
              </a:spcAft>
              <a:buClrTx/>
              <a:buSzTx/>
              <a:buFontTx/>
              <a:buNone/>
              <a:tabLst/>
              <a:defRPr/>
            </a:pPr>
            <a:endParaRPr kumimoji="0" lang="es-ES_tradnl" sz="1800" b="0" i="0" u="none" strike="noStrike" kern="1200" cap="none" spc="0" normalizeH="0" baseline="0" noProof="0">
              <a:ln>
                <a:noFill/>
              </a:ln>
              <a:solidFill>
                <a:srgbClr val="000000"/>
              </a:solidFill>
              <a:effectLst/>
              <a:uLnTx/>
              <a:uFillTx/>
              <a:latin typeface="Graphik"/>
              <a:ea typeface="+mn-ea"/>
              <a:cs typeface="+mn-cs"/>
            </a:endParaRPr>
          </a:p>
        </p:txBody>
      </p:sp>
      <p:pic>
        <p:nvPicPr>
          <p:cNvPr id="46" name="Picture 6" descr="Contenedores AWS - La información más importante">
            <a:extLst>
              <a:ext uri="{FF2B5EF4-FFF2-40B4-BE49-F238E27FC236}">
                <a16:creationId xmlns:a16="http://schemas.microsoft.com/office/drawing/2014/main" id="{C0B11837-A484-AD98-3615-1380FF3DBB51}"/>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28349" t="28042" r="29333" b="28215"/>
          <a:stretch>
            <a:fillRect/>
          </a:stretch>
        </p:blipFill>
        <p:spPr bwMode="auto">
          <a:xfrm>
            <a:off x="3554250" y="1892594"/>
            <a:ext cx="269701" cy="278782"/>
          </a:xfrm>
          <a:prstGeom prst="rect">
            <a:avLst/>
          </a:prstGeom>
          <a:noFill/>
          <a:extLst>
            <a:ext uri="{909E8E84-426E-40DD-AFC4-6F175D3DCCD1}">
              <a14:hiddenFill xmlns:a14="http://schemas.microsoft.com/office/drawing/2010/main">
                <a:solidFill>
                  <a:srgbClr val="FFFFFF"/>
                </a:solidFill>
              </a14:hiddenFill>
            </a:ext>
          </a:extLst>
        </p:spPr>
      </p:pic>
      <p:sp>
        <p:nvSpPr>
          <p:cNvPr id="47" name="Rectangle 46">
            <a:extLst>
              <a:ext uri="{FF2B5EF4-FFF2-40B4-BE49-F238E27FC236}">
                <a16:creationId xmlns:a16="http://schemas.microsoft.com/office/drawing/2014/main" id="{DF85C789-C46F-3972-0F79-DFE2A8E357D2}"/>
              </a:ext>
            </a:extLst>
          </p:cNvPr>
          <p:cNvSpPr/>
          <p:nvPr/>
        </p:nvSpPr>
        <p:spPr>
          <a:xfrm>
            <a:off x="3141655" y="5940673"/>
            <a:ext cx="4102600" cy="18000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Componentes de caché / Replicación de sesiones</a:t>
            </a:r>
          </a:p>
        </p:txBody>
      </p:sp>
      <p:cxnSp>
        <p:nvCxnSpPr>
          <p:cNvPr id="48" name="Connector: Elbow 124">
            <a:extLst>
              <a:ext uri="{FF2B5EF4-FFF2-40B4-BE49-F238E27FC236}">
                <a16:creationId xmlns:a16="http://schemas.microsoft.com/office/drawing/2014/main" id="{94EDC763-9CBC-4FBF-9EE1-D03D2D3AFB85}"/>
              </a:ext>
            </a:extLst>
          </p:cNvPr>
          <p:cNvCxnSpPr>
            <a:stCxn id="22" idx="4"/>
            <a:endCxn id="47" idx="1"/>
          </p:cNvCxnSpPr>
          <p:nvPr/>
        </p:nvCxnSpPr>
        <p:spPr>
          <a:xfrm>
            <a:off x="2411541" y="3770615"/>
            <a:ext cx="730114" cy="2260058"/>
          </a:xfrm>
          <a:prstGeom prst="bentConnector3">
            <a:avLst>
              <a:gd name="adj1" fmla="val 50000"/>
            </a:avLst>
          </a:prstGeom>
          <a:ln w="9525">
            <a:solidFill>
              <a:schemeClr val="accent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49" name="Rectangle: Rounded Corners 55">
            <a:extLst>
              <a:ext uri="{FF2B5EF4-FFF2-40B4-BE49-F238E27FC236}">
                <a16:creationId xmlns:a16="http://schemas.microsoft.com/office/drawing/2014/main" id="{E4EB3DCE-E6B6-31F9-5732-89BE06D99D8F}"/>
              </a:ext>
            </a:extLst>
          </p:cNvPr>
          <p:cNvSpPr/>
          <p:nvPr/>
        </p:nvSpPr>
        <p:spPr>
          <a:xfrm>
            <a:off x="5088100" y="2668497"/>
            <a:ext cx="2264298" cy="1846558"/>
          </a:xfrm>
          <a:prstGeom prst="round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altLang="es-MX" sz="900" b="0" i="0" u="none" strike="noStrike" kern="1200" cap="none" spc="0" normalizeH="0" baseline="0" noProof="0" dirty="0">
                <a:ln>
                  <a:noFill/>
                </a:ln>
                <a:solidFill>
                  <a:srgbClr val="000000"/>
                </a:solidFill>
                <a:effectLst/>
                <a:uLnTx/>
                <a:uFillTx/>
                <a:latin typeface="Graphik"/>
                <a:ea typeface="+mn-ea"/>
                <a:cs typeface="+mn-cs"/>
                <a:sym typeface="+mn-ea"/>
              </a:rPr>
              <a:t>Kernel</a:t>
            </a:r>
          </a:p>
        </p:txBody>
      </p:sp>
      <p:sp>
        <p:nvSpPr>
          <p:cNvPr id="50" name="Rectangle: Rounded Corners 55">
            <a:extLst>
              <a:ext uri="{FF2B5EF4-FFF2-40B4-BE49-F238E27FC236}">
                <a16:creationId xmlns:a16="http://schemas.microsoft.com/office/drawing/2014/main" id="{D83B5F55-A11C-4B58-353B-4F67FAF04CB1}"/>
              </a:ext>
            </a:extLst>
          </p:cNvPr>
          <p:cNvSpPr/>
          <p:nvPr/>
        </p:nvSpPr>
        <p:spPr>
          <a:xfrm>
            <a:off x="5410218" y="2769364"/>
            <a:ext cx="1686224" cy="233770"/>
          </a:xfrm>
          <a:prstGeom prst="round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altLang="en-US" sz="900" b="0" i="0" u="none" strike="noStrike" kern="1200" cap="none" spc="0" normalizeH="0" baseline="0" noProof="0">
                <a:ln>
                  <a:noFill/>
                </a:ln>
                <a:solidFill>
                  <a:srgbClr val="000000"/>
                </a:solidFill>
                <a:effectLst/>
                <a:uLnTx/>
                <a:uFillTx/>
                <a:latin typeface="Graphik"/>
                <a:ea typeface="+mn-ea"/>
                <a:cs typeface="+mn-cs"/>
                <a:sym typeface="+mn-ea"/>
              </a:rPr>
              <a:t>Microservicios Java</a:t>
            </a:r>
          </a:p>
        </p:txBody>
      </p:sp>
      <p:sp>
        <p:nvSpPr>
          <p:cNvPr id="52" name="Rectangle 1060">
            <a:extLst>
              <a:ext uri="{FF2B5EF4-FFF2-40B4-BE49-F238E27FC236}">
                <a16:creationId xmlns:a16="http://schemas.microsoft.com/office/drawing/2014/main" id="{236D6EBC-F412-04FE-FBC5-F8B6AAF49DA5}"/>
              </a:ext>
            </a:extLst>
          </p:cNvPr>
          <p:cNvSpPr/>
          <p:nvPr/>
        </p:nvSpPr>
        <p:spPr>
          <a:xfrm>
            <a:off x="4058920" y="1671935"/>
            <a:ext cx="3335606" cy="162811"/>
          </a:xfrm>
          <a:prstGeom prst="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altLang="es-MX" sz="900" b="0" i="0" u="none" strike="noStrike" kern="1200" cap="none" spc="0" normalizeH="0" baseline="0" noProof="0">
                <a:ln>
                  <a:noFill/>
                </a:ln>
                <a:solidFill>
                  <a:srgbClr val="000000"/>
                </a:solidFill>
                <a:effectLst/>
                <a:uLnTx/>
                <a:uFillTx/>
                <a:latin typeface="Graphik"/>
                <a:ea typeface="+mn-ea"/>
                <a:cs typeface="+mn-cs"/>
              </a:rPr>
              <a:t>Componentes actuales</a:t>
            </a:r>
          </a:p>
        </p:txBody>
      </p:sp>
      <p:sp>
        <p:nvSpPr>
          <p:cNvPr id="53" name="Rectangle: Rounded Corners 55">
            <a:extLst>
              <a:ext uri="{FF2B5EF4-FFF2-40B4-BE49-F238E27FC236}">
                <a16:creationId xmlns:a16="http://schemas.microsoft.com/office/drawing/2014/main" id="{6555820E-7DC1-33A7-595B-9C57ABFE5C84}"/>
              </a:ext>
            </a:extLst>
          </p:cNvPr>
          <p:cNvSpPr/>
          <p:nvPr/>
        </p:nvSpPr>
        <p:spPr>
          <a:xfrm>
            <a:off x="5410218" y="3130044"/>
            <a:ext cx="1686224" cy="233770"/>
          </a:xfrm>
          <a:prstGeom prst="round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sym typeface="+mn-ea"/>
              </a:rPr>
              <a:t>Sin servidor</a:t>
            </a:r>
          </a:p>
        </p:txBody>
      </p:sp>
      <p:sp>
        <p:nvSpPr>
          <p:cNvPr id="54" name="Rectangle: Rounded Corners 55">
            <a:extLst>
              <a:ext uri="{FF2B5EF4-FFF2-40B4-BE49-F238E27FC236}">
                <a16:creationId xmlns:a16="http://schemas.microsoft.com/office/drawing/2014/main" id="{41AF3C86-1CED-0268-DFA5-EA808B70679E}"/>
              </a:ext>
            </a:extLst>
          </p:cNvPr>
          <p:cNvSpPr/>
          <p:nvPr/>
        </p:nvSpPr>
        <p:spPr>
          <a:xfrm>
            <a:off x="5410218" y="3882519"/>
            <a:ext cx="1686224" cy="233770"/>
          </a:xfrm>
          <a:prstGeom prst="round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altLang="en-US" sz="900" b="0" i="0" u="none" strike="noStrike" kern="1200" cap="none" spc="0" normalizeH="0" baseline="0" noProof="0" dirty="0">
                <a:ln>
                  <a:noFill/>
                </a:ln>
                <a:solidFill>
                  <a:srgbClr val="000000"/>
                </a:solidFill>
                <a:effectLst/>
                <a:uLnTx/>
                <a:uFillTx/>
                <a:latin typeface="Graphik"/>
                <a:ea typeface="+mn-ea"/>
                <a:cs typeface="+mn-cs"/>
                <a:sym typeface="+mn-ea"/>
              </a:rPr>
              <a:t>Service Mesh</a:t>
            </a:r>
          </a:p>
        </p:txBody>
      </p:sp>
      <p:sp>
        <p:nvSpPr>
          <p:cNvPr id="55" name="TextBox 164">
            <a:extLst>
              <a:ext uri="{FF2B5EF4-FFF2-40B4-BE49-F238E27FC236}">
                <a16:creationId xmlns:a16="http://schemas.microsoft.com/office/drawing/2014/main" id="{9DBF3F80-A037-FB15-D3E7-50974142F921}"/>
              </a:ext>
            </a:extLst>
          </p:cNvPr>
          <p:cNvSpPr txBox="1"/>
          <p:nvPr/>
        </p:nvSpPr>
        <p:spPr>
          <a:xfrm>
            <a:off x="8740237" y="669619"/>
            <a:ext cx="3191818" cy="5818505"/>
          </a:xfrm>
          <a:prstGeom prst="rect">
            <a:avLst/>
          </a:prstGeom>
          <a:noFill/>
        </p:spPr>
        <p:txBody>
          <a:bodyPr wrap="square" lIns="0" tIns="0" rIns="0" bIns="0" rtlCol="0">
            <a:noAutofit/>
          </a:bodyPr>
          <a:lstStyle/>
          <a:p>
            <a:pPr marL="0" marR="0" lvl="0" indent="0" algn="l" defTabSz="228600" rtl="0" eaLnBrk="1" fontAlgn="auto" latinLnBrk="0" hangingPunct="1">
              <a:lnSpc>
                <a:spcPct val="100000"/>
              </a:lnSpc>
              <a:spcBef>
                <a:spcPts val="0"/>
              </a:spcBef>
              <a:spcAft>
                <a:spcPts val="600"/>
              </a:spcAft>
              <a:buClrTx/>
              <a:buSzTx/>
              <a:buFontTx/>
              <a:buNone/>
              <a:tabLst/>
              <a:defRPr/>
            </a:pPr>
            <a:r>
              <a:rPr kumimoji="0" lang="es" altLang="es-MX" sz="900" b="1" i="0" u="none" strike="noStrike" kern="1200" cap="none" spc="0" normalizeH="0" baseline="0" noProof="0" dirty="0">
                <a:ln>
                  <a:noFill/>
                </a:ln>
                <a:solidFill>
                  <a:srgbClr val="000000"/>
                </a:solidFill>
                <a:effectLst/>
                <a:uLnTx/>
                <a:uFillTx/>
                <a:latin typeface="Graphik"/>
                <a:ea typeface="+mn-ea"/>
                <a:cs typeface="+mn-cs"/>
              </a:rPr>
              <a:t>Notas</a:t>
            </a:r>
            <a:r>
              <a:rPr kumimoji="0" lang="es" altLang="es-MX" sz="900" b="0" i="0" u="none" strike="noStrike" kern="1200" cap="none" spc="0" normalizeH="0" baseline="0" noProof="0" dirty="0">
                <a:ln>
                  <a:noFill/>
                </a:ln>
                <a:solidFill>
                  <a:srgbClr val="000000"/>
                </a:solidFill>
                <a:effectLst/>
                <a:uLnTx/>
                <a:uFillTx/>
                <a:latin typeface="Graphik"/>
                <a:ea typeface="+mn-ea"/>
                <a:cs typeface="+mn-cs"/>
              </a:rPr>
              <a:t>:</a:t>
            </a:r>
          </a:p>
          <a:p>
            <a:pPr marL="0" marR="0" lvl="0" indent="0" algn="l" defTabSz="228600" rtl="0" eaLnBrk="1" fontAlgn="auto" latinLnBrk="0" hangingPunct="1">
              <a:lnSpc>
                <a:spcPct val="100000"/>
              </a:lnSpc>
              <a:spcBef>
                <a:spcPts val="0"/>
              </a:spcBef>
              <a:spcAft>
                <a:spcPts val="600"/>
              </a:spcAft>
              <a:buClrTx/>
              <a:buSzTx/>
              <a:buFontTx/>
              <a:buNone/>
              <a:tabLst/>
              <a:defRPr/>
            </a:pPr>
            <a:r>
              <a:rPr kumimoji="0" lang="es" altLang="es-MX" sz="900" b="0" i="0" u="none" strike="noStrike" kern="1200" cap="none" spc="0" normalizeH="0" baseline="0" noProof="0" dirty="0">
                <a:ln>
                  <a:noFill/>
                </a:ln>
                <a:solidFill>
                  <a:srgbClr val="000000"/>
                </a:solidFill>
                <a:effectLst/>
                <a:uLnTx/>
                <a:uFillTx/>
                <a:latin typeface="Graphik"/>
                <a:ea typeface="+mn-ea"/>
                <a:cs typeface="+mn-cs"/>
              </a:rPr>
              <a:t>Microservicios del Kernel:</a:t>
            </a:r>
          </a:p>
          <a:p>
            <a:pPr marL="171450" indent="-171450" defTabSz="228600">
              <a:spcAft>
                <a:spcPts val="600"/>
              </a:spcAft>
              <a:buFont typeface="Arial" panose="020B0604020202020204" pitchFamily="34" charset="0"/>
              <a:buChar char="•"/>
              <a:defRPr/>
            </a:pPr>
            <a:r>
              <a:rPr kumimoji="0" lang="es" altLang="es-MX" sz="900" b="0" i="0" u="none" strike="noStrike" kern="1200" cap="none" spc="0" normalizeH="0" baseline="0" noProof="0" dirty="0">
                <a:ln>
                  <a:noFill/>
                </a:ln>
                <a:solidFill>
                  <a:srgbClr val="000000"/>
                </a:solidFill>
                <a:effectLst/>
                <a:uLnTx/>
                <a:uFillTx/>
                <a:latin typeface="Graphik"/>
                <a:ea typeface="+mn-ea"/>
                <a:cs typeface="+mn-cs"/>
              </a:rPr>
              <a:t>No hay inventario formal de microservicios.</a:t>
            </a:r>
          </a:p>
          <a:p>
            <a:pPr marL="171450" indent="-171450" defTabSz="228600">
              <a:spcAft>
                <a:spcPts val="600"/>
              </a:spcAft>
              <a:buFont typeface="Arial" panose="020B0604020202020204" pitchFamily="34" charset="0"/>
              <a:buChar char="•"/>
              <a:defRPr/>
            </a:pPr>
            <a:r>
              <a:rPr kumimoji="0" lang="es" altLang="es-MX" sz="900" b="0" i="0" u="none" strike="noStrike" kern="1200" cap="none" spc="0" normalizeH="0" baseline="0" noProof="0" dirty="0">
                <a:ln>
                  <a:noFill/>
                </a:ln>
                <a:solidFill>
                  <a:srgbClr val="000000"/>
                </a:solidFill>
                <a:effectLst/>
                <a:uLnTx/>
                <a:uFillTx/>
                <a:latin typeface="Graphik"/>
                <a:ea typeface="+mn-ea"/>
                <a:cs typeface="+mn-cs"/>
              </a:rPr>
              <a:t>Incluye algunos servicios de seguridad.</a:t>
            </a:r>
          </a:p>
          <a:p>
            <a:pPr marL="171450" indent="-171450" defTabSz="228600">
              <a:spcAft>
                <a:spcPts val="600"/>
              </a:spcAft>
              <a:buFont typeface="Arial" panose="020B0604020202020204" pitchFamily="34" charset="0"/>
              <a:buChar char="•"/>
              <a:defRPr/>
            </a:pPr>
            <a:r>
              <a:rPr kumimoji="0" lang="es" altLang="es-MX" sz="900" b="0" i="0" u="none" strike="noStrike" kern="1200" cap="none" spc="0" normalizeH="0" baseline="0" noProof="0" dirty="0">
                <a:ln>
                  <a:noFill/>
                </a:ln>
                <a:solidFill>
                  <a:srgbClr val="000000"/>
                </a:solidFill>
                <a:effectLst/>
                <a:uLnTx/>
                <a:uFillTx/>
                <a:latin typeface="Graphik"/>
                <a:ea typeface="+mn-ea"/>
                <a:cs typeface="+mn-cs"/>
              </a:rPr>
              <a:t>Uso del Spring Config Server para la configuración.</a:t>
            </a:r>
          </a:p>
          <a:p>
            <a:pPr marL="171450" indent="-171450" defTabSz="228600">
              <a:spcAft>
                <a:spcPts val="600"/>
              </a:spcAft>
              <a:buFont typeface="Arial" panose="020B0604020202020204" pitchFamily="34" charset="0"/>
              <a:buChar char="•"/>
              <a:defRPr/>
            </a:pPr>
            <a:r>
              <a:rPr kumimoji="0" lang="es" altLang="es-MX" sz="900" b="0" i="0" u="none" strike="noStrike" kern="1200" cap="none" spc="0" normalizeH="0" baseline="0" noProof="0" dirty="0">
                <a:ln>
                  <a:noFill/>
                </a:ln>
                <a:solidFill>
                  <a:srgbClr val="000000"/>
                </a:solidFill>
                <a:effectLst/>
                <a:uLnTx/>
                <a:uFillTx/>
                <a:latin typeface="Graphik"/>
                <a:ea typeface="+mn-ea"/>
                <a:cs typeface="+mn-cs"/>
              </a:rPr>
              <a:t>Todos los microservicios se desarrollan en Java.</a:t>
            </a:r>
          </a:p>
          <a:p>
            <a:pPr marL="171450" indent="-171450" defTabSz="228600">
              <a:spcAft>
                <a:spcPts val="600"/>
              </a:spcAft>
              <a:buFont typeface="Arial" panose="020B0604020202020204" pitchFamily="34" charset="0"/>
              <a:buChar char="•"/>
              <a:defRPr/>
            </a:pPr>
            <a:r>
              <a:rPr kumimoji="0" lang="es" altLang="es-MX" sz="900" b="0" i="0" u="none" strike="noStrike" kern="1200" cap="none" spc="0" normalizeH="0" baseline="0" noProof="0" dirty="0">
                <a:ln>
                  <a:noFill/>
                </a:ln>
                <a:solidFill>
                  <a:srgbClr val="000000"/>
                </a:solidFill>
                <a:effectLst/>
                <a:uLnTx/>
                <a:uFillTx/>
                <a:latin typeface="Graphik"/>
                <a:ea typeface="+mn-ea"/>
                <a:cs typeface="+mn-cs"/>
              </a:rPr>
              <a:t>Se está considerando Python para la capa de datos.</a:t>
            </a:r>
          </a:p>
          <a:p>
            <a:pPr marL="171450" indent="-171450" defTabSz="228600">
              <a:spcAft>
                <a:spcPts val="600"/>
              </a:spcAft>
              <a:buFont typeface="Arial" panose="020B0604020202020204" pitchFamily="34" charset="0"/>
              <a:buChar char="•"/>
              <a:defRPr/>
            </a:pPr>
            <a:r>
              <a:rPr kumimoji="0" lang="es" altLang="es-MX" sz="900" b="0" i="0" u="none" strike="noStrike" kern="1200" cap="none" spc="0" normalizeH="0" baseline="0" noProof="0" dirty="0">
                <a:ln>
                  <a:noFill/>
                </a:ln>
                <a:solidFill>
                  <a:srgbClr val="000000"/>
                </a:solidFill>
                <a:effectLst/>
                <a:uLnTx/>
                <a:uFillTx/>
                <a:latin typeface="Graphik"/>
                <a:ea typeface="+mn-ea"/>
                <a:cs typeface="+mn-cs"/>
              </a:rPr>
              <a:t>Se propone una sesión para alinear ambos marcos (interno y externo), reconociendo que ambos son imperfectos e incompletos.</a:t>
            </a:r>
          </a:p>
          <a:p>
            <a:pPr marL="171450" indent="-171450" defTabSz="228600">
              <a:spcAft>
                <a:spcPts val="600"/>
              </a:spcAft>
              <a:buFont typeface="Arial" panose="020B0604020202020204" pitchFamily="34" charset="0"/>
              <a:buChar char="•"/>
              <a:defRPr/>
            </a:pPr>
            <a:r>
              <a:rPr kumimoji="0" lang="es" altLang="es-MX" sz="900" b="0" i="0" u="none" strike="noStrike" kern="1200" cap="none" spc="0" normalizeH="0" baseline="0" noProof="0" dirty="0">
                <a:ln>
                  <a:noFill/>
                </a:ln>
                <a:solidFill>
                  <a:srgbClr val="000000"/>
                </a:solidFill>
                <a:effectLst/>
                <a:uLnTx/>
                <a:uFillTx/>
                <a:latin typeface="Graphik"/>
                <a:ea typeface="+mn-ea"/>
                <a:cs typeface="+mn-cs"/>
              </a:rPr>
              <a:t>Objetivo: Reducir costes y tiempo en la gestión de vulnerabilidades en microservicios.</a:t>
            </a:r>
          </a:p>
          <a:p>
            <a:pPr marL="171450" indent="-171450" defTabSz="228600">
              <a:spcAft>
                <a:spcPts val="600"/>
              </a:spcAft>
              <a:buFont typeface="Arial" panose="020B0604020202020204" pitchFamily="34" charset="0"/>
              <a:buChar char="•"/>
              <a:defRPr/>
            </a:pPr>
            <a:r>
              <a:rPr kumimoji="0" lang="es" altLang="es-MX" sz="900" b="0" i="0" u="none" strike="noStrike" kern="1200" cap="none" spc="0" normalizeH="0" baseline="0" noProof="0" dirty="0">
                <a:ln>
                  <a:noFill/>
                </a:ln>
                <a:solidFill>
                  <a:srgbClr val="000000"/>
                </a:solidFill>
                <a:effectLst/>
                <a:uLnTx/>
                <a:uFillTx/>
                <a:latin typeface="Graphik"/>
                <a:ea typeface="+mn-ea"/>
                <a:cs typeface="+mn-cs"/>
              </a:rPr>
              <a:t>Complejidad en la gestión manual de alertas.</a:t>
            </a:r>
          </a:p>
          <a:p>
            <a:pPr marL="171450" indent="-171450" defTabSz="228600">
              <a:spcAft>
                <a:spcPts val="600"/>
              </a:spcAft>
              <a:buFont typeface="Arial" panose="020B0604020202020204" pitchFamily="34" charset="0"/>
              <a:buChar char="•"/>
              <a:defRPr/>
            </a:pPr>
            <a:r>
              <a:rPr kumimoji="0" lang="es" altLang="es-MX" sz="900" b="0" i="0" u="none" strike="noStrike" kern="1200" cap="none" spc="0" normalizeH="0" baseline="0" noProof="0" dirty="0">
                <a:ln>
                  <a:noFill/>
                </a:ln>
                <a:solidFill>
                  <a:srgbClr val="000000"/>
                </a:solidFill>
                <a:effectLst/>
                <a:uLnTx/>
                <a:uFillTx/>
                <a:latin typeface="Graphik"/>
                <a:ea typeface="+mn-ea"/>
                <a:cs typeface="+mn-cs"/>
              </a:rPr>
              <a:t>Simplificar los microservicios eliminando librerias innecesarias.</a:t>
            </a:r>
          </a:p>
          <a:p>
            <a:pPr marL="171450" indent="-171450" defTabSz="228600">
              <a:spcAft>
                <a:spcPts val="600"/>
              </a:spcAft>
              <a:buFont typeface="Arial" panose="020B0604020202020204" pitchFamily="34" charset="0"/>
              <a:buChar char="•"/>
              <a:defRPr/>
            </a:pPr>
            <a:r>
              <a:rPr kumimoji="0" lang="es" altLang="es-MX" sz="900" b="0" i="0" u="none" strike="noStrike" kern="1200" cap="none" spc="0" normalizeH="0" baseline="0" noProof="0" dirty="0">
                <a:ln>
                  <a:noFill/>
                </a:ln>
                <a:solidFill>
                  <a:srgbClr val="000000"/>
                </a:solidFill>
                <a:effectLst/>
                <a:uLnTx/>
                <a:uFillTx/>
                <a:latin typeface="Graphik"/>
                <a:ea typeface="+mn-ea"/>
                <a:cs typeface="+mn-cs"/>
              </a:rPr>
              <a:t>Establecer estándares controlados por un equipo central que regule las tecnologías permitidas.</a:t>
            </a:r>
          </a:p>
          <a:p>
            <a:pPr marL="0" marR="0" lvl="0" indent="0" algn="l" defTabSz="228600" rtl="0" eaLnBrk="1" fontAlgn="auto" latinLnBrk="0" hangingPunct="1">
              <a:lnSpc>
                <a:spcPct val="100000"/>
              </a:lnSpc>
              <a:spcBef>
                <a:spcPts val="0"/>
              </a:spcBef>
              <a:spcAft>
                <a:spcPts val="600"/>
              </a:spcAft>
              <a:buClrTx/>
              <a:buSzTx/>
              <a:buFontTx/>
              <a:buNone/>
              <a:tabLst/>
              <a:defRPr/>
            </a:pPr>
            <a:r>
              <a:rPr kumimoji="0" lang="es" altLang="es-MX" sz="900" b="0" i="0" u="none" strike="noStrike" kern="1200" cap="none" spc="0" normalizeH="0" baseline="0" noProof="0" dirty="0">
                <a:ln>
                  <a:noFill/>
                </a:ln>
                <a:solidFill>
                  <a:srgbClr val="000000"/>
                </a:solidFill>
                <a:effectLst/>
                <a:uLnTx/>
                <a:uFillTx/>
                <a:latin typeface="Graphik"/>
                <a:ea typeface="+mn-ea"/>
                <a:cs typeface="+mn-cs"/>
              </a:rPr>
              <a:t>Seguridad específica de microservicios:</a:t>
            </a:r>
          </a:p>
          <a:p>
            <a:pPr marL="171450" lvl="0" indent="-171450" defTabSz="228600">
              <a:spcAft>
                <a:spcPts val="600"/>
              </a:spcAft>
              <a:buFont typeface="Arial" panose="020B0604020202020204" pitchFamily="34" charset="0"/>
              <a:buChar char="•"/>
              <a:defRPr/>
            </a:pPr>
            <a:r>
              <a:rPr kumimoji="0" lang="es" altLang="es-MX" sz="900" b="0" i="0" u="none" strike="noStrike" kern="1200" cap="none" spc="0" normalizeH="0" baseline="0" noProof="0" dirty="0">
                <a:ln>
                  <a:noFill/>
                </a:ln>
                <a:solidFill>
                  <a:srgbClr val="000000"/>
                </a:solidFill>
                <a:effectLst/>
                <a:uLnTx/>
                <a:uFillTx/>
                <a:latin typeface="Graphik"/>
                <a:ea typeface="+mn-ea"/>
                <a:cs typeface="+mn-cs"/>
              </a:rPr>
              <a:t>Evaluación de Service Mesh para validar la validación de </a:t>
            </a:r>
            <a:r>
              <a:rPr lang="es" altLang="es-MX" sz="900" dirty="0">
                <a:solidFill>
                  <a:srgbClr val="000000"/>
                </a:solidFill>
              </a:rPr>
              <a:t>Service Mesh </a:t>
            </a:r>
            <a:r>
              <a:rPr kumimoji="0" lang="es" altLang="es-MX" sz="900" b="0" i="0" u="none" strike="noStrike" kern="1200" cap="none" spc="0" normalizeH="0" baseline="0" noProof="0" dirty="0">
                <a:ln>
                  <a:noFill/>
                </a:ln>
                <a:solidFill>
                  <a:srgbClr val="000000"/>
                </a:solidFill>
                <a:effectLst/>
                <a:uLnTx/>
                <a:uFillTx/>
                <a:latin typeface="Graphik"/>
                <a:ea typeface="+mn-ea"/>
                <a:cs typeface="+mn-cs"/>
              </a:rPr>
              <a:t>para validar la validación de </a:t>
            </a:r>
            <a:r>
              <a:rPr lang="es" altLang="es-MX" sz="900" dirty="0">
                <a:solidFill>
                  <a:srgbClr val="000000"/>
                </a:solidFill>
              </a:rPr>
              <a:t>Service Mesh</a:t>
            </a:r>
            <a:r>
              <a:rPr kumimoji="0" lang="es" altLang="es-MX" sz="900" b="0" i="0" u="none" strike="noStrike" kern="1200" cap="none" spc="0" normalizeH="0" baseline="0" noProof="0" dirty="0">
                <a:ln>
                  <a:noFill/>
                </a:ln>
                <a:solidFill>
                  <a:srgbClr val="000000"/>
                </a:solidFill>
                <a:effectLst/>
                <a:uLnTx/>
                <a:uFillTx/>
                <a:latin typeface="Graphik"/>
                <a:ea typeface="+mn-ea"/>
                <a:cs typeface="+mn-cs"/>
              </a:rPr>
              <a:t>. </a:t>
            </a:r>
          </a:p>
          <a:p>
            <a:pPr marL="171450" marR="0" lvl="0" indent="-1714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altLang="es-MX" sz="900" b="0" i="0" u="none" strike="noStrike" kern="1200" cap="none" spc="0" normalizeH="0" baseline="0" noProof="0" dirty="0">
                <a:ln>
                  <a:noFill/>
                </a:ln>
                <a:solidFill>
                  <a:srgbClr val="000000"/>
                </a:solidFill>
                <a:effectLst/>
                <a:uLnTx/>
                <a:uFillTx/>
                <a:latin typeface="Graphik"/>
                <a:ea typeface="+mn-ea"/>
                <a:cs typeface="+mn-cs"/>
              </a:rPr>
              <a:t>Simplificar los microservicios eliminando </a:t>
            </a:r>
            <a:r>
              <a:rPr lang="es" altLang="es-MX" sz="900" dirty="0">
                <a:solidFill>
                  <a:srgbClr val="000000"/>
                </a:solidFill>
                <a:latin typeface="Graphik"/>
              </a:rPr>
              <a:t>librerias</a:t>
            </a:r>
            <a:r>
              <a:rPr kumimoji="0" lang="es" altLang="es-MX" sz="900" b="0" i="0" u="none" strike="noStrike" kern="1200" cap="none" spc="0" normalizeH="0" baseline="0" noProof="0" dirty="0">
                <a:ln>
                  <a:noFill/>
                </a:ln>
                <a:solidFill>
                  <a:srgbClr val="000000"/>
                </a:solidFill>
                <a:effectLst/>
                <a:uLnTx/>
                <a:uFillTx/>
                <a:latin typeface="Graphik"/>
                <a:ea typeface="+mn-ea"/>
                <a:cs typeface="+mn-cs"/>
              </a:rPr>
              <a:t> innecesarias.</a:t>
            </a:r>
          </a:p>
          <a:p>
            <a:pPr marL="171450" marR="0" lvl="0" indent="-1714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altLang="es-MX" sz="900" b="0" i="0" u="none" strike="noStrike" kern="1200" cap="none" spc="0" normalizeH="0" baseline="0" noProof="0" dirty="0">
                <a:ln>
                  <a:noFill/>
                </a:ln>
                <a:solidFill>
                  <a:srgbClr val="000000"/>
                </a:solidFill>
                <a:effectLst/>
                <a:uLnTx/>
                <a:uFillTx/>
                <a:latin typeface="Graphik"/>
                <a:ea typeface="+mn-ea"/>
                <a:cs typeface="+mn-cs"/>
              </a:rPr>
              <a:t>Establecer estándares controlados por un equipo centralizado que regule las tecnologías permitidas.</a:t>
            </a:r>
          </a:p>
          <a:p>
            <a:pPr marL="171450" lvl="0" indent="-171450" defTabSz="228600">
              <a:spcAft>
                <a:spcPts val="600"/>
              </a:spcAft>
              <a:buFont typeface="Arial" panose="020B0604020202020204" pitchFamily="34" charset="0"/>
              <a:buChar char="•"/>
              <a:defRPr/>
            </a:pPr>
            <a:r>
              <a:rPr kumimoji="0" lang="es" altLang="es-MX" sz="900" b="0" i="0" u="none" strike="noStrike" kern="1200" cap="none" spc="0" normalizeH="0" baseline="0" noProof="0" dirty="0">
                <a:ln>
                  <a:noFill/>
                </a:ln>
                <a:solidFill>
                  <a:srgbClr val="000000"/>
                </a:solidFill>
                <a:effectLst/>
                <a:uLnTx/>
                <a:uFillTx/>
                <a:latin typeface="Graphik"/>
                <a:ea typeface="+mn-ea"/>
                <a:cs typeface="+mn-cs"/>
              </a:rPr>
              <a:t>Seguridad específica de microservicios: Evaluación de </a:t>
            </a:r>
            <a:r>
              <a:rPr lang="es" altLang="es-MX" sz="900" dirty="0">
                <a:solidFill>
                  <a:srgbClr val="000000"/>
                </a:solidFill>
              </a:rPr>
              <a:t>Service Mesh </a:t>
            </a:r>
            <a:r>
              <a:rPr kumimoji="0" lang="es" altLang="es-MX" sz="900" b="0" i="0" u="none" strike="noStrike" kern="1200" cap="none" spc="0" normalizeH="0" baseline="0" noProof="0" dirty="0">
                <a:ln>
                  <a:noFill/>
                </a:ln>
                <a:solidFill>
                  <a:srgbClr val="000000"/>
                </a:solidFill>
                <a:effectLst/>
                <a:uLnTx/>
                <a:uFillTx/>
                <a:latin typeface="Graphik"/>
                <a:ea typeface="+mn-ea"/>
                <a:cs typeface="+mn-cs"/>
              </a:rPr>
              <a:t>para la validación de llamadas a la plataforma (por ejemplo, validación de tokens).</a:t>
            </a:r>
          </a:p>
          <a:p>
            <a:pPr marL="171450" marR="0" lvl="0" indent="-1714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altLang="es-MX" sz="900" b="0" i="0" u="none" strike="noStrike" kern="1200" cap="none" spc="0" normalizeH="0" baseline="0" noProof="0" dirty="0">
                <a:ln>
                  <a:noFill/>
                </a:ln>
                <a:solidFill>
                  <a:srgbClr val="000000"/>
                </a:solidFill>
                <a:effectLst/>
                <a:uLnTx/>
                <a:uFillTx/>
                <a:latin typeface="Graphik"/>
                <a:ea typeface="+mn-ea"/>
                <a:cs typeface="+mn-cs"/>
              </a:rPr>
              <a:t>La cadena de entornos se solicita con su backend correspondiente.</a:t>
            </a:r>
          </a:p>
          <a:p>
            <a:pPr marR="0" lvl="0" algn="l" defTabSz="228600" rtl="0" eaLnBrk="1" fontAlgn="auto" latinLnBrk="0" hangingPunct="1">
              <a:lnSpc>
                <a:spcPct val="100000"/>
              </a:lnSpc>
              <a:spcBef>
                <a:spcPts val="0"/>
              </a:spcBef>
              <a:spcAft>
                <a:spcPts val="600"/>
              </a:spcAft>
              <a:buClrTx/>
              <a:buSzTx/>
              <a:tabLst/>
              <a:defRPr/>
            </a:pPr>
            <a:r>
              <a:rPr kumimoji="0" lang="es" altLang="es-MX" sz="900" b="0" i="0" u="none" strike="noStrike" kern="1200" cap="none" spc="0" normalizeH="0" baseline="0" noProof="0" dirty="0">
                <a:ln>
                  <a:noFill/>
                </a:ln>
                <a:solidFill>
                  <a:srgbClr val="000000"/>
                </a:solidFill>
                <a:effectLst/>
                <a:uLnTx/>
                <a:uFillTx/>
                <a:latin typeface="Graphik"/>
                <a:ea typeface="+mn-ea"/>
                <a:cs typeface="+mn-cs"/>
              </a:rPr>
              <a:t>Gestión de caché: </a:t>
            </a:r>
          </a:p>
          <a:p>
            <a:pPr marL="171450" marR="0" lvl="0" indent="-1714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altLang="es-MX" sz="900" b="0" i="0" u="none" strike="noStrike" kern="1200" cap="none" spc="0" normalizeH="0" baseline="0" noProof="0" dirty="0">
                <a:ln>
                  <a:noFill/>
                </a:ln>
                <a:solidFill>
                  <a:srgbClr val="000000"/>
                </a:solidFill>
                <a:effectLst/>
                <a:uLnTx/>
                <a:uFillTx/>
                <a:latin typeface="Graphik"/>
                <a:ea typeface="+mn-ea"/>
                <a:cs typeface="+mn-cs"/>
              </a:rPr>
              <a:t>Replicación de sesiones entre dominios, probablemente a través de Redis</a:t>
            </a:r>
          </a:p>
        </p:txBody>
      </p:sp>
      <p:grpSp>
        <p:nvGrpSpPr>
          <p:cNvPr id="56" name="Group 55">
            <a:extLst>
              <a:ext uri="{FF2B5EF4-FFF2-40B4-BE49-F238E27FC236}">
                <a16:creationId xmlns:a16="http://schemas.microsoft.com/office/drawing/2014/main" id="{D25339B3-C3E1-AFD9-4435-54BC8039CDCB}"/>
              </a:ext>
            </a:extLst>
          </p:cNvPr>
          <p:cNvGrpSpPr/>
          <p:nvPr/>
        </p:nvGrpSpPr>
        <p:grpSpPr>
          <a:xfrm>
            <a:off x="7096442" y="1977172"/>
            <a:ext cx="755110" cy="249134"/>
            <a:chOff x="2436880" y="1158097"/>
            <a:chExt cx="1080000" cy="360000"/>
          </a:xfrm>
          <a:solidFill>
            <a:schemeClr val="bg1"/>
          </a:solidFill>
        </p:grpSpPr>
        <p:sp>
          <p:nvSpPr>
            <p:cNvPr id="57" name="Rectangle 56">
              <a:extLst>
                <a:ext uri="{FF2B5EF4-FFF2-40B4-BE49-F238E27FC236}">
                  <a16:creationId xmlns:a16="http://schemas.microsoft.com/office/drawing/2014/main" id="{596C2DAD-88A2-8940-BA35-9D1E5EF576EB}"/>
                </a:ext>
              </a:extLst>
            </p:cNvPr>
            <p:cNvSpPr/>
            <p:nvPr/>
          </p:nvSpPr>
          <p:spPr>
            <a:xfrm>
              <a:off x="2436880" y="1158097"/>
              <a:ext cx="1080000" cy="360000"/>
            </a:xfrm>
            <a:prstGeom prst="rect">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OpenShift</a:t>
              </a:r>
            </a:p>
          </p:txBody>
        </p:sp>
        <p:pic>
          <p:nvPicPr>
            <p:cNvPr id="58" name="Picture 57">
              <a:extLst>
                <a:ext uri="{FF2B5EF4-FFF2-40B4-BE49-F238E27FC236}">
                  <a16:creationId xmlns:a16="http://schemas.microsoft.com/office/drawing/2014/main" id="{04074895-D698-AB95-FE52-26ED34121833}"/>
                </a:ext>
              </a:extLst>
            </p:cNvPr>
            <p:cNvPicPr>
              <a:picLocks noChangeAspect="1"/>
            </p:cNvPicPr>
            <p:nvPr/>
          </p:nvPicPr>
          <p:blipFill>
            <a:blip r:embed="rId6"/>
            <a:stretch>
              <a:fillRect/>
            </a:stretch>
          </p:blipFill>
          <p:spPr>
            <a:xfrm>
              <a:off x="2470229" y="1215368"/>
              <a:ext cx="1013303" cy="245459"/>
            </a:xfrm>
            <a:prstGeom prst="rect">
              <a:avLst/>
            </a:prstGeom>
            <a:grpFill/>
          </p:spPr>
        </p:pic>
      </p:grpSp>
      <p:grpSp>
        <p:nvGrpSpPr>
          <p:cNvPr id="59" name="Group 58">
            <a:extLst>
              <a:ext uri="{FF2B5EF4-FFF2-40B4-BE49-F238E27FC236}">
                <a16:creationId xmlns:a16="http://schemas.microsoft.com/office/drawing/2014/main" id="{31FAE22D-ACD1-96D3-10AC-78C3C900560C}"/>
              </a:ext>
            </a:extLst>
          </p:cNvPr>
          <p:cNvGrpSpPr/>
          <p:nvPr/>
        </p:nvGrpSpPr>
        <p:grpSpPr>
          <a:xfrm>
            <a:off x="7058105" y="5939535"/>
            <a:ext cx="755700" cy="211805"/>
            <a:chOff x="8249165" y="5550262"/>
            <a:chExt cx="1080000" cy="360000"/>
          </a:xfrm>
        </p:grpSpPr>
        <p:sp>
          <p:nvSpPr>
            <p:cNvPr id="60" name="Rectangle 59">
              <a:extLst>
                <a:ext uri="{FF2B5EF4-FFF2-40B4-BE49-F238E27FC236}">
                  <a16:creationId xmlns:a16="http://schemas.microsoft.com/office/drawing/2014/main" id="{92F49B55-2774-558D-1494-D6C66D52D044}"/>
                </a:ext>
              </a:extLst>
            </p:cNvPr>
            <p:cNvSpPr/>
            <p:nvPr/>
          </p:nvSpPr>
          <p:spPr>
            <a:xfrm>
              <a:off x="8249165" y="5550262"/>
              <a:ext cx="1080000" cy="36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Graphik"/>
                <a:ea typeface="+mn-ea"/>
                <a:cs typeface="+mn-cs"/>
              </a:endParaRPr>
            </a:p>
          </p:txBody>
        </p:sp>
        <p:pic>
          <p:nvPicPr>
            <p:cNvPr id="61" name="Picture 60">
              <a:extLst>
                <a:ext uri="{FF2B5EF4-FFF2-40B4-BE49-F238E27FC236}">
                  <a16:creationId xmlns:a16="http://schemas.microsoft.com/office/drawing/2014/main" id="{7D0F61A6-26B9-0E6B-78FA-C04A0BF3756B}"/>
                </a:ext>
              </a:extLst>
            </p:cNvPr>
            <p:cNvPicPr>
              <a:picLocks noChangeAspect="1"/>
            </p:cNvPicPr>
            <p:nvPr/>
          </p:nvPicPr>
          <p:blipFill>
            <a:blip r:embed="rId7"/>
            <a:stretch>
              <a:fillRect/>
            </a:stretch>
          </p:blipFill>
          <p:spPr>
            <a:xfrm>
              <a:off x="8339165" y="5577002"/>
              <a:ext cx="900000" cy="306521"/>
            </a:xfrm>
            <a:prstGeom prst="rect">
              <a:avLst/>
            </a:prstGeom>
          </p:spPr>
        </p:pic>
      </p:grpSp>
    </p:spTree>
    <p:extLst>
      <p:ext uri="{BB962C8B-B14F-4D97-AF65-F5344CB8AC3E}">
        <p14:creationId xmlns:p14="http://schemas.microsoft.com/office/powerpoint/2010/main" val="37875367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68DF4B-2253-FE73-971C-1BFE2D00581F}"/>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4B116424-A229-D100-8334-D13B1B214F2F}"/>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alpha val="65000"/>
                  </a:srgbClr>
                </a:solidFill>
                <a:effectLst/>
                <a:uLnTx/>
                <a:uFillTx/>
                <a:latin typeface="Graphik"/>
                <a:ea typeface="+mn-ea"/>
                <a:cs typeface="+mn-cs"/>
              </a:rPr>
              <a:t>Copyright © 2025 Accenture. Todos los derechos reservados.</a:t>
            </a:r>
          </a:p>
        </p:txBody>
      </p:sp>
      <p:sp>
        <p:nvSpPr>
          <p:cNvPr id="118" name="Title 1">
            <a:extLst>
              <a:ext uri="{FF2B5EF4-FFF2-40B4-BE49-F238E27FC236}">
                <a16:creationId xmlns:a16="http://schemas.microsoft.com/office/drawing/2014/main" id="{54048166-4748-AF27-8EF7-1A61B13D712F}"/>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a:ln>
                  <a:noFill/>
                </a:ln>
                <a:solidFill>
                  <a:srgbClr val="7500C0"/>
                </a:solidFill>
                <a:effectLst/>
                <a:uLnTx/>
                <a:uFillTx/>
                <a:latin typeface="Graphik"/>
                <a:ea typeface="+mj-ea"/>
                <a:cs typeface="+mj-cs"/>
              </a:rPr>
              <a:t>Activo de Interoperabilidad </a:t>
            </a:r>
            <a:r>
              <a:rPr kumimoji="0" lang="es" sz="2400" b="1" i="0" u="none" strike="noStrike" kern="1200" cap="none" spc="0" normalizeH="0" baseline="0" noProof="0">
                <a:ln>
                  <a:noFill/>
                </a:ln>
                <a:solidFill>
                  <a:srgbClr val="000000"/>
                </a:solidFill>
                <a:effectLst/>
                <a:uLnTx/>
                <a:uFillTx/>
                <a:latin typeface="Graphik"/>
                <a:ea typeface="+mj-ea"/>
                <a:cs typeface="+mj-cs"/>
              </a:rPr>
              <a:t>| </a:t>
            </a:r>
            <a:r>
              <a:rPr kumimoji="0" lang="es" sz="2000" b="1" i="0" u="none" strike="noStrike" kern="1200" cap="none" spc="0" normalizeH="0" baseline="0" noProof="0">
                <a:ln>
                  <a:noFill/>
                </a:ln>
                <a:solidFill>
                  <a:srgbClr val="000000"/>
                </a:solidFill>
                <a:effectLst/>
                <a:uLnTx/>
                <a:uFillTx/>
                <a:latin typeface="Graphik"/>
                <a:ea typeface="+mj-ea"/>
                <a:cs typeface="+mj-cs"/>
              </a:rPr>
              <a:t>Infraestructura</a:t>
            </a:r>
            <a:endParaRPr kumimoji="0" lang="es" sz="2400" b="1" i="0" u="none" strike="noStrike" kern="1200" cap="none" spc="0" normalizeH="0" baseline="0" noProof="0">
              <a:ln>
                <a:noFill/>
              </a:ln>
              <a:solidFill>
                <a:srgbClr val="000000"/>
              </a:solidFill>
              <a:effectLst/>
              <a:uLnTx/>
              <a:uFillTx/>
              <a:latin typeface="Graphik"/>
              <a:ea typeface="+mj-ea"/>
              <a:cs typeface="+mj-cs"/>
            </a:endParaRPr>
          </a:p>
        </p:txBody>
      </p:sp>
      <p:sp>
        <p:nvSpPr>
          <p:cNvPr id="119" name="Content Placeholder 34">
            <a:extLst>
              <a:ext uri="{FF2B5EF4-FFF2-40B4-BE49-F238E27FC236}">
                <a16:creationId xmlns:a16="http://schemas.microsoft.com/office/drawing/2014/main" id="{180343EF-A6D3-FF00-CA58-CE07501DABA3}"/>
              </a:ext>
            </a:extLst>
          </p:cNvPr>
          <p:cNvSpPr txBox="1">
            <a:spLocks/>
          </p:cNvSpPr>
          <p:nvPr/>
        </p:nvSpPr>
        <p:spPr>
          <a:xfrm>
            <a:off x="285990" y="641993"/>
            <a:ext cx="11430000" cy="246221"/>
          </a:xfrm>
          <a:prstGeom prst="rect">
            <a:avLst/>
          </a:prstGeom>
        </p:spPr>
        <p:txBody>
          <a:bodyPr/>
          <a:lstStyle>
            <a:lvl1pPr marL="228600" indent="-228600" algn="l" defTabSz="228600" rtl="0" eaLnBrk="1" latinLnBrk="0" hangingPunct="1">
              <a:lnSpc>
                <a:spcPct val="100000"/>
              </a:lnSpc>
              <a:spcBef>
                <a:spcPts val="0"/>
              </a:spcBef>
              <a:spcAft>
                <a:spcPts val="600"/>
              </a:spcAft>
              <a:buFont typeface="Arial"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Arial"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Arial"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Arial"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Arial"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Arial" panose="020B0604020202020204" pitchFamily="34" charset="0"/>
              <a:buNone/>
              <a:defRPr sz="800" kern="1200">
                <a:solidFill>
                  <a:schemeClr val="tx2"/>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s" sz="1600" b="1" i="0" u="none" strike="noStrike" kern="1200" cap="none" spc="0" normalizeH="0" baseline="0" noProof="0">
                <a:ln>
                  <a:noFill/>
                </a:ln>
                <a:solidFill>
                  <a:srgbClr val="7500C0"/>
                </a:solidFill>
                <a:effectLst/>
                <a:uLnTx/>
                <a:uFillTx/>
                <a:latin typeface="Graphik" panose="020B0503030202060203" pitchFamily="34" charset="0"/>
                <a:ea typeface="+mn-ea"/>
                <a:cs typeface="+mn-cs"/>
              </a:rPr>
              <a:t>Ingeniería del Caos (Resiliencia)</a:t>
            </a:r>
          </a:p>
        </p:txBody>
      </p:sp>
      <p:grpSp>
        <p:nvGrpSpPr>
          <p:cNvPr id="4" name="Group 3">
            <a:extLst>
              <a:ext uri="{FF2B5EF4-FFF2-40B4-BE49-F238E27FC236}">
                <a16:creationId xmlns:a16="http://schemas.microsoft.com/office/drawing/2014/main" id="{3BC83473-6373-0030-DE11-85C4E3059709}"/>
              </a:ext>
            </a:extLst>
          </p:cNvPr>
          <p:cNvGrpSpPr/>
          <p:nvPr/>
        </p:nvGrpSpPr>
        <p:grpSpPr>
          <a:xfrm>
            <a:off x="9914018" y="286451"/>
            <a:ext cx="1862854" cy="253275"/>
            <a:chOff x="9929190" y="421028"/>
            <a:chExt cx="1862854" cy="253275"/>
          </a:xfrm>
        </p:grpSpPr>
        <p:sp>
          <p:nvSpPr>
            <p:cNvPr id="5" name="TextBox 4">
              <a:extLst>
                <a:ext uri="{FF2B5EF4-FFF2-40B4-BE49-F238E27FC236}">
                  <a16:creationId xmlns:a16="http://schemas.microsoft.com/office/drawing/2014/main" id="{9092CE9D-9691-3D2D-B161-B656E2C3E979}"/>
                </a:ext>
              </a:extLst>
            </p:cNvPr>
            <p:cNvSpPr txBox="1"/>
            <p:nvPr/>
          </p:nvSpPr>
          <p:spPr>
            <a:xfrm>
              <a:off x="9936972" y="460821"/>
              <a:ext cx="1847290" cy="173690"/>
            </a:xfrm>
            <a:prstGeom prst="rect">
              <a:avLst/>
            </a:prstGeom>
            <a:noFill/>
          </p:spPr>
          <p:txBody>
            <a:bodyPr wrap="none" lIns="0" tIns="0" rIns="0" bIns="0" rtlCol="0">
              <a:noAutofit/>
            </a:bodyPr>
            <a:lstStyle/>
            <a:p>
              <a:pPr marL="0" marR="0" lvl="0" indent="0" algn="l" defTabSz="228600" rtl="0" eaLnBrk="1" fontAlgn="auto" latinLnBrk="0" hangingPunct="1">
                <a:lnSpc>
                  <a:spcPct val="100000"/>
                </a:lnSpc>
                <a:spcBef>
                  <a:spcPts val="0"/>
                </a:spcBef>
                <a:spcAft>
                  <a:spcPts val="1200"/>
                </a:spcAft>
                <a:buClrTx/>
                <a:buSzTx/>
                <a:buFontTx/>
                <a:buNone/>
                <a:tabLst/>
                <a:defRPr/>
              </a:pPr>
              <a:r>
                <a:rPr kumimoji="0" lang="es" sz="1100" b="0" i="0" u="none" strike="noStrike" kern="1200" cap="none" spc="0" normalizeH="0" baseline="0" noProof="0">
                  <a:ln>
                    <a:noFill/>
                  </a:ln>
                  <a:solidFill>
                    <a:srgbClr val="000000"/>
                  </a:solidFill>
                  <a:effectLst/>
                  <a:uLnTx/>
                  <a:uFillTx/>
                  <a:latin typeface="Graphik"/>
                  <a:ea typeface="+mn-ea"/>
                  <a:cs typeface="+mn-cs"/>
                </a:rPr>
                <a:t>Ilustrativo no exhaustivo</a:t>
              </a:r>
            </a:p>
          </p:txBody>
        </p:sp>
        <p:cxnSp>
          <p:nvCxnSpPr>
            <p:cNvPr id="6" name="Straight Connector 5">
              <a:extLst>
                <a:ext uri="{FF2B5EF4-FFF2-40B4-BE49-F238E27FC236}">
                  <a16:creationId xmlns:a16="http://schemas.microsoft.com/office/drawing/2014/main" id="{F736D912-2771-6CFA-4BDB-315A1E7F72DF}"/>
                </a:ext>
              </a:extLst>
            </p:cNvPr>
            <p:cNvCxnSpPr>
              <a:cxnSpLocks/>
            </p:cNvCxnSpPr>
            <p:nvPr/>
          </p:nvCxnSpPr>
          <p:spPr>
            <a:xfrm>
              <a:off x="9929190" y="421028"/>
              <a:ext cx="186285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533DF0C1-6B68-B954-4BB7-80D2B8A28882}"/>
                </a:ext>
              </a:extLst>
            </p:cNvPr>
            <p:cNvCxnSpPr>
              <a:cxnSpLocks/>
            </p:cNvCxnSpPr>
            <p:nvPr/>
          </p:nvCxnSpPr>
          <p:spPr>
            <a:xfrm>
              <a:off x="9929190" y="674303"/>
              <a:ext cx="186285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8" name="TextBox 7">
            <a:extLst>
              <a:ext uri="{FF2B5EF4-FFF2-40B4-BE49-F238E27FC236}">
                <a16:creationId xmlns:a16="http://schemas.microsoft.com/office/drawing/2014/main" id="{8FF46798-F3F5-6962-1BB6-5E6579D9A3BD}"/>
              </a:ext>
            </a:extLst>
          </p:cNvPr>
          <p:cNvSpPr txBox="1"/>
          <p:nvPr/>
        </p:nvSpPr>
        <p:spPr>
          <a:xfrm>
            <a:off x="958850" y="2459379"/>
            <a:ext cx="5652135" cy="3441065"/>
          </a:xfrm>
          <a:prstGeom prst="rect">
            <a:avLst/>
          </a:prstGeom>
          <a:noFill/>
          <a:ln>
            <a:solidFill>
              <a:schemeClr val="accent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algn="ctr">
              <a:defRPr sz="900"/>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a:ln>
                <a:noFill/>
              </a:ln>
              <a:solidFill>
                <a:srgbClr val="000000"/>
              </a:solidFill>
              <a:effectLst/>
              <a:uLnTx/>
              <a:uFillTx/>
              <a:latin typeface="Graphik"/>
              <a:ea typeface="+mn-ea"/>
              <a:cs typeface="+mn-cs"/>
            </a:endParaRPr>
          </a:p>
        </p:txBody>
      </p:sp>
      <p:sp>
        <p:nvSpPr>
          <p:cNvPr id="9" name="Rectangle 8">
            <a:extLst>
              <a:ext uri="{FF2B5EF4-FFF2-40B4-BE49-F238E27FC236}">
                <a16:creationId xmlns:a16="http://schemas.microsoft.com/office/drawing/2014/main" id="{352604D8-63E0-73B0-5E8E-2E41C77829F7}"/>
              </a:ext>
            </a:extLst>
          </p:cNvPr>
          <p:cNvSpPr/>
          <p:nvPr/>
        </p:nvSpPr>
        <p:spPr>
          <a:xfrm>
            <a:off x="8969375" y="1202714"/>
            <a:ext cx="2790825" cy="222885"/>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Componentes principales de esta capacidad</a:t>
            </a:r>
          </a:p>
        </p:txBody>
      </p:sp>
      <p:sp>
        <p:nvSpPr>
          <p:cNvPr id="10" name="Rectangle 9">
            <a:extLst>
              <a:ext uri="{FF2B5EF4-FFF2-40B4-BE49-F238E27FC236}">
                <a16:creationId xmlns:a16="http://schemas.microsoft.com/office/drawing/2014/main" id="{DCB3EA95-E42C-33B9-86F7-FC93F5F6B65C}"/>
              </a:ext>
            </a:extLst>
          </p:cNvPr>
          <p:cNvSpPr/>
          <p:nvPr/>
        </p:nvSpPr>
        <p:spPr>
          <a:xfrm>
            <a:off x="8969375" y="1456079"/>
            <a:ext cx="2790825" cy="222885"/>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Componentes de otras capacidades relacionadas</a:t>
            </a:r>
          </a:p>
        </p:txBody>
      </p:sp>
      <p:sp>
        <p:nvSpPr>
          <p:cNvPr id="11" name="Rectangle 10">
            <a:extLst>
              <a:ext uri="{FF2B5EF4-FFF2-40B4-BE49-F238E27FC236}">
                <a16:creationId xmlns:a16="http://schemas.microsoft.com/office/drawing/2014/main" id="{4CD48314-FC2E-1AEC-A804-C3505378C0CF}"/>
              </a:ext>
            </a:extLst>
          </p:cNvPr>
          <p:cNvSpPr/>
          <p:nvPr/>
        </p:nvSpPr>
        <p:spPr>
          <a:xfrm>
            <a:off x="8969375" y="1701189"/>
            <a:ext cx="2790825" cy="222885"/>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Componentes funcionales relacionados con esta capacidad</a:t>
            </a:r>
          </a:p>
        </p:txBody>
      </p:sp>
      <p:sp>
        <p:nvSpPr>
          <p:cNvPr id="12" name="Rectangle 11">
            <a:extLst>
              <a:ext uri="{FF2B5EF4-FFF2-40B4-BE49-F238E27FC236}">
                <a16:creationId xmlns:a16="http://schemas.microsoft.com/office/drawing/2014/main" id="{B010A385-2A2C-02E7-FF54-E2D1AFAF7C9A}"/>
              </a:ext>
            </a:extLst>
          </p:cNvPr>
          <p:cNvSpPr/>
          <p:nvPr/>
        </p:nvSpPr>
        <p:spPr>
          <a:xfrm>
            <a:off x="1143635" y="2753384"/>
            <a:ext cx="4132580" cy="29083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Chaos Monkey</a:t>
            </a:r>
          </a:p>
        </p:txBody>
      </p:sp>
      <p:sp>
        <p:nvSpPr>
          <p:cNvPr id="13" name="Rectangle: Rounded Corners 55">
            <a:extLst>
              <a:ext uri="{FF2B5EF4-FFF2-40B4-BE49-F238E27FC236}">
                <a16:creationId xmlns:a16="http://schemas.microsoft.com/office/drawing/2014/main" id="{7EB26394-8A71-5FF0-065A-6F56B1515255}"/>
              </a:ext>
            </a:extLst>
          </p:cNvPr>
          <p:cNvSpPr/>
          <p:nvPr/>
        </p:nvSpPr>
        <p:spPr>
          <a:xfrm>
            <a:off x="6850184" y="2898706"/>
            <a:ext cx="1581391" cy="2394691"/>
          </a:xfrm>
          <a:prstGeom prst="round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Graphik"/>
              <a:ea typeface="+mn-ea"/>
              <a:cs typeface="+mn-cs"/>
            </a:endParaRPr>
          </a:p>
        </p:txBody>
      </p:sp>
      <p:sp>
        <p:nvSpPr>
          <p:cNvPr id="14" name="Can 172">
            <a:extLst>
              <a:ext uri="{FF2B5EF4-FFF2-40B4-BE49-F238E27FC236}">
                <a16:creationId xmlns:a16="http://schemas.microsoft.com/office/drawing/2014/main" id="{BDF8D74C-C926-0D58-D8EB-F9BF4A56F8DA}"/>
              </a:ext>
            </a:extLst>
          </p:cNvPr>
          <p:cNvSpPr/>
          <p:nvPr/>
        </p:nvSpPr>
        <p:spPr bwMode="auto">
          <a:xfrm>
            <a:off x="346042" y="2409582"/>
            <a:ext cx="291475" cy="3541500"/>
          </a:xfrm>
          <a:prstGeom prst="can">
            <a:avLst>
              <a:gd name="adj" fmla="val 59089"/>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Orquestación</a:t>
            </a:r>
          </a:p>
        </p:txBody>
      </p:sp>
      <p:sp>
        <p:nvSpPr>
          <p:cNvPr id="15" name="Rectangle: Rounded Corners 55">
            <a:extLst>
              <a:ext uri="{FF2B5EF4-FFF2-40B4-BE49-F238E27FC236}">
                <a16:creationId xmlns:a16="http://schemas.microsoft.com/office/drawing/2014/main" id="{5FB8204C-D04D-4E88-BB41-FF90F328F344}"/>
              </a:ext>
            </a:extLst>
          </p:cNvPr>
          <p:cNvSpPr/>
          <p:nvPr/>
        </p:nvSpPr>
        <p:spPr>
          <a:xfrm>
            <a:off x="6834505" y="2548279"/>
            <a:ext cx="1451610" cy="350520"/>
          </a:xfrm>
          <a:prstGeom prst="roundRect">
            <a:avLst/>
          </a:prstGeom>
          <a:solidFill>
            <a:srgbClr val="92D050"/>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sym typeface="+mn-ea"/>
              </a:rPr>
              <a:t>Infra to Test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sym typeface="+mn-ea"/>
              </a:rPr>
              <a:t>(QA - SIT - UAT)</a:t>
            </a:r>
            <a:endParaRPr kumimoji="0" lang="en-US" sz="900" b="0" i="0" u="none" strike="noStrike" kern="1200" cap="none" spc="0" normalizeH="0" baseline="0" noProof="0" dirty="0">
              <a:ln>
                <a:noFill/>
              </a:ln>
              <a:solidFill>
                <a:srgbClr val="000000"/>
              </a:solidFill>
              <a:effectLst/>
              <a:uLnTx/>
              <a:uFillTx/>
              <a:latin typeface="Graphik"/>
              <a:ea typeface="+mn-ea"/>
              <a:cs typeface="+mn-cs"/>
            </a:endParaRPr>
          </a:p>
        </p:txBody>
      </p:sp>
      <p:sp>
        <p:nvSpPr>
          <p:cNvPr id="16" name="TextBox 15">
            <a:extLst>
              <a:ext uri="{FF2B5EF4-FFF2-40B4-BE49-F238E27FC236}">
                <a16:creationId xmlns:a16="http://schemas.microsoft.com/office/drawing/2014/main" id="{F5C293DC-0921-9D12-44B9-CF3B1955CA6C}"/>
              </a:ext>
            </a:extLst>
          </p:cNvPr>
          <p:cNvSpPr txBox="1"/>
          <p:nvPr/>
        </p:nvSpPr>
        <p:spPr>
          <a:xfrm>
            <a:off x="8159884" y="3254065"/>
            <a:ext cx="0" cy="0"/>
          </a:xfrm>
          <a:prstGeom prst="rect">
            <a:avLst/>
          </a:prstGeom>
          <a:noFill/>
        </p:spPr>
        <p:txBody>
          <a:bodyPr wrap="none" lIns="0" tIns="0" rIns="0" bIns="0" rtlCol="0">
            <a:noAutofit/>
          </a:bodyPr>
          <a:lstStyle/>
          <a:p>
            <a:pPr marL="0" marR="0" lvl="0" indent="0" algn="l" defTabSz="228600" rtl="0" eaLnBrk="1" fontAlgn="auto" latinLnBrk="0" hangingPunct="1">
              <a:lnSpc>
                <a:spcPct val="100000"/>
              </a:lnSpc>
              <a:spcBef>
                <a:spcPts val="0"/>
              </a:spcBef>
              <a:spcAft>
                <a:spcPts val="1200"/>
              </a:spcAft>
              <a:buClrTx/>
              <a:buSzTx/>
              <a:buFontTx/>
              <a:buNone/>
              <a:tabLst/>
              <a:defRPr/>
            </a:pPr>
            <a:endParaRPr kumimoji="0" lang="es-ES_tradnl" sz="1800" b="0" i="0" u="none" strike="noStrike" kern="1200" cap="none" spc="0" normalizeH="0" baseline="0" noProof="0">
              <a:ln>
                <a:noFill/>
              </a:ln>
              <a:solidFill>
                <a:srgbClr val="000000"/>
              </a:solidFill>
              <a:effectLst/>
              <a:uLnTx/>
              <a:uFillTx/>
              <a:latin typeface="Graphik"/>
              <a:ea typeface="+mn-ea"/>
              <a:cs typeface="+mn-cs"/>
            </a:endParaRPr>
          </a:p>
        </p:txBody>
      </p:sp>
      <p:sp>
        <p:nvSpPr>
          <p:cNvPr id="17" name="Rectangle: Rounded Corners 55">
            <a:extLst>
              <a:ext uri="{FF2B5EF4-FFF2-40B4-BE49-F238E27FC236}">
                <a16:creationId xmlns:a16="http://schemas.microsoft.com/office/drawing/2014/main" id="{56353938-A7BA-BA31-0239-697562BFA681}"/>
              </a:ext>
            </a:extLst>
          </p:cNvPr>
          <p:cNvSpPr/>
          <p:nvPr/>
        </p:nvSpPr>
        <p:spPr>
          <a:xfrm>
            <a:off x="7412597" y="3033275"/>
            <a:ext cx="944638" cy="290618"/>
          </a:xfrm>
          <a:prstGeom prst="round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API Gateway</a:t>
            </a:r>
          </a:p>
        </p:txBody>
      </p:sp>
      <p:sp>
        <p:nvSpPr>
          <p:cNvPr id="18" name="Rectangle: Rounded Corners 55">
            <a:extLst>
              <a:ext uri="{FF2B5EF4-FFF2-40B4-BE49-F238E27FC236}">
                <a16:creationId xmlns:a16="http://schemas.microsoft.com/office/drawing/2014/main" id="{C55BBDB0-C5C7-5202-7586-7B3DD8829CA2}"/>
              </a:ext>
            </a:extLst>
          </p:cNvPr>
          <p:cNvSpPr/>
          <p:nvPr/>
        </p:nvSpPr>
        <p:spPr>
          <a:xfrm>
            <a:off x="7412597" y="3454745"/>
            <a:ext cx="944638" cy="290618"/>
          </a:xfrm>
          <a:prstGeom prst="round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Microservicios</a:t>
            </a:r>
          </a:p>
        </p:txBody>
      </p:sp>
      <p:sp>
        <p:nvSpPr>
          <p:cNvPr id="19" name="Rectangle: Rounded Corners 55">
            <a:extLst>
              <a:ext uri="{FF2B5EF4-FFF2-40B4-BE49-F238E27FC236}">
                <a16:creationId xmlns:a16="http://schemas.microsoft.com/office/drawing/2014/main" id="{6019D8E9-0F18-D3B6-9622-76C426D04B06}"/>
              </a:ext>
            </a:extLst>
          </p:cNvPr>
          <p:cNvSpPr/>
          <p:nvPr/>
        </p:nvSpPr>
        <p:spPr>
          <a:xfrm>
            <a:off x="7412596" y="3876215"/>
            <a:ext cx="944639" cy="290618"/>
          </a:xfrm>
          <a:prstGeom prst="round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DATOS</a:t>
            </a:r>
          </a:p>
        </p:txBody>
      </p:sp>
      <p:sp>
        <p:nvSpPr>
          <p:cNvPr id="20" name="Rectangle: Rounded Corners 55">
            <a:extLst>
              <a:ext uri="{FF2B5EF4-FFF2-40B4-BE49-F238E27FC236}">
                <a16:creationId xmlns:a16="http://schemas.microsoft.com/office/drawing/2014/main" id="{7D408E33-8A68-4FAA-C7A1-023632F88642}"/>
              </a:ext>
            </a:extLst>
          </p:cNvPr>
          <p:cNvSpPr/>
          <p:nvPr/>
        </p:nvSpPr>
        <p:spPr>
          <a:xfrm>
            <a:off x="7425004" y="4301366"/>
            <a:ext cx="944639" cy="290618"/>
          </a:xfrm>
          <a:prstGeom prst="round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Gestor de transacciones</a:t>
            </a:r>
          </a:p>
        </p:txBody>
      </p:sp>
      <p:sp>
        <p:nvSpPr>
          <p:cNvPr id="21" name="Rectangle: Rounded Corners 55">
            <a:extLst>
              <a:ext uri="{FF2B5EF4-FFF2-40B4-BE49-F238E27FC236}">
                <a16:creationId xmlns:a16="http://schemas.microsoft.com/office/drawing/2014/main" id="{0EDCC90C-A248-9924-D9B3-F624A172A368}"/>
              </a:ext>
            </a:extLst>
          </p:cNvPr>
          <p:cNvSpPr/>
          <p:nvPr/>
        </p:nvSpPr>
        <p:spPr>
          <a:xfrm>
            <a:off x="7425004" y="4726517"/>
            <a:ext cx="944639" cy="290618"/>
          </a:xfrm>
          <a:prstGeom prst="round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Cualquier Infra</a:t>
            </a:r>
          </a:p>
        </p:txBody>
      </p:sp>
      <p:sp>
        <p:nvSpPr>
          <p:cNvPr id="22" name="Rectangle 21">
            <a:extLst>
              <a:ext uri="{FF2B5EF4-FFF2-40B4-BE49-F238E27FC236}">
                <a16:creationId xmlns:a16="http://schemas.microsoft.com/office/drawing/2014/main" id="{73D6EE55-BB48-7156-FAEF-6BF6166DA216}"/>
              </a:ext>
            </a:extLst>
          </p:cNvPr>
          <p:cNvSpPr/>
          <p:nvPr/>
        </p:nvSpPr>
        <p:spPr>
          <a:xfrm>
            <a:off x="1143635" y="4820944"/>
            <a:ext cx="4133215" cy="29083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Conformidad  de Monkey </a:t>
            </a:r>
          </a:p>
        </p:txBody>
      </p:sp>
      <p:cxnSp>
        <p:nvCxnSpPr>
          <p:cNvPr id="23" name="Connector: Elbow 124">
            <a:extLst>
              <a:ext uri="{FF2B5EF4-FFF2-40B4-BE49-F238E27FC236}">
                <a16:creationId xmlns:a16="http://schemas.microsoft.com/office/drawing/2014/main" id="{514F2ABD-1B3C-C9C1-A6FA-55B584087C24}"/>
              </a:ext>
            </a:extLst>
          </p:cNvPr>
          <p:cNvCxnSpPr>
            <a:stCxn id="14" idx="4"/>
            <a:endCxn id="12" idx="1"/>
          </p:cNvCxnSpPr>
          <p:nvPr/>
        </p:nvCxnSpPr>
        <p:spPr>
          <a:xfrm flipV="1">
            <a:off x="637540" y="2898799"/>
            <a:ext cx="506095" cy="1282065"/>
          </a:xfrm>
          <a:prstGeom prst="bentConnector3">
            <a:avLst>
              <a:gd name="adj1" fmla="val 50063"/>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24" name="Connector: Elbow 124">
            <a:extLst>
              <a:ext uri="{FF2B5EF4-FFF2-40B4-BE49-F238E27FC236}">
                <a16:creationId xmlns:a16="http://schemas.microsoft.com/office/drawing/2014/main" id="{DA1C1240-E836-69AC-F3C6-65E48C774ADB}"/>
              </a:ext>
            </a:extLst>
          </p:cNvPr>
          <p:cNvCxnSpPr>
            <a:cxnSpLocks/>
            <a:stCxn id="12" idx="3"/>
            <a:endCxn id="13" idx="1"/>
          </p:cNvCxnSpPr>
          <p:nvPr/>
        </p:nvCxnSpPr>
        <p:spPr>
          <a:xfrm>
            <a:off x="5276215" y="2898799"/>
            <a:ext cx="1573969" cy="1197253"/>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25" name="Rectangle: Rounded Corners 55">
            <a:extLst>
              <a:ext uri="{FF2B5EF4-FFF2-40B4-BE49-F238E27FC236}">
                <a16:creationId xmlns:a16="http://schemas.microsoft.com/office/drawing/2014/main" id="{62C99CAB-AB54-6BEF-1B59-0C60EBC20018}"/>
              </a:ext>
            </a:extLst>
          </p:cNvPr>
          <p:cNvSpPr/>
          <p:nvPr/>
        </p:nvSpPr>
        <p:spPr>
          <a:xfrm>
            <a:off x="3704118" y="3249718"/>
            <a:ext cx="1572126" cy="711447"/>
          </a:xfrm>
          <a:prstGeom prst="round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Panel de Control de Monkey Chaos</a:t>
            </a:r>
          </a:p>
        </p:txBody>
      </p:sp>
      <p:sp>
        <p:nvSpPr>
          <p:cNvPr id="26" name="Rectangle: Rounded Corners 55">
            <a:extLst>
              <a:ext uri="{FF2B5EF4-FFF2-40B4-BE49-F238E27FC236}">
                <a16:creationId xmlns:a16="http://schemas.microsoft.com/office/drawing/2014/main" id="{9C849996-CBE1-F0E6-5F01-11418456D5DE}"/>
              </a:ext>
            </a:extLst>
          </p:cNvPr>
          <p:cNvSpPr/>
          <p:nvPr/>
        </p:nvSpPr>
        <p:spPr>
          <a:xfrm>
            <a:off x="1360971" y="3254010"/>
            <a:ext cx="1572126" cy="711447"/>
          </a:xfrm>
          <a:prstGeom prst="round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Sistema de Monitorización </a:t>
            </a:r>
            <a:r>
              <a:rPr lang="es" sz="900" dirty="0">
                <a:solidFill>
                  <a:srgbClr val="000000"/>
                </a:solidFill>
                <a:latin typeface="Graphik"/>
              </a:rPr>
              <a:t>en</a:t>
            </a:r>
            <a:r>
              <a:rPr kumimoji="0" lang="es" sz="900" b="0" i="0" u="none" strike="noStrike" kern="1200" cap="none" spc="0" normalizeH="0" baseline="0" noProof="0" dirty="0">
                <a:ln>
                  <a:noFill/>
                </a:ln>
                <a:solidFill>
                  <a:srgbClr val="000000"/>
                </a:solidFill>
                <a:effectLst/>
                <a:uLnTx/>
                <a:uFillTx/>
                <a:latin typeface="Graphik"/>
                <a:ea typeface="+mn-ea"/>
                <a:cs typeface="+mn-cs"/>
              </a:rPr>
              <a:t> Tiempo Real o Tiempo Casi Real</a:t>
            </a:r>
          </a:p>
        </p:txBody>
      </p:sp>
      <p:sp>
        <p:nvSpPr>
          <p:cNvPr id="27" name="Can 172">
            <a:extLst>
              <a:ext uri="{FF2B5EF4-FFF2-40B4-BE49-F238E27FC236}">
                <a16:creationId xmlns:a16="http://schemas.microsoft.com/office/drawing/2014/main" id="{33CE8A24-8ED8-ACD0-6A5C-DEEDC32F9FCE}"/>
              </a:ext>
            </a:extLst>
          </p:cNvPr>
          <p:cNvSpPr/>
          <p:nvPr/>
        </p:nvSpPr>
        <p:spPr bwMode="auto">
          <a:xfrm rot="5400000">
            <a:off x="3270393" y="2696408"/>
            <a:ext cx="361804" cy="3695414"/>
          </a:xfrm>
          <a:prstGeom prst="can">
            <a:avLst>
              <a:gd name="adj" fmla="val 59089"/>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Capacidad de observabilidad</a:t>
            </a:r>
          </a:p>
        </p:txBody>
      </p:sp>
      <p:sp>
        <p:nvSpPr>
          <p:cNvPr id="28" name="Rectangle: Rounded Corners 55">
            <a:extLst>
              <a:ext uri="{FF2B5EF4-FFF2-40B4-BE49-F238E27FC236}">
                <a16:creationId xmlns:a16="http://schemas.microsoft.com/office/drawing/2014/main" id="{E62F4813-3038-0AF0-ED28-5593A47A49EB}"/>
              </a:ext>
            </a:extLst>
          </p:cNvPr>
          <p:cNvSpPr/>
          <p:nvPr/>
        </p:nvSpPr>
        <p:spPr>
          <a:xfrm>
            <a:off x="1143635" y="5167654"/>
            <a:ext cx="4132580" cy="299085"/>
          </a:xfrm>
          <a:prstGeom prst="round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Sistema de Entrega Continua (Chaos Monkey) </a:t>
            </a:r>
          </a:p>
        </p:txBody>
      </p:sp>
      <p:cxnSp>
        <p:nvCxnSpPr>
          <p:cNvPr id="29" name="Connector: Elbow 124">
            <a:extLst>
              <a:ext uri="{FF2B5EF4-FFF2-40B4-BE49-F238E27FC236}">
                <a16:creationId xmlns:a16="http://schemas.microsoft.com/office/drawing/2014/main" id="{C9A2691B-7887-EA2D-D483-CE8C0BB16036}"/>
              </a:ext>
            </a:extLst>
          </p:cNvPr>
          <p:cNvCxnSpPr>
            <a:endCxn id="25" idx="3"/>
          </p:cNvCxnSpPr>
          <p:nvPr/>
        </p:nvCxnSpPr>
        <p:spPr>
          <a:xfrm rot="10800000">
            <a:off x="5275580" y="3604437"/>
            <a:ext cx="1510665" cy="587375"/>
          </a:xfrm>
          <a:prstGeom prst="bentConnector3">
            <a:avLst>
              <a:gd name="adj1" fmla="val 49979"/>
            </a:avLst>
          </a:prstGeom>
          <a:ln w="9525">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30" name="Connector: Elbow 124">
            <a:extLst>
              <a:ext uri="{FF2B5EF4-FFF2-40B4-BE49-F238E27FC236}">
                <a16:creationId xmlns:a16="http://schemas.microsoft.com/office/drawing/2014/main" id="{27A969BA-D069-6B15-ED4E-660F69566662}"/>
              </a:ext>
            </a:extLst>
          </p:cNvPr>
          <p:cNvCxnSpPr>
            <a:cxnSpLocks/>
            <a:stCxn id="25" idx="1"/>
            <a:endCxn id="26" idx="3"/>
          </p:cNvCxnSpPr>
          <p:nvPr/>
        </p:nvCxnSpPr>
        <p:spPr>
          <a:xfrm rot="10800000" flipV="1">
            <a:off x="2933098" y="3605442"/>
            <a:ext cx="771021" cy="4292"/>
          </a:xfrm>
          <a:prstGeom prst="bentConnector3">
            <a:avLst>
              <a:gd name="adj1" fmla="val 50000"/>
            </a:avLst>
          </a:prstGeom>
          <a:ln w="9525">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31" name="Connector: Elbow 124">
            <a:extLst>
              <a:ext uri="{FF2B5EF4-FFF2-40B4-BE49-F238E27FC236}">
                <a16:creationId xmlns:a16="http://schemas.microsoft.com/office/drawing/2014/main" id="{ED9963E0-901F-2B8B-060F-77890D54B3D3}"/>
              </a:ext>
            </a:extLst>
          </p:cNvPr>
          <p:cNvCxnSpPr>
            <a:stCxn id="26" idx="1"/>
            <a:endCxn id="27" idx="2"/>
          </p:cNvCxnSpPr>
          <p:nvPr/>
        </p:nvCxnSpPr>
        <p:spPr>
          <a:xfrm rot="10800000" flipH="1" flipV="1">
            <a:off x="1360971" y="3609733"/>
            <a:ext cx="2090324" cy="753479"/>
          </a:xfrm>
          <a:prstGeom prst="bentConnector4">
            <a:avLst>
              <a:gd name="adj1" fmla="val -10936"/>
              <a:gd name="adj2" fmla="val 72574"/>
            </a:avLst>
          </a:prstGeom>
          <a:ln w="9525">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32" name="Connector: Elbow 124">
            <a:extLst>
              <a:ext uri="{FF2B5EF4-FFF2-40B4-BE49-F238E27FC236}">
                <a16:creationId xmlns:a16="http://schemas.microsoft.com/office/drawing/2014/main" id="{9174A59C-334A-2358-8D5D-DF5495F5F3F3}"/>
              </a:ext>
            </a:extLst>
          </p:cNvPr>
          <p:cNvCxnSpPr>
            <a:stCxn id="25" idx="0"/>
          </p:cNvCxnSpPr>
          <p:nvPr/>
        </p:nvCxnSpPr>
        <p:spPr>
          <a:xfrm rot="16200000" flipH="1" flipV="1">
            <a:off x="2035810" y="1861362"/>
            <a:ext cx="1066165" cy="3841750"/>
          </a:xfrm>
          <a:prstGeom prst="bentConnector4">
            <a:avLst>
              <a:gd name="adj1" fmla="val -22365"/>
              <a:gd name="adj2" fmla="val 89710"/>
            </a:avLst>
          </a:prstGeom>
          <a:ln w="9525">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33" name="Connector: Elbow 124">
            <a:extLst>
              <a:ext uri="{FF2B5EF4-FFF2-40B4-BE49-F238E27FC236}">
                <a16:creationId xmlns:a16="http://schemas.microsoft.com/office/drawing/2014/main" id="{0D450DAA-A722-DD5E-9F34-1DF99549FDC1}"/>
              </a:ext>
            </a:extLst>
          </p:cNvPr>
          <p:cNvCxnSpPr>
            <a:cxnSpLocks/>
            <a:endCxn id="22" idx="3"/>
          </p:cNvCxnSpPr>
          <p:nvPr/>
        </p:nvCxnSpPr>
        <p:spPr>
          <a:xfrm rot="16200000" flipH="1">
            <a:off x="4405953" y="4095461"/>
            <a:ext cx="965189" cy="776605"/>
          </a:xfrm>
          <a:prstGeom prst="bentConnector4">
            <a:avLst>
              <a:gd name="adj1" fmla="val 21983"/>
              <a:gd name="adj2" fmla="val 129436"/>
            </a:avLst>
          </a:prstGeom>
          <a:ln w="9525">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34" name="Rectangle 33">
            <a:extLst>
              <a:ext uri="{FF2B5EF4-FFF2-40B4-BE49-F238E27FC236}">
                <a16:creationId xmlns:a16="http://schemas.microsoft.com/office/drawing/2014/main" id="{02E883A8-0DF5-B35E-8DFB-36A1B6A84E4E}"/>
              </a:ext>
            </a:extLst>
          </p:cNvPr>
          <p:cNvSpPr/>
          <p:nvPr/>
        </p:nvSpPr>
        <p:spPr>
          <a:xfrm>
            <a:off x="3714470" y="5466593"/>
            <a:ext cx="775298" cy="305829"/>
          </a:xfrm>
          <a:prstGeom prst="rect">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FFFFFF"/>
                </a:solidFill>
                <a:effectLst/>
                <a:uLnTx/>
                <a:uFillTx/>
                <a:latin typeface="Graphik"/>
                <a:ea typeface="+mn-ea"/>
                <a:cs typeface="+mn-cs"/>
              </a:rPr>
              <a:t>Servicio de Recuperación de tercera parte</a:t>
            </a:r>
          </a:p>
        </p:txBody>
      </p:sp>
      <p:cxnSp>
        <p:nvCxnSpPr>
          <p:cNvPr id="35" name="Connector: Elbow 124">
            <a:extLst>
              <a:ext uri="{FF2B5EF4-FFF2-40B4-BE49-F238E27FC236}">
                <a16:creationId xmlns:a16="http://schemas.microsoft.com/office/drawing/2014/main" id="{BE3A4241-9B79-2086-7407-4DFC1E13B75E}"/>
              </a:ext>
            </a:extLst>
          </p:cNvPr>
          <p:cNvCxnSpPr/>
          <p:nvPr/>
        </p:nvCxnSpPr>
        <p:spPr>
          <a:xfrm>
            <a:off x="627772" y="4928888"/>
            <a:ext cx="515820" cy="364509"/>
          </a:xfrm>
          <a:prstGeom prst="bentConnector3">
            <a:avLst>
              <a:gd name="adj1" fmla="val 50000"/>
            </a:avLst>
          </a:prstGeom>
          <a:ln w="9525">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36" name="Connector: Elbow 124">
            <a:extLst>
              <a:ext uri="{FF2B5EF4-FFF2-40B4-BE49-F238E27FC236}">
                <a16:creationId xmlns:a16="http://schemas.microsoft.com/office/drawing/2014/main" id="{2E47587D-B3A0-9946-D7FA-9A81AF1058B9}"/>
              </a:ext>
            </a:extLst>
          </p:cNvPr>
          <p:cNvCxnSpPr>
            <a:stCxn id="28" idx="3"/>
          </p:cNvCxnSpPr>
          <p:nvPr/>
        </p:nvCxnSpPr>
        <p:spPr>
          <a:xfrm flipV="1">
            <a:off x="5276215" y="4780939"/>
            <a:ext cx="1558290" cy="536575"/>
          </a:xfrm>
          <a:prstGeom prst="bentConnector3">
            <a:avLst>
              <a:gd name="adj1" fmla="val 50000"/>
            </a:avLst>
          </a:prstGeom>
          <a:ln w="9525">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37" name="Can 172">
            <a:extLst>
              <a:ext uri="{FF2B5EF4-FFF2-40B4-BE49-F238E27FC236}">
                <a16:creationId xmlns:a16="http://schemas.microsoft.com/office/drawing/2014/main" id="{A719FE01-23C9-C53C-5B4B-290D224376D4}"/>
              </a:ext>
            </a:extLst>
          </p:cNvPr>
          <p:cNvSpPr/>
          <p:nvPr/>
        </p:nvSpPr>
        <p:spPr bwMode="auto">
          <a:xfrm>
            <a:off x="6984656" y="3007386"/>
            <a:ext cx="312661" cy="2104175"/>
          </a:xfrm>
          <a:prstGeom prst="can">
            <a:avLst>
              <a:gd name="adj" fmla="val 59089"/>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Patrón Corta Circuitos</a:t>
            </a:r>
          </a:p>
        </p:txBody>
      </p:sp>
      <p:pic>
        <p:nvPicPr>
          <p:cNvPr id="38" name="Picture 2" descr="Hogar - Chaos Monkey">
            <a:extLst>
              <a:ext uri="{FF2B5EF4-FFF2-40B4-BE49-F238E27FC236}">
                <a16:creationId xmlns:a16="http://schemas.microsoft.com/office/drawing/2014/main" id="{E552F092-E88D-F260-611B-A5C0CD3DDDF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81852" y="2621233"/>
            <a:ext cx="503097" cy="507569"/>
          </a:xfrm>
          <a:prstGeom prst="rect">
            <a:avLst/>
          </a:prstGeom>
          <a:noFill/>
          <a:extLst>
            <a:ext uri="{909E8E84-426E-40DD-AFC4-6F175D3DCCD1}">
              <a14:hiddenFill xmlns:a14="http://schemas.microsoft.com/office/drawing/2010/main">
                <a:solidFill>
                  <a:srgbClr val="FFFFFF"/>
                </a:solidFill>
              </a14:hiddenFill>
            </a:ext>
          </a:extLst>
        </p:spPr>
      </p:pic>
      <p:sp>
        <p:nvSpPr>
          <p:cNvPr id="39" name="Rectangle 38">
            <a:extLst>
              <a:ext uri="{FF2B5EF4-FFF2-40B4-BE49-F238E27FC236}">
                <a16:creationId xmlns:a16="http://schemas.microsoft.com/office/drawing/2014/main" id="{5F82B0B2-68E7-902D-3FB3-5E688D375A8D}"/>
              </a:ext>
            </a:extLst>
          </p:cNvPr>
          <p:cNvSpPr/>
          <p:nvPr/>
        </p:nvSpPr>
        <p:spPr>
          <a:xfrm>
            <a:off x="2334260" y="5466104"/>
            <a:ext cx="701171" cy="306070"/>
          </a:xfrm>
          <a:prstGeom prst="rect">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FFFFFF"/>
                </a:solidFill>
                <a:effectLst/>
                <a:uLnTx/>
                <a:uFillTx/>
                <a:latin typeface="Graphik"/>
                <a:ea typeface="+mn-ea"/>
                <a:cs typeface="+mn-cs"/>
              </a:rPr>
              <a:t>Problemas, no hay replicables</a:t>
            </a:r>
            <a:endParaRPr kumimoji="0" lang="en-US" sz="700" b="0" i="0" u="none" strike="noStrike" kern="1200" cap="none" spc="0" normalizeH="0" baseline="0" noProof="0" dirty="0">
              <a:ln>
                <a:noFill/>
              </a:ln>
              <a:solidFill>
                <a:srgbClr val="FFFFFF"/>
              </a:solidFill>
              <a:effectLst/>
              <a:uLnTx/>
              <a:uFillTx/>
              <a:latin typeface="Graphik"/>
              <a:ea typeface="+mn-ea"/>
              <a:cs typeface="+mn-cs"/>
            </a:endParaRPr>
          </a:p>
        </p:txBody>
      </p:sp>
      <p:sp>
        <p:nvSpPr>
          <p:cNvPr id="40" name="Rectangle 1060">
            <a:extLst>
              <a:ext uri="{FF2B5EF4-FFF2-40B4-BE49-F238E27FC236}">
                <a16:creationId xmlns:a16="http://schemas.microsoft.com/office/drawing/2014/main" id="{67D0BF8C-20DE-D081-04E8-19DB425387CB}"/>
              </a:ext>
            </a:extLst>
          </p:cNvPr>
          <p:cNvSpPr/>
          <p:nvPr/>
        </p:nvSpPr>
        <p:spPr>
          <a:xfrm>
            <a:off x="8969375" y="1944394"/>
            <a:ext cx="2790190" cy="226695"/>
          </a:xfrm>
          <a:prstGeom prst="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altLang="es-MX" sz="900" b="0" i="0" u="none" strike="noStrike" kern="1200" cap="none" spc="0" normalizeH="0" baseline="0" noProof="0">
                <a:ln>
                  <a:noFill/>
                </a:ln>
                <a:solidFill>
                  <a:srgbClr val="000000"/>
                </a:solidFill>
                <a:effectLst/>
                <a:uLnTx/>
                <a:uFillTx/>
                <a:latin typeface="Graphik"/>
                <a:ea typeface="+mn-ea"/>
                <a:cs typeface="+mn-cs"/>
              </a:rPr>
              <a:t>Componentes actuales</a:t>
            </a:r>
          </a:p>
        </p:txBody>
      </p:sp>
      <p:sp>
        <p:nvSpPr>
          <p:cNvPr id="41" name="TextBox 40">
            <a:extLst>
              <a:ext uri="{FF2B5EF4-FFF2-40B4-BE49-F238E27FC236}">
                <a16:creationId xmlns:a16="http://schemas.microsoft.com/office/drawing/2014/main" id="{E68879DD-9742-F554-25F2-4BDDE88F9D60}"/>
              </a:ext>
            </a:extLst>
          </p:cNvPr>
          <p:cNvSpPr txBox="1"/>
          <p:nvPr/>
        </p:nvSpPr>
        <p:spPr>
          <a:xfrm>
            <a:off x="8573135" y="2409849"/>
            <a:ext cx="3186430" cy="2063750"/>
          </a:xfrm>
          <a:prstGeom prst="rect">
            <a:avLst/>
          </a:prstGeom>
          <a:noFill/>
        </p:spPr>
        <p:txBody>
          <a:bodyPr wrap="square" lIns="0" tIns="0" rIns="0" bIns="0" rtlCol="0">
            <a:noAutofit/>
          </a:bodyPr>
          <a:lstStyle/>
          <a:p>
            <a:pPr marL="0" marR="0" lvl="0" indent="0" algn="l" defTabSz="228600" rtl="0" eaLnBrk="1" fontAlgn="auto" latinLnBrk="0" hangingPunct="1">
              <a:lnSpc>
                <a:spcPct val="100000"/>
              </a:lnSpc>
              <a:spcBef>
                <a:spcPts val="0"/>
              </a:spcBef>
              <a:spcAft>
                <a:spcPts val="600"/>
              </a:spcAft>
              <a:buClrTx/>
              <a:buSzTx/>
              <a:buFontTx/>
              <a:buNone/>
              <a:tabLst/>
              <a:defRPr/>
            </a:pPr>
            <a:r>
              <a:rPr kumimoji="0" lang="es" sz="900" b="1" i="0" u="none" strike="noStrike" kern="1200" cap="none" spc="0" normalizeH="0" baseline="0" noProof="0" dirty="0">
                <a:ln>
                  <a:noFill/>
                </a:ln>
                <a:solidFill>
                  <a:srgbClr val="000000"/>
                </a:solidFill>
                <a:effectLst/>
                <a:uLnTx/>
                <a:uFillTx/>
                <a:latin typeface="Graphik"/>
                <a:ea typeface="+mn-ea"/>
                <a:cs typeface="+mn-cs"/>
              </a:rPr>
              <a:t>Notas:</a:t>
            </a:r>
          </a:p>
          <a:p>
            <a:pPr marL="112713" marR="0" lvl="0" indent="-112713"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altLang="es-MX" sz="900" b="0" i="0" u="none" strike="noStrike" kern="1200" cap="none" spc="0" normalizeH="0" baseline="0" noProof="0" dirty="0">
                <a:ln>
                  <a:noFill/>
                </a:ln>
                <a:solidFill>
                  <a:srgbClr val="000000"/>
                </a:solidFill>
                <a:effectLst/>
                <a:uLnTx/>
                <a:uFillTx/>
                <a:latin typeface="Graphik"/>
                <a:ea typeface="+mn-ea"/>
                <a:cs typeface="+mn-cs"/>
              </a:rPr>
              <a:t>La ingeniería del caos es actualmente un modelo conceptual; No se ha implementado.</a:t>
            </a:r>
          </a:p>
          <a:p>
            <a:pPr marL="112713" marR="0" lvl="0" indent="-112713"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altLang="es-MX" sz="900" b="0" i="0" u="none" strike="noStrike" kern="1200" cap="none" spc="0" normalizeH="0" baseline="0" noProof="0" dirty="0">
                <a:ln>
                  <a:noFill/>
                </a:ln>
                <a:solidFill>
                  <a:srgbClr val="000000"/>
                </a:solidFill>
                <a:effectLst/>
                <a:uLnTx/>
                <a:uFillTx/>
                <a:latin typeface="Graphik"/>
                <a:ea typeface="+mn-ea"/>
                <a:cs typeface="+mn-cs"/>
              </a:rPr>
              <a:t>Las tecnologías para esta capacidad aún están en proceso de evaluación, Chaos Monkey representa un riesgo de compatibilidad.</a:t>
            </a:r>
          </a:p>
          <a:p>
            <a:pPr marL="112713" marR="0" lvl="0" indent="-112713"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altLang="es-MX" sz="900" b="0" i="0" u="none" strike="noStrike" kern="1200" cap="none" spc="0" normalizeH="0" baseline="0" noProof="0" dirty="0">
                <a:ln>
                  <a:noFill/>
                </a:ln>
                <a:solidFill>
                  <a:srgbClr val="000000"/>
                </a:solidFill>
                <a:effectLst/>
                <a:uLnTx/>
                <a:uFillTx/>
                <a:latin typeface="Graphik"/>
                <a:ea typeface="+mn-ea"/>
                <a:cs typeface="+mn-cs"/>
              </a:rPr>
              <a:t>Es necesario identificar los entornos detrás del backend (QA, UAT, etc.).</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US" altLang="es-MX" sz="900" b="0" i="0" u="none" strike="noStrike" kern="1200" cap="none" spc="0" normalizeH="0" baseline="0" noProof="0" dirty="0">
              <a:ln>
                <a:noFill/>
              </a:ln>
              <a:solidFill>
                <a:srgbClr val="000000"/>
              </a:solidFill>
              <a:effectLst/>
              <a:uLnTx/>
              <a:uFillTx/>
              <a:latin typeface="Graphik"/>
              <a:ea typeface="+mn-ea"/>
              <a:cs typeface="+mn-cs"/>
            </a:endParaRPr>
          </a:p>
        </p:txBody>
      </p:sp>
    </p:spTree>
    <p:extLst>
      <p:ext uri="{BB962C8B-B14F-4D97-AF65-F5344CB8AC3E}">
        <p14:creationId xmlns:p14="http://schemas.microsoft.com/office/powerpoint/2010/main" val="341860954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14968C-6731-C559-119B-88300942137A}"/>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1C6B60E1-484E-251C-9CA5-CCC75C924ECB}"/>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alpha val="65000"/>
                  </a:srgbClr>
                </a:solidFill>
                <a:effectLst/>
                <a:uLnTx/>
                <a:uFillTx/>
                <a:latin typeface="Graphik"/>
                <a:ea typeface="+mn-ea"/>
                <a:cs typeface="+mn-cs"/>
              </a:rPr>
              <a:t>Copyright © 2025 Accenture. Todos los derechos reservados.</a:t>
            </a:r>
          </a:p>
        </p:txBody>
      </p:sp>
      <p:sp>
        <p:nvSpPr>
          <p:cNvPr id="118" name="Title 1">
            <a:extLst>
              <a:ext uri="{FF2B5EF4-FFF2-40B4-BE49-F238E27FC236}">
                <a16:creationId xmlns:a16="http://schemas.microsoft.com/office/drawing/2014/main" id="{647DB694-A62F-86CC-850D-6FAB8F693FF1}"/>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a:ln>
                  <a:noFill/>
                </a:ln>
                <a:solidFill>
                  <a:srgbClr val="7500C0"/>
                </a:solidFill>
                <a:effectLst/>
                <a:uLnTx/>
                <a:uFillTx/>
                <a:latin typeface="Graphik"/>
                <a:ea typeface="+mj-ea"/>
                <a:cs typeface="+mj-cs"/>
              </a:rPr>
              <a:t>Activo de Interoperabilidad </a:t>
            </a:r>
            <a:r>
              <a:rPr kumimoji="0" lang="es" sz="2400" b="1" i="0" u="none" strike="noStrike" kern="1200" cap="none" spc="0" normalizeH="0" baseline="0" noProof="0">
                <a:ln>
                  <a:noFill/>
                </a:ln>
                <a:solidFill>
                  <a:srgbClr val="000000"/>
                </a:solidFill>
                <a:effectLst/>
                <a:uLnTx/>
                <a:uFillTx/>
                <a:latin typeface="Graphik"/>
                <a:ea typeface="+mj-ea"/>
                <a:cs typeface="+mj-cs"/>
              </a:rPr>
              <a:t>| </a:t>
            </a:r>
            <a:r>
              <a:rPr kumimoji="0" lang="es" sz="2000" b="1" i="0" u="none" strike="noStrike" kern="1200" cap="none" spc="0" normalizeH="0" baseline="0" noProof="0">
                <a:ln>
                  <a:noFill/>
                </a:ln>
                <a:solidFill>
                  <a:srgbClr val="000000"/>
                </a:solidFill>
                <a:effectLst/>
                <a:uLnTx/>
                <a:uFillTx/>
                <a:latin typeface="Graphik"/>
                <a:ea typeface="+mj-ea"/>
                <a:cs typeface="+mj-cs"/>
              </a:rPr>
              <a:t>Procesamiento de eventos</a:t>
            </a:r>
            <a:endParaRPr kumimoji="0" lang="es" sz="2400" b="1" i="0" u="none" strike="noStrike" kern="1200" cap="none" spc="0" normalizeH="0" baseline="0" noProof="0">
              <a:ln>
                <a:noFill/>
              </a:ln>
              <a:solidFill>
                <a:srgbClr val="000000"/>
              </a:solidFill>
              <a:effectLst/>
              <a:uLnTx/>
              <a:uFillTx/>
              <a:latin typeface="Graphik"/>
              <a:ea typeface="+mj-ea"/>
              <a:cs typeface="+mj-cs"/>
            </a:endParaRPr>
          </a:p>
        </p:txBody>
      </p:sp>
      <p:sp>
        <p:nvSpPr>
          <p:cNvPr id="119" name="Content Placeholder 34">
            <a:extLst>
              <a:ext uri="{FF2B5EF4-FFF2-40B4-BE49-F238E27FC236}">
                <a16:creationId xmlns:a16="http://schemas.microsoft.com/office/drawing/2014/main" id="{4B954BDD-7472-0920-21A4-310203631F6E}"/>
              </a:ext>
            </a:extLst>
          </p:cNvPr>
          <p:cNvSpPr txBox="1">
            <a:spLocks/>
          </p:cNvSpPr>
          <p:nvPr/>
        </p:nvSpPr>
        <p:spPr>
          <a:xfrm>
            <a:off x="285990" y="641993"/>
            <a:ext cx="11430000" cy="246221"/>
          </a:xfrm>
          <a:prstGeom prst="rect">
            <a:avLst/>
          </a:prstGeom>
        </p:spPr>
        <p:txBody>
          <a:bodyPr/>
          <a:lstStyle>
            <a:lvl1pPr marL="228600" indent="-228600" algn="l" defTabSz="228600" rtl="0" eaLnBrk="1" latinLnBrk="0" hangingPunct="1">
              <a:lnSpc>
                <a:spcPct val="100000"/>
              </a:lnSpc>
              <a:spcBef>
                <a:spcPts val="0"/>
              </a:spcBef>
              <a:spcAft>
                <a:spcPts val="600"/>
              </a:spcAft>
              <a:buFont typeface="Arial"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Arial"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Arial"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Arial"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Arial"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Arial" panose="020B0604020202020204" pitchFamily="34" charset="0"/>
              <a:buNone/>
              <a:defRPr sz="800" kern="1200">
                <a:solidFill>
                  <a:schemeClr val="tx2"/>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s" sz="1600" b="1" i="0" u="none" strike="noStrike" kern="1200" cap="none" spc="0" normalizeH="0" baseline="0" noProof="0">
                <a:ln>
                  <a:noFill/>
                </a:ln>
                <a:solidFill>
                  <a:srgbClr val="7500C0"/>
                </a:solidFill>
                <a:effectLst/>
                <a:uLnTx/>
                <a:uFillTx/>
                <a:latin typeface="Graphik" panose="020B0503030202060203" pitchFamily="34" charset="0"/>
                <a:ea typeface="+mn-ea"/>
                <a:cs typeface="+mn-cs"/>
              </a:rPr>
              <a:t>Arquitectura de procesamiento de eventos</a:t>
            </a:r>
          </a:p>
        </p:txBody>
      </p:sp>
      <p:grpSp>
        <p:nvGrpSpPr>
          <p:cNvPr id="4" name="Group 3">
            <a:extLst>
              <a:ext uri="{FF2B5EF4-FFF2-40B4-BE49-F238E27FC236}">
                <a16:creationId xmlns:a16="http://schemas.microsoft.com/office/drawing/2014/main" id="{C49BABE7-83B6-5B1D-F186-D79266C1469C}"/>
              </a:ext>
            </a:extLst>
          </p:cNvPr>
          <p:cNvGrpSpPr/>
          <p:nvPr/>
        </p:nvGrpSpPr>
        <p:grpSpPr>
          <a:xfrm>
            <a:off x="9914018" y="286451"/>
            <a:ext cx="1862854" cy="253275"/>
            <a:chOff x="9929190" y="421028"/>
            <a:chExt cx="1862854" cy="253275"/>
          </a:xfrm>
        </p:grpSpPr>
        <p:sp>
          <p:nvSpPr>
            <p:cNvPr id="5" name="TextBox 4">
              <a:extLst>
                <a:ext uri="{FF2B5EF4-FFF2-40B4-BE49-F238E27FC236}">
                  <a16:creationId xmlns:a16="http://schemas.microsoft.com/office/drawing/2014/main" id="{F582AB04-53B3-425C-0507-EB0C766B56BF}"/>
                </a:ext>
              </a:extLst>
            </p:cNvPr>
            <p:cNvSpPr txBox="1"/>
            <p:nvPr/>
          </p:nvSpPr>
          <p:spPr>
            <a:xfrm>
              <a:off x="9936972" y="460821"/>
              <a:ext cx="1847290" cy="173690"/>
            </a:xfrm>
            <a:prstGeom prst="rect">
              <a:avLst/>
            </a:prstGeom>
            <a:noFill/>
          </p:spPr>
          <p:txBody>
            <a:bodyPr wrap="none" lIns="0" tIns="0" rIns="0" bIns="0" rtlCol="0">
              <a:noAutofit/>
            </a:bodyPr>
            <a:lstStyle/>
            <a:p>
              <a:pPr marL="0" marR="0" lvl="0" indent="0" algn="l" defTabSz="228600" rtl="0" eaLnBrk="1" fontAlgn="auto" latinLnBrk="0" hangingPunct="1">
                <a:lnSpc>
                  <a:spcPct val="100000"/>
                </a:lnSpc>
                <a:spcBef>
                  <a:spcPts val="0"/>
                </a:spcBef>
                <a:spcAft>
                  <a:spcPts val="1200"/>
                </a:spcAft>
                <a:buClrTx/>
                <a:buSzTx/>
                <a:buFontTx/>
                <a:buNone/>
                <a:tabLst/>
                <a:defRPr/>
              </a:pPr>
              <a:r>
                <a:rPr kumimoji="0" lang="es" sz="1100" b="0" i="0" u="none" strike="noStrike" kern="1200" cap="none" spc="0" normalizeH="0" baseline="0" noProof="0">
                  <a:ln>
                    <a:noFill/>
                  </a:ln>
                  <a:solidFill>
                    <a:srgbClr val="000000"/>
                  </a:solidFill>
                  <a:effectLst/>
                  <a:uLnTx/>
                  <a:uFillTx/>
                  <a:latin typeface="Graphik"/>
                  <a:ea typeface="+mn-ea"/>
                  <a:cs typeface="+mn-cs"/>
                </a:rPr>
                <a:t>Ilustrativo no exhaustivo</a:t>
              </a:r>
            </a:p>
          </p:txBody>
        </p:sp>
        <p:cxnSp>
          <p:nvCxnSpPr>
            <p:cNvPr id="6" name="Straight Connector 5">
              <a:extLst>
                <a:ext uri="{FF2B5EF4-FFF2-40B4-BE49-F238E27FC236}">
                  <a16:creationId xmlns:a16="http://schemas.microsoft.com/office/drawing/2014/main" id="{060B1B57-04D0-8BA7-BAB0-AAAD782812B7}"/>
                </a:ext>
              </a:extLst>
            </p:cNvPr>
            <p:cNvCxnSpPr>
              <a:cxnSpLocks/>
            </p:cNvCxnSpPr>
            <p:nvPr/>
          </p:nvCxnSpPr>
          <p:spPr>
            <a:xfrm>
              <a:off x="9929190" y="421028"/>
              <a:ext cx="186285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9517E827-D9B6-D2FF-143A-CA17B72209EF}"/>
                </a:ext>
              </a:extLst>
            </p:cNvPr>
            <p:cNvCxnSpPr>
              <a:cxnSpLocks/>
            </p:cNvCxnSpPr>
            <p:nvPr/>
          </p:nvCxnSpPr>
          <p:spPr>
            <a:xfrm>
              <a:off x="9929190" y="674303"/>
              <a:ext cx="186285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8" name="Rectangle 7">
            <a:extLst>
              <a:ext uri="{FF2B5EF4-FFF2-40B4-BE49-F238E27FC236}">
                <a16:creationId xmlns:a16="http://schemas.microsoft.com/office/drawing/2014/main" id="{91817231-3397-F269-8895-BE7A8F48B6BA}"/>
              </a:ext>
            </a:extLst>
          </p:cNvPr>
          <p:cNvSpPr/>
          <p:nvPr/>
        </p:nvSpPr>
        <p:spPr>
          <a:xfrm>
            <a:off x="3819678" y="2597297"/>
            <a:ext cx="1639228" cy="2258141"/>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Bus de eventos Kafka</a:t>
            </a:r>
          </a:p>
        </p:txBody>
      </p:sp>
      <p:sp>
        <p:nvSpPr>
          <p:cNvPr id="9" name="Rectangle 8">
            <a:extLst>
              <a:ext uri="{FF2B5EF4-FFF2-40B4-BE49-F238E27FC236}">
                <a16:creationId xmlns:a16="http://schemas.microsoft.com/office/drawing/2014/main" id="{C58A7D96-69CD-50F9-F607-46916CA04D9D}"/>
              </a:ext>
            </a:extLst>
          </p:cNvPr>
          <p:cNvSpPr/>
          <p:nvPr/>
        </p:nvSpPr>
        <p:spPr>
          <a:xfrm>
            <a:off x="4071120" y="3849976"/>
            <a:ext cx="1171198" cy="720000"/>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CQRS</a:t>
            </a:r>
          </a:p>
        </p:txBody>
      </p:sp>
      <p:sp>
        <p:nvSpPr>
          <p:cNvPr id="10" name="Rectangle 9">
            <a:extLst>
              <a:ext uri="{FF2B5EF4-FFF2-40B4-BE49-F238E27FC236}">
                <a16:creationId xmlns:a16="http://schemas.microsoft.com/office/drawing/2014/main" id="{25AABDF7-D849-3A3A-B2BF-7261EA6D45FE}"/>
              </a:ext>
            </a:extLst>
          </p:cNvPr>
          <p:cNvSpPr/>
          <p:nvPr/>
        </p:nvSpPr>
        <p:spPr>
          <a:xfrm>
            <a:off x="7121846" y="836728"/>
            <a:ext cx="1026261" cy="2023375"/>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Streaming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de eventos</a:t>
            </a:r>
          </a:p>
        </p:txBody>
      </p:sp>
      <p:sp>
        <p:nvSpPr>
          <p:cNvPr id="13" name="Rectangle 12">
            <a:extLst>
              <a:ext uri="{FF2B5EF4-FFF2-40B4-BE49-F238E27FC236}">
                <a16:creationId xmlns:a16="http://schemas.microsoft.com/office/drawing/2014/main" id="{B857AFAD-6B58-9CF2-088E-D52058A49BFE}"/>
              </a:ext>
            </a:extLst>
          </p:cNvPr>
          <p:cNvSpPr/>
          <p:nvPr/>
        </p:nvSpPr>
        <p:spPr>
          <a:xfrm>
            <a:off x="7222760" y="1196357"/>
            <a:ext cx="829223" cy="314152"/>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Pipeline de Datos 1</a:t>
            </a:r>
          </a:p>
        </p:txBody>
      </p:sp>
      <p:sp>
        <p:nvSpPr>
          <p:cNvPr id="14" name="Rectangle: Rounded Corners 13">
            <a:extLst>
              <a:ext uri="{FF2B5EF4-FFF2-40B4-BE49-F238E27FC236}">
                <a16:creationId xmlns:a16="http://schemas.microsoft.com/office/drawing/2014/main" id="{1AADCC61-42A4-46FE-71FC-7F55A8317BB6}"/>
              </a:ext>
            </a:extLst>
          </p:cNvPr>
          <p:cNvSpPr/>
          <p:nvPr/>
        </p:nvSpPr>
        <p:spPr>
          <a:xfrm>
            <a:off x="399956" y="3224260"/>
            <a:ext cx="1583036" cy="1791835"/>
          </a:xfrm>
          <a:prstGeom prst="roundRect">
            <a:avLst>
              <a:gd name="adj" fmla="val 7682"/>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Fuentes de datos</a:t>
            </a:r>
            <a:endParaRPr kumimoji="0" lang="es-ES_tradnl" sz="900" b="0" i="0" u="none" strike="noStrike" kern="1200" cap="none" spc="0" normalizeH="0" baseline="0" noProof="0">
              <a:ln>
                <a:noFill/>
              </a:ln>
              <a:solidFill>
                <a:srgbClr val="000000"/>
              </a:solidFill>
              <a:effectLst/>
              <a:uLnTx/>
              <a:uFillTx/>
              <a:latin typeface="Graphik"/>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(Publicar)</a:t>
            </a:r>
            <a:endParaRPr kumimoji="0" lang="en-ES" sz="900" b="0" i="0" u="none" strike="noStrike" kern="1200" cap="none" spc="0" normalizeH="0" baseline="0" noProof="0">
              <a:ln>
                <a:noFill/>
              </a:ln>
              <a:solidFill>
                <a:srgbClr val="000000"/>
              </a:solidFill>
              <a:effectLst/>
              <a:uLnTx/>
              <a:uFillTx/>
              <a:latin typeface="Graphik"/>
              <a:ea typeface="+mn-ea"/>
              <a:cs typeface="+mn-cs"/>
            </a:endParaRPr>
          </a:p>
        </p:txBody>
      </p:sp>
      <p:sp>
        <p:nvSpPr>
          <p:cNvPr id="15" name="Rectangle 14">
            <a:extLst>
              <a:ext uri="{FF2B5EF4-FFF2-40B4-BE49-F238E27FC236}">
                <a16:creationId xmlns:a16="http://schemas.microsoft.com/office/drawing/2014/main" id="{A088711A-6EF7-21F5-861C-EC59AA6B5F45}"/>
              </a:ext>
            </a:extLst>
          </p:cNvPr>
          <p:cNvSpPr/>
          <p:nvPr/>
        </p:nvSpPr>
        <p:spPr>
          <a:xfrm>
            <a:off x="525439" y="3571547"/>
            <a:ext cx="1346837" cy="148148"/>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Infraestructura</a:t>
            </a:r>
          </a:p>
        </p:txBody>
      </p:sp>
      <p:sp>
        <p:nvSpPr>
          <p:cNvPr id="16" name="Rectangle 15">
            <a:extLst>
              <a:ext uri="{FF2B5EF4-FFF2-40B4-BE49-F238E27FC236}">
                <a16:creationId xmlns:a16="http://schemas.microsoft.com/office/drawing/2014/main" id="{C10C9522-BE75-C9D4-B408-A3D62A18ADEB}"/>
              </a:ext>
            </a:extLst>
          </p:cNvPr>
          <p:cNvSpPr/>
          <p:nvPr/>
        </p:nvSpPr>
        <p:spPr>
          <a:xfrm>
            <a:off x="525439" y="3777408"/>
            <a:ext cx="1346837" cy="148148"/>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Canales</a:t>
            </a:r>
          </a:p>
        </p:txBody>
      </p:sp>
      <p:sp>
        <p:nvSpPr>
          <p:cNvPr id="17" name="Rectangle 16">
            <a:extLst>
              <a:ext uri="{FF2B5EF4-FFF2-40B4-BE49-F238E27FC236}">
                <a16:creationId xmlns:a16="http://schemas.microsoft.com/office/drawing/2014/main" id="{EFFB1DB1-418F-5CA2-88F8-88F70AFC4F4F}"/>
              </a:ext>
            </a:extLst>
          </p:cNvPr>
          <p:cNvSpPr/>
          <p:nvPr/>
        </p:nvSpPr>
        <p:spPr>
          <a:xfrm>
            <a:off x="525439" y="4600852"/>
            <a:ext cx="1346837" cy="148148"/>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Logs</a:t>
            </a:r>
          </a:p>
        </p:txBody>
      </p:sp>
      <p:sp>
        <p:nvSpPr>
          <p:cNvPr id="18" name="Rectangle 17">
            <a:extLst>
              <a:ext uri="{FF2B5EF4-FFF2-40B4-BE49-F238E27FC236}">
                <a16:creationId xmlns:a16="http://schemas.microsoft.com/office/drawing/2014/main" id="{468332C8-870B-4D92-6220-9FD013A8C82E}"/>
              </a:ext>
            </a:extLst>
          </p:cNvPr>
          <p:cNvSpPr/>
          <p:nvPr/>
        </p:nvSpPr>
        <p:spPr>
          <a:xfrm>
            <a:off x="525439" y="3983269"/>
            <a:ext cx="1346837" cy="148148"/>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Servicios Principales</a:t>
            </a:r>
          </a:p>
        </p:txBody>
      </p:sp>
      <p:sp>
        <p:nvSpPr>
          <p:cNvPr id="19" name="Rectangle 18">
            <a:extLst>
              <a:ext uri="{FF2B5EF4-FFF2-40B4-BE49-F238E27FC236}">
                <a16:creationId xmlns:a16="http://schemas.microsoft.com/office/drawing/2014/main" id="{CFB193E3-1597-E63E-9495-2FC536EB2A96}"/>
              </a:ext>
            </a:extLst>
          </p:cNvPr>
          <p:cNvSpPr/>
          <p:nvPr/>
        </p:nvSpPr>
        <p:spPr>
          <a:xfrm>
            <a:off x="525439" y="4394991"/>
            <a:ext cx="1346837" cy="148148"/>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Datos externos</a:t>
            </a:r>
          </a:p>
        </p:txBody>
      </p:sp>
      <p:sp>
        <p:nvSpPr>
          <p:cNvPr id="20" name="Rectangle 19">
            <a:extLst>
              <a:ext uri="{FF2B5EF4-FFF2-40B4-BE49-F238E27FC236}">
                <a16:creationId xmlns:a16="http://schemas.microsoft.com/office/drawing/2014/main" id="{82E80B10-DAF1-FCA4-E099-D0465E8827DD}"/>
              </a:ext>
            </a:extLst>
          </p:cNvPr>
          <p:cNvSpPr/>
          <p:nvPr/>
        </p:nvSpPr>
        <p:spPr>
          <a:xfrm>
            <a:off x="525439" y="4806713"/>
            <a:ext cx="1346837" cy="148148"/>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a:t>
            </a:r>
          </a:p>
        </p:txBody>
      </p:sp>
      <p:sp>
        <p:nvSpPr>
          <p:cNvPr id="21" name="Rectangle 20">
            <a:extLst>
              <a:ext uri="{FF2B5EF4-FFF2-40B4-BE49-F238E27FC236}">
                <a16:creationId xmlns:a16="http://schemas.microsoft.com/office/drawing/2014/main" id="{0A4FA4CE-C40A-44AB-9396-15965FEF1C17}"/>
              </a:ext>
            </a:extLst>
          </p:cNvPr>
          <p:cNvSpPr/>
          <p:nvPr/>
        </p:nvSpPr>
        <p:spPr>
          <a:xfrm>
            <a:off x="7222760" y="1533273"/>
            <a:ext cx="819431" cy="285629"/>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Pipeline de Datos 2</a:t>
            </a:r>
          </a:p>
        </p:txBody>
      </p:sp>
      <p:sp>
        <p:nvSpPr>
          <p:cNvPr id="22" name="Rectangle 21">
            <a:extLst>
              <a:ext uri="{FF2B5EF4-FFF2-40B4-BE49-F238E27FC236}">
                <a16:creationId xmlns:a16="http://schemas.microsoft.com/office/drawing/2014/main" id="{513D8D3E-F117-C133-F3FB-CEEC8418D6D9}"/>
              </a:ext>
            </a:extLst>
          </p:cNvPr>
          <p:cNvSpPr/>
          <p:nvPr/>
        </p:nvSpPr>
        <p:spPr>
          <a:xfrm>
            <a:off x="525439" y="4189130"/>
            <a:ext cx="1346837" cy="148148"/>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Core SoR</a:t>
            </a:r>
            <a:endParaRPr kumimoji="0" lang="en-US" sz="900" b="0" i="0" u="none" strike="noStrike" kern="1200" cap="none" spc="0" normalizeH="0" baseline="0" noProof="0" dirty="0">
              <a:ln>
                <a:noFill/>
              </a:ln>
              <a:solidFill>
                <a:srgbClr val="000000"/>
              </a:solidFill>
              <a:effectLst/>
              <a:uLnTx/>
              <a:uFillTx/>
              <a:latin typeface="Graphik"/>
              <a:ea typeface="+mn-ea"/>
              <a:cs typeface="+mn-cs"/>
            </a:endParaRPr>
          </a:p>
        </p:txBody>
      </p:sp>
      <p:sp>
        <p:nvSpPr>
          <p:cNvPr id="23" name="Can 172">
            <a:extLst>
              <a:ext uri="{FF2B5EF4-FFF2-40B4-BE49-F238E27FC236}">
                <a16:creationId xmlns:a16="http://schemas.microsoft.com/office/drawing/2014/main" id="{F9114441-6233-0809-75C4-EA4D8E1A653B}"/>
              </a:ext>
            </a:extLst>
          </p:cNvPr>
          <p:cNvSpPr/>
          <p:nvPr/>
        </p:nvSpPr>
        <p:spPr bwMode="auto">
          <a:xfrm rot="5400000">
            <a:off x="4579989" y="3744402"/>
            <a:ext cx="140968" cy="745691"/>
          </a:xfrm>
          <a:prstGeom prst="can">
            <a:avLst>
              <a:gd name="adj" fmla="val 59089"/>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Tema 1</a:t>
            </a:r>
          </a:p>
        </p:txBody>
      </p:sp>
      <p:sp>
        <p:nvSpPr>
          <p:cNvPr id="24" name="Can 172">
            <a:extLst>
              <a:ext uri="{FF2B5EF4-FFF2-40B4-BE49-F238E27FC236}">
                <a16:creationId xmlns:a16="http://schemas.microsoft.com/office/drawing/2014/main" id="{7AB678B4-2991-6322-F406-9F0BB2BEE29C}"/>
              </a:ext>
            </a:extLst>
          </p:cNvPr>
          <p:cNvSpPr/>
          <p:nvPr/>
        </p:nvSpPr>
        <p:spPr bwMode="auto">
          <a:xfrm rot="5400000">
            <a:off x="4579989" y="4056678"/>
            <a:ext cx="140968" cy="745691"/>
          </a:xfrm>
          <a:prstGeom prst="can">
            <a:avLst>
              <a:gd name="adj" fmla="val 59089"/>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Tema 2</a:t>
            </a:r>
          </a:p>
        </p:txBody>
      </p:sp>
      <p:grpSp>
        <p:nvGrpSpPr>
          <p:cNvPr id="25" name="Group 24">
            <a:extLst>
              <a:ext uri="{FF2B5EF4-FFF2-40B4-BE49-F238E27FC236}">
                <a16:creationId xmlns:a16="http://schemas.microsoft.com/office/drawing/2014/main" id="{270D4BE5-F8C6-60D3-99C3-C08B87A4737E}"/>
              </a:ext>
            </a:extLst>
          </p:cNvPr>
          <p:cNvGrpSpPr/>
          <p:nvPr/>
        </p:nvGrpSpPr>
        <p:grpSpPr>
          <a:xfrm>
            <a:off x="5359090" y="3008190"/>
            <a:ext cx="612000" cy="180000"/>
            <a:chOff x="2461363" y="4801885"/>
            <a:chExt cx="1080000" cy="360000"/>
          </a:xfrm>
        </p:grpSpPr>
        <p:sp>
          <p:nvSpPr>
            <p:cNvPr id="26" name="Rectangle 25">
              <a:extLst>
                <a:ext uri="{FF2B5EF4-FFF2-40B4-BE49-F238E27FC236}">
                  <a16:creationId xmlns:a16="http://schemas.microsoft.com/office/drawing/2014/main" id="{476E8BA7-3797-8CC5-55FD-34008D8DF72E}"/>
                </a:ext>
              </a:extLst>
            </p:cNvPr>
            <p:cNvSpPr/>
            <p:nvPr/>
          </p:nvSpPr>
          <p:spPr>
            <a:xfrm>
              <a:off x="2461363" y="4801885"/>
              <a:ext cx="1080000" cy="36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Graphik"/>
                <a:ea typeface="+mn-ea"/>
                <a:cs typeface="+mn-cs"/>
              </a:endParaRPr>
            </a:p>
          </p:txBody>
        </p:sp>
        <p:pic>
          <p:nvPicPr>
            <p:cNvPr id="27" name="Picture 26">
              <a:extLst>
                <a:ext uri="{FF2B5EF4-FFF2-40B4-BE49-F238E27FC236}">
                  <a16:creationId xmlns:a16="http://schemas.microsoft.com/office/drawing/2014/main" id="{4B945018-8DA2-CC91-C8D2-F204DB2AD2C8}"/>
                </a:ext>
              </a:extLst>
            </p:cNvPr>
            <p:cNvPicPr>
              <a:picLocks noChangeAspect="1"/>
            </p:cNvPicPr>
            <p:nvPr/>
          </p:nvPicPr>
          <p:blipFill>
            <a:blip r:embed="rId2"/>
            <a:stretch>
              <a:fillRect/>
            </a:stretch>
          </p:blipFill>
          <p:spPr>
            <a:xfrm>
              <a:off x="2654651" y="4822215"/>
              <a:ext cx="693425" cy="319340"/>
            </a:xfrm>
            <a:prstGeom prst="rect">
              <a:avLst/>
            </a:prstGeom>
            <a:solidFill>
              <a:schemeClr val="bg1"/>
            </a:solidFill>
          </p:spPr>
        </p:pic>
      </p:grpSp>
      <p:grpSp>
        <p:nvGrpSpPr>
          <p:cNvPr id="28" name="Group 27">
            <a:extLst>
              <a:ext uri="{FF2B5EF4-FFF2-40B4-BE49-F238E27FC236}">
                <a16:creationId xmlns:a16="http://schemas.microsoft.com/office/drawing/2014/main" id="{AC283804-4A84-AC26-2F70-E2979E14BA7C}"/>
              </a:ext>
            </a:extLst>
          </p:cNvPr>
          <p:cNvGrpSpPr/>
          <p:nvPr/>
        </p:nvGrpSpPr>
        <p:grpSpPr>
          <a:xfrm>
            <a:off x="8094463" y="647331"/>
            <a:ext cx="612000" cy="180000"/>
            <a:chOff x="5725733" y="5189404"/>
            <a:chExt cx="1080000" cy="360000"/>
          </a:xfrm>
          <a:solidFill>
            <a:schemeClr val="bg1"/>
          </a:solidFill>
        </p:grpSpPr>
        <p:sp>
          <p:nvSpPr>
            <p:cNvPr id="29" name="Rectangle 28">
              <a:extLst>
                <a:ext uri="{FF2B5EF4-FFF2-40B4-BE49-F238E27FC236}">
                  <a16:creationId xmlns:a16="http://schemas.microsoft.com/office/drawing/2014/main" id="{D108BE11-45D8-C9D1-EED5-30D5FE0D9A48}"/>
                </a:ext>
              </a:extLst>
            </p:cNvPr>
            <p:cNvSpPr/>
            <p:nvPr/>
          </p:nvSpPr>
          <p:spPr>
            <a:xfrm>
              <a:off x="5725733" y="5189404"/>
              <a:ext cx="1080000" cy="360000"/>
            </a:xfrm>
            <a:prstGeom prst="rect">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000000"/>
                  </a:solidFill>
                  <a:effectLst/>
                  <a:uLnTx/>
                  <a:uFillTx/>
                  <a:latin typeface="Graphik"/>
                  <a:ea typeface="+mn-ea"/>
                  <a:cs typeface="+mn-cs"/>
                </a:rPr>
                <a:t>Confluent</a:t>
              </a:r>
            </a:p>
          </p:txBody>
        </p:sp>
        <p:pic>
          <p:nvPicPr>
            <p:cNvPr id="30" name="Picture 29">
              <a:extLst>
                <a:ext uri="{FF2B5EF4-FFF2-40B4-BE49-F238E27FC236}">
                  <a16:creationId xmlns:a16="http://schemas.microsoft.com/office/drawing/2014/main" id="{435436BF-EEA7-C51D-A7BB-31CB64E6EAA4}"/>
                </a:ext>
              </a:extLst>
            </p:cNvPr>
            <p:cNvPicPr>
              <a:picLocks noChangeAspect="1"/>
            </p:cNvPicPr>
            <p:nvPr/>
          </p:nvPicPr>
          <p:blipFill>
            <a:blip r:embed="rId3"/>
            <a:stretch>
              <a:fillRect/>
            </a:stretch>
          </p:blipFill>
          <p:spPr>
            <a:xfrm>
              <a:off x="5755535" y="5223098"/>
              <a:ext cx="1020399" cy="292616"/>
            </a:xfrm>
            <a:prstGeom prst="rect">
              <a:avLst/>
            </a:prstGeom>
            <a:grpFill/>
          </p:spPr>
        </p:pic>
      </p:grpSp>
      <p:grpSp>
        <p:nvGrpSpPr>
          <p:cNvPr id="31" name="Group 30">
            <a:extLst>
              <a:ext uri="{FF2B5EF4-FFF2-40B4-BE49-F238E27FC236}">
                <a16:creationId xmlns:a16="http://schemas.microsoft.com/office/drawing/2014/main" id="{85B31440-D3E2-68ED-3603-0ED48F88E5F3}"/>
              </a:ext>
            </a:extLst>
          </p:cNvPr>
          <p:cNvGrpSpPr/>
          <p:nvPr/>
        </p:nvGrpSpPr>
        <p:grpSpPr>
          <a:xfrm>
            <a:off x="5359090" y="2809810"/>
            <a:ext cx="612000" cy="180000"/>
            <a:chOff x="5725733" y="5189404"/>
            <a:chExt cx="1080000" cy="360000"/>
          </a:xfrm>
          <a:solidFill>
            <a:schemeClr val="bg1"/>
          </a:solidFill>
        </p:grpSpPr>
        <p:sp>
          <p:nvSpPr>
            <p:cNvPr id="32" name="Rectangle 31">
              <a:extLst>
                <a:ext uri="{FF2B5EF4-FFF2-40B4-BE49-F238E27FC236}">
                  <a16:creationId xmlns:a16="http://schemas.microsoft.com/office/drawing/2014/main" id="{6C789540-6417-D1C4-89F2-EBC05699015F}"/>
                </a:ext>
              </a:extLst>
            </p:cNvPr>
            <p:cNvSpPr/>
            <p:nvPr/>
          </p:nvSpPr>
          <p:spPr>
            <a:xfrm>
              <a:off x="5725733" y="5189404"/>
              <a:ext cx="1080000" cy="360000"/>
            </a:xfrm>
            <a:prstGeom prst="rect">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000000"/>
                  </a:solidFill>
                  <a:effectLst/>
                  <a:uLnTx/>
                  <a:uFillTx/>
                  <a:latin typeface="Graphik"/>
                  <a:ea typeface="+mn-ea"/>
                  <a:cs typeface="+mn-cs"/>
                </a:rPr>
                <a:t>Confluent</a:t>
              </a:r>
            </a:p>
          </p:txBody>
        </p:sp>
        <p:pic>
          <p:nvPicPr>
            <p:cNvPr id="33" name="Picture 32">
              <a:extLst>
                <a:ext uri="{FF2B5EF4-FFF2-40B4-BE49-F238E27FC236}">
                  <a16:creationId xmlns:a16="http://schemas.microsoft.com/office/drawing/2014/main" id="{69A6EDF5-11A2-9E7F-3033-5203FDC7D22B}"/>
                </a:ext>
              </a:extLst>
            </p:cNvPr>
            <p:cNvPicPr>
              <a:picLocks noChangeAspect="1"/>
            </p:cNvPicPr>
            <p:nvPr/>
          </p:nvPicPr>
          <p:blipFill>
            <a:blip r:embed="rId3"/>
            <a:stretch>
              <a:fillRect/>
            </a:stretch>
          </p:blipFill>
          <p:spPr>
            <a:xfrm>
              <a:off x="5755534" y="5223097"/>
              <a:ext cx="1020399" cy="292615"/>
            </a:xfrm>
            <a:prstGeom prst="rect">
              <a:avLst/>
            </a:prstGeom>
            <a:grpFill/>
          </p:spPr>
        </p:pic>
      </p:grpSp>
      <p:sp>
        <p:nvSpPr>
          <p:cNvPr id="34" name="Rectangle: Rounded Corners 33">
            <a:extLst>
              <a:ext uri="{FF2B5EF4-FFF2-40B4-BE49-F238E27FC236}">
                <a16:creationId xmlns:a16="http://schemas.microsoft.com/office/drawing/2014/main" id="{8F312940-1E63-0D66-ADA0-A8768C157538}"/>
              </a:ext>
            </a:extLst>
          </p:cNvPr>
          <p:cNvSpPr/>
          <p:nvPr/>
        </p:nvSpPr>
        <p:spPr>
          <a:xfrm>
            <a:off x="8622890" y="3001906"/>
            <a:ext cx="1583036" cy="2187362"/>
          </a:xfrm>
          <a:prstGeom prst="roundRect">
            <a:avLst>
              <a:gd name="adj" fmla="val 7682"/>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Consumidores de datos</a:t>
            </a:r>
            <a:endParaRPr kumimoji="0" lang="es-ES_tradnl" sz="900" b="0" i="0" u="none" strike="noStrike" kern="1200" cap="none" spc="0" normalizeH="0" baseline="0" noProof="0" dirty="0">
              <a:ln>
                <a:noFill/>
              </a:ln>
              <a:solidFill>
                <a:srgbClr val="000000"/>
              </a:solidFill>
              <a:effectLst/>
              <a:uLnTx/>
              <a:uFillTx/>
              <a:latin typeface="Graphik"/>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(Suscribir)</a:t>
            </a:r>
            <a:endParaRPr kumimoji="0" lang="en-ES" sz="900" b="0" i="0" u="none" strike="noStrike" kern="1200" cap="none" spc="0" normalizeH="0" baseline="0" noProof="0" dirty="0">
              <a:ln>
                <a:noFill/>
              </a:ln>
              <a:solidFill>
                <a:srgbClr val="000000"/>
              </a:solidFill>
              <a:effectLst/>
              <a:uLnTx/>
              <a:uFillTx/>
              <a:latin typeface="Graphik"/>
              <a:ea typeface="+mn-ea"/>
              <a:cs typeface="+mn-cs"/>
            </a:endParaRPr>
          </a:p>
        </p:txBody>
      </p:sp>
      <p:sp>
        <p:nvSpPr>
          <p:cNvPr id="35" name="Rectangle 34">
            <a:extLst>
              <a:ext uri="{FF2B5EF4-FFF2-40B4-BE49-F238E27FC236}">
                <a16:creationId xmlns:a16="http://schemas.microsoft.com/office/drawing/2014/main" id="{059DEEBF-D420-6D55-A29A-F4F67C51FFAD}"/>
              </a:ext>
            </a:extLst>
          </p:cNvPr>
          <p:cNvSpPr/>
          <p:nvPr/>
        </p:nvSpPr>
        <p:spPr>
          <a:xfrm>
            <a:off x="8748373" y="3349192"/>
            <a:ext cx="1346837" cy="148148"/>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Infraestructura</a:t>
            </a:r>
          </a:p>
        </p:txBody>
      </p:sp>
      <p:sp>
        <p:nvSpPr>
          <p:cNvPr id="36" name="Rectangle 35">
            <a:extLst>
              <a:ext uri="{FF2B5EF4-FFF2-40B4-BE49-F238E27FC236}">
                <a16:creationId xmlns:a16="http://schemas.microsoft.com/office/drawing/2014/main" id="{CDEBB742-0E30-3703-9A39-6EB44859871D}"/>
              </a:ext>
            </a:extLst>
          </p:cNvPr>
          <p:cNvSpPr/>
          <p:nvPr/>
        </p:nvSpPr>
        <p:spPr>
          <a:xfrm>
            <a:off x="8748373" y="3555053"/>
            <a:ext cx="1346837" cy="148148"/>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Canales</a:t>
            </a:r>
          </a:p>
        </p:txBody>
      </p:sp>
      <p:sp>
        <p:nvSpPr>
          <p:cNvPr id="37" name="Rectangle 36">
            <a:extLst>
              <a:ext uri="{FF2B5EF4-FFF2-40B4-BE49-F238E27FC236}">
                <a16:creationId xmlns:a16="http://schemas.microsoft.com/office/drawing/2014/main" id="{F0182B25-BEF5-7992-2172-B3E05C685A0B}"/>
              </a:ext>
            </a:extLst>
          </p:cNvPr>
          <p:cNvSpPr/>
          <p:nvPr/>
        </p:nvSpPr>
        <p:spPr>
          <a:xfrm>
            <a:off x="8748373" y="4378497"/>
            <a:ext cx="1346837" cy="148148"/>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Logs</a:t>
            </a:r>
          </a:p>
        </p:txBody>
      </p:sp>
      <p:sp>
        <p:nvSpPr>
          <p:cNvPr id="38" name="Rectangle 37">
            <a:extLst>
              <a:ext uri="{FF2B5EF4-FFF2-40B4-BE49-F238E27FC236}">
                <a16:creationId xmlns:a16="http://schemas.microsoft.com/office/drawing/2014/main" id="{D0E15718-F0AB-B574-8293-A6A514483176}"/>
              </a:ext>
            </a:extLst>
          </p:cNvPr>
          <p:cNvSpPr/>
          <p:nvPr/>
        </p:nvSpPr>
        <p:spPr>
          <a:xfrm>
            <a:off x="8748373" y="3760914"/>
            <a:ext cx="1346837" cy="148148"/>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Servicios Principales</a:t>
            </a:r>
          </a:p>
        </p:txBody>
      </p:sp>
      <p:sp>
        <p:nvSpPr>
          <p:cNvPr id="39" name="Rectangle 38">
            <a:extLst>
              <a:ext uri="{FF2B5EF4-FFF2-40B4-BE49-F238E27FC236}">
                <a16:creationId xmlns:a16="http://schemas.microsoft.com/office/drawing/2014/main" id="{D7B4BF73-3EEB-DEF8-3FAE-8861C54A3406}"/>
              </a:ext>
            </a:extLst>
          </p:cNvPr>
          <p:cNvSpPr/>
          <p:nvPr/>
        </p:nvSpPr>
        <p:spPr>
          <a:xfrm>
            <a:off x="8748373" y="4172636"/>
            <a:ext cx="1346837" cy="148148"/>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Datos externos</a:t>
            </a:r>
          </a:p>
        </p:txBody>
      </p:sp>
      <p:sp>
        <p:nvSpPr>
          <p:cNvPr id="40" name="Rectangle 39">
            <a:extLst>
              <a:ext uri="{FF2B5EF4-FFF2-40B4-BE49-F238E27FC236}">
                <a16:creationId xmlns:a16="http://schemas.microsoft.com/office/drawing/2014/main" id="{C04FAFC3-14E6-5E32-46BE-BD996616626B}"/>
              </a:ext>
            </a:extLst>
          </p:cNvPr>
          <p:cNvSpPr/>
          <p:nvPr/>
        </p:nvSpPr>
        <p:spPr>
          <a:xfrm>
            <a:off x="8748373" y="4584358"/>
            <a:ext cx="1346837" cy="148148"/>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a:t>
            </a:r>
          </a:p>
        </p:txBody>
      </p:sp>
      <p:sp>
        <p:nvSpPr>
          <p:cNvPr id="41" name="Rectangle 40">
            <a:extLst>
              <a:ext uri="{FF2B5EF4-FFF2-40B4-BE49-F238E27FC236}">
                <a16:creationId xmlns:a16="http://schemas.microsoft.com/office/drawing/2014/main" id="{B836F4AE-5B12-DB7D-2119-C53051FB8255}"/>
              </a:ext>
            </a:extLst>
          </p:cNvPr>
          <p:cNvSpPr/>
          <p:nvPr/>
        </p:nvSpPr>
        <p:spPr>
          <a:xfrm>
            <a:off x="8748373" y="3966775"/>
            <a:ext cx="1346837" cy="148148"/>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Core SoR</a:t>
            </a:r>
            <a:endParaRPr kumimoji="0" lang="en-US" sz="900" b="0" i="0" u="none" strike="noStrike" kern="1200" cap="none" spc="0" normalizeH="0" baseline="0" noProof="0" dirty="0">
              <a:ln>
                <a:noFill/>
              </a:ln>
              <a:solidFill>
                <a:srgbClr val="000000"/>
              </a:solidFill>
              <a:effectLst/>
              <a:uLnTx/>
              <a:uFillTx/>
              <a:latin typeface="Graphik"/>
              <a:ea typeface="+mn-ea"/>
              <a:cs typeface="+mn-cs"/>
            </a:endParaRPr>
          </a:p>
        </p:txBody>
      </p:sp>
      <p:sp>
        <p:nvSpPr>
          <p:cNvPr id="42" name="Flowchart: Magnetic Disk 41">
            <a:extLst>
              <a:ext uri="{FF2B5EF4-FFF2-40B4-BE49-F238E27FC236}">
                <a16:creationId xmlns:a16="http://schemas.microsoft.com/office/drawing/2014/main" id="{79B62217-7346-F208-0738-37710DE22FE5}"/>
              </a:ext>
            </a:extLst>
          </p:cNvPr>
          <p:cNvSpPr/>
          <p:nvPr/>
        </p:nvSpPr>
        <p:spPr>
          <a:xfrm>
            <a:off x="8743144" y="4788546"/>
            <a:ext cx="1331195" cy="289473"/>
          </a:xfrm>
          <a:prstGeom prst="flowChartMagneticDisk">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Registro de eventos</a:t>
            </a:r>
            <a:endParaRPr kumimoji="0" lang="en-US" sz="900" b="0" i="0" u="none" strike="noStrike" kern="1200" cap="none" spc="0" normalizeH="0" baseline="0" noProof="0">
              <a:ln>
                <a:noFill/>
              </a:ln>
              <a:solidFill>
                <a:srgbClr val="FFFFFF"/>
              </a:solidFill>
              <a:effectLst/>
              <a:uLnTx/>
              <a:uFillTx/>
              <a:latin typeface="Graphik"/>
              <a:ea typeface="+mn-ea"/>
              <a:cs typeface="+mn-cs"/>
            </a:endParaRPr>
          </a:p>
        </p:txBody>
      </p:sp>
      <p:sp>
        <p:nvSpPr>
          <p:cNvPr id="43" name="Rectangle 42">
            <a:extLst>
              <a:ext uri="{FF2B5EF4-FFF2-40B4-BE49-F238E27FC236}">
                <a16:creationId xmlns:a16="http://schemas.microsoft.com/office/drawing/2014/main" id="{20361BC8-2574-C3D3-5F48-4A2347C07A67}"/>
              </a:ext>
            </a:extLst>
          </p:cNvPr>
          <p:cNvSpPr/>
          <p:nvPr/>
        </p:nvSpPr>
        <p:spPr>
          <a:xfrm>
            <a:off x="3958514" y="2789210"/>
            <a:ext cx="1390862" cy="154363"/>
          </a:xfrm>
          <a:prstGeom prst="rect">
            <a:avLst/>
          </a:prstGeom>
          <a:solidFill>
            <a:schemeClr val="accent3">
              <a:lumMod val="40000"/>
              <a:lumOff val="6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Entrega garantizada</a:t>
            </a:r>
          </a:p>
        </p:txBody>
      </p:sp>
      <p:sp>
        <p:nvSpPr>
          <p:cNvPr id="44" name="Rectangle 43">
            <a:extLst>
              <a:ext uri="{FF2B5EF4-FFF2-40B4-BE49-F238E27FC236}">
                <a16:creationId xmlns:a16="http://schemas.microsoft.com/office/drawing/2014/main" id="{8F317CE7-B463-8746-B8F9-E0C5E8CD9FB5}"/>
              </a:ext>
            </a:extLst>
          </p:cNvPr>
          <p:cNvSpPr/>
          <p:nvPr/>
        </p:nvSpPr>
        <p:spPr>
          <a:xfrm>
            <a:off x="3958514" y="2975835"/>
            <a:ext cx="1390862" cy="276957"/>
          </a:xfrm>
          <a:prstGeom prst="rect">
            <a:avLst/>
          </a:prstGeom>
          <a:solidFill>
            <a:schemeClr val="accent3">
              <a:lumMod val="40000"/>
              <a:lumOff val="6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Monitorización de Eventos</a:t>
            </a:r>
          </a:p>
        </p:txBody>
      </p:sp>
      <p:sp>
        <p:nvSpPr>
          <p:cNvPr id="45" name="Rectangle 44">
            <a:extLst>
              <a:ext uri="{FF2B5EF4-FFF2-40B4-BE49-F238E27FC236}">
                <a16:creationId xmlns:a16="http://schemas.microsoft.com/office/drawing/2014/main" id="{A413AFFE-14C9-AD5C-C3A1-023DF3BC6F33}"/>
              </a:ext>
            </a:extLst>
          </p:cNvPr>
          <p:cNvSpPr/>
          <p:nvPr/>
        </p:nvSpPr>
        <p:spPr>
          <a:xfrm>
            <a:off x="3817502" y="2284977"/>
            <a:ext cx="1639228" cy="188522"/>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Herramientas Kafka</a:t>
            </a:r>
          </a:p>
        </p:txBody>
      </p:sp>
      <p:cxnSp>
        <p:nvCxnSpPr>
          <p:cNvPr id="46" name="Straight Arrow Connector 45">
            <a:extLst>
              <a:ext uri="{FF2B5EF4-FFF2-40B4-BE49-F238E27FC236}">
                <a16:creationId xmlns:a16="http://schemas.microsoft.com/office/drawing/2014/main" id="{4A688197-E6BA-9DDB-0A71-64ECAF2A34A6}"/>
              </a:ext>
            </a:extLst>
          </p:cNvPr>
          <p:cNvCxnSpPr>
            <a:cxnSpLocks/>
            <a:stCxn id="45" idx="2"/>
            <a:endCxn id="8" idx="0"/>
          </p:cNvCxnSpPr>
          <p:nvPr/>
        </p:nvCxnSpPr>
        <p:spPr>
          <a:xfrm>
            <a:off x="4637116" y="2473499"/>
            <a:ext cx="2176" cy="123798"/>
          </a:xfrm>
          <a:prstGeom prst="straightConnector1">
            <a:avLst/>
          </a:prstGeom>
          <a:ln w="9525">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47" name="Connector: Elbow 46">
            <a:extLst>
              <a:ext uri="{FF2B5EF4-FFF2-40B4-BE49-F238E27FC236}">
                <a16:creationId xmlns:a16="http://schemas.microsoft.com/office/drawing/2014/main" id="{ABA5CF67-B703-039B-8D12-FF9B33A776B0}"/>
              </a:ext>
            </a:extLst>
          </p:cNvPr>
          <p:cNvCxnSpPr>
            <a:cxnSpLocks/>
            <a:stCxn id="23" idx="1"/>
            <a:endCxn id="34" idx="1"/>
          </p:cNvCxnSpPr>
          <p:nvPr/>
        </p:nvCxnSpPr>
        <p:spPr>
          <a:xfrm flipV="1">
            <a:off x="5023319" y="4095587"/>
            <a:ext cx="3599571" cy="0"/>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8" name="Connector: Elbow 47">
            <a:extLst>
              <a:ext uri="{FF2B5EF4-FFF2-40B4-BE49-F238E27FC236}">
                <a16:creationId xmlns:a16="http://schemas.microsoft.com/office/drawing/2014/main" id="{EF17F4FB-CAED-F72E-619B-911468B40524}"/>
              </a:ext>
            </a:extLst>
          </p:cNvPr>
          <p:cNvCxnSpPr>
            <a:cxnSpLocks/>
            <a:stCxn id="14" idx="3"/>
            <a:endCxn id="23" idx="3"/>
          </p:cNvCxnSpPr>
          <p:nvPr/>
        </p:nvCxnSpPr>
        <p:spPr>
          <a:xfrm flipV="1">
            <a:off x="1982992" y="4117248"/>
            <a:ext cx="2294636" cy="0"/>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7601B100-D9B7-D6BD-5123-E1099DFFAD25}"/>
              </a:ext>
            </a:extLst>
          </p:cNvPr>
          <p:cNvCxnSpPr>
            <a:cxnSpLocks/>
            <a:stCxn id="10" idx="1"/>
          </p:cNvCxnSpPr>
          <p:nvPr/>
        </p:nvCxnSpPr>
        <p:spPr>
          <a:xfrm flipH="1">
            <a:off x="5438040" y="1848416"/>
            <a:ext cx="1683806" cy="501133"/>
          </a:xfrm>
          <a:prstGeom prst="straightConnector1">
            <a:avLst/>
          </a:prstGeom>
          <a:ln w="9525">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4F7DA6DE-566D-52AA-6D3B-89EB68833450}"/>
              </a:ext>
            </a:extLst>
          </p:cNvPr>
          <p:cNvCxnSpPr>
            <a:cxnSpLocks/>
            <a:stCxn id="10" idx="3"/>
            <a:endCxn id="34" idx="0"/>
          </p:cNvCxnSpPr>
          <p:nvPr/>
        </p:nvCxnSpPr>
        <p:spPr>
          <a:xfrm>
            <a:off x="8148107" y="1848416"/>
            <a:ext cx="1266301" cy="1153490"/>
          </a:xfrm>
          <a:prstGeom prst="straightConnector1">
            <a:avLst/>
          </a:prstGeom>
          <a:ln w="9525">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51" name="Rectangle 50">
            <a:extLst>
              <a:ext uri="{FF2B5EF4-FFF2-40B4-BE49-F238E27FC236}">
                <a16:creationId xmlns:a16="http://schemas.microsoft.com/office/drawing/2014/main" id="{7EBB2FB6-2F7D-7332-3B28-062055D9259C}"/>
              </a:ext>
            </a:extLst>
          </p:cNvPr>
          <p:cNvSpPr/>
          <p:nvPr/>
        </p:nvSpPr>
        <p:spPr>
          <a:xfrm>
            <a:off x="8103300" y="833575"/>
            <a:ext cx="600122" cy="191240"/>
          </a:xfrm>
          <a:prstGeom prst="rect">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FFFFFF"/>
                </a:solidFill>
                <a:effectLst/>
                <a:uLnTx/>
                <a:uFillTx/>
                <a:latin typeface="Graphik"/>
                <a:ea typeface="+mn-ea"/>
                <a:cs typeface="+mn-cs"/>
              </a:rPr>
              <a:t>Customizado</a:t>
            </a:r>
          </a:p>
        </p:txBody>
      </p:sp>
      <p:sp>
        <p:nvSpPr>
          <p:cNvPr id="52" name="Rectangle 51">
            <a:extLst>
              <a:ext uri="{FF2B5EF4-FFF2-40B4-BE49-F238E27FC236}">
                <a16:creationId xmlns:a16="http://schemas.microsoft.com/office/drawing/2014/main" id="{2B9311BE-B50F-F390-06EF-095D56462E9F}"/>
              </a:ext>
            </a:extLst>
          </p:cNvPr>
          <p:cNvSpPr/>
          <p:nvPr/>
        </p:nvSpPr>
        <p:spPr>
          <a:xfrm>
            <a:off x="3958514" y="3276817"/>
            <a:ext cx="1390862" cy="274154"/>
          </a:xfrm>
          <a:prstGeom prst="rect">
            <a:avLst/>
          </a:prstGeom>
          <a:solidFill>
            <a:schemeClr val="accent3">
              <a:lumMod val="40000"/>
              <a:lumOff val="6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Agrupamineto / Enrutamiento</a:t>
            </a:r>
          </a:p>
        </p:txBody>
      </p:sp>
      <p:sp>
        <p:nvSpPr>
          <p:cNvPr id="53" name="Rectangle 52">
            <a:extLst>
              <a:ext uri="{FF2B5EF4-FFF2-40B4-BE49-F238E27FC236}">
                <a16:creationId xmlns:a16="http://schemas.microsoft.com/office/drawing/2014/main" id="{74313583-BB99-5346-A1C2-A0450A6BD4E0}"/>
              </a:ext>
            </a:extLst>
          </p:cNvPr>
          <p:cNvSpPr/>
          <p:nvPr/>
        </p:nvSpPr>
        <p:spPr>
          <a:xfrm>
            <a:off x="7222760" y="1842495"/>
            <a:ext cx="819431" cy="281200"/>
          </a:xfrm>
          <a:prstGeom prst="rect">
            <a:avLst/>
          </a:prstGeom>
          <a:solidFill>
            <a:srgbClr val="FFEAE7"/>
          </a:solidFill>
          <a:ln>
            <a:solidFill>
              <a:srgbClr val="C5763B"/>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Búsqueda de eventos</a:t>
            </a:r>
          </a:p>
        </p:txBody>
      </p:sp>
      <p:sp>
        <p:nvSpPr>
          <p:cNvPr id="54" name="Rectangle 53">
            <a:extLst>
              <a:ext uri="{FF2B5EF4-FFF2-40B4-BE49-F238E27FC236}">
                <a16:creationId xmlns:a16="http://schemas.microsoft.com/office/drawing/2014/main" id="{C9025F1D-9E3C-7AA3-664C-99FB9FF40985}"/>
              </a:ext>
            </a:extLst>
          </p:cNvPr>
          <p:cNvSpPr/>
          <p:nvPr/>
        </p:nvSpPr>
        <p:spPr>
          <a:xfrm>
            <a:off x="7227371" y="2164707"/>
            <a:ext cx="819431" cy="271508"/>
          </a:xfrm>
          <a:prstGeom prst="rect">
            <a:avLst/>
          </a:prstGeom>
          <a:solidFill>
            <a:srgbClr val="FFEAE7"/>
          </a:solidFill>
          <a:ln>
            <a:solidFill>
              <a:srgbClr val="C5763B"/>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Lambda</a:t>
            </a:r>
          </a:p>
        </p:txBody>
      </p:sp>
      <p:sp>
        <p:nvSpPr>
          <p:cNvPr id="55" name="Rectangle 54">
            <a:extLst>
              <a:ext uri="{FF2B5EF4-FFF2-40B4-BE49-F238E27FC236}">
                <a16:creationId xmlns:a16="http://schemas.microsoft.com/office/drawing/2014/main" id="{C68E0F57-5F34-B08C-C307-CE8EBC7A47E9}"/>
              </a:ext>
            </a:extLst>
          </p:cNvPr>
          <p:cNvSpPr/>
          <p:nvPr/>
        </p:nvSpPr>
        <p:spPr>
          <a:xfrm>
            <a:off x="7232552" y="2481516"/>
            <a:ext cx="819431" cy="271508"/>
          </a:xfrm>
          <a:prstGeom prst="rect">
            <a:avLst/>
          </a:prstGeom>
          <a:solidFill>
            <a:srgbClr val="FFEAE7"/>
          </a:solidFill>
          <a:ln>
            <a:solidFill>
              <a:srgbClr val="C5763B"/>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Kappa</a:t>
            </a:r>
          </a:p>
        </p:txBody>
      </p:sp>
      <p:grpSp>
        <p:nvGrpSpPr>
          <p:cNvPr id="56" name="Group 55">
            <a:extLst>
              <a:ext uri="{FF2B5EF4-FFF2-40B4-BE49-F238E27FC236}">
                <a16:creationId xmlns:a16="http://schemas.microsoft.com/office/drawing/2014/main" id="{202EE1ED-4CB1-C99B-C199-8C7226626300}"/>
              </a:ext>
            </a:extLst>
          </p:cNvPr>
          <p:cNvGrpSpPr/>
          <p:nvPr/>
        </p:nvGrpSpPr>
        <p:grpSpPr>
          <a:xfrm>
            <a:off x="5243545" y="2159694"/>
            <a:ext cx="612000" cy="180000"/>
            <a:chOff x="5725733" y="5189404"/>
            <a:chExt cx="1080000" cy="360000"/>
          </a:xfrm>
          <a:solidFill>
            <a:schemeClr val="bg1"/>
          </a:solidFill>
        </p:grpSpPr>
        <p:sp>
          <p:nvSpPr>
            <p:cNvPr id="57" name="Rectangle 56">
              <a:extLst>
                <a:ext uri="{FF2B5EF4-FFF2-40B4-BE49-F238E27FC236}">
                  <a16:creationId xmlns:a16="http://schemas.microsoft.com/office/drawing/2014/main" id="{6AB89A9C-BD7C-8F4F-144B-225A90144E0E}"/>
                </a:ext>
              </a:extLst>
            </p:cNvPr>
            <p:cNvSpPr/>
            <p:nvPr/>
          </p:nvSpPr>
          <p:spPr>
            <a:xfrm>
              <a:off x="5725733" y="5189404"/>
              <a:ext cx="1080000" cy="360000"/>
            </a:xfrm>
            <a:prstGeom prst="rect">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000000"/>
                  </a:solidFill>
                  <a:effectLst/>
                  <a:uLnTx/>
                  <a:uFillTx/>
                  <a:latin typeface="Graphik"/>
                  <a:ea typeface="+mn-ea"/>
                  <a:cs typeface="+mn-cs"/>
                </a:rPr>
                <a:t>Confluent</a:t>
              </a:r>
            </a:p>
          </p:txBody>
        </p:sp>
        <p:pic>
          <p:nvPicPr>
            <p:cNvPr id="58" name="Picture 57">
              <a:extLst>
                <a:ext uri="{FF2B5EF4-FFF2-40B4-BE49-F238E27FC236}">
                  <a16:creationId xmlns:a16="http://schemas.microsoft.com/office/drawing/2014/main" id="{346E7EA7-5A97-F091-1EC7-31E82733A596}"/>
                </a:ext>
              </a:extLst>
            </p:cNvPr>
            <p:cNvPicPr>
              <a:picLocks noChangeAspect="1"/>
            </p:cNvPicPr>
            <p:nvPr/>
          </p:nvPicPr>
          <p:blipFill>
            <a:blip r:embed="rId3"/>
            <a:stretch>
              <a:fillRect/>
            </a:stretch>
          </p:blipFill>
          <p:spPr>
            <a:xfrm>
              <a:off x="5755534" y="5223097"/>
              <a:ext cx="1020399" cy="292615"/>
            </a:xfrm>
            <a:prstGeom prst="rect">
              <a:avLst/>
            </a:prstGeom>
            <a:grpFill/>
          </p:spPr>
        </p:pic>
      </p:grpSp>
      <p:sp>
        <p:nvSpPr>
          <p:cNvPr id="59" name="Rectangle 58">
            <a:extLst>
              <a:ext uri="{FF2B5EF4-FFF2-40B4-BE49-F238E27FC236}">
                <a16:creationId xmlns:a16="http://schemas.microsoft.com/office/drawing/2014/main" id="{0A90CAB3-E338-0403-BF20-153D4DBCD5E8}"/>
              </a:ext>
            </a:extLst>
          </p:cNvPr>
          <p:cNvSpPr/>
          <p:nvPr/>
        </p:nvSpPr>
        <p:spPr>
          <a:xfrm>
            <a:off x="5234591" y="2345517"/>
            <a:ext cx="600122" cy="191240"/>
          </a:xfrm>
          <a:prstGeom prst="rect">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FFFFFF"/>
                </a:solidFill>
                <a:effectLst/>
                <a:uLnTx/>
                <a:uFillTx/>
                <a:latin typeface="Graphik"/>
                <a:ea typeface="+mn-ea"/>
                <a:cs typeface="+mn-cs"/>
              </a:rPr>
              <a:t>Customizado</a:t>
            </a:r>
          </a:p>
        </p:txBody>
      </p:sp>
      <p:sp>
        <p:nvSpPr>
          <p:cNvPr id="60" name="Rectangle 59">
            <a:extLst>
              <a:ext uri="{FF2B5EF4-FFF2-40B4-BE49-F238E27FC236}">
                <a16:creationId xmlns:a16="http://schemas.microsoft.com/office/drawing/2014/main" id="{B721975F-6570-87B0-A597-2838071DDB1D}"/>
              </a:ext>
            </a:extLst>
          </p:cNvPr>
          <p:cNvSpPr/>
          <p:nvPr/>
        </p:nvSpPr>
        <p:spPr>
          <a:xfrm>
            <a:off x="4030946" y="3579749"/>
            <a:ext cx="1171198" cy="159611"/>
          </a:xfrm>
          <a:prstGeom prst="rect">
            <a:avLst/>
          </a:prstGeom>
          <a:solidFill>
            <a:schemeClr val="accent3">
              <a:lumMod val="40000"/>
              <a:lumOff val="6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Gestor de eventos</a:t>
            </a:r>
          </a:p>
        </p:txBody>
      </p:sp>
      <p:sp>
        <p:nvSpPr>
          <p:cNvPr id="61" name="TextBox 60">
            <a:extLst>
              <a:ext uri="{FF2B5EF4-FFF2-40B4-BE49-F238E27FC236}">
                <a16:creationId xmlns:a16="http://schemas.microsoft.com/office/drawing/2014/main" id="{3A0A212C-FC36-ABF8-2856-216E815894FD}"/>
              </a:ext>
            </a:extLst>
          </p:cNvPr>
          <p:cNvSpPr txBox="1"/>
          <p:nvPr/>
        </p:nvSpPr>
        <p:spPr>
          <a:xfrm>
            <a:off x="6491447" y="4205119"/>
            <a:ext cx="914400" cy="222530"/>
          </a:xfrm>
          <a:prstGeom prst="rect">
            <a:avLst/>
          </a:prstGeom>
          <a:noFill/>
        </p:spPr>
        <p:txBody>
          <a:bodyPr wrap="none" lIns="0" tIns="0" rIns="0" bIns="0" rtlCol="0">
            <a:noAutofit/>
          </a:bodyPr>
          <a:lstStyle/>
          <a:p>
            <a:pPr marL="0" marR="0" lvl="0" indent="0" algn="l" defTabSz="228600" rtl="0" eaLnBrk="1" fontAlgn="auto" latinLnBrk="0" hangingPunct="1">
              <a:lnSpc>
                <a:spcPct val="100000"/>
              </a:lnSpc>
              <a:spcBef>
                <a:spcPts val="0"/>
              </a:spcBef>
              <a:spcAft>
                <a:spcPts val="1200"/>
              </a:spcAft>
              <a:buClrTx/>
              <a:buSzTx/>
              <a:buFontTx/>
              <a:buNone/>
              <a:tabLst/>
              <a:defRPr/>
            </a:pPr>
            <a:r>
              <a:rPr kumimoji="0" lang="es" sz="1200" b="0" i="0" u="none" strike="noStrike" kern="1200" cap="none" spc="0" normalizeH="0" baseline="0" noProof="0" dirty="0">
                <a:ln>
                  <a:noFill/>
                </a:ln>
                <a:solidFill>
                  <a:srgbClr val="000000"/>
                </a:solidFill>
                <a:effectLst/>
                <a:uLnTx/>
                <a:uFillTx/>
                <a:latin typeface="Graphik"/>
                <a:ea typeface="+mn-ea"/>
                <a:cs typeface="+mn-cs"/>
              </a:rPr>
              <a:t>Orden</a:t>
            </a:r>
            <a:endParaRPr kumimoji="0" lang="es-MX" sz="1200" b="0" i="0" u="none" strike="noStrike" kern="1200" cap="none" spc="0" normalizeH="0" baseline="0" noProof="0" dirty="0">
              <a:ln>
                <a:noFill/>
              </a:ln>
              <a:solidFill>
                <a:srgbClr val="000000"/>
              </a:solidFill>
              <a:effectLst/>
              <a:uLnTx/>
              <a:uFillTx/>
              <a:latin typeface="Graphik"/>
              <a:ea typeface="+mn-ea"/>
              <a:cs typeface="+mn-cs"/>
            </a:endParaRPr>
          </a:p>
        </p:txBody>
      </p:sp>
      <p:sp>
        <p:nvSpPr>
          <p:cNvPr id="62" name="TextBox 61">
            <a:extLst>
              <a:ext uri="{FF2B5EF4-FFF2-40B4-BE49-F238E27FC236}">
                <a16:creationId xmlns:a16="http://schemas.microsoft.com/office/drawing/2014/main" id="{64EC0E39-0A6A-DD63-AE38-39E1700459A8}"/>
              </a:ext>
            </a:extLst>
          </p:cNvPr>
          <p:cNvSpPr txBox="1"/>
          <p:nvPr/>
        </p:nvSpPr>
        <p:spPr>
          <a:xfrm>
            <a:off x="2659760" y="3908850"/>
            <a:ext cx="914400" cy="159957"/>
          </a:xfrm>
          <a:prstGeom prst="rect">
            <a:avLst/>
          </a:prstGeom>
          <a:noFill/>
        </p:spPr>
        <p:txBody>
          <a:bodyPr wrap="none" lIns="0" tIns="0" rIns="0" bIns="0" rtlCol="0">
            <a:noAutofit/>
          </a:bodyPr>
          <a:lstStyle/>
          <a:p>
            <a:pPr marL="0" marR="0" lvl="0" indent="0" algn="l" defTabSz="228600" rtl="0" eaLnBrk="1" fontAlgn="auto" latinLnBrk="0" hangingPunct="1">
              <a:lnSpc>
                <a:spcPct val="100000"/>
              </a:lnSpc>
              <a:spcBef>
                <a:spcPts val="0"/>
              </a:spcBef>
              <a:spcAft>
                <a:spcPts val="1200"/>
              </a:spcAft>
              <a:buClrTx/>
              <a:buSzTx/>
              <a:buFontTx/>
              <a:buNone/>
              <a:tabLst/>
              <a:defRPr/>
            </a:pPr>
            <a:r>
              <a:rPr kumimoji="0" lang="es" sz="1200" b="0" i="0" u="none" strike="noStrike" kern="1200" cap="none" spc="0" normalizeH="0" baseline="0" noProof="0" err="1">
                <a:ln>
                  <a:noFill/>
                </a:ln>
                <a:solidFill>
                  <a:srgbClr val="000000"/>
                </a:solidFill>
                <a:effectLst/>
                <a:uLnTx/>
                <a:uFillTx/>
                <a:latin typeface="Graphik"/>
                <a:ea typeface="+mn-ea"/>
                <a:cs typeface="+mn-cs"/>
              </a:rPr>
              <a:t>Consulta</a:t>
            </a:r>
            <a:endParaRPr kumimoji="0" lang="es-MX" sz="1200" b="0" i="0" u="none" strike="noStrike" kern="1200" cap="none" spc="0" normalizeH="0" baseline="0" noProof="0">
              <a:ln>
                <a:noFill/>
              </a:ln>
              <a:solidFill>
                <a:srgbClr val="000000"/>
              </a:solidFill>
              <a:effectLst/>
              <a:uLnTx/>
              <a:uFillTx/>
              <a:latin typeface="Graphik"/>
              <a:ea typeface="+mn-ea"/>
              <a:cs typeface="+mn-cs"/>
            </a:endParaRPr>
          </a:p>
        </p:txBody>
      </p:sp>
      <p:cxnSp>
        <p:nvCxnSpPr>
          <p:cNvPr id="63" name="Connector: Elbow 62">
            <a:extLst>
              <a:ext uri="{FF2B5EF4-FFF2-40B4-BE49-F238E27FC236}">
                <a16:creationId xmlns:a16="http://schemas.microsoft.com/office/drawing/2014/main" id="{3BB49737-8FFB-96CA-527C-953623137B37}"/>
              </a:ext>
            </a:extLst>
          </p:cNvPr>
          <p:cNvCxnSpPr>
            <a:cxnSpLocks/>
            <a:endCxn id="24" idx="1"/>
          </p:cNvCxnSpPr>
          <p:nvPr/>
        </p:nvCxnSpPr>
        <p:spPr>
          <a:xfrm rot="10800000" flipV="1">
            <a:off x="5023320" y="4429524"/>
            <a:ext cx="3599571" cy="0"/>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64" name="Connector: Elbow 63">
            <a:extLst>
              <a:ext uri="{FF2B5EF4-FFF2-40B4-BE49-F238E27FC236}">
                <a16:creationId xmlns:a16="http://schemas.microsoft.com/office/drawing/2014/main" id="{07FF11FA-C720-0D1A-BEEF-584EF2D4236D}"/>
              </a:ext>
            </a:extLst>
          </p:cNvPr>
          <p:cNvCxnSpPr>
            <a:cxnSpLocks/>
            <a:stCxn id="24" idx="3"/>
          </p:cNvCxnSpPr>
          <p:nvPr/>
        </p:nvCxnSpPr>
        <p:spPr>
          <a:xfrm rot="10800000" flipV="1">
            <a:off x="1982992" y="4429523"/>
            <a:ext cx="2294636" cy="0"/>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71" name="Rectangle 70">
            <a:extLst>
              <a:ext uri="{FF2B5EF4-FFF2-40B4-BE49-F238E27FC236}">
                <a16:creationId xmlns:a16="http://schemas.microsoft.com/office/drawing/2014/main" id="{EAC70706-A2B5-13E7-7814-D5A525C0421F}"/>
              </a:ext>
            </a:extLst>
          </p:cNvPr>
          <p:cNvSpPr/>
          <p:nvPr/>
        </p:nvSpPr>
        <p:spPr>
          <a:xfrm>
            <a:off x="7860146" y="5585430"/>
            <a:ext cx="3439086" cy="205327"/>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Componentes principales de esta capacidad</a:t>
            </a:r>
          </a:p>
        </p:txBody>
      </p:sp>
      <p:sp>
        <p:nvSpPr>
          <p:cNvPr id="73" name="Rectangle 72">
            <a:extLst>
              <a:ext uri="{FF2B5EF4-FFF2-40B4-BE49-F238E27FC236}">
                <a16:creationId xmlns:a16="http://schemas.microsoft.com/office/drawing/2014/main" id="{4F2AB2D7-447D-1E58-4798-3C583099F5C2}"/>
              </a:ext>
            </a:extLst>
          </p:cNvPr>
          <p:cNvSpPr/>
          <p:nvPr/>
        </p:nvSpPr>
        <p:spPr>
          <a:xfrm>
            <a:off x="7860146" y="5819582"/>
            <a:ext cx="3439086" cy="187603"/>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Componentes de otras capacidades relacionadas</a:t>
            </a:r>
          </a:p>
        </p:txBody>
      </p:sp>
    </p:spTree>
    <p:extLst>
      <p:ext uri="{BB962C8B-B14F-4D97-AF65-F5344CB8AC3E}">
        <p14:creationId xmlns:p14="http://schemas.microsoft.com/office/powerpoint/2010/main" val="145479004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B7A2CC-8CB3-43C3-21A2-57ABE1970EC9}"/>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76B17AA1-577C-7A19-CB54-79EAA26BD969}"/>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dirty="0">
                <a:ln>
                  <a:noFill/>
                </a:ln>
                <a:solidFill>
                  <a:srgbClr val="000000">
                    <a:alpha val="65000"/>
                  </a:srgbClr>
                </a:solidFill>
                <a:effectLst/>
                <a:uLnTx/>
                <a:uFillTx/>
                <a:latin typeface="Graphik"/>
                <a:ea typeface="+mn-ea"/>
                <a:cs typeface="+mn-cs"/>
              </a:rPr>
              <a:t>Copyright © 2025 Accenture. Todos los derechos reservados.</a:t>
            </a:r>
          </a:p>
        </p:txBody>
      </p:sp>
      <p:sp>
        <p:nvSpPr>
          <p:cNvPr id="84" name="Title 1">
            <a:extLst>
              <a:ext uri="{FF2B5EF4-FFF2-40B4-BE49-F238E27FC236}">
                <a16:creationId xmlns:a16="http://schemas.microsoft.com/office/drawing/2014/main" id="{D4DE9E58-931B-96C3-CFBE-AD877FA6A381}"/>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a:ln>
                  <a:noFill/>
                </a:ln>
                <a:solidFill>
                  <a:srgbClr val="7500C0"/>
                </a:solidFill>
                <a:effectLst/>
                <a:uLnTx/>
                <a:uFillTx/>
                <a:latin typeface="Graphik"/>
                <a:ea typeface="+mj-ea"/>
                <a:cs typeface="+mj-cs"/>
              </a:rPr>
              <a:t>Activo de Interoperabilidad </a:t>
            </a:r>
            <a:r>
              <a:rPr kumimoji="0" lang="es" sz="2400" b="1" i="0" u="none" strike="noStrike" kern="1200" cap="none" spc="0" normalizeH="0" baseline="0" noProof="0">
                <a:ln>
                  <a:noFill/>
                </a:ln>
                <a:solidFill>
                  <a:srgbClr val="000000"/>
                </a:solidFill>
                <a:effectLst/>
                <a:uLnTx/>
                <a:uFillTx/>
                <a:latin typeface="Graphik"/>
                <a:ea typeface="+mj-ea"/>
                <a:cs typeface="+mj-cs"/>
              </a:rPr>
              <a:t>| </a:t>
            </a:r>
            <a:r>
              <a:rPr kumimoji="0" lang="es" sz="2000" b="1" i="0" u="none" strike="noStrike" kern="1200" cap="none" spc="0" normalizeH="0" baseline="0" noProof="0">
                <a:ln>
                  <a:noFill/>
                </a:ln>
                <a:solidFill>
                  <a:srgbClr val="000000"/>
                </a:solidFill>
                <a:effectLst/>
                <a:uLnTx/>
                <a:uFillTx/>
                <a:latin typeface="Graphik"/>
                <a:ea typeface="+mj-ea"/>
                <a:cs typeface="+mj-cs"/>
              </a:rPr>
              <a:t>Casos de uso candidatos (I)</a:t>
            </a:r>
            <a:endParaRPr kumimoji="0" lang="es" sz="2400" b="1" i="0" u="none" strike="noStrike" kern="1200" cap="none" spc="0" normalizeH="0" baseline="0" noProof="0">
              <a:ln>
                <a:noFill/>
              </a:ln>
              <a:solidFill>
                <a:srgbClr val="000000"/>
              </a:solidFill>
              <a:effectLst/>
              <a:uLnTx/>
              <a:uFillTx/>
              <a:latin typeface="Graphik"/>
              <a:ea typeface="+mj-ea"/>
              <a:cs typeface="+mj-cs"/>
            </a:endParaRPr>
          </a:p>
        </p:txBody>
      </p:sp>
      <p:sp>
        <p:nvSpPr>
          <p:cNvPr id="85" name="Content Placeholder 34">
            <a:extLst>
              <a:ext uri="{FF2B5EF4-FFF2-40B4-BE49-F238E27FC236}">
                <a16:creationId xmlns:a16="http://schemas.microsoft.com/office/drawing/2014/main" id="{937FA7DD-9429-64AD-605C-8BF690A22F6F}"/>
              </a:ext>
            </a:extLst>
          </p:cNvPr>
          <p:cNvSpPr txBox="1">
            <a:spLocks/>
          </p:cNvSpPr>
          <p:nvPr/>
        </p:nvSpPr>
        <p:spPr>
          <a:xfrm>
            <a:off x="285990" y="641993"/>
            <a:ext cx="11430000" cy="246221"/>
          </a:xfrm>
          <a:prstGeom prst="rect">
            <a:avLst/>
          </a:prstGeom>
        </p:spPr>
        <p:txBody>
          <a:bodyPr/>
          <a:lstStyle>
            <a:lvl1pPr marL="228600" indent="-228600" algn="l" defTabSz="228600" rtl="0" eaLnBrk="1" latinLnBrk="0" hangingPunct="1">
              <a:lnSpc>
                <a:spcPct val="100000"/>
              </a:lnSpc>
              <a:spcBef>
                <a:spcPts val="0"/>
              </a:spcBef>
              <a:spcAft>
                <a:spcPts val="600"/>
              </a:spcAft>
              <a:buFont typeface="Arial"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Arial"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Arial"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Arial"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Arial"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Arial" panose="020B0604020202020204" pitchFamily="34" charset="0"/>
              <a:buNone/>
              <a:defRPr sz="800" kern="1200">
                <a:solidFill>
                  <a:schemeClr val="tx2"/>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s" sz="1600" b="1" i="0" u="none" strike="noStrike" kern="1200" cap="none" spc="0" normalizeH="0" baseline="0" noProof="0">
                <a:ln>
                  <a:noFill/>
                </a:ln>
                <a:solidFill>
                  <a:srgbClr val="7500C0"/>
                </a:solidFill>
                <a:effectLst/>
                <a:uLnTx/>
                <a:uFillTx/>
                <a:latin typeface="Graphik" panose="020B0503030202060203" pitchFamily="34" charset="0"/>
                <a:ea typeface="+mn-ea"/>
                <a:cs typeface="+mn-cs"/>
              </a:rPr>
              <a:t>Orquestación y procesamiento de eventos</a:t>
            </a:r>
          </a:p>
        </p:txBody>
      </p:sp>
      <p:sp>
        <p:nvSpPr>
          <p:cNvPr id="86" name="Rectangle 85">
            <a:extLst>
              <a:ext uri="{FF2B5EF4-FFF2-40B4-BE49-F238E27FC236}">
                <a16:creationId xmlns:a16="http://schemas.microsoft.com/office/drawing/2014/main" id="{C228187A-3D30-A066-F0FC-0060FD49ECDF}"/>
              </a:ext>
            </a:extLst>
          </p:cNvPr>
          <p:cNvSpPr/>
          <p:nvPr/>
        </p:nvSpPr>
        <p:spPr>
          <a:xfrm>
            <a:off x="591113" y="4730467"/>
            <a:ext cx="3665511" cy="1024304"/>
          </a:xfrm>
          <a:prstGeom prst="rect">
            <a:avLst/>
          </a:prstGeom>
          <a:solidFill>
            <a:srgbClr val="FFEAE7"/>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b"/>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Dominio de datos</a:t>
            </a:r>
          </a:p>
        </p:txBody>
      </p:sp>
      <p:sp>
        <p:nvSpPr>
          <p:cNvPr id="87" name="Rectangle 86">
            <a:extLst>
              <a:ext uri="{FF2B5EF4-FFF2-40B4-BE49-F238E27FC236}">
                <a16:creationId xmlns:a16="http://schemas.microsoft.com/office/drawing/2014/main" id="{1755474F-14FD-54C2-0123-12C0F90DC3DA}"/>
              </a:ext>
            </a:extLst>
          </p:cNvPr>
          <p:cNvSpPr/>
          <p:nvPr/>
        </p:nvSpPr>
        <p:spPr>
          <a:xfrm>
            <a:off x="2217425" y="1625303"/>
            <a:ext cx="1233205" cy="243873"/>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dirty="0">
                <a:ln>
                  <a:noFill/>
                </a:ln>
                <a:solidFill>
                  <a:srgbClr val="000000"/>
                </a:solidFill>
                <a:effectLst/>
                <a:uLnTx/>
                <a:uFillTx/>
                <a:latin typeface="Graphik"/>
                <a:ea typeface="+mn-ea"/>
                <a:cs typeface="+mn-cs"/>
              </a:rPr>
              <a:t>API Gateway</a:t>
            </a:r>
          </a:p>
        </p:txBody>
      </p:sp>
      <p:sp>
        <p:nvSpPr>
          <p:cNvPr id="88" name="Rectangle 87">
            <a:extLst>
              <a:ext uri="{FF2B5EF4-FFF2-40B4-BE49-F238E27FC236}">
                <a16:creationId xmlns:a16="http://schemas.microsoft.com/office/drawing/2014/main" id="{69B18175-EB20-1A50-3149-94144B0418AB}"/>
              </a:ext>
            </a:extLst>
          </p:cNvPr>
          <p:cNvSpPr/>
          <p:nvPr/>
        </p:nvSpPr>
        <p:spPr>
          <a:xfrm>
            <a:off x="2217424" y="1170893"/>
            <a:ext cx="1233205" cy="243873"/>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Banca por Internet</a:t>
            </a:r>
          </a:p>
        </p:txBody>
      </p:sp>
      <p:sp>
        <p:nvSpPr>
          <p:cNvPr id="89" name="Rectangle 88">
            <a:extLst>
              <a:ext uri="{FF2B5EF4-FFF2-40B4-BE49-F238E27FC236}">
                <a16:creationId xmlns:a16="http://schemas.microsoft.com/office/drawing/2014/main" id="{6588EF7C-1B34-E866-1CEE-0A478E410B64}"/>
              </a:ext>
            </a:extLst>
          </p:cNvPr>
          <p:cNvSpPr/>
          <p:nvPr/>
        </p:nvSpPr>
        <p:spPr>
          <a:xfrm>
            <a:off x="285990" y="2106737"/>
            <a:ext cx="7596000" cy="2539512"/>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b"/>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Procesamiento de la </a:t>
            </a:r>
            <a:r>
              <a:rPr lang="es" sz="900" dirty="0">
                <a:solidFill>
                  <a:srgbClr val="000000"/>
                </a:solidFill>
                <a:latin typeface="Graphik"/>
              </a:rPr>
              <a:t>Pipeline</a:t>
            </a:r>
            <a:r>
              <a:rPr kumimoji="0" lang="es" sz="900" b="0" i="0" u="none" strike="noStrike" kern="1200" cap="none" spc="0" normalizeH="0" baseline="0" noProof="0" dirty="0">
                <a:ln>
                  <a:noFill/>
                </a:ln>
                <a:solidFill>
                  <a:srgbClr val="000000"/>
                </a:solidFill>
                <a:effectLst/>
                <a:uLnTx/>
                <a:uFillTx/>
                <a:latin typeface="Graphik"/>
                <a:ea typeface="+mn-ea"/>
                <a:cs typeface="+mn-cs"/>
              </a:rPr>
              <a:t> de Datos</a:t>
            </a:r>
          </a:p>
        </p:txBody>
      </p:sp>
      <p:sp>
        <p:nvSpPr>
          <p:cNvPr id="90" name="Rectangle 89">
            <a:extLst>
              <a:ext uri="{FF2B5EF4-FFF2-40B4-BE49-F238E27FC236}">
                <a16:creationId xmlns:a16="http://schemas.microsoft.com/office/drawing/2014/main" id="{208B2C03-A7A5-DFAA-F6BC-94872CA43A1C}"/>
              </a:ext>
            </a:extLst>
          </p:cNvPr>
          <p:cNvSpPr/>
          <p:nvPr/>
        </p:nvSpPr>
        <p:spPr>
          <a:xfrm>
            <a:off x="911471" y="1625303"/>
            <a:ext cx="1233205" cy="243873"/>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dirty="0">
                <a:ln>
                  <a:noFill/>
                </a:ln>
                <a:solidFill>
                  <a:srgbClr val="000000"/>
                </a:solidFill>
                <a:effectLst/>
                <a:uLnTx/>
                <a:uFillTx/>
                <a:latin typeface="Graphik"/>
                <a:ea typeface="+mn-ea"/>
                <a:cs typeface="+mn-cs"/>
              </a:rPr>
              <a:t>Pasarela de Eventos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dirty="0">
                <a:ln>
                  <a:noFill/>
                </a:ln>
                <a:solidFill>
                  <a:srgbClr val="000000"/>
                </a:solidFill>
                <a:effectLst/>
                <a:uLnTx/>
                <a:uFillTx/>
                <a:latin typeface="Graphik"/>
                <a:ea typeface="+mn-ea"/>
                <a:cs typeface="+mn-cs"/>
              </a:rPr>
              <a:t>(WebSockets)</a:t>
            </a:r>
          </a:p>
        </p:txBody>
      </p:sp>
      <p:cxnSp>
        <p:nvCxnSpPr>
          <p:cNvPr id="91" name="Connector: Elbow 90">
            <a:extLst>
              <a:ext uri="{FF2B5EF4-FFF2-40B4-BE49-F238E27FC236}">
                <a16:creationId xmlns:a16="http://schemas.microsoft.com/office/drawing/2014/main" id="{D6BB184B-9A2F-00C1-4A44-32AEC0281759}"/>
              </a:ext>
            </a:extLst>
          </p:cNvPr>
          <p:cNvCxnSpPr>
            <a:cxnSpLocks/>
            <a:stCxn id="90" idx="0"/>
            <a:endCxn id="88" idx="1"/>
          </p:cNvCxnSpPr>
          <p:nvPr/>
        </p:nvCxnSpPr>
        <p:spPr>
          <a:xfrm rot="5400000" flipH="1" flipV="1">
            <a:off x="1706513" y="1114392"/>
            <a:ext cx="332473" cy="689350"/>
          </a:xfrm>
          <a:prstGeom prst="bentConnector2">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grpSp>
        <p:nvGrpSpPr>
          <p:cNvPr id="92" name="Group 91">
            <a:extLst>
              <a:ext uri="{FF2B5EF4-FFF2-40B4-BE49-F238E27FC236}">
                <a16:creationId xmlns:a16="http://schemas.microsoft.com/office/drawing/2014/main" id="{6D965CC5-9BDB-E9AA-AA9A-1B58863CDA5F}"/>
              </a:ext>
            </a:extLst>
          </p:cNvPr>
          <p:cNvGrpSpPr/>
          <p:nvPr/>
        </p:nvGrpSpPr>
        <p:grpSpPr>
          <a:xfrm>
            <a:off x="6984612" y="4254944"/>
            <a:ext cx="612000" cy="180000"/>
            <a:chOff x="2461363" y="4801885"/>
            <a:chExt cx="1080000" cy="360000"/>
          </a:xfrm>
        </p:grpSpPr>
        <p:sp>
          <p:nvSpPr>
            <p:cNvPr id="93" name="Rectangle 92">
              <a:extLst>
                <a:ext uri="{FF2B5EF4-FFF2-40B4-BE49-F238E27FC236}">
                  <a16:creationId xmlns:a16="http://schemas.microsoft.com/office/drawing/2014/main" id="{D95405D8-3EE2-E78F-4069-910F8553B9A7}"/>
                </a:ext>
              </a:extLst>
            </p:cNvPr>
            <p:cNvSpPr/>
            <p:nvPr/>
          </p:nvSpPr>
          <p:spPr>
            <a:xfrm>
              <a:off x="2461363" y="4801885"/>
              <a:ext cx="1080000" cy="36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Graphik"/>
                <a:ea typeface="+mn-ea"/>
                <a:cs typeface="+mn-cs"/>
              </a:endParaRPr>
            </a:p>
          </p:txBody>
        </p:sp>
        <p:pic>
          <p:nvPicPr>
            <p:cNvPr id="94" name="Picture 93">
              <a:extLst>
                <a:ext uri="{FF2B5EF4-FFF2-40B4-BE49-F238E27FC236}">
                  <a16:creationId xmlns:a16="http://schemas.microsoft.com/office/drawing/2014/main" id="{3B5E43F1-CBEE-9A48-784F-337E1B51CEFA}"/>
                </a:ext>
              </a:extLst>
            </p:cNvPr>
            <p:cNvPicPr>
              <a:picLocks noChangeAspect="1"/>
            </p:cNvPicPr>
            <p:nvPr/>
          </p:nvPicPr>
          <p:blipFill>
            <a:blip r:embed="rId2"/>
            <a:stretch>
              <a:fillRect/>
            </a:stretch>
          </p:blipFill>
          <p:spPr>
            <a:xfrm>
              <a:off x="2654651" y="4822215"/>
              <a:ext cx="693425" cy="319340"/>
            </a:xfrm>
            <a:prstGeom prst="rect">
              <a:avLst/>
            </a:prstGeom>
            <a:solidFill>
              <a:schemeClr val="bg1"/>
            </a:solidFill>
          </p:spPr>
        </p:pic>
      </p:grpSp>
      <p:grpSp>
        <p:nvGrpSpPr>
          <p:cNvPr id="95" name="Group 94">
            <a:extLst>
              <a:ext uri="{FF2B5EF4-FFF2-40B4-BE49-F238E27FC236}">
                <a16:creationId xmlns:a16="http://schemas.microsoft.com/office/drawing/2014/main" id="{828DFDB7-AAB5-8B33-4763-7F6947F9C3BD}"/>
              </a:ext>
            </a:extLst>
          </p:cNvPr>
          <p:cNvGrpSpPr/>
          <p:nvPr/>
        </p:nvGrpSpPr>
        <p:grpSpPr>
          <a:xfrm>
            <a:off x="6984612" y="4056564"/>
            <a:ext cx="612000" cy="180000"/>
            <a:chOff x="5725733" y="5189404"/>
            <a:chExt cx="1080000" cy="360000"/>
          </a:xfrm>
          <a:solidFill>
            <a:schemeClr val="bg1"/>
          </a:solidFill>
        </p:grpSpPr>
        <p:sp>
          <p:nvSpPr>
            <p:cNvPr id="96" name="Rectangle 95">
              <a:extLst>
                <a:ext uri="{FF2B5EF4-FFF2-40B4-BE49-F238E27FC236}">
                  <a16:creationId xmlns:a16="http://schemas.microsoft.com/office/drawing/2014/main" id="{F93B34CB-AB77-AB5A-B84F-3941419632D3}"/>
                </a:ext>
              </a:extLst>
            </p:cNvPr>
            <p:cNvSpPr/>
            <p:nvPr/>
          </p:nvSpPr>
          <p:spPr>
            <a:xfrm>
              <a:off x="5725733" y="5189404"/>
              <a:ext cx="1080000" cy="360000"/>
            </a:xfrm>
            <a:prstGeom prst="rect">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000000"/>
                  </a:solidFill>
                  <a:effectLst/>
                  <a:uLnTx/>
                  <a:uFillTx/>
                  <a:latin typeface="Graphik"/>
                  <a:ea typeface="+mn-ea"/>
                  <a:cs typeface="+mn-cs"/>
                </a:rPr>
                <a:t>Confluent</a:t>
              </a:r>
            </a:p>
          </p:txBody>
        </p:sp>
        <p:pic>
          <p:nvPicPr>
            <p:cNvPr id="97" name="Picture 96">
              <a:extLst>
                <a:ext uri="{FF2B5EF4-FFF2-40B4-BE49-F238E27FC236}">
                  <a16:creationId xmlns:a16="http://schemas.microsoft.com/office/drawing/2014/main" id="{5BA0D11F-F10C-3BBA-BC6C-8F7405E2E76A}"/>
                </a:ext>
              </a:extLst>
            </p:cNvPr>
            <p:cNvPicPr>
              <a:picLocks noChangeAspect="1"/>
            </p:cNvPicPr>
            <p:nvPr/>
          </p:nvPicPr>
          <p:blipFill>
            <a:blip r:embed="rId3"/>
            <a:stretch>
              <a:fillRect/>
            </a:stretch>
          </p:blipFill>
          <p:spPr>
            <a:xfrm>
              <a:off x="5755534" y="5223098"/>
              <a:ext cx="1020399" cy="292616"/>
            </a:xfrm>
            <a:prstGeom prst="rect">
              <a:avLst/>
            </a:prstGeom>
            <a:grpFill/>
          </p:spPr>
        </p:pic>
      </p:grpSp>
      <p:sp>
        <p:nvSpPr>
          <p:cNvPr id="98" name="Rectangle 97">
            <a:extLst>
              <a:ext uri="{FF2B5EF4-FFF2-40B4-BE49-F238E27FC236}">
                <a16:creationId xmlns:a16="http://schemas.microsoft.com/office/drawing/2014/main" id="{E06E4E64-4A66-4A28-DB67-8554A68045D0}"/>
              </a:ext>
            </a:extLst>
          </p:cNvPr>
          <p:cNvSpPr/>
          <p:nvPr/>
        </p:nvSpPr>
        <p:spPr>
          <a:xfrm>
            <a:off x="660532" y="2430866"/>
            <a:ext cx="897295" cy="1369905"/>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Crédito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Transferencia</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Servicio</a:t>
            </a:r>
          </a:p>
        </p:txBody>
      </p:sp>
      <p:cxnSp>
        <p:nvCxnSpPr>
          <p:cNvPr id="99" name="Connector: Elbow 98">
            <a:extLst>
              <a:ext uri="{FF2B5EF4-FFF2-40B4-BE49-F238E27FC236}">
                <a16:creationId xmlns:a16="http://schemas.microsoft.com/office/drawing/2014/main" id="{311BD16B-E9D6-CC7C-2E6E-0DC13AB835F6}"/>
              </a:ext>
            </a:extLst>
          </p:cNvPr>
          <p:cNvCxnSpPr>
            <a:cxnSpLocks/>
            <a:stCxn id="87" idx="2"/>
            <a:endCxn id="98" idx="0"/>
          </p:cNvCxnSpPr>
          <p:nvPr/>
        </p:nvCxnSpPr>
        <p:spPr>
          <a:xfrm rot="5400000">
            <a:off x="1690759" y="1287597"/>
            <a:ext cx="561690" cy="1724848"/>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0" name="Rectangle 99">
            <a:extLst>
              <a:ext uri="{FF2B5EF4-FFF2-40B4-BE49-F238E27FC236}">
                <a16:creationId xmlns:a16="http://schemas.microsoft.com/office/drawing/2014/main" id="{361A2086-8404-4552-A8BB-17B7AD15B9D6}"/>
              </a:ext>
            </a:extLst>
          </p:cNvPr>
          <p:cNvSpPr/>
          <p:nvPr/>
        </p:nvSpPr>
        <p:spPr>
          <a:xfrm>
            <a:off x="1508371" y="2478136"/>
            <a:ext cx="897295" cy="216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000000"/>
                </a:solidFill>
                <a:effectLst/>
                <a:uLnTx/>
                <a:uFillTx/>
                <a:latin typeface="Graphik"/>
                <a:ea typeface="+mn-ea"/>
                <a:cs typeface="+mn-cs"/>
              </a:rPr>
              <a:t>Validación de cuentas</a:t>
            </a:r>
          </a:p>
        </p:txBody>
      </p:sp>
      <p:sp>
        <p:nvSpPr>
          <p:cNvPr id="101" name="Rectangle 100">
            <a:extLst>
              <a:ext uri="{FF2B5EF4-FFF2-40B4-BE49-F238E27FC236}">
                <a16:creationId xmlns:a16="http://schemas.microsoft.com/office/drawing/2014/main" id="{582B74FD-FA9F-DEB9-EF86-593C11A7A96C}"/>
              </a:ext>
            </a:extLst>
          </p:cNvPr>
          <p:cNvSpPr/>
          <p:nvPr/>
        </p:nvSpPr>
        <p:spPr>
          <a:xfrm>
            <a:off x="1508371" y="2744538"/>
            <a:ext cx="897295" cy="215999"/>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000000"/>
                </a:solidFill>
                <a:effectLst/>
                <a:uLnTx/>
                <a:uFillTx/>
                <a:latin typeface="Graphik"/>
                <a:ea typeface="+mn-ea"/>
                <a:cs typeface="+mn-cs"/>
              </a:rPr>
              <a:t>Comprobación de saldo</a:t>
            </a:r>
          </a:p>
        </p:txBody>
      </p:sp>
      <p:sp>
        <p:nvSpPr>
          <p:cNvPr id="102" name="Rectangle 101">
            <a:extLst>
              <a:ext uri="{FF2B5EF4-FFF2-40B4-BE49-F238E27FC236}">
                <a16:creationId xmlns:a16="http://schemas.microsoft.com/office/drawing/2014/main" id="{36FADDA8-1973-8957-4C09-9FE9AC96B2EB}"/>
              </a:ext>
            </a:extLst>
          </p:cNvPr>
          <p:cNvSpPr/>
          <p:nvPr/>
        </p:nvSpPr>
        <p:spPr>
          <a:xfrm>
            <a:off x="1508371" y="3435749"/>
            <a:ext cx="897295" cy="180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Débito/Crédito</a:t>
            </a:r>
          </a:p>
        </p:txBody>
      </p:sp>
      <p:sp>
        <p:nvSpPr>
          <p:cNvPr id="103" name="Can 172">
            <a:extLst>
              <a:ext uri="{FF2B5EF4-FFF2-40B4-BE49-F238E27FC236}">
                <a16:creationId xmlns:a16="http://schemas.microsoft.com/office/drawing/2014/main" id="{3CF6574C-5A0F-72C2-3359-5B6BD4975FA0}"/>
              </a:ext>
            </a:extLst>
          </p:cNvPr>
          <p:cNvSpPr/>
          <p:nvPr/>
        </p:nvSpPr>
        <p:spPr bwMode="auto">
          <a:xfrm rot="5400000">
            <a:off x="3245894" y="2950830"/>
            <a:ext cx="180000" cy="1152000"/>
          </a:xfrm>
          <a:prstGeom prst="can">
            <a:avLst>
              <a:gd name="adj" fmla="val 59089"/>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Destinos</a:t>
            </a:r>
          </a:p>
        </p:txBody>
      </p:sp>
      <p:cxnSp>
        <p:nvCxnSpPr>
          <p:cNvPr id="104" name="Connector: Elbow 103">
            <a:extLst>
              <a:ext uri="{FF2B5EF4-FFF2-40B4-BE49-F238E27FC236}">
                <a16:creationId xmlns:a16="http://schemas.microsoft.com/office/drawing/2014/main" id="{2573E048-90E7-E2EF-BB96-C6FA22CFF21D}"/>
              </a:ext>
            </a:extLst>
          </p:cNvPr>
          <p:cNvCxnSpPr>
            <a:cxnSpLocks/>
            <a:stCxn id="102" idx="3"/>
            <a:endCxn id="103" idx="3"/>
          </p:cNvCxnSpPr>
          <p:nvPr/>
        </p:nvCxnSpPr>
        <p:spPr>
          <a:xfrm>
            <a:off x="2405666" y="3525749"/>
            <a:ext cx="354228" cy="1081"/>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05" name="Rectangle 104">
            <a:extLst>
              <a:ext uri="{FF2B5EF4-FFF2-40B4-BE49-F238E27FC236}">
                <a16:creationId xmlns:a16="http://schemas.microsoft.com/office/drawing/2014/main" id="{28FCBCF9-D80F-39FF-67B1-E1B7ADAFEADF}"/>
              </a:ext>
            </a:extLst>
          </p:cNvPr>
          <p:cNvSpPr/>
          <p:nvPr/>
        </p:nvSpPr>
        <p:spPr>
          <a:xfrm>
            <a:off x="4256624" y="3432606"/>
            <a:ext cx="1080000" cy="180001"/>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Contabilidad</a:t>
            </a:r>
          </a:p>
        </p:txBody>
      </p:sp>
      <p:cxnSp>
        <p:nvCxnSpPr>
          <p:cNvPr id="106" name="Connector: Elbow 105">
            <a:extLst>
              <a:ext uri="{FF2B5EF4-FFF2-40B4-BE49-F238E27FC236}">
                <a16:creationId xmlns:a16="http://schemas.microsoft.com/office/drawing/2014/main" id="{F671778E-3F93-7BD3-543C-1EACEAF5C6C7}"/>
              </a:ext>
            </a:extLst>
          </p:cNvPr>
          <p:cNvCxnSpPr>
            <a:cxnSpLocks/>
            <a:stCxn id="107" idx="3"/>
            <a:endCxn id="108" idx="3"/>
          </p:cNvCxnSpPr>
          <p:nvPr/>
        </p:nvCxnSpPr>
        <p:spPr>
          <a:xfrm flipV="1">
            <a:off x="2405666" y="3191651"/>
            <a:ext cx="354228" cy="103694"/>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07" name="Rectangle 106">
            <a:extLst>
              <a:ext uri="{FF2B5EF4-FFF2-40B4-BE49-F238E27FC236}">
                <a16:creationId xmlns:a16="http://schemas.microsoft.com/office/drawing/2014/main" id="{6AFE4359-5C79-EDE0-091F-8E058D00C45F}"/>
              </a:ext>
            </a:extLst>
          </p:cNvPr>
          <p:cNvSpPr/>
          <p:nvPr/>
        </p:nvSpPr>
        <p:spPr>
          <a:xfrm>
            <a:off x="1508371" y="3205345"/>
            <a:ext cx="897295" cy="180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Solicitar Pago</a:t>
            </a:r>
          </a:p>
        </p:txBody>
      </p:sp>
      <p:sp>
        <p:nvSpPr>
          <p:cNvPr id="108" name="Can 172">
            <a:extLst>
              <a:ext uri="{FF2B5EF4-FFF2-40B4-BE49-F238E27FC236}">
                <a16:creationId xmlns:a16="http://schemas.microsoft.com/office/drawing/2014/main" id="{A10EAB24-CC38-D3DB-8FA6-28677ED8838E}"/>
              </a:ext>
            </a:extLst>
          </p:cNvPr>
          <p:cNvSpPr/>
          <p:nvPr/>
        </p:nvSpPr>
        <p:spPr bwMode="auto">
          <a:xfrm rot="5400000">
            <a:off x="3195294" y="2615651"/>
            <a:ext cx="281200" cy="1152000"/>
          </a:xfrm>
          <a:prstGeom prst="can">
            <a:avLst>
              <a:gd name="adj" fmla="val 59089"/>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000000"/>
                </a:solidFill>
                <a:effectLst/>
                <a:uLnTx/>
                <a:uFillTx/>
                <a:latin typeface="Graphik"/>
                <a:ea typeface="+mn-ea"/>
                <a:cs typeface="+mn-cs"/>
              </a:rPr>
              <a:t>Transferencias de créditos</a:t>
            </a:r>
          </a:p>
        </p:txBody>
      </p:sp>
      <p:sp>
        <p:nvSpPr>
          <p:cNvPr id="109" name="Rectangle 108">
            <a:extLst>
              <a:ext uri="{FF2B5EF4-FFF2-40B4-BE49-F238E27FC236}">
                <a16:creationId xmlns:a16="http://schemas.microsoft.com/office/drawing/2014/main" id="{0503BBC6-A998-01F4-65B5-BCEE21671F79}"/>
              </a:ext>
            </a:extLst>
          </p:cNvPr>
          <p:cNvSpPr/>
          <p:nvPr/>
        </p:nvSpPr>
        <p:spPr>
          <a:xfrm>
            <a:off x="4231556" y="3167639"/>
            <a:ext cx="1080000" cy="211788"/>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000000"/>
                </a:solidFill>
                <a:effectLst/>
                <a:uLnTx/>
                <a:uFillTx/>
                <a:latin typeface="Graphik"/>
                <a:ea typeface="+mn-ea"/>
                <a:cs typeface="+mn-cs"/>
              </a:rPr>
              <a:t>Proceso de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000000"/>
                </a:solidFill>
                <a:effectLst/>
                <a:uLnTx/>
                <a:uFillTx/>
                <a:latin typeface="Graphik"/>
                <a:ea typeface="+mn-ea"/>
                <a:cs typeface="+mn-cs"/>
              </a:rPr>
              <a:t>Pago de Orden</a:t>
            </a:r>
          </a:p>
        </p:txBody>
      </p:sp>
      <p:sp>
        <p:nvSpPr>
          <p:cNvPr id="110" name="Rectangle 109">
            <a:extLst>
              <a:ext uri="{FF2B5EF4-FFF2-40B4-BE49-F238E27FC236}">
                <a16:creationId xmlns:a16="http://schemas.microsoft.com/office/drawing/2014/main" id="{C87CD91D-31E8-B81A-993F-06EB1030E14A}"/>
              </a:ext>
            </a:extLst>
          </p:cNvPr>
          <p:cNvSpPr/>
          <p:nvPr/>
        </p:nvSpPr>
        <p:spPr>
          <a:xfrm>
            <a:off x="1508371" y="2974942"/>
            <a:ext cx="897295" cy="180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Fondos de reserva</a:t>
            </a:r>
          </a:p>
        </p:txBody>
      </p:sp>
      <p:cxnSp>
        <p:nvCxnSpPr>
          <p:cNvPr id="111" name="Connector: Elbow 110">
            <a:extLst>
              <a:ext uri="{FF2B5EF4-FFF2-40B4-BE49-F238E27FC236}">
                <a16:creationId xmlns:a16="http://schemas.microsoft.com/office/drawing/2014/main" id="{95A53E9B-C317-07DD-A18A-08C3AC23B7D7}"/>
              </a:ext>
            </a:extLst>
          </p:cNvPr>
          <p:cNvCxnSpPr>
            <a:cxnSpLocks/>
            <a:stCxn id="110" idx="3"/>
            <a:endCxn id="112" idx="3"/>
          </p:cNvCxnSpPr>
          <p:nvPr/>
        </p:nvCxnSpPr>
        <p:spPr>
          <a:xfrm flipV="1">
            <a:off x="2405666" y="2584053"/>
            <a:ext cx="354228" cy="480889"/>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12" name="Can 172">
            <a:extLst>
              <a:ext uri="{FF2B5EF4-FFF2-40B4-BE49-F238E27FC236}">
                <a16:creationId xmlns:a16="http://schemas.microsoft.com/office/drawing/2014/main" id="{3F2C9DA8-5E94-88B4-5CFF-36404BE9F147}"/>
              </a:ext>
            </a:extLst>
          </p:cNvPr>
          <p:cNvSpPr/>
          <p:nvPr/>
        </p:nvSpPr>
        <p:spPr bwMode="auto">
          <a:xfrm rot="5400000">
            <a:off x="3245894" y="2008053"/>
            <a:ext cx="180000" cy="1152000"/>
          </a:xfrm>
          <a:prstGeom prst="can">
            <a:avLst>
              <a:gd name="adj" fmla="val 59089"/>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Riesgo de liquidez</a:t>
            </a:r>
          </a:p>
        </p:txBody>
      </p:sp>
      <p:sp>
        <p:nvSpPr>
          <p:cNvPr id="113" name="Rectangle 112">
            <a:extLst>
              <a:ext uri="{FF2B5EF4-FFF2-40B4-BE49-F238E27FC236}">
                <a16:creationId xmlns:a16="http://schemas.microsoft.com/office/drawing/2014/main" id="{E2D48233-064E-89F4-9D41-D556093E42B9}"/>
              </a:ext>
            </a:extLst>
          </p:cNvPr>
          <p:cNvSpPr/>
          <p:nvPr/>
        </p:nvSpPr>
        <p:spPr>
          <a:xfrm>
            <a:off x="4222573" y="2494052"/>
            <a:ext cx="1080000" cy="180001"/>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Comprobar liquidez</a:t>
            </a:r>
          </a:p>
        </p:txBody>
      </p:sp>
      <p:cxnSp>
        <p:nvCxnSpPr>
          <p:cNvPr id="114" name="Straight Arrow Connector 113">
            <a:extLst>
              <a:ext uri="{FF2B5EF4-FFF2-40B4-BE49-F238E27FC236}">
                <a16:creationId xmlns:a16="http://schemas.microsoft.com/office/drawing/2014/main" id="{1532465E-0993-CFE7-41D3-4610A41D419D}"/>
              </a:ext>
            </a:extLst>
          </p:cNvPr>
          <p:cNvCxnSpPr>
            <a:cxnSpLocks/>
            <a:stCxn id="112" idx="1"/>
            <a:endCxn id="113" idx="1"/>
          </p:cNvCxnSpPr>
          <p:nvPr/>
        </p:nvCxnSpPr>
        <p:spPr>
          <a:xfrm>
            <a:off x="3911894" y="2584053"/>
            <a:ext cx="310679" cy="0"/>
          </a:xfrm>
          <a:prstGeom prst="straightConnector1">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15" name="Can 172">
            <a:extLst>
              <a:ext uri="{FF2B5EF4-FFF2-40B4-BE49-F238E27FC236}">
                <a16:creationId xmlns:a16="http://schemas.microsoft.com/office/drawing/2014/main" id="{312CBED0-CD63-DDDF-ECDC-9AC52A7A0936}"/>
              </a:ext>
            </a:extLst>
          </p:cNvPr>
          <p:cNvSpPr/>
          <p:nvPr/>
        </p:nvSpPr>
        <p:spPr bwMode="auto">
          <a:xfrm rot="5400000">
            <a:off x="6229956" y="2189459"/>
            <a:ext cx="180000" cy="1152000"/>
          </a:xfrm>
          <a:prstGeom prst="can">
            <a:avLst>
              <a:gd name="adj" fmla="val 59089"/>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Alertas de Negocios</a:t>
            </a:r>
          </a:p>
        </p:txBody>
      </p:sp>
      <p:sp>
        <p:nvSpPr>
          <p:cNvPr id="116" name="Flowchart: Magnetic Disk 115">
            <a:extLst>
              <a:ext uri="{FF2B5EF4-FFF2-40B4-BE49-F238E27FC236}">
                <a16:creationId xmlns:a16="http://schemas.microsoft.com/office/drawing/2014/main" id="{193D3D3E-D6F0-4FEB-ED9D-CCAA57B2589D}"/>
              </a:ext>
            </a:extLst>
          </p:cNvPr>
          <p:cNvSpPr/>
          <p:nvPr/>
        </p:nvSpPr>
        <p:spPr>
          <a:xfrm>
            <a:off x="7206506" y="2549104"/>
            <a:ext cx="638746" cy="597152"/>
          </a:xfrm>
          <a:prstGeom prst="flowChartMagneticDisk">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defRPr/>
            </a:pPr>
            <a:r>
              <a:rPr lang="es" sz="700" dirty="0">
                <a:solidFill>
                  <a:srgbClr val="000000"/>
                </a:solidFill>
              </a:rPr>
              <a:t>Base de datos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000000"/>
                </a:solidFill>
                <a:effectLst/>
                <a:uLnTx/>
                <a:uFillTx/>
                <a:latin typeface="Graphik"/>
                <a:ea typeface="+mn-ea"/>
                <a:cs typeface="+mn-cs"/>
              </a:rPr>
              <a:t>Alertas de Negocios</a:t>
            </a:r>
          </a:p>
        </p:txBody>
      </p:sp>
      <p:cxnSp>
        <p:nvCxnSpPr>
          <p:cNvPr id="117" name="Connector: Elbow 116">
            <a:extLst>
              <a:ext uri="{FF2B5EF4-FFF2-40B4-BE49-F238E27FC236}">
                <a16:creationId xmlns:a16="http://schemas.microsoft.com/office/drawing/2014/main" id="{A3D2DA3C-822C-77F8-8879-6DE88FD737A8}"/>
              </a:ext>
            </a:extLst>
          </p:cNvPr>
          <p:cNvCxnSpPr>
            <a:cxnSpLocks/>
            <a:stCxn id="113" idx="3"/>
            <a:endCxn id="115" idx="3"/>
          </p:cNvCxnSpPr>
          <p:nvPr/>
        </p:nvCxnSpPr>
        <p:spPr>
          <a:xfrm>
            <a:off x="5302573" y="2584053"/>
            <a:ext cx="441383" cy="181406"/>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20" name="Rectangle 119">
            <a:extLst>
              <a:ext uri="{FF2B5EF4-FFF2-40B4-BE49-F238E27FC236}">
                <a16:creationId xmlns:a16="http://schemas.microsoft.com/office/drawing/2014/main" id="{F63FD311-9BB2-8198-FA08-2924F4812550}"/>
              </a:ext>
            </a:extLst>
          </p:cNvPr>
          <p:cNvSpPr/>
          <p:nvPr/>
        </p:nvSpPr>
        <p:spPr>
          <a:xfrm>
            <a:off x="4231556" y="2928547"/>
            <a:ext cx="1080000" cy="180001"/>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Comprobación AML</a:t>
            </a:r>
          </a:p>
        </p:txBody>
      </p:sp>
      <p:cxnSp>
        <p:nvCxnSpPr>
          <p:cNvPr id="121" name="Connector: Elbow 120">
            <a:extLst>
              <a:ext uri="{FF2B5EF4-FFF2-40B4-BE49-F238E27FC236}">
                <a16:creationId xmlns:a16="http://schemas.microsoft.com/office/drawing/2014/main" id="{20649219-66A8-731E-C748-2FF6CC9B88F7}"/>
              </a:ext>
            </a:extLst>
          </p:cNvPr>
          <p:cNvCxnSpPr>
            <a:cxnSpLocks/>
            <a:stCxn id="108" idx="1"/>
            <a:endCxn id="120" idx="1"/>
          </p:cNvCxnSpPr>
          <p:nvPr/>
        </p:nvCxnSpPr>
        <p:spPr>
          <a:xfrm flipV="1">
            <a:off x="3911894" y="3018548"/>
            <a:ext cx="319662" cy="173103"/>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22" name="Connector: Elbow 121">
            <a:extLst>
              <a:ext uri="{FF2B5EF4-FFF2-40B4-BE49-F238E27FC236}">
                <a16:creationId xmlns:a16="http://schemas.microsoft.com/office/drawing/2014/main" id="{5F9C1161-894D-225D-8A26-A93BFBA52EA7}"/>
              </a:ext>
            </a:extLst>
          </p:cNvPr>
          <p:cNvCxnSpPr>
            <a:cxnSpLocks/>
            <a:stCxn id="108" idx="1"/>
            <a:endCxn id="109" idx="1"/>
          </p:cNvCxnSpPr>
          <p:nvPr/>
        </p:nvCxnSpPr>
        <p:spPr>
          <a:xfrm>
            <a:off x="3911894" y="3191651"/>
            <a:ext cx="319662" cy="81882"/>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23" name="Connector: Elbow 122">
            <a:extLst>
              <a:ext uri="{FF2B5EF4-FFF2-40B4-BE49-F238E27FC236}">
                <a16:creationId xmlns:a16="http://schemas.microsoft.com/office/drawing/2014/main" id="{FA2D2629-B452-CCF7-5CF3-5258D5E73420}"/>
              </a:ext>
            </a:extLst>
          </p:cNvPr>
          <p:cNvCxnSpPr>
            <a:cxnSpLocks/>
            <a:stCxn id="103" idx="1"/>
            <a:endCxn id="105" idx="1"/>
          </p:cNvCxnSpPr>
          <p:nvPr/>
        </p:nvCxnSpPr>
        <p:spPr>
          <a:xfrm flipV="1">
            <a:off x="3911894" y="3522607"/>
            <a:ext cx="344730" cy="4223"/>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24" name="Connector: Elbow 123">
            <a:extLst>
              <a:ext uri="{FF2B5EF4-FFF2-40B4-BE49-F238E27FC236}">
                <a16:creationId xmlns:a16="http://schemas.microsoft.com/office/drawing/2014/main" id="{0D4B76CC-012A-1968-B1E5-BB0F5C2DF89B}"/>
              </a:ext>
            </a:extLst>
          </p:cNvPr>
          <p:cNvCxnSpPr>
            <a:cxnSpLocks/>
            <a:stCxn id="120" idx="3"/>
            <a:endCxn id="115" idx="3"/>
          </p:cNvCxnSpPr>
          <p:nvPr/>
        </p:nvCxnSpPr>
        <p:spPr>
          <a:xfrm flipV="1">
            <a:off x="5311556" y="2765459"/>
            <a:ext cx="432400" cy="253089"/>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25" name="Straight Arrow Connector 124">
            <a:extLst>
              <a:ext uri="{FF2B5EF4-FFF2-40B4-BE49-F238E27FC236}">
                <a16:creationId xmlns:a16="http://schemas.microsoft.com/office/drawing/2014/main" id="{3C0F8247-CE22-B25E-6069-1EF8DAB74DE4}"/>
              </a:ext>
            </a:extLst>
          </p:cNvPr>
          <p:cNvCxnSpPr>
            <a:cxnSpLocks/>
            <a:stCxn id="115" idx="1"/>
          </p:cNvCxnSpPr>
          <p:nvPr/>
        </p:nvCxnSpPr>
        <p:spPr>
          <a:xfrm>
            <a:off x="6895956" y="2765459"/>
            <a:ext cx="297290" cy="0"/>
          </a:xfrm>
          <a:prstGeom prst="straightConnector1">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26" name="Flowchart: Magnetic Disk 125">
            <a:extLst>
              <a:ext uri="{FF2B5EF4-FFF2-40B4-BE49-F238E27FC236}">
                <a16:creationId xmlns:a16="http://schemas.microsoft.com/office/drawing/2014/main" id="{3767FD09-31FD-C456-09FB-F746A975CB0E}"/>
              </a:ext>
            </a:extLst>
          </p:cNvPr>
          <p:cNvSpPr/>
          <p:nvPr/>
        </p:nvSpPr>
        <p:spPr>
          <a:xfrm>
            <a:off x="7214660" y="3288171"/>
            <a:ext cx="611999" cy="456037"/>
          </a:xfrm>
          <a:prstGeom prst="flowChartMagneticDisk">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000000"/>
                </a:solidFill>
                <a:effectLst/>
                <a:uLnTx/>
                <a:uFillTx/>
                <a:latin typeface="Graphik"/>
                <a:ea typeface="+mn-ea"/>
                <a:cs typeface="+mn-cs"/>
              </a:rPr>
              <a:t>Base de datos</a:t>
            </a:r>
          </a:p>
          <a:p>
            <a:pPr marL="0" marR="0" lvl="0" indent="0" algn="ctr" defTabSz="914400" rtl="0" eaLnBrk="1" fontAlgn="auto" latinLnBrk="0" hangingPunct="1">
              <a:lnSpc>
                <a:spcPct val="100000"/>
              </a:lnSpc>
              <a:spcBef>
                <a:spcPts val="0"/>
              </a:spcBef>
              <a:spcAft>
                <a:spcPts val="0"/>
              </a:spcAft>
              <a:buClrTx/>
              <a:buSzTx/>
              <a:buFontTx/>
              <a:buNone/>
              <a:tabLst/>
              <a:defRPr/>
            </a:pPr>
            <a:r>
              <a:rPr lang="es" sz="700" dirty="0">
                <a:solidFill>
                  <a:srgbClr val="000000"/>
                </a:solidFill>
                <a:latin typeface="Graphik"/>
              </a:rPr>
              <a:t>GL</a:t>
            </a:r>
            <a:endParaRPr kumimoji="0" lang="es" sz="700" b="0" i="0" u="none" strike="noStrike" kern="1200" cap="none" spc="0" normalizeH="0" baseline="0" noProof="0" dirty="0">
              <a:ln>
                <a:noFill/>
              </a:ln>
              <a:solidFill>
                <a:srgbClr val="000000"/>
              </a:solidFill>
              <a:effectLst/>
              <a:uLnTx/>
              <a:uFillTx/>
              <a:latin typeface="Graphik"/>
              <a:ea typeface="+mn-ea"/>
              <a:cs typeface="+mn-cs"/>
            </a:endParaRPr>
          </a:p>
        </p:txBody>
      </p:sp>
      <p:cxnSp>
        <p:nvCxnSpPr>
          <p:cNvPr id="127" name="Connector: Elbow 126">
            <a:extLst>
              <a:ext uri="{FF2B5EF4-FFF2-40B4-BE49-F238E27FC236}">
                <a16:creationId xmlns:a16="http://schemas.microsoft.com/office/drawing/2014/main" id="{B42F6F20-84F3-A3F7-CBF7-52242EAA6CF7}"/>
              </a:ext>
            </a:extLst>
          </p:cNvPr>
          <p:cNvCxnSpPr>
            <a:cxnSpLocks/>
            <a:stCxn id="105" idx="3"/>
            <a:endCxn id="128" idx="3"/>
          </p:cNvCxnSpPr>
          <p:nvPr/>
        </p:nvCxnSpPr>
        <p:spPr>
          <a:xfrm flipV="1">
            <a:off x="5336624" y="3518226"/>
            <a:ext cx="407332" cy="4381"/>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28" name="Can 172">
            <a:extLst>
              <a:ext uri="{FF2B5EF4-FFF2-40B4-BE49-F238E27FC236}">
                <a16:creationId xmlns:a16="http://schemas.microsoft.com/office/drawing/2014/main" id="{C55AFFD2-4B39-4FFE-A2C3-F30B63F3C92A}"/>
              </a:ext>
            </a:extLst>
          </p:cNvPr>
          <p:cNvSpPr/>
          <p:nvPr/>
        </p:nvSpPr>
        <p:spPr bwMode="auto">
          <a:xfrm rot="5400000">
            <a:off x="6229956" y="2942226"/>
            <a:ext cx="180000" cy="1152000"/>
          </a:xfrm>
          <a:prstGeom prst="can">
            <a:avLst>
              <a:gd name="adj" fmla="val 59089"/>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GL</a:t>
            </a:r>
          </a:p>
        </p:txBody>
      </p:sp>
      <p:sp>
        <p:nvSpPr>
          <p:cNvPr id="129" name="Flowchart: Magnetic Disk 128">
            <a:extLst>
              <a:ext uri="{FF2B5EF4-FFF2-40B4-BE49-F238E27FC236}">
                <a16:creationId xmlns:a16="http://schemas.microsoft.com/office/drawing/2014/main" id="{F2164993-3CAB-9F71-AE0B-FF930CD5AA6C}"/>
              </a:ext>
            </a:extLst>
          </p:cNvPr>
          <p:cNvSpPr/>
          <p:nvPr/>
        </p:nvSpPr>
        <p:spPr>
          <a:xfrm>
            <a:off x="1642691" y="3837139"/>
            <a:ext cx="628654" cy="430013"/>
          </a:xfrm>
          <a:prstGeom prst="flowChartMagneticDisk">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Relatos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Base de datos</a:t>
            </a:r>
          </a:p>
        </p:txBody>
      </p:sp>
      <p:cxnSp>
        <p:nvCxnSpPr>
          <p:cNvPr id="130" name="Straight Arrow Connector 129">
            <a:extLst>
              <a:ext uri="{FF2B5EF4-FFF2-40B4-BE49-F238E27FC236}">
                <a16:creationId xmlns:a16="http://schemas.microsoft.com/office/drawing/2014/main" id="{38C5A0E7-36F6-32BF-3216-3E1673CAB869}"/>
              </a:ext>
            </a:extLst>
          </p:cNvPr>
          <p:cNvCxnSpPr>
            <a:cxnSpLocks/>
            <a:stCxn id="102" idx="2"/>
            <a:endCxn id="129" idx="1"/>
          </p:cNvCxnSpPr>
          <p:nvPr/>
        </p:nvCxnSpPr>
        <p:spPr>
          <a:xfrm flipH="1">
            <a:off x="1957018" y="3615749"/>
            <a:ext cx="1" cy="221390"/>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1" name="Straight Arrow Connector 130">
            <a:extLst>
              <a:ext uri="{FF2B5EF4-FFF2-40B4-BE49-F238E27FC236}">
                <a16:creationId xmlns:a16="http://schemas.microsoft.com/office/drawing/2014/main" id="{C0042A39-BC3D-9E31-CD28-4907E4F0FAA7}"/>
              </a:ext>
            </a:extLst>
          </p:cNvPr>
          <p:cNvCxnSpPr>
            <a:cxnSpLocks/>
            <a:stCxn id="128" idx="1"/>
            <a:endCxn id="126" idx="2"/>
          </p:cNvCxnSpPr>
          <p:nvPr/>
        </p:nvCxnSpPr>
        <p:spPr>
          <a:xfrm flipV="1">
            <a:off x="6895956" y="3516190"/>
            <a:ext cx="318704" cy="2036"/>
          </a:xfrm>
          <a:prstGeom prst="straightConnector1">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32" name="Rectangle 131">
            <a:extLst>
              <a:ext uri="{FF2B5EF4-FFF2-40B4-BE49-F238E27FC236}">
                <a16:creationId xmlns:a16="http://schemas.microsoft.com/office/drawing/2014/main" id="{9409727C-023B-B9E0-C775-3A6777C34C06}"/>
              </a:ext>
            </a:extLst>
          </p:cNvPr>
          <p:cNvSpPr/>
          <p:nvPr/>
        </p:nvSpPr>
        <p:spPr>
          <a:xfrm>
            <a:off x="4442738" y="1170893"/>
            <a:ext cx="1233205" cy="243873"/>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Backoffice Portal</a:t>
            </a:r>
          </a:p>
        </p:txBody>
      </p:sp>
      <p:sp>
        <p:nvSpPr>
          <p:cNvPr id="133" name="Rectangle 132">
            <a:extLst>
              <a:ext uri="{FF2B5EF4-FFF2-40B4-BE49-F238E27FC236}">
                <a16:creationId xmlns:a16="http://schemas.microsoft.com/office/drawing/2014/main" id="{5CCC8C0F-589F-7487-7373-DAF544A851F2}"/>
              </a:ext>
            </a:extLst>
          </p:cNvPr>
          <p:cNvSpPr/>
          <p:nvPr/>
        </p:nvSpPr>
        <p:spPr>
          <a:xfrm>
            <a:off x="4442739" y="1625303"/>
            <a:ext cx="1233205" cy="243873"/>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dirty="0">
                <a:ln>
                  <a:noFill/>
                </a:ln>
                <a:solidFill>
                  <a:srgbClr val="000000"/>
                </a:solidFill>
                <a:effectLst/>
                <a:uLnTx/>
                <a:uFillTx/>
                <a:latin typeface="Graphik"/>
                <a:ea typeface="+mn-ea"/>
                <a:cs typeface="+mn-cs"/>
              </a:rPr>
              <a:t>API Gateway</a:t>
            </a:r>
          </a:p>
        </p:txBody>
      </p:sp>
      <p:sp>
        <p:nvSpPr>
          <p:cNvPr id="134" name="Rectangle 133">
            <a:extLst>
              <a:ext uri="{FF2B5EF4-FFF2-40B4-BE49-F238E27FC236}">
                <a16:creationId xmlns:a16="http://schemas.microsoft.com/office/drawing/2014/main" id="{30B9CB03-97DF-DD7A-FFBA-BF4F294F8534}"/>
              </a:ext>
            </a:extLst>
          </p:cNvPr>
          <p:cNvSpPr/>
          <p:nvPr/>
        </p:nvSpPr>
        <p:spPr>
          <a:xfrm>
            <a:off x="5887452" y="1625303"/>
            <a:ext cx="1233205" cy="243873"/>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dirty="0">
                <a:ln>
                  <a:noFill/>
                </a:ln>
                <a:solidFill>
                  <a:srgbClr val="000000"/>
                </a:solidFill>
                <a:effectLst/>
                <a:uLnTx/>
                <a:uFillTx/>
                <a:latin typeface="Graphik"/>
                <a:ea typeface="+mn-ea"/>
                <a:cs typeface="+mn-cs"/>
              </a:rPr>
              <a:t>Pasarela de Eventos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dirty="0">
                <a:ln>
                  <a:noFill/>
                </a:ln>
                <a:solidFill>
                  <a:srgbClr val="000000"/>
                </a:solidFill>
                <a:effectLst/>
                <a:uLnTx/>
                <a:uFillTx/>
                <a:latin typeface="Graphik"/>
                <a:ea typeface="+mn-ea"/>
                <a:cs typeface="+mn-cs"/>
              </a:rPr>
              <a:t>(WebSockets)</a:t>
            </a:r>
          </a:p>
        </p:txBody>
      </p:sp>
      <p:sp>
        <p:nvSpPr>
          <p:cNvPr id="135" name="Can 172">
            <a:extLst>
              <a:ext uri="{FF2B5EF4-FFF2-40B4-BE49-F238E27FC236}">
                <a16:creationId xmlns:a16="http://schemas.microsoft.com/office/drawing/2014/main" id="{A4FA963E-84F7-4719-E1DF-361EF0EA4C4D}"/>
              </a:ext>
            </a:extLst>
          </p:cNvPr>
          <p:cNvSpPr/>
          <p:nvPr/>
        </p:nvSpPr>
        <p:spPr bwMode="auto">
          <a:xfrm rot="5400000">
            <a:off x="3245894" y="3758351"/>
            <a:ext cx="180000" cy="1152000"/>
          </a:xfrm>
          <a:prstGeom prst="can">
            <a:avLst>
              <a:gd name="adj" fmla="val 59089"/>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Saldo de la cuenta</a:t>
            </a:r>
          </a:p>
        </p:txBody>
      </p:sp>
      <p:sp>
        <p:nvSpPr>
          <p:cNvPr id="136" name="Rectangle 135">
            <a:extLst>
              <a:ext uri="{FF2B5EF4-FFF2-40B4-BE49-F238E27FC236}">
                <a16:creationId xmlns:a16="http://schemas.microsoft.com/office/drawing/2014/main" id="{FF5C0287-795C-B4C1-3C6F-C6E7A1A192F0}"/>
              </a:ext>
            </a:extLst>
          </p:cNvPr>
          <p:cNvSpPr/>
          <p:nvPr/>
        </p:nvSpPr>
        <p:spPr>
          <a:xfrm>
            <a:off x="1779681" y="4267152"/>
            <a:ext cx="301657" cy="144305"/>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CDC</a:t>
            </a:r>
          </a:p>
        </p:txBody>
      </p:sp>
      <p:sp>
        <p:nvSpPr>
          <p:cNvPr id="137" name="Flowchart: Magnetic Disk 136">
            <a:extLst>
              <a:ext uri="{FF2B5EF4-FFF2-40B4-BE49-F238E27FC236}">
                <a16:creationId xmlns:a16="http://schemas.microsoft.com/office/drawing/2014/main" id="{8C496DDA-9EBE-7DE2-9451-B8293FBD929F}"/>
              </a:ext>
            </a:extLst>
          </p:cNvPr>
          <p:cNvSpPr/>
          <p:nvPr/>
        </p:nvSpPr>
        <p:spPr>
          <a:xfrm>
            <a:off x="2879311" y="5057091"/>
            <a:ext cx="890327" cy="503599"/>
          </a:xfrm>
          <a:prstGeom prst="flowChartMagneticDisk">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900" b="0" i="0" u="none" strike="noStrike" kern="1200" cap="none" spc="0" normalizeH="0" baseline="0" noProof="0" dirty="0">
                <a:ln>
                  <a:noFill/>
                </a:ln>
                <a:solidFill>
                  <a:srgbClr val="000000"/>
                </a:solidFill>
                <a:effectLst/>
                <a:uLnTx/>
                <a:uFillTx/>
                <a:latin typeface="Graphik"/>
                <a:ea typeface="+mn-ea"/>
                <a:cs typeface="+mn-cs"/>
              </a:rPr>
              <a:t>Data </a:t>
            </a:r>
            <a:r>
              <a:rPr kumimoji="0" lang="es-ES" sz="900" b="0" i="0" u="none" strike="noStrike" kern="1200" cap="none" spc="0" normalizeH="0" baseline="0" noProof="0" dirty="0" err="1">
                <a:ln>
                  <a:noFill/>
                </a:ln>
                <a:solidFill>
                  <a:srgbClr val="000000"/>
                </a:solidFill>
                <a:effectLst/>
                <a:uLnTx/>
                <a:uFillTx/>
                <a:latin typeface="Graphik"/>
                <a:ea typeface="+mn-ea"/>
                <a:cs typeface="+mn-cs"/>
              </a:rPr>
              <a:t>Warehouse</a:t>
            </a:r>
            <a:endParaRPr kumimoji="0" lang="es-ES" sz="900" b="0" i="0" u="none" strike="noStrike" kern="1200" cap="none" spc="0" normalizeH="0" baseline="0" noProof="0" dirty="0">
              <a:ln>
                <a:noFill/>
              </a:ln>
              <a:solidFill>
                <a:srgbClr val="000000"/>
              </a:solidFill>
              <a:effectLst/>
              <a:uLnTx/>
              <a:uFillTx/>
              <a:latin typeface="Graphik"/>
              <a:ea typeface="+mn-ea"/>
              <a:cs typeface="+mn-cs"/>
            </a:endParaRPr>
          </a:p>
        </p:txBody>
      </p:sp>
      <p:sp>
        <p:nvSpPr>
          <p:cNvPr id="138" name="Rectangle 137">
            <a:extLst>
              <a:ext uri="{FF2B5EF4-FFF2-40B4-BE49-F238E27FC236}">
                <a16:creationId xmlns:a16="http://schemas.microsoft.com/office/drawing/2014/main" id="{2B632C78-AEC4-A9AB-897C-7A0D3785713D}"/>
              </a:ext>
            </a:extLst>
          </p:cNvPr>
          <p:cNvSpPr/>
          <p:nvPr/>
        </p:nvSpPr>
        <p:spPr>
          <a:xfrm>
            <a:off x="1557827" y="5208270"/>
            <a:ext cx="1080000" cy="180001"/>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Procesos BI/ML/IA</a:t>
            </a:r>
          </a:p>
        </p:txBody>
      </p:sp>
      <p:cxnSp>
        <p:nvCxnSpPr>
          <p:cNvPr id="139" name="Straight Arrow Connector 138">
            <a:extLst>
              <a:ext uri="{FF2B5EF4-FFF2-40B4-BE49-F238E27FC236}">
                <a16:creationId xmlns:a16="http://schemas.microsoft.com/office/drawing/2014/main" id="{044309A4-2FAB-3B8D-C4D1-CEA205968F8C}"/>
              </a:ext>
            </a:extLst>
          </p:cNvPr>
          <p:cNvCxnSpPr>
            <a:cxnSpLocks/>
            <a:stCxn id="136" idx="3"/>
            <a:endCxn id="135" idx="3"/>
          </p:cNvCxnSpPr>
          <p:nvPr/>
        </p:nvCxnSpPr>
        <p:spPr>
          <a:xfrm flipV="1">
            <a:off x="2081338" y="4334351"/>
            <a:ext cx="678556" cy="4954"/>
          </a:xfrm>
          <a:prstGeom prst="straightConnector1">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40" name="Straight Arrow Connector 139">
            <a:extLst>
              <a:ext uri="{FF2B5EF4-FFF2-40B4-BE49-F238E27FC236}">
                <a16:creationId xmlns:a16="http://schemas.microsoft.com/office/drawing/2014/main" id="{58A6E818-6251-DC30-D9A0-79E79B5336DF}"/>
              </a:ext>
            </a:extLst>
          </p:cNvPr>
          <p:cNvCxnSpPr>
            <a:cxnSpLocks/>
            <a:stCxn id="135" idx="4"/>
            <a:endCxn id="137" idx="1"/>
          </p:cNvCxnSpPr>
          <p:nvPr/>
        </p:nvCxnSpPr>
        <p:spPr>
          <a:xfrm flipH="1">
            <a:off x="3324475" y="4424351"/>
            <a:ext cx="11419" cy="632740"/>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1" name="Straight Arrow Connector 140">
            <a:extLst>
              <a:ext uri="{FF2B5EF4-FFF2-40B4-BE49-F238E27FC236}">
                <a16:creationId xmlns:a16="http://schemas.microsoft.com/office/drawing/2014/main" id="{A61F30B1-FC22-C1C2-C235-760195596A6F}"/>
              </a:ext>
            </a:extLst>
          </p:cNvPr>
          <p:cNvCxnSpPr>
            <a:cxnSpLocks/>
            <a:stCxn id="137" idx="2"/>
            <a:endCxn id="138" idx="3"/>
          </p:cNvCxnSpPr>
          <p:nvPr/>
        </p:nvCxnSpPr>
        <p:spPr>
          <a:xfrm flipH="1" flipV="1">
            <a:off x="2637827" y="5298271"/>
            <a:ext cx="241484" cy="10620"/>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2" name="Can 172">
            <a:extLst>
              <a:ext uri="{FF2B5EF4-FFF2-40B4-BE49-F238E27FC236}">
                <a16:creationId xmlns:a16="http://schemas.microsoft.com/office/drawing/2014/main" id="{D16DCA3F-5AAB-8F10-312A-07556A32896B}"/>
              </a:ext>
            </a:extLst>
          </p:cNvPr>
          <p:cNvSpPr/>
          <p:nvPr/>
        </p:nvSpPr>
        <p:spPr bwMode="auto">
          <a:xfrm rot="5400000">
            <a:off x="911959" y="3849320"/>
            <a:ext cx="180000" cy="1152000"/>
          </a:xfrm>
          <a:prstGeom prst="can">
            <a:avLst>
              <a:gd name="adj" fmla="val 59089"/>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Leads comerciales</a:t>
            </a:r>
          </a:p>
        </p:txBody>
      </p:sp>
      <p:cxnSp>
        <p:nvCxnSpPr>
          <p:cNvPr id="143" name="Connector: Elbow 142">
            <a:extLst>
              <a:ext uri="{FF2B5EF4-FFF2-40B4-BE49-F238E27FC236}">
                <a16:creationId xmlns:a16="http://schemas.microsoft.com/office/drawing/2014/main" id="{8382768C-6D9D-F39C-9385-10E4BE6D9746}"/>
              </a:ext>
            </a:extLst>
          </p:cNvPr>
          <p:cNvCxnSpPr>
            <a:cxnSpLocks/>
            <a:stCxn id="142" idx="3"/>
            <a:endCxn id="90" idx="1"/>
          </p:cNvCxnSpPr>
          <p:nvPr/>
        </p:nvCxnSpPr>
        <p:spPr>
          <a:xfrm rot="10800000" flipH="1">
            <a:off x="425959" y="1747240"/>
            <a:ext cx="485512" cy="2678080"/>
          </a:xfrm>
          <a:prstGeom prst="bentConnector3">
            <a:avLst>
              <a:gd name="adj1" fmla="val -63292"/>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44" name="Connector: Elbow 143">
            <a:extLst>
              <a:ext uri="{FF2B5EF4-FFF2-40B4-BE49-F238E27FC236}">
                <a16:creationId xmlns:a16="http://schemas.microsoft.com/office/drawing/2014/main" id="{A64D5B93-BE05-E7EA-ADCA-7508D5807BAF}"/>
              </a:ext>
            </a:extLst>
          </p:cNvPr>
          <p:cNvCxnSpPr>
            <a:cxnSpLocks/>
            <a:stCxn id="116" idx="1"/>
            <a:endCxn id="145" idx="2"/>
          </p:cNvCxnSpPr>
          <p:nvPr/>
        </p:nvCxnSpPr>
        <p:spPr>
          <a:xfrm rot="16200000" flipV="1">
            <a:off x="6917248" y="1940472"/>
            <a:ext cx="127416" cy="1089847"/>
          </a:xfrm>
          <a:prstGeom prst="bentConnector3">
            <a:avLst>
              <a:gd name="adj1" fmla="val 20404"/>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45" name="Rectangle 144">
            <a:extLst>
              <a:ext uri="{FF2B5EF4-FFF2-40B4-BE49-F238E27FC236}">
                <a16:creationId xmlns:a16="http://schemas.microsoft.com/office/drawing/2014/main" id="{01C9BB41-F209-F5BF-2F95-C0476CCA09ED}"/>
              </a:ext>
            </a:extLst>
          </p:cNvPr>
          <p:cNvSpPr/>
          <p:nvPr/>
        </p:nvSpPr>
        <p:spPr>
          <a:xfrm>
            <a:off x="5887452" y="2154328"/>
            <a:ext cx="1097160" cy="26736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000000"/>
                </a:solidFill>
                <a:effectLst/>
                <a:uLnTx/>
                <a:uFillTx/>
                <a:latin typeface="Graphik"/>
                <a:ea typeface="+mn-ea"/>
                <a:cs typeface="+mn-cs"/>
              </a:rPr>
              <a:t>Panel de control empresarials</a:t>
            </a:r>
          </a:p>
        </p:txBody>
      </p:sp>
      <p:cxnSp>
        <p:nvCxnSpPr>
          <p:cNvPr id="146" name="Connector: Elbow 145">
            <a:extLst>
              <a:ext uri="{FF2B5EF4-FFF2-40B4-BE49-F238E27FC236}">
                <a16:creationId xmlns:a16="http://schemas.microsoft.com/office/drawing/2014/main" id="{F556EB3D-8422-FFE4-19B1-90A53F909D66}"/>
              </a:ext>
            </a:extLst>
          </p:cNvPr>
          <p:cNvCxnSpPr>
            <a:cxnSpLocks/>
            <a:stCxn id="133" idx="2"/>
            <a:endCxn id="145" idx="0"/>
          </p:cNvCxnSpPr>
          <p:nvPr/>
        </p:nvCxnSpPr>
        <p:spPr>
          <a:xfrm rot="16200000" flipH="1">
            <a:off x="5605111" y="1323407"/>
            <a:ext cx="285152" cy="1376690"/>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7" name="Connector: Elbow 146">
            <a:extLst>
              <a:ext uri="{FF2B5EF4-FFF2-40B4-BE49-F238E27FC236}">
                <a16:creationId xmlns:a16="http://schemas.microsoft.com/office/drawing/2014/main" id="{0A0E7EA5-0B6C-4D1C-1017-15AF6C2BE42D}"/>
              </a:ext>
            </a:extLst>
          </p:cNvPr>
          <p:cNvCxnSpPr>
            <a:cxnSpLocks/>
            <a:stCxn id="132" idx="2"/>
            <a:endCxn id="133" idx="0"/>
          </p:cNvCxnSpPr>
          <p:nvPr/>
        </p:nvCxnSpPr>
        <p:spPr>
          <a:xfrm rot="16200000" flipH="1">
            <a:off x="4954073" y="1520033"/>
            <a:ext cx="210537" cy="1"/>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8" name="Connector: Elbow 147">
            <a:extLst>
              <a:ext uri="{FF2B5EF4-FFF2-40B4-BE49-F238E27FC236}">
                <a16:creationId xmlns:a16="http://schemas.microsoft.com/office/drawing/2014/main" id="{6D2E0CC4-9BE6-4517-5E78-C6FC51EA8EDE}"/>
              </a:ext>
            </a:extLst>
          </p:cNvPr>
          <p:cNvCxnSpPr>
            <a:cxnSpLocks/>
            <a:stCxn id="145" idx="3"/>
            <a:endCxn id="134" idx="3"/>
          </p:cNvCxnSpPr>
          <p:nvPr/>
        </p:nvCxnSpPr>
        <p:spPr>
          <a:xfrm flipV="1">
            <a:off x="6984612" y="1747240"/>
            <a:ext cx="136045" cy="540768"/>
          </a:xfrm>
          <a:prstGeom prst="bentConnector3">
            <a:avLst>
              <a:gd name="adj1" fmla="val 268033"/>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49" name="Connector: Elbow 148">
            <a:extLst>
              <a:ext uri="{FF2B5EF4-FFF2-40B4-BE49-F238E27FC236}">
                <a16:creationId xmlns:a16="http://schemas.microsoft.com/office/drawing/2014/main" id="{03AD4CBC-0A44-07F4-366F-E28EF3F083B3}"/>
              </a:ext>
            </a:extLst>
          </p:cNvPr>
          <p:cNvCxnSpPr>
            <a:cxnSpLocks/>
            <a:stCxn id="88" idx="2"/>
            <a:endCxn id="87" idx="0"/>
          </p:cNvCxnSpPr>
          <p:nvPr/>
        </p:nvCxnSpPr>
        <p:spPr>
          <a:xfrm rot="16200000" flipH="1">
            <a:off x="2728759" y="1520033"/>
            <a:ext cx="210537" cy="1"/>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0" name="Connector: Elbow 149">
            <a:extLst>
              <a:ext uri="{FF2B5EF4-FFF2-40B4-BE49-F238E27FC236}">
                <a16:creationId xmlns:a16="http://schemas.microsoft.com/office/drawing/2014/main" id="{C2C6EB20-D244-4302-79F5-1E31EBEBA5DC}"/>
              </a:ext>
            </a:extLst>
          </p:cNvPr>
          <p:cNvCxnSpPr>
            <a:cxnSpLocks/>
            <a:stCxn id="138" idx="1"/>
            <a:endCxn id="142" idx="4"/>
          </p:cNvCxnSpPr>
          <p:nvPr/>
        </p:nvCxnSpPr>
        <p:spPr>
          <a:xfrm rot="10800000">
            <a:off x="1001959" y="4515321"/>
            <a:ext cx="555868" cy="782951"/>
          </a:xfrm>
          <a:prstGeom prst="bentConnector2">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51" name="Oval 150">
            <a:extLst>
              <a:ext uri="{FF2B5EF4-FFF2-40B4-BE49-F238E27FC236}">
                <a16:creationId xmlns:a16="http://schemas.microsoft.com/office/drawing/2014/main" id="{18A31018-D3A1-F1B9-3EB0-21D5652AF3C7}"/>
              </a:ext>
            </a:extLst>
          </p:cNvPr>
          <p:cNvSpPr/>
          <p:nvPr/>
        </p:nvSpPr>
        <p:spPr>
          <a:xfrm>
            <a:off x="911471" y="1132584"/>
            <a:ext cx="960010" cy="288001"/>
          </a:xfrm>
          <a:prstGeom prst="ellipse">
            <a:avLst/>
          </a:prstGeom>
          <a:solidFill>
            <a:schemeClr val="bg1"/>
          </a:solidFill>
          <a:ln>
            <a:solidFill>
              <a:schemeClr val="tx1"/>
            </a:solidFill>
          </a:ln>
        </p:spPr>
        <p:txBody>
          <a:bodyPr wrap="none" lIns="0" tIns="0" rIns="0" bIns="0" rtlCol="0" anchor="ctr">
            <a:noAutofit/>
          </a:bodyPr>
          <a:lstStyle/>
          <a:p>
            <a:pPr marL="0" marR="0" lvl="0" indent="0" algn="ctr" defTabSz="228600" rtl="0" eaLnBrk="1" fontAlgn="auto" latinLnBrk="0" hangingPunct="1">
              <a:lnSpc>
                <a:spcPct val="100000"/>
              </a:lnSpc>
              <a:spcBef>
                <a:spcPts val="0"/>
              </a:spcBef>
              <a:spcAft>
                <a:spcPts val="0"/>
              </a:spcAft>
              <a:buClrTx/>
              <a:buSzTx/>
              <a:buFontTx/>
              <a:buNone/>
              <a:tabLst/>
              <a:defRPr/>
            </a:pPr>
            <a:r>
              <a:rPr kumimoji="0" lang="es" sz="700" b="0" i="1" u="none" strike="noStrike" kern="1200" cap="none" spc="0" normalizeH="0" baseline="0" noProof="0">
                <a:ln>
                  <a:noFill/>
                </a:ln>
                <a:solidFill>
                  <a:srgbClr val="000000"/>
                </a:solidFill>
                <a:effectLst/>
                <a:uLnTx/>
                <a:uFillTx/>
                <a:latin typeface="Graphik"/>
                <a:ea typeface="+mn-ea"/>
                <a:cs typeface="+mn-cs"/>
              </a:rPr>
              <a:t>Oferta de préstamo</a:t>
            </a:r>
            <a:endParaRPr kumimoji="0" lang="es-ES_tradnl" sz="700" b="0" i="1" u="none" strike="noStrike" kern="1200" cap="none" spc="0" normalizeH="0" baseline="0" noProof="0">
              <a:ln>
                <a:noFill/>
              </a:ln>
              <a:solidFill>
                <a:srgbClr val="000000"/>
              </a:solidFill>
              <a:effectLst/>
              <a:uLnTx/>
              <a:uFillTx/>
              <a:latin typeface="Graphik"/>
              <a:ea typeface="+mn-ea"/>
              <a:cs typeface="+mn-cs"/>
            </a:endParaRPr>
          </a:p>
        </p:txBody>
      </p:sp>
      <p:cxnSp>
        <p:nvCxnSpPr>
          <p:cNvPr id="152" name="Connector: Elbow 151">
            <a:extLst>
              <a:ext uri="{FF2B5EF4-FFF2-40B4-BE49-F238E27FC236}">
                <a16:creationId xmlns:a16="http://schemas.microsoft.com/office/drawing/2014/main" id="{013D2BCC-BEEE-89E0-DD21-C4AAC0320CF1}"/>
              </a:ext>
            </a:extLst>
          </p:cNvPr>
          <p:cNvCxnSpPr>
            <a:cxnSpLocks/>
            <a:stCxn id="134" idx="0"/>
            <a:endCxn id="132" idx="3"/>
          </p:cNvCxnSpPr>
          <p:nvPr/>
        </p:nvCxnSpPr>
        <p:spPr>
          <a:xfrm rot="16200000" flipV="1">
            <a:off x="5923763" y="1045011"/>
            <a:ext cx="332473" cy="828112"/>
          </a:xfrm>
          <a:prstGeom prst="bentConnector2">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53" name="Oval 152">
            <a:extLst>
              <a:ext uri="{FF2B5EF4-FFF2-40B4-BE49-F238E27FC236}">
                <a16:creationId xmlns:a16="http://schemas.microsoft.com/office/drawing/2014/main" id="{AED656A7-4A60-4955-BB72-5F18639D80A1}"/>
              </a:ext>
            </a:extLst>
          </p:cNvPr>
          <p:cNvSpPr/>
          <p:nvPr/>
        </p:nvSpPr>
        <p:spPr>
          <a:xfrm>
            <a:off x="6234708" y="1149207"/>
            <a:ext cx="538692" cy="288001"/>
          </a:xfrm>
          <a:prstGeom prst="ellipse">
            <a:avLst/>
          </a:prstGeom>
          <a:solidFill>
            <a:schemeClr val="bg1"/>
          </a:solidFill>
          <a:ln>
            <a:solidFill>
              <a:schemeClr val="tx1"/>
            </a:solidFill>
          </a:ln>
        </p:spPr>
        <p:txBody>
          <a:bodyPr wrap="none" lIns="0" tIns="0" rIns="0" bIns="0" rtlCol="0" anchor="ctr">
            <a:noAutofit/>
          </a:bodyPr>
          <a:lstStyle/>
          <a:p>
            <a:pPr marL="0" marR="0" lvl="0" indent="0" algn="ctr" defTabSz="228600" rtl="0" eaLnBrk="1" fontAlgn="auto" latinLnBrk="0" hangingPunct="1">
              <a:lnSpc>
                <a:spcPct val="100000"/>
              </a:lnSpc>
              <a:spcBef>
                <a:spcPts val="0"/>
              </a:spcBef>
              <a:spcAft>
                <a:spcPts val="0"/>
              </a:spcAft>
              <a:buClrTx/>
              <a:buSzTx/>
              <a:buFontTx/>
              <a:buNone/>
              <a:tabLst/>
              <a:defRPr/>
            </a:pPr>
            <a:r>
              <a:rPr kumimoji="0" lang="es" sz="700" b="0" i="1" u="none" strike="noStrike" kern="1200" cap="none" spc="0" normalizeH="0" baseline="0" noProof="0" err="1">
                <a:ln>
                  <a:noFill/>
                </a:ln>
                <a:solidFill>
                  <a:srgbClr val="000000"/>
                </a:solidFill>
                <a:effectLst/>
                <a:uLnTx/>
                <a:uFillTx/>
                <a:latin typeface="Graphik"/>
                <a:ea typeface="+mn-ea"/>
                <a:cs typeface="+mn-cs"/>
              </a:rPr>
              <a:t>Alertas</a:t>
            </a:r>
            <a:endParaRPr kumimoji="0" lang="es-ES_tradnl" sz="700" b="0" i="1" u="none" strike="noStrike" kern="1200" cap="none" spc="0" normalizeH="0" baseline="0" noProof="0">
              <a:ln>
                <a:noFill/>
              </a:ln>
              <a:solidFill>
                <a:srgbClr val="000000"/>
              </a:solidFill>
              <a:effectLst/>
              <a:uLnTx/>
              <a:uFillTx/>
              <a:latin typeface="Graphik"/>
              <a:ea typeface="+mn-ea"/>
              <a:cs typeface="+mn-cs"/>
            </a:endParaRPr>
          </a:p>
        </p:txBody>
      </p:sp>
      <p:sp>
        <p:nvSpPr>
          <p:cNvPr id="154" name="Rectangle 153">
            <a:extLst>
              <a:ext uri="{FF2B5EF4-FFF2-40B4-BE49-F238E27FC236}">
                <a16:creationId xmlns:a16="http://schemas.microsoft.com/office/drawing/2014/main" id="{4F04262B-0B38-ACCC-AC55-53F4EFD3B7E9}"/>
              </a:ext>
            </a:extLst>
          </p:cNvPr>
          <p:cNvSpPr/>
          <p:nvPr/>
        </p:nvSpPr>
        <p:spPr>
          <a:xfrm>
            <a:off x="6515846" y="4833442"/>
            <a:ext cx="801374" cy="180001"/>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Servicios</a:t>
            </a:r>
          </a:p>
        </p:txBody>
      </p:sp>
      <p:sp>
        <p:nvSpPr>
          <p:cNvPr id="155" name="Can 172">
            <a:extLst>
              <a:ext uri="{FF2B5EF4-FFF2-40B4-BE49-F238E27FC236}">
                <a16:creationId xmlns:a16="http://schemas.microsoft.com/office/drawing/2014/main" id="{A1E51F80-6B79-458E-4EE6-6B4D7FF0FE4D}"/>
              </a:ext>
            </a:extLst>
          </p:cNvPr>
          <p:cNvSpPr/>
          <p:nvPr/>
        </p:nvSpPr>
        <p:spPr bwMode="auto">
          <a:xfrm rot="5400000">
            <a:off x="6783631" y="4854684"/>
            <a:ext cx="265804" cy="801373"/>
          </a:xfrm>
          <a:prstGeom prst="can">
            <a:avLst>
              <a:gd name="adj" fmla="val 59089"/>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000000"/>
                </a:solidFill>
                <a:effectLst/>
                <a:uLnTx/>
                <a:uFillTx/>
                <a:latin typeface="Graphik"/>
                <a:ea typeface="+mn-ea"/>
                <a:cs typeface="+mn-cs"/>
              </a:rPr>
              <a:t>Kafka topics</a:t>
            </a:r>
          </a:p>
        </p:txBody>
      </p:sp>
      <p:sp>
        <p:nvSpPr>
          <p:cNvPr id="156" name="TextBox 155">
            <a:extLst>
              <a:ext uri="{FF2B5EF4-FFF2-40B4-BE49-F238E27FC236}">
                <a16:creationId xmlns:a16="http://schemas.microsoft.com/office/drawing/2014/main" id="{1593B945-E994-71D2-42F5-C70DCCC171FE}"/>
              </a:ext>
            </a:extLst>
          </p:cNvPr>
          <p:cNvSpPr txBox="1"/>
          <p:nvPr/>
        </p:nvSpPr>
        <p:spPr>
          <a:xfrm>
            <a:off x="8123474" y="1847779"/>
            <a:ext cx="3777940" cy="4114749"/>
          </a:xfrm>
          <a:prstGeom prst="rect">
            <a:avLst/>
          </a:prstGeom>
          <a:noFill/>
        </p:spPr>
        <p:txBody>
          <a:bodyPr wrap="square" lIns="0" tIns="0" rIns="0" bIns="0" rtlCol="0">
            <a:noAutofit/>
          </a:bodyPr>
          <a:lstStyle/>
          <a:p>
            <a:pPr marL="0" marR="0" lvl="0" indent="0" algn="l" defTabSz="228600" rtl="0" eaLnBrk="1" fontAlgn="auto" latinLnBrk="0" hangingPunct="1">
              <a:lnSpc>
                <a:spcPct val="100000"/>
              </a:lnSpc>
              <a:spcBef>
                <a:spcPts val="0"/>
              </a:spcBef>
              <a:spcAft>
                <a:spcPts val="600"/>
              </a:spcAft>
              <a:buClrTx/>
              <a:buSzTx/>
              <a:buFontTx/>
              <a:buNone/>
              <a:tabLst/>
              <a:defRPr/>
            </a:pPr>
            <a:r>
              <a:rPr kumimoji="0" lang="es" sz="1100" b="0" i="0" u="none" strike="noStrike" kern="1200" cap="none" spc="0" normalizeH="0" baseline="0" noProof="0">
                <a:ln>
                  <a:noFill/>
                </a:ln>
                <a:solidFill>
                  <a:srgbClr val="000000"/>
                </a:solidFill>
                <a:effectLst/>
                <a:uLnTx/>
                <a:uFillTx/>
                <a:latin typeface="Graphik"/>
                <a:ea typeface="+mn-ea"/>
                <a:cs typeface="+mn-cs"/>
              </a:rPr>
              <a:t>La intención es aprovechar varios </a:t>
            </a:r>
            <a:r>
              <a:rPr kumimoji="0" lang="es" sz="1100" b="1" i="0" u="none" strike="noStrike" kern="1200" cap="none" spc="0" normalizeH="0" baseline="0" noProof="0">
                <a:ln>
                  <a:noFill/>
                </a:ln>
                <a:solidFill>
                  <a:srgbClr val="000000"/>
                </a:solidFill>
                <a:effectLst/>
                <a:uLnTx/>
                <a:uFillTx/>
                <a:latin typeface="Graphik"/>
                <a:ea typeface="+mn-ea"/>
                <a:cs typeface="+mn-cs"/>
              </a:rPr>
              <a:t>componentes y patrones de la Arquitectura de Interoperabilidad </a:t>
            </a:r>
            <a:r>
              <a:rPr kumimoji="0" lang="es" sz="1100" b="0" i="0" u="none" strike="noStrike" kern="1200" cap="none" spc="0" normalizeH="0" baseline="0" noProof="0">
                <a:ln>
                  <a:noFill/>
                </a:ln>
                <a:solidFill>
                  <a:srgbClr val="000000"/>
                </a:solidFill>
                <a:effectLst/>
                <a:uLnTx/>
                <a:uFillTx/>
                <a:latin typeface="Graphik"/>
                <a:ea typeface="+mn-ea"/>
                <a:cs typeface="+mn-cs"/>
              </a:rPr>
              <a:t>en el contexto de un caso de uso de Banca Central:</a:t>
            </a:r>
          </a:p>
          <a:p>
            <a:pPr marL="228600" marR="0" lvl="0" indent="-228600" algn="l" defTabSz="228600" rtl="0" eaLnBrk="1" fontAlgn="auto" latinLnBrk="0" hangingPunct="1">
              <a:lnSpc>
                <a:spcPct val="100000"/>
              </a:lnSpc>
              <a:spcBef>
                <a:spcPts val="0"/>
              </a:spcBef>
              <a:spcAft>
                <a:spcPts val="600"/>
              </a:spcAft>
              <a:buClrTx/>
              <a:buSzTx/>
              <a:buFont typeface="+mj-lt"/>
              <a:buAutoNum type="arabicPeriod"/>
              <a:tabLst/>
              <a:defRPr/>
            </a:pPr>
            <a:r>
              <a:rPr kumimoji="0" lang="es" sz="1100" b="0" i="0" u="none" strike="noStrike" kern="1200" cap="none" spc="0" normalizeH="0" baseline="0" noProof="0">
                <a:ln>
                  <a:noFill/>
                </a:ln>
                <a:solidFill>
                  <a:srgbClr val="000000"/>
                </a:solidFill>
                <a:effectLst/>
                <a:uLnTx/>
                <a:uFillTx/>
                <a:latin typeface="Graphik"/>
                <a:ea typeface="+mn-ea"/>
                <a:cs typeface="+mn-cs"/>
              </a:rPr>
              <a:t>Inicio de una transferencia de crédito por banca por Internet vía API</a:t>
            </a:r>
          </a:p>
          <a:p>
            <a:pPr marL="228600" marR="0" lvl="0" indent="-228600" algn="l" defTabSz="228600" rtl="0" eaLnBrk="1" fontAlgn="auto" latinLnBrk="0" hangingPunct="1">
              <a:lnSpc>
                <a:spcPct val="100000"/>
              </a:lnSpc>
              <a:spcBef>
                <a:spcPts val="0"/>
              </a:spcBef>
              <a:spcAft>
                <a:spcPts val="600"/>
              </a:spcAft>
              <a:buClrTx/>
              <a:buSzTx/>
              <a:buFont typeface="+mj-lt"/>
              <a:buAutoNum type="arabicPeriod"/>
              <a:tabLst/>
              <a:defRPr/>
            </a:pPr>
            <a:r>
              <a:rPr kumimoji="0" lang="es" sz="1100" b="0" i="0" u="none" strike="noStrike" kern="1200" cap="none" spc="0" normalizeH="0" baseline="0" noProof="0">
                <a:ln>
                  <a:noFill/>
                </a:ln>
                <a:solidFill>
                  <a:srgbClr val="000000"/>
                </a:solidFill>
                <a:effectLst/>
                <a:uLnTx/>
                <a:uFillTx/>
                <a:latin typeface="Graphik"/>
                <a:ea typeface="+mn-ea"/>
                <a:cs typeface="+mn-cs"/>
              </a:rPr>
              <a:t>Orquestación de diferentes pasos en la transferencia de crédito utilizando varios componentes (riesgo, cheque AML, orden de pago, contabilidad...)</a:t>
            </a:r>
          </a:p>
          <a:p>
            <a:pPr marL="228600" marR="0" lvl="0" indent="-228600" algn="l" defTabSz="228600" rtl="0" eaLnBrk="1" fontAlgn="auto" latinLnBrk="0" hangingPunct="1">
              <a:lnSpc>
                <a:spcPct val="100000"/>
              </a:lnSpc>
              <a:spcBef>
                <a:spcPts val="0"/>
              </a:spcBef>
              <a:spcAft>
                <a:spcPts val="600"/>
              </a:spcAft>
              <a:buClrTx/>
              <a:buSzTx/>
              <a:buFont typeface="+mj-lt"/>
              <a:buAutoNum type="arabicPeriod"/>
              <a:tabLst/>
              <a:defRPr/>
            </a:pPr>
            <a:r>
              <a:rPr kumimoji="0" lang="es" sz="1100" b="0" i="0" u="none" strike="noStrike" kern="1200" cap="none" spc="0" normalizeH="0" baseline="0" noProof="0">
                <a:ln>
                  <a:noFill/>
                </a:ln>
                <a:solidFill>
                  <a:srgbClr val="000000"/>
                </a:solidFill>
                <a:effectLst/>
                <a:uLnTx/>
                <a:uFillTx/>
                <a:latin typeface="Graphik"/>
                <a:ea typeface="+mn-ea"/>
                <a:cs typeface="+mn-cs"/>
              </a:rPr>
              <a:t>Actualización del saldo en el almacén de datos</a:t>
            </a:r>
          </a:p>
          <a:p>
            <a:pPr marL="228600" marR="0" lvl="0" indent="-228600" algn="l" defTabSz="228600" rtl="0" eaLnBrk="1" fontAlgn="auto" latinLnBrk="0" hangingPunct="1">
              <a:lnSpc>
                <a:spcPct val="100000"/>
              </a:lnSpc>
              <a:spcBef>
                <a:spcPts val="0"/>
              </a:spcBef>
              <a:spcAft>
                <a:spcPts val="600"/>
              </a:spcAft>
              <a:buClrTx/>
              <a:buSzTx/>
              <a:buFont typeface="+mj-lt"/>
              <a:buAutoNum type="arabicPeriod"/>
              <a:tabLst/>
              <a:defRPr/>
            </a:pPr>
            <a:r>
              <a:rPr kumimoji="0" lang="es" sz="1100" b="0" i="0" u="none" strike="noStrike" kern="1200" cap="none" spc="0" normalizeH="0" baseline="0" noProof="0">
                <a:ln>
                  <a:noFill/>
                </a:ln>
                <a:solidFill>
                  <a:srgbClr val="000000"/>
                </a:solidFill>
                <a:effectLst/>
                <a:uLnTx/>
                <a:uFillTx/>
                <a:latin typeface="Graphik"/>
                <a:ea typeface="+mn-ea"/>
                <a:cs typeface="+mn-cs"/>
              </a:rPr>
              <a:t>Monitorización de la actividad empresarial por parte de un agente a través del portal de backoffice</a:t>
            </a:r>
          </a:p>
          <a:p>
            <a:pPr marL="228600" marR="0" lvl="0" indent="-228600" algn="l" defTabSz="228600" rtl="0" eaLnBrk="1" fontAlgn="auto" latinLnBrk="0" hangingPunct="1">
              <a:lnSpc>
                <a:spcPct val="100000"/>
              </a:lnSpc>
              <a:spcBef>
                <a:spcPts val="0"/>
              </a:spcBef>
              <a:spcAft>
                <a:spcPts val="600"/>
              </a:spcAft>
              <a:buClrTx/>
              <a:buSzTx/>
              <a:buFont typeface="+mj-lt"/>
              <a:buAutoNum type="arabicPeriod"/>
              <a:tabLst/>
              <a:defRPr/>
            </a:pPr>
            <a:r>
              <a:rPr kumimoji="0" lang="es" sz="1100" b="0" i="0" u="none" strike="noStrike" kern="1200" cap="none" spc="0" normalizeH="0" baseline="0" noProof="0">
                <a:ln>
                  <a:noFill/>
                </a:ln>
                <a:solidFill>
                  <a:srgbClr val="000000"/>
                </a:solidFill>
                <a:effectLst/>
                <a:uLnTx/>
                <a:uFillTx/>
                <a:latin typeface="Graphik"/>
                <a:ea typeface="+mn-ea"/>
                <a:cs typeface="+mn-cs"/>
              </a:rPr>
              <a:t>Generación de una propuesta personalizada desde el Dominio de Datos (BI/ML/IA) y notificación al cliente</a:t>
            </a:r>
          </a:p>
          <a:p>
            <a:pPr marL="228600" marR="0" lvl="0" indent="-228600" algn="l" defTabSz="228600" rtl="0" eaLnBrk="1" fontAlgn="auto" latinLnBrk="0" hangingPunct="1">
              <a:lnSpc>
                <a:spcPct val="100000"/>
              </a:lnSpc>
              <a:spcBef>
                <a:spcPts val="0"/>
              </a:spcBef>
              <a:spcAft>
                <a:spcPts val="600"/>
              </a:spcAft>
              <a:buClrTx/>
              <a:buSzTx/>
              <a:buFont typeface="+mj-lt"/>
              <a:buAutoNum type="arabicPeriod"/>
              <a:tabLst/>
              <a:defRPr/>
            </a:pPr>
            <a:endParaRPr kumimoji="0" lang="en-US" sz="1100" b="0" i="0" u="none" strike="noStrike" kern="1200" cap="none" spc="0" normalizeH="0" baseline="0" noProof="0">
              <a:ln>
                <a:noFill/>
              </a:ln>
              <a:solidFill>
                <a:srgbClr val="000000"/>
              </a:solidFill>
              <a:effectLst/>
              <a:uLnTx/>
              <a:uFillTx/>
              <a:latin typeface="Graphik"/>
              <a:ea typeface="+mn-ea"/>
              <a:cs typeface="+mn-cs"/>
            </a:endParaRPr>
          </a:p>
          <a:p>
            <a:pPr marL="0" marR="0" lvl="0" indent="0" algn="l" defTabSz="228600" rtl="0" eaLnBrk="1" fontAlgn="auto" latinLnBrk="0" hangingPunct="1">
              <a:lnSpc>
                <a:spcPct val="100000"/>
              </a:lnSpc>
              <a:spcBef>
                <a:spcPts val="0"/>
              </a:spcBef>
              <a:spcAft>
                <a:spcPts val="600"/>
              </a:spcAft>
              <a:buClrTx/>
              <a:buSzTx/>
              <a:buFontTx/>
              <a:buNone/>
              <a:tabLst/>
              <a:defRPr/>
            </a:pPr>
            <a:r>
              <a:rPr kumimoji="0" lang="es" sz="1100" b="0" i="0" u="none" strike="noStrike" kern="1200" cap="none" spc="0" normalizeH="0" baseline="0" noProof="0">
                <a:ln>
                  <a:noFill/>
                </a:ln>
                <a:solidFill>
                  <a:srgbClr val="000000"/>
                </a:solidFill>
                <a:effectLst/>
                <a:uLnTx/>
                <a:uFillTx/>
                <a:latin typeface="Graphik"/>
                <a:ea typeface="+mn-ea"/>
                <a:cs typeface="+mn-cs"/>
              </a:rPr>
              <a:t>Estos procesos requieren diferentes </a:t>
            </a:r>
            <a:r>
              <a:rPr kumimoji="0" lang="es" sz="1100" b="1" i="0" u="none" strike="noStrike" kern="1200" cap="none" spc="0" normalizeH="0" baseline="0" noProof="0">
                <a:ln>
                  <a:noFill/>
                </a:ln>
                <a:solidFill>
                  <a:srgbClr val="000000"/>
                </a:solidFill>
                <a:effectLst/>
                <a:uLnTx/>
                <a:uFillTx/>
                <a:latin typeface="Graphik"/>
                <a:ea typeface="+mn-ea"/>
                <a:cs typeface="+mn-cs"/>
              </a:rPr>
              <a:t>interacciones síncronas y asíncronas entre microservicios.</a:t>
            </a:r>
            <a:endParaRPr kumimoji="0" lang="en-US" sz="1100" b="0" i="0" u="none" strike="noStrike" kern="1200" cap="none" spc="0" normalizeH="0" baseline="0" noProof="0">
              <a:ln>
                <a:noFill/>
              </a:ln>
              <a:solidFill>
                <a:srgbClr val="000000"/>
              </a:solidFill>
              <a:effectLst/>
              <a:uLnTx/>
              <a:uFillTx/>
              <a:latin typeface="Graphik"/>
              <a:ea typeface="+mn-ea"/>
              <a:cs typeface="+mn-cs"/>
            </a:endParaRPr>
          </a:p>
          <a:p>
            <a:pPr marL="0" marR="0" lvl="0" indent="0" algn="l" defTabSz="228600" rtl="0" eaLnBrk="1" fontAlgn="auto" latinLnBrk="0" hangingPunct="1">
              <a:lnSpc>
                <a:spcPct val="100000"/>
              </a:lnSpc>
              <a:spcBef>
                <a:spcPts val="0"/>
              </a:spcBef>
              <a:spcAft>
                <a:spcPts val="60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Graphik"/>
              <a:ea typeface="+mn-ea"/>
              <a:cs typeface="+mn-cs"/>
            </a:endParaRPr>
          </a:p>
          <a:p>
            <a:pPr marL="0" marR="0" lvl="0" indent="0" algn="l" defTabSz="228600" rtl="0" eaLnBrk="1" fontAlgn="auto" latinLnBrk="0" hangingPunct="1">
              <a:lnSpc>
                <a:spcPct val="100000"/>
              </a:lnSpc>
              <a:spcBef>
                <a:spcPts val="0"/>
              </a:spcBef>
              <a:spcAft>
                <a:spcPts val="600"/>
              </a:spcAft>
              <a:buClrTx/>
              <a:buSzTx/>
              <a:buFontTx/>
              <a:buNone/>
              <a:tabLst/>
              <a:defRPr/>
            </a:pPr>
            <a:r>
              <a:rPr kumimoji="0" lang="es" sz="1100" b="0" i="0" u="none" strike="noStrike" kern="1200" cap="none" spc="0" normalizeH="0" baseline="0" noProof="0">
                <a:ln>
                  <a:noFill/>
                </a:ln>
                <a:solidFill>
                  <a:srgbClr val="000000"/>
                </a:solidFill>
                <a:effectLst/>
                <a:uLnTx/>
                <a:uFillTx/>
                <a:latin typeface="Graphik"/>
                <a:ea typeface="+mn-ea"/>
                <a:cs typeface="+mn-cs"/>
              </a:rPr>
              <a:t>Como parte del ejercicio, se discutirían/seleccionarían diferentes componentes de la pila, priorizando los paquetes de código abierto o de proveedores consolidados</a:t>
            </a:r>
          </a:p>
          <a:p>
            <a:pPr marL="171450" marR="0" lvl="0" indent="-1714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US" sz="1100" b="0" i="0" u="none" strike="noStrike" kern="1200" cap="none" spc="0" normalizeH="0" baseline="0" noProof="0">
              <a:ln>
                <a:noFill/>
              </a:ln>
              <a:solidFill>
                <a:srgbClr val="000000"/>
              </a:solidFill>
              <a:effectLst/>
              <a:uLnTx/>
              <a:uFillTx/>
              <a:latin typeface="Graphik"/>
              <a:ea typeface="+mn-ea"/>
              <a:cs typeface="+mn-cs"/>
            </a:endParaRPr>
          </a:p>
          <a:p>
            <a:pPr marL="171450" marR="0" lvl="0" indent="-171450" algn="l" defTabSz="228600" rtl="0" eaLnBrk="1" fontAlgn="auto" latinLnBrk="0" hangingPunct="1">
              <a:lnSpc>
                <a:spcPct val="100000"/>
              </a:lnSpc>
              <a:spcBef>
                <a:spcPts val="0"/>
              </a:spcBef>
              <a:spcAft>
                <a:spcPts val="1200"/>
              </a:spcAft>
              <a:buClrTx/>
              <a:buSzTx/>
              <a:buFont typeface="Arial" panose="020B0604020202020204" pitchFamily="34" charset="0"/>
              <a:buChar char="•"/>
              <a:tabLst/>
              <a:defRPr/>
            </a:pPr>
            <a:endParaRPr kumimoji="0" lang="en-US" sz="1100" b="0" i="0" u="none" strike="noStrike" kern="1200" cap="none" spc="0" normalizeH="0" baseline="0" noProof="0">
              <a:ln>
                <a:noFill/>
              </a:ln>
              <a:solidFill>
                <a:srgbClr val="000000"/>
              </a:solidFill>
              <a:effectLst/>
              <a:uLnTx/>
              <a:uFillTx/>
              <a:latin typeface="Graphik"/>
              <a:ea typeface="+mn-ea"/>
              <a:cs typeface="+mn-cs"/>
            </a:endParaRPr>
          </a:p>
        </p:txBody>
      </p:sp>
      <p:sp>
        <p:nvSpPr>
          <p:cNvPr id="157" name="Oval 156">
            <a:extLst>
              <a:ext uri="{FF2B5EF4-FFF2-40B4-BE49-F238E27FC236}">
                <a16:creationId xmlns:a16="http://schemas.microsoft.com/office/drawing/2014/main" id="{19968113-474A-BE85-2CF9-0F39E3D9444D}"/>
              </a:ext>
            </a:extLst>
          </p:cNvPr>
          <p:cNvSpPr/>
          <p:nvPr/>
        </p:nvSpPr>
        <p:spPr>
          <a:xfrm>
            <a:off x="2926328" y="1340251"/>
            <a:ext cx="216000" cy="216000"/>
          </a:xfrm>
          <a:prstGeom prst="ellipse">
            <a:avLst/>
          </a:prstGeom>
          <a:solidFill>
            <a:srgbClr val="C0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1</a:t>
            </a:r>
            <a:endParaRPr kumimoji="0" lang="en-ES" sz="1100" b="1" i="0" u="none" strike="noStrike" kern="1200" cap="none" spc="0" normalizeH="0" baseline="0" noProof="0">
              <a:ln>
                <a:noFill/>
              </a:ln>
              <a:solidFill>
                <a:srgbClr val="FFFFFF"/>
              </a:solidFill>
              <a:effectLst/>
              <a:uLnTx/>
              <a:uFillTx/>
              <a:latin typeface="Graphik"/>
              <a:ea typeface="+mn-ea"/>
              <a:cs typeface="+mn-cs"/>
            </a:endParaRPr>
          </a:p>
        </p:txBody>
      </p:sp>
      <p:sp>
        <p:nvSpPr>
          <p:cNvPr id="158" name="Oval 157">
            <a:extLst>
              <a:ext uri="{FF2B5EF4-FFF2-40B4-BE49-F238E27FC236}">
                <a16:creationId xmlns:a16="http://schemas.microsoft.com/office/drawing/2014/main" id="{5DC709E4-E505-64AA-1F84-E9F2A4180019}"/>
              </a:ext>
            </a:extLst>
          </p:cNvPr>
          <p:cNvSpPr/>
          <p:nvPr/>
        </p:nvSpPr>
        <p:spPr>
          <a:xfrm>
            <a:off x="1211521" y="2577794"/>
            <a:ext cx="216000" cy="216000"/>
          </a:xfrm>
          <a:prstGeom prst="ellipse">
            <a:avLst/>
          </a:prstGeom>
          <a:solidFill>
            <a:srgbClr val="C0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2</a:t>
            </a:r>
            <a:endParaRPr kumimoji="0" lang="en-ES" sz="1100" b="1" i="0" u="none" strike="noStrike" kern="1200" cap="none" spc="0" normalizeH="0" baseline="0" noProof="0">
              <a:ln>
                <a:noFill/>
              </a:ln>
              <a:solidFill>
                <a:srgbClr val="FFFFFF"/>
              </a:solidFill>
              <a:effectLst/>
              <a:uLnTx/>
              <a:uFillTx/>
              <a:latin typeface="Graphik"/>
              <a:ea typeface="+mn-ea"/>
              <a:cs typeface="+mn-cs"/>
            </a:endParaRPr>
          </a:p>
        </p:txBody>
      </p:sp>
      <p:sp>
        <p:nvSpPr>
          <p:cNvPr id="159" name="Oval 158">
            <a:extLst>
              <a:ext uri="{FF2B5EF4-FFF2-40B4-BE49-F238E27FC236}">
                <a16:creationId xmlns:a16="http://schemas.microsoft.com/office/drawing/2014/main" id="{B8D438D3-13AB-0DEA-2CD3-6E87E844B89E}"/>
              </a:ext>
            </a:extLst>
          </p:cNvPr>
          <p:cNvSpPr/>
          <p:nvPr/>
        </p:nvSpPr>
        <p:spPr>
          <a:xfrm>
            <a:off x="2204616" y="3930564"/>
            <a:ext cx="216000" cy="216000"/>
          </a:xfrm>
          <a:prstGeom prst="ellipse">
            <a:avLst/>
          </a:prstGeom>
          <a:solidFill>
            <a:srgbClr val="C0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3</a:t>
            </a:r>
            <a:endParaRPr kumimoji="0" lang="en-ES" sz="1100" b="1" i="0" u="none" strike="noStrike" kern="1200" cap="none" spc="0" normalizeH="0" baseline="0" noProof="0">
              <a:ln>
                <a:noFill/>
              </a:ln>
              <a:solidFill>
                <a:srgbClr val="FFFFFF"/>
              </a:solidFill>
              <a:effectLst/>
              <a:uLnTx/>
              <a:uFillTx/>
              <a:latin typeface="Graphik"/>
              <a:ea typeface="+mn-ea"/>
              <a:cs typeface="+mn-cs"/>
            </a:endParaRPr>
          </a:p>
        </p:txBody>
      </p:sp>
      <p:sp>
        <p:nvSpPr>
          <p:cNvPr id="160" name="Oval 159">
            <a:extLst>
              <a:ext uri="{FF2B5EF4-FFF2-40B4-BE49-F238E27FC236}">
                <a16:creationId xmlns:a16="http://schemas.microsoft.com/office/drawing/2014/main" id="{80397A94-1D65-53C8-7ACB-C0D1119F4FA1}"/>
              </a:ext>
            </a:extLst>
          </p:cNvPr>
          <p:cNvSpPr/>
          <p:nvPr/>
        </p:nvSpPr>
        <p:spPr>
          <a:xfrm>
            <a:off x="7235378" y="1918961"/>
            <a:ext cx="216000" cy="216000"/>
          </a:xfrm>
          <a:prstGeom prst="ellipse">
            <a:avLst/>
          </a:prstGeom>
          <a:solidFill>
            <a:srgbClr val="C0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4</a:t>
            </a:r>
            <a:endParaRPr kumimoji="0" lang="en-ES" sz="1100" b="1" i="0" u="none" strike="noStrike" kern="1200" cap="none" spc="0" normalizeH="0" baseline="0" noProof="0">
              <a:ln>
                <a:noFill/>
              </a:ln>
              <a:solidFill>
                <a:srgbClr val="FFFFFF"/>
              </a:solidFill>
              <a:effectLst/>
              <a:uLnTx/>
              <a:uFillTx/>
              <a:latin typeface="Graphik"/>
              <a:ea typeface="+mn-ea"/>
              <a:cs typeface="+mn-cs"/>
            </a:endParaRPr>
          </a:p>
        </p:txBody>
      </p:sp>
      <p:sp>
        <p:nvSpPr>
          <p:cNvPr id="161" name="Oval 160">
            <a:extLst>
              <a:ext uri="{FF2B5EF4-FFF2-40B4-BE49-F238E27FC236}">
                <a16:creationId xmlns:a16="http://schemas.microsoft.com/office/drawing/2014/main" id="{C8CD9078-4F1D-644E-7E40-D393753D3772}"/>
              </a:ext>
            </a:extLst>
          </p:cNvPr>
          <p:cNvSpPr/>
          <p:nvPr/>
        </p:nvSpPr>
        <p:spPr>
          <a:xfrm>
            <a:off x="893959" y="4841091"/>
            <a:ext cx="216000" cy="216000"/>
          </a:xfrm>
          <a:prstGeom prst="ellipse">
            <a:avLst/>
          </a:prstGeom>
          <a:solidFill>
            <a:srgbClr val="C0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5</a:t>
            </a:r>
            <a:endParaRPr kumimoji="0" lang="en-ES" sz="1100" b="1" i="0" u="none" strike="noStrike" kern="1200" cap="none" spc="0" normalizeH="0" baseline="0" noProof="0">
              <a:ln>
                <a:noFill/>
              </a:ln>
              <a:solidFill>
                <a:srgbClr val="FFFFFF"/>
              </a:solidFill>
              <a:effectLst/>
              <a:uLnTx/>
              <a:uFillTx/>
              <a:latin typeface="Graphik"/>
              <a:ea typeface="+mn-ea"/>
              <a:cs typeface="+mn-cs"/>
            </a:endParaRPr>
          </a:p>
        </p:txBody>
      </p:sp>
    </p:spTree>
    <p:extLst>
      <p:ext uri="{BB962C8B-B14F-4D97-AF65-F5344CB8AC3E}">
        <p14:creationId xmlns:p14="http://schemas.microsoft.com/office/powerpoint/2010/main" val="267988665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57471DEF-AA97-EDF5-8A1E-A4195AB586E5}"/>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alpha val="65000"/>
                  </a:srgbClr>
                </a:solidFill>
                <a:effectLst/>
                <a:uLnTx/>
                <a:uFillTx/>
                <a:latin typeface="Graphik"/>
                <a:ea typeface="+mn-ea"/>
                <a:cs typeface="+mn-cs"/>
              </a:rPr>
              <a:t>Copyright © 2025 Accenture. Todos los derechos reservados.</a:t>
            </a:r>
          </a:p>
        </p:txBody>
      </p:sp>
      <p:sp>
        <p:nvSpPr>
          <p:cNvPr id="4" name="Title 1">
            <a:extLst>
              <a:ext uri="{FF2B5EF4-FFF2-40B4-BE49-F238E27FC236}">
                <a16:creationId xmlns:a16="http://schemas.microsoft.com/office/drawing/2014/main" id="{EA2A44FF-0D31-D843-FC4E-2CAAEB298FB5}"/>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a:ln>
                  <a:noFill/>
                </a:ln>
                <a:solidFill>
                  <a:srgbClr val="7500C0"/>
                </a:solidFill>
                <a:effectLst/>
                <a:uLnTx/>
                <a:uFillTx/>
                <a:latin typeface="Graphik"/>
                <a:ea typeface="+mj-ea"/>
                <a:cs typeface="+mj-cs"/>
              </a:rPr>
              <a:t>Activo de Interoperabilidad </a:t>
            </a:r>
            <a:r>
              <a:rPr kumimoji="0" lang="es" sz="2400" b="1" i="0" u="none" strike="noStrike" kern="1200" cap="none" spc="0" normalizeH="0" baseline="0" noProof="0">
                <a:ln>
                  <a:noFill/>
                </a:ln>
                <a:solidFill>
                  <a:srgbClr val="000000"/>
                </a:solidFill>
                <a:effectLst/>
                <a:uLnTx/>
                <a:uFillTx/>
                <a:latin typeface="Graphik"/>
                <a:ea typeface="+mj-ea"/>
                <a:cs typeface="+mj-cs"/>
              </a:rPr>
              <a:t>| </a:t>
            </a:r>
            <a:r>
              <a:rPr kumimoji="0" lang="es" sz="2000" b="1" i="0" u="none" strike="noStrike" kern="1200" cap="none" spc="0" normalizeH="0" baseline="0" noProof="0">
                <a:ln>
                  <a:noFill/>
                </a:ln>
                <a:solidFill>
                  <a:srgbClr val="000000"/>
                </a:solidFill>
                <a:effectLst/>
                <a:uLnTx/>
                <a:uFillTx/>
                <a:latin typeface="Graphik"/>
                <a:ea typeface="+mj-ea"/>
                <a:cs typeface="+mj-cs"/>
              </a:rPr>
              <a:t>Casos de uso candidatos (II)</a:t>
            </a:r>
            <a:endParaRPr kumimoji="0" lang="es" sz="2400" b="1" i="0" u="none" strike="noStrike" kern="1200" cap="none" spc="0" normalizeH="0" baseline="0" noProof="0">
              <a:ln>
                <a:noFill/>
              </a:ln>
              <a:solidFill>
                <a:srgbClr val="000000"/>
              </a:solidFill>
              <a:effectLst/>
              <a:uLnTx/>
              <a:uFillTx/>
              <a:latin typeface="Graphik"/>
              <a:ea typeface="+mj-ea"/>
              <a:cs typeface="+mj-cs"/>
            </a:endParaRPr>
          </a:p>
        </p:txBody>
      </p:sp>
      <p:sp>
        <p:nvSpPr>
          <p:cNvPr id="5" name="Content Placeholder 34">
            <a:extLst>
              <a:ext uri="{FF2B5EF4-FFF2-40B4-BE49-F238E27FC236}">
                <a16:creationId xmlns:a16="http://schemas.microsoft.com/office/drawing/2014/main" id="{6974F5D9-21B8-CE5E-4BFF-45E9A28BD7F1}"/>
              </a:ext>
            </a:extLst>
          </p:cNvPr>
          <p:cNvSpPr txBox="1">
            <a:spLocks/>
          </p:cNvSpPr>
          <p:nvPr/>
        </p:nvSpPr>
        <p:spPr>
          <a:xfrm>
            <a:off x="285990" y="641993"/>
            <a:ext cx="11430000" cy="246221"/>
          </a:xfrm>
          <a:prstGeom prst="rect">
            <a:avLst/>
          </a:prstGeom>
        </p:spPr>
        <p:txBody>
          <a:bodyPr/>
          <a:lstStyle>
            <a:lvl1pPr marL="228600" indent="-228600" algn="l" defTabSz="228600" rtl="0" eaLnBrk="1" latinLnBrk="0" hangingPunct="1">
              <a:lnSpc>
                <a:spcPct val="100000"/>
              </a:lnSpc>
              <a:spcBef>
                <a:spcPts val="0"/>
              </a:spcBef>
              <a:spcAft>
                <a:spcPts val="600"/>
              </a:spcAft>
              <a:buFont typeface="Arial"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Arial"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Arial"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Arial"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Arial"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Arial" panose="020B0604020202020204" pitchFamily="34" charset="0"/>
              <a:buNone/>
              <a:defRPr sz="800" kern="1200">
                <a:solidFill>
                  <a:schemeClr val="tx2"/>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s" sz="1600" b="1" i="0" u="none" strike="noStrike" kern="1200" cap="none" spc="0" normalizeH="0" baseline="0" noProof="0">
                <a:ln>
                  <a:noFill/>
                </a:ln>
                <a:solidFill>
                  <a:srgbClr val="7500C0"/>
                </a:solidFill>
                <a:effectLst/>
                <a:uLnTx/>
                <a:uFillTx/>
                <a:latin typeface="Graphik" panose="020B0503030202060203" pitchFamily="34" charset="0"/>
                <a:ea typeface="+mn-ea"/>
                <a:cs typeface="+mn-cs"/>
              </a:rPr>
              <a:t>Procesamiento y entrega de datos: combinación de procesamiento por lotes y en tiempo real</a:t>
            </a:r>
          </a:p>
        </p:txBody>
      </p:sp>
      <p:sp>
        <p:nvSpPr>
          <p:cNvPr id="6" name="Rectangle 5">
            <a:extLst>
              <a:ext uri="{FF2B5EF4-FFF2-40B4-BE49-F238E27FC236}">
                <a16:creationId xmlns:a16="http://schemas.microsoft.com/office/drawing/2014/main" id="{0FED3087-EF75-42A5-FCB3-0069A00B1514}"/>
              </a:ext>
            </a:extLst>
          </p:cNvPr>
          <p:cNvSpPr/>
          <p:nvPr/>
        </p:nvSpPr>
        <p:spPr>
          <a:xfrm>
            <a:off x="165892" y="2012436"/>
            <a:ext cx="8224009" cy="3284218"/>
          </a:xfrm>
          <a:prstGeom prst="rect">
            <a:avLst/>
          </a:prstGeom>
          <a:solidFill>
            <a:srgbClr val="FFEAE7"/>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b"/>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Dominio de datos</a:t>
            </a:r>
          </a:p>
        </p:txBody>
      </p:sp>
      <p:sp>
        <p:nvSpPr>
          <p:cNvPr id="7" name="Flowchart: Magnetic Disk 6">
            <a:extLst>
              <a:ext uri="{FF2B5EF4-FFF2-40B4-BE49-F238E27FC236}">
                <a16:creationId xmlns:a16="http://schemas.microsoft.com/office/drawing/2014/main" id="{B1C13EDD-6EEE-01BF-7C04-F7B7426758C3}"/>
              </a:ext>
            </a:extLst>
          </p:cNvPr>
          <p:cNvSpPr/>
          <p:nvPr/>
        </p:nvSpPr>
        <p:spPr>
          <a:xfrm>
            <a:off x="315004" y="3730138"/>
            <a:ext cx="925363" cy="664675"/>
          </a:xfrm>
          <a:prstGeom prst="flowChartMagneticDisk">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Sistema heredado</a:t>
            </a:r>
          </a:p>
        </p:txBody>
      </p:sp>
      <p:sp>
        <p:nvSpPr>
          <p:cNvPr id="8" name="Rectangle 7">
            <a:extLst>
              <a:ext uri="{FF2B5EF4-FFF2-40B4-BE49-F238E27FC236}">
                <a16:creationId xmlns:a16="http://schemas.microsoft.com/office/drawing/2014/main" id="{B08EB6FC-FCEC-6310-2095-A7DD0C624611}"/>
              </a:ext>
            </a:extLst>
          </p:cNvPr>
          <p:cNvSpPr/>
          <p:nvPr/>
        </p:nvSpPr>
        <p:spPr>
          <a:xfrm>
            <a:off x="1631664" y="3271555"/>
            <a:ext cx="1128323" cy="928520"/>
          </a:xfrm>
          <a:prstGeom prst="rect">
            <a:avLst/>
          </a:prstGeom>
          <a:ln/>
        </p:spPr>
        <p:style>
          <a:lnRef idx="2">
            <a:schemeClr val="accent1"/>
          </a:lnRef>
          <a:fillRef idx="1">
            <a:schemeClr val="lt1"/>
          </a:fillRef>
          <a:effectRef idx="0">
            <a:schemeClr val="accent1"/>
          </a:effectRef>
          <a:fontRef idx="minor">
            <a:schemeClr val="dk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400" b="0" i="0" u="none" strike="noStrike" kern="1200" cap="none" spc="0" normalizeH="0" baseline="0" noProof="0">
              <a:ln>
                <a:noFill/>
              </a:ln>
              <a:solidFill>
                <a:srgbClr val="000000"/>
              </a:solidFill>
              <a:effectLst/>
              <a:uLnTx/>
              <a:uFillTx/>
              <a:latin typeface="Graphik"/>
              <a:ea typeface="+mn-ea"/>
              <a:cs typeface="+mn-cs"/>
            </a:endParaRPr>
          </a:p>
        </p:txBody>
      </p:sp>
      <p:cxnSp>
        <p:nvCxnSpPr>
          <p:cNvPr id="9" name="Straight Arrow Connector 8">
            <a:extLst>
              <a:ext uri="{FF2B5EF4-FFF2-40B4-BE49-F238E27FC236}">
                <a16:creationId xmlns:a16="http://schemas.microsoft.com/office/drawing/2014/main" id="{404270FA-9C44-58A4-3AFA-4F0FBD2F0E25}"/>
              </a:ext>
            </a:extLst>
          </p:cNvPr>
          <p:cNvCxnSpPr>
            <a:cxnSpLocks/>
            <a:stCxn id="7" idx="4"/>
            <a:endCxn id="8" idx="1"/>
          </p:cNvCxnSpPr>
          <p:nvPr/>
        </p:nvCxnSpPr>
        <p:spPr>
          <a:xfrm flipV="1">
            <a:off x="1240367" y="3735815"/>
            <a:ext cx="391297" cy="326661"/>
          </a:xfrm>
          <a:prstGeom prst="straightConnector1">
            <a:avLst/>
          </a:prstGeom>
          <a:ln w="63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6AE05187-60B4-FCCE-576A-96515051C790}"/>
              </a:ext>
            </a:extLst>
          </p:cNvPr>
          <p:cNvSpPr/>
          <p:nvPr/>
        </p:nvSpPr>
        <p:spPr>
          <a:xfrm>
            <a:off x="1835825" y="3322293"/>
            <a:ext cx="720000" cy="144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Cron Jobs</a:t>
            </a:r>
          </a:p>
        </p:txBody>
      </p:sp>
      <p:sp>
        <p:nvSpPr>
          <p:cNvPr id="11" name="Rectangle 10">
            <a:extLst>
              <a:ext uri="{FF2B5EF4-FFF2-40B4-BE49-F238E27FC236}">
                <a16:creationId xmlns:a16="http://schemas.microsoft.com/office/drawing/2014/main" id="{2B709F9E-F597-2B97-1E81-88A6D060E831}"/>
              </a:ext>
            </a:extLst>
          </p:cNvPr>
          <p:cNvSpPr/>
          <p:nvPr/>
        </p:nvSpPr>
        <p:spPr>
          <a:xfrm>
            <a:off x="1835825" y="3539342"/>
            <a:ext cx="720000" cy="144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Event Hub</a:t>
            </a:r>
          </a:p>
        </p:txBody>
      </p:sp>
      <p:sp>
        <p:nvSpPr>
          <p:cNvPr id="12" name="Rectangle 11">
            <a:extLst>
              <a:ext uri="{FF2B5EF4-FFF2-40B4-BE49-F238E27FC236}">
                <a16:creationId xmlns:a16="http://schemas.microsoft.com/office/drawing/2014/main" id="{CD2E5331-828A-0F09-1BE0-351296D55E74}"/>
              </a:ext>
            </a:extLst>
          </p:cNvPr>
          <p:cNvSpPr/>
          <p:nvPr/>
        </p:nvSpPr>
        <p:spPr>
          <a:xfrm>
            <a:off x="1835825" y="3756391"/>
            <a:ext cx="720000" cy="144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ETL</a:t>
            </a:r>
          </a:p>
        </p:txBody>
      </p:sp>
      <p:sp>
        <p:nvSpPr>
          <p:cNvPr id="13" name="Rectangle 12">
            <a:extLst>
              <a:ext uri="{FF2B5EF4-FFF2-40B4-BE49-F238E27FC236}">
                <a16:creationId xmlns:a16="http://schemas.microsoft.com/office/drawing/2014/main" id="{D52FF81F-7AE7-A9AD-1ED0-52F084C98459}"/>
              </a:ext>
            </a:extLst>
          </p:cNvPr>
          <p:cNvSpPr/>
          <p:nvPr/>
        </p:nvSpPr>
        <p:spPr>
          <a:xfrm>
            <a:off x="2926392" y="3362211"/>
            <a:ext cx="1086009" cy="735853"/>
          </a:xfrm>
          <a:prstGeom prst="rect">
            <a:avLst/>
          </a:prstGeom>
          <a:ln/>
        </p:spPr>
        <p:style>
          <a:lnRef idx="2">
            <a:schemeClr val="accent1"/>
          </a:lnRef>
          <a:fillRef idx="1">
            <a:schemeClr val="lt1"/>
          </a:fillRef>
          <a:effectRef idx="0">
            <a:schemeClr val="accent1"/>
          </a:effectRef>
          <a:fontRef idx="minor">
            <a:schemeClr val="dk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400" b="0" i="0" u="none" strike="noStrike" kern="1200" cap="none" spc="0" normalizeH="0" baseline="0" noProof="0">
              <a:ln>
                <a:noFill/>
              </a:ln>
              <a:solidFill>
                <a:srgbClr val="000000"/>
              </a:solidFill>
              <a:effectLst/>
              <a:uLnTx/>
              <a:uFillTx/>
              <a:latin typeface="Graphik"/>
              <a:ea typeface="+mn-ea"/>
              <a:cs typeface="+mn-cs"/>
            </a:endParaRPr>
          </a:p>
        </p:txBody>
      </p:sp>
      <p:sp>
        <p:nvSpPr>
          <p:cNvPr id="14" name="Rectangle 13">
            <a:extLst>
              <a:ext uri="{FF2B5EF4-FFF2-40B4-BE49-F238E27FC236}">
                <a16:creationId xmlns:a16="http://schemas.microsoft.com/office/drawing/2014/main" id="{06286ED6-8020-DA3D-A973-F32B07482C97}"/>
              </a:ext>
            </a:extLst>
          </p:cNvPr>
          <p:cNvSpPr/>
          <p:nvPr/>
        </p:nvSpPr>
        <p:spPr>
          <a:xfrm>
            <a:off x="1835825" y="3973441"/>
            <a:ext cx="720000" cy="144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IA/ML</a:t>
            </a:r>
          </a:p>
        </p:txBody>
      </p:sp>
      <p:cxnSp>
        <p:nvCxnSpPr>
          <p:cNvPr id="15" name="Straight Arrow Connector 14">
            <a:extLst>
              <a:ext uri="{FF2B5EF4-FFF2-40B4-BE49-F238E27FC236}">
                <a16:creationId xmlns:a16="http://schemas.microsoft.com/office/drawing/2014/main" id="{74BBB1CB-0264-143A-76A1-BF3169517122}"/>
              </a:ext>
            </a:extLst>
          </p:cNvPr>
          <p:cNvCxnSpPr>
            <a:cxnSpLocks/>
            <a:stCxn id="8" idx="3"/>
            <a:endCxn id="13" idx="1"/>
          </p:cNvCxnSpPr>
          <p:nvPr/>
        </p:nvCxnSpPr>
        <p:spPr>
          <a:xfrm flipV="1">
            <a:off x="2759987" y="3730138"/>
            <a:ext cx="166405" cy="5677"/>
          </a:xfrm>
          <a:prstGeom prst="straightConnector1">
            <a:avLst/>
          </a:prstGeom>
          <a:ln w="63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CABFBEA5-99FF-E532-AE0C-31355CC9E38B}"/>
              </a:ext>
            </a:extLst>
          </p:cNvPr>
          <p:cNvSpPr/>
          <p:nvPr/>
        </p:nvSpPr>
        <p:spPr>
          <a:xfrm>
            <a:off x="213524" y="2602238"/>
            <a:ext cx="1128323" cy="972907"/>
          </a:xfrm>
          <a:prstGeom prst="rect">
            <a:avLst/>
          </a:prstGeom>
          <a:ln/>
        </p:spPr>
        <p:style>
          <a:lnRef idx="2">
            <a:schemeClr val="accent1"/>
          </a:lnRef>
          <a:fillRef idx="1">
            <a:schemeClr val="lt1"/>
          </a:fillRef>
          <a:effectRef idx="0">
            <a:schemeClr val="accent1"/>
          </a:effectRef>
          <a:fontRef idx="minor">
            <a:schemeClr val="dk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400" b="0" i="0" u="none" strike="noStrike" kern="1200" cap="none" spc="0" normalizeH="0" baseline="0" noProof="0">
              <a:ln>
                <a:noFill/>
              </a:ln>
              <a:solidFill>
                <a:srgbClr val="000000"/>
              </a:solidFill>
              <a:effectLst/>
              <a:uLnTx/>
              <a:uFillTx/>
              <a:latin typeface="Graphik"/>
              <a:ea typeface="+mn-ea"/>
              <a:cs typeface="+mn-cs"/>
            </a:endParaRPr>
          </a:p>
        </p:txBody>
      </p:sp>
      <p:sp>
        <p:nvSpPr>
          <p:cNvPr id="17" name="Rectangle 16">
            <a:extLst>
              <a:ext uri="{FF2B5EF4-FFF2-40B4-BE49-F238E27FC236}">
                <a16:creationId xmlns:a16="http://schemas.microsoft.com/office/drawing/2014/main" id="{B67A5189-09EF-62A1-474E-8C5D75651407}"/>
              </a:ext>
            </a:extLst>
          </p:cNvPr>
          <p:cNvSpPr/>
          <p:nvPr/>
        </p:nvSpPr>
        <p:spPr>
          <a:xfrm>
            <a:off x="417685" y="2692047"/>
            <a:ext cx="720000" cy="144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API REST</a:t>
            </a:r>
          </a:p>
        </p:txBody>
      </p:sp>
      <p:sp>
        <p:nvSpPr>
          <p:cNvPr id="18" name="Rectangle 17">
            <a:extLst>
              <a:ext uri="{FF2B5EF4-FFF2-40B4-BE49-F238E27FC236}">
                <a16:creationId xmlns:a16="http://schemas.microsoft.com/office/drawing/2014/main" id="{C2C52CBB-A646-2123-7948-F1DC94884545}"/>
              </a:ext>
            </a:extLst>
          </p:cNvPr>
          <p:cNvSpPr/>
          <p:nvPr/>
        </p:nvSpPr>
        <p:spPr>
          <a:xfrm>
            <a:off x="417685" y="2894237"/>
            <a:ext cx="720000" cy="144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Archivos</a:t>
            </a:r>
          </a:p>
        </p:txBody>
      </p:sp>
      <p:sp>
        <p:nvSpPr>
          <p:cNvPr id="19" name="Rectangle 18">
            <a:extLst>
              <a:ext uri="{FF2B5EF4-FFF2-40B4-BE49-F238E27FC236}">
                <a16:creationId xmlns:a16="http://schemas.microsoft.com/office/drawing/2014/main" id="{A96563C8-8A1F-1DF7-E7E0-9A52D6D49A3A}"/>
              </a:ext>
            </a:extLst>
          </p:cNvPr>
          <p:cNvSpPr/>
          <p:nvPr/>
        </p:nvSpPr>
        <p:spPr>
          <a:xfrm>
            <a:off x="417685" y="3096427"/>
            <a:ext cx="720000" cy="144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err="1">
                <a:ln>
                  <a:noFill/>
                </a:ln>
                <a:solidFill>
                  <a:srgbClr val="000000"/>
                </a:solidFill>
                <a:effectLst/>
                <a:uLnTx/>
                <a:uFillTx/>
                <a:latin typeface="Graphik"/>
                <a:ea typeface="+mn-ea"/>
                <a:cs typeface="+mn-cs"/>
              </a:rPr>
              <a:t>WebHook</a:t>
            </a:r>
            <a:endParaRPr kumimoji="0" lang="en-US" sz="900" b="0" i="0" u="none" strike="noStrike" kern="1200" cap="none" spc="0" normalizeH="0" baseline="0" noProof="0">
              <a:ln>
                <a:noFill/>
              </a:ln>
              <a:solidFill>
                <a:srgbClr val="000000"/>
              </a:solidFill>
              <a:effectLst/>
              <a:uLnTx/>
              <a:uFillTx/>
              <a:latin typeface="Graphik"/>
              <a:ea typeface="+mn-ea"/>
              <a:cs typeface="+mn-cs"/>
            </a:endParaRPr>
          </a:p>
        </p:txBody>
      </p:sp>
      <p:cxnSp>
        <p:nvCxnSpPr>
          <p:cNvPr id="20" name="Straight Arrow Connector 19">
            <a:extLst>
              <a:ext uri="{FF2B5EF4-FFF2-40B4-BE49-F238E27FC236}">
                <a16:creationId xmlns:a16="http://schemas.microsoft.com/office/drawing/2014/main" id="{5B193548-6F39-43B4-70C6-6BB9E9554538}"/>
              </a:ext>
            </a:extLst>
          </p:cNvPr>
          <p:cNvCxnSpPr>
            <a:cxnSpLocks/>
            <a:stCxn id="16" idx="3"/>
            <a:endCxn id="8" idx="1"/>
          </p:cNvCxnSpPr>
          <p:nvPr/>
        </p:nvCxnSpPr>
        <p:spPr>
          <a:xfrm>
            <a:off x="1341847" y="3088692"/>
            <a:ext cx="289817" cy="647123"/>
          </a:xfrm>
          <a:prstGeom prst="straightConnector1">
            <a:avLst/>
          </a:prstGeom>
          <a:ln w="63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1B21CDF4-BC3A-BF88-745D-95C55BDFFE1A}"/>
              </a:ext>
            </a:extLst>
          </p:cNvPr>
          <p:cNvSpPr txBox="1"/>
          <p:nvPr/>
        </p:nvSpPr>
        <p:spPr>
          <a:xfrm>
            <a:off x="129416" y="2372216"/>
            <a:ext cx="1296538" cy="151297"/>
          </a:xfrm>
          <a:prstGeom prst="rect">
            <a:avLst/>
          </a:prstGeom>
          <a:noFill/>
        </p:spPr>
        <p:txBody>
          <a:bodyPr wrap="square" lIns="0" tIns="0" rIns="0" bIns="0" rtlCol="0">
            <a:noAutofit/>
          </a:bodyPr>
          <a:lstStyle/>
          <a:p>
            <a:pPr marL="0" marR="0" lvl="0" indent="0" algn="ctr" defTabSz="228600" rtl="0" eaLnBrk="1" fontAlgn="auto" latinLnBrk="0" hangingPunct="1">
              <a:lnSpc>
                <a:spcPct val="100000"/>
              </a:lnSpc>
              <a:spcBef>
                <a:spcPts val="0"/>
              </a:spcBef>
              <a:spcAft>
                <a:spcPts val="1200"/>
              </a:spcAft>
              <a:buClrTx/>
              <a:buSzTx/>
              <a:buFontTx/>
              <a:buNone/>
              <a:tabLst/>
              <a:defRPr/>
            </a:pPr>
            <a:r>
              <a:rPr kumimoji="0" lang="es" sz="1050" b="0" i="0" u="none" strike="noStrike" kern="1200" cap="none" spc="0" normalizeH="0" baseline="0" noProof="0" err="1">
                <a:ln>
                  <a:noFill/>
                </a:ln>
                <a:solidFill>
                  <a:srgbClr val="000000"/>
                </a:solidFill>
                <a:effectLst/>
                <a:uLnTx/>
                <a:uFillTx/>
                <a:latin typeface="Graphik"/>
                <a:ea typeface="+mn-ea"/>
                <a:cs typeface="+mn-cs"/>
              </a:rPr>
              <a:t>Fuente externa</a:t>
            </a:r>
            <a:endParaRPr kumimoji="0" lang="es-MX" sz="1050" b="0" i="0" u="none" strike="noStrike" kern="1200" cap="none" spc="0" normalizeH="0" baseline="0" noProof="0">
              <a:ln>
                <a:noFill/>
              </a:ln>
              <a:solidFill>
                <a:srgbClr val="000000"/>
              </a:solidFill>
              <a:effectLst/>
              <a:uLnTx/>
              <a:uFillTx/>
              <a:latin typeface="Graphik"/>
              <a:ea typeface="+mn-ea"/>
              <a:cs typeface="+mn-cs"/>
            </a:endParaRPr>
          </a:p>
        </p:txBody>
      </p:sp>
      <p:sp>
        <p:nvSpPr>
          <p:cNvPr id="22" name="Flowchart: Magnetic Disk 21">
            <a:extLst>
              <a:ext uri="{FF2B5EF4-FFF2-40B4-BE49-F238E27FC236}">
                <a16:creationId xmlns:a16="http://schemas.microsoft.com/office/drawing/2014/main" id="{E2A9B34E-32CE-D0C0-5DE1-18B58B21C518}"/>
              </a:ext>
            </a:extLst>
          </p:cNvPr>
          <p:cNvSpPr/>
          <p:nvPr/>
        </p:nvSpPr>
        <p:spPr>
          <a:xfrm>
            <a:off x="481669" y="3298617"/>
            <a:ext cx="592033" cy="219570"/>
          </a:xfrm>
          <a:prstGeom prst="flowChartMagneticDisk">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DBs</a:t>
            </a:r>
          </a:p>
        </p:txBody>
      </p:sp>
      <p:sp>
        <p:nvSpPr>
          <p:cNvPr id="23" name="Rectangle 22">
            <a:extLst>
              <a:ext uri="{FF2B5EF4-FFF2-40B4-BE49-F238E27FC236}">
                <a16:creationId xmlns:a16="http://schemas.microsoft.com/office/drawing/2014/main" id="{C4E07D64-12B9-0ABC-A874-9EF3EDE1720D}"/>
              </a:ext>
            </a:extLst>
          </p:cNvPr>
          <p:cNvSpPr/>
          <p:nvPr/>
        </p:nvSpPr>
        <p:spPr>
          <a:xfrm>
            <a:off x="3141558" y="3434141"/>
            <a:ext cx="720000" cy="144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 sz="900" dirty="0">
                <a:solidFill>
                  <a:srgbClr val="000000"/>
                </a:solidFill>
                <a:latin typeface="Graphik"/>
              </a:rPr>
              <a:t>Dataset</a:t>
            </a:r>
            <a:endParaRPr kumimoji="0" lang="es" sz="900" b="0" i="0" u="none" strike="noStrike" kern="1200" cap="none" spc="0" normalizeH="0" baseline="0" noProof="0" dirty="0">
              <a:ln>
                <a:noFill/>
              </a:ln>
              <a:solidFill>
                <a:srgbClr val="000000"/>
              </a:solidFill>
              <a:effectLst/>
              <a:uLnTx/>
              <a:uFillTx/>
              <a:latin typeface="Graphik"/>
              <a:ea typeface="+mn-ea"/>
              <a:cs typeface="+mn-cs"/>
            </a:endParaRPr>
          </a:p>
        </p:txBody>
      </p:sp>
      <p:sp>
        <p:nvSpPr>
          <p:cNvPr id="24" name="Rectangle 23">
            <a:extLst>
              <a:ext uri="{FF2B5EF4-FFF2-40B4-BE49-F238E27FC236}">
                <a16:creationId xmlns:a16="http://schemas.microsoft.com/office/drawing/2014/main" id="{6F6B3C26-C11A-9783-DB35-5686F502F6CB}"/>
              </a:ext>
            </a:extLst>
          </p:cNvPr>
          <p:cNvSpPr/>
          <p:nvPr/>
        </p:nvSpPr>
        <p:spPr>
          <a:xfrm>
            <a:off x="3141558" y="3654545"/>
            <a:ext cx="720000" cy="144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CSV</a:t>
            </a:r>
          </a:p>
        </p:txBody>
      </p:sp>
      <p:sp>
        <p:nvSpPr>
          <p:cNvPr id="25" name="Rectangle 24">
            <a:extLst>
              <a:ext uri="{FF2B5EF4-FFF2-40B4-BE49-F238E27FC236}">
                <a16:creationId xmlns:a16="http://schemas.microsoft.com/office/drawing/2014/main" id="{BDB0FDC0-265C-4975-3E4E-C16CD28F5A1C}"/>
              </a:ext>
            </a:extLst>
          </p:cNvPr>
          <p:cNvSpPr/>
          <p:nvPr/>
        </p:nvSpPr>
        <p:spPr>
          <a:xfrm>
            <a:off x="3141558" y="3874949"/>
            <a:ext cx="720000" cy="144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JSON</a:t>
            </a:r>
          </a:p>
        </p:txBody>
      </p:sp>
      <p:sp>
        <p:nvSpPr>
          <p:cNvPr id="26" name="TextBox 25">
            <a:extLst>
              <a:ext uri="{FF2B5EF4-FFF2-40B4-BE49-F238E27FC236}">
                <a16:creationId xmlns:a16="http://schemas.microsoft.com/office/drawing/2014/main" id="{6A8374EF-09CF-D361-247C-5A0C18C6B4BD}"/>
              </a:ext>
            </a:extLst>
          </p:cNvPr>
          <p:cNvSpPr txBox="1"/>
          <p:nvPr/>
        </p:nvSpPr>
        <p:spPr>
          <a:xfrm>
            <a:off x="3008503" y="4123200"/>
            <a:ext cx="986110" cy="251805"/>
          </a:xfrm>
          <a:prstGeom prst="rect">
            <a:avLst/>
          </a:prstGeom>
          <a:noFill/>
        </p:spPr>
        <p:txBody>
          <a:bodyPr wrap="square" lIns="0" tIns="0" rIns="0" bIns="0" rtlCol="0">
            <a:noAutofit/>
          </a:bodyPr>
          <a:lstStyle>
            <a:defPPr>
              <a:defRPr lang="en-US"/>
            </a:defPPr>
            <a:lvl1pPr algn="ctr" defTabSz="228600">
              <a:spcAft>
                <a:spcPts val="1200"/>
              </a:spcAft>
              <a:defRPr sz="1050"/>
            </a:lvl1pPr>
          </a:lstStyle>
          <a:p>
            <a:pPr marL="0" marR="0" lvl="0" indent="0" algn="ctr" defTabSz="228600" rtl="0" eaLnBrk="1" fontAlgn="auto" latinLnBrk="0" hangingPunct="1">
              <a:lnSpc>
                <a:spcPct val="100000"/>
              </a:lnSpc>
              <a:spcBef>
                <a:spcPts val="0"/>
              </a:spcBef>
              <a:spcAft>
                <a:spcPts val="1200"/>
              </a:spcAft>
              <a:buClrTx/>
              <a:buSzTx/>
              <a:buFontTx/>
              <a:buNone/>
              <a:tabLst/>
              <a:defRPr/>
            </a:pPr>
            <a:r>
              <a:rPr kumimoji="0" lang="es" sz="1050" b="0" i="0" u="none" strike="noStrike" kern="1200" cap="none" spc="0" normalizeH="0" baseline="0" noProof="0" err="1">
                <a:ln>
                  <a:noFill/>
                </a:ln>
                <a:solidFill>
                  <a:srgbClr val="000000"/>
                </a:solidFill>
                <a:effectLst/>
                <a:uLnTx/>
                <a:uFillTx/>
                <a:latin typeface="Graphik"/>
                <a:ea typeface="+mn-ea"/>
                <a:cs typeface="+mn-cs"/>
              </a:rPr>
              <a:t>Datalake</a:t>
            </a:r>
            <a:endParaRPr kumimoji="0" lang="es-MX" sz="1050" b="0" i="0" u="none" strike="noStrike" kern="1200" cap="none" spc="0" normalizeH="0" baseline="0" noProof="0">
              <a:ln>
                <a:noFill/>
              </a:ln>
              <a:solidFill>
                <a:srgbClr val="000000"/>
              </a:solidFill>
              <a:effectLst/>
              <a:uLnTx/>
              <a:uFillTx/>
              <a:latin typeface="Graphik"/>
              <a:ea typeface="+mn-ea"/>
              <a:cs typeface="+mn-cs"/>
            </a:endParaRPr>
          </a:p>
        </p:txBody>
      </p:sp>
      <p:cxnSp>
        <p:nvCxnSpPr>
          <p:cNvPr id="27" name="Straight Arrow Connector 26">
            <a:extLst>
              <a:ext uri="{FF2B5EF4-FFF2-40B4-BE49-F238E27FC236}">
                <a16:creationId xmlns:a16="http://schemas.microsoft.com/office/drawing/2014/main" id="{1C35EFDF-119F-EFE7-F39A-E1BE2EAD3C37}"/>
              </a:ext>
            </a:extLst>
          </p:cNvPr>
          <p:cNvCxnSpPr>
            <a:cxnSpLocks/>
            <a:stCxn id="13" idx="3"/>
            <a:endCxn id="40" idx="1"/>
          </p:cNvCxnSpPr>
          <p:nvPr/>
        </p:nvCxnSpPr>
        <p:spPr>
          <a:xfrm flipV="1">
            <a:off x="4012401" y="3729322"/>
            <a:ext cx="306244" cy="816"/>
          </a:xfrm>
          <a:prstGeom prst="straightConnector1">
            <a:avLst/>
          </a:prstGeom>
          <a:ln w="63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28" name="Rectangle 27">
            <a:extLst>
              <a:ext uri="{FF2B5EF4-FFF2-40B4-BE49-F238E27FC236}">
                <a16:creationId xmlns:a16="http://schemas.microsoft.com/office/drawing/2014/main" id="{8895CCD4-B02E-1F1C-FB9B-2CD84084E5B1}"/>
              </a:ext>
            </a:extLst>
          </p:cNvPr>
          <p:cNvSpPr/>
          <p:nvPr/>
        </p:nvSpPr>
        <p:spPr>
          <a:xfrm>
            <a:off x="6989376" y="3088692"/>
            <a:ext cx="1239753" cy="884749"/>
          </a:xfrm>
          <a:prstGeom prst="rect">
            <a:avLst/>
          </a:prstGeom>
          <a:ln/>
        </p:spPr>
        <p:style>
          <a:lnRef idx="2">
            <a:schemeClr val="accent1"/>
          </a:lnRef>
          <a:fillRef idx="1">
            <a:schemeClr val="lt1"/>
          </a:fillRef>
          <a:effectRef idx="0">
            <a:schemeClr val="accent1"/>
          </a:effectRef>
          <a:fontRef idx="minor">
            <a:schemeClr val="dk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400" b="0" i="0" u="none" strike="noStrike" kern="1200" cap="none" spc="0" normalizeH="0" baseline="0" noProof="0">
              <a:ln>
                <a:noFill/>
              </a:ln>
              <a:solidFill>
                <a:srgbClr val="000000"/>
              </a:solidFill>
              <a:effectLst/>
              <a:uLnTx/>
              <a:uFillTx/>
              <a:latin typeface="Graphik"/>
              <a:ea typeface="+mn-ea"/>
              <a:cs typeface="+mn-cs"/>
            </a:endParaRPr>
          </a:p>
        </p:txBody>
      </p:sp>
      <p:cxnSp>
        <p:nvCxnSpPr>
          <p:cNvPr id="29" name="Straight Arrow Connector 28">
            <a:extLst>
              <a:ext uri="{FF2B5EF4-FFF2-40B4-BE49-F238E27FC236}">
                <a16:creationId xmlns:a16="http://schemas.microsoft.com/office/drawing/2014/main" id="{6275B1DB-AC9E-D828-1376-EC9A87166DDE}"/>
              </a:ext>
            </a:extLst>
          </p:cNvPr>
          <p:cNvCxnSpPr>
            <a:cxnSpLocks/>
            <a:stCxn id="45" idx="3"/>
            <a:endCxn id="28" idx="1"/>
          </p:cNvCxnSpPr>
          <p:nvPr/>
        </p:nvCxnSpPr>
        <p:spPr>
          <a:xfrm flipV="1">
            <a:off x="6749468" y="3531067"/>
            <a:ext cx="239908" cy="202173"/>
          </a:xfrm>
          <a:prstGeom prst="straightConnector1">
            <a:avLst/>
          </a:prstGeom>
          <a:ln w="63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30" name="Rectangle 29">
            <a:extLst>
              <a:ext uri="{FF2B5EF4-FFF2-40B4-BE49-F238E27FC236}">
                <a16:creationId xmlns:a16="http://schemas.microsoft.com/office/drawing/2014/main" id="{28742D5D-E093-18FE-8C5E-5EB961F09ED1}"/>
              </a:ext>
            </a:extLst>
          </p:cNvPr>
          <p:cNvSpPr/>
          <p:nvPr/>
        </p:nvSpPr>
        <p:spPr>
          <a:xfrm>
            <a:off x="7054057" y="3155586"/>
            <a:ext cx="1080000" cy="144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err="1">
                <a:ln>
                  <a:noFill/>
                </a:ln>
                <a:solidFill>
                  <a:srgbClr val="000000"/>
                </a:solidFill>
                <a:effectLst/>
                <a:uLnTx/>
                <a:uFillTx/>
                <a:latin typeface="Graphik"/>
                <a:ea typeface="+mn-ea"/>
                <a:cs typeface="+mn-cs"/>
              </a:rPr>
              <a:t>DataVirtualization </a:t>
            </a:r>
          </a:p>
        </p:txBody>
      </p:sp>
      <p:sp>
        <p:nvSpPr>
          <p:cNvPr id="31" name="Rectangle 30">
            <a:extLst>
              <a:ext uri="{FF2B5EF4-FFF2-40B4-BE49-F238E27FC236}">
                <a16:creationId xmlns:a16="http://schemas.microsoft.com/office/drawing/2014/main" id="{4F67422E-D299-F2C9-E05A-C292934D2547}"/>
              </a:ext>
            </a:extLst>
          </p:cNvPr>
          <p:cNvSpPr/>
          <p:nvPr/>
        </p:nvSpPr>
        <p:spPr>
          <a:xfrm>
            <a:off x="7054057" y="3355854"/>
            <a:ext cx="1080000" cy="144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Catálogos</a:t>
            </a:r>
          </a:p>
        </p:txBody>
      </p:sp>
      <p:sp>
        <p:nvSpPr>
          <p:cNvPr id="32" name="Rectangle 31">
            <a:extLst>
              <a:ext uri="{FF2B5EF4-FFF2-40B4-BE49-F238E27FC236}">
                <a16:creationId xmlns:a16="http://schemas.microsoft.com/office/drawing/2014/main" id="{182EBE97-5B3A-AC08-5A01-E9B7BC7F466F}"/>
              </a:ext>
            </a:extLst>
          </p:cNvPr>
          <p:cNvSpPr/>
          <p:nvPr/>
        </p:nvSpPr>
        <p:spPr>
          <a:xfrm>
            <a:off x="7094767" y="4515802"/>
            <a:ext cx="1080000" cy="144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Caché</a:t>
            </a:r>
          </a:p>
        </p:txBody>
      </p:sp>
      <p:cxnSp>
        <p:nvCxnSpPr>
          <p:cNvPr id="33" name="Straight Arrow Connector 32">
            <a:extLst>
              <a:ext uri="{FF2B5EF4-FFF2-40B4-BE49-F238E27FC236}">
                <a16:creationId xmlns:a16="http://schemas.microsoft.com/office/drawing/2014/main" id="{A3578F67-27E8-3742-3E96-266125EE2831}"/>
              </a:ext>
            </a:extLst>
          </p:cNvPr>
          <p:cNvCxnSpPr>
            <a:cxnSpLocks/>
            <a:stCxn id="45" idx="3"/>
            <a:endCxn id="32" idx="1"/>
          </p:cNvCxnSpPr>
          <p:nvPr/>
        </p:nvCxnSpPr>
        <p:spPr>
          <a:xfrm>
            <a:off x="6749468" y="3733240"/>
            <a:ext cx="345299" cy="854562"/>
          </a:xfrm>
          <a:prstGeom prst="straightConnector1">
            <a:avLst/>
          </a:prstGeom>
          <a:ln w="63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34" name="Rectangle 33">
            <a:extLst>
              <a:ext uri="{FF2B5EF4-FFF2-40B4-BE49-F238E27FC236}">
                <a16:creationId xmlns:a16="http://schemas.microsoft.com/office/drawing/2014/main" id="{FE2D0944-FDCF-1311-9542-9F02353AB002}"/>
              </a:ext>
            </a:extLst>
          </p:cNvPr>
          <p:cNvSpPr/>
          <p:nvPr/>
        </p:nvSpPr>
        <p:spPr>
          <a:xfrm>
            <a:off x="7054057" y="3556122"/>
            <a:ext cx="1080000" cy="144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Calidad</a:t>
            </a:r>
          </a:p>
        </p:txBody>
      </p:sp>
      <p:sp>
        <p:nvSpPr>
          <p:cNvPr id="35" name="Rectangle 34">
            <a:extLst>
              <a:ext uri="{FF2B5EF4-FFF2-40B4-BE49-F238E27FC236}">
                <a16:creationId xmlns:a16="http://schemas.microsoft.com/office/drawing/2014/main" id="{D8AFA4EF-3C5C-D860-9AAE-1773C65EE581}"/>
              </a:ext>
            </a:extLst>
          </p:cNvPr>
          <p:cNvSpPr/>
          <p:nvPr/>
        </p:nvSpPr>
        <p:spPr>
          <a:xfrm>
            <a:off x="7054057" y="3756391"/>
            <a:ext cx="1080000" cy="144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Linaje</a:t>
            </a:r>
          </a:p>
        </p:txBody>
      </p:sp>
      <p:sp>
        <p:nvSpPr>
          <p:cNvPr id="36" name="Rectangle 35">
            <a:extLst>
              <a:ext uri="{FF2B5EF4-FFF2-40B4-BE49-F238E27FC236}">
                <a16:creationId xmlns:a16="http://schemas.microsoft.com/office/drawing/2014/main" id="{1CCD7F36-A579-6872-3768-4D345F3C5A91}"/>
              </a:ext>
            </a:extLst>
          </p:cNvPr>
          <p:cNvSpPr/>
          <p:nvPr/>
        </p:nvSpPr>
        <p:spPr>
          <a:xfrm>
            <a:off x="2816663" y="2490856"/>
            <a:ext cx="1305245" cy="277036"/>
          </a:xfrm>
          <a:prstGeom prst="rect">
            <a:avLst/>
          </a:prstGeom>
          <a:ln/>
        </p:spPr>
        <p:style>
          <a:lnRef idx="2">
            <a:schemeClr val="accent1"/>
          </a:lnRef>
          <a:fillRef idx="1">
            <a:schemeClr val="lt1"/>
          </a:fillRef>
          <a:effectRef idx="0">
            <a:schemeClr val="accent1"/>
          </a:effectRef>
          <a:fontRef idx="minor">
            <a:schemeClr val="dk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0" i="0" u="none" strike="noStrike" kern="1200" cap="none" spc="0" normalizeH="0" baseline="0" noProof="0">
                <a:ln>
                  <a:noFill/>
                </a:ln>
                <a:solidFill>
                  <a:srgbClr val="000000"/>
                </a:solidFill>
                <a:effectLst/>
                <a:uLnTx/>
                <a:uFillTx/>
                <a:latin typeface="Graphik"/>
                <a:ea typeface="+mn-ea"/>
                <a:cs typeface="+mn-cs"/>
              </a:rPr>
              <a:t>Transmisión de datos</a:t>
            </a:r>
            <a:endParaRPr kumimoji="0" lang="es-MX" sz="1100" b="0" i="0" u="none" strike="noStrike" kern="1200" cap="none" spc="0" normalizeH="0" baseline="0" noProof="0">
              <a:ln>
                <a:noFill/>
              </a:ln>
              <a:solidFill>
                <a:srgbClr val="000000"/>
              </a:solidFill>
              <a:effectLst/>
              <a:uLnTx/>
              <a:uFillTx/>
              <a:latin typeface="Graphik"/>
              <a:ea typeface="+mn-ea"/>
              <a:cs typeface="+mn-cs"/>
            </a:endParaRPr>
          </a:p>
        </p:txBody>
      </p:sp>
      <p:cxnSp>
        <p:nvCxnSpPr>
          <p:cNvPr id="37" name="Straight Arrow Connector 36">
            <a:extLst>
              <a:ext uri="{FF2B5EF4-FFF2-40B4-BE49-F238E27FC236}">
                <a16:creationId xmlns:a16="http://schemas.microsoft.com/office/drawing/2014/main" id="{01C4E352-14BC-EDDE-7350-95052784EAC5}"/>
              </a:ext>
            </a:extLst>
          </p:cNvPr>
          <p:cNvCxnSpPr>
            <a:cxnSpLocks/>
            <a:stCxn id="36" idx="2"/>
            <a:endCxn id="13" idx="0"/>
          </p:cNvCxnSpPr>
          <p:nvPr/>
        </p:nvCxnSpPr>
        <p:spPr>
          <a:xfrm>
            <a:off x="3469286" y="2767892"/>
            <a:ext cx="111" cy="594319"/>
          </a:xfrm>
          <a:prstGeom prst="straightConnector1">
            <a:avLst/>
          </a:prstGeom>
          <a:ln w="63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38" name="Flowchart: Magnetic Disk 37">
            <a:extLst>
              <a:ext uri="{FF2B5EF4-FFF2-40B4-BE49-F238E27FC236}">
                <a16:creationId xmlns:a16="http://schemas.microsoft.com/office/drawing/2014/main" id="{B6FA50F1-105D-BBA5-068B-425FBEB50FFA}"/>
              </a:ext>
            </a:extLst>
          </p:cNvPr>
          <p:cNvSpPr/>
          <p:nvPr/>
        </p:nvSpPr>
        <p:spPr>
          <a:xfrm>
            <a:off x="315004" y="4491971"/>
            <a:ext cx="925363" cy="664675"/>
          </a:xfrm>
          <a:prstGeom prst="flowChartMagneticDisk">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Base de datos transaccional</a:t>
            </a:r>
          </a:p>
        </p:txBody>
      </p:sp>
      <p:cxnSp>
        <p:nvCxnSpPr>
          <p:cNvPr id="39" name="Straight Arrow Connector 38">
            <a:extLst>
              <a:ext uri="{FF2B5EF4-FFF2-40B4-BE49-F238E27FC236}">
                <a16:creationId xmlns:a16="http://schemas.microsoft.com/office/drawing/2014/main" id="{858C85D0-004F-084F-228A-B9B4CAEFC0E5}"/>
              </a:ext>
            </a:extLst>
          </p:cNvPr>
          <p:cNvCxnSpPr>
            <a:cxnSpLocks/>
            <a:stCxn id="38" idx="4"/>
            <a:endCxn id="8" idx="1"/>
          </p:cNvCxnSpPr>
          <p:nvPr/>
        </p:nvCxnSpPr>
        <p:spPr>
          <a:xfrm flipV="1">
            <a:off x="1240367" y="3735815"/>
            <a:ext cx="391297" cy="1088494"/>
          </a:xfrm>
          <a:prstGeom prst="straightConnector1">
            <a:avLst/>
          </a:prstGeom>
          <a:ln w="63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40" name="Rectangle 39">
            <a:extLst>
              <a:ext uri="{FF2B5EF4-FFF2-40B4-BE49-F238E27FC236}">
                <a16:creationId xmlns:a16="http://schemas.microsoft.com/office/drawing/2014/main" id="{8EDD9F5F-8413-7A9B-6C80-B31F0A7DA82F}"/>
              </a:ext>
            </a:extLst>
          </p:cNvPr>
          <p:cNvSpPr/>
          <p:nvPr/>
        </p:nvSpPr>
        <p:spPr>
          <a:xfrm>
            <a:off x="4318645" y="3265062"/>
            <a:ext cx="1128323" cy="928520"/>
          </a:xfrm>
          <a:prstGeom prst="rect">
            <a:avLst/>
          </a:prstGeom>
          <a:ln/>
        </p:spPr>
        <p:style>
          <a:lnRef idx="2">
            <a:schemeClr val="accent1"/>
          </a:lnRef>
          <a:fillRef idx="1">
            <a:schemeClr val="lt1"/>
          </a:fillRef>
          <a:effectRef idx="0">
            <a:schemeClr val="accent1"/>
          </a:effectRef>
          <a:fontRef idx="minor">
            <a:schemeClr val="dk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400" b="0" i="0" u="none" strike="noStrike" kern="1200" cap="none" spc="0" normalizeH="0" baseline="0" noProof="0">
              <a:ln>
                <a:noFill/>
              </a:ln>
              <a:solidFill>
                <a:srgbClr val="000000"/>
              </a:solidFill>
              <a:effectLst/>
              <a:uLnTx/>
              <a:uFillTx/>
              <a:latin typeface="Graphik"/>
              <a:ea typeface="+mn-ea"/>
              <a:cs typeface="+mn-cs"/>
            </a:endParaRPr>
          </a:p>
        </p:txBody>
      </p:sp>
      <p:sp>
        <p:nvSpPr>
          <p:cNvPr id="41" name="Rectangle 40">
            <a:extLst>
              <a:ext uri="{FF2B5EF4-FFF2-40B4-BE49-F238E27FC236}">
                <a16:creationId xmlns:a16="http://schemas.microsoft.com/office/drawing/2014/main" id="{89696BDB-20A1-3BB5-BA3C-223F667B455C}"/>
              </a:ext>
            </a:extLst>
          </p:cNvPr>
          <p:cNvSpPr/>
          <p:nvPr/>
        </p:nvSpPr>
        <p:spPr>
          <a:xfrm>
            <a:off x="4522806" y="3315800"/>
            <a:ext cx="720000" cy="144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Cron Jobs</a:t>
            </a:r>
          </a:p>
        </p:txBody>
      </p:sp>
      <p:sp>
        <p:nvSpPr>
          <p:cNvPr id="42" name="Rectangle 41">
            <a:extLst>
              <a:ext uri="{FF2B5EF4-FFF2-40B4-BE49-F238E27FC236}">
                <a16:creationId xmlns:a16="http://schemas.microsoft.com/office/drawing/2014/main" id="{A519E6F2-49B7-AC6B-0690-F74DDB6FD81C}"/>
              </a:ext>
            </a:extLst>
          </p:cNvPr>
          <p:cNvSpPr/>
          <p:nvPr/>
        </p:nvSpPr>
        <p:spPr>
          <a:xfrm>
            <a:off x="4522806" y="3532849"/>
            <a:ext cx="720000" cy="144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Hevent Hub</a:t>
            </a:r>
          </a:p>
        </p:txBody>
      </p:sp>
      <p:sp>
        <p:nvSpPr>
          <p:cNvPr id="43" name="Rectangle 42">
            <a:extLst>
              <a:ext uri="{FF2B5EF4-FFF2-40B4-BE49-F238E27FC236}">
                <a16:creationId xmlns:a16="http://schemas.microsoft.com/office/drawing/2014/main" id="{C52FE58B-F48E-138A-C114-C419AD49F556}"/>
              </a:ext>
            </a:extLst>
          </p:cNvPr>
          <p:cNvSpPr/>
          <p:nvPr/>
        </p:nvSpPr>
        <p:spPr>
          <a:xfrm>
            <a:off x="4522806" y="3749898"/>
            <a:ext cx="720000" cy="144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ETL</a:t>
            </a:r>
          </a:p>
        </p:txBody>
      </p:sp>
      <p:sp>
        <p:nvSpPr>
          <p:cNvPr id="44" name="Rectangle 43">
            <a:extLst>
              <a:ext uri="{FF2B5EF4-FFF2-40B4-BE49-F238E27FC236}">
                <a16:creationId xmlns:a16="http://schemas.microsoft.com/office/drawing/2014/main" id="{77F05322-6F1A-E10B-9FA0-0330F21B2C5A}"/>
              </a:ext>
            </a:extLst>
          </p:cNvPr>
          <p:cNvSpPr/>
          <p:nvPr/>
        </p:nvSpPr>
        <p:spPr>
          <a:xfrm>
            <a:off x="4522806" y="3966948"/>
            <a:ext cx="720000" cy="144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IA/ML</a:t>
            </a:r>
          </a:p>
        </p:txBody>
      </p:sp>
      <p:sp>
        <p:nvSpPr>
          <p:cNvPr id="45" name="Rectangle 44">
            <a:extLst>
              <a:ext uri="{FF2B5EF4-FFF2-40B4-BE49-F238E27FC236}">
                <a16:creationId xmlns:a16="http://schemas.microsoft.com/office/drawing/2014/main" id="{34E50DD4-229B-D19E-898C-D727DA187170}"/>
              </a:ext>
            </a:extLst>
          </p:cNvPr>
          <p:cNvSpPr/>
          <p:nvPr/>
        </p:nvSpPr>
        <p:spPr>
          <a:xfrm>
            <a:off x="5663459" y="3365313"/>
            <a:ext cx="1086009" cy="735853"/>
          </a:xfrm>
          <a:prstGeom prst="rect">
            <a:avLst/>
          </a:prstGeom>
          <a:ln/>
        </p:spPr>
        <p:style>
          <a:lnRef idx="2">
            <a:schemeClr val="accent1"/>
          </a:lnRef>
          <a:fillRef idx="1">
            <a:schemeClr val="lt1"/>
          </a:fillRef>
          <a:effectRef idx="0">
            <a:schemeClr val="accent1"/>
          </a:effectRef>
          <a:fontRef idx="minor">
            <a:schemeClr val="dk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400" b="0" i="0" u="none" strike="noStrike" kern="1200" cap="none" spc="0" normalizeH="0" baseline="0" noProof="0">
              <a:ln>
                <a:noFill/>
              </a:ln>
              <a:solidFill>
                <a:srgbClr val="000000"/>
              </a:solidFill>
              <a:effectLst/>
              <a:uLnTx/>
              <a:uFillTx/>
              <a:latin typeface="Graphik"/>
              <a:ea typeface="+mn-ea"/>
              <a:cs typeface="+mn-cs"/>
            </a:endParaRPr>
          </a:p>
        </p:txBody>
      </p:sp>
      <p:sp>
        <p:nvSpPr>
          <p:cNvPr id="46" name="Rectangle 45">
            <a:extLst>
              <a:ext uri="{FF2B5EF4-FFF2-40B4-BE49-F238E27FC236}">
                <a16:creationId xmlns:a16="http://schemas.microsoft.com/office/drawing/2014/main" id="{B3F0576B-D2CE-AFEE-D07D-3F2B73538471}"/>
              </a:ext>
            </a:extLst>
          </p:cNvPr>
          <p:cNvSpPr/>
          <p:nvPr/>
        </p:nvSpPr>
        <p:spPr>
          <a:xfrm>
            <a:off x="5878625" y="3437243"/>
            <a:ext cx="720000" cy="144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Dataset</a:t>
            </a:r>
          </a:p>
        </p:txBody>
      </p:sp>
      <p:sp>
        <p:nvSpPr>
          <p:cNvPr id="47" name="Rectangle 46">
            <a:extLst>
              <a:ext uri="{FF2B5EF4-FFF2-40B4-BE49-F238E27FC236}">
                <a16:creationId xmlns:a16="http://schemas.microsoft.com/office/drawing/2014/main" id="{6FDF67BB-D007-498F-EF89-768DF89C9310}"/>
              </a:ext>
            </a:extLst>
          </p:cNvPr>
          <p:cNvSpPr/>
          <p:nvPr/>
        </p:nvSpPr>
        <p:spPr>
          <a:xfrm>
            <a:off x="5878625" y="3657647"/>
            <a:ext cx="720000" cy="144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defRPr/>
            </a:pPr>
            <a:r>
              <a:rPr lang="es" sz="900" dirty="0">
                <a:solidFill>
                  <a:srgbClr val="000000"/>
                </a:solidFill>
              </a:rPr>
              <a:t>Dataset</a:t>
            </a:r>
          </a:p>
        </p:txBody>
      </p:sp>
      <p:sp>
        <p:nvSpPr>
          <p:cNvPr id="48" name="Rectangle 47">
            <a:extLst>
              <a:ext uri="{FF2B5EF4-FFF2-40B4-BE49-F238E27FC236}">
                <a16:creationId xmlns:a16="http://schemas.microsoft.com/office/drawing/2014/main" id="{B5721B29-2A52-A8F7-AF7E-FD33D01C385C}"/>
              </a:ext>
            </a:extLst>
          </p:cNvPr>
          <p:cNvSpPr/>
          <p:nvPr/>
        </p:nvSpPr>
        <p:spPr>
          <a:xfrm>
            <a:off x="5878625" y="3878051"/>
            <a:ext cx="720000" cy="144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defRPr/>
            </a:pPr>
            <a:r>
              <a:rPr lang="es" sz="900" dirty="0">
                <a:solidFill>
                  <a:srgbClr val="000000"/>
                </a:solidFill>
              </a:rPr>
              <a:t>Dataset</a:t>
            </a:r>
          </a:p>
        </p:txBody>
      </p:sp>
      <p:sp>
        <p:nvSpPr>
          <p:cNvPr id="49" name="TextBox 48">
            <a:extLst>
              <a:ext uri="{FF2B5EF4-FFF2-40B4-BE49-F238E27FC236}">
                <a16:creationId xmlns:a16="http://schemas.microsoft.com/office/drawing/2014/main" id="{3A6223D8-116B-E509-EA8B-F9E619541339}"/>
              </a:ext>
            </a:extLst>
          </p:cNvPr>
          <p:cNvSpPr txBox="1"/>
          <p:nvPr/>
        </p:nvSpPr>
        <p:spPr>
          <a:xfrm>
            <a:off x="5745570" y="4126302"/>
            <a:ext cx="986110" cy="251805"/>
          </a:xfrm>
          <a:prstGeom prst="rect">
            <a:avLst/>
          </a:prstGeom>
          <a:noFill/>
        </p:spPr>
        <p:txBody>
          <a:bodyPr wrap="square" lIns="0" tIns="0" rIns="0" bIns="0" rtlCol="0">
            <a:noAutofit/>
          </a:bodyPr>
          <a:lstStyle>
            <a:defPPr>
              <a:defRPr lang="en-US"/>
            </a:defPPr>
            <a:lvl1pPr algn="ctr" defTabSz="228600">
              <a:spcAft>
                <a:spcPts val="1200"/>
              </a:spcAft>
              <a:defRPr sz="1050"/>
            </a:lvl1pPr>
          </a:lstStyle>
          <a:p>
            <a:pPr marL="0" marR="0" lvl="0" indent="0" algn="ctr" defTabSz="228600" rtl="0" eaLnBrk="1" fontAlgn="auto" latinLnBrk="0" hangingPunct="1">
              <a:lnSpc>
                <a:spcPct val="100000"/>
              </a:lnSpc>
              <a:spcBef>
                <a:spcPts val="0"/>
              </a:spcBef>
              <a:spcAft>
                <a:spcPts val="1200"/>
              </a:spcAft>
              <a:buClrTx/>
              <a:buSzTx/>
              <a:buFontTx/>
              <a:buNone/>
              <a:tabLst/>
              <a:defRPr/>
            </a:pPr>
            <a:r>
              <a:rPr kumimoji="0" lang="es-ES" sz="1050" b="0" i="0" u="none" strike="noStrike" kern="1200" cap="none" spc="0" normalizeH="0" baseline="0" noProof="0" dirty="0">
                <a:ln>
                  <a:noFill/>
                </a:ln>
                <a:solidFill>
                  <a:srgbClr val="000000"/>
                </a:solidFill>
                <a:effectLst/>
                <a:uLnTx/>
                <a:uFillTx/>
                <a:latin typeface="Graphik"/>
                <a:ea typeface="+mn-ea"/>
                <a:cs typeface="+mn-cs"/>
              </a:rPr>
              <a:t>Data </a:t>
            </a:r>
            <a:r>
              <a:rPr kumimoji="0" lang="es-ES" sz="1050" b="0" i="0" u="none" strike="noStrike" kern="1200" cap="none" spc="0" normalizeH="0" baseline="0" noProof="0" dirty="0" err="1">
                <a:ln>
                  <a:noFill/>
                </a:ln>
                <a:solidFill>
                  <a:srgbClr val="000000"/>
                </a:solidFill>
                <a:effectLst/>
                <a:uLnTx/>
                <a:uFillTx/>
                <a:latin typeface="Graphik"/>
                <a:ea typeface="+mn-ea"/>
                <a:cs typeface="+mn-cs"/>
              </a:rPr>
              <a:t>Warehouse</a:t>
            </a:r>
            <a:endParaRPr kumimoji="0" lang="es-ES" sz="1050" b="0" i="0" u="none" strike="noStrike" kern="1200" cap="none" spc="0" normalizeH="0" baseline="0" noProof="0" dirty="0">
              <a:ln>
                <a:noFill/>
              </a:ln>
              <a:solidFill>
                <a:srgbClr val="000000"/>
              </a:solidFill>
              <a:effectLst/>
              <a:uLnTx/>
              <a:uFillTx/>
              <a:latin typeface="Graphik"/>
              <a:ea typeface="+mn-ea"/>
              <a:cs typeface="+mn-cs"/>
            </a:endParaRPr>
          </a:p>
        </p:txBody>
      </p:sp>
      <p:cxnSp>
        <p:nvCxnSpPr>
          <p:cNvPr id="50" name="Straight Arrow Connector 49">
            <a:extLst>
              <a:ext uri="{FF2B5EF4-FFF2-40B4-BE49-F238E27FC236}">
                <a16:creationId xmlns:a16="http://schemas.microsoft.com/office/drawing/2014/main" id="{D5B33141-B3EA-DA6A-F6E6-72D5BD5CD3E2}"/>
              </a:ext>
            </a:extLst>
          </p:cNvPr>
          <p:cNvCxnSpPr>
            <a:cxnSpLocks/>
            <a:stCxn id="40" idx="3"/>
            <a:endCxn id="45" idx="1"/>
          </p:cNvCxnSpPr>
          <p:nvPr/>
        </p:nvCxnSpPr>
        <p:spPr>
          <a:xfrm>
            <a:off x="5446968" y="3729322"/>
            <a:ext cx="216491" cy="3918"/>
          </a:xfrm>
          <a:prstGeom prst="straightConnector1">
            <a:avLst/>
          </a:prstGeom>
          <a:ln w="63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51" name="TextBox 50">
            <a:extLst>
              <a:ext uri="{FF2B5EF4-FFF2-40B4-BE49-F238E27FC236}">
                <a16:creationId xmlns:a16="http://schemas.microsoft.com/office/drawing/2014/main" id="{A212A922-824F-B4CC-1CB6-16C3E788CD2D}"/>
              </a:ext>
            </a:extLst>
          </p:cNvPr>
          <p:cNvSpPr txBox="1"/>
          <p:nvPr/>
        </p:nvSpPr>
        <p:spPr>
          <a:xfrm>
            <a:off x="8621415" y="1745177"/>
            <a:ext cx="3469520" cy="3531673"/>
          </a:xfrm>
          <a:prstGeom prst="rect">
            <a:avLst/>
          </a:prstGeom>
          <a:noFill/>
        </p:spPr>
        <p:txBody>
          <a:bodyPr wrap="square" lIns="0" tIns="0" rIns="0" bIns="0" rtlCol="0">
            <a:noAutofit/>
          </a:bodyPr>
          <a:lstStyle/>
          <a:p>
            <a:pPr marL="0" marR="0" lvl="0" indent="0" algn="l" defTabSz="228600" rtl="0" eaLnBrk="1" fontAlgn="auto" latinLnBrk="0" hangingPunct="1">
              <a:lnSpc>
                <a:spcPct val="100000"/>
              </a:lnSpc>
              <a:spcBef>
                <a:spcPts val="0"/>
              </a:spcBef>
              <a:spcAft>
                <a:spcPts val="600"/>
              </a:spcAft>
              <a:buClrTx/>
              <a:buSzTx/>
              <a:buFontTx/>
              <a:buNone/>
              <a:tabLst/>
              <a:defRPr/>
            </a:pPr>
            <a:r>
              <a:rPr kumimoji="0" lang="es" sz="1100" b="0" i="0" u="none" strike="noStrike" kern="1200" cap="none" spc="0" normalizeH="0" baseline="0" noProof="0" dirty="0">
                <a:ln>
                  <a:noFill/>
                </a:ln>
                <a:solidFill>
                  <a:srgbClr val="000000"/>
                </a:solidFill>
                <a:effectLst/>
                <a:uLnTx/>
                <a:uFillTx/>
                <a:latin typeface="Graphik"/>
                <a:ea typeface="+mn-ea"/>
                <a:cs typeface="+mn-cs"/>
              </a:rPr>
              <a:t>También se propone ilustrar las pipelines de procesamiento de datos en el Dominio de Datos:</a:t>
            </a:r>
          </a:p>
          <a:p>
            <a:pPr marL="0" marR="0" lvl="0" indent="0" algn="l" defTabSz="228600" rtl="0" eaLnBrk="1" fontAlgn="auto" latinLnBrk="0" hangingPunct="1">
              <a:lnSpc>
                <a:spcPct val="100000"/>
              </a:lnSpc>
              <a:spcBef>
                <a:spcPts val="0"/>
              </a:spcBef>
              <a:spcAft>
                <a:spcPts val="600"/>
              </a:spcAft>
              <a:buClrTx/>
              <a:buSzTx/>
              <a:buFontTx/>
              <a:buNone/>
              <a:tabLst/>
              <a:defRPr/>
            </a:pPr>
            <a:endParaRPr kumimoji="0" lang="en-US" sz="1100" b="0" i="0" u="none" strike="noStrike" kern="1200" cap="none" spc="0" normalizeH="0" baseline="0" noProof="0" dirty="0">
              <a:ln>
                <a:noFill/>
              </a:ln>
              <a:solidFill>
                <a:srgbClr val="000000"/>
              </a:solidFill>
              <a:effectLst/>
              <a:uLnTx/>
              <a:uFillTx/>
              <a:latin typeface="Graphik"/>
              <a:ea typeface="+mn-ea"/>
              <a:cs typeface="+mn-cs"/>
            </a:endParaRPr>
          </a:p>
          <a:p>
            <a:pPr marL="228600" marR="0" lvl="0" indent="-228600" algn="l" defTabSz="228600" rtl="0" eaLnBrk="1" fontAlgn="auto" latinLnBrk="0" hangingPunct="1">
              <a:lnSpc>
                <a:spcPct val="100000"/>
              </a:lnSpc>
              <a:spcBef>
                <a:spcPts val="0"/>
              </a:spcBef>
              <a:spcAft>
                <a:spcPts val="600"/>
              </a:spcAft>
              <a:buClrTx/>
              <a:buSzTx/>
              <a:buFont typeface="+mj-lt"/>
              <a:buAutoNum type="arabicPeriod"/>
              <a:tabLst/>
              <a:defRPr/>
            </a:pPr>
            <a:r>
              <a:rPr kumimoji="0" lang="es" sz="1100" b="0" i="0" u="none" strike="noStrike" kern="1200" cap="none" spc="0" normalizeH="0" baseline="0" noProof="0" dirty="0">
                <a:ln>
                  <a:noFill/>
                </a:ln>
                <a:solidFill>
                  <a:srgbClr val="000000"/>
                </a:solidFill>
                <a:effectLst/>
                <a:uLnTx/>
                <a:uFillTx/>
                <a:latin typeface="Graphik"/>
                <a:ea typeface="+mn-ea"/>
                <a:cs typeface="+mn-cs"/>
              </a:rPr>
              <a:t>Ingestión de datos de diferentes fuentes internas y externas a distintas velocidades</a:t>
            </a:r>
          </a:p>
          <a:p>
            <a:pPr marL="228600" marR="0" lvl="0" indent="-228600" algn="l" defTabSz="228600" rtl="0" eaLnBrk="1" fontAlgn="auto" latinLnBrk="0" hangingPunct="1">
              <a:lnSpc>
                <a:spcPct val="100000"/>
              </a:lnSpc>
              <a:spcBef>
                <a:spcPts val="0"/>
              </a:spcBef>
              <a:spcAft>
                <a:spcPts val="600"/>
              </a:spcAft>
              <a:buClrTx/>
              <a:buSzTx/>
              <a:buFont typeface="+mj-lt"/>
              <a:buAutoNum type="arabicPeriod"/>
              <a:tabLst/>
              <a:defRPr/>
            </a:pPr>
            <a:r>
              <a:rPr kumimoji="0" lang="es" sz="1100" b="0" i="0" u="none" strike="noStrike" kern="1200" cap="none" spc="0" normalizeH="0" baseline="0" noProof="0" dirty="0">
                <a:ln>
                  <a:noFill/>
                </a:ln>
                <a:solidFill>
                  <a:srgbClr val="000000"/>
                </a:solidFill>
                <a:effectLst/>
                <a:uLnTx/>
                <a:uFillTx/>
                <a:latin typeface="Graphik"/>
                <a:ea typeface="+mn-ea"/>
                <a:cs typeface="+mn-cs"/>
              </a:rPr>
              <a:t>Procesamiento de datos para diferentes fines: actualización de datos, agregación de datos, curación, exposición de datos para consumo transaccional...</a:t>
            </a:r>
          </a:p>
          <a:p>
            <a:pPr marL="228600" marR="0" lvl="0" indent="-228600" algn="l" defTabSz="228600" rtl="0" eaLnBrk="1" fontAlgn="auto" latinLnBrk="0" hangingPunct="1">
              <a:lnSpc>
                <a:spcPct val="100000"/>
              </a:lnSpc>
              <a:spcBef>
                <a:spcPts val="0"/>
              </a:spcBef>
              <a:spcAft>
                <a:spcPts val="600"/>
              </a:spcAft>
              <a:buClrTx/>
              <a:buSzTx/>
              <a:buFont typeface="+mj-lt"/>
              <a:buAutoNum type="arabicPeriod"/>
              <a:tabLst/>
              <a:defRPr/>
            </a:pPr>
            <a:r>
              <a:rPr kumimoji="0" lang="es" sz="1100" b="0" i="0" u="none" strike="noStrike" kern="1200" cap="none" spc="0" normalizeH="0" baseline="0" noProof="0" dirty="0">
                <a:ln>
                  <a:noFill/>
                </a:ln>
                <a:solidFill>
                  <a:srgbClr val="000000"/>
                </a:solidFill>
                <a:effectLst/>
                <a:uLnTx/>
                <a:uFillTx/>
                <a:latin typeface="Graphik"/>
                <a:ea typeface="+mn-ea"/>
                <a:cs typeface="+mn-cs"/>
              </a:rPr>
              <a:t>Exposición de los datos a consumir de forma síncrona o asíncrona por los motores transaccionales</a:t>
            </a:r>
          </a:p>
          <a:p>
            <a:pPr marL="0" marR="0" lvl="0" indent="0" algn="l" defTabSz="228600" rtl="0" eaLnBrk="1" fontAlgn="auto" latinLnBrk="0" hangingPunct="1">
              <a:lnSpc>
                <a:spcPct val="100000"/>
              </a:lnSpc>
              <a:spcBef>
                <a:spcPts val="0"/>
              </a:spcBef>
              <a:spcAft>
                <a:spcPts val="600"/>
              </a:spcAft>
              <a:buClrTx/>
              <a:buSzTx/>
              <a:buFontTx/>
              <a:buNone/>
              <a:tabLst/>
              <a:defRPr/>
            </a:pPr>
            <a:endParaRPr kumimoji="0" lang="en-US" sz="1100" b="0" i="0" u="none" strike="noStrike" kern="1200" cap="none" spc="0" normalizeH="0" baseline="0" noProof="0" dirty="0">
              <a:ln>
                <a:noFill/>
              </a:ln>
              <a:solidFill>
                <a:srgbClr val="000000"/>
              </a:solidFill>
              <a:effectLst/>
              <a:uLnTx/>
              <a:uFillTx/>
              <a:latin typeface="Graphik"/>
              <a:ea typeface="+mn-ea"/>
              <a:cs typeface="+mn-cs"/>
            </a:endParaRPr>
          </a:p>
          <a:p>
            <a:pPr marL="0" marR="0" lvl="0" indent="0" algn="l" defTabSz="228600" rtl="0" eaLnBrk="1" fontAlgn="auto" latinLnBrk="0" hangingPunct="1">
              <a:lnSpc>
                <a:spcPct val="100000"/>
              </a:lnSpc>
              <a:spcBef>
                <a:spcPts val="0"/>
              </a:spcBef>
              <a:spcAft>
                <a:spcPts val="600"/>
              </a:spcAft>
              <a:buClrTx/>
              <a:buSzTx/>
              <a:buFontTx/>
              <a:buNone/>
              <a:tabLst/>
              <a:defRPr/>
            </a:pPr>
            <a:r>
              <a:rPr kumimoji="0" lang="es" sz="1100" b="0" i="0" u="none" strike="noStrike" kern="1200" cap="none" spc="0" normalizeH="0" baseline="0" noProof="0" dirty="0">
                <a:ln>
                  <a:noFill/>
                </a:ln>
                <a:solidFill>
                  <a:srgbClr val="000000"/>
                </a:solidFill>
                <a:effectLst/>
                <a:uLnTx/>
                <a:uFillTx/>
                <a:latin typeface="Graphik"/>
                <a:ea typeface="+mn-ea"/>
                <a:cs typeface="+mn-cs"/>
              </a:rPr>
              <a:t>Estas interacciones requieren la aplicación de patrones de </a:t>
            </a:r>
            <a:r>
              <a:rPr kumimoji="0" lang="es" sz="1100" b="1" i="0" u="none" strike="noStrike" kern="1200" cap="none" spc="0" normalizeH="0" baseline="0" noProof="0" dirty="0">
                <a:ln>
                  <a:noFill/>
                </a:ln>
                <a:solidFill>
                  <a:srgbClr val="000000"/>
                </a:solidFill>
                <a:effectLst/>
                <a:uLnTx/>
                <a:uFillTx/>
                <a:latin typeface="Graphik"/>
                <a:ea typeface="+mn-ea"/>
                <a:cs typeface="+mn-cs"/>
              </a:rPr>
              <a:t>integración de datos </a:t>
            </a:r>
            <a:r>
              <a:rPr kumimoji="0" lang="es" sz="1100" b="0" i="0" u="none" strike="noStrike" kern="1200" cap="none" spc="0" normalizeH="0" baseline="0" noProof="0" dirty="0">
                <a:ln>
                  <a:noFill/>
                </a:ln>
                <a:solidFill>
                  <a:srgbClr val="000000"/>
                </a:solidFill>
                <a:effectLst/>
                <a:uLnTx/>
                <a:uFillTx/>
                <a:latin typeface="Graphik"/>
                <a:ea typeface="+mn-ea"/>
                <a:cs typeface="+mn-cs"/>
              </a:rPr>
              <a:t>como CDC, CQRS, Event Sourcing o Lambda/Kappa.</a:t>
            </a:r>
          </a:p>
          <a:p>
            <a:pPr marL="0" marR="0" lvl="0" indent="0" algn="l" defTabSz="228600" rtl="0" eaLnBrk="1" fontAlgn="auto" latinLnBrk="0" hangingPunct="1">
              <a:lnSpc>
                <a:spcPct val="100000"/>
              </a:lnSpc>
              <a:spcBef>
                <a:spcPts val="0"/>
              </a:spcBef>
              <a:spcAft>
                <a:spcPts val="600"/>
              </a:spcAft>
              <a:buClrTx/>
              <a:buSzTx/>
              <a:buFontTx/>
              <a:buNone/>
              <a:tabLst/>
              <a:defRPr/>
            </a:pPr>
            <a:endParaRPr kumimoji="0" lang="en-US" sz="1100" b="0" i="0" u="none" strike="noStrike" kern="1200" cap="none" spc="0" normalizeH="0" baseline="0" noProof="0" dirty="0">
              <a:ln>
                <a:noFill/>
              </a:ln>
              <a:solidFill>
                <a:srgbClr val="000000"/>
              </a:solidFill>
              <a:effectLst/>
              <a:uLnTx/>
              <a:uFillTx/>
              <a:latin typeface="Graphik"/>
              <a:ea typeface="+mn-ea"/>
              <a:cs typeface="+mn-cs"/>
            </a:endParaRPr>
          </a:p>
          <a:p>
            <a:pPr marL="0" marR="0" lvl="0" indent="0" algn="l" defTabSz="228600" rtl="0" eaLnBrk="1" fontAlgn="auto" latinLnBrk="0" hangingPunct="1">
              <a:lnSpc>
                <a:spcPct val="100000"/>
              </a:lnSpc>
              <a:spcBef>
                <a:spcPts val="0"/>
              </a:spcBef>
              <a:spcAft>
                <a:spcPts val="600"/>
              </a:spcAft>
              <a:buClrTx/>
              <a:buSzTx/>
              <a:buFontTx/>
              <a:buNone/>
              <a:tabLst/>
              <a:defRPr/>
            </a:pPr>
            <a:r>
              <a:rPr kumimoji="0" lang="es" sz="1100" b="0" i="0" u="none" strike="noStrike" kern="1200" cap="none" spc="0" normalizeH="0" baseline="0" noProof="0" dirty="0">
                <a:ln>
                  <a:noFill/>
                </a:ln>
                <a:solidFill>
                  <a:srgbClr val="000000"/>
                </a:solidFill>
                <a:effectLst/>
                <a:uLnTx/>
                <a:uFillTx/>
                <a:latin typeface="Graphik"/>
                <a:ea typeface="+mn-ea"/>
                <a:cs typeface="+mn-cs"/>
              </a:rPr>
              <a:t>Durante el ejercicio, se prototiparán pipelines seleccionados en el contexto de casos de uso bancarios</a:t>
            </a:r>
          </a:p>
          <a:p>
            <a:pPr marL="171450" marR="0" lvl="0" indent="-1714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US" sz="1100" b="0" i="0" u="none" strike="noStrike" kern="1200" cap="none" spc="0" normalizeH="0" baseline="0" noProof="0" dirty="0">
              <a:ln>
                <a:noFill/>
              </a:ln>
              <a:solidFill>
                <a:srgbClr val="000000"/>
              </a:solidFill>
              <a:effectLst/>
              <a:uLnTx/>
              <a:uFillTx/>
              <a:latin typeface="Graphik"/>
              <a:ea typeface="+mn-ea"/>
              <a:cs typeface="+mn-cs"/>
            </a:endParaRPr>
          </a:p>
          <a:p>
            <a:pPr marL="171450" marR="0" lvl="0" indent="-171450" algn="l" defTabSz="228600" rtl="0" eaLnBrk="1" fontAlgn="auto" latinLnBrk="0" hangingPunct="1">
              <a:lnSpc>
                <a:spcPct val="100000"/>
              </a:lnSpc>
              <a:spcBef>
                <a:spcPts val="0"/>
              </a:spcBef>
              <a:spcAft>
                <a:spcPts val="1200"/>
              </a:spcAft>
              <a:buClrTx/>
              <a:buSzTx/>
              <a:buFont typeface="Arial" panose="020B0604020202020204" pitchFamily="34" charset="0"/>
              <a:buChar char="•"/>
              <a:tabLst/>
              <a:defRPr/>
            </a:pPr>
            <a:endParaRPr kumimoji="0" lang="en-US" sz="1100" b="0" i="0" u="none" strike="noStrike" kern="1200" cap="none" spc="0" normalizeH="0" baseline="0" noProof="0" dirty="0">
              <a:ln>
                <a:noFill/>
              </a:ln>
              <a:solidFill>
                <a:srgbClr val="000000"/>
              </a:solidFill>
              <a:effectLst/>
              <a:uLnTx/>
              <a:uFillTx/>
              <a:latin typeface="Graphik"/>
              <a:ea typeface="+mn-ea"/>
              <a:cs typeface="+mn-cs"/>
            </a:endParaRPr>
          </a:p>
        </p:txBody>
      </p:sp>
      <p:sp>
        <p:nvSpPr>
          <p:cNvPr id="52" name="Oval 51">
            <a:extLst>
              <a:ext uri="{FF2B5EF4-FFF2-40B4-BE49-F238E27FC236}">
                <a16:creationId xmlns:a16="http://schemas.microsoft.com/office/drawing/2014/main" id="{7E830CCE-739E-C53F-74FB-B72E70A2F81A}"/>
              </a:ext>
            </a:extLst>
          </p:cNvPr>
          <p:cNvSpPr/>
          <p:nvPr/>
        </p:nvSpPr>
        <p:spPr>
          <a:xfrm>
            <a:off x="1537223" y="3311598"/>
            <a:ext cx="216000" cy="216000"/>
          </a:xfrm>
          <a:prstGeom prst="ellipse">
            <a:avLst/>
          </a:prstGeom>
          <a:solidFill>
            <a:srgbClr val="C0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1</a:t>
            </a:r>
            <a:endParaRPr kumimoji="0" lang="en-ES" sz="1100" b="1" i="0" u="none" strike="noStrike" kern="1200" cap="none" spc="0" normalizeH="0" baseline="0" noProof="0">
              <a:ln>
                <a:noFill/>
              </a:ln>
              <a:solidFill>
                <a:srgbClr val="FFFFFF"/>
              </a:solidFill>
              <a:effectLst/>
              <a:uLnTx/>
              <a:uFillTx/>
              <a:latin typeface="Graphik"/>
              <a:ea typeface="+mn-ea"/>
              <a:cs typeface="+mn-cs"/>
            </a:endParaRPr>
          </a:p>
        </p:txBody>
      </p:sp>
      <p:sp>
        <p:nvSpPr>
          <p:cNvPr id="53" name="Oval 52">
            <a:extLst>
              <a:ext uri="{FF2B5EF4-FFF2-40B4-BE49-F238E27FC236}">
                <a16:creationId xmlns:a16="http://schemas.microsoft.com/office/drawing/2014/main" id="{06CA6558-D5F6-AA18-E24E-5C6EA81CFF7C}"/>
              </a:ext>
            </a:extLst>
          </p:cNvPr>
          <p:cNvSpPr/>
          <p:nvPr/>
        </p:nvSpPr>
        <p:spPr>
          <a:xfrm>
            <a:off x="5470876" y="3419598"/>
            <a:ext cx="216000" cy="216000"/>
          </a:xfrm>
          <a:prstGeom prst="ellipse">
            <a:avLst/>
          </a:prstGeom>
          <a:solidFill>
            <a:srgbClr val="C0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2</a:t>
            </a:r>
            <a:endParaRPr kumimoji="0" lang="en-ES" sz="1100" b="1" i="0" u="none" strike="noStrike" kern="1200" cap="none" spc="0" normalizeH="0" baseline="0" noProof="0">
              <a:ln>
                <a:noFill/>
              </a:ln>
              <a:solidFill>
                <a:srgbClr val="FFFFFF"/>
              </a:solidFill>
              <a:effectLst/>
              <a:uLnTx/>
              <a:uFillTx/>
              <a:latin typeface="Graphik"/>
              <a:ea typeface="+mn-ea"/>
              <a:cs typeface="+mn-cs"/>
            </a:endParaRPr>
          </a:p>
        </p:txBody>
      </p:sp>
      <p:sp>
        <p:nvSpPr>
          <p:cNvPr id="54" name="Oval 53">
            <a:extLst>
              <a:ext uri="{FF2B5EF4-FFF2-40B4-BE49-F238E27FC236}">
                <a16:creationId xmlns:a16="http://schemas.microsoft.com/office/drawing/2014/main" id="{6E93147E-3399-A967-2DA9-E66BD815F401}"/>
              </a:ext>
            </a:extLst>
          </p:cNvPr>
          <p:cNvSpPr/>
          <p:nvPr/>
        </p:nvSpPr>
        <p:spPr>
          <a:xfrm>
            <a:off x="3225333" y="3025891"/>
            <a:ext cx="216000" cy="216000"/>
          </a:xfrm>
          <a:prstGeom prst="ellipse">
            <a:avLst/>
          </a:prstGeom>
          <a:solidFill>
            <a:srgbClr val="C0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1</a:t>
            </a:r>
            <a:endParaRPr kumimoji="0" lang="en-ES" sz="1100" b="1" i="0" u="none" strike="noStrike" kern="1200" cap="none" spc="0" normalizeH="0" baseline="0" noProof="0">
              <a:ln>
                <a:noFill/>
              </a:ln>
              <a:solidFill>
                <a:srgbClr val="FFFFFF"/>
              </a:solidFill>
              <a:effectLst/>
              <a:uLnTx/>
              <a:uFillTx/>
              <a:latin typeface="Graphik"/>
              <a:ea typeface="+mn-ea"/>
              <a:cs typeface="+mn-cs"/>
            </a:endParaRPr>
          </a:p>
        </p:txBody>
      </p:sp>
      <p:sp>
        <p:nvSpPr>
          <p:cNvPr id="55" name="Oval 54">
            <a:extLst>
              <a:ext uri="{FF2B5EF4-FFF2-40B4-BE49-F238E27FC236}">
                <a16:creationId xmlns:a16="http://schemas.microsoft.com/office/drawing/2014/main" id="{65397FC0-F26D-3360-E072-1CEDD2DEEE8D}"/>
              </a:ext>
            </a:extLst>
          </p:cNvPr>
          <p:cNvSpPr/>
          <p:nvPr/>
        </p:nvSpPr>
        <p:spPr>
          <a:xfrm>
            <a:off x="6869346" y="3348786"/>
            <a:ext cx="216000" cy="216000"/>
          </a:xfrm>
          <a:prstGeom prst="ellipse">
            <a:avLst/>
          </a:prstGeom>
          <a:solidFill>
            <a:srgbClr val="C0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3</a:t>
            </a:r>
            <a:endParaRPr kumimoji="0" lang="en-ES" sz="1100" b="1" i="0" u="none" strike="noStrike" kern="1200" cap="none" spc="0" normalizeH="0" baseline="0" noProof="0">
              <a:ln>
                <a:noFill/>
              </a:ln>
              <a:solidFill>
                <a:srgbClr val="FFFFFF"/>
              </a:solidFill>
              <a:effectLst/>
              <a:uLnTx/>
              <a:uFillTx/>
              <a:latin typeface="Graphik"/>
              <a:ea typeface="+mn-ea"/>
              <a:cs typeface="+mn-cs"/>
            </a:endParaRPr>
          </a:p>
        </p:txBody>
      </p:sp>
      <p:sp>
        <p:nvSpPr>
          <p:cNvPr id="56" name="Rectangle 55">
            <a:extLst>
              <a:ext uri="{FF2B5EF4-FFF2-40B4-BE49-F238E27FC236}">
                <a16:creationId xmlns:a16="http://schemas.microsoft.com/office/drawing/2014/main" id="{DF21A6B3-B169-323E-E0D4-08EDE2BCD727}"/>
              </a:ext>
            </a:extLst>
          </p:cNvPr>
          <p:cNvSpPr/>
          <p:nvPr/>
        </p:nvSpPr>
        <p:spPr>
          <a:xfrm>
            <a:off x="7039252" y="2626726"/>
            <a:ext cx="1128660" cy="186368"/>
          </a:xfrm>
          <a:prstGeom prst="rect">
            <a:avLst/>
          </a:prstGeom>
          <a:ln/>
        </p:spPr>
        <p:style>
          <a:lnRef idx="2">
            <a:schemeClr val="accent1"/>
          </a:lnRef>
          <a:fillRef idx="1">
            <a:schemeClr val="lt1"/>
          </a:fillRef>
          <a:effectRef idx="0">
            <a:schemeClr val="accent1"/>
          </a:effectRef>
          <a:fontRef idx="minor">
            <a:schemeClr val="dk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0" i="0" u="none" strike="noStrike" kern="1200" cap="none" spc="0" normalizeH="0" baseline="0" noProof="0" err="1">
                <a:ln>
                  <a:noFill/>
                </a:ln>
                <a:solidFill>
                  <a:srgbClr val="000000"/>
                </a:solidFill>
                <a:effectLst/>
                <a:uLnTx/>
                <a:uFillTx/>
                <a:latin typeface="Graphik"/>
                <a:ea typeface="+mn-ea"/>
                <a:cs typeface="+mn-cs"/>
              </a:rPr>
              <a:t>Notificaciones</a:t>
            </a:r>
            <a:endParaRPr kumimoji="0" lang="es-MX" sz="1100" b="0" i="0" u="none" strike="noStrike" kern="1200" cap="none" spc="0" normalizeH="0" baseline="0" noProof="0">
              <a:ln>
                <a:noFill/>
              </a:ln>
              <a:solidFill>
                <a:srgbClr val="000000"/>
              </a:solidFill>
              <a:effectLst/>
              <a:uLnTx/>
              <a:uFillTx/>
              <a:latin typeface="Graphik"/>
              <a:ea typeface="+mn-ea"/>
              <a:cs typeface="+mn-cs"/>
            </a:endParaRPr>
          </a:p>
        </p:txBody>
      </p:sp>
      <p:cxnSp>
        <p:nvCxnSpPr>
          <p:cNvPr id="57" name="Straight Arrow Connector 56">
            <a:extLst>
              <a:ext uri="{FF2B5EF4-FFF2-40B4-BE49-F238E27FC236}">
                <a16:creationId xmlns:a16="http://schemas.microsoft.com/office/drawing/2014/main" id="{D43A8FC2-5D50-D22A-59D0-29AFD3C65796}"/>
              </a:ext>
            </a:extLst>
          </p:cNvPr>
          <p:cNvCxnSpPr>
            <a:cxnSpLocks/>
            <a:stCxn id="28" idx="0"/>
            <a:endCxn id="56" idx="2"/>
          </p:cNvCxnSpPr>
          <p:nvPr/>
        </p:nvCxnSpPr>
        <p:spPr>
          <a:xfrm flipH="1" flipV="1">
            <a:off x="7603582" y="2813094"/>
            <a:ext cx="5671" cy="275598"/>
          </a:xfrm>
          <a:prstGeom prst="straightConnector1">
            <a:avLst/>
          </a:prstGeom>
          <a:ln w="63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902313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0D9A3F-77D7-A3D2-CB20-540E0AB2C387}"/>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4660C6B4-DAA1-217F-C7E9-C8ECA2B01ACD}"/>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alpha val="65000"/>
                  </a:srgbClr>
                </a:solidFill>
                <a:effectLst/>
                <a:uLnTx/>
                <a:uFillTx/>
                <a:latin typeface="Graphik"/>
                <a:ea typeface="+mn-ea"/>
                <a:cs typeface="+mn-cs"/>
              </a:rPr>
              <a:t>Copyright © 2025 Accenture. Todos los derechos reservados.</a:t>
            </a:r>
          </a:p>
        </p:txBody>
      </p:sp>
      <p:sp>
        <p:nvSpPr>
          <p:cNvPr id="118" name="Title 1">
            <a:extLst>
              <a:ext uri="{FF2B5EF4-FFF2-40B4-BE49-F238E27FC236}">
                <a16:creationId xmlns:a16="http://schemas.microsoft.com/office/drawing/2014/main" id="{0809E1BF-81CB-C98E-7EE2-9040E176B982}"/>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a:ln>
                  <a:noFill/>
                </a:ln>
                <a:solidFill>
                  <a:srgbClr val="7500C0"/>
                </a:solidFill>
                <a:effectLst/>
                <a:uLnTx/>
                <a:uFillTx/>
                <a:latin typeface="Graphik"/>
                <a:ea typeface="+mj-ea"/>
                <a:cs typeface="+mj-cs"/>
              </a:rPr>
              <a:t>Activo de Interoperabilidad </a:t>
            </a:r>
            <a:r>
              <a:rPr kumimoji="0" lang="es" sz="2400" b="1" i="0" u="none" strike="noStrike" kern="1200" cap="none" spc="0" normalizeH="0" baseline="0" noProof="0">
                <a:ln>
                  <a:noFill/>
                </a:ln>
                <a:solidFill>
                  <a:srgbClr val="000000"/>
                </a:solidFill>
                <a:effectLst/>
                <a:uLnTx/>
                <a:uFillTx/>
                <a:latin typeface="Graphik"/>
                <a:ea typeface="+mj-ea"/>
                <a:cs typeface="+mj-cs"/>
              </a:rPr>
              <a:t>| </a:t>
            </a:r>
            <a:r>
              <a:rPr kumimoji="0" lang="es" sz="2000" b="1" i="0" u="none" strike="noStrike" kern="1200" cap="none" spc="0" normalizeH="0" baseline="0" noProof="0">
                <a:ln>
                  <a:noFill/>
                </a:ln>
                <a:solidFill>
                  <a:srgbClr val="000000"/>
                </a:solidFill>
                <a:effectLst/>
                <a:uLnTx/>
                <a:uFillTx/>
                <a:latin typeface="Graphik"/>
                <a:ea typeface="+mj-ea"/>
                <a:cs typeface="+mj-cs"/>
              </a:rPr>
              <a:t>Entrega de datos</a:t>
            </a:r>
            <a:endParaRPr kumimoji="0" lang="es" sz="2400" b="1" i="0" u="none" strike="noStrike" kern="1200" cap="none" spc="0" normalizeH="0" baseline="0" noProof="0">
              <a:ln>
                <a:noFill/>
              </a:ln>
              <a:solidFill>
                <a:srgbClr val="000000"/>
              </a:solidFill>
              <a:effectLst/>
              <a:uLnTx/>
              <a:uFillTx/>
              <a:latin typeface="Graphik"/>
              <a:ea typeface="+mj-ea"/>
              <a:cs typeface="+mj-cs"/>
            </a:endParaRPr>
          </a:p>
        </p:txBody>
      </p:sp>
      <p:sp>
        <p:nvSpPr>
          <p:cNvPr id="119" name="Content Placeholder 34">
            <a:extLst>
              <a:ext uri="{FF2B5EF4-FFF2-40B4-BE49-F238E27FC236}">
                <a16:creationId xmlns:a16="http://schemas.microsoft.com/office/drawing/2014/main" id="{417F537E-F03E-010F-5D43-E6F78B5F1D7A}"/>
              </a:ext>
            </a:extLst>
          </p:cNvPr>
          <p:cNvSpPr txBox="1">
            <a:spLocks/>
          </p:cNvSpPr>
          <p:nvPr/>
        </p:nvSpPr>
        <p:spPr>
          <a:xfrm>
            <a:off x="285990" y="641993"/>
            <a:ext cx="11430000" cy="246221"/>
          </a:xfrm>
          <a:prstGeom prst="rect">
            <a:avLst/>
          </a:prstGeom>
        </p:spPr>
        <p:txBody>
          <a:bodyPr/>
          <a:lstStyle>
            <a:lvl1pPr marL="228600" indent="-228600" algn="l" defTabSz="228600" rtl="0" eaLnBrk="1" latinLnBrk="0" hangingPunct="1">
              <a:lnSpc>
                <a:spcPct val="100000"/>
              </a:lnSpc>
              <a:spcBef>
                <a:spcPts val="0"/>
              </a:spcBef>
              <a:spcAft>
                <a:spcPts val="600"/>
              </a:spcAft>
              <a:buFont typeface="Arial"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Arial"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Arial"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Arial"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Arial"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Arial" panose="020B0604020202020204" pitchFamily="34" charset="0"/>
              <a:buNone/>
              <a:defRPr sz="800" kern="1200">
                <a:solidFill>
                  <a:schemeClr val="tx2"/>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s" sz="1600" b="1" i="0" u="none" strike="noStrike" kern="1200" cap="none" spc="0" normalizeH="0" baseline="0" noProof="0">
                <a:ln>
                  <a:noFill/>
                </a:ln>
                <a:solidFill>
                  <a:srgbClr val="7500C0"/>
                </a:solidFill>
                <a:effectLst/>
                <a:uLnTx/>
                <a:uFillTx/>
                <a:latin typeface="Graphik" panose="020B0503030202060203" pitchFamily="34" charset="0"/>
                <a:ea typeface="+mn-ea"/>
                <a:cs typeface="+mn-cs"/>
              </a:rPr>
              <a:t>Arquitectura de procesamiento de eventos</a:t>
            </a:r>
          </a:p>
        </p:txBody>
      </p:sp>
      <p:grpSp>
        <p:nvGrpSpPr>
          <p:cNvPr id="4" name="Group 3">
            <a:extLst>
              <a:ext uri="{FF2B5EF4-FFF2-40B4-BE49-F238E27FC236}">
                <a16:creationId xmlns:a16="http://schemas.microsoft.com/office/drawing/2014/main" id="{819372CE-CE02-E176-4CF6-FF1D99574AB3}"/>
              </a:ext>
            </a:extLst>
          </p:cNvPr>
          <p:cNvGrpSpPr/>
          <p:nvPr/>
        </p:nvGrpSpPr>
        <p:grpSpPr>
          <a:xfrm>
            <a:off x="9914018" y="286451"/>
            <a:ext cx="1862854" cy="253275"/>
            <a:chOff x="9929190" y="421028"/>
            <a:chExt cx="1862854" cy="253275"/>
          </a:xfrm>
        </p:grpSpPr>
        <p:sp>
          <p:nvSpPr>
            <p:cNvPr id="5" name="TextBox 4">
              <a:extLst>
                <a:ext uri="{FF2B5EF4-FFF2-40B4-BE49-F238E27FC236}">
                  <a16:creationId xmlns:a16="http://schemas.microsoft.com/office/drawing/2014/main" id="{31319662-AC8B-E505-E951-86299CF31B0F}"/>
                </a:ext>
              </a:extLst>
            </p:cNvPr>
            <p:cNvSpPr txBox="1"/>
            <p:nvPr/>
          </p:nvSpPr>
          <p:spPr>
            <a:xfrm>
              <a:off x="9936972" y="460821"/>
              <a:ext cx="1847290" cy="173690"/>
            </a:xfrm>
            <a:prstGeom prst="rect">
              <a:avLst/>
            </a:prstGeom>
            <a:noFill/>
          </p:spPr>
          <p:txBody>
            <a:bodyPr wrap="none" lIns="0" tIns="0" rIns="0" bIns="0" rtlCol="0">
              <a:noAutofit/>
            </a:bodyPr>
            <a:lstStyle/>
            <a:p>
              <a:pPr marL="0" marR="0" lvl="0" indent="0" algn="l" defTabSz="228600" rtl="0" eaLnBrk="1" fontAlgn="auto" latinLnBrk="0" hangingPunct="1">
                <a:lnSpc>
                  <a:spcPct val="100000"/>
                </a:lnSpc>
                <a:spcBef>
                  <a:spcPts val="0"/>
                </a:spcBef>
                <a:spcAft>
                  <a:spcPts val="1200"/>
                </a:spcAft>
                <a:buClrTx/>
                <a:buSzTx/>
                <a:buFontTx/>
                <a:buNone/>
                <a:tabLst/>
                <a:defRPr/>
              </a:pPr>
              <a:r>
                <a:rPr kumimoji="0" lang="es" sz="1100" b="0" i="0" u="none" strike="noStrike" kern="1200" cap="none" spc="0" normalizeH="0" baseline="0" noProof="0">
                  <a:ln>
                    <a:noFill/>
                  </a:ln>
                  <a:solidFill>
                    <a:srgbClr val="000000"/>
                  </a:solidFill>
                  <a:effectLst/>
                  <a:uLnTx/>
                  <a:uFillTx/>
                  <a:latin typeface="Graphik"/>
                  <a:ea typeface="+mn-ea"/>
                  <a:cs typeface="+mn-cs"/>
                </a:rPr>
                <a:t>Ilustrativo no exhaustivo</a:t>
              </a:r>
            </a:p>
          </p:txBody>
        </p:sp>
        <p:cxnSp>
          <p:nvCxnSpPr>
            <p:cNvPr id="6" name="Straight Connector 5">
              <a:extLst>
                <a:ext uri="{FF2B5EF4-FFF2-40B4-BE49-F238E27FC236}">
                  <a16:creationId xmlns:a16="http://schemas.microsoft.com/office/drawing/2014/main" id="{424B589A-A790-3454-E995-312C08A6AB0E}"/>
                </a:ext>
              </a:extLst>
            </p:cNvPr>
            <p:cNvCxnSpPr>
              <a:cxnSpLocks/>
            </p:cNvCxnSpPr>
            <p:nvPr/>
          </p:nvCxnSpPr>
          <p:spPr>
            <a:xfrm>
              <a:off x="9929190" y="421028"/>
              <a:ext cx="186285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01624379-A50C-5373-7EC6-9FF5F24A25CC}"/>
                </a:ext>
              </a:extLst>
            </p:cNvPr>
            <p:cNvCxnSpPr>
              <a:cxnSpLocks/>
            </p:cNvCxnSpPr>
            <p:nvPr/>
          </p:nvCxnSpPr>
          <p:spPr>
            <a:xfrm>
              <a:off x="9929190" y="674303"/>
              <a:ext cx="186285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65" name="Connector: Elbow 64">
            <a:extLst>
              <a:ext uri="{FF2B5EF4-FFF2-40B4-BE49-F238E27FC236}">
                <a16:creationId xmlns:a16="http://schemas.microsoft.com/office/drawing/2014/main" id="{CC56321D-52B9-174B-4416-0A520C6EDB22}"/>
              </a:ext>
            </a:extLst>
          </p:cNvPr>
          <p:cNvCxnSpPr>
            <a:cxnSpLocks/>
          </p:cNvCxnSpPr>
          <p:nvPr/>
        </p:nvCxnSpPr>
        <p:spPr>
          <a:xfrm flipV="1">
            <a:off x="1769727" y="1487349"/>
            <a:ext cx="535083" cy="211882"/>
          </a:xfrm>
          <a:prstGeom prst="bentConnector3">
            <a:avLst>
              <a:gd name="adj1" fmla="val 41006"/>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66" name="Group 65">
            <a:extLst>
              <a:ext uri="{FF2B5EF4-FFF2-40B4-BE49-F238E27FC236}">
                <a16:creationId xmlns:a16="http://schemas.microsoft.com/office/drawing/2014/main" id="{26CFB799-AB07-7D62-4B6B-970000429FD1}"/>
              </a:ext>
            </a:extLst>
          </p:cNvPr>
          <p:cNvGrpSpPr/>
          <p:nvPr/>
        </p:nvGrpSpPr>
        <p:grpSpPr>
          <a:xfrm>
            <a:off x="186691" y="1523878"/>
            <a:ext cx="1583036" cy="3368362"/>
            <a:chOff x="123353" y="2136006"/>
            <a:chExt cx="1583036" cy="3368362"/>
          </a:xfrm>
        </p:grpSpPr>
        <p:sp>
          <p:nvSpPr>
            <p:cNvPr id="67" name="Rectangle: Rounded Corners 66">
              <a:extLst>
                <a:ext uri="{FF2B5EF4-FFF2-40B4-BE49-F238E27FC236}">
                  <a16:creationId xmlns:a16="http://schemas.microsoft.com/office/drawing/2014/main" id="{3ECF0AD4-AA87-D43B-74A4-68B9B3BBDFED}"/>
                </a:ext>
              </a:extLst>
            </p:cNvPr>
            <p:cNvSpPr/>
            <p:nvPr/>
          </p:nvSpPr>
          <p:spPr>
            <a:xfrm>
              <a:off x="123353" y="2136006"/>
              <a:ext cx="1583036" cy="3368362"/>
            </a:xfrm>
            <a:prstGeom prst="roundRect">
              <a:avLst>
                <a:gd name="adj" fmla="val 7682"/>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Fuentes de datos y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Almacenes de datos</a:t>
              </a:r>
              <a:endParaRPr kumimoji="0" lang="es-ES_tradnl" sz="900" b="0" i="0" u="none" strike="noStrike" kern="1200" cap="none" spc="0" normalizeH="0" baseline="0" noProof="0">
                <a:ln>
                  <a:noFill/>
                </a:ln>
                <a:solidFill>
                  <a:srgbClr val="000000"/>
                </a:solidFill>
                <a:effectLst/>
                <a:uLnTx/>
                <a:uFillTx/>
                <a:latin typeface="Graphik"/>
                <a:ea typeface="+mn-ea"/>
                <a:cs typeface="+mn-cs"/>
              </a:endParaRPr>
            </a:p>
          </p:txBody>
        </p:sp>
        <p:sp>
          <p:nvSpPr>
            <p:cNvPr id="68" name="Rectangle 67">
              <a:extLst>
                <a:ext uri="{FF2B5EF4-FFF2-40B4-BE49-F238E27FC236}">
                  <a16:creationId xmlns:a16="http://schemas.microsoft.com/office/drawing/2014/main" id="{22AB2C99-24C9-6967-B7DE-840D15A98EEE}"/>
                </a:ext>
              </a:extLst>
            </p:cNvPr>
            <p:cNvSpPr/>
            <p:nvPr/>
          </p:nvSpPr>
          <p:spPr>
            <a:xfrm>
              <a:off x="223950" y="2593028"/>
              <a:ext cx="1346837" cy="288000"/>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Sistemas heredados</a:t>
              </a:r>
            </a:p>
          </p:txBody>
        </p:sp>
        <p:sp>
          <p:nvSpPr>
            <p:cNvPr id="69" name="Rectangle 68">
              <a:extLst>
                <a:ext uri="{FF2B5EF4-FFF2-40B4-BE49-F238E27FC236}">
                  <a16:creationId xmlns:a16="http://schemas.microsoft.com/office/drawing/2014/main" id="{CB90EB01-206A-D39B-529B-75BABB931CEE}"/>
                </a:ext>
              </a:extLst>
            </p:cNvPr>
            <p:cNvSpPr/>
            <p:nvPr/>
          </p:nvSpPr>
          <p:spPr>
            <a:xfrm>
              <a:off x="223950" y="2939468"/>
              <a:ext cx="1346837" cy="288000"/>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Archivos planos</a:t>
              </a:r>
            </a:p>
          </p:txBody>
        </p:sp>
        <p:sp>
          <p:nvSpPr>
            <p:cNvPr id="70" name="Rectangle 69">
              <a:extLst>
                <a:ext uri="{FF2B5EF4-FFF2-40B4-BE49-F238E27FC236}">
                  <a16:creationId xmlns:a16="http://schemas.microsoft.com/office/drawing/2014/main" id="{3812070B-2D2A-13AE-7C81-97EDD6B3748B}"/>
                </a:ext>
              </a:extLst>
            </p:cNvPr>
            <p:cNvSpPr/>
            <p:nvPr/>
          </p:nvSpPr>
          <p:spPr>
            <a:xfrm>
              <a:off x="223949" y="4714317"/>
              <a:ext cx="1346837" cy="288000"/>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D</a:t>
              </a:r>
              <a:r>
                <a:rPr kumimoji="0" lang="es-ES" sz="900" b="0" i="0" u="none" strike="noStrike" kern="1200" cap="none" spc="0" normalizeH="0" baseline="0" noProof="0" dirty="0">
                  <a:ln>
                    <a:noFill/>
                  </a:ln>
                  <a:solidFill>
                    <a:srgbClr val="000000"/>
                  </a:solidFill>
                  <a:effectLst/>
                  <a:uLnTx/>
                  <a:uFillTx/>
                  <a:latin typeface="Graphik"/>
                  <a:ea typeface="+mn-ea"/>
                  <a:cs typeface="+mn-cs"/>
                </a:rPr>
                <a:t>a</a:t>
              </a:r>
              <a:r>
                <a:rPr kumimoji="0" lang="es" sz="900" b="0" i="0" u="none" strike="noStrike" kern="1200" cap="none" spc="0" normalizeH="0" baseline="0" noProof="0">
                  <a:ln>
                    <a:noFill/>
                  </a:ln>
                  <a:solidFill>
                    <a:srgbClr val="000000"/>
                  </a:solidFill>
                  <a:effectLst/>
                  <a:uLnTx/>
                  <a:uFillTx/>
                  <a:latin typeface="Graphik"/>
                  <a:ea typeface="+mn-ea"/>
                  <a:cs typeface="+mn-cs"/>
                </a:rPr>
                <a:t>ta Lakes</a:t>
              </a:r>
              <a:endParaRPr kumimoji="0" lang="es" sz="900" b="0" i="0" u="none" strike="noStrike" kern="1200" cap="none" spc="0" normalizeH="0" baseline="0" noProof="0" dirty="0">
                <a:ln>
                  <a:noFill/>
                </a:ln>
                <a:solidFill>
                  <a:srgbClr val="000000"/>
                </a:solidFill>
                <a:effectLst/>
                <a:uLnTx/>
                <a:uFillTx/>
                <a:latin typeface="Graphik"/>
                <a:ea typeface="+mn-ea"/>
                <a:cs typeface="+mn-cs"/>
              </a:endParaRPr>
            </a:p>
          </p:txBody>
        </p:sp>
        <p:sp>
          <p:nvSpPr>
            <p:cNvPr id="71" name="Rectangle 70">
              <a:extLst>
                <a:ext uri="{FF2B5EF4-FFF2-40B4-BE49-F238E27FC236}">
                  <a16:creationId xmlns:a16="http://schemas.microsoft.com/office/drawing/2014/main" id="{3BB4317B-A9F9-D15A-C3B7-B50E6D0314B9}"/>
                </a:ext>
              </a:extLst>
            </p:cNvPr>
            <p:cNvSpPr/>
            <p:nvPr/>
          </p:nvSpPr>
          <p:spPr>
            <a:xfrm>
              <a:off x="223950" y="3285908"/>
              <a:ext cx="1346837" cy="288000"/>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Datos externos</a:t>
              </a:r>
            </a:p>
          </p:txBody>
        </p:sp>
        <p:sp>
          <p:nvSpPr>
            <p:cNvPr id="72" name="Rectangle 71">
              <a:extLst>
                <a:ext uri="{FF2B5EF4-FFF2-40B4-BE49-F238E27FC236}">
                  <a16:creationId xmlns:a16="http://schemas.microsoft.com/office/drawing/2014/main" id="{56053CA9-1B3D-795F-DC38-44D5BC2B70B1}"/>
                </a:ext>
              </a:extLst>
            </p:cNvPr>
            <p:cNvSpPr/>
            <p:nvPr/>
          </p:nvSpPr>
          <p:spPr>
            <a:xfrm>
              <a:off x="223950" y="3978788"/>
              <a:ext cx="1346837" cy="288000"/>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Almacenes de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Datos en la Nube</a:t>
              </a:r>
            </a:p>
          </p:txBody>
        </p:sp>
        <p:sp>
          <p:nvSpPr>
            <p:cNvPr id="73" name="Rectangle 72">
              <a:extLst>
                <a:ext uri="{FF2B5EF4-FFF2-40B4-BE49-F238E27FC236}">
                  <a16:creationId xmlns:a16="http://schemas.microsoft.com/office/drawing/2014/main" id="{95314672-1F76-EEC7-2472-8DB90DCC22A5}"/>
                </a:ext>
              </a:extLst>
            </p:cNvPr>
            <p:cNvSpPr/>
            <p:nvPr/>
          </p:nvSpPr>
          <p:spPr>
            <a:xfrm>
              <a:off x="223949" y="4342285"/>
              <a:ext cx="1346837" cy="288000"/>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DWH / BI</a:t>
              </a:r>
            </a:p>
          </p:txBody>
        </p:sp>
        <p:sp>
          <p:nvSpPr>
            <p:cNvPr id="74" name="Rectangle 73">
              <a:extLst>
                <a:ext uri="{FF2B5EF4-FFF2-40B4-BE49-F238E27FC236}">
                  <a16:creationId xmlns:a16="http://schemas.microsoft.com/office/drawing/2014/main" id="{B6B0BDC2-10E5-1F55-3E45-EC0D90A560A4}"/>
                </a:ext>
              </a:extLst>
            </p:cNvPr>
            <p:cNvSpPr/>
            <p:nvPr/>
          </p:nvSpPr>
          <p:spPr>
            <a:xfrm>
              <a:off x="223950" y="3632348"/>
              <a:ext cx="1346837" cy="288000"/>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Repositorios de Apps &amp; Docs</a:t>
              </a:r>
            </a:p>
          </p:txBody>
        </p:sp>
      </p:grpSp>
      <p:sp>
        <p:nvSpPr>
          <p:cNvPr id="75" name="Rectangle 74">
            <a:extLst>
              <a:ext uri="{FF2B5EF4-FFF2-40B4-BE49-F238E27FC236}">
                <a16:creationId xmlns:a16="http://schemas.microsoft.com/office/drawing/2014/main" id="{C21BDE3C-7D28-77BA-A3BA-55F030DF8C92}"/>
              </a:ext>
            </a:extLst>
          </p:cNvPr>
          <p:cNvSpPr/>
          <p:nvPr/>
        </p:nvSpPr>
        <p:spPr>
          <a:xfrm>
            <a:off x="2314208" y="1940282"/>
            <a:ext cx="1035960" cy="28800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Integración de datos por Lotes</a:t>
            </a:r>
          </a:p>
        </p:txBody>
      </p:sp>
      <p:sp>
        <p:nvSpPr>
          <p:cNvPr id="76" name="Rectangle 75">
            <a:extLst>
              <a:ext uri="{FF2B5EF4-FFF2-40B4-BE49-F238E27FC236}">
                <a16:creationId xmlns:a16="http://schemas.microsoft.com/office/drawing/2014/main" id="{9254AB9A-B762-081C-6EE8-E5B0760EB47A}"/>
              </a:ext>
            </a:extLst>
          </p:cNvPr>
          <p:cNvSpPr/>
          <p:nvPr/>
        </p:nvSpPr>
        <p:spPr>
          <a:xfrm>
            <a:off x="2309837" y="1231663"/>
            <a:ext cx="1035960" cy="28800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Integración de flujos de datos</a:t>
            </a:r>
          </a:p>
        </p:txBody>
      </p:sp>
      <p:sp>
        <p:nvSpPr>
          <p:cNvPr id="77" name="Rectangle 76">
            <a:extLst>
              <a:ext uri="{FF2B5EF4-FFF2-40B4-BE49-F238E27FC236}">
                <a16:creationId xmlns:a16="http://schemas.microsoft.com/office/drawing/2014/main" id="{6DB2ADF1-908E-11EF-0813-CEDE928A2961}"/>
              </a:ext>
            </a:extLst>
          </p:cNvPr>
          <p:cNvSpPr/>
          <p:nvPr/>
        </p:nvSpPr>
        <p:spPr>
          <a:xfrm>
            <a:off x="7704551" y="4525206"/>
            <a:ext cx="2465469" cy="28800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Replicación de datos</a:t>
            </a:r>
          </a:p>
        </p:txBody>
      </p:sp>
      <p:sp>
        <p:nvSpPr>
          <p:cNvPr id="78" name="Rectangle 77">
            <a:extLst>
              <a:ext uri="{FF2B5EF4-FFF2-40B4-BE49-F238E27FC236}">
                <a16:creationId xmlns:a16="http://schemas.microsoft.com/office/drawing/2014/main" id="{1A3825E3-C12C-36B5-C8C9-B8F50A140575}"/>
              </a:ext>
            </a:extLst>
          </p:cNvPr>
          <p:cNvSpPr/>
          <p:nvPr/>
        </p:nvSpPr>
        <p:spPr>
          <a:xfrm>
            <a:off x="7704551" y="4892240"/>
            <a:ext cx="1122444" cy="287999"/>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ODS (Modelo de Datos Unificado)</a:t>
            </a:r>
          </a:p>
        </p:txBody>
      </p:sp>
      <p:sp>
        <p:nvSpPr>
          <p:cNvPr id="79" name="Rectangle 78">
            <a:extLst>
              <a:ext uri="{FF2B5EF4-FFF2-40B4-BE49-F238E27FC236}">
                <a16:creationId xmlns:a16="http://schemas.microsoft.com/office/drawing/2014/main" id="{FB4053CF-AF01-6F03-A23A-9F45E1CEF6C8}"/>
              </a:ext>
            </a:extLst>
          </p:cNvPr>
          <p:cNvSpPr/>
          <p:nvPr/>
        </p:nvSpPr>
        <p:spPr>
          <a:xfrm>
            <a:off x="8924559" y="4892240"/>
            <a:ext cx="1245461" cy="287999"/>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Lake House</a:t>
            </a:r>
          </a:p>
        </p:txBody>
      </p:sp>
      <p:sp>
        <p:nvSpPr>
          <p:cNvPr id="80" name="Rectangle 79">
            <a:extLst>
              <a:ext uri="{FF2B5EF4-FFF2-40B4-BE49-F238E27FC236}">
                <a16:creationId xmlns:a16="http://schemas.microsoft.com/office/drawing/2014/main" id="{11E01D4E-48F7-7E4A-EC6E-35DAD52213D7}"/>
              </a:ext>
            </a:extLst>
          </p:cNvPr>
          <p:cNvSpPr/>
          <p:nvPr/>
        </p:nvSpPr>
        <p:spPr>
          <a:xfrm>
            <a:off x="7687235" y="2756839"/>
            <a:ext cx="2465469" cy="28800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Virtualización de datos</a:t>
            </a:r>
          </a:p>
        </p:txBody>
      </p:sp>
      <p:sp>
        <p:nvSpPr>
          <p:cNvPr id="81" name="Rectangle 80">
            <a:extLst>
              <a:ext uri="{FF2B5EF4-FFF2-40B4-BE49-F238E27FC236}">
                <a16:creationId xmlns:a16="http://schemas.microsoft.com/office/drawing/2014/main" id="{55531A71-25B3-36BF-2B47-62624935D1A3}"/>
              </a:ext>
            </a:extLst>
          </p:cNvPr>
          <p:cNvSpPr/>
          <p:nvPr/>
        </p:nvSpPr>
        <p:spPr>
          <a:xfrm>
            <a:off x="8524207" y="3108714"/>
            <a:ext cx="764356" cy="287999"/>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Gobernanza de Datos</a:t>
            </a:r>
          </a:p>
        </p:txBody>
      </p:sp>
      <p:sp>
        <p:nvSpPr>
          <p:cNvPr id="82" name="Rectangle 81">
            <a:extLst>
              <a:ext uri="{FF2B5EF4-FFF2-40B4-BE49-F238E27FC236}">
                <a16:creationId xmlns:a16="http://schemas.microsoft.com/office/drawing/2014/main" id="{84805C25-24AC-8C22-7587-07ADC8EA1789}"/>
              </a:ext>
            </a:extLst>
          </p:cNvPr>
          <p:cNvSpPr/>
          <p:nvPr/>
        </p:nvSpPr>
        <p:spPr>
          <a:xfrm>
            <a:off x="9374638" y="3106053"/>
            <a:ext cx="751476" cy="287999"/>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Dominios de datos</a:t>
            </a:r>
          </a:p>
        </p:txBody>
      </p:sp>
      <p:sp>
        <p:nvSpPr>
          <p:cNvPr id="83" name="Rectangle: Rounded Corners 82">
            <a:extLst>
              <a:ext uri="{FF2B5EF4-FFF2-40B4-BE49-F238E27FC236}">
                <a16:creationId xmlns:a16="http://schemas.microsoft.com/office/drawing/2014/main" id="{BE2E567E-FC69-C836-C417-86A359D11EA2}"/>
              </a:ext>
            </a:extLst>
          </p:cNvPr>
          <p:cNvSpPr/>
          <p:nvPr/>
        </p:nvSpPr>
        <p:spPr>
          <a:xfrm>
            <a:off x="10489890" y="2145133"/>
            <a:ext cx="1583036" cy="2950344"/>
          </a:xfrm>
          <a:prstGeom prst="roundRect">
            <a:avLst>
              <a:gd name="adj" fmla="val 7682"/>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Consumo de datos</a:t>
            </a:r>
          </a:p>
        </p:txBody>
      </p:sp>
      <p:sp>
        <p:nvSpPr>
          <p:cNvPr id="84" name="Rectangle 83">
            <a:extLst>
              <a:ext uri="{FF2B5EF4-FFF2-40B4-BE49-F238E27FC236}">
                <a16:creationId xmlns:a16="http://schemas.microsoft.com/office/drawing/2014/main" id="{C2A36C50-0F65-DBBA-93DC-0060B3B79440}"/>
              </a:ext>
            </a:extLst>
          </p:cNvPr>
          <p:cNvSpPr/>
          <p:nvPr/>
        </p:nvSpPr>
        <p:spPr>
          <a:xfrm>
            <a:off x="10629303" y="3058348"/>
            <a:ext cx="1346837" cy="288000"/>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APIs</a:t>
            </a:r>
          </a:p>
        </p:txBody>
      </p:sp>
      <p:sp>
        <p:nvSpPr>
          <p:cNvPr id="85" name="Rectangle 84">
            <a:extLst>
              <a:ext uri="{FF2B5EF4-FFF2-40B4-BE49-F238E27FC236}">
                <a16:creationId xmlns:a16="http://schemas.microsoft.com/office/drawing/2014/main" id="{64312FE4-BE2E-EEA8-F38A-FBA11879933A}"/>
              </a:ext>
            </a:extLst>
          </p:cNvPr>
          <p:cNvSpPr/>
          <p:nvPr/>
        </p:nvSpPr>
        <p:spPr>
          <a:xfrm>
            <a:off x="10629303" y="3795572"/>
            <a:ext cx="1346837" cy="288000"/>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Analítica</a:t>
            </a:r>
          </a:p>
        </p:txBody>
      </p:sp>
      <p:sp>
        <p:nvSpPr>
          <p:cNvPr id="86" name="Rectangle 85">
            <a:extLst>
              <a:ext uri="{FF2B5EF4-FFF2-40B4-BE49-F238E27FC236}">
                <a16:creationId xmlns:a16="http://schemas.microsoft.com/office/drawing/2014/main" id="{024D33D8-8F4D-CA61-098A-9E0758D58627}"/>
              </a:ext>
            </a:extLst>
          </p:cNvPr>
          <p:cNvSpPr/>
          <p:nvPr/>
        </p:nvSpPr>
        <p:spPr>
          <a:xfrm>
            <a:off x="531578" y="1126163"/>
            <a:ext cx="1122444" cy="288000"/>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Streaming de eventos</a:t>
            </a:r>
          </a:p>
        </p:txBody>
      </p:sp>
      <p:sp>
        <p:nvSpPr>
          <p:cNvPr id="87" name="Rectangle 86">
            <a:extLst>
              <a:ext uri="{FF2B5EF4-FFF2-40B4-BE49-F238E27FC236}">
                <a16:creationId xmlns:a16="http://schemas.microsoft.com/office/drawing/2014/main" id="{BD8BBFD4-9D25-5034-CC77-8BBFDEB36BAD}"/>
              </a:ext>
            </a:extLst>
          </p:cNvPr>
          <p:cNvSpPr/>
          <p:nvPr/>
        </p:nvSpPr>
        <p:spPr>
          <a:xfrm>
            <a:off x="2362791" y="1555231"/>
            <a:ext cx="930052" cy="287999"/>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CDC</a:t>
            </a:r>
          </a:p>
        </p:txBody>
      </p:sp>
      <p:sp>
        <p:nvSpPr>
          <p:cNvPr id="88" name="Rectangle 87">
            <a:extLst>
              <a:ext uri="{FF2B5EF4-FFF2-40B4-BE49-F238E27FC236}">
                <a16:creationId xmlns:a16="http://schemas.microsoft.com/office/drawing/2014/main" id="{B01836CC-B6C6-CB5E-3A11-E0B36C142041}"/>
              </a:ext>
            </a:extLst>
          </p:cNvPr>
          <p:cNvSpPr/>
          <p:nvPr/>
        </p:nvSpPr>
        <p:spPr>
          <a:xfrm>
            <a:off x="2346390" y="2283099"/>
            <a:ext cx="930052" cy="287999"/>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ETLs / ELTs</a:t>
            </a:r>
          </a:p>
        </p:txBody>
      </p:sp>
      <p:grpSp>
        <p:nvGrpSpPr>
          <p:cNvPr id="89" name="Group 88">
            <a:extLst>
              <a:ext uri="{FF2B5EF4-FFF2-40B4-BE49-F238E27FC236}">
                <a16:creationId xmlns:a16="http://schemas.microsoft.com/office/drawing/2014/main" id="{985C1D4B-7B20-07B4-D9D1-D29974CD88E3}"/>
              </a:ext>
            </a:extLst>
          </p:cNvPr>
          <p:cNvGrpSpPr/>
          <p:nvPr/>
        </p:nvGrpSpPr>
        <p:grpSpPr>
          <a:xfrm>
            <a:off x="3539644" y="2756839"/>
            <a:ext cx="3591854" cy="1833376"/>
            <a:chOff x="3115306" y="2432376"/>
            <a:chExt cx="3591854" cy="1833376"/>
          </a:xfrm>
        </p:grpSpPr>
        <p:sp>
          <p:nvSpPr>
            <p:cNvPr id="90" name="Rectangle 89">
              <a:extLst>
                <a:ext uri="{FF2B5EF4-FFF2-40B4-BE49-F238E27FC236}">
                  <a16:creationId xmlns:a16="http://schemas.microsoft.com/office/drawing/2014/main" id="{AF82C012-7BC9-98CF-DBCF-A4D232752729}"/>
                </a:ext>
              </a:extLst>
            </p:cNvPr>
            <p:cNvSpPr/>
            <p:nvPr/>
          </p:nvSpPr>
          <p:spPr>
            <a:xfrm>
              <a:off x="3279107" y="2432376"/>
              <a:ext cx="3272597" cy="28800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Catálogo de datos</a:t>
              </a:r>
            </a:p>
          </p:txBody>
        </p:sp>
        <p:sp>
          <p:nvSpPr>
            <p:cNvPr id="91" name="Cylinder 90">
              <a:extLst>
                <a:ext uri="{FF2B5EF4-FFF2-40B4-BE49-F238E27FC236}">
                  <a16:creationId xmlns:a16="http://schemas.microsoft.com/office/drawing/2014/main" id="{A765AADB-1156-C209-38F8-DF2D33A81BEC}"/>
                </a:ext>
              </a:extLst>
            </p:cNvPr>
            <p:cNvSpPr/>
            <p:nvPr/>
          </p:nvSpPr>
          <p:spPr>
            <a:xfrm>
              <a:off x="3867416" y="3852427"/>
              <a:ext cx="751476" cy="409529"/>
            </a:xfrm>
            <a:prstGeom prst="can">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Inventario de datos</a:t>
              </a:r>
              <a:endParaRPr kumimoji="0" lang="es-MX" sz="900" b="0" i="0" u="none" strike="noStrike" kern="1200" cap="none" spc="0" normalizeH="0" baseline="0" noProof="0">
                <a:ln>
                  <a:noFill/>
                </a:ln>
                <a:solidFill>
                  <a:srgbClr val="000000"/>
                </a:solidFill>
                <a:effectLst/>
                <a:uLnTx/>
                <a:uFillTx/>
                <a:latin typeface="Graphik"/>
                <a:ea typeface="+mn-ea"/>
                <a:cs typeface="+mn-cs"/>
              </a:endParaRPr>
            </a:p>
          </p:txBody>
        </p:sp>
        <p:sp>
          <p:nvSpPr>
            <p:cNvPr id="92" name="Cylinder 91">
              <a:extLst>
                <a:ext uri="{FF2B5EF4-FFF2-40B4-BE49-F238E27FC236}">
                  <a16:creationId xmlns:a16="http://schemas.microsoft.com/office/drawing/2014/main" id="{7A0C7A75-F058-B8C6-A571-829442E95421}"/>
                </a:ext>
              </a:extLst>
            </p:cNvPr>
            <p:cNvSpPr/>
            <p:nvPr/>
          </p:nvSpPr>
          <p:spPr>
            <a:xfrm>
              <a:off x="5143137" y="3852428"/>
              <a:ext cx="751476" cy="413324"/>
            </a:xfrm>
            <a:prstGeom prst="can">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Repositorio de metadatos</a:t>
              </a:r>
              <a:endParaRPr kumimoji="0" lang="es-MX" sz="900" b="0" i="0" u="none" strike="noStrike" kern="1200" cap="none" spc="0" normalizeH="0" baseline="0" noProof="0" dirty="0">
                <a:ln>
                  <a:noFill/>
                </a:ln>
                <a:solidFill>
                  <a:srgbClr val="000000"/>
                </a:solidFill>
                <a:effectLst/>
                <a:uLnTx/>
                <a:uFillTx/>
                <a:latin typeface="Graphik"/>
                <a:ea typeface="+mn-ea"/>
                <a:cs typeface="+mn-cs"/>
              </a:endParaRPr>
            </a:p>
          </p:txBody>
        </p:sp>
        <p:grpSp>
          <p:nvGrpSpPr>
            <p:cNvPr id="93" name="Group 92">
              <a:extLst>
                <a:ext uri="{FF2B5EF4-FFF2-40B4-BE49-F238E27FC236}">
                  <a16:creationId xmlns:a16="http://schemas.microsoft.com/office/drawing/2014/main" id="{903E456C-F9FE-E559-98A7-FE72CE589F8D}"/>
                </a:ext>
              </a:extLst>
            </p:cNvPr>
            <p:cNvGrpSpPr/>
            <p:nvPr/>
          </p:nvGrpSpPr>
          <p:grpSpPr>
            <a:xfrm>
              <a:off x="3115306" y="2823659"/>
              <a:ext cx="3591854" cy="801792"/>
              <a:chOff x="3354252" y="1889360"/>
              <a:chExt cx="3591854" cy="801792"/>
            </a:xfrm>
          </p:grpSpPr>
          <p:sp>
            <p:nvSpPr>
              <p:cNvPr id="96" name="Rectangle: Rounded Corners 95">
                <a:extLst>
                  <a:ext uri="{FF2B5EF4-FFF2-40B4-BE49-F238E27FC236}">
                    <a16:creationId xmlns:a16="http://schemas.microsoft.com/office/drawing/2014/main" id="{F7822664-8C43-D9CF-F5FA-0DCD9067C418}"/>
                  </a:ext>
                </a:extLst>
              </p:cNvPr>
              <p:cNvSpPr/>
              <p:nvPr/>
            </p:nvSpPr>
            <p:spPr>
              <a:xfrm>
                <a:off x="3361610" y="1958432"/>
                <a:ext cx="3532721" cy="653842"/>
              </a:xfrm>
              <a:prstGeom prst="roundRect">
                <a:avLst>
                  <a:gd name="adj" fmla="val 50000"/>
                </a:avLst>
              </a:prstGeom>
              <a:solidFill>
                <a:schemeClr val="bg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400" b="0" i="0" u="none" strike="noStrike" kern="1200" cap="none" spc="0" normalizeH="0" baseline="0" noProof="0">
                  <a:ln>
                    <a:noFill/>
                  </a:ln>
                  <a:solidFill>
                    <a:srgbClr val="000000"/>
                  </a:solidFill>
                  <a:effectLst/>
                  <a:uLnTx/>
                  <a:uFillTx/>
                  <a:latin typeface="Graphik"/>
                  <a:ea typeface="+mn-ea"/>
                  <a:cs typeface="+mn-cs"/>
                </a:endParaRPr>
              </a:p>
            </p:txBody>
          </p:sp>
          <p:sp>
            <p:nvSpPr>
              <p:cNvPr id="97" name="Rectangle 96">
                <a:extLst>
                  <a:ext uri="{FF2B5EF4-FFF2-40B4-BE49-F238E27FC236}">
                    <a16:creationId xmlns:a16="http://schemas.microsoft.com/office/drawing/2014/main" id="{A024316B-5BB3-0CAB-E49E-C5C4E4FFE65C}"/>
                  </a:ext>
                </a:extLst>
              </p:cNvPr>
              <p:cNvSpPr/>
              <p:nvPr/>
            </p:nvSpPr>
            <p:spPr>
              <a:xfrm>
                <a:off x="3540033" y="2151666"/>
                <a:ext cx="1015922" cy="287999"/>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Descubrimiento de datos</a:t>
                </a:r>
              </a:p>
            </p:txBody>
          </p:sp>
          <p:sp>
            <p:nvSpPr>
              <p:cNvPr id="98" name="Rectangle 97">
                <a:extLst>
                  <a:ext uri="{FF2B5EF4-FFF2-40B4-BE49-F238E27FC236}">
                    <a16:creationId xmlns:a16="http://schemas.microsoft.com/office/drawing/2014/main" id="{C008C1EE-CE45-BD35-6DDE-0523824FE160}"/>
                  </a:ext>
                </a:extLst>
              </p:cNvPr>
              <p:cNvSpPr/>
              <p:nvPr/>
            </p:nvSpPr>
            <p:spPr>
              <a:xfrm>
                <a:off x="4637482" y="2150382"/>
                <a:ext cx="1087039" cy="287999"/>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Responsabilidad y Gobernanza</a:t>
                </a:r>
              </a:p>
            </p:txBody>
          </p:sp>
          <p:sp>
            <p:nvSpPr>
              <p:cNvPr id="99" name="Rectangle 98">
                <a:extLst>
                  <a:ext uri="{FF2B5EF4-FFF2-40B4-BE49-F238E27FC236}">
                    <a16:creationId xmlns:a16="http://schemas.microsoft.com/office/drawing/2014/main" id="{52F98366-AD45-F033-40F0-52F911E2BEF2}"/>
                  </a:ext>
                </a:extLst>
              </p:cNvPr>
              <p:cNvSpPr/>
              <p:nvPr/>
            </p:nvSpPr>
            <p:spPr>
              <a:xfrm>
                <a:off x="5789410" y="2150382"/>
                <a:ext cx="959804" cy="287999"/>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Perfilado  de datos y calidad</a:t>
                </a:r>
              </a:p>
            </p:txBody>
          </p:sp>
          <p:sp>
            <p:nvSpPr>
              <p:cNvPr id="100" name="TextBox 99">
                <a:extLst>
                  <a:ext uri="{FF2B5EF4-FFF2-40B4-BE49-F238E27FC236}">
                    <a16:creationId xmlns:a16="http://schemas.microsoft.com/office/drawing/2014/main" id="{E4489438-2522-70D5-C2E4-B47B6A5CE58A}"/>
                  </a:ext>
                </a:extLst>
              </p:cNvPr>
              <p:cNvSpPr txBox="1"/>
              <p:nvPr/>
            </p:nvSpPr>
            <p:spPr>
              <a:xfrm>
                <a:off x="3990683" y="1889360"/>
                <a:ext cx="2233556" cy="167473"/>
              </a:xfrm>
              <a:prstGeom prst="rect">
                <a:avLst/>
              </a:prstGeom>
              <a:solidFill>
                <a:schemeClr val="bg1"/>
              </a:solidFill>
            </p:spPr>
            <p:txBody>
              <a:bodyPr wrap="square" lIns="0" tIns="0" rIns="0" bIns="0" rtlCol="0">
                <a:noAutofit/>
              </a:bodyPr>
              <a:lstStyle/>
              <a:p>
                <a:pPr marL="0" marR="0" lvl="0" indent="0" algn="ctr" defTabSz="228600" rtl="0" eaLnBrk="1" fontAlgn="auto" latinLnBrk="0" hangingPunct="1">
                  <a:lnSpc>
                    <a:spcPct val="100000"/>
                  </a:lnSpc>
                  <a:spcBef>
                    <a:spcPts val="0"/>
                  </a:spcBef>
                  <a:spcAft>
                    <a:spcPts val="120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Utiliza el </a:t>
                </a:r>
                <a:r>
                  <a:rPr lang="es" sz="900" dirty="0">
                    <a:solidFill>
                      <a:srgbClr val="000000"/>
                    </a:solidFill>
                    <a:latin typeface="Graphik"/>
                  </a:rPr>
                  <a:t>ML pa</a:t>
                </a:r>
                <a:r>
                  <a:rPr kumimoji="0" lang="es" sz="900" b="0" i="0" u="none" strike="noStrike" kern="1200" cap="none" spc="0" normalizeH="0" baseline="0" noProof="0" dirty="0">
                    <a:ln>
                      <a:noFill/>
                    </a:ln>
                    <a:solidFill>
                      <a:srgbClr val="000000"/>
                    </a:solidFill>
                    <a:effectLst/>
                    <a:uLnTx/>
                    <a:uFillTx/>
                    <a:latin typeface="Graphik"/>
                    <a:ea typeface="+mn-ea"/>
                    <a:cs typeface="+mn-cs"/>
                  </a:rPr>
                  <a:t>ra automatizar procesos</a:t>
                </a:r>
                <a:endParaRPr kumimoji="0" lang="es-MX" sz="900" b="0" i="0" u="none" strike="noStrike" kern="1200" cap="none" spc="0" normalizeH="0" baseline="0" noProof="0" dirty="0">
                  <a:ln>
                    <a:noFill/>
                  </a:ln>
                  <a:solidFill>
                    <a:srgbClr val="000000"/>
                  </a:solidFill>
                  <a:effectLst/>
                  <a:uLnTx/>
                  <a:uFillTx/>
                  <a:latin typeface="Graphik"/>
                  <a:ea typeface="+mn-ea"/>
                  <a:cs typeface="+mn-cs"/>
                </a:endParaRPr>
              </a:p>
            </p:txBody>
          </p:sp>
          <p:sp>
            <p:nvSpPr>
              <p:cNvPr id="101" name="Isosceles Triangle 100">
                <a:extLst>
                  <a:ext uri="{FF2B5EF4-FFF2-40B4-BE49-F238E27FC236}">
                    <a16:creationId xmlns:a16="http://schemas.microsoft.com/office/drawing/2014/main" id="{B95BEEBC-5D8D-A4FA-B2EB-E64CE8FDFDA7}"/>
                  </a:ext>
                </a:extLst>
              </p:cNvPr>
              <p:cNvSpPr/>
              <p:nvPr/>
            </p:nvSpPr>
            <p:spPr>
              <a:xfrm rot="5400000">
                <a:off x="6324256" y="1932137"/>
                <a:ext cx="144000" cy="72000"/>
              </a:xfrm>
              <a:prstGeom prst="triangl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400" b="0" i="0" u="none" strike="noStrike" kern="1200" cap="none" spc="0" normalizeH="0" baseline="0" noProof="0">
                  <a:ln>
                    <a:noFill/>
                  </a:ln>
                  <a:solidFill>
                    <a:srgbClr val="000000"/>
                  </a:solidFill>
                  <a:effectLst/>
                  <a:uLnTx/>
                  <a:uFillTx/>
                  <a:latin typeface="Graphik"/>
                  <a:ea typeface="+mn-ea"/>
                  <a:cs typeface="+mn-cs"/>
                </a:endParaRPr>
              </a:p>
            </p:txBody>
          </p:sp>
          <p:sp>
            <p:nvSpPr>
              <p:cNvPr id="102" name="Isosceles Triangle 101">
                <a:extLst>
                  <a:ext uri="{FF2B5EF4-FFF2-40B4-BE49-F238E27FC236}">
                    <a16:creationId xmlns:a16="http://schemas.microsoft.com/office/drawing/2014/main" id="{4A209ECE-B7D4-32FF-9389-23C27AEA481F}"/>
                  </a:ext>
                </a:extLst>
              </p:cNvPr>
              <p:cNvSpPr/>
              <p:nvPr/>
            </p:nvSpPr>
            <p:spPr>
              <a:xfrm rot="12399715">
                <a:off x="6802106" y="2349427"/>
                <a:ext cx="144000" cy="72000"/>
              </a:xfrm>
              <a:prstGeom prst="triangl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400" b="0" i="0" u="none" strike="noStrike" kern="1200" cap="none" spc="0" normalizeH="0" baseline="0" noProof="0">
                  <a:ln>
                    <a:noFill/>
                  </a:ln>
                  <a:solidFill>
                    <a:srgbClr val="000000"/>
                  </a:solidFill>
                  <a:effectLst/>
                  <a:uLnTx/>
                  <a:uFillTx/>
                  <a:latin typeface="Graphik"/>
                  <a:ea typeface="+mn-ea"/>
                  <a:cs typeface="+mn-cs"/>
                </a:endParaRPr>
              </a:p>
            </p:txBody>
          </p:sp>
          <p:sp>
            <p:nvSpPr>
              <p:cNvPr id="103" name="Isosceles Triangle 102">
                <a:extLst>
                  <a:ext uri="{FF2B5EF4-FFF2-40B4-BE49-F238E27FC236}">
                    <a16:creationId xmlns:a16="http://schemas.microsoft.com/office/drawing/2014/main" id="{73497C1F-8EEB-ADD3-ED3C-AA6E33A3FABE}"/>
                  </a:ext>
                </a:extLst>
              </p:cNvPr>
              <p:cNvSpPr/>
              <p:nvPr/>
            </p:nvSpPr>
            <p:spPr>
              <a:xfrm rot="16200000" flipH="1">
                <a:off x="6026995" y="2581827"/>
                <a:ext cx="144000" cy="72000"/>
              </a:xfrm>
              <a:prstGeom prst="triangl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400" b="0" i="0" u="none" strike="noStrike" kern="1200" cap="none" spc="0" normalizeH="0" baseline="0" noProof="0">
                  <a:ln>
                    <a:noFill/>
                  </a:ln>
                  <a:solidFill>
                    <a:srgbClr val="000000"/>
                  </a:solidFill>
                  <a:effectLst/>
                  <a:uLnTx/>
                  <a:uFillTx/>
                  <a:latin typeface="Graphik"/>
                  <a:ea typeface="+mn-ea"/>
                  <a:cs typeface="+mn-cs"/>
                </a:endParaRPr>
              </a:p>
            </p:txBody>
          </p:sp>
          <p:sp>
            <p:nvSpPr>
              <p:cNvPr id="104" name="Isosceles Triangle 103">
                <a:extLst>
                  <a:ext uri="{FF2B5EF4-FFF2-40B4-BE49-F238E27FC236}">
                    <a16:creationId xmlns:a16="http://schemas.microsoft.com/office/drawing/2014/main" id="{C2365132-44DA-6312-CF0B-781AC4FF77B5}"/>
                  </a:ext>
                </a:extLst>
              </p:cNvPr>
              <p:cNvSpPr/>
              <p:nvPr/>
            </p:nvSpPr>
            <p:spPr>
              <a:xfrm rot="16200000" flipH="1">
                <a:off x="4302887" y="2583152"/>
                <a:ext cx="144000" cy="72000"/>
              </a:xfrm>
              <a:prstGeom prst="triangl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400" b="0" i="0" u="none" strike="noStrike" kern="1200" cap="none" spc="0" normalizeH="0" baseline="0" noProof="0">
                  <a:ln>
                    <a:noFill/>
                  </a:ln>
                  <a:solidFill>
                    <a:srgbClr val="000000"/>
                  </a:solidFill>
                  <a:effectLst/>
                  <a:uLnTx/>
                  <a:uFillTx/>
                  <a:latin typeface="Graphik"/>
                  <a:ea typeface="+mn-ea"/>
                  <a:cs typeface="+mn-cs"/>
                </a:endParaRPr>
              </a:p>
            </p:txBody>
          </p:sp>
          <p:sp>
            <p:nvSpPr>
              <p:cNvPr id="105" name="Isosceles Triangle 104">
                <a:extLst>
                  <a:ext uri="{FF2B5EF4-FFF2-40B4-BE49-F238E27FC236}">
                    <a16:creationId xmlns:a16="http://schemas.microsoft.com/office/drawing/2014/main" id="{3B63E7C9-BE3D-A5EC-ECB3-F6FCA7B0B8DF}"/>
                  </a:ext>
                </a:extLst>
              </p:cNvPr>
              <p:cNvSpPr/>
              <p:nvPr/>
            </p:nvSpPr>
            <p:spPr>
              <a:xfrm rot="18647906" flipH="1">
                <a:off x="3318252" y="2377744"/>
                <a:ext cx="144000" cy="72000"/>
              </a:xfrm>
              <a:prstGeom prst="triangl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400" b="0" i="0" u="none" strike="noStrike" kern="1200" cap="none" spc="0" normalizeH="0" baseline="0" noProof="0">
                  <a:ln>
                    <a:noFill/>
                  </a:ln>
                  <a:solidFill>
                    <a:srgbClr val="000000"/>
                  </a:solidFill>
                  <a:effectLst/>
                  <a:uLnTx/>
                  <a:uFillTx/>
                  <a:latin typeface="Graphik"/>
                  <a:ea typeface="+mn-ea"/>
                  <a:cs typeface="+mn-cs"/>
                </a:endParaRPr>
              </a:p>
            </p:txBody>
          </p:sp>
          <p:sp>
            <p:nvSpPr>
              <p:cNvPr id="106" name="Isosceles Triangle 105">
                <a:extLst>
                  <a:ext uri="{FF2B5EF4-FFF2-40B4-BE49-F238E27FC236}">
                    <a16:creationId xmlns:a16="http://schemas.microsoft.com/office/drawing/2014/main" id="{5BCBD579-607A-B357-8342-910CC539DCEE}"/>
                  </a:ext>
                </a:extLst>
              </p:cNvPr>
              <p:cNvSpPr/>
              <p:nvPr/>
            </p:nvSpPr>
            <p:spPr>
              <a:xfrm rot="5400000">
                <a:off x="3765805" y="1930739"/>
                <a:ext cx="144000" cy="72000"/>
              </a:xfrm>
              <a:prstGeom prst="triangl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400" b="0" i="0" u="none" strike="noStrike" kern="1200" cap="none" spc="0" normalizeH="0" baseline="0" noProof="0">
                  <a:ln>
                    <a:noFill/>
                  </a:ln>
                  <a:solidFill>
                    <a:srgbClr val="000000"/>
                  </a:solidFill>
                  <a:effectLst/>
                  <a:uLnTx/>
                  <a:uFillTx/>
                  <a:latin typeface="Graphik"/>
                  <a:ea typeface="+mn-ea"/>
                  <a:cs typeface="+mn-cs"/>
                </a:endParaRPr>
              </a:p>
            </p:txBody>
          </p:sp>
        </p:grpSp>
        <p:sp>
          <p:nvSpPr>
            <p:cNvPr id="94" name="Arrow: Down 93">
              <a:extLst>
                <a:ext uri="{FF2B5EF4-FFF2-40B4-BE49-F238E27FC236}">
                  <a16:creationId xmlns:a16="http://schemas.microsoft.com/office/drawing/2014/main" id="{CE32DD6B-EC20-22CA-0097-DA4D4B7078E4}"/>
                </a:ext>
              </a:extLst>
            </p:cNvPr>
            <p:cNvSpPr/>
            <p:nvPr/>
          </p:nvSpPr>
          <p:spPr>
            <a:xfrm>
              <a:off x="4169300" y="3631385"/>
              <a:ext cx="147709" cy="180717"/>
            </a:xfrm>
            <a:prstGeom prst="down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400" b="0" i="0" u="none" strike="noStrike" kern="1200" cap="none" spc="0" normalizeH="0" baseline="0" noProof="0">
                <a:ln>
                  <a:noFill/>
                </a:ln>
                <a:solidFill>
                  <a:srgbClr val="000000"/>
                </a:solidFill>
                <a:effectLst/>
                <a:uLnTx/>
                <a:uFillTx/>
                <a:latin typeface="Graphik"/>
                <a:ea typeface="+mn-ea"/>
                <a:cs typeface="+mn-cs"/>
              </a:endParaRPr>
            </a:p>
          </p:txBody>
        </p:sp>
        <p:sp>
          <p:nvSpPr>
            <p:cNvPr id="95" name="Arrow: Down 94">
              <a:extLst>
                <a:ext uri="{FF2B5EF4-FFF2-40B4-BE49-F238E27FC236}">
                  <a16:creationId xmlns:a16="http://schemas.microsoft.com/office/drawing/2014/main" id="{588CD9FA-674A-89F5-93BA-F4BD3E14B1B9}"/>
                </a:ext>
              </a:extLst>
            </p:cNvPr>
            <p:cNvSpPr/>
            <p:nvPr/>
          </p:nvSpPr>
          <p:spPr>
            <a:xfrm>
              <a:off x="5465468" y="3631385"/>
              <a:ext cx="147709" cy="180717"/>
            </a:xfrm>
            <a:prstGeom prst="down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400" b="1" i="0" u="none" strike="noStrike" kern="1200" cap="none" spc="0" normalizeH="0" baseline="0" noProof="0">
                <a:ln>
                  <a:noFill/>
                </a:ln>
                <a:solidFill>
                  <a:srgbClr val="000000"/>
                </a:solidFill>
                <a:effectLst/>
                <a:uLnTx/>
                <a:uFillTx/>
                <a:latin typeface="Graphik"/>
                <a:ea typeface="+mn-ea"/>
                <a:cs typeface="+mn-cs"/>
              </a:endParaRPr>
            </a:p>
          </p:txBody>
        </p:sp>
      </p:grpSp>
      <p:sp>
        <p:nvSpPr>
          <p:cNvPr id="107" name="Rectangle 106">
            <a:extLst>
              <a:ext uri="{FF2B5EF4-FFF2-40B4-BE49-F238E27FC236}">
                <a16:creationId xmlns:a16="http://schemas.microsoft.com/office/drawing/2014/main" id="{0EBA33FD-E8E3-0ED9-24F9-A3B9B528A2D5}"/>
              </a:ext>
            </a:extLst>
          </p:cNvPr>
          <p:cNvSpPr/>
          <p:nvPr/>
        </p:nvSpPr>
        <p:spPr>
          <a:xfrm>
            <a:off x="10629303" y="4140168"/>
            <a:ext cx="1346837" cy="288000"/>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BI / Reportes</a:t>
            </a:r>
          </a:p>
        </p:txBody>
      </p:sp>
      <p:sp>
        <p:nvSpPr>
          <p:cNvPr id="108" name="Rectangle 107">
            <a:extLst>
              <a:ext uri="{FF2B5EF4-FFF2-40B4-BE49-F238E27FC236}">
                <a16:creationId xmlns:a16="http://schemas.microsoft.com/office/drawing/2014/main" id="{EF96BE6B-2F0C-9EA7-A293-A85D295453DC}"/>
              </a:ext>
            </a:extLst>
          </p:cNvPr>
          <p:cNvSpPr/>
          <p:nvPr/>
        </p:nvSpPr>
        <p:spPr>
          <a:xfrm>
            <a:off x="10629303" y="3434312"/>
            <a:ext cx="1346837" cy="288000"/>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Sandbox</a:t>
            </a:r>
          </a:p>
        </p:txBody>
      </p:sp>
      <p:cxnSp>
        <p:nvCxnSpPr>
          <p:cNvPr id="109" name="Connector: Elbow 108">
            <a:extLst>
              <a:ext uri="{FF2B5EF4-FFF2-40B4-BE49-F238E27FC236}">
                <a16:creationId xmlns:a16="http://schemas.microsoft.com/office/drawing/2014/main" id="{3EE928BA-904A-DAEC-9979-C5D4DAB2C346}"/>
              </a:ext>
            </a:extLst>
          </p:cNvPr>
          <p:cNvCxnSpPr>
            <a:cxnSpLocks/>
            <a:stCxn id="86" idx="3"/>
            <a:endCxn id="76" idx="1"/>
          </p:cNvCxnSpPr>
          <p:nvPr/>
        </p:nvCxnSpPr>
        <p:spPr>
          <a:xfrm>
            <a:off x="1654022" y="1270163"/>
            <a:ext cx="655815" cy="105500"/>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110" name="Group 109">
            <a:extLst>
              <a:ext uri="{FF2B5EF4-FFF2-40B4-BE49-F238E27FC236}">
                <a16:creationId xmlns:a16="http://schemas.microsoft.com/office/drawing/2014/main" id="{073AECD3-B836-05F5-459F-705BADCE8979}"/>
              </a:ext>
            </a:extLst>
          </p:cNvPr>
          <p:cNvGrpSpPr/>
          <p:nvPr/>
        </p:nvGrpSpPr>
        <p:grpSpPr>
          <a:xfrm>
            <a:off x="3699067" y="5599174"/>
            <a:ext cx="3273009" cy="901933"/>
            <a:chOff x="3458499" y="1543507"/>
            <a:chExt cx="3273009" cy="901933"/>
          </a:xfrm>
        </p:grpSpPr>
        <p:sp>
          <p:nvSpPr>
            <p:cNvPr id="111" name="Rectangle 110">
              <a:extLst>
                <a:ext uri="{FF2B5EF4-FFF2-40B4-BE49-F238E27FC236}">
                  <a16:creationId xmlns:a16="http://schemas.microsoft.com/office/drawing/2014/main" id="{DD9A07FF-7F30-FBEF-12EE-D03C50C55D94}"/>
                </a:ext>
              </a:extLst>
            </p:cNvPr>
            <p:cNvSpPr/>
            <p:nvPr/>
          </p:nvSpPr>
          <p:spPr>
            <a:xfrm>
              <a:off x="3458499" y="1543507"/>
              <a:ext cx="3273009" cy="28800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Gestión de metadatos</a:t>
              </a:r>
            </a:p>
          </p:txBody>
        </p:sp>
        <p:sp>
          <p:nvSpPr>
            <p:cNvPr id="112" name="Rectangle 111">
              <a:extLst>
                <a:ext uri="{FF2B5EF4-FFF2-40B4-BE49-F238E27FC236}">
                  <a16:creationId xmlns:a16="http://schemas.microsoft.com/office/drawing/2014/main" id="{10799EAE-9C2E-3817-8AC9-2CDECFC69087}"/>
                </a:ext>
              </a:extLst>
            </p:cNvPr>
            <p:cNvSpPr/>
            <p:nvPr/>
          </p:nvSpPr>
          <p:spPr>
            <a:xfrm>
              <a:off x="3507226" y="1912214"/>
              <a:ext cx="684393" cy="287999"/>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000000"/>
                  </a:solidFill>
                  <a:effectLst/>
                  <a:uLnTx/>
                  <a:uFillTx/>
                  <a:latin typeface="Graphik"/>
                  <a:ea typeface="+mn-ea"/>
                  <a:cs typeface="+mn-cs"/>
                </a:rPr>
                <a:t>Metadatos pasivos</a:t>
              </a:r>
            </a:p>
          </p:txBody>
        </p:sp>
        <p:sp>
          <p:nvSpPr>
            <p:cNvPr id="113" name="Rectangle 112">
              <a:extLst>
                <a:ext uri="{FF2B5EF4-FFF2-40B4-BE49-F238E27FC236}">
                  <a16:creationId xmlns:a16="http://schemas.microsoft.com/office/drawing/2014/main" id="{9C3A7FF3-0FEE-A56A-4F02-FD6DC46DAB97}"/>
                </a:ext>
              </a:extLst>
            </p:cNvPr>
            <p:cNvSpPr/>
            <p:nvPr/>
          </p:nvSpPr>
          <p:spPr>
            <a:xfrm>
              <a:off x="4327221" y="1904499"/>
              <a:ext cx="779683" cy="287999"/>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000000"/>
                  </a:solidFill>
                  <a:effectLst/>
                  <a:uLnTx/>
                  <a:uFillTx/>
                  <a:latin typeface="Graphik"/>
                  <a:ea typeface="+mn-ea"/>
                  <a:cs typeface="+mn-cs"/>
                </a:rPr>
                <a:t>Metadatos en tiempo de ejecución</a:t>
              </a:r>
            </a:p>
          </p:txBody>
        </p:sp>
        <p:cxnSp>
          <p:nvCxnSpPr>
            <p:cNvPr id="114" name="Connector: Curved 113">
              <a:extLst>
                <a:ext uri="{FF2B5EF4-FFF2-40B4-BE49-F238E27FC236}">
                  <a16:creationId xmlns:a16="http://schemas.microsoft.com/office/drawing/2014/main" id="{39D41E18-29BC-B907-CD3B-D9CE58DE0E5A}"/>
                </a:ext>
              </a:extLst>
            </p:cNvPr>
            <p:cNvCxnSpPr>
              <a:cxnSpLocks/>
            </p:cNvCxnSpPr>
            <p:nvPr/>
          </p:nvCxnSpPr>
          <p:spPr>
            <a:xfrm rot="5400000" flipH="1" flipV="1">
              <a:off x="4144629" y="1762536"/>
              <a:ext cx="7715" cy="867640"/>
            </a:xfrm>
            <a:prstGeom prst="curvedConnector3">
              <a:avLst>
                <a:gd name="adj1" fmla="val -2963059"/>
              </a:avLst>
            </a:prstGeom>
            <a:ln w="12700">
              <a:solidFill>
                <a:schemeClr val="accent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15" name="TextBox 114">
              <a:extLst>
                <a:ext uri="{FF2B5EF4-FFF2-40B4-BE49-F238E27FC236}">
                  <a16:creationId xmlns:a16="http://schemas.microsoft.com/office/drawing/2014/main" id="{433E250A-EFF9-41F2-6BF5-254ED3929908}"/>
                </a:ext>
              </a:extLst>
            </p:cNvPr>
            <p:cNvSpPr txBox="1"/>
            <p:nvPr/>
          </p:nvSpPr>
          <p:spPr>
            <a:xfrm>
              <a:off x="3722825" y="2261988"/>
              <a:ext cx="810071" cy="143092"/>
            </a:xfrm>
            <a:prstGeom prst="rect">
              <a:avLst/>
            </a:prstGeom>
            <a:noFill/>
          </p:spPr>
          <p:txBody>
            <a:bodyPr wrap="square" lIns="0" tIns="0" rIns="0" bIns="0" rtlCol="0">
              <a:noAutofit/>
            </a:bodyPr>
            <a:lstStyle/>
            <a:p>
              <a:pPr marL="0" marR="0" lvl="0" indent="0" algn="ctr" defTabSz="228600" rtl="0" eaLnBrk="1" fontAlgn="auto" latinLnBrk="0" hangingPunct="1">
                <a:lnSpc>
                  <a:spcPct val="100000"/>
                </a:lnSpc>
                <a:spcBef>
                  <a:spcPts val="0"/>
                </a:spcBef>
                <a:spcAft>
                  <a:spcPts val="120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Comparar</a:t>
              </a:r>
            </a:p>
          </p:txBody>
        </p:sp>
        <p:sp>
          <p:nvSpPr>
            <p:cNvPr id="116" name="Rectangle 115">
              <a:extLst>
                <a:ext uri="{FF2B5EF4-FFF2-40B4-BE49-F238E27FC236}">
                  <a16:creationId xmlns:a16="http://schemas.microsoft.com/office/drawing/2014/main" id="{6CDF7152-FCFD-F41E-E8F0-C85F33A0359D}"/>
                </a:ext>
              </a:extLst>
            </p:cNvPr>
            <p:cNvSpPr/>
            <p:nvPr/>
          </p:nvSpPr>
          <p:spPr>
            <a:xfrm>
              <a:off x="5232657" y="1904498"/>
              <a:ext cx="684393" cy="287999"/>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000000"/>
                  </a:solidFill>
                  <a:effectLst/>
                  <a:uLnTx/>
                  <a:uFillTx/>
                  <a:latin typeface="Graphik"/>
                  <a:ea typeface="+mn-ea"/>
                  <a:cs typeface="+mn-cs"/>
                </a:rPr>
                <a:t>Recomendaciones de IA / ML</a:t>
              </a:r>
            </a:p>
          </p:txBody>
        </p:sp>
        <p:cxnSp>
          <p:nvCxnSpPr>
            <p:cNvPr id="117" name="Connector: Curved 116">
              <a:extLst>
                <a:ext uri="{FF2B5EF4-FFF2-40B4-BE49-F238E27FC236}">
                  <a16:creationId xmlns:a16="http://schemas.microsoft.com/office/drawing/2014/main" id="{64AFAC6C-B743-EBDF-801C-1C5DA673E070}"/>
                </a:ext>
              </a:extLst>
            </p:cNvPr>
            <p:cNvCxnSpPr/>
            <p:nvPr/>
          </p:nvCxnSpPr>
          <p:spPr>
            <a:xfrm rot="5400000" flipH="1" flipV="1">
              <a:off x="5252204" y="1786409"/>
              <a:ext cx="7715" cy="835322"/>
            </a:xfrm>
            <a:prstGeom prst="curvedConnector3">
              <a:avLst>
                <a:gd name="adj1" fmla="val -2963059"/>
              </a:avLst>
            </a:prstGeom>
            <a:ln w="12700">
              <a:solidFill>
                <a:schemeClr val="accent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20" name="TextBox 119">
              <a:extLst>
                <a:ext uri="{FF2B5EF4-FFF2-40B4-BE49-F238E27FC236}">
                  <a16:creationId xmlns:a16="http://schemas.microsoft.com/office/drawing/2014/main" id="{DB5F3EF0-F831-E6D1-C1EE-3B72D639169C}"/>
                </a:ext>
              </a:extLst>
            </p:cNvPr>
            <p:cNvSpPr txBox="1"/>
            <p:nvPr/>
          </p:nvSpPr>
          <p:spPr>
            <a:xfrm>
              <a:off x="4727888" y="2277000"/>
              <a:ext cx="1057373" cy="168440"/>
            </a:xfrm>
            <a:prstGeom prst="rect">
              <a:avLst/>
            </a:prstGeom>
            <a:noFill/>
          </p:spPr>
          <p:txBody>
            <a:bodyPr wrap="square" lIns="0" tIns="0" rIns="0" bIns="0" rtlCol="0">
              <a:noAutofit/>
            </a:bodyPr>
            <a:lstStyle/>
            <a:p>
              <a:pPr marL="0" marR="0" lvl="0" indent="0" algn="ctr" defTabSz="228600" rtl="0" eaLnBrk="1" fontAlgn="auto" latinLnBrk="0" hangingPunct="1">
                <a:lnSpc>
                  <a:spcPct val="100000"/>
                </a:lnSpc>
                <a:spcBef>
                  <a:spcPts val="0"/>
                </a:spcBef>
                <a:spcAft>
                  <a:spcPts val="120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Alertas</a:t>
              </a:r>
            </a:p>
          </p:txBody>
        </p:sp>
        <p:sp>
          <p:nvSpPr>
            <p:cNvPr id="121" name="Rectangle 120">
              <a:extLst>
                <a:ext uri="{FF2B5EF4-FFF2-40B4-BE49-F238E27FC236}">
                  <a16:creationId xmlns:a16="http://schemas.microsoft.com/office/drawing/2014/main" id="{E65CF5C1-46DA-D46F-E083-F35850E93E3A}"/>
                </a:ext>
              </a:extLst>
            </p:cNvPr>
            <p:cNvSpPr/>
            <p:nvPr/>
          </p:nvSpPr>
          <p:spPr>
            <a:xfrm>
              <a:off x="6013505" y="1904497"/>
              <a:ext cx="684393" cy="287999"/>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000000"/>
                  </a:solidFill>
                  <a:effectLst/>
                  <a:uLnTx/>
                  <a:uFillTx/>
                  <a:latin typeface="Graphik"/>
                  <a:ea typeface="+mn-ea"/>
                  <a:cs typeface="+mn-cs"/>
                </a:rPr>
                <a:t>Metadatos activos</a:t>
              </a:r>
            </a:p>
          </p:txBody>
        </p:sp>
        <p:cxnSp>
          <p:nvCxnSpPr>
            <p:cNvPr id="122" name="Connector: Curved 121">
              <a:extLst>
                <a:ext uri="{FF2B5EF4-FFF2-40B4-BE49-F238E27FC236}">
                  <a16:creationId xmlns:a16="http://schemas.microsoft.com/office/drawing/2014/main" id="{FF472A56-7686-9D65-051D-8656BB1ED716}"/>
                </a:ext>
              </a:extLst>
            </p:cNvPr>
            <p:cNvCxnSpPr/>
            <p:nvPr/>
          </p:nvCxnSpPr>
          <p:spPr>
            <a:xfrm rot="5400000" flipH="1" flipV="1">
              <a:off x="6198039" y="1796823"/>
              <a:ext cx="7715" cy="835322"/>
            </a:xfrm>
            <a:prstGeom prst="curvedConnector3">
              <a:avLst>
                <a:gd name="adj1" fmla="val -2963059"/>
              </a:avLst>
            </a:prstGeom>
            <a:ln w="12700">
              <a:solidFill>
                <a:schemeClr val="accent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23" name="TextBox 122">
              <a:extLst>
                <a:ext uri="{FF2B5EF4-FFF2-40B4-BE49-F238E27FC236}">
                  <a16:creationId xmlns:a16="http://schemas.microsoft.com/office/drawing/2014/main" id="{D5F2F1C1-8A32-1F94-38BF-9C4B7FD6A303}"/>
                </a:ext>
              </a:extLst>
            </p:cNvPr>
            <p:cNvSpPr txBox="1"/>
            <p:nvPr/>
          </p:nvSpPr>
          <p:spPr>
            <a:xfrm>
              <a:off x="5673723" y="2249314"/>
              <a:ext cx="1057373" cy="168440"/>
            </a:xfrm>
            <a:prstGeom prst="rect">
              <a:avLst/>
            </a:prstGeom>
            <a:noFill/>
          </p:spPr>
          <p:txBody>
            <a:bodyPr wrap="square" lIns="0" tIns="0" rIns="0" bIns="0" rtlCol="0">
              <a:noAutofit/>
            </a:bodyPr>
            <a:lstStyle/>
            <a:p>
              <a:pPr marL="0" marR="0" lvl="0" indent="0" algn="ctr" defTabSz="228600" rtl="0" eaLnBrk="1" fontAlgn="auto" latinLnBrk="0" hangingPunct="1">
                <a:lnSpc>
                  <a:spcPct val="100000"/>
                </a:lnSpc>
                <a:spcBef>
                  <a:spcPts val="0"/>
                </a:spcBef>
                <a:spcAft>
                  <a:spcPts val="120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Inferencias</a:t>
              </a:r>
            </a:p>
          </p:txBody>
        </p:sp>
      </p:grpSp>
      <p:cxnSp>
        <p:nvCxnSpPr>
          <p:cNvPr id="124" name="Connector: Elbow 123">
            <a:extLst>
              <a:ext uri="{FF2B5EF4-FFF2-40B4-BE49-F238E27FC236}">
                <a16:creationId xmlns:a16="http://schemas.microsoft.com/office/drawing/2014/main" id="{8658F008-37B8-71BE-AF25-AB42DA3A2492}"/>
              </a:ext>
            </a:extLst>
          </p:cNvPr>
          <p:cNvCxnSpPr>
            <a:cxnSpLocks/>
            <a:endCxn id="75" idx="1"/>
          </p:cNvCxnSpPr>
          <p:nvPr/>
        </p:nvCxnSpPr>
        <p:spPr>
          <a:xfrm flipV="1">
            <a:off x="1769727" y="2084282"/>
            <a:ext cx="544481" cy="1123777"/>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5" name="Rectangle 124">
            <a:extLst>
              <a:ext uri="{FF2B5EF4-FFF2-40B4-BE49-F238E27FC236}">
                <a16:creationId xmlns:a16="http://schemas.microsoft.com/office/drawing/2014/main" id="{4A29A9F2-3C92-33FC-401F-5557A8769FE0}"/>
              </a:ext>
            </a:extLst>
          </p:cNvPr>
          <p:cNvSpPr/>
          <p:nvPr/>
        </p:nvSpPr>
        <p:spPr>
          <a:xfrm>
            <a:off x="8263345" y="3458969"/>
            <a:ext cx="764356" cy="287999"/>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Linaje de datos</a:t>
            </a:r>
          </a:p>
        </p:txBody>
      </p:sp>
      <p:sp>
        <p:nvSpPr>
          <p:cNvPr id="126" name="Rectangle 125">
            <a:extLst>
              <a:ext uri="{FF2B5EF4-FFF2-40B4-BE49-F238E27FC236}">
                <a16:creationId xmlns:a16="http://schemas.microsoft.com/office/drawing/2014/main" id="{E70A337A-D3D7-3921-816F-096B02A26D66}"/>
              </a:ext>
            </a:extLst>
          </p:cNvPr>
          <p:cNvSpPr/>
          <p:nvPr/>
        </p:nvSpPr>
        <p:spPr>
          <a:xfrm>
            <a:off x="7687235" y="3097996"/>
            <a:ext cx="764356" cy="287999"/>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Acceso y privacidad</a:t>
            </a:r>
          </a:p>
        </p:txBody>
      </p:sp>
      <p:sp>
        <p:nvSpPr>
          <p:cNvPr id="127" name="Arrow: Up-Down 126">
            <a:extLst>
              <a:ext uri="{FF2B5EF4-FFF2-40B4-BE49-F238E27FC236}">
                <a16:creationId xmlns:a16="http://schemas.microsoft.com/office/drawing/2014/main" id="{CCBB3834-977A-45CA-6E5C-956AB36E4544}"/>
              </a:ext>
            </a:extLst>
          </p:cNvPr>
          <p:cNvSpPr/>
          <p:nvPr/>
        </p:nvSpPr>
        <p:spPr>
          <a:xfrm>
            <a:off x="8809011" y="3979585"/>
            <a:ext cx="186300" cy="419707"/>
          </a:xfrm>
          <a:prstGeom prst="upDown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400" b="0" i="0" u="none" strike="noStrike" kern="1200" cap="none" spc="0" normalizeH="0" baseline="0" noProof="0">
              <a:ln>
                <a:noFill/>
              </a:ln>
              <a:solidFill>
                <a:srgbClr val="000000"/>
              </a:solidFill>
              <a:effectLst/>
              <a:uLnTx/>
              <a:uFillTx/>
              <a:latin typeface="Graphik"/>
              <a:ea typeface="+mn-ea"/>
              <a:cs typeface="+mn-cs"/>
            </a:endParaRPr>
          </a:p>
        </p:txBody>
      </p:sp>
      <p:cxnSp>
        <p:nvCxnSpPr>
          <p:cNvPr id="128" name="Connector: Elbow 127">
            <a:extLst>
              <a:ext uri="{FF2B5EF4-FFF2-40B4-BE49-F238E27FC236}">
                <a16:creationId xmlns:a16="http://schemas.microsoft.com/office/drawing/2014/main" id="{96A855EF-40FC-74C2-6C88-61D28C03FBCE}"/>
              </a:ext>
            </a:extLst>
          </p:cNvPr>
          <p:cNvCxnSpPr>
            <a:cxnSpLocks/>
            <a:stCxn id="87" idx="3"/>
            <a:endCxn id="80" idx="0"/>
          </p:cNvCxnSpPr>
          <p:nvPr/>
        </p:nvCxnSpPr>
        <p:spPr>
          <a:xfrm>
            <a:off x="3292843" y="1699231"/>
            <a:ext cx="5627127" cy="1057608"/>
          </a:xfrm>
          <a:prstGeom prst="bentConnector2">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9" name="Arrow: Down 128">
            <a:extLst>
              <a:ext uri="{FF2B5EF4-FFF2-40B4-BE49-F238E27FC236}">
                <a16:creationId xmlns:a16="http://schemas.microsoft.com/office/drawing/2014/main" id="{449DACDD-D216-44C6-4C0A-E00016E45DDF}"/>
              </a:ext>
            </a:extLst>
          </p:cNvPr>
          <p:cNvSpPr/>
          <p:nvPr/>
        </p:nvSpPr>
        <p:spPr>
          <a:xfrm rot="16200000">
            <a:off x="10237514" y="2967989"/>
            <a:ext cx="147709" cy="180717"/>
          </a:xfrm>
          <a:prstGeom prst="down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400" b="1" i="0" u="none" strike="noStrike" kern="1200" cap="none" spc="0" normalizeH="0" baseline="0" noProof="0">
              <a:ln>
                <a:noFill/>
              </a:ln>
              <a:solidFill>
                <a:srgbClr val="000000"/>
              </a:solidFill>
              <a:effectLst/>
              <a:uLnTx/>
              <a:uFillTx/>
              <a:latin typeface="Graphik"/>
              <a:ea typeface="+mn-ea"/>
              <a:cs typeface="+mn-cs"/>
            </a:endParaRPr>
          </a:p>
        </p:txBody>
      </p:sp>
      <p:sp>
        <p:nvSpPr>
          <p:cNvPr id="130" name="Rectangle 129">
            <a:extLst>
              <a:ext uri="{FF2B5EF4-FFF2-40B4-BE49-F238E27FC236}">
                <a16:creationId xmlns:a16="http://schemas.microsoft.com/office/drawing/2014/main" id="{F35B9076-D60B-2BD6-20B2-6740493F9D21}"/>
              </a:ext>
            </a:extLst>
          </p:cNvPr>
          <p:cNvSpPr/>
          <p:nvPr/>
        </p:nvSpPr>
        <p:spPr>
          <a:xfrm>
            <a:off x="9105131" y="3458969"/>
            <a:ext cx="764356" cy="287999"/>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Caché de datos</a:t>
            </a:r>
          </a:p>
        </p:txBody>
      </p:sp>
      <p:sp>
        <p:nvSpPr>
          <p:cNvPr id="131" name="Arrow: Down 130">
            <a:extLst>
              <a:ext uri="{FF2B5EF4-FFF2-40B4-BE49-F238E27FC236}">
                <a16:creationId xmlns:a16="http://schemas.microsoft.com/office/drawing/2014/main" id="{EC5D584F-F381-B6C2-4877-4C40883A1844}"/>
              </a:ext>
            </a:extLst>
          </p:cNvPr>
          <p:cNvSpPr/>
          <p:nvPr/>
        </p:nvSpPr>
        <p:spPr>
          <a:xfrm rot="16200000">
            <a:off x="10261260" y="4702713"/>
            <a:ext cx="147709" cy="180717"/>
          </a:xfrm>
          <a:prstGeom prst="down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400" b="1" i="0" u="none" strike="noStrike" kern="1200" cap="none" spc="0" normalizeH="0" baseline="0" noProof="0">
              <a:ln>
                <a:noFill/>
              </a:ln>
              <a:solidFill>
                <a:srgbClr val="000000"/>
              </a:solidFill>
              <a:effectLst/>
              <a:uLnTx/>
              <a:uFillTx/>
              <a:latin typeface="Graphik"/>
              <a:ea typeface="+mn-ea"/>
              <a:cs typeface="+mn-cs"/>
            </a:endParaRPr>
          </a:p>
        </p:txBody>
      </p:sp>
      <p:grpSp>
        <p:nvGrpSpPr>
          <p:cNvPr id="132" name="Group 131">
            <a:extLst>
              <a:ext uri="{FF2B5EF4-FFF2-40B4-BE49-F238E27FC236}">
                <a16:creationId xmlns:a16="http://schemas.microsoft.com/office/drawing/2014/main" id="{9FA22452-90A8-AE0D-3BC7-3192E85894C1}"/>
              </a:ext>
            </a:extLst>
          </p:cNvPr>
          <p:cNvGrpSpPr/>
          <p:nvPr/>
        </p:nvGrpSpPr>
        <p:grpSpPr>
          <a:xfrm>
            <a:off x="3699273" y="4670922"/>
            <a:ext cx="3272597" cy="726152"/>
            <a:chOff x="3284052" y="4346459"/>
            <a:chExt cx="3272597" cy="726152"/>
          </a:xfrm>
        </p:grpSpPr>
        <p:sp>
          <p:nvSpPr>
            <p:cNvPr id="133" name="Rectangle 132">
              <a:extLst>
                <a:ext uri="{FF2B5EF4-FFF2-40B4-BE49-F238E27FC236}">
                  <a16:creationId xmlns:a16="http://schemas.microsoft.com/office/drawing/2014/main" id="{A859B2D9-1710-9151-BD21-EC4EE8DC02FC}"/>
                </a:ext>
              </a:extLst>
            </p:cNvPr>
            <p:cNvSpPr/>
            <p:nvPr/>
          </p:nvSpPr>
          <p:spPr>
            <a:xfrm>
              <a:off x="3284052" y="4346459"/>
              <a:ext cx="3272597" cy="28800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Grafo de conocimiento y enriquecimiento</a:t>
              </a:r>
            </a:p>
          </p:txBody>
        </p:sp>
        <p:sp>
          <p:nvSpPr>
            <p:cNvPr id="134" name="Rectangle 133">
              <a:extLst>
                <a:ext uri="{FF2B5EF4-FFF2-40B4-BE49-F238E27FC236}">
                  <a16:creationId xmlns:a16="http://schemas.microsoft.com/office/drawing/2014/main" id="{5310DF8A-BFE7-7020-00FD-F23DF6B6D0A3}"/>
                </a:ext>
              </a:extLst>
            </p:cNvPr>
            <p:cNvSpPr/>
            <p:nvPr/>
          </p:nvSpPr>
          <p:spPr>
            <a:xfrm>
              <a:off x="3304509" y="4717968"/>
              <a:ext cx="930052" cy="287999"/>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Cartografía</a:t>
              </a:r>
            </a:p>
          </p:txBody>
        </p:sp>
        <p:sp>
          <p:nvSpPr>
            <p:cNvPr id="135" name="Rectangle 134">
              <a:extLst>
                <a:ext uri="{FF2B5EF4-FFF2-40B4-BE49-F238E27FC236}">
                  <a16:creationId xmlns:a16="http://schemas.microsoft.com/office/drawing/2014/main" id="{5968BED7-BA50-4BFB-5D3A-EA3F546B7096}"/>
                </a:ext>
              </a:extLst>
            </p:cNvPr>
            <p:cNvSpPr/>
            <p:nvPr/>
          </p:nvSpPr>
          <p:spPr>
            <a:xfrm>
              <a:off x="4433294" y="4715165"/>
              <a:ext cx="930052" cy="287999"/>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Notación ontológica </a:t>
              </a:r>
            </a:p>
          </p:txBody>
        </p:sp>
        <p:sp>
          <p:nvSpPr>
            <p:cNvPr id="136" name="Cylinder 135">
              <a:extLst>
                <a:ext uri="{FF2B5EF4-FFF2-40B4-BE49-F238E27FC236}">
                  <a16:creationId xmlns:a16="http://schemas.microsoft.com/office/drawing/2014/main" id="{9A82C37D-D5AA-1406-6A34-56D2556C182D}"/>
                </a:ext>
              </a:extLst>
            </p:cNvPr>
            <p:cNvSpPr/>
            <p:nvPr/>
          </p:nvSpPr>
          <p:spPr>
            <a:xfrm>
              <a:off x="5613177" y="4699095"/>
              <a:ext cx="930052" cy="373516"/>
            </a:xfrm>
            <a:prstGeom prst="can">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Grafo de conocimiento</a:t>
              </a:r>
              <a:endParaRPr kumimoji="0" lang="es-MX" sz="900" b="0" i="0" u="none" strike="noStrike" kern="1200" cap="none" spc="0" normalizeH="0" baseline="0" noProof="0" dirty="0">
                <a:ln>
                  <a:noFill/>
                </a:ln>
                <a:solidFill>
                  <a:srgbClr val="000000"/>
                </a:solidFill>
                <a:effectLst/>
                <a:uLnTx/>
                <a:uFillTx/>
                <a:latin typeface="Graphik"/>
                <a:ea typeface="+mn-ea"/>
                <a:cs typeface="+mn-cs"/>
              </a:endParaRPr>
            </a:p>
          </p:txBody>
        </p:sp>
      </p:grpSp>
      <p:sp>
        <p:nvSpPr>
          <p:cNvPr id="137" name="Rectangle: Rounded Corners 136">
            <a:extLst>
              <a:ext uri="{FF2B5EF4-FFF2-40B4-BE49-F238E27FC236}">
                <a16:creationId xmlns:a16="http://schemas.microsoft.com/office/drawing/2014/main" id="{FCEF95AE-3010-B72C-B26D-C9599F0D3251}"/>
              </a:ext>
            </a:extLst>
          </p:cNvPr>
          <p:cNvSpPr/>
          <p:nvPr/>
        </p:nvSpPr>
        <p:spPr>
          <a:xfrm>
            <a:off x="3483571" y="2523349"/>
            <a:ext cx="3727802" cy="4037207"/>
          </a:xfrm>
          <a:prstGeom prst="roundRect">
            <a:avLst>
              <a:gd name="adj" fmla="val 3757"/>
            </a:avLst>
          </a:prstGeom>
          <a:noFill/>
          <a:ln>
            <a:solidFill>
              <a:schemeClr val="bg1">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000" b="1" i="0" u="none" strike="noStrike" kern="1200" cap="none" spc="0" normalizeH="0" baseline="0" noProof="0">
                <a:ln>
                  <a:noFill/>
                </a:ln>
                <a:solidFill>
                  <a:srgbClr val="000000"/>
                </a:solidFill>
                <a:effectLst/>
                <a:uLnTx/>
                <a:uFillTx/>
                <a:latin typeface="Graphik"/>
                <a:ea typeface="+mn-ea"/>
                <a:cs typeface="+mn-cs"/>
              </a:rPr>
              <a:t>Catálogo de datos y modelado</a:t>
            </a:r>
            <a:endParaRPr kumimoji="0" lang="es-MX" sz="1000" b="1" i="0" u="none" strike="noStrike" kern="1200" cap="none" spc="0" normalizeH="0" baseline="0" noProof="0">
              <a:ln>
                <a:noFill/>
              </a:ln>
              <a:solidFill>
                <a:srgbClr val="000000"/>
              </a:solidFill>
              <a:effectLst/>
              <a:uLnTx/>
              <a:uFillTx/>
              <a:latin typeface="Graphik"/>
              <a:ea typeface="+mn-ea"/>
              <a:cs typeface="+mn-cs"/>
            </a:endParaRPr>
          </a:p>
        </p:txBody>
      </p:sp>
      <p:cxnSp>
        <p:nvCxnSpPr>
          <p:cNvPr id="138" name="Connector: Elbow 137">
            <a:extLst>
              <a:ext uri="{FF2B5EF4-FFF2-40B4-BE49-F238E27FC236}">
                <a16:creationId xmlns:a16="http://schemas.microsoft.com/office/drawing/2014/main" id="{582F12F0-9E37-6E69-7E4F-15FB8EE39EEA}"/>
              </a:ext>
            </a:extLst>
          </p:cNvPr>
          <p:cNvCxnSpPr>
            <a:cxnSpLocks/>
            <a:stCxn id="88" idx="3"/>
            <a:endCxn id="80" idx="0"/>
          </p:cNvCxnSpPr>
          <p:nvPr/>
        </p:nvCxnSpPr>
        <p:spPr>
          <a:xfrm>
            <a:off x="3276442" y="2427099"/>
            <a:ext cx="5643528" cy="329740"/>
          </a:xfrm>
          <a:prstGeom prst="bentConnector2">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9" name="Rectangle 138">
            <a:extLst>
              <a:ext uri="{FF2B5EF4-FFF2-40B4-BE49-F238E27FC236}">
                <a16:creationId xmlns:a16="http://schemas.microsoft.com/office/drawing/2014/main" id="{45D9D988-A0A8-8C85-CC7F-EECE4B0B7692}"/>
              </a:ext>
            </a:extLst>
          </p:cNvPr>
          <p:cNvSpPr/>
          <p:nvPr/>
        </p:nvSpPr>
        <p:spPr>
          <a:xfrm>
            <a:off x="2194523" y="3463034"/>
            <a:ext cx="930052" cy="287999"/>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Conectores</a:t>
            </a:r>
          </a:p>
        </p:txBody>
      </p:sp>
      <p:sp>
        <p:nvSpPr>
          <p:cNvPr id="140" name="Rectangle 139">
            <a:extLst>
              <a:ext uri="{FF2B5EF4-FFF2-40B4-BE49-F238E27FC236}">
                <a16:creationId xmlns:a16="http://schemas.microsoft.com/office/drawing/2014/main" id="{AD8DC327-AA9E-0C5E-34B4-E1117A049D9D}"/>
              </a:ext>
            </a:extLst>
          </p:cNvPr>
          <p:cNvSpPr/>
          <p:nvPr/>
        </p:nvSpPr>
        <p:spPr>
          <a:xfrm>
            <a:off x="2194524" y="3874157"/>
            <a:ext cx="930052" cy="288000"/>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APIs</a:t>
            </a:r>
          </a:p>
        </p:txBody>
      </p:sp>
      <p:sp>
        <p:nvSpPr>
          <p:cNvPr id="141" name="Arrow: Down 140">
            <a:extLst>
              <a:ext uri="{FF2B5EF4-FFF2-40B4-BE49-F238E27FC236}">
                <a16:creationId xmlns:a16="http://schemas.microsoft.com/office/drawing/2014/main" id="{2BD2674B-A440-6536-456A-380E056D19CE}"/>
              </a:ext>
            </a:extLst>
          </p:cNvPr>
          <p:cNvSpPr/>
          <p:nvPr/>
        </p:nvSpPr>
        <p:spPr>
          <a:xfrm rot="16200000">
            <a:off x="1908086" y="3663104"/>
            <a:ext cx="147709" cy="180717"/>
          </a:xfrm>
          <a:prstGeom prst="down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400" b="1" i="0" u="none" strike="noStrike" kern="1200" cap="none" spc="0" normalizeH="0" baseline="0" noProof="0">
              <a:ln>
                <a:noFill/>
              </a:ln>
              <a:solidFill>
                <a:srgbClr val="000000"/>
              </a:solidFill>
              <a:effectLst/>
              <a:uLnTx/>
              <a:uFillTx/>
              <a:latin typeface="Graphik"/>
              <a:ea typeface="+mn-ea"/>
              <a:cs typeface="+mn-cs"/>
            </a:endParaRPr>
          </a:p>
        </p:txBody>
      </p:sp>
      <p:sp>
        <p:nvSpPr>
          <p:cNvPr id="142" name="Arrow: Down 141">
            <a:extLst>
              <a:ext uri="{FF2B5EF4-FFF2-40B4-BE49-F238E27FC236}">
                <a16:creationId xmlns:a16="http://schemas.microsoft.com/office/drawing/2014/main" id="{BDDA44C0-E245-660F-E527-6A1D28451834}"/>
              </a:ext>
            </a:extLst>
          </p:cNvPr>
          <p:cNvSpPr/>
          <p:nvPr/>
        </p:nvSpPr>
        <p:spPr>
          <a:xfrm rot="16200000">
            <a:off x="3258166" y="3705808"/>
            <a:ext cx="147709" cy="180717"/>
          </a:xfrm>
          <a:prstGeom prst="down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400" b="1" i="0" u="none" strike="noStrike" kern="1200" cap="none" spc="0" normalizeH="0" baseline="0" noProof="0">
              <a:ln>
                <a:noFill/>
              </a:ln>
              <a:solidFill>
                <a:srgbClr val="000000"/>
              </a:solidFill>
              <a:effectLst/>
              <a:uLnTx/>
              <a:uFillTx/>
              <a:latin typeface="Graphik"/>
              <a:ea typeface="+mn-ea"/>
              <a:cs typeface="+mn-cs"/>
            </a:endParaRPr>
          </a:p>
        </p:txBody>
      </p:sp>
      <p:sp>
        <p:nvSpPr>
          <p:cNvPr id="143" name="Rectangle 142">
            <a:extLst>
              <a:ext uri="{FF2B5EF4-FFF2-40B4-BE49-F238E27FC236}">
                <a16:creationId xmlns:a16="http://schemas.microsoft.com/office/drawing/2014/main" id="{F31938FF-08BD-007A-0822-096C288EDDF7}"/>
              </a:ext>
            </a:extLst>
          </p:cNvPr>
          <p:cNvSpPr/>
          <p:nvPr/>
        </p:nvSpPr>
        <p:spPr>
          <a:xfrm>
            <a:off x="10629302" y="4488306"/>
            <a:ext cx="1346837" cy="288000"/>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a:t>
            </a:r>
          </a:p>
        </p:txBody>
      </p:sp>
      <p:sp>
        <p:nvSpPr>
          <p:cNvPr id="144" name="Rectangle 143">
            <a:extLst>
              <a:ext uri="{FF2B5EF4-FFF2-40B4-BE49-F238E27FC236}">
                <a16:creationId xmlns:a16="http://schemas.microsoft.com/office/drawing/2014/main" id="{CF96E24E-BF62-DBEB-253A-869F286D85A9}"/>
              </a:ext>
            </a:extLst>
          </p:cNvPr>
          <p:cNvSpPr/>
          <p:nvPr/>
        </p:nvSpPr>
        <p:spPr>
          <a:xfrm>
            <a:off x="275458" y="4468850"/>
            <a:ext cx="1346837" cy="288000"/>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a:t>
            </a:r>
          </a:p>
        </p:txBody>
      </p:sp>
      <p:sp>
        <p:nvSpPr>
          <p:cNvPr id="145" name="TextBox 144">
            <a:extLst>
              <a:ext uri="{FF2B5EF4-FFF2-40B4-BE49-F238E27FC236}">
                <a16:creationId xmlns:a16="http://schemas.microsoft.com/office/drawing/2014/main" id="{64D977A7-898E-B795-1C7A-2B588947CACF}"/>
              </a:ext>
            </a:extLst>
          </p:cNvPr>
          <p:cNvSpPr txBox="1"/>
          <p:nvPr/>
        </p:nvSpPr>
        <p:spPr>
          <a:xfrm>
            <a:off x="3422378" y="1188484"/>
            <a:ext cx="2552423" cy="246221"/>
          </a:xfrm>
          <a:prstGeom prst="rect">
            <a:avLst/>
          </a:prstGeom>
          <a:noFill/>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s" sz="1000" b="1" i="0" u="none" strike="noStrike" kern="1200" cap="none" spc="0" normalizeH="0" baseline="0" noProof="0" dirty="0">
                <a:ln>
                  <a:noFill/>
                </a:ln>
                <a:solidFill>
                  <a:srgbClr val="000000"/>
                </a:solidFill>
                <a:effectLst/>
                <a:uLnTx/>
                <a:uFillTx/>
                <a:latin typeface="Graphik"/>
                <a:ea typeface="+mn-ea"/>
                <a:cs typeface="+mn-cs"/>
              </a:rPr>
              <a:t>Flujos de datos y distribución</a:t>
            </a:r>
            <a:endParaRPr kumimoji="0" lang="es-MX" sz="1000" b="1" i="0" u="none" strike="noStrike" kern="1200" cap="none" spc="0" normalizeH="0" baseline="0" noProof="0" dirty="0">
              <a:ln>
                <a:noFill/>
              </a:ln>
              <a:solidFill>
                <a:srgbClr val="000000"/>
              </a:solidFill>
              <a:effectLst/>
              <a:uLnTx/>
              <a:uFillTx/>
              <a:latin typeface="Graphik"/>
              <a:ea typeface="+mn-ea"/>
              <a:cs typeface="+mn-cs"/>
            </a:endParaRPr>
          </a:p>
        </p:txBody>
      </p:sp>
      <p:sp>
        <p:nvSpPr>
          <p:cNvPr id="146" name="TextBox 145">
            <a:extLst>
              <a:ext uri="{FF2B5EF4-FFF2-40B4-BE49-F238E27FC236}">
                <a16:creationId xmlns:a16="http://schemas.microsoft.com/office/drawing/2014/main" id="{A62830A0-C134-BD77-9C75-297D0753B1A0}"/>
              </a:ext>
            </a:extLst>
          </p:cNvPr>
          <p:cNvSpPr txBox="1"/>
          <p:nvPr/>
        </p:nvSpPr>
        <p:spPr>
          <a:xfrm>
            <a:off x="3422378" y="1962733"/>
            <a:ext cx="2199532" cy="246221"/>
          </a:xfrm>
          <a:prstGeom prst="rect">
            <a:avLst/>
          </a:prstGeom>
          <a:noFill/>
        </p:spPr>
        <p:txBody>
          <a:bodyPr wrap="square">
            <a:spAutoFit/>
          </a:bodyPr>
          <a:lstStyle/>
          <a:p>
            <a:pPr lvl="0">
              <a:defRPr/>
            </a:pPr>
            <a:r>
              <a:rPr lang="es" sz="1000" b="1" dirty="0">
                <a:solidFill>
                  <a:srgbClr val="000000"/>
                </a:solidFill>
              </a:rPr>
              <a:t>Flujos de datos y distribución</a:t>
            </a:r>
            <a:endParaRPr lang="es-MX" sz="1000" b="1" dirty="0">
              <a:solidFill>
                <a:srgbClr val="000000"/>
              </a:solidFill>
            </a:endParaRPr>
          </a:p>
        </p:txBody>
      </p:sp>
      <p:cxnSp>
        <p:nvCxnSpPr>
          <p:cNvPr id="147" name="Connector: Elbow 146">
            <a:extLst>
              <a:ext uri="{FF2B5EF4-FFF2-40B4-BE49-F238E27FC236}">
                <a16:creationId xmlns:a16="http://schemas.microsoft.com/office/drawing/2014/main" id="{B286E070-9F79-8C83-3696-E1A0B666F2EF}"/>
              </a:ext>
            </a:extLst>
          </p:cNvPr>
          <p:cNvCxnSpPr>
            <a:stCxn id="87" idx="3"/>
            <a:endCxn id="77" idx="1"/>
          </p:cNvCxnSpPr>
          <p:nvPr/>
        </p:nvCxnSpPr>
        <p:spPr>
          <a:xfrm>
            <a:off x="3292843" y="1699231"/>
            <a:ext cx="4411708" cy="2969975"/>
          </a:xfrm>
          <a:prstGeom prst="bentConnector3">
            <a:avLst>
              <a:gd name="adj1" fmla="val 93658"/>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8" name="Connector: Elbow 147">
            <a:extLst>
              <a:ext uri="{FF2B5EF4-FFF2-40B4-BE49-F238E27FC236}">
                <a16:creationId xmlns:a16="http://schemas.microsoft.com/office/drawing/2014/main" id="{B947090F-B5EC-46B2-F431-56BFAFF7AC38}"/>
              </a:ext>
            </a:extLst>
          </p:cNvPr>
          <p:cNvCxnSpPr>
            <a:cxnSpLocks/>
            <a:stCxn id="88" idx="3"/>
            <a:endCxn id="80" idx="1"/>
          </p:cNvCxnSpPr>
          <p:nvPr/>
        </p:nvCxnSpPr>
        <p:spPr>
          <a:xfrm>
            <a:off x="3276442" y="2427099"/>
            <a:ext cx="4410793" cy="473740"/>
          </a:xfrm>
          <a:prstGeom prst="bentConnector3">
            <a:avLst>
              <a:gd name="adj1" fmla="val 93888"/>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9" name="Arrow: Down 148">
            <a:extLst>
              <a:ext uri="{FF2B5EF4-FFF2-40B4-BE49-F238E27FC236}">
                <a16:creationId xmlns:a16="http://schemas.microsoft.com/office/drawing/2014/main" id="{BB8ECB69-282B-0521-F1FB-2CF47E9763D3}"/>
              </a:ext>
            </a:extLst>
          </p:cNvPr>
          <p:cNvSpPr/>
          <p:nvPr/>
        </p:nvSpPr>
        <p:spPr>
          <a:xfrm rot="16200000">
            <a:off x="7349182" y="3061301"/>
            <a:ext cx="147709" cy="180717"/>
          </a:xfrm>
          <a:prstGeom prst="down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400" b="1" i="0" u="none" strike="noStrike" kern="1200" cap="none" spc="0" normalizeH="0" baseline="0" noProof="0">
              <a:ln>
                <a:noFill/>
              </a:ln>
              <a:solidFill>
                <a:srgbClr val="000000"/>
              </a:solidFill>
              <a:effectLst/>
              <a:uLnTx/>
              <a:uFillTx/>
              <a:latin typeface="Graphik"/>
              <a:ea typeface="+mn-ea"/>
              <a:cs typeface="+mn-cs"/>
            </a:endParaRPr>
          </a:p>
        </p:txBody>
      </p:sp>
      <p:sp>
        <p:nvSpPr>
          <p:cNvPr id="153" name="Rectangle 152">
            <a:extLst>
              <a:ext uri="{FF2B5EF4-FFF2-40B4-BE49-F238E27FC236}">
                <a16:creationId xmlns:a16="http://schemas.microsoft.com/office/drawing/2014/main" id="{2E528A92-60E0-7BAA-8D33-0F4C1B683384}"/>
              </a:ext>
            </a:extLst>
          </p:cNvPr>
          <p:cNvSpPr/>
          <p:nvPr/>
        </p:nvSpPr>
        <p:spPr>
          <a:xfrm>
            <a:off x="1788777" y="980466"/>
            <a:ext cx="7972474" cy="141451"/>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Observabilidad</a:t>
            </a:r>
          </a:p>
        </p:txBody>
      </p:sp>
      <p:sp>
        <p:nvSpPr>
          <p:cNvPr id="8" name="Rectangle 7">
            <a:extLst>
              <a:ext uri="{FF2B5EF4-FFF2-40B4-BE49-F238E27FC236}">
                <a16:creationId xmlns:a16="http://schemas.microsoft.com/office/drawing/2014/main" id="{2FBB74E9-A277-05A7-BC5B-C356DD618F3F}"/>
              </a:ext>
            </a:extLst>
          </p:cNvPr>
          <p:cNvSpPr/>
          <p:nvPr/>
        </p:nvSpPr>
        <p:spPr>
          <a:xfrm>
            <a:off x="8405867" y="5896820"/>
            <a:ext cx="3439086" cy="205327"/>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Componentes principales de esta capacidad</a:t>
            </a:r>
          </a:p>
        </p:txBody>
      </p:sp>
      <p:sp>
        <p:nvSpPr>
          <p:cNvPr id="10" name="Rectangle 9">
            <a:extLst>
              <a:ext uri="{FF2B5EF4-FFF2-40B4-BE49-F238E27FC236}">
                <a16:creationId xmlns:a16="http://schemas.microsoft.com/office/drawing/2014/main" id="{3BA2A13E-8E81-424C-9600-EB19F7CE01D9}"/>
              </a:ext>
            </a:extLst>
          </p:cNvPr>
          <p:cNvSpPr/>
          <p:nvPr/>
        </p:nvSpPr>
        <p:spPr>
          <a:xfrm>
            <a:off x="8405867" y="6130972"/>
            <a:ext cx="3439086" cy="187603"/>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Componentes de otras capacidades relacionadas</a:t>
            </a:r>
          </a:p>
        </p:txBody>
      </p:sp>
      <p:sp>
        <p:nvSpPr>
          <p:cNvPr id="12" name="Rectangle 11">
            <a:extLst>
              <a:ext uri="{FF2B5EF4-FFF2-40B4-BE49-F238E27FC236}">
                <a16:creationId xmlns:a16="http://schemas.microsoft.com/office/drawing/2014/main" id="{360FB1C9-5371-1060-C5AA-589917EC59A5}"/>
              </a:ext>
            </a:extLst>
          </p:cNvPr>
          <p:cNvSpPr/>
          <p:nvPr/>
        </p:nvSpPr>
        <p:spPr>
          <a:xfrm>
            <a:off x="8405866" y="6347397"/>
            <a:ext cx="3439086" cy="165055"/>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Componentes funcionales relacionados con esta capacidad</a:t>
            </a:r>
          </a:p>
        </p:txBody>
      </p:sp>
    </p:spTree>
    <p:extLst>
      <p:ext uri="{BB962C8B-B14F-4D97-AF65-F5344CB8AC3E}">
        <p14:creationId xmlns:p14="http://schemas.microsoft.com/office/powerpoint/2010/main" val="321824030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QPT_STAMP" val="00"/>
</p:tagLst>
</file>

<file path=ppt/theme/theme1.xml><?xml version="1.0" encoding="utf-8"?>
<a:theme xmlns:a="http://schemas.openxmlformats.org/drawingml/2006/main" name="Accenture 2020">
  <a:themeElements>
    <a:clrScheme name="accenture new">
      <a:dk1>
        <a:srgbClr val="000000"/>
      </a:dk1>
      <a:lt1>
        <a:srgbClr val="FFFFFF"/>
      </a:lt1>
      <a:dk2>
        <a:srgbClr val="96968C"/>
      </a:dk2>
      <a:lt2>
        <a:srgbClr val="E6E6DC"/>
      </a:lt2>
      <a:accent1>
        <a:srgbClr val="A100FF"/>
      </a:accent1>
      <a:accent2>
        <a:srgbClr val="7500C0"/>
      </a:accent2>
      <a:accent3>
        <a:srgbClr val="460073"/>
      </a:accent3>
      <a:accent4>
        <a:srgbClr val="B455AA"/>
      </a:accent4>
      <a:accent5>
        <a:srgbClr val="BE82FF"/>
      </a:accent5>
      <a:accent6>
        <a:srgbClr val="DCAFFF"/>
      </a:accent6>
      <a:hlink>
        <a:srgbClr val="A100FF"/>
      </a:hlink>
      <a:folHlink>
        <a:srgbClr val="7500C0"/>
      </a:folHlink>
    </a:clrScheme>
    <a:fontScheme name="Accenture - Graphik">
      <a:majorFont>
        <a:latin typeface="Graphik"/>
        <a:ea typeface=""/>
        <a:cs typeface=""/>
      </a:majorFont>
      <a:minorFont>
        <a:latin typeface="Graphi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tIns="91440" bIns="91440" rtlCol="0" anchor="ctr"/>
      <a:lstStyle>
        <a:defPPr algn="ctr">
          <a:defRPr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28575">
          <a:solidFill>
            <a:schemeClr val="accent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defTabSz="228600">
          <a:spcAft>
            <a:spcPts val="1200"/>
          </a:spcAft>
          <a:defRPr noProof="0" dirty="0" smtClean="0"/>
        </a:defPPr>
      </a:lstStyle>
    </a:txDef>
  </a:objectDefaults>
  <a:extraClrSchemeLst/>
  <a:custClrLst>
    <a:custClr name="Accent Purple 1">
      <a:srgbClr val="B455AA"/>
    </a:custClr>
    <a:custClr name="Accent Purple 2">
      <a:srgbClr val="A055F5"/>
    </a:custClr>
    <a:custClr name="Accent Purple 3">
      <a:srgbClr val="BE82FF"/>
    </a:custClr>
    <a:custClr name="Accent Purple 4">
      <a:srgbClr val="DCAFFF"/>
    </a:custClr>
    <a:custClr name="Accent Purple 5">
      <a:srgbClr val="E6DCFF"/>
    </a:custClr>
    <a:custClr name="BLANK">
      <a:srgbClr val="FFFFFF"/>
    </a:custClr>
    <a:custClr name="BLANK">
      <a:srgbClr val="FFFFFF"/>
    </a:custClr>
    <a:custClr name="BLANK">
      <a:srgbClr val="FFFFFF"/>
    </a:custClr>
    <a:custClr name="BLANK">
      <a:srgbClr val="FFFFFF"/>
    </a:custClr>
    <a:custClr name="BLANK">
      <a:srgbClr val="FFFFFF"/>
    </a:custClr>
    <a:custClr name="Blue">
      <a:srgbClr val="0041F0"/>
    </a:custClr>
    <a:custClr name="Light Blue">
      <a:srgbClr val="00FFFF"/>
    </a:custClr>
    <a:custClr name="Green">
      <a:srgbClr val="64FF50"/>
    </a:custClr>
    <a:custClr name="Blue Green">
      <a:srgbClr val="05F0A5"/>
    </a:custClr>
    <a:custClr name="Red">
      <a:srgbClr val="FF3246"/>
    </a:custClr>
    <a:custClr name="Pink">
      <a:srgbClr val="FF50A0"/>
    </a:custClr>
    <a:custClr name="Orange">
      <a:srgbClr val="FF7800"/>
    </a:custClr>
    <a:custClr name="Yellow">
      <a:srgbClr val="FFEB32"/>
    </a:custClr>
    <a:custClr name="BLANK">
      <a:srgbClr val="FFFFFF"/>
    </a:custClr>
    <a:custClr name="BLANK">
      <a:srgbClr val="FFFFFF"/>
    </a:custClr>
  </a:custClrLst>
  <a:extLst>
    <a:ext uri="{05A4C25C-085E-4340-85A3-A5531E510DB2}">
      <thm15:themeFamily xmlns:thm15="http://schemas.microsoft.com/office/thememl/2012/main" name="IMP_Acc_PPT_Tmplt_Graphik_210225_Fixed_Accessible.potx" id="{80BF15C9-A5DA-472C-9F1E-82F4EBB43D59}" vid="{02DD174B-CE7A-418B-90DA-AC9D16AAE59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bcf21e1d-e7b2-4ba8-bb72-ca5e3ff425f9"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CC2648767ADDAC4198CE9FAE936A0E2E" ma:contentTypeVersion="10" ma:contentTypeDescription="Create a new document." ma:contentTypeScope="" ma:versionID="bfce7f8d432cf4f2b54d649024185cc8">
  <xsd:schema xmlns:xsd="http://www.w3.org/2001/XMLSchema" xmlns:xs="http://www.w3.org/2001/XMLSchema" xmlns:p="http://schemas.microsoft.com/office/2006/metadata/properties" xmlns:ns2="bcf21e1d-e7b2-4ba8-bb72-ca5e3ff425f9" targetNamespace="http://schemas.microsoft.com/office/2006/metadata/properties" ma:root="true" ma:fieldsID="db0e3ff7a073da1765cf4c642dfd2d3e" ns2:_="">
    <xsd:import namespace="bcf21e1d-e7b2-4ba8-bb72-ca5e3ff425f9"/>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2:MediaServiceOCR" minOccurs="0"/>
                <xsd:element ref="ns2:MediaServiceGenerationTime" minOccurs="0"/>
                <xsd:element ref="ns2:MediaServiceEventHashCode"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cf21e1d-e7b2-4ba8-bb72-ca5e3ff425f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displayName="Image Tags_0" ma:hidden="true" ma:internalName="lcf76f155ced4ddcb4097134ff3c332f">
      <xsd:simpleType>
        <xsd:restriction base="dms:Note"/>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BillingMetadata" ma:index="17"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1CD996F-457C-414C-8BBE-D8D5442B4851}">
  <ds:schemaRefs>
    <ds:schemaRef ds:uri="bcf21e1d-e7b2-4ba8-bb72-ca5e3ff425f9"/>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548AD657-25AC-4F50-95F1-0B029CF60CB1}">
  <ds:schemaRefs>
    <ds:schemaRef ds:uri="http://schemas.microsoft.com/sharepoint/v3/contenttype/forms"/>
  </ds:schemaRefs>
</ds:datastoreItem>
</file>

<file path=customXml/itemProps3.xml><?xml version="1.0" encoding="utf-8"?>
<ds:datastoreItem xmlns:ds="http://schemas.openxmlformats.org/officeDocument/2006/customXml" ds:itemID="{A7E6439D-DCA4-4980-9C0F-BCC30A215455}">
  <ds:schemaRefs>
    <ds:schemaRef ds:uri="bcf21e1d-e7b2-4ba8-bb72-ca5e3ff425f9"/>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e0793d39-0939-496d-b129-198edd916feb}" enabled="0" method="" siteId="{e0793d39-0939-496d-b129-198edd916feb}" removed="1"/>
</clbl:labelList>
</file>

<file path=docProps/app.xml><?xml version="1.0" encoding="utf-8"?>
<Properties xmlns="http://schemas.openxmlformats.org/officeDocument/2006/extended-properties" xmlns:vt="http://schemas.openxmlformats.org/officeDocument/2006/docPropsVTypes">
  <TotalTime>547</TotalTime>
  <Words>16154</Words>
  <Application>Microsoft Office PowerPoint</Application>
  <PresentationFormat>Widescreen</PresentationFormat>
  <Paragraphs>2398</Paragraphs>
  <Slides>52</Slides>
  <Notes>8</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52</vt:i4>
      </vt:variant>
    </vt:vector>
  </HeadingPairs>
  <TitlesOfParts>
    <vt:vector size="61" baseType="lpstr">
      <vt:lpstr>Arial</vt:lpstr>
      <vt:lpstr>Calibri</vt:lpstr>
      <vt:lpstr>Graphik</vt:lpstr>
      <vt:lpstr>Graphik (Body)</vt:lpstr>
      <vt:lpstr>Graphik Light</vt:lpstr>
      <vt:lpstr>Graphik Medium</vt:lpstr>
      <vt:lpstr>Graphik Regular</vt:lpstr>
      <vt:lpstr>Graphik Semibold</vt:lpstr>
      <vt:lpstr>Accenture 2020</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Pietrzyk, Lukasz</dc:creator>
  <cp:lastModifiedBy>Villena, Jose</cp:lastModifiedBy>
  <cp:revision>2</cp:revision>
  <dcterms:created xsi:type="dcterms:W3CDTF">2026-08-04T17:07:05Z</dcterms:created>
  <dcterms:modified xsi:type="dcterms:W3CDTF">2026-08-12T23:24:05Z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0x010100CC2648767ADDAC4198CE9FAE936A0E2E</vt:lpwstr>
  </property>
</Properties>
</file>