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4" r:id="rId13"/>
    <p:sldId id="266" r:id="rId14"/>
    <p:sldId id="268" r:id="rId15"/>
    <p:sldId id="269" r:id="rId16"/>
    <p:sldId id="270" r:id="rId17"/>
    <p:sldId id="271" r:id="rId18"/>
    <p:sldId id="272" r:id="rId19"/>
    <p:sldId id="26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ACF7F-7129-416F-8091-107B197FF2F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A9A82-1173-4A9D-9676-A4239CC0E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6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using a touch screen device&#10;&#10;AI-generated content may be incorrect.">
            <a:extLst>
              <a:ext uri="{FF2B5EF4-FFF2-40B4-BE49-F238E27FC236}">
                <a16:creationId xmlns:a16="http://schemas.microsoft.com/office/drawing/2014/main" id="{BAE2F574-6D9D-D170-7CC9-D5369BF9F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259214-9187-BC39-B7CE-21BF4286F559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99000">
                <a:schemeClr val="bg1">
                  <a:alpha val="50224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524701-2790-4705-8FD4-F1B02CBB7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1090024" y="2737373"/>
            <a:ext cx="10027921" cy="1459477"/>
          </a:xfrm>
        </p:spPr>
        <p:txBody>
          <a:bodyPr anchor="b"/>
          <a:lstStyle>
            <a:lvl1pPr algn="l">
              <a:lnSpc>
                <a:spcPct val="90000"/>
              </a:lnSpc>
              <a:defRPr sz="4799" b="1">
                <a:solidFill>
                  <a:schemeClr val="tx1"/>
                </a:solidFill>
                <a:latin typeface="Graphik (Body)"/>
              </a:defRPr>
            </a:lvl1pPr>
          </a:lstStyle>
          <a:p>
            <a:r>
              <a:rPr lang="en-US"/>
              <a:t>Place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2B04ECA-6F5D-4ABE-B739-A5A4917247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90024" y="4355303"/>
            <a:ext cx="10027921" cy="481496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1999" b="0" i="0" spc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pPr marL="0" lvl="0" indent="0" algn="l" defTabSz="91412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20pt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0B5E4-5205-03DD-3E5C-7072165945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941" y="419615"/>
            <a:ext cx="2934341" cy="33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68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49" y="245794"/>
            <a:ext cx="11143252" cy="954708"/>
          </a:xfrm>
        </p:spPr>
        <p:txBody>
          <a:bodyPr vert="horz" anchor="ctr">
            <a:normAutofit/>
          </a:bodyPr>
          <a:lstStyle>
            <a:lvl1pPr>
              <a:defRPr sz="3199" b="1"/>
            </a:lvl1pPr>
          </a:lstStyle>
          <a:p>
            <a:r>
              <a:rPr lang="es-MX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100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65526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0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2"/>
            <a:ext cx="352494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2" y="6536348"/>
            <a:ext cx="3706394" cy="1293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 For internal use only</a:t>
            </a:r>
            <a:endParaRPr lang="en-US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6" y="6407759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37056" y="6437765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600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2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4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126" rtl="0" eaLnBrk="1" latinLnBrk="0" hangingPunct="1">
        <a:lnSpc>
          <a:spcPct val="80000"/>
        </a:lnSpc>
        <a:spcBef>
          <a:spcPct val="0"/>
        </a:spcBef>
        <a:buNone/>
        <a:defRPr sz="35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999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685594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914126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142657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1111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612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UNITY · DOCUMENTO DE GOBIERNO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75488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gobierno de arquitectura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BanCoppel · Coppel SSFF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1.0 · Julio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5971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643" y="6382512"/>
            <a:ext cx="2152498" cy="3374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accenture_bancoppel_co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" y="6437376"/>
            <a:ext cx="1969618" cy="22768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35040" y="1554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ESTE DOCUMENTO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35040" y="190195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el Design Authority, por qué se instala en UNITY y cómo opera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035040" y="3154680"/>
            <a:ext cx="5394960" cy="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5040" y="336499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Concepto, estructura, roles y cadencia del Design Authority en UNITY.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35040" y="4434840"/>
            <a:ext cx="5394960" cy="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35040" y="4617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
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23960" y="4617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Circulación
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del programa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Design Authority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713232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713232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11676888" cy="658368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10972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 donde se deciden y se registran las decisiones de arquitectura que cruzan más de un equipo. Un stream no puede cerrarlas solo sin afectar a los demás.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1920240"/>
            <a:ext cx="2788920" cy="224028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Apolo, Transact, SmartVista y Legado deciden hoy por separado. El DA reúne esas decisiones en un foro; evita capacidades duplicadas.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1920240"/>
            <a:ext cx="2788920" cy="224028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19856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19856" y="2633472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 llega con análisis de impacto preparado. El Comité aprueba, condiciona, rechaza o escala; no analiza en sesión.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1920240"/>
            <a:ext cx="2788920" cy="224028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82512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2512" y="2633472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hallazgos críticos y altos son gate de release. Una solución con deuda técnica no avanza de fase hasta resolverse.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0" y="1920240"/>
            <a:ext cx="2788920" cy="224028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45168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45168" y="2633472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 queda en el decision log. La rotación del 60% no borra el criterio con que se decidió.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4389120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438912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4773168"/>
            <a:ext cx="11676888" cy="160020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" y="49377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al DA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que cruzan streams; cambios de alcance; gaps del producto empaquetado; customizaciones; decisiones que afectan a PISA o a la coexistencia.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43400" y="49377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queda en el stream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internas a una plataforma, sin impacto en interfaces, datos ni procesos de otros dominios.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11312" y="49377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su función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comerciales o financieros; sustituir a los arquitectos de stream; frenar releases con análisis que no aporta a la decisión.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se instala ahora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necesidad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45720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arquitectura To-Be con baseline aprobado (ARQ-01). </a:t>
            </a: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decide con información parcial. Cuatro decisiones abiertas sin dueño formal lo ilustran: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207008"/>
            <a:ext cx="269748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2070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80944" y="1207008"/>
            <a:ext cx="425196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90672" y="12070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hoy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0336" y="1207008"/>
            <a:ext cx="4672584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70064" y="1207008"/>
            <a:ext cx="4489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Design Authority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554480"/>
            <a:ext cx="26974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80944" y="1554480"/>
            <a:ext cx="425196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60336" y="1554480"/>
            <a:ext cx="4672584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1554480"/>
            <a:ext cx="73152" cy="1088136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1627632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 de Apolo
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1–9 segundos por llamada en producción; hasta 30 en QA. Bloquea salida a Mercado Abierto (ARQ-03).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90672" y="1627632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ajusta caché y red por su cuenta; el recorrido Apigee→MuleSoft→VPN→AWS→EKS no tiene dueño único.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70064" y="1627632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NFR baseline por endpoint; revisar hops; asignar dueño. NFT de carga como gate de Mercado Abierto.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642616"/>
            <a:ext cx="2697480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80944" y="2642616"/>
            <a:ext cx="4251960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60336" y="2642616"/>
            <a:ext cx="4672584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2642616"/>
            <a:ext cx="73152" cy="1088136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0624" y="2715768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Coexistencia con PISA
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Decomiso de PISA es parte central del ahorro proyectado; su viabilidad no está confirmada (ARQ-07).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90672" y="2715768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stream integra con PISA por separado; las dependencias se acumulan y el decomiso se aleja con cada release.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70064" y="2715768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toda dependencia nueva con PISA antes de implementarla; registrar la decisión contra el plan de decomiso.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730752"/>
            <a:ext cx="26974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980944" y="3730752"/>
            <a:ext cx="425196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60336" y="3730752"/>
            <a:ext cx="4672584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6032" y="3730752"/>
            <a:ext cx="73152" cy="108813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0624" y="3803904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cross-stream
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de despliegue de SmartVista R4 sin decidir; dependencia de ATLAS con TDC sin plan alterno.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090672" y="3803904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decisiones que cruzan plataformas quedan abiertas semanas; ningún foro arbitra entre streams.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70064" y="3803904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la decisión en sesión con quórum; registrar owner, condición y fecha en el decision log.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818888"/>
            <a:ext cx="2697480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980944" y="4818888"/>
            <a:ext cx="4251960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260336" y="4818888"/>
            <a:ext cx="4672584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56032" y="4818888"/>
            <a:ext cx="73152" cy="108813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0624" y="4892040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de arquitectos
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interna del 60%; permanencia promedio 10 meses. El conocimiento no se consolida.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090672" y="4892040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 arquitecto sale, el criterio de sus decisiones sale con él; el siguiente repite el análisis.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70064" y="4892040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cada decisión en ADRs y decision log; el criterio queda en el programa, no en la persona.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opera: el ciclo de una decisión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420624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análisis se prepara entre sesiones. El Comité recibe el dossier y decide; un caso estándar cierra en 3 días hábiles, uno complejo en dos ciclos.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77440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de decisión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42816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88536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Filtra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88536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Admisión y prioridad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53912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9632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Analiza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E2E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065008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10728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Decide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10728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con quórum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976104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21824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Comunica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21824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y difusión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1901952"/>
            <a:ext cx="2011680" cy="93268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1901952"/>
            <a:ext cx="1792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Solicitante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 de stream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1901952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04872" y="19476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una decisión que cruza su stream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42816" y="1901952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53912" y="1901952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27064" y="19476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Aporta contexto de su plataforma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65008" y="1901952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138160" y="19476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el caso; responde preguntas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76104" y="1901952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049256" y="19476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la decisión en entrega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2889504"/>
            <a:ext cx="2011680" cy="93268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2889504"/>
            <a:ext cx="1792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Delegado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arquitectos + SMEs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331720" y="2889504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242816" y="2889504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53912" y="2889504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27064" y="2935224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impacto E2E; documenta opciones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65008" y="2889504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138160" y="2935224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el análisis al Comité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976104" y="2889504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56032" y="3877056"/>
            <a:ext cx="2011680" cy="93268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3877056"/>
            <a:ext cx="1792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Decisión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 + leads + SME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331720" y="3877056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242816" y="3877056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153912" y="3877056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065008" y="3877056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138160" y="392277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Aprueba, condiciona, rechaza o escala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976104" y="3877056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56032" y="4864608"/>
            <a:ext cx="2011680" cy="93268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4864608"/>
            <a:ext cx="1792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331720" y="4864608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404872" y="491032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en el backlog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42816" y="4864608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15968" y="491032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alcance y completitud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53912" y="4864608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227064" y="491032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 y asigna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065008" y="4864608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976104" y="4864608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049256" y="491032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en el log; notifica a los streams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56032" y="5888736"/>
            <a:ext cx="11676888" cy="54864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75488" y="588873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Escalamiento.  </a:t>
            </a: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decisiones que superan el ámbito del Comité —alcance del programa, sobrecosto, conflicto irresoluble entre streams— pasan al Equipo Central.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 al DA y qué resuelve el stream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402336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Situaciones reales del programa traducidas a una decisión de enrutamiento: al DA, al stream o al PMO.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133856"/>
            <a:ext cx="672084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133856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en UNITY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04304" y="1133856"/>
            <a:ext cx="118872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14032" y="11338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1133856"/>
            <a:ext cx="370332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39328" y="11338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4813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14813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 tarda 1–9 seg por llamada proxy; se propone rediseñar la arquitectura de caché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04304" y="14813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32320" y="1581912"/>
            <a:ext cx="932688" cy="25603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0" y="15819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0" y="14813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57616" y="1481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 Mercado Abierto (ARQ-03)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19385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19385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la integración Apolo–PISA más allá de la Fase 1 de CED N4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04304" y="19385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32320" y="2039112"/>
            <a:ext cx="932688" cy="25603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0" y="20391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0" y="19385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57616" y="1938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Extiende dependencia con PISA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23957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23957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de 88 SUDs ejecutan SPL sobre Informix; qué migrar antes de decomisar PISA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04304" y="23957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32320" y="2496312"/>
            <a:ext cx="932688" cy="25603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0" y="24963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0" y="23957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57616" y="2395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viabilidad del decomiso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28529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28529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SmartVista R4 con dos escenarios de despliegue sin decidir (Esc.1 vs Esc.2)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04304" y="28529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132320" y="2953512"/>
            <a:ext cx="932688" cy="25603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132320" y="29535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0" y="28529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57616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 release cross-stream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33101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33101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 no activa Gestión de Cobranza en ningún release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04304" y="33101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132320" y="3410712"/>
            <a:ext cx="932688" cy="25603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32320" y="34107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29600" y="33101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357616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funcional sin dueño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6032" y="37673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84048" y="37673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Prometeo Gestor Documental no tiene correspondencia en Apolo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004304" y="37673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132320" y="3867912"/>
            <a:ext cx="932688" cy="25603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132320" y="38679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229600" y="37673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357616" y="3767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legado sin destino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56032" y="42245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84048" y="42245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 configuración de Transact interno al módulo de captación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004304" y="42245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132320" y="4325112"/>
            <a:ext cx="932688" cy="256032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132320" y="43251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229600" y="42245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357616" y="4224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impacto cross-stream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56032" y="46817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84048" y="46817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el flujo de autorización POS actual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004304" y="46817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132320" y="4782312"/>
            <a:ext cx="932688" cy="256032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132320" y="47823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229600" y="46817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357616" y="4681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arquitectura interna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56032" y="51389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84048" y="51389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entre el stream de SmartVista y el equipo de CAT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004304" y="51389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132320" y="5239512"/>
            <a:ext cx="932688" cy="256032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132320" y="52395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229600" y="51389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357616" y="5138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sin conflicto de diseño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56032" y="55961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84048" y="55961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stream de Apolo pregunta si puede usar una API existente de MuleSoft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004304" y="55961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132320" y="5696712"/>
            <a:ext cx="932688" cy="25603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132320" y="56967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229600" y="55961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357616" y="5596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DA si cruza streams o afecta Legado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56032" y="6099048"/>
            <a:ext cx="11676888" cy="402336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75488" y="609904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decisión afecta a otro stream, a la arquitectura transversal, al alcance del programa o a PISA, es tema del DA.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quién los ocupa en UNITY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 parte del talento ya está en el programa. El DA lo organiza en cuatro roles con una función distinta cada uno.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251460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097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98064" y="1097280"/>
            <a:ext cx="507492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10972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00416" y="1097280"/>
            <a:ext cx="4032504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10144" y="1097280"/>
            <a:ext cx="3849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lo ocupa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426464"/>
            <a:ext cx="2514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98064" y="1426464"/>
            <a:ext cx="5074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00416" y="1426464"/>
            <a:ext cx="40325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1426464"/>
            <a:ext cx="64008" cy="1005840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1499616"/>
            <a:ext cx="23042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 y decide desempates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07792" y="1499616"/>
            <a:ext cx="4892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 las sesiones; fija el quórum por severidad; escala las Críticas al sponsor; firma los sign-offs de arquitectura.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10144" y="1499616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Mejía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BanCoppel · Arquitectura TI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432304"/>
            <a:ext cx="2514600" cy="932688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98064" y="2432304"/>
            <a:ext cx="5074920" cy="932688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00416" y="2432304"/>
            <a:ext cx="4032504" cy="932688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2432304"/>
            <a:ext cx="64008" cy="93268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2336" y="2505456"/>
            <a:ext cx="23042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 el ciclo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07792" y="2505456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y filtra los RFAs; prioriza por impacto en releases 2026; prepara la agenda; mantiene el decision log.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10144" y="2505456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definir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Accenture · 0.5 FTE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364992"/>
            <a:ext cx="251460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98064" y="3364992"/>
            <a:ext cx="507492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900416" y="3364992"/>
            <a:ext cx="4032504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6032" y="3364992"/>
            <a:ext cx="64008" cy="1060704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3438144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Delegado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el análisis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07792" y="343814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el impacto E2E y documenta las opciones antes de cada sesión. Se asigna por RFA, no es grupo fijo.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10144" y="343814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Arquitectos Apolo, Transact, SmartVista, Legado + SME Seguridad + SME Datos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· BanCoppel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425696"/>
            <a:ext cx="2514600" cy="98755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98064" y="4425696"/>
            <a:ext cx="5074920" cy="98755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900416" y="4425696"/>
            <a:ext cx="4032504" cy="98755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56032" y="4425696"/>
            <a:ext cx="64008" cy="9875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02336" y="4498848"/>
            <a:ext cx="2304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Decisión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aprueba o escala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07792" y="4498848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el dossier y decide: aprueba, condiciona, rechaza o escala. No analiza en sesión.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10144" y="449884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 + Lead AMS + Directores de Programa + BRM + SMEs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quórum: Edgar + Lead AMS + SME Seguridad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5413248"/>
            <a:ext cx="25146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98064" y="5413248"/>
            <a:ext cx="5074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900416" y="5413248"/>
            <a:ext cx="403250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56032" y="5413248"/>
            <a:ext cx="64008" cy="89611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02336" y="548640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Central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 final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907792" y="548640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 lo que supera al Comité: alcance del programa, sobrecosto, conflicto irresoluble entre streams.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10144" y="54864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 ejecutivos BanCoppel y Accenture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eleva; no decide solo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en scope y tipos de decisión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operativo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dominios en scope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42416"/>
            <a:ext cx="2331720" cy="292608"/>
          </a:xfrm>
          <a:prstGeom prst="rect">
            <a:avLst/>
          </a:prstGeom>
          <a:solidFill>
            <a:srgbClr val="08175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104241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15184" y="1042416"/>
            <a:ext cx="2148840" cy="292608"/>
          </a:xfrm>
          <a:prstGeom prst="rect">
            <a:avLst/>
          </a:prstGeom>
          <a:solidFill>
            <a:srgbClr val="08175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06624" y="1042416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91456" y="1042416"/>
            <a:ext cx="7141464" cy="292608"/>
          </a:xfrm>
          <a:prstGeom prst="rect">
            <a:avLst/>
          </a:prstGeom>
          <a:solidFill>
            <a:srgbClr val="08175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82896" y="1042416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clave para el 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1335024"/>
            <a:ext cx="233172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15184" y="1335024"/>
            <a:ext cx="21488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91456" y="1335024"/>
            <a:ext cx="7141464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1335024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/ Onboarding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06624" y="1335024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01184" y="1335024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dual con Transact en CED N4: Apolo hace onboarding, Transact el core. No son la misma plataforma.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1732788"/>
            <a:ext cx="233172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15184" y="1732788"/>
            <a:ext cx="214884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91456" y="1732788"/>
            <a:ext cx="7141464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1732788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Transaccional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06624" y="1732788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 (T24)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01184" y="1732788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R1–R4. Préstamo Simple es Transact R4, no Apolo.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130552"/>
            <a:ext cx="233172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615184" y="2130552"/>
            <a:ext cx="21488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91456" y="2130552"/>
            <a:ext cx="7141464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2130552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y Pagos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06624" y="2130552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SmartVista (BPC)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01184" y="2130552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R3/R4/R4.5, TDC Clásica. Escenario de despliegue R4 sin decidir.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2528316"/>
            <a:ext cx="233172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615184" y="2528316"/>
            <a:ext cx="214884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91456" y="2528316"/>
            <a:ext cx="7141464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2528316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Legado / PISA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06624" y="2528316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PISA/Informix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01184" y="2528316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aplicaciones. Decomiso sin confirmar; 13.000–14.000 SPLs sin mapear. Toda decisión que afecte PISA es de alto riesgo.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2926080"/>
            <a:ext cx="233172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615184" y="2926080"/>
            <a:ext cx="21488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91456" y="2926080"/>
            <a:ext cx="7141464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2926080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06624" y="2926080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· MuleSoft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01184" y="2926080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ATLAS/Golden Record: dependencia crítica para TDC R4 en Sep-2026. Migración Apigee→MuleSoft en curso.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3323844"/>
            <a:ext cx="233172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615184" y="3323844"/>
            <a:ext cx="214884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91456" y="3323844"/>
            <a:ext cx="7141464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" y="3323844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/ MDM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706624" y="3323844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· DataStage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01184" y="3323844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Record no activado en ningún release de Transact. Laguna de arquitectura de datos.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" y="3794760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75488" y="379476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tipos de RFA — la solicitud formal de decisión al DA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" y="4251960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56032" y="4251960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56032" y="425196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749808" y="43251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Coexistencia Legado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Transact toma el control y Apolo deja de inyectar en PISA?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206240" y="4251960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206240" y="4251960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206240" y="425196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4700016" y="43251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funcionales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 no cubre Gestión de Cobranza. ¿Qué plataforma la asume?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156448" y="4251960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156448" y="4251960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156448" y="425196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8650224" y="43251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cross-plataforma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¿Plan alterno para TDC R3 si ATLAS se atrasa respecto a Sep-2026?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56032" y="5148072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56032" y="5148072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56032" y="5148072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749808" y="5221224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 release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¿Escenario de despliegue de SmartVista R4: Esc.1 o Esc.2?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206240" y="5148072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206240" y="5148072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206240" y="5148072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4700016" y="5221224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Decomiso de PISA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SPLs se migran en 2026 y cuáles siguen en coexistencia?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8156448" y="5148072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156448" y="5148072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156448" y="5148072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8650224" y="5221224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Artefactos estratégicos
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blueprint, arquitecturas transitorias y principios de arquitectura.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severidad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severidad define quién decide y con qué urgencia. No todo pasa por el Comité con quórum completo.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160020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097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83664" y="1097280"/>
            <a:ext cx="626364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93392" y="109728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en UNITY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74736" y="1097280"/>
            <a:ext cx="3758184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84464" y="1097280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decide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444752"/>
            <a:ext cx="1600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83664" y="1444752"/>
            <a:ext cx="6263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74736" y="1444752"/>
            <a:ext cx="375818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1883664"/>
            <a:ext cx="1371600" cy="310896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93392" y="1517904"/>
            <a:ext cx="6053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la arquitectura To-Be, la coexistencia o el decomiso de PISA, el business case 2030, o la latencia de Apolo para Mercado Abierto. Decisión de plataforma irreversible.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84464" y="1517904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a Chair + Sponsor ejecutivo antes de proceder. Equipo Central. ADR.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633472"/>
            <a:ext cx="1600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83664" y="2633472"/>
            <a:ext cx="6263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74736" y="2633472"/>
            <a:ext cx="375818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026664"/>
            <a:ext cx="1371600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026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93392" y="2706624"/>
            <a:ext cx="60533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una integración E2E, el alcance de una iniciativa 2026, la capacidad de una plataforma de cumplir el release, o implica customización del empaquetado.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84464" y="2706624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Decisión con quórum completo. ADR.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730752"/>
            <a:ext cx="1600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83664" y="3730752"/>
            <a:ext cx="6263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174736" y="3730752"/>
            <a:ext cx="3758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4055364"/>
            <a:ext cx="1371600" cy="31089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0553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93392" y="3803904"/>
            <a:ext cx="6053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una aplicación del inventario sin impacto cross-stream, o un entregable de arquitectura sin impacto en releases activos.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84464" y="3803904"/>
            <a:ext cx="35478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técnico (Accenture + Arquitectura BCP). Registro en el log.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690872"/>
            <a:ext cx="1600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83664" y="4690872"/>
            <a:ext cx="6263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74736" y="4690872"/>
            <a:ext cx="375818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5760" y="4956048"/>
            <a:ext cx="1371600" cy="31089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956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993392" y="4764024"/>
            <a:ext cx="6053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Documentación, convenciones de nomenclatura, deuda técnica ya registrada, cambios de configuración sin impacto estructural.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284464" y="4764024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 responsable del stream. Nota en el log.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5577840"/>
            <a:ext cx="11676888" cy="56692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56032" y="5577840"/>
            <a:ext cx="91440" cy="566928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5488" y="557784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especial PISA.  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decisión que afecte a PISA es Crítica si toca el decomiso o el business case; Alta si crea o extiende una dependencia; Media solo si documenta una ya conocida.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hacer que el DA funcione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 funciona como aliado de los streams, no como obstáculo. Seis prácticas lo sostienen; tres lo hacen colapsar.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170432"/>
            <a:ext cx="5742432" cy="43891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1170432"/>
            <a:ext cx="5376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1719072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1719072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1773936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compromisos en beneficio del programa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 no existe para que gane un dominio, sino para que el programa avance coherente.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505456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505456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2560320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toda solicitud y decisión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trazabilidad el DA no tiene historia; lo que entra y lo que sale queda en el log.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291840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3291840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3346704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a tiempo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 a tiempo vale más que una perfecta tres semanas tarde.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078224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4078224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4133088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las decisiones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 que no se comunica no existe para el programa.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4864608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4864608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4919472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con supuestos cuando la incertidumbre no se elimina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con la información disponible es más útil que no decidir.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5650992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6032" y="5650992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8912" y="5705856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Involucrar a los streams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 funciona cuando los streams lo perciben como aliado.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0488" y="1170432"/>
            <a:ext cx="5742432" cy="43891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73368" y="1170432"/>
            <a:ext cx="5376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90488" y="1719072"/>
            <a:ext cx="5742432" cy="153619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90488" y="1719072"/>
            <a:ext cx="64008" cy="153619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91656" y="1828800"/>
            <a:ext cx="5376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desempoderar a los streams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decisiones locales se quedan en el stream. Si el DA absorbe todo, los streams se paralizan y el DA colapsa bajo su propio peso.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90488" y="3310128"/>
            <a:ext cx="5742432" cy="153619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90488" y="3310128"/>
            <a:ext cx="64008" cy="153619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91656" y="3419856"/>
            <a:ext cx="5376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dejar de comunicar las decisiones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Omitir la comunicación crea confusión, duplica trabajo y erosiona la legitimidad del DA.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90488" y="4901184"/>
            <a:ext cx="5742432" cy="153619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90488" y="4901184"/>
            <a:ext cx="64008" cy="153619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91656" y="5010912"/>
            <a:ext cx="5376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llevar análisis incompletos al Comité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Comité no es el lugar para terminar el análisis. Si no está listo, se pospone el ítem o la sesión.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y estado de arranque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por fase del programa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60704"/>
            <a:ext cx="116768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1060704"/>
            <a:ext cx="64008" cy="512064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" y="106070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Reingeniería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10607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jul–oct 2026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106070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quincenal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106070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RFAs de mayor complejidad; el Equipo Delegado necesita más tiempo de análisis.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1609344"/>
            <a:ext cx="11676888" cy="5120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1609344"/>
            <a:ext cx="64008" cy="512064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16093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activos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16093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SmartVista R3/R4, CED N4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16093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semanal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160934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activa cuando hay RFAs urgentes; no es el default.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157984"/>
            <a:ext cx="116768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2157984"/>
            <a:ext cx="64008" cy="512064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" y="21579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Hypercare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0" y="21579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go-live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215798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demanda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215798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una sesión de validación post-despliegue por release.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272491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extraordinarias para Críticas: convocatoria con 48 h; dossier disponible 24 h antes.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090672"/>
            <a:ext cx="11676888" cy="36576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" y="309067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arranque no parte de cero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3547872"/>
            <a:ext cx="5742432" cy="178308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8912" y="3639312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existe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3986784"/>
            <a:ext cx="5285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Mejía como Chair (jul 2026)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 del DA documentado (E-AQ-06)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del programa: ARQ-01, MR-04, INT-01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inicial de integraciones (E-IN-03)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AS-IS parcial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0488" y="3547872"/>
            <a:ext cx="5742432" cy="178308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73368" y="3639312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confirmar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37376" y="3986784"/>
            <a:ext cx="5285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del DA designado (PMO)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operativo del DA (Jira o equivalente)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arquitectura aprobados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Legado 1a iteración (E-AQ-02)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Quórum del Comité con nombres confirmados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una semana de sesión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semanal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420624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solicitud entra el lunes y la decisión se comunica el viernes. </a:t>
            </a: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análisis se prepara entre semana; el Comité recibe el dossier listo y decide.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59152" y="1225296"/>
            <a:ext cx="1869034" cy="420624"/>
          </a:xfrm>
          <a:prstGeom prst="rect">
            <a:avLst/>
          </a:prstGeom>
          <a:solidFill>
            <a:srgbClr val="0528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59152" y="1225296"/>
            <a:ext cx="18690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3906" y="1225296"/>
            <a:ext cx="1869034" cy="420624"/>
          </a:xfrm>
          <a:prstGeom prst="rect">
            <a:avLst/>
          </a:prstGeom>
          <a:solidFill>
            <a:srgbClr val="0528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73906" y="1225296"/>
            <a:ext cx="18690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8659" y="1225296"/>
            <a:ext cx="1869034" cy="420624"/>
          </a:xfrm>
          <a:prstGeom prst="rect">
            <a:avLst/>
          </a:prstGeom>
          <a:solidFill>
            <a:srgbClr val="0528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88659" y="1225296"/>
            <a:ext cx="18690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Miércoles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03413" y="1225296"/>
            <a:ext cx="1869034" cy="420624"/>
          </a:xfrm>
          <a:prstGeom prst="rect">
            <a:avLst/>
          </a:prstGeom>
          <a:solidFill>
            <a:srgbClr val="0528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03413" y="1225296"/>
            <a:ext cx="18690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Jueves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18166" y="1225296"/>
            <a:ext cx="1869034" cy="420624"/>
          </a:xfrm>
          <a:prstGeom prst="rect">
            <a:avLst/>
          </a:prstGeom>
          <a:solidFill>
            <a:srgbClr val="0528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18166" y="1225296"/>
            <a:ext cx="18690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1225296"/>
            <a:ext cx="2103120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12252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1700784"/>
            <a:ext cx="2103120" cy="932688"/>
          </a:xfrm>
          <a:prstGeom prst="rect">
            <a:avLst/>
          </a:prstGeom>
          <a:solidFill>
            <a:srgbClr val="0528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1700784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de dominio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 el RFA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59152" y="1700784"/>
            <a:ext cx="1869034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23160" y="1746504"/>
            <a:ext cx="17410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el RFA nuevo al Administrador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73906" y="170078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88659" y="170078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03413" y="170078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018166" y="170078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6032" y="2706624"/>
            <a:ext cx="2103120" cy="932688"/>
          </a:xfrm>
          <a:prstGeom prst="rect">
            <a:avLst/>
          </a:prstGeom>
          <a:solidFill>
            <a:srgbClr val="0528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" y="2706624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359152" y="2706624"/>
            <a:ext cx="1869034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423160" y="2752344"/>
            <a:ext cx="17410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scan; prioriza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73906" y="2706624"/>
            <a:ext cx="1869034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37914" y="2752344"/>
            <a:ext cx="17410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al Equipo Delegado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88659" y="270662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103413" y="2706624"/>
            <a:ext cx="1869034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167421" y="2752344"/>
            <a:ext cx="17410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 el dossier para el Comité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018166" y="2706624"/>
            <a:ext cx="1869034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082174" y="2752344"/>
            <a:ext cx="17410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 decisiones; actualiza el log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" y="3712464"/>
            <a:ext cx="2103120" cy="932688"/>
          </a:xfrm>
          <a:prstGeom prst="rect">
            <a:avLst/>
          </a:prstGeom>
          <a:solidFill>
            <a:srgbClr val="0528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" y="3712464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Delegado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359152" y="371246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273906" y="3712464"/>
            <a:ext cx="1869034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337914" y="3758184"/>
            <a:ext cx="17410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impacto E2E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88659" y="3712464"/>
            <a:ext cx="1869034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52667" y="3758184"/>
            <a:ext cx="17410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el dossier de opciones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103413" y="371246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018166" y="371246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56032" y="4718304"/>
            <a:ext cx="2103120" cy="932688"/>
          </a:xfrm>
          <a:prstGeom prst="rect">
            <a:avLst/>
          </a:prstGeom>
          <a:solidFill>
            <a:srgbClr val="0528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7472" y="4718304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Decisión
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359152" y="471830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273906" y="471830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188659" y="471830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103413" y="4718304"/>
            <a:ext cx="186903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018166" y="4718304"/>
            <a:ext cx="1869034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082174" y="4764024"/>
            <a:ext cx="17410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Sesión: aprueba, condiciona, rechaza o escala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56032" y="5769864"/>
            <a:ext cx="11676888" cy="56692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56032" y="5769864"/>
            <a:ext cx="91440" cy="566928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5488" y="57698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Reingeniería este ciclo se ejecuta cada dos semanas. 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sesión del Comité es quincenal; en la semana sin sesión el Equipo Delegado avanza el análisis de los RFAs en curso.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quincenal en Reingeniería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quincenal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420624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Comité sesiona cada dos semanas. </a:t>
            </a: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semana 1 acumula y analiza; la semana 2 decide y comunica. Las Críticas no esperan: sesión extraordinaria con 48 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280160"/>
            <a:ext cx="5742432" cy="47548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1280160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 — Recepción y análisis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1865376"/>
            <a:ext cx="5742432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1865376"/>
            <a:ext cx="1188720" cy="932688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" y="1865376"/>
            <a:ext cx="1078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Lun–Mar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19202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responsables de dominio entregan RFAs nuevos; el Administrador hace quick scan y prioriza.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871216"/>
            <a:ext cx="5742432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2871216"/>
            <a:ext cx="1188720" cy="932688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0896" y="2871216"/>
            <a:ext cx="1078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Mar–Jue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2926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Delegado analiza impacto E2E de los casos asignados.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877056"/>
            <a:ext cx="5742432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877056"/>
            <a:ext cx="1188720" cy="932688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" y="3877056"/>
            <a:ext cx="1078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3931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de análisis; no hay sesión de Comité esta semana.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0488" y="1280160"/>
            <a:ext cx="5742432" cy="47548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55080" y="1280160"/>
            <a:ext cx="5413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2 — Decisión y comunicación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90488" y="1865376"/>
            <a:ext cx="5742432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90488" y="1865376"/>
            <a:ext cx="1188720" cy="932688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1865376"/>
            <a:ext cx="1078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Lun–Mié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07224" y="19202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Delegado cierra los dossiers de opciones.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0488" y="2871216"/>
            <a:ext cx="5742432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90488" y="2871216"/>
            <a:ext cx="1188720" cy="932688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2871216"/>
            <a:ext cx="1078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07224" y="2926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Administrador publica los dossiers para lectura del Comité.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0488" y="3877056"/>
            <a:ext cx="5742432" cy="932688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90488" y="3877056"/>
            <a:ext cx="1188720" cy="932688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45352" y="3877056"/>
            <a:ext cx="1078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07224" y="3931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del Comité: decide. Se comunican decisiones y se actualiza el log; los escalados pasan al Equipo Central.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5760720"/>
            <a:ext cx="11676888" cy="54864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56032" y="5760720"/>
            <a:ext cx="91440" cy="548640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" y="57607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ciclo: 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RFA de severidad Crítica no espera al siguiente Comité; el Administrador convoca sesión extraordinaria con 48 h de antelación y el dossier disponible 24 h antes.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decisiones que esperan al 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inicial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6583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documentadas como pendientes o sin dueño. Son el primer backlog del DA en la Fase de Reingeniería.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777240" cy="310896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1097280"/>
            <a:ext cx="630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33272" y="1097280"/>
            <a:ext cx="8503920" cy="310896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1097280"/>
            <a:ext cx="8357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pendiente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37192" y="1097280"/>
            <a:ext cx="2395728" cy="310896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28632" y="10972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RFA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1408176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33272" y="1408176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37192" y="1408176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140817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140817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R4 SmartVista: Esc.1 (4 despliegues Q4-2026) vs Esc.2 (único Dic-2026)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28632" y="140817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Alcance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1847088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33272" y="1847088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37192" y="1847088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184708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" y="18470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Préstamo Simple: F&amp;F vs migración de cartera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28632" y="184708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Alcance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28600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33272" y="228600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37192" y="2286000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2286000"/>
            <a:ext cx="54864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228600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22860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alterno para TDC R3 F&amp;F si ATLAS se atrasa respecto a Sep-2026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28632" y="228600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Integración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724912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33272" y="2724912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37192" y="2724912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6032" y="2724912"/>
            <a:ext cx="54864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272491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" y="272491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de Legado con Transact, Apolo y SmartVista — por confirmar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628632" y="272491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Coexistencia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3163824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33272" y="3163824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537192" y="3163824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316382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43000" y="316382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Cobranza: ningún release de Transact la activa — ¿qué plataforma?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628632" y="316382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Gap funcional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56032" y="3602736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33272" y="3602736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537192" y="3602736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360273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43000" y="360273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Prometeo Gestor Documental sin correspondencia en Apolo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628632" y="36027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Gap funcional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6032" y="4041648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33272" y="4041648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537192" y="4041648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5760" y="404164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L-07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43000" y="40416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de Transact R1/R2: discrepancia entre EY y roadmap maestro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628632" y="40416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Estratégico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56032" y="4480560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033272" y="4480560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537192" y="4480560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5760" y="44805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143000" y="44805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Federación SSO: tres capas de autenticación sin federar (OFI, RSA, VCAS)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9628632" y="44805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Seguridad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56032" y="491947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33272" y="4919472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537192" y="4919472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65760" y="491947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143000" y="4919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Apigee → MuleSoft: qué integraciones nuevas van a qué capa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628632" y="491947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Integración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56032" y="5358384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33272" y="5358384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9537192" y="5358384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56032" y="5358384"/>
            <a:ext cx="54864" cy="43891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65760" y="535838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L-10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143000" y="535838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 de decomiso de PISA: 13.000–14.000 SPLs sin mapa funcional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9628632" y="53583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Decomiso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74320" y="5843016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L-03, L-04 y L-10 son prioridad: bloquean releases 2026 o el business case. Rojo = Crítica, ámbar = Alta.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gen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b-left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b-right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EE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cb-mk"/>
          <p:cNvSpPr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b-gt"/>
          <p:cNvSpPr txBox="1"/>
          <p:nvPr/>
        </p:nvSpPr>
        <p:spPr>
          <a:xfrm>
            <a:off x="475488" y="475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</p:txBody>
      </p:sp>
      <p:sp>
        <p:nvSpPr>
          <p:cNvPr id="15" name="cb-tagbg"/>
          <p:cNvSpPr/>
          <p:nvPr/>
        </p:nvSpPr>
        <p:spPr>
          <a:xfrm>
            <a:off x="475488" y="1097280"/>
            <a:ext cx="2743200" cy="310896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b-tag"/>
          <p:cNvSpPr txBox="1"/>
          <p:nvPr/>
        </p:nvSpPr>
        <p:spPr>
          <a:xfrm>
            <a:off x="475488" y="1097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URGENTES</a:t>
            </a:r>
          </a:p>
        </p:txBody>
      </p:sp>
      <p:sp>
        <p:nvSpPr>
          <p:cNvPr id="17" name="cb-title"/>
          <p:cNvSpPr txBox="1"/>
          <p:nvPr/>
        </p:nvSpPr>
        <p:spPr>
          <a:xfrm>
            <a:off x="475488" y="16916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E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hay que resolver con urgencia?</a:t>
            </a:r>
          </a:p>
        </p:txBody>
      </p:sp>
      <p:sp>
        <p:nvSpPr>
          <p:cNvPr id="18" name="cb-sub"/>
          <p:cNvSpPr txBox="1"/>
          <p:nvPr/>
        </p:nvSpPr>
        <p:spPr>
          <a:xfrm>
            <a:off x="475488" y="3291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15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decisiones que esperan al Design Authority desde su primera sesión</a:t>
            </a:r>
          </a:p>
        </p:txBody>
      </p:sp>
      <p:sp>
        <p:nvSpPr>
          <p:cNvPr id="19" name="cb-rl"/>
          <p:cNvSpPr txBox="1"/>
          <p:nvPr/>
        </p:nvSpPr>
        <p:spPr>
          <a:xfrm>
            <a:off x="585216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AUTHORITY</a:t>
            </a:r>
          </a:p>
        </p:txBody>
      </p:sp>
      <p:sp>
        <p:nvSpPr>
          <p:cNvPr id="20" name="cb-rl2"/>
          <p:cNvSpPr txBox="1"/>
          <p:nvPr/>
        </p:nvSpPr>
        <p:spPr>
          <a:xfrm>
            <a:off x="5852160" y="868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gobierno de arquitectura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requisi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hdr-bar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hdr-yellow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hdr-gt"/>
          <p:cNvSpPr txBox="1"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</p:txBody>
      </p:sp>
      <p:sp>
        <p:nvSpPr>
          <p:cNvPr id="25" name="hdr-title-bg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hdr-title"/>
          <p:cNvSpPr txBox="1"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desbloqueador: principios de arquitectura</a:t>
            </a:r>
          </a:p>
        </p:txBody>
      </p:sp>
      <p:sp>
        <p:nvSpPr>
          <p:cNvPr id="27" name="hdr-tag-bg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hdr-tag"/>
          <p:cNvSpPr txBox="1"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PREREQUISITO</a:t>
            </a:r>
          </a:p>
        </p:txBody>
      </p:sp>
      <p:sp>
        <p:nvSpPr>
          <p:cNvPr id="29" name="hdr-btn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ec-hdr-bg"/>
          <p:cNvSpPr/>
          <p:nvPr/>
        </p:nvSpPr>
        <p:spPr>
          <a:xfrm>
            <a:off x="256032" y="658368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ec-hdr"/>
          <p:cNvSpPr txBox="1"/>
          <p:nvPr/>
        </p:nvSpPr>
        <p:spPr>
          <a:xfrm>
            <a:off x="475488" y="6583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decidir nada: los principios de arquitectura</a:t>
            </a:r>
          </a:p>
        </p:txBody>
      </p:sp>
      <p:sp>
        <p:nvSpPr>
          <p:cNvPr id="32" name="sec-body-bg"/>
          <p:cNvSpPr/>
          <p:nvPr/>
        </p:nvSpPr>
        <p:spPr>
          <a:xfrm>
            <a:off x="256032" y="1042416"/>
            <a:ext cx="11676888" cy="731520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ec-body"/>
          <p:cNvSpPr txBox="1"/>
          <p:nvPr/>
        </p:nvSpPr>
        <p:spPr>
          <a:xfrm>
            <a:off x="475488" y="1097280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 no emite decisiones vinculantes hasta que existan principios de arquitectura aprobados por el liderazgo de BanCoppel. Hasta entonces cualquier decisión del DA es orientativa, no vinculante.</a:t>
            </a:r>
          </a:p>
        </p:txBody>
      </p:sp>
      <p:sp>
        <p:nvSpPr>
          <p:cNvPr id="34" name="sec-hdr-bg"/>
          <p:cNvSpPr/>
          <p:nvPr/>
        </p:nvSpPr>
        <p:spPr>
          <a:xfrm>
            <a:off x="256032" y="1828800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ec-hdr"/>
          <p:cNvSpPr txBox="1"/>
          <p:nvPr/>
        </p:nvSpPr>
        <p:spPr>
          <a:xfrm>
            <a:off x="475488" y="18288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crítica</a:t>
            </a:r>
          </a:p>
        </p:txBody>
      </p:sp>
      <p:sp>
        <p:nvSpPr>
          <p:cNvPr id="36" name="sec-body-bg"/>
          <p:cNvSpPr/>
          <p:nvPr/>
        </p:nvSpPr>
        <p:spPr>
          <a:xfrm>
            <a:off x="256032" y="2212848"/>
            <a:ext cx="11676888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ec-body"/>
          <p:cNvSpPr txBox="1"/>
          <p:nvPr/>
        </p:nvSpPr>
        <p:spPr>
          <a:xfrm>
            <a:off x="475488" y="2267712"/>
            <a:ext cx="11247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Convocar un taller de co-creación de principios con los leads de Apolo, Transact, SmartVista y Legado en las primeras semanas de la Fase de Reingeniería. Los principios deben quedar aprobados antes del primer DA formal.</a:t>
            </a:r>
          </a:p>
        </p:txBody>
      </p:sp>
      <p:sp>
        <p:nvSpPr>
          <p:cNvPr id="38" name="sec-hdr-bg"/>
          <p:cNvSpPr/>
          <p:nvPr/>
        </p:nvSpPr>
        <p:spPr>
          <a:xfrm>
            <a:off x="256032" y="3044952"/>
            <a:ext cx="11676888" cy="384048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ec-hdr"/>
          <p:cNvSpPr txBox="1"/>
          <p:nvPr/>
        </p:nvSpPr>
        <p:spPr>
          <a:xfrm>
            <a:off x="475488" y="3044952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 urgente</a:t>
            </a:r>
          </a:p>
        </p:txBody>
      </p:sp>
      <p:sp>
        <p:nvSpPr>
          <p:cNvPr id="40" name="sec-body-bg"/>
          <p:cNvSpPr/>
          <p:nvPr/>
        </p:nvSpPr>
        <p:spPr>
          <a:xfrm>
            <a:off x="256032" y="3429000"/>
            <a:ext cx="11676888" cy="1097280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ec-body"/>
          <p:cNvSpPr txBox="1"/>
          <p:nvPr/>
        </p:nvSpPr>
        <p:spPr>
          <a:xfrm>
            <a:off x="475488" y="3483864"/>
            <a:ext cx="11247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de 83 capacidades de interoperabilidad están congeladas en Gap o Pendiente DA; no avanzan sin criterio de decisión.</a:t>
            </a:r>
            <a:br/>
            <a:r>
              <a:rPr lang="es-E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principios, cada stream decide por su cuenta y se reproduce ARQ-01: arquitectura fragmentada sin baseline.</a:t>
            </a:r>
            <a:br/>
            <a:r>
              <a:rPr lang="es-E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taller es el prerequisito de todo lo demás en esta sección.</a:t>
            </a:r>
          </a:p>
        </p:txBody>
      </p:sp>
      <p:sp>
        <p:nvSpPr>
          <p:cNvPr id="42" name="ft-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ft-txt"/>
          <p:cNvSpPr txBox="1"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</a:p>
        </p:txBody>
      </p:sp>
      <p:sp>
        <p:nvSpPr>
          <p:cNvPr id="44" name="ft-pg-bg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ft-pg"/>
          <p:cNvSpPr txBox="1"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nco decisiones que ningún 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hdr-bar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hdr-yellow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hdr-gt"/>
          <p:cNvSpPr txBox="1"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</p:txBody>
      </p:sp>
      <p:sp>
        <p:nvSpPr>
          <p:cNvPr id="50" name="hdr-title-bg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hdr-title"/>
          <p:cNvSpPr txBox="1"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decisiones que ningún stream resuelve solo</a:t>
            </a:r>
          </a:p>
        </p:txBody>
      </p:sp>
      <p:sp>
        <p:nvSpPr>
          <p:cNvPr id="52" name="hdr-tag-bg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hdr-tag"/>
          <p:cNvSpPr txBox="1"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CRÍTICAS</a:t>
            </a:r>
          </a:p>
        </p:txBody>
      </p:sp>
      <p:sp>
        <p:nvSpPr>
          <p:cNvPr id="54" name="hdr-btn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h-bg0"/>
          <p:cNvSpPr/>
          <p:nvPr/>
        </p:nvSpPr>
        <p:spPr>
          <a:xfrm>
            <a:off x="256032" y="658368"/>
            <a:ext cx="2788920" cy="365760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h0"/>
          <p:cNvSpPr txBox="1"/>
          <p:nvPr/>
        </p:nvSpPr>
        <p:spPr>
          <a:xfrm>
            <a:off x="365760" y="658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</a:p>
        </p:txBody>
      </p:sp>
      <p:sp>
        <p:nvSpPr>
          <p:cNvPr id="57" name="th-bg1"/>
          <p:cNvSpPr/>
          <p:nvPr/>
        </p:nvSpPr>
        <p:spPr>
          <a:xfrm>
            <a:off x="3044952" y="658368"/>
            <a:ext cx="1965960" cy="365760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h1"/>
          <p:cNvSpPr txBox="1"/>
          <p:nvPr/>
        </p:nvSpPr>
        <p:spPr>
          <a:xfrm>
            <a:off x="3154680" y="658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</a:t>
            </a:r>
          </a:p>
        </p:txBody>
      </p:sp>
      <p:sp>
        <p:nvSpPr>
          <p:cNvPr id="59" name="th-bg2"/>
          <p:cNvSpPr/>
          <p:nvPr/>
        </p:nvSpPr>
        <p:spPr>
          <a:xfrm>
            <a:off x="5010912" y="658368"/>
            <a:ext cx="6583680" cy="365760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h2"/>
          <p:cNvSpPr txBox="1"/>
          <p:nvPr/>
        </p:nvSpPr>
        <p:spPr>
          <a:xfrm>
            <a:off x="5120640" y="658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 del DA</a:t>
            </a:r>
          </a:p>
        </p:txBody>
      </p:sp>
      <p:sp>
        <p:nvSpPr>
          <p:cNvPr id="61" name="td-bg0-0"/>
          <p:cNvSpPr/>
          <p:nvPr/>
        </p:nvSpPr>
        <p:spPr>
          <a:xfrm>
            <a:off x="256032" y="1024128"/>
            <a:ext cx="2788920" cy="901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d-bg0-1"/>
          <p:cNvSpPr/>
          <p:nvPr/>
        </p:nvSpPr>
        <p:spPr>
          <a:xfrm>
            <a:off x="3044952" y="1024128"/>
            <a:ext cx="1965960" cy="901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d-bg0-2"/>
          <p:cNvSpPr/>
          <p:nvPr/>
        </p:nvSpPr>
        <p:spPr>
          <a:xfrm>
            <a:off x="5010912" y="1024128"/>
            <a:ext cx="6583680" cy="901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acc0"/>
          <p:cNvSpPr/>
          <p:nvPr/>
        </p:nvSpPr>
        <p:spPr>
          <a:xfrm>
            <a:off x="256032" y="1024128"/>
            <a:ext cx="73152" cy="901598"/>
          </a:xfrm>
          <a:prstGeom prst="rect">
            <a:avLst/>
          </a:prstGeom>
          <a:solidFill>
            <a:srgbClr val="D40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d0-0"/>
          <p:cNvSpPr txBox="1"/>
          <p:nvPr/>
        </p:nvSpPr>
        <p:spPr>
          <a:xfrm>
            <a:off x="420624" y="1078992"/>
            <a:ext cx="2532888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Adaptor a PISA/Informix — no existe adaptador genérico; ~80 SUDs ejecutan SPL sobre Informix, 13.000–14.000 stored procedures sin mapa funcional</a:t>
            </a:r>
          </a:p>
        </p:txBody>
      </p:sp>
      <p:sp>
        <p:nvSpPr>
          <p:cNvPr id="66" name="td0-1"/>
          <p:cNvSpPr txBox="1"/>
          <p:nvPr/>
        </p:nvSpPr>
        <p:spPr>
          <a:xfrm>
            <a:off x="3172968" y="1078992"/>
            <a:ext cx="174650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IC-37 / IC-38</a:t>
            </a:r>
            <a:br/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ARQ-07</a:t>
            </a:r>
          </a:p>
        </p:txBody>
      </p:sp>
      <p:sp>
        <p:nvSpPr>
          <p:cNvPr id="67" name="td0-2"/>
          <p:cNvSpPr txBox="1"/>
          <p:nvPr/>
        </p:nvSpPr>
        <p:spPr>
          <a:xfrm>
            <a:off x="5138928" y="1078992"/>
            <a:ext cx="636422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Prerequisito de la viabilidad de decomiso de PISA. Sin esta decisión, E-AQ-05 no puede cerrar</a:t>
            </a:r>
          </a:p>
        </p:txBody>
      </p:sp>
      <p:sp>
        <p:nvSpPr>
          <p:cNvPr id="68" name="td-bg1-0"/>
          <p:cNvSpPr/>
          <p:nvPr/>
        </p:nvSpPr>
        <p:spPr>
          <a:xfrm>
            <a:off x="256032" y="1925726"/>
            <a:ext cx="2788920" cy="901598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d-bg1-1"/>
          <p:cNvSpPr/>
          <p:nvPr/>
        </p:nvSpPr>
        <p:spPr>
          <a:xfrm>
            <a:off x="3044952" y="1925726"/>
            <a:ext cx="1965960" cy="901598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d-bg1-2"/>
          <p:cNvSpPr/>
          <p:nvPr/>
        </p:nvSpPr>
        <p:spPr>
          <a:xfrm>
            <a:off x="5010912" y="1925726"/>
            <a:ext cx="6583680" cy="901598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acc1"/>
          <p:cNvSpPr/>
          <p:nvPr/>
        </p:nvSpPr>
        <p:spPr>
          <a:xfrm>
            <a:off x="256032" y="1925726"/>
            <a:ext cx="73152" cy="901598"/>
          </a:xfrm>
          <a:prstGeom prst="rect">
            <a:avLst/>
          </a:prstGeom>
          <a:solidFill>
            <a:srgbClr val="D40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d1-0"/>
          <p:cNvSpPr txBox="1"/>
          <p:nvPr/>
        </p:nvSpPr>
        <p:spPr>
          <a:xfrm>
            <a:off x="420624" y="1980590"/>
            <a:ext cx="2532888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transaccional con múltiples cores — con Transact + SmartVista + PISA en paralelo, la atomicidad distribuida no está diseñada</a:t>
            </a:r>
          </a:p>
        </p:txBody>
      </p:sp>
      <p:sp>
        <p:nvSpPr>
          <p:cNvPr id="73" name="td1-1"/>
          <p:cNvSpPr txBox="1"/>
          <p:nvPr/>
        </p:nvSpPr>
        <p:spPr>
          <a:xfrm>
            <a:off x="3172968" y="1980590"/>
            <a:ext cx="174650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IC-47</a:t>
            </a:r>
            <a:br/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ARQ-10</a:t>
            </a:r>
          </a:p>
        </p:txBody>
      </p:sp>
      <p:sp>
        <p:nvSpPr>
          <p:cNvPr id="74" name="td1-2"/>
          <p:cNvSpPr txBox="1"/>
          <p:nvPr/>
        </p:nvSpPr>
        <p:spPr>
          <a:xfrm>
            <a:off x="5138928" y="1980590"/>
            <a:ext cx="636422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mecanismo (Saga, two-phase commit, compensación) es decisión transversal, no de un stream; condiciona toda la coexistencia</a:t>
            </a:r>
          </a:p>
        </p:txBody>
      </p:sp>
      <p:sp>
        <p:nvSpPr>
          <p:cNvPr id="75" name="td-bg2-0"/>
          <p:cNvSpPr/>
          <p:nvPr/>
        </p:nvSpPr>
        <p:spPr>
          <a:xfrm>
            <a:off x="256032" y="2827325"/>
            <a:ext cx="2788920" cy="901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d-bg2-1"/>
          <p:cNvSpPr/>
          <p:nvPr/>
        </p:nvSpPr>
        <p:spPr>
          <a:xfrm>
            <a:off x="3044952" y="2827325"/>
            <a:ext cx="1965960" cy="901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d-bg2-2"/>
          <p:cNvSpPr/>
          <p:nvPr/>
        </p:nvSpPr>
        <p:spPr>
          <a:xfrm>
            <a:off x="5010912" y="2827325"/>
            <a:ext cx="6583680" cy="901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acc2"/>
          <p:cNvSpPr/>
          <p:nvPr/>
        </p:nvSpPr>
        <p:spPr>
          <a:xfrm>
            <a:off x="256032" y="2827325"/>
            <a:ext cx="73152" cy="901598"/>
          </a:xfrm>
          <a:prstGeom prst="rect">
            <a:avLst/>
          </a:prstGeom>
          <a:solidFill>
            <a:srgbClr val="D40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d2-0"/>
          <p:cNvSpPr txBox="1"/>
          <p:nvPr/>
        </p:nvSpPr>
        <p:spPr>
          <a:xfrm>
            <a:off x="420624" y="2882189"/>
            <a:ext cx="2532888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como Golden Record — Fase 2 (Sep-2026) condiciona TDC R4; integraciones ATLAS↔SmartVista↔Transact en Confianza Baja, sin diseño</a:t>
            </a:r>
          </a:p>
        </p:txBody>
      </p:sp>
      <p:sp>
        <p:nvSpPr>
          <p:cNvPr id="80" name="td2-1"/>
          <p:cNvSpPr txBox="1"/>
          <p:nvPr/>
        </p:nvSpPr>
        <p:spPr>
          <a:xfrm>
            <a:off x="3172968" y="2882189"/>
            <a:ext cx="174650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IC-82 · INT-09</a:t>
            </a:r>
            <a:br/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E-IN-06</a:t>
            </a:r>
          </a:p>
        </p:txBody>
      </p:sp>
      <p:sp>
        <p:nvSpPr>
          <p:cNvPr id="81" name="td2-2"/>
          <p:cNvSpPr txBox="1"/>
          <p:nvPr/>
        </p:nvSpPr>
        <p:spPr>
          <a:xfrm>
            <a:off x="5138928" y="2882189"/>
            <a:ext cx="636422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más crítica del programa con fecha fija. Sin diseño aprobado, la migración de tarjetas no valida la identidad del titular</a:t>
            </a:r>
          </a:p>
        </p:txBody>
      </p:sp>
      <p:sp>
        <p:nvSpPr>
          <p:cNvPr id="82" name="td-bg3-0"/>
          <p:cNvSpPr/>
          <p:nvPr/>
        </p:nvSpPr>
        <p:spPr>
          <a:xfrm>
            <a:off x="256032" y="3728923"/>
            <a:ext cx="2788920" cy="901598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d-bg3-1"/>
          <p:cNvSpPr/>
          <p:nvPr/>
        </p:nvSpPr>
        <p:spPr>
          <a:xfrm>
            <a:off x="3044952" y="3728923"/>
            <a:ext cx="1965960" cy="901598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d-bg3-2"/>
          <p:cNvSpPr/>
          <p:nvPr/>
        </p:nvSpPr>
        <p:spPr>
          <a:xfrm>
            <a:off x="5010912" y="3728923"/>
            <a:ext cx="6583680" cy="901598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acc3"/>
          <p:cNvSpPr/>
          <p:nvPr/>
        </p:nvSpPr>
        <p:spPr>
          <a:xfrm>
            <a:off x="256032" y="3728923"/>
            <a:ext cx="73152" cy="901598"/>
          </a:xfrm>
          <a:prstGeom prst="rect">
            <a:avLst/>
          </a:prstGeom>
          <a:solidFill>
            <a:srgbClr val="D40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d3-0"/>
          <p:cNvSpPr txBox="1"/>
          <p:nvPr/>
        </p:nvSpPr>
        <p:spPr>
          <a:xfrm>
            <a:off x="420624" y="3783787"/>
            <a:ext cx="2532888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eventos — no está definida; plataforma y patrón están abiertos, pendientes de decisión del DA</a:t>
            </a:r>
          </a:p>
        </p:txBody>
      </p:sp>
      <p:sp>
        <p:nvSpPr>
          <p:cNvPr id="87" name="td3-1"/>
          <p:cNvSpPr txBox="1"/>
          <p:nvPr/>
        </p:nvSpPr>
        <p:spPr>
          <a:xfrm>
            <a:off x="3172968" y="3783787"/>
            <a:ext cx="174650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IC-49 a IC-57</a:t>
            </a:r>
            <a:br/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INT-01</a:t>
            </a:r>
          </a:p>
        </p:txBody>
      </p:sp>
      <p:sp>
        <p:nvSpPr>
          <p:cNvPr id="88" name="td3-2"/>
          <p:cNvSpPr txBox="1"/>
          <p:nvPr/>
        </p:nvSpPr>
        <p:spPr>
          <a:xfrm>
            <a:off x="5138928" y="3783787"/>
            <a:ext cx="636422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del desacoplamiento y la coexistencia. No se prescribe patrón objetivo hasta que el DA decida sobre los principios aprobados</a:t>
            </a:r>
          </a:p>
        </p:txBody>
      </p:sp>
      <p:sp>
        <p:nvSpPr>
          <p:cNvPr id="89" name="td-bg4-0"/>
          <p:cNvSpPr/>
          <p:nvPr/>
        </p:nvSpPr>
        <p:spPr>
          <a:xfrm>
            <a:off x="256032" y="4630522"/>
            <a:ext cx="2788920" cy="901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d-bg4-1"/>
          <p:cNvSpPr/>
          <p:nvPr/>
        </p:nvSpPr>
        <p:spPr>
          <a:xfrm>
            <a:off x="3044952" y="4630522"/>
            <a:ext cx="1965960" cy="901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d-bg4-2"/>
          <p:cNvSpPr/>
          <p:nvPr/>
        </p:nvSpPr>
        <p:spPr>
          <a:xfrm>
            <a:off x="5010912" y="4630522"/>
            <a:ext cx="6583680" cy="9015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acc4"/>
          <p:cNvSpPr/>
          <p:nvPr/>
        </p:nvSpPr>
        <p:spPr>
          <a:xfrm>
            <a:off x="256032" y="4630522"/>
            <a:ext cx="73152" cy="901598"/>
          </a:xfrm>
          <a:prstGeom prst="rect">
            <a:avLst/>
          </a:prstGeom>
          <a:solidFill>
            <a:srgbClr val="D40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d4-0"/>
          <p:cNvSpPr txBox="1"/>
          <p:nvPr/>
        </p:nvSpPr>
        <p:spPr>
          <a:xfrm>
            <a:off x="420624" y="4685386"/>
            <a:ext cx="2532888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Re-mapeo DataStage post-Informix — cuando Informix deje de ser fuente, los pipelines analíticos y regulatorios se rompen (T-17/T-19 en Confianza Baja)</a:t>
            </a:r>
          </a:p>
        </p:txBody>
      </p:sp>
      <p:sp>
        <p:nvSpPr>
          <p:cNvPr id="94" name="td4-1"/>
          <p:cNvSpPr txBox="1"/>
          <p:nvPr/>
        </p:nvSpPr>
        <p:spPr>
          <a:xfrm>
            <a:off x="3172968" y="4685386"/>
            <a:ext cx="174650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IC-83</a:t>
            </a:r>
            <a:br/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ARQ-07</a:t>
            </a:r>
          </a:p>
        </p:txBody>
      </p:sp>
      <p:sp>
        <p:nvSpPr>
          <p:cNvPr id="95" name="td4-2"/>
          <p:cNvSpPr txBox="1"/>
          <p:nvPr/>
        </p:nvSpPr>
        <p:spPr>
          <a:xfrm>
            <a:off x="5138928" y="4685386"/>
            <a:ext cx="6364224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Quinta decisión, distinta de ATLAS: continuidad analítica y regulatoria, no identidad del titular. Dueño y horizonte propios</a:t>
            </a:r>
          </a:p>
        </p:txBody>
      </p:sp>
      <p:sp>
        <p:nvSpPr>
          <p:cNvPr id="96" name="ft-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ft-txt"/>
          <p:cNvSpPr txBox="1"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</a:p>
        </p:txBody>
      </p:sp>
      <p:sp>
        <p:nvSpPr>
          <p:cNvPr id="98" name="ft-pg-bg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ft-pg"/>
          <p:cNvSpPr txBox="1"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 que bloquea desde fuera 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hdr-bar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hdr-yellow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hdr-gt"/>
          <p:cNvSpPr txBox="1"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</p:txBody>
      </p:sp>
      <p:sp>
        <p:nvSpPr>
          <p:cNvPr id="104" name="hdr-title-bg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hdr-title"/>
          <p:cNvSpPr txBox="1"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bloquea desde fuera del DA</a:t>
            </a:r>
          </a:p>
        </p:txBody>
      </p:sp>
      <p:sp>
        <p:nvSpPr>
          <p:cNvPr id="106" name="hdr-tag-bg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hdr-tag"/>
          <p:cNvSpPr txBox="1"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PREREQUISITOS EXTERNOS</a:t>
            </a:r>
          </a:p>
        </p:txBody>
      </p:sp>
      <p:sp>
        <p:nvSpPr>
          <p:cNvPr id="108" name="hdr-btn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h-bg0"/>
          <p:cNvSpPr/>
          <p:nvPr/>
        </p:nvSpPr>
        <p:spPr>
          <a:xfrm>
            <a:off x="256032" y="658368"/>
            <a:ext cx="5120640" cy="365760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h0"/>
          <p:cNvSpPr txBox="1"/>
          <p:nvPr/>
        </p:nvSpPr>
        <p:spPr>
          <a:xfrm>
            <a:off x="365760" y="658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Prerequisito</a:t>
            </a:r>
          </a:p>
        </p:txBody>
      </p:sp>
      <p:sp>
        <p:nvSpPr>
          <p:cNvPr id="111" name="th-bg1"/>
          <p:cNvSpPr/>
          <p:nvPr/>
        </p:nvSpPr>
        <p:spPr>
          <a:xfrm>
            <a:off x="5376672" y="658368"/>
            <a:ext cx="4480560" cy="365760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h1"/>
          <p:cNvSpPr txBox="1"/>
          <p:nvPr/>
        </p:nvSpPr>
        <p:spPr>
          <a:xfrm>
            <a:off x="5486400" y="658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</a:t>
            </a:r>
          </a:p>
        </p:txBody>
      </p:sp>
      <p:sp>
        <p:nvSpPr>
          <p:cNvPr id="113" name="th-bg2"/>
          <p:cNvSpPr/>
          <p:nvPr/>
        </p:nvSpPr>
        <p:spPr>
          <a:xfrm>
            <a:off x="9857232" y="658368"/>
            <a:ext cx="1737360" cy="365760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h2"/>
          <p:cNvSpPr txBox="1"/>
          <p:nvPr/>
        </p:nvSpPr>
        <p:spPr>
          <a:xfrm>
            <a:off x="9966960" y="658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Urgencia</a:t>
            </a:r>
          </a:p>
        </p:txBody>
      </p:sp>
      <p:sp>
        <p:nvSpPr>
          <p:cNvPr id="115" name="td-bg0-0"/>
          <p:cNvSpPr/>
          <p:nvPr/>
        </p:nvSpPr>
        <p:spPr>
          <a:xfrm>
            <a:off x="256032" y="1024128"/>
            <a:ext cx="5120640" cy="7513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d-bg0-1"/>
          <p:cNvSpPr/>
          <p:nvPr/>
        </p:nvSpPr>
        <p:spPr>
          <a:xfrm>
            <a:off x="5376672" y="1024128"/>
            <a:ext cx="4480560" cy="7513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d-bg0-2"/>
          <p:cNvSpPr/>
          <p:nvPr/>
        </p:nvSpPr>
        <p:spPr>
          <a:xfrm>
            <a:off x="9857232" y="1024128"/>
            <a:ext cx="1737360" cy="7513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acc0"/>
          <p:cNvSpPr/>
          <p:nvPr/>
        </p:nvSpPr>
        <p:spPr>
          <a:xfrm>
            <a:off x="256032" y="1024128"/>
            <a:ext cx="73152" cy="751332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d0-0"/>
          <p:cNvSpPr txBox="1"/>
          <p:nvPr/>
        </p:nvSpPr>
        <p:spPr>
          <a:xfrm>
            <a:off x="420624" y="1078992"/>
            <a:ext cx="4864608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Levantamiento SLA / RTO-RPO por app (E-LV-01)</a:t>
            </a:r>
          </a:p>
        </p:txBody>
      </p:sp>
      <p:sp>
        <p:nvSpPr>
          <p:cNvPr id="120" name="td0-1"/>
          <p:cNvSpPr txBox="1"/>
          <p:nvPr/>
        </p:nvSpPr>
        <p:spPr>
          <a:xfrm>
            <a:off x="5504688" y="1078992"/>
            <a:ext cx="42611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E-AQ-03, E-DP-04</a:t>
            </a:r>
          </a:p>
        </p:txBody>
      </p:sp>
      <p:sp>
        <p:nvSpPr>
          <p:cNvPr id="121" name="td0-2"/>
          <p:cNvSpPr txBox="1"/>
          <p:nvPr/>
        </p:nvSpPr>
        <p:spPr>
          <a:xfrm>
            <a:off x="9985248" y="1078992"/>
            <a:ext cx="15179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</a:p>
        </p:txBody>
      </p:sp>
      <p:sp>
        <p:nvSpPr>
          <p:cNvPr id="122" name="td-bg1-0"/>
          <p:cNvSpPr/>
          <p:nvPr/>
        </p:nvSpPr>
        <p:spPr>
          <a:xfrm>
            <a:off x="256032" y="1775460"/>
            <a:ext cx="5120640" cy="751332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d-bg1-1"/>
          <p:cNvSpPr/>
          <p:nvPr/>
        </p:nvSpPr>
        <p:spPr>
          <a:xfrm>
            <a:off x="5376672" y="1775460"/>
            <a:ext cx="4480560" cy="751332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d-bg1-2"/>
          <p:cNvSpPr/>
          <p:nvPr/>
        </p:nvSpPr>
        <p:spPr>
          <a:xfrm>
            <a:off x="9857232" y="1775460"/>
            <a:ext cx="1737360" cy="751332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acc1"/>
          <p:cNvSpPr/>
          <p:nvPr/>
        </p:nvSpPr>
        <p:spPr>
          <a:xfrm>
            <a:off x="256032" y="1775460"/>
            <a:ext cx="73152" cy="751332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d1-0"/>
          <p:cNvSpPr txBox="1"/>
          <p:nvPr/>
        </p:nvSpPr>
        <p:spPr>
          <a:xfrm>
            <a:off x="420624" y="1830324"/>
            <a:ext cx="4864608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Levantamiento TPS / volumen pico por app (E-LV-02)</a:t>
            </a:r>
          </a:p>
        </p:txBody>
      </p:sp>
      <p:sp>
        <p:nvSpPr>
          <p:cNvPr id="127" name="td1-1"/>
          <p:cNvSpPr txBox="1"/>
          <p:nvPr/>
        </p:nvSpPr>
        <p:spPr>
          <a:xfrm>
            <a:off x="5504688" y="1830324"/>
            <a:ext cx="42611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E-AQ-03, reingeniería de latencia Apolo (E-IN-02)</a:t>
            </a:r>
          </a:p>
        </p:txBody>
      </p:sp>
      <p:sp>
        <p:nvSpPr>
          <p:cNvPr id="128" name="td1-2"/>
          <p:cNvSpPr txBox="1"/>
          <p:nvPr/>
        </p:nvSpPr>
        <p:spPr>
          <a:xfrm>
            <a:off x="9985248" y="1830324"/>
            <a:ext cx="15179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</a:p>
        </p:txBody>
      </p:sp>
      <p:sp>
        <p:nvSpPr>
          <p:cNvPr id="129" name="td-bg2-0"/>
          <p:cNvSpPr/>
          <p:nvPr/>
        </p:nvSpPr>
        <p:spPr>
          <a:xfrm>
            <a:off x="256032" y="2526792"/>
            <a:ext cx="5120640" cy="7513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d-bg2-1"/>
          <p:cNvSpPr/>
          <p:nvPr/>
        </p:nvSpPr>
        <p:spPr>
          <a:xfrm>
            <a:off x="5376672" y="2526792"/>
            <a:ext cx="4480560" cy="7513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d-bg2-2"/>
          <p:cNvSpPr/>
          <p:nvPr/>
        </p:nvSpPr>
        <p:spPr>
          <a:xfrm>
            <a:off x="9857232" y="2526792"/>
            <a:ext cx="1737360" cy="7513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acc2"/>
          <p:cNvSpPr/>
          <p:nvPr/>
        </p:nvSpPr>
        <p:spPr>
          <a:xfrm>
            <a:off x="256032" y="2526792"/>
            <a:ext cx="73152" cy="751332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d2-0"/>
          <p:cNvSpPr txBox="1"/>
          <p:nvPr/>
        </p:nvSpPr>
        <p:spPr>
          <a:xfrm>
            <a:off x="420624" y="2581656"/>
            <a:ext cx="4864608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de 8 apps TBC del Anexo 5 (E-LV-03)</a:t>
            </a:r>
          </a:p>
        </p:txBody>
      </p:sp>
      <p:sp>
        <p:nvSpPr>
          <p:cNvPr id="134" name="td2-1"/>
          <p:cNvSpPr txBox="1"/>
          <p:nvPr/>
        </p:nvSpPr>
        <p:spPr>
          <a:xfrm>
            <a:off x="5504688" y="2581656"/>
            <a:ext cx="42611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E-AQ-02, E-AQ-05</a:t>
            </a:r>
          </a:p>
        </p:txBody>
      </p:sp>
      <p:sp>
        <p:nvSpPr>
          <p:cNvPr id="135" name="td2-2"/>
          <p:cNvSpPr txBox="1"/>
          <p:nvPr/>
        </p:nvSpPr>
        <p:spPr>
          <a:xfrm>
            <a:off x="9985248" y="2581656"/>
            <a:ext cx="15179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</a:p>
        </p:txBody>
      </p:sp>
      <p:sp>
        <p:nvSpPr>
          <p:cNvPr id="136" name="td-bg3-0"/>
          <p:cNvSpPr/>
          <p:nvPr/>
        </p:nvSpPr>
        <p:spPr>
          <a:xfrm>
            <a:off x="256032" y="3278124"/>
            <a:ext cx="5120640" cy="751332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d-bg3-1"/>
          <p:cNvSpPr/>
          <p:nvPr/>
        </p:nvSpPr>
        <p:spPr>
          <a:xfrm>
            <a:off x="5376672" y="3278124"/>
            <a:ext cx="4480560" cy="751332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d-bg3-2"/>
          <p:cNvSpPr/>
          <p:nvPr/>
        </p:nvSpPr>
        <p:spPr>
          <a:xfrm>
            <a:off x="9857232" y="3278124"/>
            <a:ext cx="1737360" cy="751332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acc3"/>
          <p:cNvSpPr/>
          <p:nvPr/>
        </p:nvSpPr>
        <p:spPr>
          <a:xfrm>
            <a:off x="256032" y="3278124"/>
            <a:ext cx="73152" cy="751332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td3-0"/>
          <p:cNvSpPr txBox="1"/>
          <p:nvPr/>
        </p:nvSpPr>
        <p:spPr>
          <a:xfrm>
            <a:off x="420624" y="3332988"/>
            <a:ext cx="4864608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Gestor Central de Huellas con SME (E-LV-04)</a:t>
            </a:r>
          </a:p>
        </p:txBody>
      </p:sp>
      <p:sp>
        <p:nvSpPr>
          <p:cNvPr id="141" name="td3-1"/>
          <p:cNvSpPr txBox="1"/>
          <p:nvPr/>
        </p:nvSpPr>
        <p:spPr>
          <a:xfrm>
            <a:off x="5504688" y="3332988"/>
            <a:ext cx="42611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E-AQ-02</a:t>
            </a:r>
          </a:p>
        </p:txBody>
      </p:sp>
      <p:sp>
        <p:nvSpPr>
          <p:cNvPr id="142" name="td3-2"/>
          <p:cNvSpPr txBox="1"/>
          <p:nvPr/>
        </p:nvSpPr>
        <p:spPr>
          <a:xfrm>
            <a:off x="9985248" y="3332988"/>
            <a:ext cx="15179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</a:p>
        </p:txBody>
      </p:sp>
      <p:sp>
        <p:nvSpPr>
          <p:cNvPr id="143" name="td-bg4-0"/>
          <p:cNvSpPr/>
          <p:nvPr/>
        </p:nvSpPr>
        <p:spPr>
          <a:xfrm>
            <a:off x="256032" y="4029456"/>
            <a:ext cx="5120640" cy="7513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d-bg4-1"/>
          <p:cNvSpPr/>
          <p:nvPr/>
        </p:nvSpPr>
        <p:spPr>
          <a:xfrm>
            <a:off x="5376672" y="4029456"/>
            <a:ext cx="4480560" cy="7513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td-bg4-2"/>
          <p:cNvSpPr/>
          <p:nvPr/>
        </p:nvSpPr>
        <p:spPr>
          <a:xfrm>
            <a:off x="9857232" y="4029456"/>
            <a:ext cx="1737360" cy="7513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acc4"/>
          <p:cNvSpPr/>
          <p:nvPr/>
        </p:nvSpPr>
        <p:spPr>
          <a:xfrm>
            <a:off x="256032" y="4029456"/>
            <a:ext cx="73152" cy="751332"/>
          </a:xfrm>
          <a:prstGeom prst="rect">
            <a:avLst/>
          </a:prstGeom>
          <a:solidFill>
            <a:srgbClr val="D40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d4-0"/>
          <p:cNvSpPr txBox="1"/>
          <p:nvPr/>
        </p:nvSpPr>
        <p:spPr>
          <a:xfrm>
            <a:off x="420624" y="4084320"/>
            <a:ext cx="4864608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inicial Informix/Clientes → ATLAS — no aparece en ningún documento del programa</a:t>
            </a:r>
          </a:p>
        </p:txBody>
      </p:sp>
      <p:sp>
        <p:nvSpPr>
          <p:cNvPr id="148" name="td4-1"/>
          <p:cNvSpPr txBox="1"/>
          <p:nvPr/>
        </p:nvSpPr>
        <p:spPr>
          <a:xfrm>
            <a:off x="5504688" y="4084320"/>
            <a:ext cx="42611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Record (INT-09)</a:t>
            </a:r>
          </a:p>
        </p:txBody>
      </p:sp>
      <p:sp>
        <p:nvSpPr>
          <p:cNvPr id="149" name="td4-2"/>
          <p:cNvSpPr txBox="1"/>
          <p:nvPr/>
        </p:nvSpPr>
        <p:spPr>
          <a:xfrm>
            <a:off x="9985248" y="4084320"/>
            <a:ext cx="15179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</a:p>
        </p:txBody>
      </p:sp>
      <p:sp>
        <p:nvSpPr>
          <p:cNvPr id="150" name="td-bg5-0"/>
          <p:cNvSpPr/>
          <p:nvPr/>
        </p:nvSpPr>
        <p:spPr>
          <a:xfrm>
            <a:off x="256032" y="4780788"/>
            <a:ext cx="5120640" cy="751332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d-bg5-1"/>
          <p:cNvSpPr/>
          <p:nvPr/>
        </p:nvSpPr>
        <p:spPr>
          <a:xfrm>
            <a:off x="5376672" y="4780788"/>
            <a:ext cx="4480560" cy="751332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td-bg5-2"/>
          <p:cNvSpPr/>
          <p:nvPr/>
        </p:nvSpPr>
        <p:spPr>
          <a:xfrm>
            <a:off x="9857232" y="4780788"/>
            <a:ext cx="1737360" cy="751332"/>
          </a:xfrm>
          <a:prstGeom prst="rect">
            <a:avLst/>
          </a:prstGeom>
          <a:solidFill>
            <a:srgbClr val="F2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acc5"/>
          <p:cNvSpPr/>
          <p:nvPr/>
        </p:nvSpPr>
        <p:spPr>
          <a:xfrm>
            <a:off x="256032" y="4780788"/>
            <a:ext cx="73152" cy="751332"/>
          </a:xfrm>
          <a:prstGeom prst="rect">
            <a:avLst/>
          </a:prstGeom>
          <a:solidFill>
            <a:srgbClr val="D40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td5-0"/>
          <p:cNvSpPr txBox="1"/>
          <p:nvPr/>
        </p:nvSpPr>
        <p:spPr>
          <a:xfrm>
            <a:off x="420624" y="4835652"/>
            <a:ext cx="4864608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objetivo Transact — responsabilidad de EY, sin trackear hasta esta revisión (E-AQ-EY)</a:t>
            </a:r>
          </a:p>
        </p:txBody>
      </p:sp>
      <p:sp>
        <p:nvSpPr>
          <p:cNvPr id="155" name="td5-1"/>
          <p:cNvSpPr txBox="1"/>
          <p:nvPr/>
        </p:nvSpPr>
        <p:spPr>
          <a:xfrm>
            <a:off x="5504688" y="4835652"/>
            <a:ext cx="42611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ARQ-10 materializado</a:t>
            </a:r>
          </a:p>
        </p:txBody>
      </p:sp>
      <p:sp>
        <p:nvSpPr>
          <p:cNvPr id="156" name="td5-2"/>
          <p:cNvSpPr txBox="1"/>
          <p:nvPr/>
        </p:nvSpPr>
        <p:spPr>
          <a:xfrm>
            <a:off x="9985248" y="4835652"/>
            <a:ext cx="1517904" cy="64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</a:p>
        </p:txBody>
      </p:sp>
      <p:sp>
        <p:nvSpPr>
          <p:cNvPr id="157" name="ft-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ft-txt"/>
          <p:cNvSpPr txBox="1"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</a:p>
        </p:txBody>
      </p:sp>
      <p:sp>
        <p:nvSpPr>
          <p:cNvPr id="159" name="ft-pg-bg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ft-pg"/>
          <p:cNvSpPr txBox="1"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l orden importa: hacerlo al 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hdr-bar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hdr-yellow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hdr-gt"/>
          <p:cNvSpPr txBox="1"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</p:txBody>
      </p:sp>
      <p:sp>
        <p:nvSpPr>
          <p:cNvPr id="165" name="hdr-title-bg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hdr-title"/>
          <p:cNvSpPr txBox="1"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importa: hacerlo al revés genera retrabajo</a:t>
            </a:r>
          </a:p>
        </p:txBody>
      </p:sp>
      <p:sp>
        <p:nvSpPr>
          <p:cNvPr id="167" name="hdr-tag-bg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hdr-tag"/>
          <p:cNvSpPr txBox="1"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</a:t>
            </a:r>
          </a:p>
        </p:txBody>
      </p:sp>
      <p:sp>
        <p:nvSpPr>
          <p:cNvPr id="169" name="hdr-btn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colh-bg0"/>
          <p:cNvSpPr/>
          <p:nvPr/>
        </p:nvSpPr>
        <p:spPr>
          <a:xfrm>
            <a:off x="256032" y="658368"/>
            <a:ext cx="2795778" cy="566928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colh0"/>
          <p:cNvSpPr txBox="1"/>
          <p:nvPr/>
        </p:nvSpPr>
        <p:spPr>
          <a:xfrm>
            <a:off x="347472" y="731520"/>
            <a:ext cx="26128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ES" sz="115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Taller de principios</a:t>
            </a:r>
          </a:p>
        </p:txBody>
      </p:sp>
      <p:sp>
        <p:nvSpPr>
          <p:cNvPr id="172" name="colh-bg1"/>
          <p:cNvSpPr/>
          <p:nvPr/>
        </p:nvSpPr>
        <p:spPr>
          <a:xfrm>
            <a:off x="3216402" y="658368"/>
            <a:ext cx="2795778" cy="566928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colh1"/>
          <p:cNvSpPr txBox="1"/>
          <p:nvPr/>
        </p:nvSpPr>
        <p:spPr>
          <a:xfrm>
            <a:off x="3307842" y="731520"/>
            <a:ext cx="26128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ES" sz="115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Documentar opciones</a:t>
            </a:r>
          </a:p>
        </p:txBody>
      </p:sp>
      <p:sp>
        <p:nvSpPr>
          <p:cNvPr id="174" name="colh-bg2"/>
          <p:cNvSpPr/>
          <p:nvPr/>
        </p:nvSpPr>
        <p:spPr>
          <a:xfrm>
            <a:off x="6176772" y="658368"/>
            <a:ext cx="2795778" cy="566928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colh2"/>
          <p:cNvSpPr txBox="1"/>
          <p:nvPr/>
        </p:nvSpPr>
        <p:spPr>
          <a:xfrm>
            <a:off x="6268212" y="731520"/>
            <a:ext cx="26128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ES" sz="115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Dossiers de decisión</a:t>
            </a:r>
          </a:p>
        </p:txBody>
      </p:sp>
      <p:sp>
        <p:nvSpPr>
          <p:cNvPr id="176" name="colh-bg3"/>
          <p:cNvSpPr/>
          <p:nvPr/>
        </p:nvSpPr>
        <p:spPr>
          <a:xfrm>
            <a:off x="9137142" y="658368"/>
            <a:ext cx="2795778" cy="566928"/>
          </a:xfrm>
          <a:prstGeom prst="rect">
            <a:avLst/>
          </a:prstGeom>
          <a:solidFill>
            <a:srgbClr val="052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colh3"/>
          <p:cNvSpPr txBox="1"/>
          <p:nvPr/>
        </p:nvSpPr>
        <p:spPr>
          <a:xfrm>
            <a:off x="9228582" y="731520"/>
            <a:ext cx="26128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ES" sz="115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Levantamientos en paralelo</a:t>
            </a:r>
          </a:p>
        </p:txBody>
      </p:sp>
      <p:sp>
        <p:nvSpPr>
          <p:cNvPr id="178" name="lane-bg0"/>
          <p:cNvSpPr/>
          <p:nvPr/>
        </p:nvSpPr>
        <p:spPr>
          <a:xfrm>
            <a:off x="256032" y="1280160"/>
            <a:ext cx="2795778" cy="3749040"/>
          </a:xfrm>
          <a:prstGeom prst="rect">
            <a:avLst/>
          </a:prstGeom>
          <a:solidFill>
            <a:srgbClr val="F7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lane-acc0"/>
          <p:cNvSpPr/>
          <p:nvPr/>
        </p:nvSpPr>
        <p:spPr>
          <a:xfrm>
            <a:off x="256032" y="1280160"/>
            <a:ext cx="64008" cy="3749040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item0"/>
          <p:cNvSpPr txBox="1"/>
          <p:nvPr/>
        </p:nvSpPr>
        <p:spPr>
          <a:xfrm>
            <a:off x="420624" y="1389888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Responsable: Edgar Mejía + leads de Apolo, Transact, SmartVista, Legado</a:t>
            </a:r>
          </a:p>
        </p:txBody>
      </p:sp>
      <p:sp>
        <p:nvSpPr>
          <p:cNvPr id="181" name="item0"/>
          <p:cNvSpPr txBox="1"/>
          <p:nvPr/>
        </p:nvSpPr>
        <p:spPr>
          <a:xfrm>
            <a:off x="420624" y="2566416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Desbloquea todo lo demás</a:t>
            </a:r>
          </a:p>
        </p:txBody>
      </p:sp>
      <p:sp>
        <p:nvSpPr>
          <p:cNvPr id="182" name="item0"/>
          <p:cNvSpPr txBox="1"/>
          <p:nvPr/>
        </p:nvSpPr>
        <p:spPr>
          <a:xfrm>
            <a:off x="420624" y="3742944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 esto, cualquier decisión posterior es provisional</a:t>
            </a:r>
          </a:p>
        </p:txBody>
      </p:sp>
      <p:sp>
        <p:nvSpPr>
          <p:cNvPr id="183" name="lane-bg1"/>
          <p:cNvSpPr/>
          <p:nvPr/>
        </p:nvSpPr>
        <p:spPr>
          <a:xfrm>
            <a:off x="3216402" y="1280160"/>
            <a:ext cx="2795778" cy="3749040"/>
          </a:xfrm>
          <a:prstGeom prst="rect">
            <a:avLst/>
          </a:prstGeom>
          <a:solidFill>
            <a:srgbClr val="F7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lane-acc1"/>
          <p:cNvSpPr/>
          <p:nvPr/>
        </p:nvSpPr>
        <p:spPr>
          <a:xfrm>
            <a:off x="3216402" y="1280160"/>
            <a:ext cx="64008" cy="3749040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item1"/>
          <p:cNvSpPr txBox="1"/>
          <p:nvPr/>
        </p:nvSpPr>
        <p:spPr>
          <a:xfrm>
            <a:off x="3380994" y="1389888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Responsable: equipo de interoperabilidad</a:t>
            </a:r>
          </a:p>
        </p:txBody>
      </p:sp>
      <p:sp>
        <p:nvSpPr>
          <p:cNvPr id="186" name="item1"/>
          <p:cNvSpPr txBox="1"/>
          <p:nvPr/>
        </p:nvSpPr>
        <p:spPr>
          <a:xfrm>
            <a:off x="3380994" y="2566416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 las cinco decisiones críticas, preparar las opciones con sus implicaciones</a:t>
            </a:r>
          </a:p>
        </p:txBody>
      </p:sp>
      <p:sp>
        <p:nvSpPr>
          <p:cNvPr id="187" name="item1"/>
          <p:cNvSpPr txBox="1"/>
          <p:nvPr/>
        </p:nvSpPr>
        <p:spPr>
          <a:xfrm>
            <a:off x="3380994" y="3742944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Todavía no se elige</a:t>
            </a:r>
          </a:p>
        </p:txBody>
      </p:sp>
      <p:sp>
        <p:nvSpPr>
          <p:cNvPr id="188" name="lane-bg2"/>
          <p:cNvSpPr/>
          <p:nvPr/>
        </p:nvSpPr>
        <p:spPr>
          <a:xfrm>
            <a:off x="6176772" y="1280160"/>
            <a:ext cx="2795778" cy="3749040"/>
          </a:xfrm>
          <a:prstGeom prst="rect">
            <a:avLst/>
          </a:prstGeom>
          <a:solidFill>
            <a:srgbClr val="F7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lane-acc2"/>
          <p:cNvSpPr/>
          <p:nvPr/>
        </p:nvSpPr>
        <p:spPr>
          <a:xfrm>
            <a:off x="6176772" y="1280160"/>
            <a:ext cx="64008" cy="3749040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item2"/>
          <p:cNvSpPr txBox="1"/>
          <p:nvPr/>
        </p:nvSpPr>
        <p:spPr>
          <a:xfrm>
            <a:off x="6341364" y="1389888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Responsable: Design Authority</a:t>
            </a:r>
          </a:p>
        </p:txBody>
      </p:sp>
      <p:sp>
        <p:nvSpPr>
          <p:cNvPr id="191" name="item2"/>
          <p:cNvSpPr txBox="1"/>
          <p:nvPr/>
        </p:nvSpPr>
        <p:spPr>
          <a:xfrm>
            <a:off x="6341364" y="2566416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Preparar los ADRs sobre las opciones documentadas</a:t>
            </a:r>
          </a:p>
        </p:txBody>
      </p:sp>
      <p:sp>
        <p:nvSpPr>
          <p:cNvPr id="192" name="item2"/>
          <p:cNvSpPr txBox="1"/>
          <p:nvPr/>
        </p:nvSpPr>
        <p:spPr>
          <a:xfrm>
            <a:off x="6341364" y="3742944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vinculantes hasta que los principios del paso 1 estén aprobados</a:t>
            </a:r>
          </a:p>
        </p:txBody>
      </p:sp>
      <p:sp>
        <p:nvSpPr>
          <p:cNvPr id="193" name="lane-bg3"/>
          <p:cNvSpPr/>
          <p:nvPr/>
        </p:nvSpPr>
        <p:spPr>
          <a:xfrm>
            <a:off x="9137142" y="1280160"/>
            <a:ext cx="2795778" cy="3749040"/>
          </a:xfrm>
          <a:prstGeom prst="rect">
            <a:avLst/>
          </a:prstGeom>
          <a:solidFill>
            <a:srgbClr val="F7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lane-acc3"/>
          <p:cNvSpPr/>
          <p:nvPr/>
        </p:nvSpPr>
        <p:spPr>
          <a:xfrm>
            <a:off x="9137142" y="1280160"/>
            <a:ext cx="64008" cy="3749040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item3"/>
          <p:cNvSpPr txBox="1"/>
          <p:nvPr/>
        </p:nvSpPr>
        <p:spPr>
          <a:xfrm>
            <a:off x="9301734" y="1389888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Responsable: SMEs de BanCoppel</a:t>
            </a:r>
          </a:p>
        </p:txBody>
      </p:sp>
      <p:sp>
        <p:nvSpPr>
          <p:cNvPr id="196" name="item3"/>
          <p:cNvSpPr txBox="1"/>
          <p:nvPr/>
        </p:nvSpPr>
        <p:spPr>
          <a:xfrm>
            <a:off x="9301734" y="2566416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Arrancar los cinco levantamientos</a:t>
            </a:r>
          </a:p>
        </p:txBody>
      </p:sp>
      <p:sp>
        <p:nvSpPr>
          <p:cNvPr id="197" name="item3"/>
          <p:cNvSpPr txBox="1"/>
          <p:nvPr/>
        </p:nvSpPr>
        <p:spPr>
          <a:xfrm>
            <a:off x="9301734" y="3742944"/>
            <a:ext cx="2521458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E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Priorizar TPS pico (Apolo) y la carga de ATLAS</a:t>
            </a:r>
          </a:p>
        </p:txBody>
      </p:sp>
      <p:sp>
        <p:nvSpPr>
          <p:cNvPr id="198" name="colfn-bg"/>
          <p:cNvSpPr/>
          <p:nvPr/>
        </p:nvSpPr>
        <p:spPr>
          <a:xfrm>
            <a:off x="256032" y="5120640"/>
            <a:ext cx="11676888" cy="402336"/>
          </a:xfrm>
          <a:prstGeom prst="rect">
            <a:avLst/>
          </a:prstGeom>
          <a:solidFill>
            <a:srgbClr val="D40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colfn"/>
          <p:cNvSpPr txBox="1"/>
          <p:nvPr/>
        </p:nvSpPr>
        <p:spPr>
          <a:xfrm>
            <a:off x="475488" y="5120640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a evitar: pedir al DA que decida antes de aprobar los principios.</a:t>
            </a:r>
          </a:p>
        </p:txBody>
      </p:sp>
      <p:sp>
        <p:nvSpPr>
          <p:cNvPr id="200" name="ft-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ft-txt"/>
          <p:cNvSpPr txBox="1"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</a:p>
        </p:txBody>
      </p:sp>
      <p:sp>
        <p:nvSpPr>
          <p:cNvPr id="202" name="ft-pg-bg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ft-pg"/>
          <p:cNvSpPr txBox="1"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75488" y="640080"/>
            <a:ext cx="457200" cy="457200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pedimos hoy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decisiones para constituir el DA en las próximas dos semanas.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965960"/>
            <a:ext cx="11237976" cy="12984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" y="1965960"/>
            <a:ext cx="1234440" cy="129844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965960"/>
            <a:ext cx="1234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920240" y="21671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 formal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20240" y="26243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los términos de referencia y la membresía del DA: Chair, Administrador, Equipo Delegado, Comité y Equipo Central.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392424"/>
            <a:ext cx="11237976" cy="12984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" y="3392424"/>
            <a:ext cx="1234440" cy="129844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392424"/>
            <a:ext cx="1234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920240" y="35935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20240" y="40507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Designar el perfil del PMO que coordina el ciclo del DA — 0.5 FTE en la Fase de Reingeniería.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4818888"/>
            <a:ext cx="11237976" cy="12984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4818888"/>
            <a:ext cx="1234440" cy="129844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4818888"/>
            <a:ext cx="1234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920240" y="502005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sesión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920240" y="547725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fecha en las próximas dos semanas, con L-03, L-04 y L-10 como primer backlog de decisiones.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5643" y="6382512"/>
            <a:ext cx="2152498" cy="3374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accenture_bancoppel_co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" y="6437376"/>
            <a:ext cx="1969618" cy="2276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74E52413-A63D-4A9B-8BC9-A884AF961FFF}"/>
</file>

<file path=customXml/itemProps2.xml><?xml version="1.0" encoding="utf-8"?>
<ds:datastoreItem xmlns:ds="http://schemas.openxmlformats.org/officeDocument/2006/customXml" ds:itemID="{C87A4E6A-23B6-4485-B66C-13B9C019D719}"/>
</file>

<file path=customXml/itemProps3.xml><?xml version="1.0" encoding="utf-8"?>
<ds:datastoreItem xmlns:ds="http://schemas.openxmlformats.org/officeDocument/2006/customXml" ds:itemID="{5531AA04-2AEB-4559-A0C5-B6A206CCA28F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3625</Words>
  <Application>Microsoft Office PowerPoint</Application>
  <PresentationFormat>Widescreen</PresentationFormat>
  <Paragraphs>492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Graphik</vt:lpstr>
      <vt:lpstr>Graphik (Body)</vt:lpstr>
      <vt:lpstr>Accenture 2020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López-Cantarero, Francisco</cp:lastModifiedBy>
  <cp:revision>2</cp:revision>
  <dcterms:created xsi:type="dcterms:W3CDTF">2026-07-14T11:24:27Z</dcterms:created>
  <dcterms:modified xsi:type="dcterms:W3CDTF">2026-07-21T16:08:10Z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