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slide" Target="slides/slide10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slide" Target="slides/slide9.xml"/><Relationship Id="rId10" Type="http://schemas.openxmlformats.org/officeDocument/2006/relationships/tableStyles" Target="tableStyles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4" Type="http://schemas.openxmlformats.org/officeDocument/2006/relationships/slide" Target="slides/slide8.xml"/></Relationships>
</file>

<file path=ppt/notesMasters/_rels/notesMaster1.xml.rels><?xml version="1.0" encoding="UTF-8" standalone="yes"?>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erson using a touch screen device&#10;&#10;AI-generated content may be incorrect.">
            <a:extLst>
              <a:ext uri="{FF2B5EF4-FFF2-40B4-BE49-F238E27FC236}">
                <a16:creationId xmlns:a16="http://schemas.microsoft.com/office/drawing/2014/main" id="{BAE2F574-6D9D-D170-7CC9-D5369BF9F7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5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B259214-9187-BC39-B7CE-21BF4286F559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 rotWithShape="1">
            <a:gsLst>
              <a:gs pos="56000">
                <a:schemeClr val="bg1">
                  <a:alpha val="0"/>
                </a:schemeClr>
              </a:gs>
              <a:gs pos="99000">
                <a:schemeClr val="bg1">
                  <a:alpha val="50224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/>
            <a:endParaRPr lang="en-MX" sz="1799" err="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7524701-2790-4705-8FD4-F1B02CBB78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1090024" y="2737373"/>
            <a:ext cx="10027921" cy="1459477"/>
          </a:xfrm>
        </p:spPr>
        <p:txBody>
          <a:bodyPr anchor="b"/>
          <a:lstStyle>
            <a:lvl1pPr algn="l">
              <a:lnSpc>
                <a:spcPct val="90000"/>
              </a:lnSpc>
              <a:defRPr sz="4799" b="1">
                <a:solidFill>
                  <a:schemeClr val="tx1"/>
                </a:solidFill>
                <a:latin typeface="Graphik (Body)"/>
              </a:defRPr>
            </a:lvl1pPr>
          </a:lstStyle>
          <a:p>
            <a:r>
              <a:rPr lang="en-US"/>
              <a:t>Place title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2B04ECA-6F5D-4ABE-B739-A5A4917247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90024" y="4355303"/>
            <a:ext cx="10027921" cy="481496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1200"/>
              </a:spcAft>
              <a:buNone/>
              <a:defRPr sz="1999" b="0" i="0" spc="0">
                <a:solidFill>
                  <a:schemeClr val="tx1"/>
                </a:solidFill>
                <a:latin typeface="Graphik" panose="020B0503030202060203" pitchFamily="34" charset="0"/>
              </a:defRPr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pPr marL="0" lvl="0" indent="0" algn="l" defTabSz="91412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20pt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A0B5E4-5205-03DD-3E5C-7072165945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941" y="419615"/>
            <a:ext cx="2934341" cy="33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868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F7BC-FF1E-5B4B-9A83-BFEA75EC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49" y="245794"/>
            <a:ext cx="11143252" cy="954708"/>
          </a:xfrm>
        </p:spPr>
        <p:txBody>
          <a:bodyPr vert="horz" anchor="ctr">
            <a:normAutofit/>
          </a:bodyPr>
          <a:lstStyle>
            <a:lvl1pPr>
              <a:defRPr sz="3199" b="1"/>
            </a:lvl1pPr>
          </a:lstStyle>
          <a:p>
            <a:r>
              <a:rPr lang="es-MX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D2119-EBE8-FD44-BEB1-EBA89E65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1001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65526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617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s" smtClean="0"/>
              <a:pPr algn="r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88695272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ame Side Corner Rectangle 4">
            <a:extLst>
              <a:ext uri="{FF2B5EF4-FFF2-40B4-BE49-F238E27FC236}">
                <a16:creationId xmlns:a16="http://schemas.microsoft.com/office/drawing/2014/main" id="{EAFB520D-C066-8D1A-E67B-BDB98A0C7486}"/>
              </a:ext>
            </a:extLst>
          </p:cNvPr>
          <p:cNvSpPr/>
          <p:nvPr userDrawn="1"/>
        </p:nvSpPr>
        <p:spPr>
          <a:xfrm rot="16200000">
            <a:off x="9717391" y="4285642"/>
            <a:ext cx="352494" cy="45967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/>
            <a:endParaRPr lang="en-MX" sz="1799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722738-7C96-E8CF-04DC-3D2F9296DDD7}"/>
              </a:ext>
            </a:extLst>
          </p:cNvPr>
          <p:cNvSpPr txBox="1"/>
          <p:nvPr userDrawn="1"/>
        </p:nvSpPr>
        <p:spPr>
          <a:xfrm>
            <a:off x="7744022" y="6536348"/>
            <a:ext cx="3706394" cy="1293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5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All rights reserved. For internal use only</a:t>
            </a:r>
            <a:endParaRPr lang="en-US" sz="800" b="0" i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F41F2D-1C50-0F94-9101-DA1CBDA3D526}"/>
              </a:ext>
            </a:extLst>
          </p:cNvPr>
          <p:cNvSpPr/>
          <p:nvPr userDrawn="1"/>
        </p:nvSpPr>
        <p:spPr>
          <a:xfrm>
            <a:off x="11458506" y="6407759"/>
            <a:ext cx="352495" cy="3524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/>
            <a:endParaRPr lang="en-MX" sz="1799" err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10547A-D4D8-E0AE-BA2C-9B1BBFB7EB0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37056" y="6437765"/>
            <a:ext cx="1969699" cy="227899"/>
          </a:xfrm>
          <a:prstGeom prst="rect">
            <a:avLst/>
          </a:prstGeom>
        </p:spPr>
      </p:pic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9C5277BC-A3BB-C054-BC04-1BAEC5D46FF6}"/>
              </a:ext>
            </a:extLst>
          </p:cNvPr>
          <p:cNvSpPr/>
          <p:nvPr userDrawn="1"/>
        </p:nvSpPr>
        <p:spPr>
          <a:xfrm rot="16200000">
            <a:off x="11752405" y="125600"/>
            <a:ext cx="381000" cy="498191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algn="ctr"/>
            <a:endParaRPr lang="en-MX" sz="1799" err="1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43CD3F4-7A2D-EAA7-4585-CFC2755F3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2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49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126" rtl="0" eaLnBrk="1" latinLnBrk="0" hangingPunct="1">
        <a:lnSpc>
          <a:spcPct val="80000"/>
        </a:lnSpc>
        <a:spcBef>
          <a:spcPct val="0"/>
        </a:spcBef>
        <a:buNone/>
        <a:defRPr sz="359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22853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999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indent="-228531" algn="l" defTabSz="22853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1999" kern="1200">
          <a:solidFill>
            <a:schemeClr val="tx1"/>
          </a:solidFill>
          <a:latin typeface="+mn-lt"/>
          <a:ea typeface="+mn-ea"/>
          <a:cs typeface="+mn-cs"/>
        </a:defRPr>
      </a:lvl2pPr>
      <a:lvl3pPr marL="685594" indent="-228531" algn="l" defTabSz="22853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914126" indent="-228531" algn="l" defTabSz="22853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142657" indent="-228531" algn="l" defTabSz="22853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11110" indent="0" algn="l" defTabSz="22853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3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3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3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042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612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75488" y="1143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UNITY · DOCUMENTO DE GOBIERNO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75488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gobierno de arquitectura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BanCoppel · Coppel SSFF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1.0 · Julio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5971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5643" y="6382512"/>
            <a:ext cx="2152498" cy="33741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0" descr="accenture_bancoppel_cofir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" y="6437376"/>
            <a:ext cx="1969618" cy="22768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035040" y="1554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ESTE DOCUMENTO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35040" y="190195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el Design Authority, por qué se instala en UNITY y cómo opera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6035040" y="3154680"/>
            <a:ext cx="5394960" cy="0"/>
          </a:xfrm>
          <a:prstGeom prst="line">
            <a:avLst/>
          </a:prstGeom>
          <a:noFill/>
          <a:ln w="12700">
            <a:solidFill>
              <a:srgbClr val="E0E4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336499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Concepto, estructura, roles y cadencia del Design Authority en UNITY.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35040" y="4434840"/>
            <a:ext cx="5394960" cy="0"/>
          </a:xfrm>
          <a:prstGeom prst="line">
            <a:avLst/>
          </a:prstGeom>
          <a:noFill/>
          <a:ln w="12700">
            <a:solidFill>
              <a:srgbClr val="E0E4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4617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TI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823960" y="4617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Circulación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del programa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Design Authority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713232"/>
            <a:ext cx="11676888" cy="3840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713232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097280"/>
            <a:ext cx="11676888" cy="658368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09728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Foro donde se deciden y se registran las decisiones de arquitectura que cruzan más de un equipo. Un stream no puede cerrarlas solo sin afectar a los demás.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1920240"/>
            <a:ext cx="2788920" cy="2240280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2633472"/>
            <a:ext cx="2386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Apolo, Transact, SmartVista y Legado deciden hoy por separado. El DA reúne esas decisiones en un foro; evita capacidades duplicadas.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18688" y="1920240"/>
            <a:ext cx="2788920" cy="2240280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19856" y="2633472"/>
            <a:ext cx="2386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decisión llega con análisis de impacto preparado. El Comité aprueba, condiciona, rechaza o escala; no analiza en sesión.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1344" y="1920240"/>
            <a:ext cx="2788920" cy="2240280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82512" y="2633472"/>
            <a:ext cx="2386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hallazgos críticos y altos son gate de release. Una solución con deuda técnica no avanza de fase hasta resolverse.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0" y="1920240"/>
            <a:ext cx="2788920" cy="2240280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5168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45168" y="2633472"/>
            <a:ext cx="2386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decisión queda en el decision log. La rotación del 60% no borra el criterio con que se decidió.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4389120"/>
            <a:ext cx="11676888" cy="3840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38912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4773168"/>
            <a:ext cx="11676888" cy="160020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9377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al DA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que cruzan streams; cambios de alcance; gaps del producto empaquetado; customizaciones; decisiones que afectan a PISA o a la coexistencia.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343400" y="49377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queda en el stream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internas a una plataforma, sin impacto en interfaces, datos ni procesos de otros dominios.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11312" y="49377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su función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comerciales o financieros; sustituir a los arquitectos de stream; frenar releases con análisis que no aporta a la decisión.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se instala ahora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necesidad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658368"/>
            <a:ext cx="11676888" cy="45720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6583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arquitectura To-Be con baseline aprobado (ARQ-01).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decide con información parcial. Cuatro decisiones abiertas sin dueño formal lo ilustran: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207008"/>
            <a:ext cx="269748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070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80944" y="1207008"/>
            <a:ext cx="425196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12070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hoy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60336" y="1207008"/>
            <a:ext cx="4672584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0064" y="1207008"/>
            <a:ext cx="4489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Design Authority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1554480"/>
            <a:ext cx="2697480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80944" y="1554480"/>
            <a:ext cx="4251960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0336" y="1554480"/>
            <a:ext cx="4672584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1554480"/>
            <a:ext cx="73152" cy="1088136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1627632"/>
            <a:ext cx="24871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Latencia de Apolo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1–9 segundos por llamada en producción; hasta 30 en QA. Bloquea salida a Mercado Abierto (ARQ-03).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90672" y="1627632"/>
            <a:ext cx="4069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ajusta caché y red por su cuenta; el recorrido Apigee→MuleSoft→VPN→AWS→EKS no tiene dueño único.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70064" y="1627632"/>
            <a:ext cx="4489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Fijar NFR baseline por endpoint; revisar hops; asignar dueño. NFT de carga como gate de Mercado Abierto.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642616"/>
            <a:ext cx="2697480" cy="1088136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80944" y="2642616"/>
            <a:ext cx="4251960" cy="1088136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0336" y="2642616"/>
            <a:ext cx="4672584" cy="1088136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2642616"/>
            <a:ext cx="73152" cy="1088136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2715768"/>
            <a:ext cx="24871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Coexistencia con PISA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Decomiso de PISA es parte central del ahorro proyectado; su viabilidad no está confirmada (ARQ-07).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90672" y="2715768"/>
            <a:ext cx="4069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stream integra con PISA por separado; las dependencias se acumulan y el decomiso se aleja con cada release.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70064" y="2715768"/>
            <a:ext cx="4489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toda dependencia nueva con PISA antes de implementarla; registrar la decisión contra el plan de decomiso.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730752"/>
            <a:ext cx="2697480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80944" y="3730752"/>
            <a:ext cx="4251960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60336" y="3730752"/>
            <a:ext cx="4672584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3730752"/>
            <a:ext cx="73152" cy="108813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3803904"/>
            <a:ext cx="24871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cross-stream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de despliegue de SmartVista R4 sin decidir; dependencia de ATLAS con TDC sin plan alterno.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090672" y="3803904"/>
            <a:ext cx="4069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decisiones que cruzan plataformas quedan abiertas semanas; ningún foro arbitra entre streams.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370064" y="3803904"/>
            <a:ext cx="4489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la decisión en sesión con quórum; registrar owner, condición y fecha en el decision log.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4818888"/>
            <a:ext cx="2697480" cy="1088136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80944" y="4818888"/>
            <a:ext cx="4251960" cy="1088136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60336" y="4818888"/>
            <a:ext cx="4672584" cy="1088136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4818888"/>
            <a:ext cx="73152" cy="108813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4892040"/>
            <a:ext cx="24871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Rotación de arquitectos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Rotación interna del 60%; permanencia promedio 10 meses. El conocimiento no se consolida.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090672" y="4892040"/>
            <a:ext cx="4069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 arquitecto sale, el criterio de sus decisiones sale con él; el siguiente repite el análisis.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70064" y="4892040"/>
            <a:ext cx="44897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cada decisión en ADRs y decision log; el criterio queda en el programa, no en la persona.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opera: el ciclo de una decisión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658368"/>
            <a:ext cx="11676888" cy="420624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658368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análisis se prepara entre sesiones. El Comité recibe el dossier y decide; un caso estándar cierra en 3 días hábiles, uno complejo en dos ciclos.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1188720"/>
            <a:ext cx="1883664" cy="56692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12527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Entra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15087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 de decisión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42816" y="1188720"/>
            <a:ext cx="1883664" cy="56692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8536" y="12527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Filtra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88536" y="15087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Admisión y prioridad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53912" y="1188720"/>
            <a:ext cx="1883664" cy="56692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12527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Analiza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15087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E2E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065008" y="1188720"/>
            <a:ext cx="1883664" cy="56692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10728" y="12527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Decide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10728" y="15087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con quórum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976104" y="1188720"/>
            <a:ext cx="1883664" cy="56692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21824" y="12527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Comunica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21824" y="15087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y difusión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1901952"/>
            <a:ext cx="2011680" cy="93268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1901952"/>
            <a:ext cx="17922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Solicitante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arquitecto de stream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31720" y="1901952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04872" y="1947672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una decisión que cruza su stream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42816" y="1901952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53912" y="1901952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1947672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Aporta contexto de su plataforma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65008" y="1901952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0" y="1947672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el caso; responde preguntas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976104" y="1901952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49256" y="1947672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la decisión en entrega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" y="2889504"/>
            <a:ext cx="2011680" cy="93268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889504"/>
            <a:ext cx="17922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Delegado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arquitectos + SMEs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331720" y="2889504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42816" y="2889504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53912" y="2889504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27064" y="2935224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impacto E2E; documenta opciones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065008" y="2889504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2935224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el análisis al Comité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976104" y="2889504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6032" y="3877056"/>
            <a:ext cx="2011680" cy="93268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877056"/>
            <a:ext cx="17922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de Decisión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 + leads + SME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331720" y="3877056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42816" y="3877056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53912" y="3877056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65008" y="3877056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38160" y="3922776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Aprueba, condiciona, rechaza o escala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976104" y="3877056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6032" y="4864608"/>
            <a:ext cx="2011680" cy="932688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864608"/>
            <a:ext cx="17922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331720" y="4864608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04872" y="491032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en el backlog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242816" y="4864608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15968" y="491032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alcance y completitud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53912" y="4864608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27064" y="491032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 y asigna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065008" y="4864608"/>
            <a:ext cx="1883664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976104" y="4864608"/>
            <a:ext cx="1883664" cy="932688"/>
          </a:xfrm>
          <a:prstGeom prst="rect">
            <a:avLst/>
          </a:prstGeom>
          <a:solidFill>
            <a:srgbClr val="F2F6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49256" y="491032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en el log; notifica a los streams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56032" y="5888736"/>
            <a:ext cx="11676888" cy="54864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5488" y="588873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Escalamiento.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decisiones que superan el ámbito del Comité —alcance del programa, sobrecosto, conflicto irresoluble entre streams— pasan al Equipo Central.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 al DA y qué resuelve el stream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658368"/>
            <a:ext cx="11676888" cy="402336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65836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Situaciones reales del programa traducidas a una decisión de enrutamiento: al DA, al stream o al PMO.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133856"/>
            <a:ext cx="672084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33856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en UNITY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04304" y="1133856"/>
            <a:ext cx="118872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11338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0" y="1133856"/>
            <a:ext cx="370332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113385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1481328"/>
            <a:ext cx="6720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14813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Apolo tarda 1–9 seg por llamada proxy; se propone rediseñar la arquitectura de caché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04304" y="148132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1581912"/>
            <a:ext cx="932688" cy="25603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15819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0" y="1481328"/>
            <a:ext cx="3703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7616" y="14813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 Mercado Abierto (ARQ-03)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1938528"/>
            <a:ext cx="672084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19385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la integración Apolo–PISA más allá de la Fase 1 de CED N4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04304" y="1938528"/>
            <a:ext cx="11887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2039112"/>
            <a:ext cx="932688" cy="25603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20391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29600" y="1938528"/>
            <a:ext cx="37033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57616" y="19385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Extiende dependencia con PISA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2395728"/>
            <a:ext cx="6720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23957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de 88 SUDs ejecutan SPL sobre Informix; qué migrar antes de decomisar PISA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04304" y="239572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2496312"/>
            <a:ext cx="932688" cy="25603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24963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9600" y="2395728"/>
            <a:ext cx="3703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57616" y="23957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 viabilidad del decomiso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" y="2852928"/>
            <a:ext cx="672084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28529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SmartVista R4 con dos escenarios de despliegue sin decidir (Esc.1 vs Esc.2)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004304" y="2852928"/>
            <a:ext cx="11887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0" y="2953512"/>
            <a:ext cx="932688" cy="25603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29535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29600" y="2852928"/>
            <a:ext cx="37033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57616" y="2852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de release cross-stream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6032" y="3310128"/>
            <a:ext cx="6720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33101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 no activa Gestión de Cobranza en ningún release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004304" y="331012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2320" y="3410712"/>
            <a:ext cx="932688" cy="25603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34107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229600" y="3310128"/>
            <a:ext cx="3703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57616" y="3310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funcional sin dueño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56032" y="3767328"/>
            <a:ext cx="672084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37673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Prometeo Gestor Documental no tiene correspondencia en Apolo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004304" y="3767328"/>
            <a:ext cx="11887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32320" y="3867912"/>
            <a:ext cx="932688" cy="25603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0" y="38679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229600" y="3767328"/>
            <a:ext cx="37033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57616" y="37673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legado sin destino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56032" y="4224528"/>
            <a:ext cx="6720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" y="42245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de configuración de Transact interno al módulo de captación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004304" y="422452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32320" y="4325112"/>
            <a:ext cx="932688" cy="256032"/>
          </a:xfrm>
          <a:prstGeom prst="rect">
            <a:avLst/>
          </a:prstGeom>
          <a:solidFill>
            <a:srgbClr val="E0E4EE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32320" y="43251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229600" y="4224528"/>
            <a:ext cx="3703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57616" y="42245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impacto cross-stream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56032" y="4681728"/>
            <a:ext cx="672084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4048" y="46817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el flujo de autorización POS actual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004304" y="4681728"/>
            <a:ext cx="11887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32320" y="4782312"/>
            <a:ext cx="932688" cy="256032"/>
          </a:xfrm>
          <a:prstGeom prst="rect">
            <a:avLst/>
          </a:prstGeom>
          <a:solidFill>
            <a:srgbClr val="E0E4EE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32320" y="47823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229600" y="4681728"/>
            <a:ext cx="37033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57616" y="46817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arquitectura interna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56032" y="5138928"/>
            <a:ext cx="6720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84048" y="51389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entre el stream de SmartVista y el equipo de CAT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004304" y="513892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32320" y="5239512"/>
            <a:ext cx="932688" cy="256032"/>
          </a:xfrm>
          <a:prstGeom prst="rect">
            <a:avLst/>
          </a:prstGeom>
          <a:solidFill>
            <a:srgbClr val="E0E4EE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132320" y="52395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229600" y="5138928"/>
            <a:ext cx="3703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57616" y="5138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sin conflicto de diseño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56032" y="5596128"/>
            <a:ext cx="672084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4048" y="559612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stream de Apolo pregunta si puede usar una API existente de MuleSoft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004304" y="5596128"/>
            <a:ext cx="11887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32320" y="5696712"/>
            <a:ext cx="932688" cy="25603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32320" y="56967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229600" y="5596128"/>
            <a:ext cx="3703320" cy="45720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357616" y="5596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DA si cruza streams o afecta Legado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56032" y="6099048"/>
            <a:ext cx="11676888" cy="402336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5488" y="609904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decisión afecta a otro stream, a la arquitectura transversal, al alcance del programa o a PISA, es tema del DA.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Roles: quién los ocupa en UNITY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658368"/>
            <a:ext cx="11676888" cy="36576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6583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 parte del talento ya está en el programa. El DA lo organiza en cuatro roles con una función distinta cada uno.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097280"/>
            <a:ext cx="251460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097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98064" y="1097280"/>
            <a:ext cx="507492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109728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00416" y="1097280"/>
            <a:ext cx="4032504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10144" y="1097280"/>
            <a:ext cx="3849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lo ocupa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1426464"/>
            <a:ext cx="2514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98064" y="1426464"/>
            <a:ext cx="5074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0416" y="1426464"/>
            <a:ext cx="403250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1426464"/>
            <a:ext cx="64008" cy="1005840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1499616"/>
            <a:ext cx="23042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 y decide desempates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07792" y="1499616"/>
            <a:ext cx="4892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 las sesiones; fija el quórum por severidad; escala las Críticas al sponsor; firma los sign-offs de arquitectura.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10144" y="1499616"/>
            <a:ext cx="3840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 Mejía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BanCoppel · Arquitectura TI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432304"/>
            <a:ext cx="2514600" cy="932688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98064" y="2432304"/>
            <a:ext cx="5074920" cy="932688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00416" y="2432304"/>
            <a:ext cx="4032504" cy="932688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2432304"/>
            <a:ext cx="64008" cy="93268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2505456"/>
            <a:ext cx="23042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 el ciclo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07792" y="2505456"/>
            <a:ext cx="4892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y filtra los RFAs; prioriza por impacto en releases 2026; prepara la agenda; mantiene el decision log.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10144" y="2505456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definir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Accenture · 0.5 FTE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364992"/>
            <a:ext cx="251460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98064" y="3364992"/>
            <a:ext cx="507492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00416" y="3364992"/>
            <a:ext cx="4032504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3364992"/>
            <a:ext cx="64008" cy="1060704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438144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Delegado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el análisis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07792" y="343814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el impacto E2E y documenta las opciones antes de cada sesión. Se asigna por RFA, no es grupo fijo.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10144" y="343814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Arquitectos Apolo, Transact, SmartVista, Legado + SME Seguridad + SME Datos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· BanCoppel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4425696"/>
            <a:ext cx="2514600" cy="98755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98064" y="4425696"/>
            <a:ext cx="5074920" cy="98755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00416" y="4425696"/>
            <a:ext cx="4032504" cy="98755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4425696"/>
            <a:ext cx="64008" cy="9875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" y="4498848"/>
            <a:ext cx="2304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de Decisión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aprueba o escala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907792" y="4498848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el dossier y decide: aprueba, condiciona, rechaza o escala. No analiza en sesión.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010144" y="449884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 + Lead AMS + Directores de Programa + BRM + SMEs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quórum: Edgar + Lead AMS + SME Seguridad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5413248"/>
            <a:ext cx="25146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98064" y="5413248"/>
            <a:ext cx="5074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00416" y="5413248"/>
            <a:ext cx="4032504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6032" y="5413248"/>
            <a:ext cx="64008" cy="89611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2336" y="5486400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Central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escalamiento final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907792" y="548640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 lo que supera al Comité: alcance del programa, sobrecosto, conflicto irresoluble entre streams.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010144" y="54864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 ejecutivos BanCoppel y Accenture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 eleva; no decide solo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Dominios en scope y tipos de decisión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operativo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658368"/>
            <a:ext cx="11676888" cy="3840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6583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dominios en scope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042416"/>
            <a:ext cx="2331720" cy="292608"/>
          </a:xfrm>
          <a:prstGeom prst="rect">
            <a:avLst/>
          </a:prstGeom>
          <a:solidFill>
            <a:srgbClr val="0817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042416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15184" y="1042416"/>
            <a:ext cx="2148840" cy="292608"/>
          </a:xfrm>
          <a:prstGeom prst="rect">
            <a:avLst/>
          </a:prstGeom>
          <a:solidFill>
            <a:srgbClr val="0817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6624" y="1042416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91456" y="1042416"/>
            <a:ext cx="7141464" cy="292608"/>
          </a:xfrm>
          <a:prstGeom prst="rect">
            <a:avLst/>
          </a:prstGeom>
          <a:solidFill>
            <a:srgbClr val="0817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1042416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clave para el DA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1335024"/>
            <a:ext cx="233172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15184" y="1335024"/>
            <a:ext cx="21488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1456" y="1335024"/>
            <a:ext cx="7141464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335024"/>
            <a:ext cx="21945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 / Onboarding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06624" y="1335024"/>
            <a:ext cx="20116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01184" y="1335024"/>
            <a:ext cx="6949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dual con Transact en CED N4: Apolo hace onboarding, Transact el core. No son la misma plataforma.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1732788"/>
            <a:ext cx="2331720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15184" y="1732788"/>
            <a:ext cx="2148840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91456" y="1732788"/>
            <a:ext cx="7141464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1732788"/>
            <a:ext cx="21945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Transaccional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06624" y="1732788"/>
            <a:ext cx="20116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 (T24)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01184" y="1732788"/>
            <a:ext cx="6949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R1–R4. Préstamo Simple es Transact R4, no Apolo.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2130552"/>
            <a:ext cx="233172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15184" y="2130552"/>
            <a:ext cx="21488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91456" y="2130552"/>
            <a:ext cx="7141464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130552"/>
            <a:ext cx="21945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 y Pagos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06624" y="2130552"/>
            <a:ext cx="20116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SmartVista (BPC)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01184" y="2130552"/>
            <a:ext cx="6949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R3/R4/R4.5, TDC Clásica. Escenario de despliegue R4 sin decidir.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2528316"/>
            <a:ext cx="2331720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15184" y="2528316"/>
            <a:ext cx="2148840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91456" y="2528316"/>
            <a:ext cx="7141464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528316"/>
            <a:ext cx="21945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Legado / PISA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06624" y="2528316"/>
            <a:ext cx="20116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PISA/Informix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01184" y="2528316"/>
            <a:ext cx="6949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aplicaciones. Decomiso sin confirmar; 13.000–14.000 SPLs sin mapear. Toda decisión que afecte PISA es de alto riesgo.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6032" y="2926080"/>
            <a:ext cx="233172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15184" y="2926080"/>
            <a:ext cx="21488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91456" y="2926080"/>
            <a:ext cx="7141464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926080"/>
            <a:ext cx="21945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Integraciones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06624" y="2926080"/>
            <a:ext cx="20116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Apigee · MuleSoft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01184" y="2926080"/>
            <a:ext cx="6949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ATLAS/Golden Record: dependencia crítica para TDC R4 en Sep-2026. Migración Apigee→MuleSoft en curso.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" y="3323844"/>
            <a:ext cx="2331720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15184" y="3323844"/>
            <a:ext cx="2148840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91456" y="3323844"/>
            <a:ext cx="7141464" cy="3977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323844"/>
            <a:ext cx="21945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/ MDM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706624" y="3323844"/>
            <a:ext cx="20116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· DataStage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01184" y="3323844"/>
            <a:ext cx="6949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Record no activado en ningún release de Transact. Laguna de arquitectura de datos.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6032" y="3794760"/>
            <a:ext cx="11676888" cy="3840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" y="379476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tipos de RFA — la solicitud formal de decisión al DA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56032" y="4251960"/>
            <a:ext cx="3776472" cy="786384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6032" y="4251960"/>
            <a:ext cx="384048" cy="78638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6032" y="425196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749808" y="43251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Coexistencia Legado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Transact toma el control y Apolo deja de inyectar en PISA?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206240" y="4251960"/>
            <a:ext cx="3776472" cy="786384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06240" y="4251960"/>
            <a:ext cx="384048" cy="78638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06240" y="425196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4700016" y="43251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funcionales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 no cubre Gestión de Cobranza. ¿Qué plataforma la asume?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156448" y="4251960"/>
            <a:ext cx="3776472" cy="786384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56448" y="4251960"/>
            <a:ext cx="384048" cy="78638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156448" y="425196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8650224" y="43251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cross-plataforma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¿Plan alterno para TDC R3 si ATLAS se atrasa respecto a Sep-2026?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56032" y="5148072"/>
            <a:ext cx="3776472" cy="786384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6032" y="5148072"/>
            <a:ext cx="384048" cy="78638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6032" y="5148072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749808" y="5221224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de release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¿Escenario de despliegue de SmartVista R4: Esc.1 o Esc.2?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4206240" y="5148072"/>
            <a:ext cx="3776472" cy="786384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206240" y="5148072"/>
            <a:ext cx="384048" cy="78638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06240" y="5148072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4700016" y="5221224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Decomiso de PISA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SPLs se migran en 2026 y cuáles siguen en coexistencia?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8156448" y="5148072"/>
            <a:ext cx="3776472" cy="786384"/>
          </a:xfrm>
          <a:prstGeom prst="rect">
            <a:avLst/>
          </a:prstGeom>
          <a:solidFill>
            <a:srgbClr val="F2F6FF"/>
          </a:solidFill>
          <a:ln w="12700">
            <a:solidFill>
              <a:srgbClr val="E0E4E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156448" y="5148072"/>
            <a:ext cx="384048" cy="78638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156448" y="5148072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8650224" y="5221224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Artefactos estratégicos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blueprint, arquitecturas transitorias y principios de arquitectura.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severidad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658368"/>
            <a:ext cx="11676888" cy="36576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6583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severidad define quién decide y con qué urgencia. No todo pasa por el Comité con quórum completo.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097280"/>
            <a:ext cx="160020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0972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83664" y="1097280"/>
            <a:ext cx="6263640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1097280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en UNITY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74736" y="1097280"/>
            <a:ext cx="3758184" cy="347472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1097280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decide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1444752"/>
            <a:ext cx="1600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83664" y="1444752"/>
            <a:ext cx="6263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74736" y="1444752"/>
            <a:ext cx="375818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883664"/>
            <a:ext cx="1371600" cy="310896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8836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993392" y="1517904"/>
            <a:ext cx="6053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 la arquitectura To-Be, la coexistencia o el decomiso de PISA, el business case 2030, o la latencia de Apolo para Mercado Abierto. Decisión de plataforma irreversible.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84464" y="1517904"/>
            <a:ext cx="3547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a Chair + Sponsor ejecutivo antes de proceder. Equipo Central. ADR.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633472"/>
            <a:ext cx="1600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83664" y="2633472"/>
            <a:ext cx="6263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74736" y="2633472"/>
            <a:ext cx="375818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026664"/>
            <a:ext cx="1371600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0266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993392" y="2706624"/>
            <a:ext cx="60533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 una integración E2E, el alcance de una iniciativa 2026, la capacidad de una plataforma de cumplir el release, o implica customización del empaquetado.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284464" y="2706624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de Decisión con quórum completo. ADR.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730752"/>
            <a:ext cx="1600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83664" y="3730752"/>
            <a:ext cx="6263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74736" y="3730752"/>
            <a:ext cx="3758184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055364"/>
            <a:ext cx="1371600" cy="31089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553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993392" y="3803904"/>
            <a:ext cx="60533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 una aplicación del inventario sin impacto cross-stream, o un entregable de arquitectura sin impacto en releases activos.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84464" y="3803904"/>
            <a:ext cx="35478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técnico (Accenture + Arquitectura BCP). Registro en el log.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4690872"/>
            <a:ext cx="1600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83664" y="4690872"/>
            <a:ext cx="62636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74736" y="4690872"/>
            <a:ext cx="3758184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956048"/>
            <a:ext cx="1371600" cy="31089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956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993392" y="4764024"/>
            <a:ext cx="6053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Documentación, convenciones de nomenclatura, deuda técnica ya registrada, cambios de configuración sin impacto estructural.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284464" y="4764024"/>
            <a:ext cx="3547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Arquitecto responsable del stream. Nota en el log.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5577840"/>
            <a:ext cx="11676888" cy="56692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6032" y="5577840"/>
            <a:ext cx="91440" cy="566928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" y="557784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especial PISA.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decisión que afecte a PISA es Crítica si toca el decomiso o el business case; Alta si crea o extiende una dependencia; Media solo si documenta una ya conocida.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hacer que el DA funcione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658368"/>
            <a:ext cx="11676888" cy="36576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6583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 funciona como aliado de los streams, no como obstáculo. Seis prácticas lo sostienen; tres lo hacen colapsar.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170432"/>
            <a:ext cx="5742432" cy="438912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170432"/>
            <a:ext cx="5376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1719072"/>
            <a:ext cx="5742432" cy="73152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719072"/>
            <a:ext cx="64008" cy="7315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773936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Aceptar compromisos en beneficio del programa
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 no existe para que gane un dominio, sino para que el programa avance coherente.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2505456"/>
            <a:ext cx="5742432" cy="73152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505456"/>
            <a:ext cx="64008" cy="7315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560320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toda solicitud y decisión
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trazabilidad el DA no tiene historia; lo que entra y lo que sale queda en el log.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291840"/>
            <a:ext cx="5742432" cy="73152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291840"/>
            <a:ext cx="64008" cy="7315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346704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a tiempo
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decisión a tiempo vale más que una perfecta tres semanas tarde.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4078224"/>
            <a:ext cx="5742432" cy="73152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4078224"/>
            <a:ext cx="64008" cy="7315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133088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 las decisiones
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decisión que no se comunica no existe para el programa.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" y="4864608"/>
            <a:ext cx="5742432" cy="73152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4864608"/>
            <a:ext cx="64008" cy="7315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919472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con supuestos cuando la incertidumbre no se elimina
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con la información disponible es más útil que no decidir.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" y="5650992"/>
            <a:ext cx="5742432" cy="73152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5650992"/>
            <a:ext cx="64008" cy="7315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5705856"/>
            <a:ext cx="5413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Involucrar a los streams
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 funciona cuando los streams lo perciben como aliado.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90488" y="1170432"/>
            <a:ext cx="5742432" cy="43891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73368" y="1170432"/>
            <a:ext cx="5376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90488" y="1719072"/>
            <a:ext cx="5742432" cy="153619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0488" y="1719072"/>
            <a:ext cx="64008" cy="153619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91656" y="1828800"/>
            <a:ext cx="53766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desempoderar a los streams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decisiones locales se quedan en el stream. Si el DA absorbe todo, los streams se paralizan y el DA colapsa bajo su propio peso.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90488" y="3310128"/>
            <a:ext cx="5742432" cy="153619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0488" y="3310128"/>
            <a:ext cx="64008" cy="153619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1656" y="3419856"/>
            <a:ext cx="53766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dejar de comunicar las decisiones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Omitir la comunicación crea confusión, duplica trabajo y erosiona la legitimidad del DA.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90488" y="4901184"/>
            <a:ext cx="5742432" cy="153619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90488" y="4901184"/>
            <a:ext cx="64008" cy="153619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91656" y="5010912"/>
            <a:ext cx="53766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llevar análisis incompletos al Comité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Comité no es el lugar para terminar el análisis. Si no está listo, se pospone el ítem o la sesión.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Cadencia y estado de arranque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Factibilidad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658368"/>
            <a:ext cx="11676888" cy="365760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6583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Cadencia por fase del programa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060704"/>
            <a:ext cx="1167688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060704"/>
            <a:ext cx="64008" cy="512064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106070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Reingeniería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86000" y="106070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jul–oct 2026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106070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quincenal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86600" y="1060704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RFAs de mayor complejidad; el Equipo Delegado necesita más tiempo de análisis.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1609344"/>
            <a:ext cx="11676888" cy="512064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1609344"/>
            <a:ext cx="64008" cy="512064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160934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activos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86000" y="160934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SmartVista R3/R4, CED N4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16093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semanal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1609344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activa cuando hay RFAs urgentes; no es el default.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2157984"/>
            <a:ext cx="1167688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2157984"/>
            <a:ext cx="64008" cy="512064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215798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Hypercare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86000" y="215798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go-live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9160" y="215798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demanda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86600" y="2157984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una sesión de validación post-despliegue por release.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2724912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 extraordinarias para Críticas: convocatoria con 48 h; dossier disponible 24 h antes.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090672"/>
            <a:ext cx="11676888" cy="365760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09067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arranque no parte de cero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" y="3547872"/>
            <a:ext cx="5742432" cy="178308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639312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existe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3986784"/>
            <a:ext cx="5285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 Mejía como Chair (jul 2026)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 del DA documentado (E-AQ-06)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del programa: ARQ-01, MR-04, INT-01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inicial de integraciones (E-IN-03)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AS-IS parcial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90488" y="3547872"/>
            <a:ext cx="5742432" cy="1783080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3368" y="3639312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confirmar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37376" y="3986784"/>
            <a:ext cx="5285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del DA designado (PMO)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operativo del DA (Jira o equivalente)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de arquitectura aprobados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Legado 1a iteración (E-AQ-02)</a:t>
            </a:r>
            <a:endParaRPr lang="en-US" sz="10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Quórum del Comité con nombres confirmados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3657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36576"/>
            <a:ext cx="7498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36576"/>
            <a:ext cx="7278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decisiones que esperan al 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36576"/>
            <a:ext cx="3621024" cy="438912"/>
          </a:xfrm>
          <a:prstGeom prst="rect">
            <a:avLst/>
          </a:prstGeom>
          <a:solidFill>
            <a:srgbClr val="D2D9FA"/>
          </a:solidFill>
          <a:ln w="12700">
            <a:solidFill>
              <a:srgbClr val="D2D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6448" y="36576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inicial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750040" y="91440"/>
            <a:ext cx="438912" cy="530352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658368"/>
            <a:ext cx="11676888" cy="365760"/>
          </a:xfrm>
          <a:prstGeom prst="rect">
            <a:avLst/>
          </a:prstGeom>
          <a:solidFill>
            <a:srgbClr val="F2F6FF"/>
          </a:solidFill>
          <a:ln w="12700">
            <a:solidFill>
              <a:srgbClr val="F2F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6583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documentadas como pendientes o sin dueño. Son el primer backlog del DA en la Fase de Reingeniería.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097280"/>
            <a:ext cx="777240" cy="310896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097280"/>
            <a:ext cx="630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33272" y="1097280"/>
            <a:ext cx="8503920" cy="310896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1097280"/>
            <a:ext cx="8357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pendiente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37192" y="1097280"/>
            <a:ext cx="2395728" cy="310896"/>
          </a:xfrm>
          <a:prstGeom prst="rect">
            <a:avLst/>
          </a:prstGeom>
          <a:solidFill>
            <a:srgbClr val="0528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28632" y="109728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RFA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1408176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" y="1408176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37192" y="1408176"/>
            <a:ext cx="239572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408176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1408176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R4 SmartVista: Esc.1 (4 despliegues Q4-2026) vs Esc.2 (único Dic-2026)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28632" y="140817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Alcance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1847088"/>
            <a:ext cx="77724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3272" y="1847088"/>
            <a:ext cx="850392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37192" y="1847088"/>
            <a:ext cx="2395728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1847088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" y="184708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Préstamo Simple: F&amp;F vs migración de cartera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28632" y="184708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Alcance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2286000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3272" y="2286000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37192" y="2286000"/>
            <a:ext cx="239572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2286000"/>
            <a:ext cx="54864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28600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228600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alterno para TDC R3 F&amp;F si ATLAS se atrasa respecto a Sep-2026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628632" y="228600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Integración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2724912"/>
            <a:ext cx="77724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3272" y="2724912"/>
            <a:ext cx="850392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37192" y="2724912"/>
            <a:ext cx="2395728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" y="2724912"/>
            <a:ext cx="54864" cy="438912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272491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43000" y="272491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Impactos de Legado con Transact, Apolo y SmartVista — por confirmar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628632" y="272491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Coexistencia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6032" y="3163824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3272" y="3163824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537192" y="3163824"/>
            <a:ext cx="239572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163824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43000" y="316382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Cobranza: ningún release de Transact la activa — ¿qué plataforma?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628632" y="316382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Gap funcional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56032" y="3602736"/>
            <a:ext cx="77724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3272" y="3602736"/>
            <a:ext cx="850392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37192" y="3602736"/>
            <a:ext cx="2395728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602736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43000" y="3602736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Prometeo Gestor Documental sin correspondencia en Apolo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628632" y="360273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Gap funcional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56032" y="4041648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3272" y="4041648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537192" y="4041648"/>
            <a:ext cx="239572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041648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L-07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43000" y="404164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Fechas de Transact R1/R2: discrepancia entre EY y roadmap maestro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628632" y="404164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· Estratégico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56032" y="4480560"/>
            <a:ext cx="77724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3272" y="4480560"/>
            <a:ext cx="850392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537192" y="4480560"/>
            <a:ext cx="2395728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448056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L-08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143000" y="448056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Federación SSO: tres capas de autenticación sin federar (OFI, RSA, VCAS)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9628632" y="448056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Seguridad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56032" y="4919472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3272" y="4919472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537192" y="4919472"/>
            <a:ext cx="239572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491947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L-09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143000" y="491947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Apigee → MuleSoft: qué integraciones nuevas van a qué capa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9628632" y="491947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Integración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56032" y="5358384"/>
            <a:ext cx="77724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33272" y="5358384"/>
            <a:ext cx="8503920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537192" y="5358384"/>
            <a:ext cx="2395728" cy="438912"/>
          </a:xfrm>
          <a:prstGeom prst="rect">
            <a:avLst/>
          </a:prstGeom>
          <a:solidFill>
            <a:srgbClr val="F7F9FF"/>
          </a:solidFill>
          <a:ln w="6350">
            <a:solidFill>
              <a:srgbClr val="E0E4E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56032" y="5358384"/>
            <a:ext cx="54864" cy="438912"/>
          </a:xfrm>
          <a:prstGeom prst="rect">
            <a:avLst/>
          </a:prstGeom>
          <a:solidFill>
            <a:srgbClr val="D4007A"/>
          </a:solidFill>
          <a:ln w="12700">
            <a:solidFill>
              <a:srgbClr val="D4007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5760" y="5358384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L-10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143000" y="535838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Viabilidad de decomiso de PISA: 13.000–14.000 SPLs sin mapa funcional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9628632" y="535838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2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Decomiso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274320" y="5843016"/>
            <a:ext cx="1161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L-03, L-04 y L-10 son prioridad: bloquean releases 2026 o el business case. Rojo = Crítica, ámbar = Alta.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4320" y="6665976"/>
            <a:ext cx="10881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Confidential  |  Unity Programme – Design Authority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1430000" y="6501384"/>
            <a:ext cx="310896" cy="310896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430000" y="65196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640080"/>
            <a:ext cx="457200" cy="457200"/>
          </a:xfrm>
          <a:prstGeom prst="rect">
            <a:avLst/>
          </a:prstGeom>
          <a:solidFill>
            <a:srgbClr val="F0D224"/>
          </a:solidFill>
          <a:ln w="12700">
            <a:solidFill>
              <a:srgbClr val="F0D2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6217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pedimos hoy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1207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decisiones para constituir el DA en las próximas dos semanas.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965960"/>
            <a:ext cx="11237976" cy="12984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965960"/>
            <a:ext cx="1234440" cy="129844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65960"/>
            <a:ext cx="12344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920240" y="21671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 formal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920240" y="26243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los términos de referencia y la membresía del DA: Chair, Administrador, Equipo Delegado, Comité y Equipo Central.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3392424"/>
            <a:ext cx="11237976" cy="12984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3392424"/>
            <a:ext cx="1234440" cy="129844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392424"/>
            <a:ext cx="12344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920240" y="35935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920240" y="40507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Designar el perfil del PMO que coordina el ciclo del DA — 0.5 FTE en la Fase de Reingeniería.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" y="4818888"/>
            <a:ext cx="11237976" cy="1298448"/>
          </a:xfrm>
          <a:prstGeom prst="rect">
            <a:avLst/>
          </a:prstGeom>
          <a:solidFill>
            <a:srgbClr val="052879"/>
          </a:solidFill>
          <a:ln w="12700">
            <a:solidFill>
              <a:srgbClr val="0528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4818888"/>
            <a:ext cx="1234440" cy="1298448"/>
          </a:xfrm>
          <a:prstGeom prst="rect">
            <a:avLst/>
          </a:prstGeom>
          <a:solidFill>
            <a:srgbClr val="0041F0"/>
          </a:solidFill>
          <a:ln w="12700">
            <a:solidFill>
              <a:srgbClr val="0041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818888"/>
            <a:ext cx="12344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D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920240" y="502005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sesión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920240" y="547725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2D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Fijar fecha en las próximas dos semanas, con L-03, L-04 y L-10 como primer backlog de decisiones.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5643" y="6382512"/>
            <a:ext cx="2152498" cy="33741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0" descr="accenture_bancoppel_cofir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" y="6437376"/>
            <a:ext cx="1969618" cy="2276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ccenture 2020">
  <a:themeElements>
    <a:clrScheme name="BanCoppel_2025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C41E8"/>
      </a:accent1>
      <a:accent2>
        <a:srgbClr val="F0D224"/>
      </a:accent2>
      <a:accent3>
        <a:srgbClr val="052879"/>
      </a:accent3>
      <a:accent4>
        <a:srgbClr val="081754"/>
      </a:accent4>
      <a:accent5>
        <a:srgbClr val="1CA8F7"/>
      </a:accent5>
      <a:accent6>
        <a:srgbClr val="EEE8E3"/>
      </a:accent6>
      <a:hlink>
        <a:srgbClr val="0097A7"/>
      </a:hlink>
      <a:folHlink>
        <a:srgbClr val="0097A7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0BCB33CF-BC81-4038-8728-65BACC5A9D39}"/>
</file>

<file path=customXml/itemProps2.xml><?xml version="1.0" encoding="utf-8"?>
<ds:datastoreItem xmlns:ds="http://schemas.openxmlformats.org/officeDocument/2006/customXml" ds:itemID="{E4A538AE-6D14-49C6-AC5C-C13EB8EAEEF0}"/>
</file>

<file path=customXml/itemProps3.xml><?xml version="1.0" encoding="utf-8"?>
<ds:datastoreItem xmlns:ds="http://schemas.openxmlformats.org/officeDocument/2006/customXml" ds:itemID="{81A53EF7-9379-4E26-82AD-6B6FEE28ADF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2026-07-14T11:24:27Z</dcterms:created>
  <dcterms:modified xsi:type="dcterms:W3CDTF">2026-07-14T11:24:27Z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