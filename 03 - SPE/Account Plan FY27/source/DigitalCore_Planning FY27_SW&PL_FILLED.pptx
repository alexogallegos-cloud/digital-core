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24C66-F03B-4B99-A04D-914566049C21}" v="44" dt="2026-07-10T01:00:38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3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legos, Alejandro" userId="7a0a55fa-7938-462f-86a3-ee9e344a5cc2" providerId="ADAL" clId="{78F901EC-5879-4A32-9A3E-0F0D8701D1BA}"/>
    <pc:docChg chg="undo custSel modSld">
      <pc:chgData name="Gallegos, Alejandro" userId="7a0a55fa-7938-462f-86a3-ee9e344a5cc2" providerId="ADAL" clId="{78F901EC-5879-4A32-9A3E-0F0D8701D1BA}" dt="2026-07-10T01:01:42.254" v="1953" actId="478"/>
      <pc:docMkLst>
        <pc:docMk/>
      </pc:docMkLst>
      <pc:sldChg chg="modSp mod">
        <pc:chgData name="Gallegos, Alejandro" userId="7a0a55fa-7938-462f-86a3-ee9e344a5cc2" providerId="ADAL" clId="{78F901EC-5879-4A32-9A3E-0F0D8701D1BA}" dt="2026-07-09T23:55:56.457" v="983" actId="20577"/>
        <pc:sldMkLst>
          <pc:docMk/>
          <pc:sldMk cId="0" sldId="258"/>
        </pc:sldMkLst>
        <pc:spChg chg="mod">
          <ac:chgData name="Gallegos, Alejandro" userId="7a0a55fa-7938-462f-86a3-ee9e344a5cc2" providerId="ADAL" clId="{78F901EC-5879-4A32-9A3E-0F0D8701D1BA}" dt="2026-07-09T23:13:17.424" v="867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13:25.085" v="868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28:16.933" v="971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14:54.823" v="877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55:56.457" v="983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28:20.940" v="972" actId="1076"/>
          <ac:spMkLst>
            <pc:docMk/>
            <pc:sldMk cId="0" sldId="258"/>
            <ac:spMk id="26" creationId="{5E447418-B8AB-C969-8FE0-2CA8A2F13E0D}"/>
          </ac:spMkLst>
        </pc:spChg>
      </pc:sldChg>
      <pc:sldChg chg="addSp delSp modSp mod">
        <pc:chgData name="Gallegos, Alejandro" userId="7a0a55fa-7938-462f-86a3-ee9e344a5cc2" providerId="ADAL" clId="{78F901EC-5879-4A32-9A3E-0F0D8701D1BA}" dt="2026-07-10T00:50:00.549" v="1815" actId="1076"/>
        <pc:sldMkLst>
          <pc:docMk/>
          <pc:sldMk cId="0" sldId="259"/>
        </pc:sldMkLst>
        <pc:spChg chg="add">
          <ac:chgData name="Gallegos, Alejandro" userId="7a0a55fa-7938-462f-86a3-ee9e344a5cc2" providerId="ADAL" clId="{78F901EC-5879-4A32-9A3E-0F0D8701D1BA}" dt="2026-07-10T00:46:19.128" v="1787"/>
          <ac:spMkLst>
            <pc:docMk/>
            <pc:sldMk cId="0" sldId="259"/>
            <ac:spMk id="4" creationId="{E607F7B4-E326-1E9B-E92D-E77B8AAE5668}"/>
          </ac:spMkLst>
        </pc:spChg>
        <pc:spChg chg="mod">
          <ac:chgData name="Gallegos, Alejandro" userId="7a0a55fa-7938-462f-86a3-ee9e344a5cc2" providerId="ADAL" clId="{78F901EC-5879-4A32-9A3E-0F0D8701D1BA}" dt="2026-07-10T00:48:15.785" v="1801" actId="14100"/>
          <ac:spMkLst>
            <pc:docMk/>
            <pc:sldMk cId="0" sldId="259"/>
            <ac:spMk id="5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46:16.114" v="1786" actId="478"/>
          <ac:spMkLst>
            <pc:docMk/>
            <pc:sldMk cId="0" sldId="259"/>
            <ac:spMk id="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22:34.758" v="909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24:54.211" v="970" actId="20577"/>
          <ac:spMkLst>
            <pc:docMk/>
            <pc:sldMk cId="0" sldId="259"/>
            <ac:spMk id="12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47:38.154" v="1794" actId="478"/>
          <ac:spMkLst>
            <pc:docMk/>
            <pc:sldMk cId="0" sldId="259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23:01.422" v="936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23:10.020" v="955" actId="20577"/>
          <ac:spMkLst>
            <pc:docMk/>
            <pc:sldMk cId="0" sldId="259"/>
            <ac:spMk id="19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48:09.712" v="1798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48:29.891" v="1804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49:00.835" v="1808" actId="478"/>
          <ac:spMkLst>
            <pc:docMk/>
            <pc:sldMk cId="0" sldId="259"/>
            <ac:spMk id="36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7-10T00:49:34.127" v="1812" actId="478"/>
          <ac:spMkLst>
            <pc:docMk/>
            <pc:sldMk cId="0" sldId="259"/>
            <ac:spMk id="4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56:48.491" v="1062" actId="20577"/>
          <ac:spMkLst>
            <pc:docMk/>
            <pc:sldMk cId="0" sldId="259"/>
            <ac:spMk id="4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23:57:19.062" v="1112" actId="20577"/>
          <ac:spMkLst>
            <pc:docMk/>
            <pc:sldMk cId="0" sldId="259"/>
            <ac:spMk id="47" creationId="{00000000-0000-0000-0000-000000000000}"/>
          </ac:spMkLst>
        </pc:spChg>
        <pc:picChg chg="add mod">
          <ac:chgData name="Gallegos, Alejandro" userId="7a0a55fa-7938-462f-86a3-ee9e344a5cc2" providerId="ADAL" clId="{78F901EC-5879-4A32-9A3E-0F0D8701D1BA}" dt="2026-07-10T00:47:05.391" v="1793" actId="1076"/>
          <ac:picMkLst>
            <pc:docMk/>
            <pc:sldMk cId="0" sldId="259"/>
            <ac:picMk id="51" creationId="{7440F606-9E89-3F3E-DDDF-9C5CD28003FF}"/>
          </ac:picMkLst>
        </pc:picChg>
        <pc:picChg chg="add mod">
          <ac:chgData name="Gallegos, Alejandro" userId="7a0a55fa-7938-462f-86a3-ee9e344a5cc2" providerId="ADAL" clId="{78F901EC-5879-4A32-9A3E-0F0D8701D1BA}" dt="2026-07-10T00:49:31.250" v="1811" actId="1076"/>
          <ac:picMkLst>
            <pc:docMk/>
            <pc:sldMk cId="0" sldId="259"/>
            <ac:picMk id="53" creationId="{00BA9F5A-0FDD-2846-2AFC-B46D68F1C9A9}"/>
          </ac:picMkLst>
        </pc:picChg>
        <pc:picChg chg="add del mod">
          <ac:chgData name="Gallegos, Alejandro" userId="7a0a55fa-7938-462f-86a3-ee9e344a5cc2" providerId="ADAL" clId="{78F901EC-5879-4A32-9A3E-0F0D8701D1BA}" dt="2026-07-10T00:46:40.062" v="1790" actId="478"/>
          <ac:picMkLst>
            <pc:docMk/>
            <pc:sldMk cId="0" sldId="259"/>
            <ac:picMk id="2052" creationId="{D83262A2-C91E-CA97-46D9-28FEFC66F6D4}"/>
          </ac:picMkLst>
        </pc:picChg>
        <pc:picChg chg="add mod">
          <ac:chgData name="Gallegos, Alejandro" userId="7a0a55fa-7938-462f-86a3-ee9e344a5cc2" providerId="ADAL" clId="{78F901EC-5879-4A32-9A3E-0F0D8701D1BA}" dt="2026-07-10T00:47:47.626" v="1797" actId="1076"/>
          <ac:picMkLst>
            <pc:docMk/>
            <pc:sldMk cId="0" sldId="259"/>
            <ac:picMk id="2054" creationId="{E944BE27-57DB-A013-6ED1-9164732A385A}"/>
          </ac:picMkLst>
        </pc:picChg>
        <pc:picChg chg="add mod">
          <ac:chgData name="Gallegos, Alejandro" userId="7a0a55fa-7938-462f-86a3-ee9e344a5cc2" providerId="ADAL" clId="{78F901EC-5879-4A32-9A3E-0F0D8701D1BA}" dt="2026-07-10T00:48:25.883" v="1803" actId="1076"/>
          <ac:picMkLst>
            <pc:docMk/>
            <pc:sldMk cId="0" sldId="259"/>
            <ac:picMk id="2056" creationId="{0E4E1781-1063-DCB4-1BA3-80CB665AA18B}"/>
          </ac:picMkLst>
        </pc:picChg>
        <pc:picChg chg="add mod">
          <ac:chgData name="Gallegos, Alejandro" userId="7a0a55fa-7938-462f-86a3-ee9e344a5cc2" providerId="ADAL" clId="{78F901EC-5879-4A32-9A3E-0F0D8701D1BA}" dt="2026-07-10T00:48:57.637" v="1807" actId="1076"/>
          <ac:picMkLst>
            <pc:docMk/>
            <pc:sldMk cId="0" sldId="259"/>
            <ac:picMk id="2058" creationId="{5F78012D-A424-2BD9-6743-636D531A168F}"/>
          </ac:picMkLst>
        </pc:picChg>
        <pc:picChg chg="add mod">
          <ac:chgData name="Gallegos, Alejandro" userId="7a0a55fa-7938-462f-86a3-ee9e344a5cc2" providerId="ADAL" clId="{78F901EC-5879-4A32-9A3E-0F0D8701D1BA}" dt="2026-07-10T00:50:00.549" v="1815" actId="1076"/>
          <ac:picMkLst>
            <pc:docMk/>
            <pc:sldMk cId="0" sldId="259"/>
            <ac:picMk id="2060" creationId="{A8F80006-3125-5DF0-86ED-16C27EEEFCB7}"/>
          </ac:picMkLst>
        </pc:picChg>
      </pc:sldChg>
      <pc:sldChg chg="addSp delSp modSp mod">
        <pc:chgData name="Gallegos, Alejandro" userId="7a0a55fa-7938-462f-86a3-ee9e344a5cc2" providerId="ADAL" clId="{78F901EC-5879-4A32-9A3E-0F0D8701D1BA}" dt="2026-07-10T01:01:42.254" v="1953" actId="478"/>
        <pc:sldMkLst>
          <pc:docMk/>
          <pc:sldMk cId="0" sldId="260"/>
        </pc:sldMkLst>
        <pc:spChg chg="add 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4" creationId="{457D34BF-3D37-CC60-C49B-A68F10307486}"/>
          </ac:spMkLst>
        </pc:spChg>
        <pc:spChg chg="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1:00:22.507" v="1949" actId="20577"/>
          <ac:spMkLst>
            <pc:docMk/>
            <pc:sldMk cId="0" sldId="260"/>
            <ac:spMk id="11" creationId="{00000000-0000-0000-0000-000000000000}"/>
          </ac:spMkLst>
        </pc:spChg>
        <pc:spChg chg="del mod">
          <ac:chgData name="Gallegos, Alejandro" userId="7a0a55fa-7938-462f-86a3-ee9e344a5cc2" providerId="ADAL" clId="{78F901EC-5879-4A32-9A3E-0F0D8701D1BA}" dt="2026-07-10T00:31:15.559" v="1609" actId="478"/>
          <ac:spMkLst>
            <pc:docMk/>
            <pc:sldMk cId="0" sldId="260"/>
            <ac:spMk id="1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54:30.800" v="1912" actId="790"/>
          <ac:spMkLst>
            <pc:docMk/>
            <pc:sldMk cId="0" sldId="260"/>
            <ac:spMk id="16" creationId="{00000000-0000-0000-0000-000000000000}"/>
          </ac:spMkLst>
        </pc:spChg>
        <pc:picChg chg="add del mod">
          <ac:chgData name="Gallegos, Alejandro" userId="7a0a55fa-7938-462f-86a3-ee9e344a5cc2" providerId="ADAL" clId="{78F901EC-5879-4A32-9A3E-0F0D8701D1BA}" dt="2026-07-10T01:01:42.254" v="1953" actId="478"/>
          <ac:picMkLst>
            <pc:docMk/>
            <pc:sldMk cId="0" sldId="260"/>
            <ac:picMk id="18" creationId="{1E005C5B-908A-1CB8-664F-71F73D452DF0}"/>
          </ac:picMkLst>
        </pc:picChg>
      </pc:sldChg>
      <pc:sldChg chg="addSp delSp modSp mod">
        <pc:chgData name="Gallegos, Alejandro" userId="7a0a55fa-7938-462f-86a3-ee9e344a5cc2" providerId="ADAL" clId="{78F901EC-5879-4A32-9A3E-0F0D8701D1BA}" dt="2026-07-10T00:11:57.976" v="1538" actId="1076"/>
        <pc:sldMkLst>
          <pc:docMk/>
          <pc:sldMk cId="0" sldId="261"/>
        </pc:sldMkLst>
        <pc:spChg chg="del">
          <ac:chgData name="Gallegos, Alejandro" userId="7a0a55fa-7938-462f-86a3-ee9e344a5cc2" providerId="ADAL" clId="{78F901EC-5879-4A32-9A3E-0F0D8701D1BA}" dt="2026-07-10T00:03:37.728" v="1485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02:01.399" v="1476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03:39.224" v="1486" actId="14100"/>
          <ac:spMkLst>
            <pc:docMk/>
            <pc:sldMk cId="0" sldId="261"/>
            <ac:spMk id="9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03:40.815" v="1487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02:23.005" v="1479" actId="478"/>
          <ac:spMkLst>
            <pc:docMk/>
            <pc:sldMk cId="0" sldId="261"/>
            <ac:spMk id="1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03:42.922" v="1488" actId="14100"/>
          <ac:spMkLst>
            <pc:docMk/>
            <pc:sldMk cId="0" sldId="261"/>
            <ac:spMk id="13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11:52.697" v="1536" actId="478"/>
          <ac:spMkLst>
            <pc:docMk/>
            <pc:sldMk cId="0" sldId="261"/>
            <ac:spMk id="15" creationId="{00000000-0000-0000-0000-000000000000}"/>
          </ac:spMkLst>
        </pc:spChg>
        <pc:spChg chg="del">
          <ac:chgData name="Gallegos, Alejandro" userId="7a0a55fa-7938-462f-86a3-ee9e344a5cc2" providerId="ADAL" clId="{78F901EC-5879-4A32-9A3E-0F0D8701D1BA}" dt="2026-07-10T00:09:05.373" v="1530" actId="478"/>
          <ac:spMkLst>
            <pc:docMk/>
            <pc:sldMk cId="0" sldId="261"/>
            <ac:spMk id="16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11:57.976" v="1538" actId="1076"/>
          <ac:spMkLst>
            <pc:docMk/>
            <pc:sldMk cId="0" sldId="261"/>
            <ac:spMk id="17" creationId="{00000000-0000-0000-0000-000000000000}"/>
          </ac:spMkLst>
        </pc:spChg>
        <pc:picChg chg="add mod">
          <ac:chgData name="Gallegos, Alejandro" userId="7a0a55fa-7938-462f-86a3-ee9e344a5cc2" providerId="ADAL" clId="{78F901EC-5879-4A32-9A3E-0F0D8701D1BA}" dt="2026-07-10T00:02:05.443" v="1478" actId="1076"/>
          <ac:picMkLst>
            <pc:docMk/>
            <pc:sldMk cId="0" sldId="261"/>
            <ac:picMk id="1026" creationId="{97AABD8C-90B5-1824-0656-DE45E69BCD62}"/>
          </ac:picMkLst>
        </pc:picChg>
        <pc:picChg chg="add mod">
          <ac:chgData name="Gallegos, Alejandro" userId="7a0a55fa-7938-462f-86a3-ee9e344a5cc2" providerId="ADAL" clId="{78F901EC-5879-4A32-9A3E-0F0D8701D1BA}" dt="2026-07-10T00:02:33.359" v="1484" actId="1076"/>
          <ac:picMkLst>
            <pc:docMk/>
            <pc:sldMk cId="0" sldId="261"/>
            <ac:picMk id="1028" creationId="{BCCF4490-46D7-B53B-C86F-F47EF54406FA}"/>
          </ac:picMkLst>
        </pc:picChg>
        <pc:picChg chg="add mod">
          <ac:chgData name="Gallegos, Alejandro" userId="7a0a55fa-7938-462f-86a3-ee9e344a5cc2" providerId="ADAL" clId="{78F901EC-5879-4A32-9A3E-0F0D8701D1BA}" dt="2026-07-10T00:11:51.039" v="1535" actId="1076"/>
          <ac:picMkLst>
            <pc:docMk/>
            <pc:sldMk cId="0" sldId="261"/>
            <ac:picMk id="1030" creationId="{2C1799A9-FE6E-AB1E-AF0C-B1BC5DFD799D}"/>
          </ac:picMkLst>
        </pc:picChg>
      </pc:sldChg>
      <pc:sldChg chg="modSp mod">
        <pc:chgData name="Gallegos, Alejandro" userId="7a0a55fa-7938-462f-86a3-ee9e344a5cc2" providerId="ADAL" clId="{78F901EC-5879-4A32-9A3E-0F0D8701D1BA}" dt="2026-07-10T00:29:50.649" v="1608" actId="20577"/>
        <pc:sldMkLst>
          <pc:docMk/>
          <pc:sldMk cId="0" sldId="262"/>
        </pc:sldMkLst>
        <pc:spChg chg="mod">
          <ac:chgData name="Gallegos, Alejandro" userId="7a0a55fa-7938-462f-86a3-ee9e344a5cc2" providerId="ADAL" clId="{78F901EC-5879-4A32-9A3E-0F0D8701D1BA}" dt="2026-07-09T01:00:31.050" v="417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12:34.773" v="1539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12:34.773" v="1539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12:43.513" v="1540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12:43.513" v="1540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00:53:42.228" v="67" actId="2057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00:55:50.813" v="267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29:50.649" v="1608" actId="20577"/>
          <ac:spMkLst>
            <pc:docMk/>
            <pc:sldMk cId="0" sldId="262"/>
            <ac:spMk id="19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09T00:54:38.708" v="93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Gallegos, Alejandro" userId="7a0a55fa-7938-462f-86a3-ee9e344a5cc2" providerId="ADAL" clId="{78F901EC-5879-4A32-9A3E-0F0D8701D1BA}" dt="2026-07-10T00:14:50.703" v="1599" actId="20577"/>
          <ac:spMkLst>
            <pc:docMk/>
            <pc:sldMk cId="0" sldId="262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6D07D-9A15-438D-BEB0-664A0D9B8D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1439E-DE3F-44D2-BA13-D1EA8AB0F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0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439E-DE3F-44D2-BA13-D1EA8AB0FF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439E-DE3F-44D2-BA13-D1EA8AB0FF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05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439E-DE3F-44D2-BA13-D1EA8AB0FF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98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1439E-DE3F-44D2-BA13-D1EA8AB0FF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80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dldpl3f6co76b.cloudfront.net/hvm/catalogo-patrones-cobol-springboot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xgn80khk27eu.cloudfront.net/interoperabilidad/index.html" TargetMode="External"/><Relationship Id="rId5" Type="http://schemas.openxmlformats.org/officeDocument/2006/relationships/hyperlink" Target="https://dldpl3f6co76b.cloudfront.net/agent-patterns/digital-core-patterns.html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iagonal_str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0000" cy="5143500"/>
          </a:xfrm>
          <a:prstGeom prst="rect">
            <a:avLst/>
          </a:prstGeom>
          <a:solidFill>
            <a:srgbClr val="2E00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950000"/>
            <a:ext cx="53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Digital </a:t>
            </a:r>
            <a:r>
              <a:rPr sz="5400" b="1">
                <a:solidFill>
                  <a:srgbClr val="D8D0E8"/>
                </a:solidFill>
                <a:latin typeface="Arial"/>
              </a:rPr>
              <a:t>C</a:t>
            </a:r>
            <a:r>
              <a:rPr sz="5400" b="1">
                <a:solidFill>
                  <a:srgbClr val="FFFFFF"/>
                </a:solidFill>
                <a:latin typeface="Arial"/>
              </a:rPr>
              <a:t>&gt;</a:t>
            </a:r>
            <a:r>
              <a:rPr sz="5400" b="1">
                <a:solidFill>
                  <a:srgbClr val="D8D0E8"/>
                </a:solidFill>
                <a:latin typeface="Arial"/>
              </a:rPr>
              <a:t>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980000"/>
            <a:ext cx="53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dirty="0">
                <a:solidFill>
                  <a:srgbClr val="D8D0E8"/>
                </a:solidFill>
                <a:latin typeface="Arial"/>
              </a:rPr>
              <a:t>FY27 Planning</a:t>
            </a:r>
            <a:endParaRPr sz="1600" b="0" i="0" dirty="0">
              <a:solidFill>
                <a:srgbClr val="D8D0E8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480" y="3870000"/>
            <a:ext cx="5100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  <a:latin typeface="Arial"/>
              </a:rPr>
              <a:t>Software &amp; Platform Engineering</a:t>
            </a:r>
            <a:endParaRPr sz="2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1480" y="4340000"/>
            <a:ext cx="510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0" i="0" dirty="0">
                <a:solidFill>
                  <a:srgbClr val="D8D0E8"/>
                </a:solidFill>
                <a:latin typeface="Arial"/>
              </a:rPr>
              <a:t>Alejandro Gallegos</a:t>
            </a:r>
            <a:endParaRPr sz="1300" b="0" i="0" dirty="0">
              <a:solidFill>
                <a:srgbClr val="D8D0E8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4900000"/>
            <a:ext cx="300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00" b="0" i="0" dirty="0">
                <a:solidFill>
                  <a:srgbClr val="D8D0E8"/>
                </a:solidFill>
                <a:latin typeface="Arial"/>
              </a:rPr>
              <a:t>July</a:t>
            </a:r>
            <a:r>
              <a:rPr sz="900" b="0" i="0" dirty="0">
                <a:solidFill>
                  <a:srgbClr val="D8D0E8"/>
                </a:solidFill>
                <a:latin typeface="Arial"/>
              </a:rPr>
              <a:t> </a:t>
            </a:r>
            <a:r>
              <a:rPr lang="en-US" sz="900" b="0" i="0" dirty="0">
                <a:solidFill>
                  <a:srgbClr val="D8D0E8"/>
                </a:solidFill>
                <a:latin typeface="Arial"/>
              </a:rPr>
              <a:t>2026</a:t>
            </a:r>
            <a:r>
              <a:rPr sz="900" b="0" i="0" dirty="0">
                <a:solidFill>
                  <a:srgbClr val="D8D0E8"/>
                </a:solidFill>
                <a:latin typeface="Arial"/>
              </a:rPr>
              <a:t>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0000" y="4900000"/>
            <a:ext cx="278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700000"/>
            <a:ext cx="300000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7500C0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2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000" y="1520000"/>
            <a:ext cx="75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rgbClr val="1A1A1A"/>
                </a:solidFill>
                <a:latin typeface="Arial"/>
              </a:rPr>
              <a:t>Financial Overview</a:t>
            </a:r>
            <a:endParaRPr sz="1600" b="1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00" y="209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0000" y="217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" y="2170000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rial"/>
              </a:rPr>
              <a:t>Key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274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000" y="282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" y="2820000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Estrategia GTM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339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0000" y="347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" y="3470000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Competidores principales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4040000"/>
            <a:ext cx="8100000" cy="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000" y="4120000"/>
            <a:ext cx="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A100FF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" y="4120000"/>
            <a:ext cx="75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rgbClr val="1A1A1A"/>
                </a:solidFill>
                <a:latin typeface="Arial"/>
              </a:rPr>
              <a:t>Challenges </a:t>
            </a:r>
            <a:r>
              <a:rPr lang="en-US" sz="1600" b="1" i="0" dirty="0">
                <a:solidFill>
                  <a:srgbClr val="1A1A1A"/>
                </a:solidFill>
                <a:latin typeface="Arial"/>
              </a:rPr>
              <a:t>&amp;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sz="1600" b="1" dirty="0">
                <a:solidFill>
                  <a:srgbClr val="1A1A1A"/>
                </a:solidFill>
                <a:latin typeface="Arial"/>
              </a:rPr>
              <a:t>A</a:t>
            </a:r>
            <a:r>
              <a:rPr sz="1600" b="1" i="0" dirty="0">
                <a:solidFill>
                  <a:srgbClr val="1A1A1A"/>
                </a:solidFill>
                <a:latin typeface="Arial"/>
              </a:rPr>
              <a:t>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i="0" dirty="0">
                <a:solidFill>
                  <a:srgbClr val="7500C0"/>
                </a:solidFill>
                <a:latin typeface="Arial"/>
              </a:rPr>
              <a:t>Financial Overview</a:t>
            </a:r>
            <a:endParaRPr sz="2800" b="1" i="0" dirty="0">
              <a:solidFill>
                <a:srgbClr val="7500C0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540000"/>
            <a:ext cx="2700000" cy="150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40000"/>
            <a:ext cx="90000" cy="9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1480" y="1580000"/>
            <a:ext cx="24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6E6E6E"/>
                </a:solidFill>
                <a:latin typeface="Arial"/>
              </a:rPr>
              <a:t>SALES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480" y="1870000"/>
            <a:ext cx="24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 dirty="0">
                <a:solidFill>
                  <a:srgbClr val="A100FF"/>
                </a:solidFill>
                <a:latin typeface="Arial"/>
              </a:rPr>
              <a:t>$</a:t>
            </a:r>
            <a:r>
              <a:rPr lang="en-US" sz="3600" b="1" i="0" dirty="0">
                <a:solidFill>
                  <a:srgbClr val="A100FF"/>
                </a:solidFill>
                <a:latin typeface="Arial"/>
              </a:rPr>
              <a:t>29 </a:t>
            </a:r>
            <a:r>
              <a:rPr sz="3600" b="1" i="0" dirty="0">
                <a:solidFill>
                  <a:srgbClr val="A100FF"/>
                </a:solidFill>
                <a:latin typeface="Arial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480" y="1540000"/>
            <a:ext cx="2700000" cy="150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480" y="1540000"/>
            <a:ext cx="90000" cy="9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1480" y="1580000"/>
            <a:ext cx="24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6E6E6E"/>
                </a:solidFill>
                <a:latin typeface="Arial"/>
              </a:rPr>
              <a:t>REVENUE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1480" y="1870000"/>
            <a:ext cx="24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3600" b="1" dirty="0">
                <a:solidFill>
                  <a:srgbClr val="7500C0"/>
                </a:solidFill>
              </a:rPr>
              <a:t>$27M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80" y="2820723"/>
            <a:ext cx="245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100" b="0" dirty="0">
                <a:solidFill>
                  <a:srgbClr val="6E6E6E"/>
                </a:solidFill>
              </a:rPr>
              <a:t>B2B:  1.1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1480" y="1540000"/>
            <a:ext cx="2700000" cy="150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1480" y="1540000"/>
            <a:ext cx="90000" cy="90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1480" y="1580000"/>
            <a:ext cx="245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6E6E6E"/>
                </a:solidFill>
                <a:latin typeface="Arial"/>
              </a:rPr>
              <a:t>CCI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1480" y="1870000"/>
            <a:ext cx="245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3600" b="1" i="0" dirty="0">
                <a:solidFill>
                  <a:srgbClr val="460073"/>
                </a:solidFill>
                <a:latin typeface="Arial"/>
              </a:rPr>
              <a:t>38.6</a:t>
            </a:r>
            <a:r>
              <a:rPr sz="3600" b="1" i="0" dirty="0">
                <a:solidFill>
                  <a:srgbClr val="460073"/>
                </a:solidFill>
                <a:latin typeface="Arial"/>
              </a:rPr>
              <a:t>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320000"/>
            <a:ext cx="90000" cy="9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1480" y="3320000"/>
            <a:ext cx="780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7500C0"/>
                </a:solidFill>
                <a:latin typeface="Arial"/>
              </a:rPr>
              <a:t>Racional del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675887"/>
            <a:ext cx="8300000" cy="612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s-MX" sz="1050" dirty="0">
                <a:solidFill>
                  <a:srgbClr val="1A1A1A"/>
                </a:solidFill>
              </a:rPr>
              <a:t>•  Ventas $29M: respaldadas por pipeline real de ~$21M ya identificado (BBVA OpenPay $9.1M, BanCoppel $4M, Banamex $10M, Actinver $2M).</a:t>
            </a:r>
          </a:p>
          <a:p>
            <a:pPr>
              <a:spcAft>
                <a:spcPts val="500"/>
              </a:spcAft>
            </a:pPr>
            <a:r>
              <a:rPr lang="es-MX" sz="1050" dirty="0">
                <a:solidFill>
                  <a:srgbClr val="1A1A1A"/>
                </a:solidFill>
              </a:rPr>
              <a:t>•  Revenue $27M. El backlog comprometido cubre el 45% de la meta ($13.1M); el resto es pipeline calificado.</a:t>
            </a:r>
          </a:p>
          <a:p>
            <a:pPr>
              <a:spcAft>
                <a:spcPts val="500"/>
              </a:spcAft>
            </a:pPr>
            <a:r>
              <a:rPr lang="es-MX" sz="1050" dirty="0">
                <a:solidFill>
                  <a:srgbClr val="1A1A1A"/>
                </a:solidFill>
              </a:rPr>
              <a:t>•  CCI 36.8%: expansion de ~460 bps vs. 32.2% real FY26, via pricing a 41% en deals nuevos y resolucion del contrato BBVA Atenea (-35%).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447418-B8AB-C969-8FE0-2CA8A2F13E0D}"/>
              </a:ext>
            </a:extLst>
          </p:cNvPr>
          <p:cNvSpPr txBox="1"/>
          <p:nvPr/>
        </p:nvSpPr>
        <p:spPr>
          <a:xfrm>
            <a:off x="3416480" y="2816263"/>
            <a:ext cx="245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6E6E6E"/>
                </a:solidFill>
              </a:defRPr>
            </a:lvl1pPr>
          </a:lstStyle>
          <a:p>
            <a:r>
              <a:rPr lang="es-MX" dirty="0"/>
              <a:t>GILC:  +1.28%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700621"/>
            <a:ext cx="75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7500C0"/>
                </a:solidFill>
                <a:latin typeface="Arial"/>
              </a:rPr>
              <a:t>Key clients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8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38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1480" y="1651842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480" y="1795979"/>
            <a:ext cx="24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Modernizacion de core bancario Informix </a:t>
            </a:r>
            <a:r>
              <a:rPr lang="es-MX" sz="800" dirty="0">
                <a:solidFill>
                  <a:srgbClr val="1A1A1A"/>
                </a:solidFill>
              </a:rPr>
              <a:t>y otros sistemas legados</a:t>
            </a:r>
            <a:r>
              <a:rPr lang="es-MX" sz="800" b="0" dirty="0">
                <a:solidFill>
                  <a:srgbClr val="1A1A1A"/>
                </a:solidFill>
              </a:rPr>
              <a:t>. </a:t>
            </a:r>
          </a:p>
          <a:p>
            <a:r>
              <a:rPr lang="es-MX" sz="800" b="0" dirty="0">
                <a:solidFill>
                  <a:srgbClr val="1A1A1A"/>
                </a:solidFill>
              </a:rPr>
              <a:t>Fase Discover: Gemelo Cognitivo del sistema.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480" y="2301228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 dirty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480" y="2496054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Plan Director $0.8M (Q1-Q2)</a:t>
            </a:r>
          </a:p>
          <a:p>
            <a:r>
              <a:rPr lang="es-MX" sz="800" b="0" dirty="0" err="1">
                <a:solidFill>
                  <a:srgbClr val="1A1A1A"/>
                </a:solidFill>
              </a:rPr>
              <a:t>Continuacion</a:t>
            </a:r>
            <a:r>
              <a:rPr lang="es-MX" sz="800" b="0" dirty="0">
                <a:solidFill>
                  <a:srgbClr val="1A1A1A"/>
                </a:solidFill>
              </a:rPr>
              <a:t> AM (Q3-Q4). Must-win plurianual.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480" y="138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480" y="138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1480" y="1651842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 dirty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1480" y="1795979"/>
            <a:ext cx="240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Modernizacion mainframe Unisys (S500 + S151). </a:t>
            </a:r>
          </a:p>
          <a:p>
            <a:r>
              <a:rPr lang="es-MX" sz="800" b="0" dirty="0" err="1">
                <a:solidFill>
                  <a:srgbClr val="1A1A1A"/>
                </a:solidFill>
              </a:rPr>
              <a:t>Discover</a:t>
            </a:r>
            <a:r>
              <a:rPr lang="es-MX" sz="800" b="0" dirty="0">
                <a:solidFill>
                  <a:srgbClr val="1A1A1A"/>
                </a:solidFill>
              </a:rPr>
              <a:t> en curso. </a:t>
            </a:r>
          </a:p>
          <a:p>
            <a:r>
              <a:rPr lang="es-MX" sz="800" dirty="0">
                <a:solidFill>
                  <a:srgbClr val="1A1A1A"/>
                </a:solidFill>
              </a:rPr>
              <a:t>Proyecto Cloud readiness</a:t>
            </a:r>
            <a:endParaRPr lang="es-MX" sz="800" b="0" dirty="0">
              <a:solidFill>
                <a:srgbClr val="1A1A1A"/>
              </a:solidFill>
            </a:endParaRPr>
          </a:p>
          <a:p>
            <a:r>
              <a:rPr lang="es-MX" sz="800" b="0" dirty="0">
                <a:solidFill>
                  <a:srgbClr val="1A1A1A"/>
                </a:solidFill>
              </a:rPr>
              <a:t>Backlog $2.9M.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1480" y="2333538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6480" y="24722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Reverse Engineering e </a:t>
            </a:r>
            <a:r>
              <a:rPr lang="es-MX" sz="800" b="0" dirty="0" err="1">
                <a:solidFill>
                  <a:srgbClr val="1A1A1A"/>
                </a:solidFill>
              </a:rPr>
              <a:t>iteroperabilidad</a:t>
            </a:r>
            <a:r>
              <a:rPr lang="es-MX" sz="800" b="0" dirty="0">
                <a:solidFill>
                  <a:srgbClr val="1A1A1A"/>
                </a:solidFill>
              </a:rPr>
              <a:t> $1.8M (Q2-Q3)</a:t>
            </a:r>
          </a:p>
          <a:p>
            <a:r>
              <a:rPr lang="es-MX" sz="800" b="0" dirty="0">
                <a:solidFill>
                  <a:srgbClr val="1A1A1A"/>
                </a:solidFill>
              </a:rPr>
              <a:t>Modernizacion del bloque contable. Must-win HVM.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1480" y="138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1480" y="138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480" y="1651842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480" y="1841842"/>
            <a:ext cx="24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Nomina Digital + AI-Native. Mayor backlog: $4.2M @ 36% CCI. Ancla premium.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480" y="2333538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1480" y="2523538"/>
            <a:ext cx="2400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Extension digital $1.9M (Q2-Q4)</a:t>
            </a:r>
          </a:p>
          <a:p>
            <a:r>
              <a:rPr lang="es-MX" sz="800" b="0" dirty="0">
                <a:solidFill>
                  <a:srgbClr val="1A1A1A"/>
                </a:solidFill>
              </a:rPr>
              <a:t>Cross-sell en open banking y pagos.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07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307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1480" y="340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480" y="3590000"/>
            <a:ext cx="2400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Atenea (T&amp;M) en perdida -35% CCI. Requiere re-scope o exit.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1480" y="403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480" y="42200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dirty="0">
                <a:solidFill>
                  <a:srgbClr val="1A1A1A"/>
                </a:solidFill>
              </a:rPr>
              <a:t>OpenPay $9.1M: Foundations, Business, App Mod, Open Banking. Must-win #1 del ano.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480" y="307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91480" y="307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71480" y="340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1480" y="35900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Architecture Foundation. Backlog $79K @ 56% CCI: mejor margen de banca.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1480" y="403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1480" y="42200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800" b="0">
                <a:solidFill>
                  <a:srgbClr val="1A1A1A"/>
                </a:solidFill>
              </a:defRPr>
            </a:lvl1pPr>
          </a:lstStyle>
          <a:p>
            <a:r>
              <a:rPr lang="es-MX" dirty="0"/>
              <a:t>BEM Digital (wealth) $1M @ ~45% (Q2-Q3). Alto margen, baja competencia.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1480" y="3070000"/>
            <a:ext cx="2700000" cy="156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1480" y="3070000"/>
            <a:ext cx="80000" cy="8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1480" y="340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PROYECTO ACTUAL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1480" y="3568177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800" b="0" dirty="0">
                <a:solidFill>
                  <a:srgbClr val="1A1A1A"/>
                </a:solidFill>
              </a:rPr>
              <a:t>Plan director de su estrategia de Core Banking y </a:t>
            </a:r>
            <a:r>
              <a:rPr lang="es-MX" sz="800" b="0" dirty="0" err="1">
                <a:solidFill>
                  <a:srgbClr val="1A1A1A"/>
                </a:solidFill>
              </a:rPr>
              <a:t>north</a:t>
            </a:r>
            <a:r>
              <a:rPr lang="es-MX" sz="800" b="0" dirty="0">
                <a:solidFill>
                  <a:srgbClr val="1A1A1A"/>
                </a:solidFill>
              </a:rPr>
              <a:t> </a:t>
            </a:r>
            <a:r>
              <a:rPr lang="es-MX" sz="800" b="0" dirty="0" err="1">
                <a:solidFill>
                  <a:srgbClr val="1A1A1A"/>
                </a:solidFill>
              </a:rPr>
              <a:t>star</a:t>
            </a:r>
            <a:r>
              <a:rPr lang="es-MX" sz="800" b="0" dirty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1480" y="4030000"/>
            <a:ext cx="242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100FF"/>
                </a:solidFill>
                <a:latin typeface="Arial"/>
              </a:rPr>
              <a:t>PIPELINE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1480" y="4220000"/>
            <a:ext cx="2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800" b="0">
                <a:solidFill>
                  <a:srgbClr val="1A1A1A"/>
                </a:solidFill>
              </a:defRPr>
            </a:lvl1pPr>
          </a:lstStyle>
          <a:p>
            <a:r>
              <a:rPr lang="es-MX" dirty="0"/>
              <a:t>Interoperabilidad</a:t>
            </a:r>
          </a:p>
          <a:p>
            <a:r>
              <a:rPr lang="es-MX" dirty="0"/>
              <a:t>Quality Engineering + SDLC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7440F606-9E89-3F3E-DDDF-9C5CD2800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80" y="1413304"/>
            <a:ext cx="746588" cy="166469"/>
          </a:xfrm>
          <a:prstGeom prst="rect">
            <a:avLst/>
          </a:prstGeom>
        </p:spPr>
      </p:pic>
      <p:pic>
        <p:nvPicPr>
          <p:cNvPr id="2054" name="Picture 6" descr="Citibanamex Logo, symbol, meaning, history, PNG, brand">
            <a:extLst>
              <a:ext uri="{FF2B5EF4-FFF2-40B4-BE49-F238E27FC236}">
                <a16:creationId xmlns:a16="http://schemas.microsoft.com/office/drawing/2014/main" id="{E944BE27-57DB-A013-6ED1-9164732A3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794" y="1328000"/>
            <a:ext cx="694686" cy="39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antander Logo: valor, história, PNG">
            <a:extLst>
              <a:ext uri="{FF2B5EF4-FFF2-40B4-BE49-F238E27FC236}">
                <a16:creationId xmlns:a16="http://schemas.microsoft.com/office/drawing/2014/main" id="{0E4E1781-1063-DCB4-1BA3-80CB665AA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712" y="1300738"/>
            <a:ext cx="743152" cy="4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BVA Logo, symbol, meaning, history, PNG, brand">
            <a:extLst>
              <a:ext uri="{FF2B5EF4-FFF2-40B4-BE49-F238E27FC236}">
                <a16:creationId xmlns:a16="http://schemas.microsoft.com/office/drawing/2014/main" id="{5F78012D-A424-2BD9-6743-636D531A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80" y="3115000"/>
            <a:ext cx="391111" cy="2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0BA9F5A-0FDD-2846-2AFC-B46D68F1C9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8950" y="3143366"/>
            <a:ext cx="608708" cy="176634"/>
          </a:xfrm>
          <a:prstGeom prst="rect">
            <a:avLst/>
          </a:prstGeom>
        </p:spPr>
      </p:pic>
      <p:pic>
        <p:nvPicPr>
          <p:cNvPr id="2060" name="Picture 12" descr="Logo de Gentera, S.A.B. de C.V. aux formats PNG transparent et SVG ...">
            <a:extLst>
              <a:ext uri="{FF2B5EF4-FFF2-40B4-BE49-F238E27FC236}">
                <a16:creationId xmlns:a16="http://schemas.microsoft.com/office/drawing/2014/main" id="{A8F80006-3125-5DF0-86ED-16C27EEEF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480" y="3137194"/>
            <a:ext cx="591480" cy="14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2800" b="1" i="0" noProof="0" dirty="0">
                <a:solidFill>
                  <a:srgbClr val="7500C0"/>
                </a:solidFill>
                <a:latin typeface="Arial"/>
              </a:rPr>
              <a:t>Estrategia GTM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71526"/>
            <a:ext cx="70000" cy="7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11480" y="1467471"/>
            <a:ext cx="8300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Campaña Digital </a:t>
            </a:r>
            <a:r>
              <a:rPr lang="es-MX" sz="1500" b="1" i="0" noProof="0" dirty="0" err="1">
                <a:solidFill>
                  <a:srgbClr val="1A1A1A"/>
                </a:solidFill>
                <a:latin typeface="Arial"/>
              </a:rPr>
              <a:t>Twins</a:t>
            </a:r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 - Foros internos y externos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9782" y="1782805"/>
            <a:ext cx="82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b="0" noProof="0" dirty="0">
                <a:solidFill>
                  <a:srgbClr val="6E6E6E"/>
                </a:solidFill>
              </a:rPr>
              <a:t>Externos: CIO Mexico Summit, Digital Banking Forum MX, Gartner </a:t>
            </a:r>
            <a:r>
              <a:rPr lang="es-MX" sz="1200" b="0" noProof="0" dirty="0" err="1">
                <a:solidFill>
                  <a:srgbClr val="6E6E6E"/>
                </a:solidFill>
              </a:rPr>
              <a:t>Symposium</a:t>
            </a:r>
            <a:r>
              <a:rPr lang="es-MX" sz="1200" b="0" noProof="0" dirty="0">
                <a:solidFill>
                  <a:srgbClr val="6E6E6E"/>
                </a:solidFill>
              </a:rPr>
              <a:t> CDMX. Internos: GenAI Hands On con clientes, Digital Core </a:t>
            </a:r>
            <a:r>
              <a:rPr lang="es-MX" sz="1200" b="0" noProof="0" dirty="0" err="1">
                <a:solidFill>
                  <a:srgbClr val="6E6E6E"/>
                </a:solidFill>
              </a:rPr>
              <a:t>Showcase</a:t>
            </a:r>
            <a:r>
              <a:rPr lang="es-MX" sz="1200" b="0" noProof="0" dirty="0">
                <a:solidFill>
                  <a:srgbClr val="6E6E6E"/>
                </a:solidFill>
              </a:rPr>
              <a:t>.</a:t>
            </a:r>
            <a:r>
              <a:rPr lang="es-MX" sz="1200" noProof="0" dirty="0">
                <a:solidFill>
                  <a:srgbClr val="6E6E6E"/>
                </a:solidFill>
              </a:rPr>
              <a:t> </a:t>
            </a:r>
            <a:endParaRPr lang="es-MX" sz="1200" b="0" noProof="0" dirty="0">
              <a:solidFill>
                <a:srgbClr val="6E6E6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7942" y="2425704"/>
            <a:ext cx="70000" cy="77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17942" y="2301282"/>
            <a:ext cx="8300000" cy="253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Digital </a:t>
            </a:r>
            <a:r>
              <a:rPr lang="es-MX" sz="1500" b="1" i="0" noProof="0" dirty="0" err="1">
                <a:solidFill>
                  <a:srgbClr val="1A1A1A"/>
                </a:solidFill>
                <a:latin typeface="Arial"/>
              </a:rPr>
              <a:t>Twins</a:t>
            </a:r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 para la estrategia y Delivery - Posicionamiento en el mercado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8862" y="2568908"/>
            <a:ext cx="820000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0" noProof="0" dirty="0">
                <a:solidFill>
                  <a:srgbClr val="6E6E6E"/>
                </a:solidFill>
              </a:rPr>
              <a:t>Desarrollaremos un espejo digital de nuestros clientes que nos permita mejorar nuestra estrategia de venta y traer soluciones diferenciales.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0" noProof="0" dirty="0">
                <a:solidFill>
                  <a:srgbClr val="6E6E6E"/>
                </a:solidFill>
              </a:rPr>
              <a:t>Estrategia agentica por </a:t>
            </a:r>
            <a:r>
              <a:rPr lang="es-MX" sz="1200" b="0" noProof="0" dirty="0" err="1">
                <a:solidFill>
                  <a:srgbClr val="6E6E6E"/>
                </a:solidFill>
              </a:rPr>
              <a:t>sub-oferta</a:t>
            </a:r>
            <a:r>
              <a:rPr lang="es-MX" sz="1200" dirty="0">
                <a:solidFill>
                  <a:srgbClr val="6E6E6E"/>
                </a:solidFill>
              </a:rPr>
              <a:t> de las offerings </a:t>
            </a:r>
            <a:r>
              <a:rPr lang="es-MX" sz="1200" dirty="0">
                <a:solidFill>
                  <a:srgbClr val="6E6E6E"/>
                </a:solidFill>
                <a:hlinkClick r:id="rId5"/>
              </a:rPr>
              <a:t>Agentic </a:t>
            </a:r>
            <a:r>
              <a:rPr lang="es-MX" sz="1200" dirty="0" err="1">
                <a:solidFill>
                  <a:srgbClr val="6E6E6E"/>
                </a:solidFill>
                <a:hlinkClick r:id="rId5"/>
              </a:rPr>
              <a:t>Patterns</a:t>
            </a:r>
            <a:endParaRPr lang="es-MX" sz="1200" b="0" noProof="0" dirty="0">
              <a:solidFill>
                <a:srgbClr val="6E6E6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0" noProof="0" dirty="0">
                <a:solidFill>
                  <a:srgbClr val="6E6E6E"/>
                </a:solidFill>
              </a:rPr>
              <a:t>Reconstruimos el motor de interoperabilidad para proyectos de transformación: </a:t>
            </a:r>
            <a:r>
              <a:rPr lang="es-MX" sz="1200" b="0" noProof="0" dirty="0">
                <a:solidFill>
                  <a:srgbClr val="6E6E6E"/>
                </a:solidFill>
                <a:hlinkClick r:id="rId6"/>
              </a:rPr>
              <a:t>Interoperabilidad</a:t>
            </a:r>
            <a:endParaRPr lang="es-MX" sz="1200" b="0" noProof="0" dirty="0">
              <a:solidFill>
                <a:srgbClr val="6E6E6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noProof="0" dirty="0">
                <a:solidFill>
                  <a:srgbClr val="6E6E6E"/>
                </a:solidFill>
              </a:rPr>
              <a:t>Desarrollar nuestra oferta de Mainframe Modernization acoplado al mercado mexicano tomando Darwin como parte de la solución: </a:t>
            </a:r>
            <a:r>
              <a:rPr lang="es-MX" sz="1200" noProof="0" dirty="0">
                <a:solidFill>
                  <a:srgbClr val="6E6E6E"/>
                </a:solidFill>
                <a:hlinkClick r:id="rId7"/>
              </a:rPr>
              <a:t>Mainframe Modernization</a:t>
            </a:r>
            <a:endParaRPr lang="es-MX" sz="1200" noProof="0" dirty="0">
              <a:solidFill>
                <a:srgbClr val="6E6E6E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1200" b="0" noProof="0" dirty="0">
              <a:solidFill>
                <a:srgbClr val="6E6E6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942" y="3827863"/>
            <a:ext cx="83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1500" b="1" i="0" noProof="0" dirty="0">
                <a:solidFill>
                  <a:srgbClr val="1A1A1A"/>
                </a:solidFill>
                <a:latin typeface="Arial"/>
              </a:rPr>
              <a:t>Big 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942" y="4207863"/>
            <a:ext cx="82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AutoNum type="arabicPeriod"/>
            </a:pPr>
            <a:r>
              <a:rPr lang="es-MX" sz="1200" b="0" noProof="0" dirty="0">
                <a:solidFill>
                  <a:srgbClr val="6E6E6E"/>
                </a:solidFill>
              </a:rPr>
              <a:t>Gemelo Cognitivo del Sistema: modernizar legacy sin apagar la </a:t>
            </a:r>
            <a:r>
              <a:rPr lang="es-MX" sz="1200" b="0" noProof="0" dirty="0" err="1">
                <a:solidFill>
                  <a:srgbClr val="6E6E6E"/>
                </a:solidFill>
              </a:rPr>
              <a:t>operacion</a:t>
            </a:r>
            <a:r>
              <a:rPr lang="es-MX" sz="1200" b="0" noProof="0" dirty="0">
                <a:solidFill>
                  <a:srgbClr val="6E6E6E"/>
                </a:solidFill>
              </a:rPr>
              <a:t>. </a:t>
            </a:r>
          </a:p>
          <a:p>
            <a:pPr marL="228600" indent="-228600">
              <a:buAutoNum type="arabicPeriod"/>
            </a:pPr>
            <a:r>
              <a:rPr lang="es-MX" sz="1200" b="0" noProof="0" dirty="0" err="1">
                <a:solidFill>
                  <a:srgbClr val="6E6E6E"/>
                </a:solidFill>
              </a:rPr>
              <a:t>Frictionless</a:t>
            </a:r>
            <a:r>
              <a:rPr lang="es-MX" sz="1200" b="0" noProof="0" dirty="0">
                <a:solidFill>
                  <a:srgbClr val="6E6E6E"/>
                </a:solidFill>
              </a:rPr>
              <a:t> SDLC: 2x velocidad con AI-</a:t>
            </a:r>
            <a:r>
              <a:rPr lang="es-MX" sz="1200" b="0" noProof="0" dirty="0" err="1">
                <a:solidFill>
                  <a:srgbClr val="6E6E6E"/>
                </a:solidFill>
              </a:rPr>
              <a:t>augmented</a:t>
            </a:r>
            <a:r>
              <a:rPr lang="es-MX" sz="1200" b="0" noProof="0" dirty="0">
                <a:solidFill>
                  <a:srgbClr val="6E6E6E"/>
                </a:solidFill>
              </a:rPr>
              <a:t> engineering. </a:t>
            </a:r>
          </a:p>
          <a:p>
            <a:pPr marL="228600" indent="-228600">
              <a:buAutoNum type="arabicPeriod"/>
            </a:pPr>
            <a:r>
              <a:rPr lang="es-MX" sz="1200" b="0" noProof="0" dirty="0">
                <a:solidFill>
                  <a:srgbClr val="6E6E6E"/>
                </a:solidFill>
              </a:rPr>
              <a:t>Core bancario como plataforma: </a:t>
            </a:r>
            <a:r>
              <a:rPr lang="es-MX" sz="1200" b="0" noProof="0" dirty="0" err="1">
                <a:solidFill>
                  <a:srgbClr val="6E6E6E"/>
                </a:solidFill>
              </a:rPr>
              <a:t>modernizacion</a:t>
            </a:r>
            <a:r>
              <a:rPr lang="es-MX" sz="1200" b="0" noProof="0" dirty="0">
                <a:solidFill>
                  <a:srgbClr val="6E6E6E"/>
                </a:solidFill>
              </a:rPr>
              <a:t> Informix/</a:t>
            </a:r>
            <a:r>
              <a:rPr lang="es-MX" sz="1200" b="0" noProof="0" dirty="0" err="1">
                <a:solidFill>
                  <a:srgbClr val="6E6E6E"/>
                </a:solidFill>
              </a:rPr>
              <a:t>Unisys</a:t>
            </a:r>
            <a:r>
              <a:rPr lang="es-MX" sz="1200" b="0" noProof="0" dirty="0">
                <a:solidFill>
                  <a:srgbClr val="6E6E6E"/>
                </a:solidFill>
              </a:rPr>
              <a:t> repetible en banca MX.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© 2026 Accenture.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All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rights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 </a:t>
            </a:r>
            <a:r>
              <a:rPr lang="es-MX" sz="900" b="0" i="0" noProof="0" dirty="0" err="1">
                <a:solidFill>
                  <a:srgbClr val="6E6E6E"/>
                </a:solidFill>
                <a:latin typeface="Arial"/>
              </a:rPr>
              <a:t>reserved</a:t>
            </a:r>
            <a:r>
              <a:rPr lang="es-MX" sz="900" b="0" i="0" noProof="0" dirty="0">
                <a:solidFill>
                  <a:srgbClr val="6E6E6E"/>
                </a:solidFill>
                <a:latin typeface="Arial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7D34BF-3D37-CC60-C49B-A68F10307486}"/>
              </a:ext>
            </a:extLst>
          </p:cNvPr>
          <p:cNvSpPr/>
          <p:nvPr/>
        </p:nvSpPr>
        <p:spPr>
          <a:xfrm>
            <a:off x="446480" y="3920823"/>
            <a:ext cx="70000" cy="7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s-MX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7500C0"/>
                </a:solidFill>
                <a:latin typeface="Arial"/>
              </a:rPr>
              <a:t>Competidores principales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60000"/>
            <a:ext cx="8300000" cy="78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480" y="1851606"/>
            <a:ext cx="7875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000" dirty="0">
                <a:solidFill>
                  <a:srgbClr val="6E6E6E"/>
                </a:solidFill>
              </a:rPr>
              <a:t>Fuertes en legacy bancario (IBM Z) y managed services (Kyndryl); relacion historica en banca. Ganamos: agnosticos de plataforma, sin lock-in, modernizacion sin downtime. Vigilar: watsonx en 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540000"/>
            <a:ext cx="8300000" cy="78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480" y="2847087"/>
            <a:ext cx="785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000">
                <a:solidFill>
                  <a:srgbClr val="6E6E6E"/>
                </a:solidFill>
              </a:defRPr>
            </a:lvl1pPr>
          </a:lstStyle>
          <a:p>
            <a:r>
              <a:rPr lang="es-MX" dirty="0"/>
              <a:t>SI enterprise europeo; relacion con Santander/Sabadell en HQ; absorbe modernizacion SAP a escala. Ganamos: footprint MX, delivery local y regulacion CNBV. Vigilar: ADMnext (AD&amp;M con IA).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20000"/>
            <a:ext cx="8300000" cy="78000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5220" y="3831054"/>
            <a:ext cx="799267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000">
                <a:solidFill>
                  <a:srgbClr val="6E6E6E"/>
                </a:solidFill>
              </a:defRPr>
            </a:lvl1pPr>
          </a:lstStyle>
          <a:p>
            <a:r>
              <a:rPr lang="es-MX" dirty="0"/>
              <a:t>Mayor vendor de IT de LATAM (HQ Monterrey), incumbente en corporativos MX, precio nearshore. Ganamos: escala global + AI-native engineering end-to-end; ellos mas fuertes en staff aug que en estrategia. Vigilar: GENIA.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  <p:pic>
        <p:nvPicPr>
          <p:cNvPr id="1026" name="Picture 2" descr="IBM logo PNG">
            <a:extLst>
              <a:ext uri="{FF2B5EF4-FFF2-40B4-BE49-F238E27FC236}">
                <a16:creationId xmlns:a16="http://schemas.microsoft.com/office/drawing/2014/main" id="{97AABD8C-90B5-1824-0656-DE45E69BC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41" y="1606697"/>
            <a:ext cx="378739" cy="16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pgemini Logo, symbol, meaning, history, PNG, brand">
            <a:extLst>
              <a:ext uri="{FF2B5EF4-FFF2-40B4-BE49-F238E27FC236}">
                <a16:creationId xmlns:a16="http://schemas.microsoft.com/office/drawing/2014/main" id="{BCCF4490-46D7-B53B-C86F-F47EF5440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20" y="2583693"/>
            <a:ext cx="468255" cy="26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ofttek recibe la primera certificación Rapid Deployment Solution de ...">
            <a:extLst>
              <a:ext uri="{FF2B5EF4-FFF2-40B4-BE49-F238E27FC236}">
                <a16:creationId xmlns:a16="http://schemas.microsoft.com/office/drawing/2014/main" id="{2C1799A9-FE6E-AB1E-AF0C-B1BC5DFD7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02" y="3557253"/>
            <a:ext cx="362678" cy="221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ure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0000"/>
            <a:ext cx="940000" cy="248885"/>
          </a:xfrm>
          <a:prstGeom prst="rect">
            <a:avLst/>
          </a:prstGeom>
        </p:spPr>
      </p:pic>
      <p:pic>
        <p:nvPicPr>
          <p:cNvPr id="3" name="Picture 2" descr="corner_accen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000" y="0"/>
            <a:ext cx="175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00000"/>
            <a:ext cx="750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7500C0"/>
                </a:solidFill>
                <a:latin typeface="Arial"/>
              </a:rPr>
              <a:t>Challenges &amp; </a:t>
            </a:r>
            <a:r>
              <a:rPr lang="en-US" sz="2800" b="1" i="0" dirty="0">
                <a:solidFill>
                  <a:srgbClr val="7500C0"/>
                </a:solidFill>
                <a:latin typeface="Arial"/>
              </a:rPr>
              <a:t>A</a:t>
            </a:r>
            <a:r>
              <a:rPr sz="2800" b="1" i="0" dirty="0">
                <a:solidFill>
                  <a:srgbClr val="7500C0"/>
                </a:solidFill>
                <a:latin typeface="Arial"/>
              </a:rPr>
              <a:t>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35000"/>
            <a:ext cx="90000" cy="9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480" y="1520000"/>
            <a:ext cx="383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500C0"/>
                </a:solidFill>
                <a:latin typeface="Arial"/>
              </a:rPr>
              <a:t>Challenges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50000"/>
            <a:ext cx="60000" cy="6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480" y="1861343"/>
            <a:ext cx="38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dirty="0">
                <a:solidFill>
                  <a:srgbClr val="1A1A1A"/>
                </a:solidFill>
              </a:rPr>
              <a:t>Cerrar BBVA OpenPay ($9.1M = 27% del target): ejecutar Foundations en Q1 como palanca para Business y App Mod. Define si llegamos al $33M.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80" y="2731954"/>
            <a:ext cx="60000" cy="6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1480" y="2625448"/>
            <a:ext cx="3800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b="0" dirty="0">
                <a:solidFill>
                  <a:srgbClr val="1A1A1A"/>
                </a:solidFill>
              </a:rPr>
              <a:t>Convertir whitespace en pipeline: Banorte, Liverpool, FEMSA y Techint tienen cero backlog. Sin pipeline calificado en 2 de ellas para Q2, el target depende 100% de BBVA.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1480" y="3594311"/>
            <a:ext cx="60000" cy="6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480" y="3450896"/>
            <a:ext cx="3800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dirty="0">
                <a:solidFill>
                  <a:srgbClr val="1A1A1A"/>
                </a:solidFill>
              </a:rPr>
              <a:t>Sostener CCI al crecer: $16.3M de negocio nuevo debe entrar a 41%. Un solo deal bajo 35% repite el patron SAP de FY26 y colapsa el 36.8%.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1480" y="1535000"/>
            <a:ext cx="90000" cy="90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1480" y="1520000"/>
            <a:ext cx="383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7500C0"/>
                </a:solidFill>
                <a:latin typeface="Arial"/>
              </a:rPr>
              <a:t>Asks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1480" y="1950000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1480" y="1940000"/>
            <a:ext cx="38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dirty="0">
                <a:solidFill>
                  <a:srgbClr val="1A1A1A"/>
                </a:solidFill>
              </a:rPr>
              <a:t>Ask 1: aprobar 8-10 headcount especializados (HVM + AI-NCE) desde Q1 FY27, condicionado al cierre de BBVA OpenPay o BanCoppel.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1480" y="2741783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21480" y="2663533"/>
            <a:ext cx="38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dirty="0">
                <a:solidFill>
                  <a:srgbClr val="1A1A1A"/>
                </a:solidFill>
              </a:rPr>
              <a:t>Ask 2: apoyo de liberar tiempo de Arquitectos para apoyo en ventas y desarrollo de ofertas y assets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6480" y="3384099"/>
            <a:ext cx="60000" cy="60000"/>
          </a:xfrm>
          <a:prstGeom prst="rect">
            <a:avLst/>
          </a:prstGeom>
          <a:solidFill>
            <a:srgbClr val="750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1480" y="3340000"/>
            <a:ext cx="38000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MX" sz="1200" b="0" dirty="0">
                <a:solidFill>
                  <a:srgbClr val="1A1A1A"/>
                </a:solidFill>
              </a:rPr>
              <a:t>Ask 3: budget de business development ($50-80K) para el desarrollo de los digital </a:t>
            </a:r>
            <a:r>
              <a:rPr lang="es-MX" sz="1200" b="0" dirty="0" err="1">
                <a:solidFill>
                  <a:srgbClr val="1A1A1A"/>
                </a:solidFill>
              </a:rPr>
              <a:t>twins</a:t>
            </a:r>
            <a:r>
              <a:rPr lang="es-MX" sz="1200" b="0" dirty="0">
                <a:solidFill>
                  <a:srgbClr val="1A1A1A"/>
                </a:solidFill>
              </a:rPr>
              <a:t> de los clientes targets.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900000"/>
            <a:ext cx="30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Arial"/>
              </a:rPr>
              <a:t>Digital Core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4900000"/>
            <a:ext cx="333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E6E6E"/>
                </a:solidFill>
                <a:latin typeface="Arial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iagonal_stripes_fli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94000" y="0"/>
            <a:ext cx="5850000" cy="5143500"/>
          </a:xfrm>
          <a:prstGeom prst="rect">
            <a:avLst/>
          </a:prstGeom>
          <a:solidFill>
            <a:srgbClr val="2E004F"/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480" y="220000"/>
            <a:ext cx="940000" cy="248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05480" y="1950000"/>
            <a:ext cx="530000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5480" y="2780000"/>
            <a:ext cx="5300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D8D0E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Let there be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5480" y="3700000"/>
            <a:ext cx="51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Together Reinventing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480" y="4900000"/>
            <a:ext cx="308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2026 Accenture.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1732</TotalTime>
  <Words>894</Words>
  <Application>Microsoft Office PowerPoint</Application>
  <PresentationFormat>On-screen Show (16:9)</PresentationFormat>
  <Paragraphs>108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Villegas, Elizabeth</dc:creator>
  <cp:keywords/>
  <dc:description>generated using python-pptx</dc:description>
  <cp:lastModifiedBy>Gallegos, Alejandro</cp:lastModifiedBy>
  <cp:revision>7</cp:revision>
  <dcterms:created xsi:type="dcterms:W3CDTF">2013-01-27T09:14:16Z</dcterms:created>
  <dcterms:modified xsi:type="dcterms:W3CDTF">2026-07-10T01:01:43Z</dcterms:modified>
  <cp:category/>
</cp:coreProperties>
</file>