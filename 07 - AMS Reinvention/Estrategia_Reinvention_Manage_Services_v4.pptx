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3" r:id="rId15"/>
    <p:sldId id="270" r:id="rId16"/>
    <p:sldId id="275" r:id="rId17"/>
    <p:sldId id="274" r:id="rId18"/>
    <p:sldId id="271" r:id="rId19"/>
    <p:sldId id="276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Crecimiento %</c:v>
                </c:pt>
              </c:strCache>
            </c:strRef>
          </c:tx>
          <c:spPr>
            <a:solidFill>
              <a:srgbClr val="A100F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600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PIB MX</c:v>
                </c:pt>
                <c:pt idx="1">
                  <c:v>TI Total</c:v>
                </c:pt>
                <c:pt idx="2">
                  <c:v>Servicios TI</c:v>
                </c:pt>
                <c:pt idx="3">
                  <c:v>Seguridad</c:v>
                </c:pt>
                <c:pt idx="4">
                  <c:v>IaaS Cloud</c:v>
                </c:pt>
                <c:pt idx="5">
                  <c:v>AI/GenAI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9.6999999999999993</c:v>
                </c:pt>
                <c:pt idx="2">
                  <c:v>5.5</c:v>
                </c:pt>
                <c:pt idx="3">
                  <c:v>24</c:v>
                </c:pt>
                <c:pt idx="4">
                  <c:v>25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D4-48CB-9607-C7637FD4A3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4D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TIC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8A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13-49FE-AC19-5E7B4015F457}"/>
              </c:ext>
            </c:extLst>
          </c:dPt>
          <c:dPt>
            <c:idx val="1"/>
            <c:bubble3D val="0"/>
            <c:spPr>
              <a:solidFill>
                <a:srgbClr val="4A4A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13-49FE-AC19-5E7B4015F457}"/>
              </c:ext>
            </c:extLst>
          </c:dPt>
          <c:dPt>
            <c:idx val="2"/>
            <c:bubble3D val="0"/>
            <c:spPr>
              <a:solidFill>
                <a:srgbClr val="A10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13-49FE-AC19-5E7B4015F457}"/>
              </c:ext>
            </c:extLst>
          </c:dPt>
          <c:dPt>
            <c:idx val="3"/>
            <c:bubble3D val="0"/>
            <c:spPr>
              <a:solidFill>
                <a:srgbClr val="4600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13-49FE-AC19-5E7B4015F457}"/>
              </c:ext>
            </c:extLst>
          </c:dPt>
          <c:dPt>
            <c:idx val="4"/>
            <c:bubble3D val="0"/>
            <c:spPr>
              <a:solidFill>
                <a:srgbClr val="B967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113-49FE-AC19-5E7B4015F457}"/>
              </c:ext>
            </c:extLst>
          </c:dPt>
          <c:dPt>
            <c:idx val="5"/>
            <c:bubble3D val="0"/>
            <c:spPr>
              <a:solidFill>
                <a:srgbClr val="FFB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113-49FE-AC19-5E7B4015F457}"/>
              </c:ext>
            </c:extLst>
          </c:dPt>
          <c:dPt>
            <c:idx val="6"/>
            <c:bubble3D val="0"/>
            <c:spPr>
              <a:solidFill>
                <a:srgbClr val="00BA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113-49FE-AC19-5E7B4015F457}"/>
              </c:ext>
            </c:extLst>
          </c:dPt>
          <c:dPt>
            <c:idx val="7"/>
            <c:bubble3D val="0"/>
            <c:spPr>
              <a:solidFill>
                <a:srgbClr val="1A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113-49FE-AC19-5E7B4015F45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13-49FE-AC19-5E7B4015F45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13-49FE-AC19-5E7B4015F457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13-49FE-AC19-5E7B4015F457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13-49FE-AC19-5E7B4015F457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113-49FE-AC19-5E7B4015F457}"/>
                </c:ext>
              </c:extLst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113-49FE-AC19-5E7B4015F457}"/>
                </c:ext>
              </c:extLst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113-49FE-AC19-5E7B4015F457}"/>
                </c:ext>
              </c:extLst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113-49FE-AC19-5E7B4015F45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Telecom $17.4</c:v>
                </c:pt>
                <c:pt idx="1">
                  <c:v>Dispositivos $18.8</c:v>
                </c:pt>
                <c:pt idx="2">
                  <c:v>IT Services $6.9</c:v>
                </c:pt>
                <c:pt idx="3">
                  <c:v>Apps SaaS $5.8</c:v>
                </c:pt>
                <c:pt idx="4">
                  <c:v>IaaS Cloud $2.0</c:v>
                </c:pt>
                <c:pt idx="5">
                  <c:v>Seguridad $1.5</c:v>
                </c:pt>
                <c:pt idx="6">
                  <c:v>AI/GenAI $0.8</c:v>
                </c:pt>
                <c:pt idx="7">
                  <c:v>Infra $0.6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17.399999999999999</c:v>
                </c:pt>
                <c:pt idx="1">
                  <c:v>18.8</c:v>
                </c:pt>
                <c:pt idx="2">
                  <c:v>6.9</c:v>
                </c:pt>
                <c:pt idx="3">
                  <c:v>5.8</c:v>
                </c:pt>
                <c:pt idx="4">
                  <c:v>2</c:v>
                </c:pt>
                <c:pt idx="5">
                  <c:v>1.5</c:v>
                </c:pt>
                <c:pt idx="6">
                  <c:v>0.8</c:v>
                </c:pt>
                <c:pt idx="7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113-49FE-AC19-5E7B4015F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08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A10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REINVENTION SERVICES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core and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reinvent it —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simultaneously.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México · FY27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Value-Led IT Operations FY26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AL CLIENTE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30-40%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9244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TCO de operación de TI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9244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de plataforma digital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95-98%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092440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aplicaciones críticas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09244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Aceleración de productividad ingenieril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4434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1st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9244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 humano en el liderazgo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 ·   Confidencial — Uso Interno Accenture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ORIGEN  ·  POR QUÉ EXISTE ESTA OFERTA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Value-Led IT Ops?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7375" y="13487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innovación no nació en un workshop. Nació de cuatro problemas concretos que estaban erosionando la posición competitiva de Accenture en servicios gestionados de TI.</a:t>
            </a:r>
            <a:endParaRPr lang="en-US" sz="1300" b="1" dirty="0"/>
          </a:p>
        </p:txBody>
      </p:sp>
      <p:sp>
        <p:nvSpPr>
          <p:cNvPr id="6" name="Shape 4"/>
          <p:cNvSpPr/>
          <p:nvPr/>
        </p:nvSpPr>
        <p:spPr>
          <a:xfrm>
            <a:off x="457200" y="189091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165230"/>
            <a:ext cx="6400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6523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2165230"/>
            <a:ext cx="14630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216523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Challenges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510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constante del Total Cost of Ownership derivado del esquema tradicional T&amp;M.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4085470"/>
            <a:ext cx="214884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2226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incidente y cada hora trabajada se traducía en mayor facturación — pero también en mayor desconfianza del CFO del cliente.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89091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66160" y="2165230"/>
            <a:ext cx="6400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216523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1960" y="2165230"/>
            <a:ext cx="14630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51960" y="216523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Misalignment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28510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integración y trazabilidad end-to-end que conecte TI con el valor de negocio.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66160" y="4085470"/>
            <a:ext cx="214884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42226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Operábamos sistemas que el cliente no entendía cómo movían su negocio — y nosotros no podíamos demostrar nuestro impacto real.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89091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2165230"/>
            <a:ext cx="6400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216523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86600" y="2165230"/>
            <a:ext cx="14630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86600" y="216523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Innovation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8510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gestionadas durante años sin evolución, con dependencias obsoletas y legacy acumulado.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4085470"/>
            <a:ext cx="214884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0" y="42226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creciendo silenciosamente. Estábamos manteniendo, no transformando.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961120" y="189091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35440" y="2165230"/>
            <a:ext cx="6400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35440" y="216523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21240" y="2165230"/>
            <a:ext cx="14630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21240" y="216523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RFP-based competencies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28510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alineación al valor y con decisiones únicamente basadas en precio.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235440" y="4085470"/>
            <a:ext cx="214884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235440" y="422263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Perdíamos los deals o sacrificábamos precio y margen. Comparados en las mismas dimensiones del competidor tradicional, siempre perdíamos algo.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6263640"/>
            <a:ext cx="112772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626364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frustraciones acumuladas se convirtieron en la tesis de una nueva categoría de oferta.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DEL ABORDAJE  ·  EL INSIGHT QUE CAMBIÓ 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 gana el partido jugando con las reglas del competidor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294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siguiéramos siendo medidos como un proveedor industrializado de servicios técnicos, siempre estaríamos atrapados en la guerra de precios y la commoditización.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15268"/>
            <a:ext cx="5212080" cy="10972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3249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810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industrialized</a:t>
            </a:r>
            <a:endParaRPr lang="en-US" sz="1800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Service Provider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5400000">
            <a:off x="5760720" y="2626748"/>
            <a:ext cx="548640" cy="320040"/>
          </a:xfrm>
          <a:prstGeom prst="rtTriangl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215268"/>
            <a:ext cx="5212080" cy="10972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3249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25810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 Value-Centric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Value-Led IT OPS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58686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SE EJECUTÓ CON TRES DECISIONES SIMULTÁNEAS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9834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998348"/>
            <a:ext cx="91440" cy="21031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1355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1812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categoría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6841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ser proveedor industrializado y posicionarse como socio centrado en valor. No fue reformulación de marketing — fue salto de categoría competitiva.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5644268"/>
            <a:ext cx="3291840" cy="36576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6442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</a:t>
            </a:r>
            <a:endParaRPr lang="en-US" sz="950" dirty="0"/>
          </a:p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vs competencia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399834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3998348"/>
            <a:ext cx="91440" cy="21031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26280" y="41355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12080" y="41812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capacidades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46841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integrada: S&amp;C + Reinvention + Industry SMEs + Automation/GenAI + SRE + GenWizard + Change Management + Business Process, alineados a un mismo propósito.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5644268"/>
            <a:ext cx="3291840" cy="36576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56442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competidor</a:t>
            </a:r>
            <a:endParaRPr lang="en-US" sz="950" dirty="0"/>
          </a:p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todo esto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0" y="399834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38160" y="3998348"/>
            <a:ext cx="91440" cy="21031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66760" y="41355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052560" y="41812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Comprometer resultados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66760" y="46841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con horizontes 1-2-3, Value Realization Office accountable, BKPIs medibles. Pasamos de vender horas a comprometer outcomes con números defendibles.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66760" y="5644268"/>
            <a:ext cx="3291840" cy="36576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58200" y="56442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BanCoppel: 46.2%</a:t>
            </a:r>
            <a:endParaRPr lang="en-US" sz="950" dirty="0"/>
          </a:p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capturadas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DE DÓNDE VENIMOS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Value-Led IT Operations FY26: el modelo que rompió el techo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cerró FY26 con 117.8M USD de revenue y +190 bps de CCI YoY ganando deals premium con propuestas value-led.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1064240" cy="0"/>
          </a:xfrm>
          <a:prstGeom prst="line">
            <a:avLst/>
          </a:prstGeom>
          <a:noFill/>
          <a:ln w="254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36192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6424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DESC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Value-Led AMS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Agile Tought, Capgemini, NTT, IBM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9272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16352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PepsiCo Salesforce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global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Indra, Softtek, HCL, KPMG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61888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contrato Retail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Softtek, TCS, NTT, IBM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4736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44968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42048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Bancoppel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Value-Led IT Ops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Axity, INDRA, Cognizant, Kyndryl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87584" y="2670048"/>
            <a:ext cx="237744" cy="237744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57816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54896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BEX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transición OLA por olas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212M MXN ahorro a 5 años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2697480" cy="15544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73152" cy="1554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117.8M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7724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FY26 (USD)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6035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 GILC YoY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4846320"/>
            <a:ext cx="2697480" cy="15544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83280" y="4846320"/>
            <a:ext cx="73152" cy="1554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4983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29.0%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61188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promedio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6035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+190 bps YoY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846320"/>
            <a:ext cx="2697480" cy="15544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17920" y="4846320"/>
            <a:ext cx="73152" cy="1554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46520" y="4983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107.5M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44652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FY26 (USD)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6035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 B2B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4846320"/>
            <a:ext cx="2697480" cy="15544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52560" y="4846320"/>
            <a:ext cx="73152" cy="1554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81160" y="4983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+25%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928116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sobre competencia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81160" y="6035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ganados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POR QUÉ EVOLUCIONAR AHORA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mercado nos pide reinvención, no solo operación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México 2026: el TI empresarial crece 13.4% anual mientras el PIB crece 4.3%. Pero los CIOs perciben la IA como caja negra y consolidan proveedores.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TIC MÉXICO 2026 vs PIB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60604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IDC México 2026, Worldwide Black Book, abril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0080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CIO MEXICANO ESTÁ HACIENDO HOY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606040"/>
            <a:ext cx="5349240" cy="114300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0" y="2606040"/>
            <a:ext cx="54864" cy="1143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0" y="2715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7804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proveedores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78040" y="3063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CIOs reducen su número de socios. Las plataformas grandes absorben funcionalidades de nicho. Sin diferenciador claro, el proveedor enfrenta presión de precio y desplazamiento.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0" y="3840480"/>
            <a:ext cx="5349240" cy="114300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0" y="3840480"/>
            <a:ext cx="54864" cy="1143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0" y="39502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178040" y="3931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ROI antes de escalar IA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78040" y="42976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prioriza GenAI y 22% IA Agéntica, pero perciben proyectos como caja negra. 'Quien eduque y aclare gana la conversación' (IDC). Casos de uso con métricas desde la fase 1.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0" y="5074920"/>
            <a:ext cx="5349240" cy="114300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0" y="5074920"/>
            <a:ext cx="54864" cy="1143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0" y="51846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178040" y="5166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sobre TCO y FinOps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78040" y="5532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 la inversión TI en MX 2026 va a Servicios Gestionados / Outsourcing. La oportunidad real está en Managed Services + Modernización (5.5% CAGR) y AI (52% CAGR).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EVOLUCIÓN DE LA OFERTA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Value-Led IT Operations a Managed Reinvention 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7680" y="152247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ADN — alineación a negocio y SRE — ahora con Agent-First y Service Intelligence Context Graph como motor de Run+Reinvent simultáneo.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532120" cy="411480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Value-Led IT Operations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a negocio · Medir el valor continuo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8587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prevención, prescripción, anticipación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315968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24281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 y resiliencia (chaos engineering)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700016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6268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 Inteligente (hyper-automation)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5084064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50109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silos tecnológicos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5468112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3949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+50% · GenAI for unique work +40%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5852160"/>
            <a:ext cx="109728" cy="109728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7790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BKPIs / XLAs / SLAs gobernados por Value Realization Office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2331720"/>
            <a:ext cx="5532120" cy="41148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7889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Reinvention Services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00800" y="3547872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34747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First con Human in the Lead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3931920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38587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Intelligence Context Graph (Reinvention.AI)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4315968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24281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Operations · Apps + AI Agents + Modelos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4700016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46268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Cost &amp; Productivity Reinvention diagnóstico continuo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5084064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501091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 + QE entregados como capacity services AI-first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5468112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53949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y simplificación dentro del mismo contrato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5852160"/>
            <a:ext cx="109728" cy="10972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83680" y="57790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por outcome / autonomía + commitment contractual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ARQUITECTURA DE LA OFERTA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Reinvention Services: 5 sub-ofertas para defender el core y conquistar lo nuevo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global, ejecución local. Reúsa lo construido en FY26 (BBVA, Liverpool, Bancoppel) y abre frentes nuevos basados en agentes.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4252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4252" y="2468880"/>
            <a:ext cx="2240280" cy="6400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1412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1412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8844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Cost &amp; Productivity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Reinvention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8844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continuo de TCO + roadmap. AI-First Op Model · AI-First Run (ITIL) · AI-First Change (SDLC) · Workforce Strategy.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79980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79980" y="2468880"/>
            <a:ext cx="2240280" cy="6400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1714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NEW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17140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4572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Operations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&amp; AI Agents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4572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Agent-First con Service Intelligence Context Graph: Apps (custom, COTS, SAP), Agent Ops, AI Ops.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75708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75708" y="2468880"/>
            <a:ext cx="2240280" cy="64008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12868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NEW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12868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40300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Development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Engineering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40300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Capacity Services AI-first para change y QE. Reinvention Deployed Engineering (RDE).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71436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71436" y="2468880"/>
            <a:ext cx="2240280" cy="6400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08596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08596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36028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Modernization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36028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dentro del mismo contrato gestionado. Integrado a multi-tower deals.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767164" y="246888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67164" y="2468880"/>
            <a:ext cx="2240280" cy="6400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04324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904324" y="2761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31756" y="324612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Platforms,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Infrastructure, Data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31756" y="4251960"/>
            <a:ext cx="1911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gestionados sobre AI-ready Data e Intelligent Infrastructure. Integrado en multi-tower.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806440"/>
            <a:ext cx="11277295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TRANSVERSAL: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Platform · Service Intelligence Context Graph · myWizard AIOps · GenWizard · Celonis · CAST · SignalFX · Industry Intelligent Digital Brain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PROPUESTA DE VALOR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5 pilares Value-Led se conservan — el 6º es el cambio de era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a negocio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e2e de ticket → IT KPI → BKPI. Value Realization Office accountability del business case.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BKPI · XLA · SLA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33672" y="2240280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33672" y="2240280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10912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inteligente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Prevención, prescripción, anticipación. Self-healing, root cause en tiempo real, chaos engineering.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faster resolutions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10144" y="2240280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10144" y="2240280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11312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87384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 y resiliencia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11312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sin incidentes, alta disponibilidad 99.99%, FinOps integrado, soberanía de datos.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11312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uptime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187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Operativo Inteligente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" y="46908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Hyper-automation, agentes, GenAI para eliminación de toil. Decisiones en tiempo real con analítica.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5376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automation penetration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33672" y="4050792"/>
            <a:ext cx="3657600" cy="169164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33672" y="4050792"/>
            <a:ext cx="73152" cy="16916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34840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10912" y="4187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silos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34840" y="46908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multidisciplinarios alineados a producto de negocio, no a especialidades técnicas.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5376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product-driven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10144" y="4050792"/>
            <a:ext cx="3657600" cy="16916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10144" y="4050792"/>
            <a:ext cx="73152" cy="16916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11312" y="4187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787384" y="4187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Agent-First, Human in the Lead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11312" y="46908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Intelligence Context Graph como cerebro operacional. Agentes ejecutan, humanos lideran.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11312" y="5376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FY27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PRÁCTICA NUCLEAR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 no es operaciones, es la evolución del Run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multidisciplinarios alineados a productos de negocio, midiendo confiabilidad como código, no como ticket.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 3 DIMENSIONES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486400" cy="105156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ingeniería de software a operaciones de TI. SLOs, error budgets, post-mortems blameless, chaos engineering.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5486400" cy="105156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70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 aplicando ciencia computacional a sistemas altamente disponibles. Embebidos en DevOps, accountable de E2E reliability.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5486400" cy="105156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138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 por equipos del cliente capacitados por Accenture, o provisto como as-a-Service end-to-end.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MÉTRICAS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5303520" cy="777240"/>
          </a:xfrm>
          <a:prstGeom prst="rect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Service Level Agreement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técnico del servicio. Fase de transición, gobernanza semanal.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3611880"/>
            <a:ext cx="4754880" cy="7772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XLA · Experience Level Agreement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al usuario final. Gobernado por Value Realization Office.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4480560"/>
            <a:ext cx="4023360" cy="7772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BKPI · Business KPI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value tree del negocio. Bancoppel: $10.4M/año recuperables.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5486400"/>
            <a:ext cx="53035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5559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IT KPI → BKPI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870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incidencia atendida cuenta una historia de impacto al negocio. Esa es la diferencia entre operar y reinventar.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EQUIPOS DE ENTREGA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Equipos multidisciplinarios alineados a productos de negocio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Eliminamos silos: cada squad es accountable end-to-end de un producto, con SRE, Engineering, Strategy y Industry SMEs juntos.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07128" y="3337560"/>
            <a:ext cx="2377440" cy="2377440"/>
          </a:xfrm>
          <a:prstGeom prst="ellipse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07128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NEGOCIO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07128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e2e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5848" y="4526280"/>
            <a:ext cx="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10048" y="2404872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10048" y="24505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95848" y="4526280"/>
            <a:ext cx="1422473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32520" y="2905698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32520" y="295141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95848" y="4526280"/>
            <a:ext cx="201168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21728" y="411480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1728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Team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95848" y="4526280"/>
            <a:ext cx="1422473" cy="1209102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32520" y="5323902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32520" y="536962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GenWizard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Reinvention.AI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5848" y="4526280"/>
            <a:ext cx="0" cy="1709928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0048" y="5824728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10048" y="58704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GenAI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95848" y="4526280"/>
            <a:ext cx="0" cy="1209102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87575" y="5323902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87575" y="536962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5848" y="4526280"/>
            <a:ext cx="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98368" y="4114800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98368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5848" y="4526280"/>
            <a:ext cx="0" cy="0"/>
          </a:xfrm>
          <a:prstGeom prst="line">
            <a:avLst/>
          </a:prstGeom>
          <a:noFill/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87575" y="2905698"/>
            <a:ext cx="13716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87575" y="295141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2286000"/>
            <a:ext cx="2377440" cy="365760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TEAMING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320040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silos técnicos.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impacto a negocio.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Pirámides racionalizadas.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engineers, no L1/L2/L3.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reinventado.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continuo en Agentic AI.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no proyecto.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squad vive con el producto.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57055" y="2286000"/>
            <a:ext cx="237744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539935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39935" y="32461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408615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costos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39935" y="390448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0408615" y="39044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experiencia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TI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539935" y="456285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408615" y="45628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en satisfacción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539935" y="522122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6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0408615" y="52212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transición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conocimiento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OPORTUNIDAD MÉXICO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TAM nos dice dónde competir: $6.9B en IT 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mexicano 2026: $61.6B TIC. Servicios gestionados y consultoría/integración crecen 5.5% con presión de modernización + IA.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MERCADO TIC MÉXICO 2026 (US$ B)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83464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55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foco: IT Services + IaaS + AI = $9.7B accesibles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00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COMPETITIVO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834640"/>
            <a:ext cx="5349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0" y="4251960"/>
            <a:ext cx="5349240" cy="0"/>
          </a:xfrm>
          <a:prstGeom prst="line">
            <a:avLst/>
          </a:prstGeom>
          <a:noFill/>
          <a:ln w="12700">
            <a:solidFill>
              <a:srgbClr val="8A8A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070848" y="2834640"/>
            <a:ext cx="0" cy="2834640"/>
          </a:xfrm>
          <a:prstGeom prst="line">
            <a:avLst/>
          </a:prstGeom>
          <a:noFill/>
          <a:ln w="12700">
            <a:solidFill>
              <a:srgbClr val="8A8A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568756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AL NEGOCIO →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 rot="-5400000">
            <a:off x="5989320" y="3108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73952" y="4782312"/>
            <a:ext cx="585216" cy="585216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35040" y="4800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388352" y="4279392"/>
            <a:ext cx="768096" cy="768096"/>
          </a:xfrm>
          <a:prstGeom prst="ellipse">
            <a:avLst/>
          </a:prstGeom>
          <a:solidFill>
            <a:srgbClr val="4A4A5E"/>
          </a:solidFill>
          <a:ln w="1270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040880" y="4389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Softtek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73568" y="3401568"/>
            <a:ext cx="877824" cy="877824"/>
          </a:xfrm>
          <a:prstGeom prst="ellipse">
            <a:avLst/>
          </a:prstGeom>
          <a:solidFill>
            <a:srgbClr val="4A4A5E"/>
          </a:solidFill>
          <a:ln w="1270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80960" y="3566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Kyndryl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25712" y="3044952"/>
            <a:ext cx="950976" cy="950976"/>
          </a:xfrm>
          <a:prstGeom prst="ellipse">
            <a:avLst/>
          </a:prstGeom>
          <a:solidFill>
            <a:srgbClr val="8A8A9E"/>
          </a:solidFill>
          <a:ln w="12700">
            <a:solidFill>
              <a:srgbClr val="8A8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869680" y="3246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0149840" y="2606040"/>
            <a:ext cx="1280160" cy="1280160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058400" y="2971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5852160"/>
            <a:ext cx="5349240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37960" y="58521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Managed Services Accenture: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$1.59B  ·  </a:t>
            </a:r>
            <a:r>
              <a:rPr lang="en-US" sz="105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actual: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 ·  </a:t>
            </a:r>
            <a:r>
              <a:rPr lang="en-US" sz="105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Ambición FY27: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DIFERENCIADORES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plays que ningún competidor en México puede replicar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 Office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del business case durante toda la vida del contrato. BKPI / XLA / SLA gobernados en cadencia diaria-semanal-mensual.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16352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3512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53512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Intelligence Context Graph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53512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 operacional Reinvention.AI. Conoce cada app, ticket histórico, dependencia. Habilita agentes seguros.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75504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75504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12664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12664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GenWizard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12664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propietaria para AMS, Reverse Engineering, App Dev y Modernización. 40-45% productividad.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34656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34656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71816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71816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Intelligent Digital Brain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71816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Ontologías por industria (banca, retail, manufactura). Compounding domain value.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893808" y="2240280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93808" y="2240280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30968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30968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myWizard AIOps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30968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operaciones inteligentes con telemetría, diagnóstico y auto-resolvers integrados.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Conceptualization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negocio cuantificado en Stage 0 con horizonte 1-2-3 antes de firmar contrato.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816352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16352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53512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53512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Framework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953512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 · Optimize · Automate. Aplicado en cada caso de uso de app + infraestructura.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75504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175504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12664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12664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 Models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12664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Output · Outcome · Autonomía. Risk-share con el cliente, no T&amp;M.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534656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34656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671816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71816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Wave-based Transition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671816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transiciones globales. Cero impacto a BAU en BBVA / Liverpool / Bancoppel.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893808" y="4050792"/>
            <a:ext cx="2240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893808" y="4050792"/>
            <a:ext cx="224028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030968" y="4187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30968" y="4462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SMEs embebidos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030968" y="49194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Expertos de banca, retail, manufactura dentro del squad operativo. No consultores externos.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plays se vende por separado. Son la combinación lo que hace ganar el deal.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 ·  DE DÓNDE PARTIMOS REALMENTE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 AMS FY26: el plan no se cumplió, pero el margen sí mejoró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Mirar la base con honestidad financiera es la condición para proyectar FY27 con credibilidad. Estas son las cifras AMS México que sostienen el plan.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77295" cy="36576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AMS FY26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2044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0372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8700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2772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92,514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46,327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(49.9%)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8700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crítica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11277295" cy="292608"/>
          </a:xfrm>
          <a:prstGeom prst="rect">
            <a:avLst/>
          </a:prstGeom>
          <a:solidFill>
            <a:srgbClr val="F2F2F5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9900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GILC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(59.5%)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(44.6%)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87000" y="2990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82696"/>
            <a:ext cx="112772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282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CCI 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3282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282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282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95360" y="3282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+118 bps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87000" y="32826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sube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575304"/>
            <a:ext cx="11277295" cy="292608"/>
          </a:xfrm>
          <a:prstGeom prst="rect">
            <a:avLst/>
          </a:prstGeom>
          <a:solidFill>
            <a:srgbClr val="F2F2F5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35753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46.9%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(2.0%)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87000" y="3575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867912"/>
            <a:ext cx="112772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3867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20440" y="3867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86,998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3867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77,446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03720" y="3867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(11.0%)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95360" y="3867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287000" y="3867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moderada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160520"/>
            <a:ext cx="11277295" cy="292608"/>
          </a:xfrm>
          <a:prstGeom prst="rect">
            <a:avLst/>
          </a:prstGeom>
          <a:solidFill>
            <a:srgbClr val="F2F2F5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94360" y="4160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CCI 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20440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12080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03720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(520 bps)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95360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(411 bps)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287000" y="4160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453128"/>
            <a:ext cx="112772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4360" y="4453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520440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12080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03720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595360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(79.9%)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287000" y="4453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928616"/>
            <a:ext cx="3703320" cy="118872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4928616"/>
            <a:ext cx="73152" cy="1188720"/>
          </a:xfrm>
          <a:prstGeom prst="rect">
            <a:avLst/>
          </a:prstGeom>
          <a:solidFill>
            <a:srgbClr val="00BA88"/>
          </a:solidFill>
          <a:ln w="12700">
            <a:solidFill>
              <a:srgbClr val="00BA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0080" y="50200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1143000" y="50383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funcionó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40080" y="53858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Won CCI +118 bps YoY. Win Rate 46.9% sano. El modelo Value-Led entrega rentabilidad superior — la oferta funciona.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279392" y="4928616"/>
            <a:ext cx="3703320" cy="118872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279392" y="4928616"/>
            <a:ext cx="73152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462272" y="50200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4965192" y="50383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funcionó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462272" y="53858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 -79.9% YoY. Sales a la mitad del plan. Delivered CCI -520 bps. Demanda y disciplina de delivery son las prioridades.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101584" y="4928616"/>
            <a:ext cx="3703320" cy="118872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101584" y="4928616"/>
            <a:ext cx="73152" cy="11887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284464" y="50200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8787384" y="50383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cambia FY27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284464" y="53858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no es re-branding. Es la respuesta operativa: nuevo motor de pipeline (Reinvention.AI), disciplina de delivery (SIG), agent-first para margen.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Reset Cuent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rpleSquare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 ·  CUENTAS CON GAP Y SLIPPAGE FY27</a:t>
            </a:r>
            <a:endParaRPr lang="es-MX" sz="1100" dirty="0"/>
          </a:p>
        </p:txBody>
      </p:sp>
      <p:sp>
        <p:nvSpPr>
          <p:cNvPr id="4" name="Title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800" b="1" i="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Recuperación de cuentas críticas y slippage a considerar para FY27</a:t>
            </a:r>
            <a:endParaRPr lang="es-MX" sz="2800" dirty="0"/>
          </a:p>
        </p:txBody>
      </p:sp>
      <p:sp>
        <p:nvSpPr>
          <p:cNvPr id="5" name="Subtitle"/>
          <p:cNvSpPr/>
          <p:nvPr/>
        </p:nvSpPr>
        <p:spPr>
          <a:xfrm>
            <a:off x="457200" y="1874519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3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FY27 acepta el gap FY26, recupera cuentas core y traslada el pipeline calificado como base de partida. No es optimismo: es reconstrucción disciplinada.</a:t>
            </a:r>
            <a:endParaRPr lang="es-MX" sz="1300" dirty="0"/>
          </a:p>
        </p:txBody>
      </p:sp>
      <p:sp>
        <p:nvSpPr>
          <p:cNvPr id="6" name="KpiBox0"/>
          <p:cNvSpPr/>
          <p:nvPr/>
        </p:nvSpPr>
        <p:spPr>
          <a:xfrm>
            <a:off x="457200" y="2423160"/>
            <a:ext cx="3721608" cy="8686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piAccent0"/>
          <p:cNvSpPr/>
          <p:nvPr/>
        </p:nvSpPr>
        <p:spPr>
          <a:xfrm>
            <a:off x="457200" y="2423160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KpiLabel0"/>
          <p:cNvSpPr/>
          <p:nvPr/>
        </p:nvSpPr>
        <p:spPr>
          <a:xfrm>
            <a:off x="658368" y="25146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00" b="1" i="0" kern="0" spc="2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REVENUE FY26</a:t>
            </a:r>
            <a:endParaRPr lang="es-MX" sz="900" dirty="0"/>
          </a:p>
        </p:txBody>
      </p:sp>
      <p:sp>
        <p:nvSpPr>
          <p:cNvPr id="9" name="KpiValue0"/>
          <p:cNvSpPr/>
          <p:nvPr/>
        </p:nvSpPr>
        <p:spPr>
          <a:xfrm>
            <a:off x="658368" y="27157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600" b="1" i="0" kern="0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(11.0%)</a:t>
            </a:r>
            <a:endParaRPr lang="es-MX" sz="2600" dirty="0"/>
          </a:p>
        </p:txBody>
      </p:sp>
      <p:sp>
        <p:nvSpPr>
          <p:cNvPr id="10" name="KpiSub0"/>
          <p:cNvSpPr/>
          <p:nvPr/>
        </p:nvSpPr>
        <p:spPr>
          <a:xfrm>
            <a:off x="658368" y="30815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77.4M vs Plan 87.0M</a:t>
            </a:r>
            <a:endParaRPr lang="es-MX" sz="950" dirty="0"/>
          </a:p>
        </p:txBody>
      </p:sp>
      <p:sp>
        <p:nvSpPr>
          <p:cNvPr id="11" name="KpiBox1"/>
          <p:cNvSpPr/>
          <p:nvPr/>
        </p:nvSpPr>
        <p:spPr>
          <a:xfrm>
            <a:off x="4270248" y="2423160"/>
            <a:ext cx="3721608" cy="8686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KpiAccent1"/>
          <p:cNvSpPr/>
          <p:nvPr/>
        </p:nvSpPr>
        <p:spPr>
          <a:xfrm>
            <a:off x="4270248" y="2423160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KpiLabel1"/>
          <p:cNvSpPr/>
          <p:nvPr/>
        </p:nvSpPr>
        <p:spPr>
          <a:xfrm>
            <a:off x="4471416" y="25146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00" b="1" i="0" kern="0" spc="2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SALES FY26</a:t>
            </a:r>
            <a:endParaRPr lang="es-MX" sz="900" dirty="0"/>
          </a:p>
        </p:txBody>
      </p:sp>
      <p:sp>
        <p:nvSpPr>
          <p:cNvPr id="14" name="KpiValue1"/>
          <p:cNvSpPr/>
          <p:nvPr/>
        </p:nvSpPr>
        <p:spPr>
          <a:xfrm>
            <a:off x="4471416" y="27157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600" b="1" i="0" kern="0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(49.9%)</a:t>
            </a:r>
            <a:endParaRPr lang="es-MX" sz="2600" dirty="0"/>
          </a:p>
        </p:txBody>
      </p:sp>
      <p:sp>
        <p:nvSpPr>
          <p:cNvPr id="15" name="KpiSub1"/>
          <p:cNvSpPr/>
          <p:nvPr/>
        </p:nvSpPr>
        <p:spPr>
          <a:xfrm>
            <a:off x="4471416" y="30815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46.3M vs Plan 92.5M  ·  pipeline caído 79.9% YoY</a:t>
            </a:r>
            <a:endParaRPr lang="es-MX" sz="950" dirty="0"/>
          </a:p>
        </p:txBody>
      </p:sp>
      <p:sp>
        <p:nvSpPr>
          <p:cNvPr id="16" name="KpiBox2"/>
          <p:cNvSpPr/>
          <p:nvPr/>
        </p:nvSpPr>
        <p:spPr>
          <a:xfrm>
            <a:off x="8083296" y="2423160"/>
            <a:ext cx="3721608" cy="868680"/>
          </a:xfrm>
          <a:prstGeom prst="rect">
            <a:avLst/>
          </a:prstGeom>
          <a:solidFill>
            <a:srgbClr val="F2F2F5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KpiAccent2"/>
          <p:cNvSpPr/>
          <p:nvPr/>
        </p:nvSpPr>
        <p:spPr>
          <a:xfrm>
            <a:off x="8083296" y="2423160"/>
            <a:ext cx="64008" cy="8686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KpiLabel2"/>
          <p:cNvSpPr/>
          <p:nvPr/>
        </p:nvSpPr>
        <p:spPr>
          <a:xfrm>
            <a:off x="8284464" y="25146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00" b="1" i="0" kern="0" spc="2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CRÍTICAS</a:t>
            </a:r>
            <a:endParaRPr lang="es-MX" sz="900" dirty="0"/>
          </a:p>
        </p:txBody>
      </p:sp>
      <p:sp>
        <p:nvSpPr>
          <p:cNvPr id="19" name="KpiValue2"/>
          <p:cNvSpPr/>
          <p:nvPr/>
        </p:nvSpPr>
        <p:spPr>
          <a:xfrm>
            <a:off x="8284464" y="27157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600" b="1" i="0" kern="0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s-MX" sz="2600" dirty="0"/>
          </a:p>
        </p:txBody>
      </p:sp>
      <p:sp>
        <p:nvSpPr>
          <p:cNvPr id="20" name="KpiSub2"/>
          <p:cNvSpPr/>
          <p:nvPr/>
        </p:nvSpPr>
        <p:spPr>
          <a:xfrm>
            <a:off x="8284464" y="30815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9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variance negativa significativa a recuperar en FY27</a:t>
            </a:r>
            <a:endParaRPr lang="es-MX" sz="950" dirty="0"/>
          </a:p>
        </p:txBody>
      </p:sp>
      <p:sp>
        <p:nvSpPr>
          <p:cNvPr id="21" name="TableHeader"/>
          <p:cNvSpPr/>
          <p:nvPr/>
        </p:nvSpPr>
        <p:spPr>
          <a:xfrm>
            <a:off x="457200" y="35204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3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críticas — Gap consolidado (Revenue + Sales)</a:t>
            </a:r>
            <a:endParaRPr lang="es-MX" sz="1300" dirty="0"/>
          </a:p>
        </p:txBody>
      </p:sp>
      <p:sp>
        <p:nvSpPr>
          <p:cNvPr id="22" name="TblHeaderBg"/>
          <p:cNvSpPr/>
          <p:nvPr/>
        </p:nvSpPr>
        <p:spPr>
          <a:xfrm>
            <a:off x="457200" y="3867912"/>
            <a:ext cx="7178040" cy="196596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Hdr0"/>
          <p:cNvSpPr/>
          <p:nvPr/>
        </p:nvSpPr>
        <p:spPr>
          <a:xfrm>
            <a:off x="548640" y="3867912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s-MX" sz="950" dirty="0"/>
          </a:p>
        </p:txBody>
      </p:sp>
      <p:sp>
        <p:nvSpPr>
          <p:cNvPr id="24" name="Hdr1"/>
          <p:cNvSpPr/>
          <p:nvPr/>
        </p:nvSpPr>
        <p:spPr>
          <a:xfrm>
            <a:off x="2286000" y="3867912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Gap</a:t>
            </a:r>
            <a:endParaRPr lang="es-MX" sz="950" dirty="0"/>
          </a:p>
        </p:txBody>
      </p:sp>
      <p:sp>
        <p:nvSpPr>
          <p:cNvPr id="25" name="Hdr2"/>
          <p:cNvSpPr/>
          <p:nvPr/>
        </p:nvSpPr>
        <p:spPr>
          <a:xfrm>
            <a:off x="3337560" y="386791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Gap</a:t>
            </a:r>
            <a:endParaRPr lang="es-MX" sz="950" dirty="0"/>
          </a:p>
        </p:txBody>
      </p:sp>
      <p:sp>
        <p:nvSpPr>
          <p:cNvPr id="26" name="Hdr3"/>
          <p:cNvSpPr/>
          <p:nvPr/>
        </p:nvSpPr>
        <p:spPr>
          <a:xfrm>
            <a:off x="4480560" y="386791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Total</a:t>
            </a:r>
            <a:endParaRPr lang="es-MX" sz="950" dirty="0"/>
          </a:p>
        </p:txBody>
      </p:sp>
      <p:sp>
        <p:nvSpPr>
          <p:cNvPr id="27" name="Hdr4"/>
          <p:cNvSpPr/>
          <p:nvPr/>
        </p:nvSpPr>
        <p:spPr>
          <a:xfrm>
            <a:off x="5715000" y="3867912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FY27</a:t>
            </a:r>
            <a:endParaRPr lang="es-MX" sz="950" dirty="0"/>
          </a:p>
        </p:txBody>
      </p:sp>
      <p:sp>
        <p:nvSpPr>
          <p:cNvPr id="28" name="RowLine0"/>
          <p:cNvSpPr/>
          <p:nvPr/>
        </p:nvSpPr>
        <p:spPr>
          <a:xfrm>
            <a:off x="457200" y="4256532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Cell0_0"/>
          <p:cNvSpPr/>
          <p:nvPr/>
        </p:nvSpPr>
        <p:spPr>
          <a:xfrm>
            <a:off x="548640" y="4064508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COPPEL S.A</a:t>
            </a:r>
            <a:endParaRPr lang="es-MX" sz="950" dirty="0"/>
          </a:p>
        </p:txBody>
      </p:sp>
      <p:sp>
        <p:nvSpPr>
          <p:cNvPr id="30" name="Cell0_1"/>
          <p:cNvSpPr/>
          <p:nvPr/>
        </p:nvSpPr>
        <p:spPr>
          <a:xfrm>
            <a:off x="2286000" y="4064508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s-MX" sz="950" dirty="0"/>
          </a:p>
        </p:txBody>
      </p:sp>
      <p:sp>
        <p:nvSpPr>
          <p:cNvPr id="31" name="Cell0_2"/>
          <p:cNvSpPr/>
          <p:nvPr/>
        </p:nvSpPr>
        <p:spPr>
          <a:xfrm>
            <a:off x="3337560" y="406450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(35,237)</a:t>
            </a:r>
            <a:endParaRPr lang="es-MX" sz="950" dirty="0"/>
          </a:p>
        </p:txBody>
      </p:sp>
      <p:sp>
        <p:nvSpPr>
          <p:cNvPr id="32" name="Cell0_3"/>
          <p:cNvSpPr/>
          <p:nvPr/>
        </p:nvSpPr>
        <p:spPr>
          <a:xfrm>
            <a:off x="4480560" y="406450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(35,237)</a:t>
            </a:r>
            <a:endParaRPr lang="es-MX" sz="950" dirty="0"/>
          </a:p>
        </p:txBody>
      </p:sp>
      <p:sp>
        <p:nvSpPr>
          <p:cNvPr id="33" name="Cell0_4"/>
          <p:cNvSpPr/>
          <p:nvPr/>
        </p:nvSpPr>
        <p:spPr>
          <a:xfrm>
            <a:off x="5715000" y="4064508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cuenta</a:t>
            </a:r>
            <a:endParaRPr lang="es-MX" sz="900" dirty="0"/>
          </a:p>
        </p:txBody>
      </p:sp>
      <p:sp>
        <p:nvSpPr>
          <p:cNvPr id="34" name="RowBg1"/>
          <p:cNvSpPr/>
          <p:nvPr/>
        </p:nvSpPr>
        <p:spPr>
          <a:xfrm>
            <a:off x="457200" y="4261104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wLine1"/>
          <p:cNvSpPr/>
          <p:nvPr/>
        </p:nvSpPr>
        <p:spPr>
          <a:xfrm>
            <a:off x="457200" y="4453128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Cell1_0"/>
          <p:cNvSpPr/>
          <p:nvPr/>
        </p:nvSpPr>
        <p:spPr>
          <a:xfrm>
            <a:off x="548640" y="4261104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 COLA</a:t>
            </a:r>
            <a:endParaRPr lang="es-MX" sz="950" dirty="0"/>
          </a:p>
        </p:txBody>
      </p:sp>
      <p:sp>
        <p:nvSpPr>
          <p:cNvPr id="37" name="Cell1_1"/>
          <p:cNvSpPr/>
          <p:nvPr/>
        </p:nvSpPr>
        <p:spPr>
          <a:xfrm>
            <a:off x="2286000" y="4261104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(1,529)</a:t>
            </a:r>
            <a:endParaRPr lang="es-MX" sz="950" dirty="0"/>
          </a:p>
        </p:txBody>
      </p:sp>
      <p:sp>
        <p:nvSpPr>
          <p:cNvPr id="38" name="Cell1_2"/>
          <p:cNvSpPr/>
          <p:nvPr/>
        </p:nvSpPr>
        <p:spPr>
          <a:xfrm>
            <a:off x="3337560" y="4261104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(8,131)</a:t>
            </a:r>
            <a:endParaRPr lang="es-MX" sz="950" dirty="0"/>
          </a:p>
        </p:txBody>
      </p:sp>
      <p:sp>
        <p:nvSpPr>
          <p:cNvPr id="39" name="Cell1_3"/>
          <p:cNvSpPr/>
          <p:nvPr/>
        </p:nvSpPr>
        <p:spPr>
          <a:xfrm>
            <a:off x="4480560" y="4261104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(9,660)</a:t>
            </a:r>
            <a:endParaRPr lang="es-MX" sz="950" dirty="0"/>
          </a:p>
        </p:txBody>
      </p:sp>
      <p:sp>
        <p:nvSpPr>
          <p:cNvPr id="40" name="Cell1_4"/>
          <p:cNvSpPr/>
          <p:nvPr/>
        </p:nvSpPr>
        <p:spPr>
          <a:xfrm>
            <a:off x="5715000" y="4261104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41" name="RowLine2"/>
          <p:cNvSpPr/>
          <p:nvPr/>
        </p:nvSpPr>
        <p:spPr>
          <a:xfrm>
            <a:off x="457200" y="4649724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Cell2_0"/>
          <p:cNvSpPr/>
          <p:nvPr/>
        </p:nvSpPr>
        <p:spPr>
          <a:xfrm>
            <a:off x="548640" y="4457700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FIN. BANORTE</a:t>
            </a:r>
            <a:endParaRPr lang="es-MX" sz="950" dirty="0"/>
          </a:p>
        </p:txBody>
      </p:sp>
      <p:sp>
        <p:nvSpPr>
          <p:cNvPr id="43" name="Cell2_1"/>
          <p:cNvSpPr/>
          <p:nvPr/>
        </p:nvSpPr>
        <p:spPr>
          <a:xfrm>
            <a:off x="2286000" y="4457700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(1,074)</a:t>
            </a:r>
            <a:endParaRPr lang="es-MX" sz="950" dirty="0"/>
          </a:p>
        </p:txBody>
      </p:sp>
      <p:sp>
        <p:nvSpPr>
          <p:cNvPr id="44" name="Cell2_2"/>
          <p:cNvSpPr/>
          <p:nvPr/>
        </p:nvSpPr>
        <p:spPr>
          <a:xfrm>
            <a:off x="3337560" y="4457700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(6,197)</a:t>
            </a:r>
            <a:endParaRPr lang="es-MX" sz="950" dirty="0"/>
          </a:p>
        </p:txBody>
      </p:sp>
      <p:sp>
        <p:nvSpPr>
          <p:cNvPr id="45" name="Cell2_3"/>
          <p:cNvSpPr/>
          <p:nvPr/>
        </p:nvSpPr>
        <p:spPr>
          <a:xfrm>
            <a:off x="4480560" y="4457700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(7,271)</a:t>
            </a:r>
            <a:endParaRPr lang="es-MX" sz="950" dirty="0"/>
          </a:p>
        </p:txBody>
      </p:sp>
      <p:sp>
        <p:nvSpPr>
          <p:cNvPr id="46" name="Cell2_4"/>
          <p:cNvSpPr/>
          <p:nvPr/>
        </p:nvSpPr>
        <p:spPr>
          <a:xfrm>
            <a:off x="5715000" y="4457700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47" name="RowBg3"/>
          <p:cNvSpPr/>
          <p:nvPr/>
        </p:nvSpPr>
        <p:spPr>
          <a:xfrm>
            <a:off x="457200" y="4654296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owLine3"/>
          <p:cNvSpPr/>
          <p:nvPr/>
        </p:nvSpPr>
        <p:spPr>
          <a:xfrm>
            <a:off x="457200" y="4846320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Cell3_0"/>
          <p:cNvSpPr/>
          <p:nvPr/>
        </p:nvSpPr>
        <p:spPr>
          <a:xfrm>
            <a:off x="548640" y="4654296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CUPRUM</a:t>
            </a:r>
            <a:endParaRPr lang="es-MX" sz="950" dirty="0"/>
          </a:p>
        </p:txBody>
      </p:sp>
      <p:sp>
        <p:nvSpPr>
          <p:cNvPr id="50" name="Cell3_1"/>
          <p:cNvSpPr/>
          <p:nvPr/>
        </p:nvSpPr>
        <p:spPr>
          <a:xfrm>
            <a:off x="2286000" y="4654296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(413)</a:t>
            </a:r>
            <a:endParaRPr lang="es-MX" sz="950" dirty="0"/>
          </a:p>
        </p:txBody>
      </p:sp>
      <p:sp>
        <p:nvSpPr>
          <p:cNvPr id="51" name="Cell3_2"/>
          <p:cNvSpPr/>
          <p:nvPr/>
        </p:nvSpPr>
        <p:spPr>
          <a:xfrm>
            <a:off x="3337560" y="4654296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(2,878)</a:t>
            </a:r>
            <a:endParaRPr lang="es-MX" sz="950" dirty="0"/>
          </a:p>
        </p:txBody>
      </p:sp>
      <p:sp>
        <p:nvSpPr>
          <p:cNvPr id="52" name="Cell3_3"/>
          <p:cNvSpPr/>
          <p:nvPr/>
        </p:nvSpPr>
        <p:spPr>
          <a:xfrm>
            <a:off x="4480560" y="4654296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(3,291)</a:t>
            </a:r>
            <a:endParaRPr lang="es-MX" sz="950" dirty="0"/>
          </a:p>
        </p:txBody>
      </p:sp>
      <p:sp>
        <p:nvSpPr>
          <p:cNvPr id="53" name="Cell3_4"/>
          <p:cNvSpPr/>
          <p:nvPr/>
        </p:nvSpPr>
        <p:spPr>
          <a:xfrm>
            <a:off x="5715000" y="4654296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oferta</a:t>
            </a:r>
            <a:endParaRPr lang="es-MX" sz="900" dirty="0"/>
          </a:p>
        </p:txBody>
      </p:sp>
      <p:sp>
        <p:nvSpPr>
          <p:cNvPr id="54" name="RowLine4"/>
          <p:cNvSpPr/>
          <p:nvPr/>
        </p:nvSpPr>
        <p:spPr>
          <a:xfrm>
            <a:off x="457200" y="5042916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ell4_0"/>
          <p:cNvSpPr/>
          <p:nvPr/>
        </p:nvSpPr>
        <p:spPr>
          <a:xfrm>
            <a:off x="548640" y="4850892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s-MX" sz="950" dirty="0"/>
          </a:p>
        </p:txBody>
      </p:sp>
      <p:sp>
        <p:nvSpPr>
          <p:cNvPr id="56" name="Cell4_1"/>
          <p:cNvSpPr/>
          <p:nvPr/>
        </p:nvSpPr>
        <p:spPr>
          <a:xfrm>
            <a:off x="2286000" y="4850892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(977)</a:t>
            </a:r>
            <a:endParaRPr lang="es-MX" sz="950" dirty="0"/>
          </a:p>
        </p:txBody>
      </p:sp>
      <p:sp>
        <p:nvSpPr>
          <p:cNvPr id="57" name="Cell4_2"/>
          <p:cNvSpPr/>
          <p:nvPr/>
        </p:nvSpPr>
        <p:spPr>
          <a:xfrm>
            <a:off x="3337560" y="485089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(2,069)</a:t>
            </a:r>
            <a:endParaRPr lang="es-MX" sz="950" dirty="0"/>
          </a:p>
        </p:txBody>
      </p:sp>
      <p:sp>
        <p:nvSpPr>
          <p:cNvPr id="58" name="Cell4_3"/>
          <p:cNvSpPr/>
          <p:nvPr/>
        </p:nvSpPr>
        <p:spPr>
          <a:xfrm>
            <a:off x="4480560" y="485089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(3,046)</a:t>
            </a:r>
            <a:endParaRPr lang="es-MX" sz="950" dirty="0"/>
          </a:p>
        </p:txBody>
      </p:sp>
      <p:sp>
        <p:nvSpPr>
          <p:cNvPr id="59" name="Cell4_4"/>
          <p:cNvSpPr/>
          <p:nvPr/>
        </p:nvSpPr>
        <p:spPr>
          <a:xfrm>
            <a:off x="5715000" y="4850892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oferta</a:t>
            </a:r>
            <a:endParaRPr lang="es-MX" sz="900" dirty="0"/>
          </a:p>
        </p:txBody>
      </p:sp>
      <p:sp>
        <p:nvSpPr>
          <p:cNvPr id="60" name="RowBg5"/>
          <p:cNvSpPr/>
          <p:nvPr/>
        </p:nvSpPr>
        <p:spPr>
          <a:xfrm>
            <a:off x="457200" y="5047488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owLine5"/>
          <p:cNvSpPr/>
          <p:nvPr/>
        </p:nvSpPr>
        <p:spPr>
          <a:xfrm>
            <a:off x="457200" y="5239512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Cell5_0"/>
          <p:cNvSpPr/>
          <p:nvPr/>
        </p:nvSpPr>
        <p:spPr>
          <a:xfrm>
            <a:off x="548640" y="5047488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FEMSA</a:t>
            </a:r>
            <a:endParaRPr lang="es-MX" sz="950" dirty="0"/>
          </a:p>
        </p:txBody>
      </p:sp>
      <p:sp>
        <p:nvSpPr>
          <p:cNvPr id="63" name="Cell5_1"/>
          <p:cNvSpPr/>
          <p:nvPr/>
        </p:nvSpPr>
        <p:spPr>
          <a:xfrm>
            <a:off x="2286000" y="5047488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(644)</a:t>
            </a:r>
            <a:endParaRPr lang="es-MX" sz="950" dirty="0"/>
          </a:p>
        </p:txBody>
      </p:sp>
      <p:sp>
        <p:nvSpPr>
          <p:cNvPr id="64" name="Cell5_2"/>
          <p:cNvSpPr/>
          <p:nvPr/>
        </p:nvSpPr>
        <p:spPr>
          <a:xfrm>
            <a:off x="3337560" y="504748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(2,222)</a:t>
            </a:r>
            <a:endParaRPr lang="es-MX" sz="950" dirty="0"/>
          </a:p>
        </p:txBody>
      </p:sp>
      <p:sp>
        <p:nvSpPr>
          <p:cNvPr id="65" name="Cell5_3"/>
          <p:cNvSpPr/>
          <p:nvPr/>
        </p:nvSpPr>
        <p:spPr>
          <a:xfrm>
            <a:off x="4480560" y="504748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(2,866)</a:t>
            </a:r>
            <a:endParaRPr lang="es-MX" sz="950" dirty="0"/>
          </a:p>
        </p:txBody>
      </p:sp>
      <p:sp>
        <p:nvSpPr>
          <p:cNvPr id="66" name="Cell5_4"/>
          <p:cNvSpPr/>
          <p:nvPr/>
        </p:nvSpPr>
        <p:spPr>
          <a:xfrm>
            <a:off x="5715000" y="5047488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67" name="RowLine6"/>
          <p:cNvSpPr/>
          <p:nvPr/>
        </p:nvSpPr>
        <p:spPr>
          <a:xfrm>
            <a:off x="457200" y="5436108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Cell6_0"/>
          <p:cNvSpPr/>
          <p:nvPr/>
        </p:nvSpPr>
        <p:spPr>
          <a:xfrm>
            <a:off x="548640" y="5244084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PUERTO LIVERPOOL</a:t>
            </a:r>
            <a:endParaRPr lang="es-MX" sz="950" dirty="0"/>
          </a:p>
        </p:txBody>
      </p:sp>
      <p:sp>
        <p:nvSpPr>
          <p:cNvPr id="69" name="Cell6_1"/>
          <p:cNvSpPr/>
          <p:nvPr/>
        </p:nvSpPr>
        <p:spPr>
          <a:xfrm>
            <a:off x="2286000" y="5244084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(1,056)</a:t>
            </a:r>
            <a:endParaRPr lang="es-MX" sz="950" dirty="0"/>
          </a:p>
        </p:txBody>
      </p:sp>
      <p:sp>
        <p:nvSpPr>
          <p:cNvPr id="70" name="Cell6_2"/>
          <p:cNvSpPr/>
          <p:nvPr/>
        </p:nvSpPr>
        <p:spPr>
          <a:xfrm>
            <a:off x="3337560" y="5244084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(1,786)</a:t>
            </a:r>
            <a:endParaRPr lang="es-MX" sz="950" dirty="0"/>
          </a:p>
        </p:txBody>
      </p:sp>
      <p:sp>
        <p:nvSpPr>
          <p:cNvPr id="71" name="Cell6_3"/>
          <p:cNvSpPr/>
          <p:nvPr/>
        </p:nvSpPr>
        <p:spPr>
          <a:xfrm>
            <a:off x="4480560" y="5244084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(2,842)</a:t>
            </a:r>
            <a:endParaRPr lang="es-MX" sz="950" dirty="0"/>
          </a:p>
        </p:txBody>
      </p:sp>
      <p:sp>
        <p:nvSpPr>
          <p:cNvPr id="72" name="Cell6_4"/>
          <p:cNvSpPr/>
          <p:nvPr/>
        </p:nvSpPr>
        <p:spPr>
          <a:xfrm>
            <a:off x="5715000" y="5244084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73" name="RowBg7"/>
          <p:cNvSpPr/>
          <p:nvPr/>
        </p:nvSpPr>
        <p:spPr>
          <a:xfrm>
            <a:off x="457200" y="5440680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owLine7"/>
          <p:cNvSpPr/>
          <p:nvPr/>
        </p:nvSpPr>
        <p:spPr>
          <a:xfrm>
            <a:off x="457200" y="5632704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Cell7_0"/>
          <p:cNvSpPr/>
          <p:nvPr/>
        </p:nvSpPr>
        <p:spPr>
          <a:xfrm>
            <a:off x="548640" y="5440680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</a:t>
            </a:r>
            <a:endParaRPr lang="es-MX" sz="950" dirty="0"/>
          </a:p>
        </p:txBody>
      </p:sp>
      <p:sp>
        <p:nvSpPr>
          <p:cNvPr id="76" name="Cell7_1"/>
          <p:cNvSpPr/>
          <p:nvPr/>
        </p:nvSpPr>
        <p:spPr>
          <a:xfrm>
            <a:off x="2286000" y="5440680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(1,648)</a:t>
            </a:r>
            <a:endParaRPr lang="es-MX" sz="950" dirty="0"/>
          </a:p>
        </p:txBody>
      </p:sp>
      <p:sp>
        <p:nvSpPr>
          <p:cNvPr id="77" name="Cell7_2"/>
          <p:cNvSpPr/>
          <p:nvPr/>
        </p:nvSpPr>
        <p:spPr>
          <a:xfrm>
            <a:off x="3337560" y="5440680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(899)</a:t>
            </a:r>
            <a:endParaRPr lang="es-MX" sz="950" dirty="0"/>
          </a:p>
        </p:txBody>
      </p:sp>
      <p:sp>
        <p:nvSpPr>
          <p:cNvPr id="78" name="Cell7_3"/>
          <p:cNvSpPr/>
          <p:nvPr/>
        </p:nvSpPr>
        <p:spPr>
          <a:xfrm>
            <a:off x="4480560" y="5440680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(2,547)</a:t>
            </a:r>
            <a:endParaRPr lang="es-MX" sz="950" dirty="0"/>
          </a:p>
        </p:txBody>
      </p:sp>
      <p:sp>
        <p:nvSpPr>
          <p:cNvPr id="79" name="Cell7_4"/>
          <p:cNvSpPr/>
          <p:nvPr/>
        </p:nvSpPr>
        <p:spPr>
          <a:xfrm>
            <a:off x="5715000" y="5440680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retención</a:t>
            </a:r>
            <a:endParaRPr lang="es-MX" sz="900" dirty="0"/>
          </a:p>
        </p:txBody>
      </p:sp>
      <p:sp>
        <p:nvSpPr>
          <p:cNvPr id="80" name="RowLine8"/>
          <p:cNvSpPr/>
          <p:nvPr/>
        </p:nvSpPr>
        <p:spPr>
          <a:xfrm>
            <a:off x="457200" y="5829300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Cell8_0"/>
          <p:cNvSpPr/>
          <p:nvPr/>
        </p:nvSpPr>
        <p:spPr>
          <a:xfrm>
            <a:off x="548640" y="5637276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PEPSICO</a:t>
            </a:r>
            <a:endParaRPr lang="es-MX" sz="950" dirty="0"/>
          </a:p>
        </p:txBody>
      </p:sp>
      <p:sp>
        <p:nvSpPr>
          <p:cNvPr id="82" name="Cell8_1"/>
          <p:cNvSpPr/>
          <p:nvPr/>
        </p:nvSpPr>
        <p:spPr>
          <a:xfrm>
            <a:off x="2286000" y="5637276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(182)</a:t>
            </a:r>
            <a:endParaRPr lang="es-MX" sz="950" dirty="0"/>
          </a:p>
        </p:txBody>
      </p:sp>
      <p:sp>
        <p:nvSpPr>
          <p:cNvPr id="83" name="Cell8_2"/>
          <p:cNvSpPr/>
          <p:nvPr/>
        </p:nvSpPr>
        <p:spPr>
          <a:xfrm>
            <a:off x="3337560" y="5637276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(2,081)</a:t>
            </a:r>
            <a:endParaRPr lang="es-MX" sz="950" dirty="0"/>
          </a:p>
        </p:txBody>
      </p:sp>
      <p:sp>
        <p:nvSpPr>
          <p:cNvPr id="84" name="Cell8_3"/>
          <p:cNvSpPr/>
          <p:nvPr/>
        </p:nvSpPr>
        <p:spPr>
          <a:xfrm>
            <a:off x="4480560" y="5637276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(2,263)</a:t>
            </a:r>
            <a:endParaRPr lang="es-MX" sz="950" dirty="0"/>
          </a:p>
        </p:txBody>
      </p:sp>
      <p:sp>
        <p:nvSpPr>
          <p:cNvPr id="85" name="Cell8_4"/>
          <p:cNvSpPr/>
          <p:nvPr/>
        </p:nvSpPr>
        <p:spPr>
          <a:xfrm>
            <a:off x="5715000" y="5637276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oferta</a:t>
            </a:r>
            <a:endParaRPr lang="es-MX" sz="900" dirty="0"/>
          </a:p>
        </p:txBody>
      </p:sp>
      <p:sp>
        <p:nvSpPr>
          <p:cNvPr id="86" name="RowBg9"/>
          <p:cNvSpPr/>
          <p:nvPr/>
        </p:nvSpPr>
        <p:spPr>
          <a:xfrm>
            <a:off x="457200" y="5833872"/>
            <a:ext cx="7178040" cy="196596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owLine9"/>
          <p:cNvSpPr/>
          <p:nvPr/>
        </p:nvSpPr>
        <p:spPr>
          <a:xfrm>
            <a:off x="457200" y="6025896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Cell9_0"/>
          <p:cNvSpPr/>
          <p:nvPr/>
        </p:nvSpPr>
        <p:spPr>
          <a:xfrm>
            <a:off x="548640" y="5833872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NEWMONT</a:t>
            </a:r>
            <a:endParaRPr lang="es-MX" sz="950" dirty="0"/>
          </a:p>
        </p:txBody>
      </p:sp>
      <p:sp>
        <p:nvSpPr>
          <p:cNvPr id="89" name="Cell9_1"/>
          <p:cNvSpPr/>
          <p:nvPr/>
        </p:nvSpPr>
        <p:spPr>
          <a:xfrm>
            <a:off x="2286000" y="5833872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(305)</a:t>
            </a:r>
            <a:endParaRPr lang="es-MX" sz="950" dirty="0"/>
          </a:p>
        </p:txBody>
      </p:sp>
      <p:sp>
        <p:nvSpPr>
          <p:cNvPr id="90" name="Cell9_2"/>
          <p:cNvSpPr/>
          <p:nvPr/>
        </p:nvSpPr>
        <p:spPr>
          <a:xfrm>
            <a:off x="3337560" y="583387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(1,042)</a:t>
            </a:r>
            <a:endParaRPr lang="es-MX" sz="950" dirty="0"/>
          </a:p>
        </p:txBody>
      </p:sp>
      <p:sp>
        <p:nvSpPr>
          <p:cNvPr id="91" name="Cell9_3"/>
          <p:cNvSpPr/>
          <p:nvPr/>
        </p:nvSpPr>
        <p:spPr>
          <a:xfrm>
            <a:off x="4480560" y="5833872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(1,347)</a:t>
            </a:r>
            <a:endParaRPr lang="es-MX" sz="950" dirty="0"/>
          </a:p>
        </p:txBody>
      </p:sp>
      <p:sp>
        <p:nvSpPr>
          <p:cNvPr id="92" name="Cell9_4"/>
          <p:cNvSpPr/>
          <p:nvPr/>
        </p:nvSpPr>
        <p:spPr>
          <a:xfrm>
            <a:off x="5715000" y="5833872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pipeline</a:t>
            </a:r>
            <a:endParaRPr lang="es-MX" sz="900" dirty="0"/>
          </a:p>
        </p:txBody>
      </p:sp>
      <p:sp>
        <p:nvSpPr>
          <p:cNvPr id="93" name="RowLine10"/>
          <p:cNvSpPr/>
          <p:nvPr/>
        </p:nvSpPr>
        <p:spPr>
          <a:xfrm>
            <a:off x="457200" y="6222492"/>
            <a:ext cx="7178040" cy="4572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Cell10_0"/>
          <p:cNvSpPr/>
          <p:nvPr/>
        </p:nvSpPr>
        <p:spPr>
          <a:xfrm>
            <a:off x="548640" y="6030468"/>
            <a:ext cx="17373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CITIGROUP / BBVA / Otros</a:t>
            </a:r>
            <a:endParaRPr lang="es-MX" sz="950" dirty="0"/>
          </a:p>
        </p:txBody>
      </p:sp>
      <p:sp>
        <p:nvSpPr>
          <p:cNvPr id="95" name="Cell10_1"/>
          <p:cNvSpPr/>
          <p:nvPr/>
        </p:nvSpPr>
        <p:spPr>
          <a:xfrm>
            <a:off x="2286000" y="6030468"/>
            <a:ext cx="9601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(1,290)</a:t>
            </a:r>
            <a:endParaRPr lang="es-MX" sz="950" dirty="0"/>
          </a:p>
        </p:txBody>
      </p:sp>
      <p:sp>
        <p:nvSpPr>
          <p:cNvPr id="96" name="Cell10_2"/>
          <p:cNvSpPr/>
          <p:nvPr/>
        </p:nvSpPr>
        <p:spPr>
          <a:xfrm>
            <a:off x="3337560" y="603046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0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(367)</a:t>
            </a:r>
            <a:endParaRPr lang="es-MX" sz="950" dirty="0"/>
          </a:p>
        </p:txBody>
      </p:sp>
      <p:sp>
        <p:nvSpPr>
          <p:cNvPr id="97" name="Cell10_3"/>
          <p:cNvSpPr/>
          <p:nvPr/>
        </p:nvSpPr>
        <p:spPr>
          <a:xfrm>
            <a:off x="4480560" y="6030468"/>
            <a:ext cx="1051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50" b="1" i="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(1,657)</a:t>
            </a:r>
            <a:endParaRPr lang="es-MX" sz="950" dirty="0"/>
          </a:p>
        </p:txBody>
      </p:sp>
      <p:sp>
        <p:nvSpPr>
          <p:cNvPr id="98" name="Cell10_4"/>
          <p:cNvSpPr/>
          <p:nvPr/>
        </p:nvSpPr>
        <p:spPr>
          <a:xfrm>
            <a:off x="5715000" y="6030468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/ vigilar</a:t>
            </a:r>
            <a:endParaRPr lang="es-MX" sz="900" dirty="0"/>
          </a:p>
        </p:txBody>
      </p:sp>
      <p:sp>
        <p:nvSpPr>
          <p:cNvPr id="99" name="TableNote"/>
          <p:cNvSpPr/>
          <p:nvPr/>
        </p:nvSpPr>
        <p:spPr>
          <a:xfrm>
            <a:off x="457200" y="627278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en miles de USD  ·  Variance vs Plan FY26  ·  Fuente: pipeline AMS México</a:t>
            </a:r>
            <a:endParaRPr lang="es-MX" sz="850" dirty="0"/>
          </a:p>
        </p:txBody>
      </p:sp>
      <p:sp>
        <p:nvSpPr>
          <p:cNvPr id="100" name="SlippageBox"/>
          <p:cNvSpPr/>
          <p:nvPr/>
        </p:nvSpPr>
        <p:spPr>
          <a:xfrm>
            <a:off x="7818120" y="3520440"/>
            <a:ext cx="3913632" cy="269748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lippageTitle"/>
          <p:cNvSpPr/>
          <p:nvPr/>
        </p:nvSpPr>
        <p:spPr>
          <a:xfrm>
            <a:off x="8046720" y="36576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4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Slippage que se traslada a FY27</a:t>
            </a:r>
            <a:endParaRPr lang="es-MX" sz="1400" dirty="0"/>
          </a:p>
        </p:txBody>
      </p:sp>
      <p:sp>
        <p:nvSpPr>
          <p:cNvPr id="102" name="SlippageSub"/>
          <p:cNvSpPr/>
          <p:nvPr/>
        </p:nvSpPr>
        <p:spPr>
          <a:xfrm>
            <a:off x="8046720" y="40233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partida del pipeline FY27 desde el cierre AMS FY26</a:t>
            </a:r>
            <a:endParaRPr lang="es-MX" sz="1000" dirty="0"/>
          </a:p>
        </p:txBody>
      </p:sp>
      <p:sp>
        <p:nvSpPr>
          <p:cNvPr id="103" name="Sep"/>
          <p:cNvSpPr/>
          <p:nvPr/>
        </p:nvSpPr>
        <p:spPr>
          <a:xfrm>
            <a:off x="8046720" y="4389120"/>
            <a:ext cx="3456432" cy="109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lipVal0"/>
          <p:cNvSpPr/>
          <p:nvPr/>
        </p:nvSpPr>
        <p:spPr>
          <a:xfrm>
            <a:off x="804672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$7.9M</a:t>
            </a:r>
            <a:endParaRPr lang="es-MX" sz="1800" dirty="0"/>
          </a:p>
        </p:txBody>
      </p:sp>
      <p:sp>
        <p:nvSpPr>
          <p:cNvPr id="105" name="SlipLbl0"/>
          <p:cNvSpPr/>
          <p:nvPr/>
        </p:nvSpPr>
        <p:spPr>
          <a:xfrm>
            <a:off x="9464040" y="45720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Proj Opps</a:t>
            </a:r>
            <a:endParaRPr lang="es-MX" sz="1000" dirty="0"/>
          </a:p>
        </p:txBody>
      </p:sp>
      <p:sp>
        <p:nvSpPr>
          <p:cNvPr id="106" name="SlipDesc0"/>
          <p:cNvSpPr/>
          <p:nvPr/>
        </p:nvSpPr>
        <p:spPr>
          <a:xfrm>
            <a:off x="9464040" y="480060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Avanzados, no cerrados en FY26</a:t>
            </a:r>
            <a:endParaRPr lang="es-MX" sz="850" dirty="0"/>
          </a:p>
        </p:txBody>
      </p:sp>
      <p:sp>
        <p:nvSpPr>
          <p:cNvPr id="107" name="SlipVal1"/>
          <p:cNvSpPr/>
          <p:nvPr/>
        </p:nvSpPr>
        <p:spPr>
          <a:xfrm>
            <a:off x="8046720" y="5093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$1.7M</a:t>
            </a:r>
            <a:endParaRPr lang="es-MX" sz="1800" dirty="0"/>
          </a:p>
        </p:txBody>
      </p:sp>
      <p:sp>
        <p:nvSpPr>
          <p:cNvPr id="108" name="SlipLbl1"/>
          <p:cNvSpPr/>
          <p:nvPr/>
        </p:nvSpPr>
        <p:spPr>
          <a:xfrm>
            <a:off x="9464040" y="50932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Proj Opps</a:t>
            </a:r>
            <a:endParaRPr lang="es-MX" sz="1000" dirty="0"/>
          </a:p>
        </p:txBody>
      </p:sp>
      <p:sp>
        <p:nvSpPr>
          <p:cNvPr id="109" name="SlipDesc1"/>
          <p:cNvSpPr/>
          <p:nvPr/>
        </p:nvSpPr>
        <p:spPr>
          <a:xfrm>
            <a:off x="946404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calificación inmediata</a:t>
            </a:r>
            <a:endParaRPr lang="es-MX" sz="850" dirty="0"/>
          </a:p>
        </p:txBody>
      </p:sp>
      <p:sp>
        <p:nvSpPr>
          <p:cNvPr id="110" name="SlipVal2"/>
          <p:cNvSpPr/>
          <p:nvPr/>
        </p:nvSpPr>
        <p:spPr>
          <a:xfrm>
            <a:off x="8046720" y="5614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~$9.6M</a:t>
            </a:r>
            <a:endParaRPr lang="es-MX" sz="1800" dirty="0"/>
          </a:p>
        </p:txBody>
      </p:sp>
      <p:sp>
        <p:nvSpPr>
          <p:cNvPr id="111" name="SlipLbl2"/>
          <p:cNvSpPr/>
          <p:nvPr/>
        </p:nvSpPr>
        <p:spPr>
          <a:xfrm>
            <a:off x="9464040" y="5614416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neto utilizable</a:t>
            </a:r>
            <a:endParaRPr lang="es-MX" sz="1000" dirty="0"/>
          </a:p>
        </p:txBody>
      </p:sp>
      <p:sp>
        <p:nvSpPr>
          <p:cNvPr id="112" name="SlipDesc2"/>
          <p:cNvSpPr/>
          <p:nvPr/>
        </p:nvSpPr>
        <p:spPr>
          <a:xfrm>
            <a:off x="9464040" y="5843016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mínima del Plan FY27</a:t>
            </a:r>
            <a:endParaRPr lang="es-MX" sz="850" dirty="0"/>
          </a:p>
        </p:txBody>
      </p:sp>
      <p:sp>
        <p:nvSpPr>
          <p:cNvPr id="113" name="AmbBar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AmbText"/>
          <p:cNvSpPr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AMBICIÓN FY27:  </a:t>
            </a:r>
            <a:r>
              <a:rPr lang="es-MX" sz="10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100% del gap FY26 + crecimiento orgánico, con pipeline calificado 3x cobertura sobre el nuevo Plan</a:t>
            </a:r>
            <a:endParaRPr lang="es-MX" sz="1000" dirty="0"/>
          </a:p>
        </p:txBody>
      </p:sp>
      <p:sp>
        <p:nvSpPr>
          <p:cNvPr id="115" name="FooterBar"/>
          <p:cNvSpPr/>
          <p:nvPr/>
        </p:nvSpPr>
        <p:spPr>
          <a:xfrm>
            <a:off x="0" y="6675120"/>
            <a:ext cx="12191695" cy="1920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FooterText"/>
          <p:cNvSpPr/>
          <p:nvPr/>
        </p:nvSpPr>
        <p:spPr>
          <a:xfrm>
            <a:off x="457200" y="6675120"/>
            <a:ext cx="9144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s-MX" sz="900" dirty="0"/>
          </a:p>
        </p:txBody>
      </p:sp>
      <p:sp>
        <p:nvSpPr>
          <p:cNvPr id="117" name="FooterNum"/>
          <p:cNvSpPr/>
          <p:nvPr/>
        </p:nvSpPr>
        <p:spPr>
          <a:xfrm>
            <a:off x="10820095" y="667512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s-MX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AMBICIÓN FY27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Recuperar el plan, sostener el margen, reconstruir el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FY27 calibradas sobre la realidad AMS FY26: 77.4M revenue, 46.3M sales, 32.7% Won CCI. Realismo financiero, no optimismo.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(USD)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46.3M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75M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80% del plan FY26 original (92.5M)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79776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79776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16936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(USD)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16936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16936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77.4M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916936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916936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16936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95M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3008376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08376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16936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gap del plan FY26 (86.9M) + uplift MRS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02352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02352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39512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CCI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39512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39512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32.7%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239512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39512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9512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34.0%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5330952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30952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+130 bps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9512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trayectoria YoY (+118 bps en FY26)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24928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24928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62088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CCI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562088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62088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25.3%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562088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62088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62088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28.0%</a:t>
            </a:r>
            <a:endParaRPr lang="en-US" sz="3000" dirty="0"/>
          </a:p>
        </p:txBody>
      </p:sp>
      <p:sp>
        <p:nvSpPr>
          <p:cNvPr id="47" name="Shape 45"/>
          <p:cNvSpPr/>
          <p:nvPr/>
        </p:nvSpPr>
        <p:spPr>
          <a:xfrm>
            <a:off x="7653528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653528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+270 bps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62088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brecha vs plan (30.5%) en 50%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747504" y="2514600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747504" y="2514600"/>
            <a:ext cx="2212848" cy="4572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884664" y="2514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9884664" y="3108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884664" y="3319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19.4M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9884664" y="379476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884664" y="41148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884664" y="4315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45M</a:t>
            </a:r>
            <a:endParaRPr lang="en-US" sz="3000" dirty="0"/>
          </a:p>
        </p:txBody>
      </p:sp>
      <p:sp>
        <p:nvSpPr>
          <p:cNvPr id="58" name="Shape 56"/>
          <p:cNvSpPr/>
          <p:nvPr/>
        </p:nvSpPr>
        <p:spPr>
          <a:xfrm>
            <a:off x="9976104" y="4846320"/>
            <a:ext cx="1755648" cy="2926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976104" y="48463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+132%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884664" y="5193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 tras caída 79.9% YoY en FY26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57200" y="57607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LLEGAMOS  ·  CUATRO PALANCAS NO NEGOCIABLES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617220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7200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77240" y="6126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y hacer uplift de cuentas core a MRS: BBVA, Liverpool, Bancoppel, PepsiCo, Grupo DESC.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64408" y="617220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64408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584448" y="6126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2 deals multi-tower nuevos en banca y manufactura (T-MEC + nearshoring).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71616" y="617220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071616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391656" y="6126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pipeline: 3x el qualified actual en 6 meses con Value-Led IT Summit + showcases.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878824" y="617220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878824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198864" y="6126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margen: pricing por outcome / autonomía en 100% de propuestas nuevas.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GTM Pip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rpleSquare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Eyebrow"/>
          <p:cNvSpPr/>
          <p:nvPr/>
        </p:nvSpPr>
        <p:spPr>
          <a:xfrm>
            <a:off x="7772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GO-TO-MARKET FY27</a:t>
            </a:r>
            <a:endParaRPr lang="es-MX" sz="1100" dirty="0"/>
          </a:p>
        </p:txBody>
      </p:sp>
      <p:sp>
        <p:nvSpPr>
          <p:cNvPr id="4" name="Title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800" b="1" i="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reconstruimos el pipeline: 19.4M → 45M en 4 trimestres</a:t>
            </a:r>
            <a:endParaRPr lang="es-MX" sz="2800" dirty="0"/>
          </a:p>
        </p:txBody>
      </p:sp>
      <p:sp>
        <p:nvSpPr>
          <p:cNvPr id="5" name="Subtitle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3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palancas no negociables, cadencia mensual, ownership claro. La reconstrucción del pipeline no se delega: la lidera el MRS Lead con commercial accountability.</a:t>
            </a:r>
            <a:endParaRPr lang="es-MX" sz="1300" dirty="0"/>
          </a:p>
        </p:txBody>
      </p:sp>
      <p:sp>
        <p:nvSpPr>
          <p:cNvPr id="6" name="PalancasHeader"/>
          <p:cNvSpPr/>
          <p:nvPr/>
        </p:nvSpPr>
        <p:spPr>
          <a:xfrm>
            <a:off x="457200" y="2148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spc="25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PALANCAS DE RECONSTRUCCIÓN</a:t>
            </a:r>
            <a:endParaRPr lang="es-MX" sz="1000" dirty="0"/>
          </a:p>
        </p:txBody>
      </p:sp>
      <p:sp>
        <p:nvSpPr>
          <p:cNvPr id="7" name="PalBox0"/>
          <p:cNvSpPr/>
          <p:nvPr/>
        </p:nvSpPr>
        <p:spPr>
          <a:xfrm>
            <a:off x="457200" y="251460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PalBar0"/>
          <p:cNvSpPr/>
          <p:nvPr/>
        </p:nvSpPr>
        <p:spPr>
          <a:xfrm>
            <a:off x="457200" y="2514600"/>
            <a:ext cx="2697480" cy="457200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PalNum0"/>
          <p:cNvSpPr/>
          <p:nvPr/>
        </p:nvSpPr>
        <p:spPr>
          <a:xfrm>
            <a:off x="594360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s-MX" sz="1800" dirty="0"/>
          </a:p>
        </p:txBody>
      </p:sp>
      <p:sp>
        <p:nvSpPr>
          <p:cNvPr id="10" name="PalTitle0"/>
          <p:cNvSpPr/>
          <p:nvPr/>
        </p:nvSpPr>
        <p:spPr>
          <a:xfrm>
            <a:off x="1188720" y="2569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el core</a:t>
            </a:r>
            <a:endParaRPr lang="es-MX" sz="1150" dirty="0"/>
          </a:p>
        </p:txBody>
      </p:sp>
      <p:sp>
        <p:nvSpPr>
          <p:cNvPr id="11" name="PalSubt0"/>
          <p:cNvSpPr/>
          <p:nvPr/>
        </p:nvSpPr>
        <p:spPr>
          <a:xfrm>
            <a:off x="1188720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F4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Account-Based Recovery</a:t>
            </a:r>
            <a:endParaRPr lang="es-MX" sz="850" dirty="0"/>
          </a:p>
        </p:txBody>
      </p:sp>
      <p:sp>
        <p:nvSpPr>
          <p:cNvPr id="12" name="PalBul0_0"/>
          <p:cNvSpPr/>
          <p:nvPr/>
        </p:nvSpPr>
        <p:spPr>
          <a:xfrm>
            <a:off x="594360" y="3172968"/>
            <a:ext cx="64008" cy="64008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PalItem0_0"/>
          <p:cNvSpPr/>
          <p:nvPr/>
        </p:nvSpPr>
        <p:spPr>
          <a:xfrm>
            <a:off x="731520" y="3081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cuentas Tier 1: BBVA, Liverpool, Coppel, Banorte, Coca</a:t>
            </a:r>
            <a:endParaRPr lang="es-MX" sz="850" dirty="0"/>
          </a:p>
        </p:txBody>
      </p:sp>
      <p:sp>
        <p:nvSpPr>
          <p:cNvPr id="14" name="PalBul0_1"/>
          <p:cNvSpPr/>
          <p:nvPr/>
        </p:nvSpPr>
        <p:spPr>
          <a:xfrm>
            <a:off x="594360" y="3465576"/>
            <a:ext cx="64008" cy="64008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PalItem0_1"/>
          <p:cNvSpPr/>
          <p:nvPr/>
        </p:nvSpPr>
        <p:spPr>
          <a:xfrm>
            <a:off x="731520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a MRS dentro del contrato actual</a:t>
            </a:r>
            <a:endParaRPr lang="es-MX" sz="850" dirty="0"/>
          </a:p>
        </p:txBody>
      </p:sp>
      <p:sp>
        <p:nvSpPr>
          <p:cNvPr id="16" name="PalBul0_2"/>
          <p:cNvSpPr/>
          <p:nvPr/>
        </p:nvSpPr>
        <p:spPr>
          <a:xfrm>
            <a:off x="594360" y="3758183"/>
            <a:ext cx="64008" cy="64008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PalItem0_2"/>
          <p:cNvSpPr/>
          <p:nvPr/>
        </p:nvSpPr>
        <p:spPr>
          <a:xfrm>
            <a:off x="731520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ejecutivo + value review trimestral</a:t>
            </a:r>
            <a:endParaRPr lang="es-MX" sz="850" dirty="0"/>
          </a:p>
        </p:txBody>
      </p:sp>
      <p:sp>
        <p:nvSpPr>
          <p:cNvPr id="18" name="PalTBg0"/>
          <p:cNvSpPr/>
          <p:nvPr/>
        </p:nvSpPr>
        <p:spPr>
          <a:xfrm>
            <a:off x="457200" y="4005072"/>
            <a:ext cx="2697480" cy="292608"/>
          </a:xfrm>
          <a:prstGeom prst="rect">
            <a:avLst/>
          </a:prstGeom>
          <a:solidFill>
            <a:srgbClr val="F4EAFF"/>
          </a:solidFill>
          <a:ln w="9525">
            <a:solidFill>
              <a:srgbClr val="F4EA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PalTarget0"/>
          <p:cNvSpPr/>
          <p:nvPr/>
        </p:nvSpPr>
        <p:spPr>
          <a:xfrm>
            <a:off x="548640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pipeline:  </a:t>
            </a:r>
            <a:r>
              <a:rPr lang="es-MX" sz="1000" b="1" i="0" kern="0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+15M qualified</a:t>
            </a:r>
            <a:endParaRPr lang="es-MX" sz="1000" dirty="0"/>
          </a:p>
        </p:txBody>
      </p:sp>
      <p:sp>
        <p:nvSpPr>
          <p:cNvPr id="20" name="PalBox1"/>
          <p:cNvSpPr/>
          <p:nvPr/>
        </p:nvSpPr>
        <p:spPr>
          <a:xfrm>
            <a:off x="3273552" y="251460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PalBar1"/>
          <p:cNvSpPr/>
          <p:nvPr/>
        </p:nvSpPr>
        <p:spPr>
          <a:xfrm>
            <a:off x="3273552" y="2514600"/>
            <a:ext cx="2697480" cy="457200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PalNum1"/>
          <p:cNvSpPr/>
          <p:nvPr/>
        </p:nvSpPr>
        <p:spPr>
          <a:xfrm>
            <a:off x="3410712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s-MX" sz="1800" dirty="0"/>
          </a:p>
        </p:txBody>
      </p:sp>
      <p:sp>
        <p:nvSpPr>
          <p:cNvPr id="23" name="PalTitle1"/>
          <p:cNvSpPr/>
          <p:nvPr/>
        </p:nvSpPr>
        <p:spPr>
          <a:xfrm>
            <a:off x="4005072" y="2569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dormidas</a:t>
            </a:r>
            <a:endParaRPr lang="es-MX" sz="1150" dirty="0"/>
          </a:p>
        </p:txBody>
      </p:sp>
      <p:sp>
        <p:nvSpPr>
          <p:cNvPr id="24" name="PalSubt1"/>
          <p:cNvSpPr/>
          <p:nvPr/>
        </p:nvSpPr>
        <p:spPr>
          <a:xfrm>
            <a:off x="4005072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F4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de cuentas con gap</a:t>
            </a:r>
            <a:endParaRPr lang="es-MX" sz="850" dirty="0"/>
          </a:p>
        </p:txBody>
      </p:sp>
      <p:sp>
        <p:nvSpPr>
          <p:cNvPr id="25" name="PalBul1_0"/>
          <p:cNvSpPr/>
          <p:nvPr/>
        </p:nvSpPr>
        <p:spPr>
          <a:xfrm>
            <a:off x="3410712" y="3172968"/>
            <a:ext cx="64008" cy="64008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PalItem1_0"/>
          <p:cNvSpPr/>
          <p:nvPr/>
        </p:nvSpPr>
        <p:spPr>
          <a:xfrm>
            <a:off x="3547872" y="3081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Pepsi, Cuprum, BNP, Femsa, </a:t>
            </a:r>
            <a:r>
              <a:rPr lang="es-MX" sz="85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Banorte, Volaris</a:t>
            </a: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(gap $13M)</a:t>
            </a:r>
            <a:endParaRPr lang="es-MX" sz="850" dirty="0"/>
          </a:p>
        </p:txBody>
      </p:sp>
      <p:sp>
        <p:nvSpPr>
          <p:cNvPr id="27" name="PalBul1_1"/>
          <p:cNvSpPr/>
          <p:nvPr/>
        </p:nvSpPr>
        <p:spPr>
          <a:xfrm>
            <a:off x="3410712" y="3465576"/>
            <a:ext cx="64008" cy="64008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PalItem1_1"/>
          <p:cNvSpPr/>
          <p:nvPr/>
        </p:nvSpPr>
        <p:spPr>
          <a:xfrm>
            <a:off x="3547872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gratuito + showcase Bancoppel/BBVA</a:t>
            </a:r>
            <a:endParaRPr lang="es-MX" sz="850" dirty="0"/>
          </a:p>
        </p:txBody>
      </p:sp>
      <p:sp>
        <p:nvSpPr>
          <p:cNvPr id="29" name="PalBul1_2"/>
          <p:cNvSpPr/>
          <p:nvPr/>
        </p:nvSpPr>
        <p:spPr>
          <a:xfrm>
            <a:off x="3410712" y="3758183"/>
            <a:ext cx="64008" cy="64008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PalItem1_2"/>
          <p:cNvSpPr/>
          <p:nvPr/>
        </p:nvSpPr>
        <p:spPr>
          <a:xfrm>
            <a:off x="3547872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diagnóstico como hook</a:t>
            </a:r>
            <a:endParaRPr lang="es-MX" sz="850" dirty="0"/>
          </a:p>
        </p:txBody>
      </p:sp>
      <p:sp>
        <p:nvSpPr>
          <p:cNvPr id="31" name="PalTBg1"/>
          <p:cNvSpPr/>
          <p:nvPr/>
        </p:nvSpPr>
        <p:spPr>
          <a:xfrm>
            <a:off x="3273552" y="4005072"/>
            <a:ext cx="2697480" cy="292608"/>
          </a:xfrm>
          <a:prstGeom prst="rect">
            <a:avLst/>
          </a:prstGeom>
          <a:solidFill>
            <a:srgbClr val="F4EAFF"/>
          </a:solidFill>
          <a:ln w="9525">
            <a:solidFill>
              <a:srgbClr val="F4EA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PalTarget1"/>
          <p:cNvSpPr/>
          <p:nvPr/>
        </p:nvSpPr>
        <p:spPr>
          <a:xfrm>
            <a:off x="3364992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pipeline:  </a:t>
            </a:r>
            <a:r>
              <a:rPr lang="es-MX" sz="1000" b="1" i="0" kern="0" dirty="0">
                <a:solidFill>
                  <a:srgbClr val="5E2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+10M qualified</a:t>
            </a:r>
            <a:endParaRPr lang="es-MX" sz="1000" dirty="0"/>
          </a:p>
        </p:txBody>
      </p:sp>
      <p:sp>
        <p:nvSpPr>
          <p:cNvPr id="33" name="PalBox2"/>
          <p:cNvSpPr/>
          <p:nvPr/>
        </p:nvSpPr>
        <p:spPr>
          <a:xfrm>
            <a:off x="6089904" y="251460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PalBar2"/>
          <p:cNvSpPr/>
          <p:nvPr/>
        </p:nvSpPr>
        <p:spPr>
          <a:xfrm>
            <a:off x="6089904" y="2514600"/>
            <a:ext cx="2697480" cy="457200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PalNum2"/>
          <p:cNvSpPr/>
          <p:nvPr/>
        </p:nvSpPr>
        <p:spPr>
          <a:xfrm>
            <a:off x="6227064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s-MX" sz="1800" dirty="0"/>
          </a:p>
        </p:txBody>
      </p:sp>
      <p:sp>
        <p:nvSpPr>
          <p:cNvPr id="36" name="PalTitle2"/>
          <p:cNvSpPr/>
          <p:nvPr/>
        </p:nvSpPr>
        <p:spPr>
          <a:xfrm>
            <a:off x="6821424" y="2569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Cazar multi-tower</a:t>
            </a:r>
            <a:endParaRPr lang="es-MX" sz="1150" dirty="0"/>
          </a:p>
        </p:txBody>
      </p:sp>
      <p:sp>
        <p:nvSpPr>
          <p:cNvPr id="37" name="PalSubt2"/>
          <p:cNvSpPr/>
          <p:nvPr/>
        </p:nvSpPr>
        <p:spPr>
          <a:xfrm>
            <a:off x="6821424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F4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nuevos en banca y mfg</a:t>
            </a:r>
            <a:endParaRPr lang="es-MX" sz="850" dirty="0"/>
          </a:p>
        </p:txBody>
      </p:sp>
      <p:sp>
        <p:nvSpPr>
          <p:cNvPr id="38" name="PalBul2_0"/>
          <p:cNvSpPr/>
          <p:nvPr/>
        </p:nvSpPr>
        <p:spPr>
          <a:xfrm>
            <a:off x="6227064" y="3172968"/>
            <a:ext cx="64008" cy="64008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PalItem2_0"/>
          <p:cNvSpPr/>
          <p:nvPr/>
        </p:nvSpPr>
        <p:spPr>
          <a:xfrm>
            <a:off x="6364224" y="3081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Banca: target inicial 1 deal $15M+ (T-MEC)</a:t>
            </a:r>
            <a:endParaRPr lang="es-MX" sz="850" dirty="0"/>
          </a:p>
        </p:txBody>
      </p:sp>
      <p:sp>
        <p:nvSpPr>
          <p:cNvPr id="40" name="PalBul2_1"/>
          <p:cNvSpPr/>
          <p:nvPr/>
        </p:nvSpPr>
        <p:spPr>
          <a:xfrm>
            <a:off x="6227064" y="3465576"/>
            <a:ext cx="64008" cy="64008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PalItem2_1"/>
          <p:cNvSpPr/>
          <p:nvPr/>
        </p:nvSpPr>
        <p:spPr>
          <a:xfrm>
            <a:off x="6364224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Mfg: 1 deal $10M+ (nearshoring)</a:t>
            </a:r>
            <a:endParaRPr lang="es-MX" sz="850" dirty="0"/>
          </a:p>
        </p:txBody>
      </p:sp>
      <p:sp>
        <p:nvSpPr>
          <p:cNvPr id="42" name="PalBul2_2"/>
          <p:cNvSpPr/>
          <p:nvPr/>
        </p:nvSpPr>
        <p:spPr>
          <a:xfrm>
            <a:off x="6227064" y="3758183"/>
            <a:ext cx="64008" cy="64008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PalItem2_2"/>
          <p:cNvSpPr/>
          <p:nvPr/>
        </p:nvSpPr>
        <p:spPr>
          <a:xfrm>
            <a:off x="6364224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teams dedicados con Industry SMEs</a:t>
            </a:r>
            <a:endParaRPr lang="es-MX" sz="850" dirty="0"/>
          </a:p>
        </p:txBody>
      </p:sp>
      <p:sp>
        <p:nvSpPr>
          <p:cNvPr id="44" name="PalTBg2"/>
          <p:cNvSpPr/>
          <p:nvPr/>
        </p:nvSpPr>
        <p:spPr>
          <a:xfrm>
            <a:off x="6089904" y="4005072"/>
            <a:ext cx="2697480" cy="292608"/>
          </a:xfrm>
          <a:prstGeom prst="rect">
            <a:avLst/>
          </a:prstGeom>
          <a:solidFill>
            <a:srgbClr val="F4EAFF"/>
          </a:solidFill>
          <a:ln w="9525">
            <a:solidFill>
              <a:srgbClr val="F4EA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PalTarget2"/>
          <p:cNvSpPr/>
          <p:nvPr/>
        </p:nvSpPr>
        <p:spPr>
          <a:xfrm>
            <a:off x="6181344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pipeline:  </a:t>
            </a:r>
            <a:r>
              <a:rPr lang="es-MX" sz="1000" b="1" i="0" kern="0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+18M qualified</a:t>
            </a:r>
            <a:endParaRPr lang="es-MX" sz="1000" dirty="0"/>
          </a:p>
        </p:txBody>
      </p:sp>
      <p:sp>
        <p:nvSpPr>
          <p:cNvPr id="46" name="PalBox3"/>
          <p:cNvSpPr/>
          <p:nvPr/>
        </p:nvSpPr>
        <p:spPr>
          <a:xfrm>
            <a:off x="8906256" y="251460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PalBar3"/>
          <p:cNvSpPr/>
          <p:nvPr/>
        </p:nvSpPr>
        <p:spPr>
          <a:xfrm>
            <a:off x="8906256" y="2514600"/>
            <a:ext cx="2697480" cy="457200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PalNum3"/>
          <p:cNvSpPr/>
          <p:nvPr/>
        </p:nvSpPr>
        <p:spPr>
          <a:xfrm>
            <a:off x="9043416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800" b="1" i="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s-MX" sz="1800" dirty="0"/>
          </a:p>
        </p:txBody>
      </p:sp>
      <p:sp>
        <p:nvSpPr>
          <p:cNvPr id="49" name="PalTitle3"/>
          <p:cNvSpPr/>
          <p:nvPr/>
        </p:nvSpPr>
        <p:spPr>
          <a:xfrm>
            <a:off x="9637776" y="2569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engine</a:t>
            </a:r>
            <a:endParaRPr lang="es-MX" sz="1150" dirty="0"/>
          </a:p>
        </p:txBody>
      </p:sp>
      <p:sp>
        <p:nvSpPr>
          <p:cNvPr id="50" name="PalSubt3"/>
          <p:cNvSpPr/>
          <p:nvPr/>
        </p:nvSpPr>
        <p:spPr>
          <a:xfrm>
            <a:off x="9637776" y="27523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F4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+ alianzas + ABM</a:t>
            </a:r>
            <a:endParaRPr lang="es-MX" sz="850" dirty="0"/>
          </a:p>
        </p:txBody>
      </p:sp>
      <p:sp>
        <p:nvSpPr>
          <p:cNvPr id="51" name="PalBul3_0"/>
          <p:cNvSpPr/>
          <p:nvPr/>
        </p:nvSpPr>
        <p:spPr>
          <a:xfrm>
            <a:off x="9043416" y="3172968"/>
            <a:ext cx="64008" cy="64008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PalItem3_0"/>
          <p:cNvSpPr/>
          <p:nvPr/>
        </p:nvSpPr>
        <p:spPr>
          <a:xfrm>
            <a:off x="9180576" y="3081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Value-Led IT Summit FY27 (30+ CIOs)</a:t>
            </a:r>
            <a:endParaRPr lang="es-MX" sz="850" dirty="0"/>
          </a:p>
        </p:txBody>
      </p:sp>
      <p:sp>
        <p:nvSpPr>
          <p:cNvPr id="53" name="PalBul3_1"/>
          <p:cNvSpPr/>
          <p:nvPr/>
        </p:nvSpPr>
        <p:spPr>
          <a:xfrm>
            <a:off x="9043416" y="3465576"/>
            <a:ext cx="64008" cy="64008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PalItem3_1"/>
          <p:cNvSpPr/>
          <p:nvPr/>
        </p:nvSpPr>
        <p:spPr>
          <a:xfrm>
            <a:off x="9180576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Co-selling con AWS, Microsoft, Google</a:t>
            </a:r>
            <a:endParaRPr lang="es-MX" sz="850" dirty="0"/>
          </a:p>
        </p:txBody>
      </p:sp>
      <p:sp>
        <p:nvSpPr>
          <p:cNvPr id="55" name="PalBul3_2"/>
          <p:cNvSpPr/>
          <p:nvPr/>
        </p:nvSpPr>
        <p:spPr>
          <a:xfrm>
            <a:off x="9043416" y="3758183"/>
            <a:ext cx="64008" cy="64008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PalItem3_2"/>
          <p:cNvSpPr/>
          <p:nvPr/>
        </p:nvSpPr>
        <p:spPr>
          <a:xfrm>
            <a:off x="9180576" y="36667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digital sobre 50 cuentas priorizadas</a:t>
            </a:r>
            <a:endParaRPr lang="es-MX" sz="850" dirty="0"/>
          </a:p>
        </p:txBody>
      </p:sp>
      <p:sp>
        <p:nvSpPr>
          <p:cNvPr id="57" name="PalTBg3"/>
          <p:cNvSpPr/>
          <p:nvPr/>
        </p:nvSpPr>
        <p:spPr>
          <a:xfrm>
            <a:off x="8906256" y="4005072"/>
            <a:ext cx="2697480" cy="292608"/>
          </a:xfrm>
          <a:prstGeom prst="rect">
            <a:avLst/>
          </a:prstGeom>
          <a:solidFill>
            <a:srgbClr val="F4EAFF"/>
          </a:solidFill>
          <a:ln w="9525">
            <a:solidFill>
              <a:srgbClr val="F4EA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PalTarget3"/>
          <p:cNvSpPr/>
          <p:nvPr/>
        </p:nvSpPr>
        <p:spPr>
          <a:xfrm>
            <a:off x="8997696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pipeline:  </a:t>
            </a:r>
            <a:r>
              <a:rPr lang="es-MX" sz="1000" b="1" i="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+8M qualified</a:t>
            </a:r>
            <a:endParaRPr lang="es-MX" sz="1000" dirty="0"/>
          </a:p>
        </p:txBody>
      </p:sp>
      <p:sp>
        <p:nvSpPr>
          <p:cNvPr id="59" name="TargetsHeader"/>
          <p:cNvSpPr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spc="25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 DE EJECUCIÓN  ·  PIPELINE QUALIFIED ACUMULADO (USD)</a:t>
            </a:r>
            <a:endParaRPr lang="es-MX" sz="1000" dirty="0"/>
          </a:p>
        </p:txBody>
      </p:sp>
      <p:sp>
        <p:nvSpPr>
          <p:cNvPr id="60" name="TTBox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F2F2F5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Axis"/>
          <p:cNvSpPr/>
          <p:nvPr/>
        </p:nvSpPr>
        <p:spPr>
          <a:xfrm>
            <a:off x="1097280" y="5943600"/>
            <a:ext cx="9966960" cy="22860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Dot_1.2"/>
          <p:cNvSpPr/>
          <p:nvPr/>
        </p:nvSpPr>
        <p:spPr>
          <a:xfrm>
            <a:off x="1024127" y="5879592"/>
            <a:ext cx="164592" cy="164592"/>
          </a:xfrm>
          <a:prstGeom prst="rect">
            <a:avLst/>
          </a:prstGeom>
          <a:solidFill>
            <a:srgbClr val="4A4A5E"/>
          </a:solidFill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TVal_1.2"/>
          <p:cNvSpPr/>
          <p:nvPr/>
        </p:nvSpPr>
        <p:spPr>
          <a:xfrm>
            <a:off x="45720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4A4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19.4M</a:t>
            </a:r>
            <a:endParaRPr lang="es-MX" sz="2000" dirty="0"/>
          </a:p>
        </p:txBody>
      </p:sp>
      <p:sp>
        <p:nvSpPr>
          <p:cNvPr id="64" name="TTCov_1.2"/>
          <p:cNvSpPr/>
          <p:nvPr/>
        </p:nvSpPr>
        <p:spPr>
          <a:xfrm>
            <a:off x="45720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1.0x</a:t>
            </a:r>
            <a:endParaRPr lang="es-MX" sz="850" dirty="0"/>
          </a:p>
        </p:txBody>
      </p:sp>
      <p:sp>
        <p:nvSpPr>
          <p:cNvPr id="65" name="TTLbl_1.2"/>
          <p:cNvSpPr/>
          <p:nvPr/>
        </p:nvSpPr>
        <p:spPr>
          <a:xfrm>
            <a:off x="182879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FY26</a:t>
            </a:r>
            <a:endParaRPr lang="es-MX" sz="900" dirty="0"/>
          </a:p>
        </p:txBody>
      </p:sp>
      <p:sp>
        <p:nvSpPr>
          <p:cNvPr id="66" name="Dot_3.6"/>
          <p:cNvSpPr/>
          <p:nvPr/>
        </p:nvSpPr>
        <p:spPr>
          <a:xfrm>
            <a:off x="3218688" y="5879592"/>
            <a:ext cx="164592" cy="164592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TVal_3.6"/>
          <p:cNvSpPr/>
          <p:nvPr/>
        </p:nvSpPr>
        <p:spPr>
          <a:xfrm>
            <a:off x="265176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5E2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30M</a:t>
            </a:r>
            <a:endParaRPr lang="es-MX" sz="2000" dirty="0"/>
          </a:p>
        </p:txBody>
      </p:sp>
      <p:sp>
        <p:nvSpPr>
          <p:cNvPr id="68" name="TTCov_3.6"/>
          <p:cNvSpPr/>
          <p:nvPr/>
        </p:nvSpPr>
        <p:spPr>
          <a:xfrm>
            <a:off x="265176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1.5x</a:t>
            </a:r>
            <a:endParaRPr lang="es-MX" sz="850" dirty="0"/>
          </a:p>
        </p:txBody>
      </p:sp>
      <p:sp>
        <p:nvSpPr>
          <p:cNvPr id="69" name="TTDelta_3.6"/>
          <p:cNvSpPr/>
          <p:nvPr/>
        </p:nvSpPr>
        <p:spPr>
          <a:xfrm>
            <a:off x="2651760" y="5641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5E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+11M</a:t>
            </a:r>
            <a:endParaRPr lang="es-MX" sz="900" dirty="0"/>
          </a:p>
        </p:txBody>
      </p:sp>
      <p:sp>
        <p:nvSpPr>
          <p:cNvPr id="70" name="TTLbl_3.6"/>
          <p:cNvSpPr/>
          <p:nvPr/>
        </p:nvSpPr>
        <p:spPr>
          <a:xfrm>
            <a:off x="237744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Nov 26</a:t>
            </a:r>
            <a:endParaRPr lang="es-MX" sz="900" dirty="0"/>
          </a:p>
        </p:txBody>
      </p:sp>
      <p:sp>
        <p:nvSpPr>
          <p:cNvPr id="71" name="Dot_6.0"/>
          <p:cNvSpPr/>
          <p:nvPr/>
        </p:nvSpPr>
        <p:spPr>
          <a:xfrm>
            <a:off x="5413248" y="5879592"/>
            <a:ext cx="164592" cy="164592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TTVal_6.0"/>
          <p:cNvSpPr/>
          <p:nvPr/>
        </p:nvSpPr>
        <p:spPr>
          <a:xfrm>
            <a:off x="484632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40M</a:t>
            </a:r>
            <a:endParaRPr lang="es-MX" sz="2000" dirty="0"/>
          </a:p>
        </p:txBody>
      </p:sp>
      <p:sp>
        <p:nvSpPr>
          <p:cNvPr id="73" name="TTCov_6.0"/>
          <p:cNvSpPr/>
          <p:nvPr/>
        </p:nvSpPr>
        <p:spPr>
          <a:xfrm>
            <a:off x="484632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2.0x</a:t>
            </a:r>
            <a:endParaRPr lang="es-MX" sz="850" dirty="0"/>
          </a:p>
        </p:txBody>
      </p:sp>
      <p:sp>
        <p:nvSpPr>
          <p:cNvPr id="74" name="TTDelta_6.0"/>
          <p:cNvSpPr/>
          <p:nvPr/>
        </p:nvSpPr>
        <p:spPr>
          <a:xfrm>
            <a:off x="4846320" y="5641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+10M</a:t>
            </a:r>
            <a:endParaRPr lang="es-MX" sz="900" dirty="0"/>
          </a:p>
        </p:txBody>
      </p:sp>
      <p:sp>
        <p:nvSpPr>
          <p:cNvPr id="75" name="TTLbl_6.0"/>
          <p:cNvSpPr/>
          <p:nvPr/>
        </p:nvSpPr>
        <p:spPr>
          <a:xfrm>
            <a:off x="457200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·  Feb 27</a:t>
            </a:r>
            <a:endParaRPr lang="es-MX" sz="900" dirty="0"/>
          </a:p>
        </p:txBody>
      </p:sp>
      <p:sp>
        <p:nvSpPr>
          <p:cNvPr id="76" name="Dot_8.4"/>
          <p:cNvSpPr/>
          <p:nvPr/>
        </p:nvSpPr>
        <p:spPr>
          <a:xfrm>
            <a:off x="7607808" y="5879592"/>
            <a:ext cx="164592" cy="16459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TTVal_8.4"/>
          <p:cNvSpPr/>
          <p:nvPr/>
        </p:nvSpPr>
        <p:spPr>
          <a:xfrm>
            <a:off x="704088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4600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45M</a:t>
            </a:r>
            <a:endParaRPr lang="es-MX" sz="2000" dirty="0"/>
          </a:p>
        </p:txBody>
      </p:sp>
      <p:sp>
        <p:nvSpPr>
          <p:cNvPr id="78" name="TTCov_8.4"/>
          <p:cNvSpPr/>
          <p:nvPr/>
        </p:nvSpPr>
        <p:spPr>
          <a:xfrm>
            <a:off x="704088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2.4x</a:t>
            </a:r>
            <a:endParaRPr lang="es-MX" sz="850" dirty="0"/>
          </a:p>
        </p:txBody>
      </p:sp>
      <p:sp>
        <p:nvSpPr>
          <p:cNvPr id="79" name="TTDelta_8.4"/>
          <p:cNvSpPr/>
          <p:nvPr/>
        </p:nvSpPr>
        <p:spPr>
          <a:xfrm>
            <a:off x="7040880" y="5641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+5M</a:t>
            </a:r>
            <a:endParaRPr lang="es-MX" sz="900" dirty="0"/>
          </a:p>
        </p:txBody>
      </p:sp>
      <p:sp>
        <p:nvSpPr>
          <p:cNvPr id="80" name="TTLbl_8.4"/>
          <p:cNvSpPr/>
          <p:nvPr/>
        </p:nvSpPr>
        <p:spPr>
          <a:xfrm>
            <a:off x="676656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May 27</a:t>
            </a:r>
            <a:endParaRPr lang="es-MX" sz="900" dirty="0"/>
          </a:p>
        </p:txBody>
      </p:sp>
      <p:sp>
        <p:nvSpPr>
          <p:cNvPr id="81" name="Dot_10.8"/>
          <p:cNvSpPr/>
          <p:nvPr/>
        </p:nvSpPr>
        <p:spPr>
          <a:xfrm>
            <a:off x="9802368" y="5879592"/>
            <a:ext cx="164592" cy="164592"/>
          </a:xfrm>
          <a:prstGeom prst="rect">
            <a:avLst/>
          </a:prstGeom>
          <a:solidFill>
            <a:srgbClr val="00BA88"/>
          </a:solidFill>
          <a:ln w="9525">
            <a:solidFill>
              <a:srgbClr val="00BA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TTVal_10.8"/>
          <p:cNvSpPr/>
          <p:nvPr/>
        </p:nvSpPr>
        <p:spPr>
          <a:xfrm>
            <a:off x="923544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i="0" kern="0" dirty="0">
                <a:solidFill>
                  <a:srgbClr val="00B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55M</a:t>
            </a:r>
            <a:endParaRPr lang="es-MX" sz="2000" dirty="0"/>
          </a:p>
        </p:txBody>
      </p:sp>
      <p:sp>
        <p:nvSpPr>
          <p:cNvPr id="83" name="TTCov_10.8"/>
          <p:cNvSpPr/>
          <p:nvPr/>
        </p:nvSpPr>
        <p:spPr>
          <a:xfrm>
            <a:off x="9235440" y="5440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3.0x</a:t>
            </a:r>
            <a:endParaRPr lang="es-MX" sz="850" dirty="0"/>
          </a:p>
        </p:txBody>
      </p:sp>
      <p:sp>
        <p:nvSpPr>
          <p:cNvPr id="84" name="TTDelta_10.8"/>
          <p:cNvSpPr/>
          <p:nvPr/>
        </p:nvSpPr>
        <p:spPr>
          <a:xfrm>
            <a:off x="9235440" y="5641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00B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+10M</a:t>
            </a:r>
            <a:endParaRPr lang="es-MX" sz="900" dirty="0"/>
          </a:p>
        </p:txBody>
      </p:sp>
      <p:sp>
        <p:nvSpPr>
          <p:cNvPr id="85" name="TTLbl_10.8"/>
          <p:cNvSpPr/>
          <p:nvPr/>
        </p:nvSpPr>
        <p:spPr>
          <a:xfrm>
            <a:off x="896112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·  Ago 27</a:t>
            </a:r>
            <a:endParaRPr lang="es-MX" sz="900" dirty="0"/>
          </a:p>
        </p:txBody>
      </p:sp>
      <p:sp>
        <p:nvSpPr>
          <p:cNvPr id="86" name="AmbBar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AmbText"/>
          <p:cNvSpPr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GTM:  </a:t>
            </a:r>
            <a:r>
              <a:rPr lang="es-MX" sz="10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 3x cobertura sobre Plan FY27  ·  Win Rate ≥ 45%  ·  Won CCI ≥ 34%  ·  ciclo de venta -20% vs FY26</a:t>
            </a:r>
            <a:endParaRPr lang="es-MX" sz="1000" dirty="0"/>
          </a:p>
        </p:txBody>
      </p:sp>
      <p:sp>
        <p:nvSpPr>
          <p:cNvPr id="88" name="FooterBar"/>
          <p:cNvSpPr/>
          <p:nvPr/>
        </p:nvSpPr>
        <p:spPr>
          <a:xfrm>
            <a:off x="0" y="6675120"/>
            <a:ext cx="12191695" cy="1920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FooterText"/>
          <p:cNvSpPr/>
          <p:nvPr/>
        </p:nvSpPr>
        <p:spPr>
          <a:xfrm>
            <a:off x="457200" y="6675120"/>
            <a:ext cx="9144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s-MX" sz="900" dirty="0"/>
          </a:p>
        </p:txBody>
      </p:sp>
      <p:sp>
        <p:nvSpPr>
          <p:cNvPr id="90" name="FooterNum"/>
          <p:cNvSpPr/>
          <p:nvPr/>
        </p:nvSpPr>
        <p:spPr>
          <a:xfrm>
            <a:off x="10820095" y="667512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s-MX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Org Chart Ro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EAC95A24-B09E-2971-2F77-6D4EDF106FFF}"/>
              </a:ext>
            </a:extLst>
          </p:cNvPr>
          <p:cNvSpPr/>
          <p:nvPr/>
        </p:nvSpPr>
        <p:spPr>
          <a:xfrm>
            <a:off x="443434" y="4622291"/>
            <a:ext cx="6196938" cy="1493401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PurpleSquare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Eyebrow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ESTRUCTURA DE EJECUCIÓN</a:t>
            </a:r>
            <a:endParaRPr lang="es-MX" sz="1100" dirty="0"/>
          </a:p>
        </p:txBody>
      </p:sp>
      <p:sp>
        <p:nvSpPr>
          <p:cNvPr id="4" name="Title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2800" b="1" i="0" kern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que ejecutan la estrategia MRS y con quién se conectan</a:t>
            </a:r>
            <a:endParaRPr lang="es-MX" sz="2800" dirty="0"/>
          </a:p>
        </p:txBody>
      </p:sp>
      <p:sp>
        <p:nvSpPr>
          <p:cNvPr id="5" name="Subtitle"/>
          <p:cNvSpPr/>
          <p:nvPr/>
        </p:nvSpPr>
        <p:spPr>
          <a:xfrm>
            <a:off x="457200" y="1287061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3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MRS México con accountability E2E del business case + interlock con offerings globales, engines y funciones corporativas.</a:t>
            </a:r>
            <a:endParaRPr lang="es-MX" sz="1300" dirty="0"/>
          </a:p>
        </p:txBody>
      </p:sp>
      <p:sp>
        <p:nvSpPr>
          <p:cNvPr id="6" name="Divider"/>
          <p:cNvSpPr/>
          <p:nvPr/>
        </p:nvSpPr>
        <p:spPr>
          <a:xfrm>
            <a:off x="8366760" y="2011680"/>
            <a:ext cx="10972" cy="4023360"/>
          </a:xfrm>
          <a:prstGeom prst="rect">
            <a:avLst/>
          </a:prstGeom>
          <a:solidFill>
            <a:srgbClr val="D4D4DC"/>
          </a:solidFill>
          <a:ln w="12700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LeftHeader"/>
          <p:cNvSpPr/>
          <p:nvPr/>
        </p:nvSpPr>
        <p:spPr>
          <a:xfrm>
            <a:off x="457200" y="157518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spc="2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MRS MÉXICO  ·  CADENA DE ACCOUNTABILITY</a:t>
            </a:r>
            <a:endParaRPr lang="es-MX" sz="1000" dirty="0"/>
          </a:p>
        </p:txBody>
      </p:sp>
      <p:sp>
        <p:nvSpPr>
          <p:cNvPr id="8" name="RightHeader"/>
          <p:cNvSpPr/>
          <p:nvPr/>
        </p:nvSpPr>
        <p:spPr>
          <a:xfrm>
            <a:off x="850392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1000" b="1" i="0" kern="0" spc="2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INTERLOCK  ·  CON QUIÉN SE CONECTAN</a:t>
            </a:r>
            <a:endParaRPr lang="es-MX" sz="1000" dirty="0"/>
          </a:p>
        </p:txBody>
      </p:sp>
      <p:sp>
        <p:nvSpPr>
          <p:cNvPr id="9" name="N1Box"/>
          <p:cNvSpPr/>
          <p:nvPr/>
        </p:nvSpPr>
        <p:spPr>
          <a:xfrm>
            <a:off x="3200400" y="2061713"/>
            <a:ext cx="2286000" cy="59436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N1Title"/>
          <p:cNvSpPr/>
          <p:nvPr/>
        </p:nvSpPr>
        <p:spPr>
          <a:xfrm>
            <a:off x="3291840" y="215315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3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México Lead</a:t>
            </a:r>
            <a:endParaRPr lang="es-MX" sz="1300" dirty="0"/>
          </a:p>
        </p:txBody>
      </p:sp>
      <p:sp>
        <p:nvSpPr>
          <p:cNvPr id="11" name="N1Sub"/>
          <p:cNvSpPr/>
          <p:nvPr/>
        </p:nvSpPr>
        <p:spPr>
          <a:xfrm>
            <a:off x="3291840" y="240918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 ·  Pipeline  ·  Delivery  ·  Cliente</a:t>
            </a:r>
            <a:endParaRPr lang="es-MX" sz="850" dirty="0"/>
          </a:p>
        </p:txBody>
      </p:sp>
      <p:sp>
        <p:nvSpPr>
          <p:cNvPr id="12" name="Lvl1Label"/>
          <p:cNvSpPr/>
          <p:nvPr/>
        </p:nvSpPr>
        <p:spPr>
          <a:xfrm>
            <a:off x="457200" y="19694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1" i="0" kern="0" spc="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lang="es-MX" sz="800" dirty="0"/>
          </a:p>
        </p:txBody>
      </p:sp>
      <p:sp>
        <p:nvSpPr>
          <p:cNvPr id="13" name="Lvl1Sub"/>
          <p:cNvSpPr/>
          <p:nvPr/>
        </p:nvSpPr>
        <p:spPr>
          <a:xfrm>
            <a:off x="491704" y="217972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s-MX" sz="850" dirty="0"/>
          </a:p>
        </p:txBody>
      </p:sp>
      <p:sp>
        <p:nvSpPr>
          <p:cNvPr id="16" name="Conn2_0.6"/>
          <p:cNvSpPr/>
          <p:nvPr/>
        </p:nvSpPr>
        <p:spPr>
          <a:xfrm>
            <a:off x="1257300" y="3212473"/>
            <a:ext cx="4572" cy="137159"/>
          </a:xfrm>
          <a:prstGeom prst="line">
            <a:avLst/>
          </a:prstGeom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N2Box_0.6"/>
          <p:cNvSpPr/>
          <p:nvPr/>
        </p:nvSpPr>
        <p:spPr>
          <a:xfrm>
            <a:off x="548640" y="3349633"/>
            <a:ext cx="1417320" cy="777240"/>
          </a:xfrm>
          <a:prstGeom prst="rect">
            <a:avLst/>
          </a:prstGeom>
          <a:solidFill>
            <a:srgbClr val="F4EA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N2Title_0.6"/>
          <p:cNvSpPr/>
          <p:nvPr/>
        </p:nvSpPr>
        <p:spPr>
          <a:xfrm>
            <a:off x="621792" y="3441073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Lead</a:t>
            </a:r>
            <a:endParaRPr lang="es-MX" sz="1000" dirty="0"/>
          </a:p>
        </p:txBody>
      </p:sp>
      <p:sp>
        <p:nvSpPr>
          <p:cNvPr id="19" name="N2Sub_0.6"/>
          <p:cNvSpPr/>
          <p:nvPr/>
        </p:nvSpPr>
        <p:spPr>
          <a:xfrm>
            <a:off x="621792" y="36971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/ Coppel</a:t>
            </a:r>
            <a:endParaRPr lang="es-MX" sz="850" dirty="0"/>
          </a:p>
        </p:txBody>
      </p:sp>
      <p:sp>
        <p:nvSpPr>
          <p:cNvPr id="20" name="Conn2_2.25"/>
          <p:cNvSpPr/>
          <p:nvPr/>
        </p:nvSpPr>
        <p:spPr>
          <a:xfrm>
            <a:off x="2766060" y="3212473"/>
            <a:ext cx="4572" cy="137159"/>
          </a:xfrm>
          <a:prstGeom prst="line">
            <a:avLst/>
          </a:prstGeom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N2Box_2.25"/>
          <p:cNvSpPr/>
          <p:nvPr/>
        </p:nvSpPr>
        <p:spPr>
          <a:xfrm>
            <a:off x="2057400" y="3349633"/>
            <a:ext cx="1417320" cy="777240"/>
          </a:xfrm>
          <a:prstGeom prst="rect">
            <a:avLst/>
          </a:prstGeom>
          <a:solidFill>
            <a:srgbClr val="F4EA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N2Title_2.25"/>
          <p:cNvSpPr/>
          <p:nvPr/>
        </p:nvSpPr>
        <p:spPr>
          <a:xfrm>
            <a:off x="2130552" y="3441073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Lead</a:t>
            </a:r>
            <a:endParaRPr lang="es-MX" sz="1000" dirty="0"/>
          </a:p>
        </p:txBody>
      </p:sp>
      <p:sp>
        <p:nvSpPr>
          <p:cNvPr id="23" name="N2Sub_2.25"/>
          <p:cNvSpPr/>
          <p:nvPr/>
        </p:nvSpPr>
        <p:spPr>
          <a:xfrm>
            <a:off x="2130552" y="36971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 / Femsa</a:t>
            </a:r>
            <a:endParaRPr lang="es-MX" sz="850" dirty="0"/>
          </a:p>
        </p:txBody>
      </p:sp>
      <p:sp>
        <p:nvSpPr>
          <p:cNvPr id="24" name="Conn2_3.95"/>
          <p:cNvSpPr/>
          <p:nvPr/>
        </p:nvSpPr>
        <p:spPr>
          <a:xfrm>
            <a:off x="4320540" y="3212473"/>
            <a:ext cx="4572" cy="137159"/>
          </a:xfrm>
          <a:prstGeom prst="line">
            <a:avLst/>
          </a:prstGeom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N2Box_3.95"/>
          <p:cNvSpPr/>
          <p:nvPr/>
        </p:nvSpPr>
        <p:spPr>
          <a:xfrm>
            <a:off x="3611880" y="3349633"/>
            <a:ext cx="1417320" cy="777240"/>
          </a:xfrm>
          <a:prstGeom prst="rect">
            <a:avLst/>
          </a:prstGeom>
          <a:solidFill>
            <a:srgbClr val="F4EA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N2Title_3.95"/>
          <p:cNvSpPr/>
          <p:nvPr/>
        </p:nvSpPr>
        <p:spPr>
          <a:xfrm>
            <a:off x="3685032" y="3441073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Lead</a:t>
            </a:r>
            <a:endParaRPr lang="es-MX" sz="1000" dirty="0"/>
          </a:p>
        </p:txBody>
      </p:sp>
      <p:sp>
        <p:nvSpPr>
          <p:cNvPr id="27" name="N2Sub_3.95"/>
          <p:cNvSpPr/>
          <p:nvPr/>
        </p:nvSpPr>
        <p:spPr>
          <a:xfrm>
            <a:off x="3685032" y="36971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 · Banorte</a:t>
            </a:r>
            <a:endParaRPr lang="es-MX" sz="850" dirty="0"/>
          </a:p>
        </p:txBody>
      </p:sp>
      <p:sp>
        <p:nvSpPr>
          <p:cNvPr id="28" name="Conn2_5.65"/>
          <p:cNvSpPr/>
          <p:nvPr/>
        </p:nvSpPr>
        <p:spPr>
          <a:xfrm>
            <a:off x="5875020" y="3212473"/>
            <a:ext cx="4572" cy="137159"/>
          </a:xfrm>
          <a:prstGeom prst="line">
            <a:avLst/>
          </a:prstGeom>
          <a:ln w="9525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N2Box_5.65"/>
          <p:cNvSpPr/>
          <p:nvPr/>
        </p:nvSpPr>
        <p:spPr>
          <a:xfrm>
            <a:off x="5166360" y="3349633"/>
            <a:ext cx="1417320" cy="777240"/>
          </a:xfrm>
          <a:prstGeom prst="rect">
            <a:avLst/>
          </a:prstGeom>
          <a:solidFill>
            <a:srgbClr val="F4EAFF"/>
          </a:solidFill>
          <a:ln w="9525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N2Title_5.65"/>
          <p:cNvSpPr/>
          <p:nvPr/>
        </p:nvSpPr>
        <p:spPr>
          <a:xfrm>
            <a:off x="5239512" y="3441073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Lead</a:t>
            </a:r>
            <a:endParaRPr lang="es-MX" sz="1000" dirty="0"/>
          </a:p>
        </p:txBody>
      </p:sp>
      <p:sp>
        <p:nvSpPr>
          <p:cNvPr id="31" name="N2Sub_5.65"/>
          <p:cNvSpPr/>
          <p:nvPr/>
        </p:nvSpPr>
        <p:spPr>
          <a:xfrm>
            <a:off x="5239512" y="36971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 · Cuprum</a:t>
            </a:r>
            <a:endParaRPr lang="es-MX" sz="850" dirty="0"/>
          </a:p>
        </p:txBody>
      </p:sp>
      <p:sp>
        <p:nvSpPr>
          <p:cNvPr id="35" name="VROLine"/>
          <p:cNvSpPr/>
          <p:nvPr/>
        </p:nvSpPr>
        <p:spPr>
          <a:xfrm flipV="1">
            <a:off x="5486400" y="2354322"/>
            <a:ext cx="1175004" cy="27432"/>
          </a:xfrm>
          <a:prstGeom prst="line">
            <a:avLst/>
          </a:prstGeom>
          <a:ln w="9525">
            <a:solidFill>
              <a:srgbClr val="A100F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6" name="Lvl2Label"/>
          <p:cNvSpPr/>
          <p:nvPr/>
        </p:nvSpPr>
        <p:spPr>
          <a:xfrm>
            <a:off x="443434" y="2900933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1" i="0" kern="0" spc="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LEADERSHIP</a:t>
            </a:r>
            <a:endParaRPr lang="es-MX" sz="800" dirty="0"/>
          </a:p>
        </p:txBody>
      </p:sp>
      <p:sp>
        <p:nvSpPr>
          <p:cNvPr id="37" name="Lvl2Sub"/>
          <p:cNvSpPr/>
          <p:nvPr/>
        </p:nvSpPr>
        <p:spPr>
          <a:xfrm>
            <a:off x="416966" y="311124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 ·  accountability por cuenta</a:t>
            </a:r>
            <a:endParaRPr lang="es-MX" sz="800" dirty="0"/>
          </a:p>
        </p:txBody>
      </p:sp>
      <p:sp>
        <p:nvSpPr>
          <p:cNvPr id="44" name="R1Box_0.6"/>
          <p:cNvSpPr/>
          <p:nvPr/>
        </p:nvSpPr>
        <p:spPr>
          <a:xfrm>
            <a:off x="548640" y="4754880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R1Title_0.6"/>
          <p:cNvSpPr/>
          <p:nvPr/>
        </p:nvSpPr>
        <p:spPr>
          <a:xfrm>
            <a:off x="62179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Isaias Sanjuanero</a:t>
            </a:r>
            <a:endParaRPr lang="es-MX" sz="950" dirty="0"/>
          </a:p>
        </p:txBody>
      </p:sp>
      <p:sp>
        <p:nvSpPr>
          <p:cNvPr id="46" name="R1Sub_0.6"/>
          <p:cNvSpPr/>
          <p:nvPr/>
        </p:nvSpPr>
        <p:spPr>
          <a:xfrm>
            <a:off x="621792" y="50383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E2E</a:t>
            </a:r>
            <a:endParaRPr lang="es-MX" sz="800" dirty="0"/>
          </a:p>
        </p:txBody>
      </p:sp>
      <p:sp>
        <p:nvSpPr>
          <p:cNvPr id="48" name="R1Box_2.25"/>
          <p:cNvSpPr/>
          <p:nvPr/>
        </p:nvSpPr>
        <p:spPr>
          <a:xfrm>
            <a:off x="2057400" y="4754880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R1Title_2.25"/>
          <p:cNvSpPr/>
          <p:nvPr/>
        </p:nvSpPr>
        <p:spPr>
          <a:xfrm>
            <a:off x="213055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s-MX" sz="950" dirty="0"/>
          </a:p>
        </p:txBody>
      </p:sp>
      <p:sp>
        <p:nvSpPr>
          <p:cNvPr id="50" name="R1Sub_2.25"/>
          <p:cNvSpPr/>
          <p:nvPr/>
        </p:nvSpPr>
        <p:spPr>
          <a:xfrm>
            <a:off x="2130552" y="50383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+ Modernización</a:t>
            </a:r>
            <a:endParaRPr lang="es-MX" sz="800" dirty="0"/>
          </a:p>
        </p:txBody>
      </p:sp>
      <p:sp>
        <p:nvSpPr>
          <p:cNvPr id="52" name="R1Box_3.95"/>
          <p:cNvSpPr/>
          <p:nvPr/>
        </p:nvSpPr>
        <p:spPr>
          <a:xfrm>
            <a:off x="3611880" y="4754880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R1Title_3.95"/>
          <p:cNvSpPr/>
          <p:nvPr/>
        </p:nvSpPr>
        <p:spPr>
          <a:xfrm>
            <a:off x="368503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Engineer</a:t>
            </a: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</a:t>
            </a:r>
            <a:r>
              <a:rPr lang="es-MX" sz="950" b="1" kern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Saniesteban</a:t>
            </a:r>
            <a:endParaRPr lang="es-MX" sz="950" dirty="0"/>
          </a:p>
        </p:txBody>
      </p:sp>
      <p:sp>
        <p:nvSpPr>
          <p:cNvPr id="54" name="R1Sub_3.95"/>
          <p:cNvSpPr/>
          <p:nvPr/>
        </p:nvSpPr>
        <p:spPr>
          <a:xfrm>
            <a:off x="3685032" y="50383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+ GenWizard</a:t>
            </a:r>
            <a:endParaRPr lang="es-MX" sz="800" dirty="0"/>
          </a:p>
        </p:txBody>
      </p:sp>
      <p:sp>
        <p:nvSpPr>
          <p:cNvPr id="56" name="R1Box_5.65"/>
          <p:cNvSpPr/>
          <p:nvPr/>
        </p:nvSpPr>
        <p:spPr>
          <a:xfrm>
            <a:off x="5166360" y="4754880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R1Title_5.65"/>
          <p:cNvSpPr/>
          <p:nvPr/>
        </p:nvSpPr>
        <p:spPr>
          <a:xfrm>
            <a:off x="523951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SME</a:t>
            </a:r>
            <a:endParaRPr lang="es-MX" sz="950" dirty="0"/>
          </a:p>
        </p:txBody>
      </p:sp>
      <p:sp>
        <p:nvSpPr>
          <p:cNvPr id="58" name="R1Sub_5.65"/>
          <p:cNvSpPr/>
          <p:nvPr/>
        </p:nvSpPr>
        <p:spPr>
          <a:xfrm>
            <a:off x="5239512" y="50383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· Retail · Mfg</a:t>
            </a:r>
            <a:endParaRPr lang="es-MX" sz="800" dirty="0"/>
          </a:p>
        </p:txBody>
      </p:sp>
      <p:sp>
        <p:nvSpPr>
          <p:cNvPr id="59" name="R2Box_0.6"/>
          <p:cNvSpPr/>
          <p:nvPr/>
        </p:nvSpPr>
        <p:spPr>
          <a:xfrm>
            <a:off x="548640" y="5376672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R2Title_0.6"/>
          <p:cNvSpPr/>
          <p:nvPr/>
        </p:nvSpPr>
        <p:spPr>
          <a:xfrm>
            <a:off x="621792" y="54315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 Lead</a:t>
            </a: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 Gutierrez</a:t>
            </a:r>
            <a:endParaRPr lang="es-MX" sz="950" dirty="0"/>
          </a:p>
        </p:txBody>
      </p:sp>
      <p:sp>
        <p:nvSpPr>
          <p:cNvPr id="61" name="R2Sub_0.6"/>
          <p:cNvSpPr/>
          <p:nvPr/>
        </p:nvSpPr>
        <p:spPr>
          <a:xfrm>
            <a:off x="621792" y="56509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</a:t>
            </a:r>
            <a:endParaRPr lang="es-MX" sz="800" dirty="0"/>
          </a:p>
        </p:txBody>
      </p:sp>
      <p:sp>
        <p:nvSpPr>
          <p:cNvPr id="62" name="R2Box_2.25"/>
          <p:cNvSpPr/>
          <p:nvPr/>
        </p:nvSpPr>
        <p:spPr>
          <a:xfrm>
            <a:off x="2057400" y="5376672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R2Title_2.25"/>
          <p:cNvSpPr/>
          <p:nvPr/>
        </p:nvSpPr>
        <p:spPr>
          <a:xfrm>
            <a:off x="2130552" y="54315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r>
              <a:rPr lang="es-MX" sz="950" b="1" i="0" kern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</a:t>
            </a:r>
            <a:endParaRPr lang="es-MX" sz="950" b="1" i="0" kern="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 Campirano</a:t>
            </a:r>
            <a:endParaRPr lang="es-MX" sz="950" dirty="0"/>
          </a:p>
        </p:txBody>
      </p:sp>
      <p:sp>
        <p:nvSpPr>
          <p:cNvPr id="64" name="R2Sub_2.25"/>
          <p:cNvSpPr/>
          <p:nvPr/>
        </p:nvSpPr>
        <p:spPr>
          <a:xfrm>
            <a:off x="2130552" y="56509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+ comms</a:t>
            </a:r>
            <a:endParaRPr lang="es-MX" sz="800" dirty="0"/>
          </a:p>
        </p:txBody>
      </p:sp>
      <p:sp>
        <p:nvSpPr>
          <p:cNvPr id="65" name="R2Box_3.95"/>
          <p:cNvSpPr/>
          <p:nvPr/>
        </p:nvSpPr>
        <p:spPr>
          <a:xfrm>
            <a:off x="3611880" y="5376672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R2Title_3.95"/>
          <p:cNvSpPr/>
          <p:nvPr/>
        </p:nvSpPr>
        <p:spPr>
          <a:xfrm>
            <a:off x="3685032" y="54315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950" b="1" i="0" kern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s-MX" sz="950" b="1" i="0" kern="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MX" sz="950" b="1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Raul Benitez</a:t>
            </a:r>
            <a:endParaRPr lang="es-MX" sz="950" dirty="0"/>
          </a:p>
        </p:txBody>
      </p:sp>
      <p:sp>
        <p:nvSpPr>
          <p:cNvPr id="67" name="R2Sub_3.95"/>
          <p:cNvSpPr/>
          <p:nvPr/>
        </p:nvSpPr>
        <p:spPr>
          <a:xfrm>
            <a:off x="3685032" y="56509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+ arquitectura</a:t>
            </a:r>
            <a:endParaRPr lang="es-MX" sz="800" dirty="0"/>
          </a:p>
        </p:txBody>
      </p:sp>
      <p:sp>
        <p:nvSpPr>
          <p:cNvPr id="68" name="R2Box_5.65"/>
          <p:cNvSpPr/>
          <p:nvPr/>
        </p:nvSpPr>
        <p:spPr>
          <a:xfrm>
            <a:off x="5166360" y="5376672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R2Title_5.65"/>
          <p:cNvSpPr/>
          <p:nvPr/>
        </p:nvSpPr>
        <p:spPr>
          <a:xfrm>
            <a:off x="5239512" y="54315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b="1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</a:t>
            </a:r>
            <a:endParaRPr lang="es-MX" sz="950" dirty="0"/>
          </a:p>
        </p:txBody>
      </p:sp>
      <p:sp>
        <p:nvSpPr>
          <p:cNvPr id="70" name="R2Sub_5.65"/>
          <p:cNvSpPr/>
          <p:nvPr/>
        </p:nvSpPr>
        <p:spPr>
          <a:xfrm>
            <a:off x="5239512" y="565099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BPO</a:t>
            </a:r>
            <a:endParaRPr lang="es-MX" sz="800" dirty="0"/>
          </a:p>
        </p:txBody>
      </p:sp>
      <p:sp>
        <p:nvSpPr>
          <p:cNvPr id="71" name="Lvl3Label"/>
          <p:cNvSpPr/>
          <p:nvPr/>
        </p:nvSpPr>
        <p:spPr>
          <a:xfrm>
            <a:off x="6766560" y="4754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1" i="0" kern="0" spc="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E2E</a:t>
            </a:r>
            <a:endParaRPr lang="es-MX" sz="800" dirty="0"/>
          </a:p>
        </p:txBody>
      </p:sp>
      <p:sp>
        <p:nvSpPr>
          <p:cNvPr id="72" name="Lvl3Sub"/>
          <p:cNvSpPr/>
          <p:nvPr/>
        </p:nvSpPr>
        <p:spPr>
          <a:xfrm>
            <a:off x="6766560" y="4937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s-MX" sz="850" dirty="0"/>
          </a:p>
        </p:txBody>
      </p:sp>
      <p:sp>
        <p:nvSpPr>
          <p:cNvPr id="73" name="Lvl3Sub2"/>
          <p:cNvSpPr/>
          <p:nvPr/>
        </p:nvSpPr>
        <p:spPr>
          <a:xfrm>
            <a:off x="6766560" y="51389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MX" sz="8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capacidades multidisciplinarias, cero silos técnicos</a:t>
            </a:r>
            <a:endParaRPr lang="es-MX" sz="800" dirty="0"/>
          </a:p>
        </p:txBody>
      </p:sp>
      <p:sp>
        <p:nvSpPr>
          <p:cNvPr id="74" name="IL_2.5"/>
          <p:cNvSpPr/>
          <p:nvPr/>
        </p:nvSpPr>
        <p:spPr>
          <a:xfrm>
            <a:off x="8503920" y="2286000"/>
            <a:ext cx="3291840" cy="1280160"/>
          </a:xfrm>
          <a:prstGeom prst="rect">
            <a:avLst/>
          </a:prstGeom>
          <a:solidFill>
            <a:srgbClr val="F2F2F5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ILBar_2.5"/>
          <p:cNvSpPr/>
          <p:nvPr/>
        </p:nvSpPr>
        <p:spPr>
          <a:xfrm>
            <a:off x="8503920" y="2286000"/>
            <a:ext cx="3291840" cy="292608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ILTitle_2.5"/>
          <p:cNvSpPr/>
          <p:nvPr/>
        </p:nvSpPr>
        <p:spPr>
          <a:xfrm>
            <a:off x="8641080" y="2331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OFFERINGS DIGITAL CORE</a:t>
            </a:r>
            <a:endParaRPr lang="es-MX" sz="900" dirty="0"/>
          </a:p>
        </p:txBody>
      </p:sp>
      <p:sp>
        <p:nvSpPr>
          <p:cNvPr id="77" name="ILSub_2.5"/>
          <p:cNvSpPr/>
          <p:nvPr/>
        </p:nvSpPr>
        <p:spPr>
          <a:xfrm>
            <a:off x="8641080" y="26151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técnico y de propuesta</a:t>
            </a:r>
            <a:endParaRPr lang="es-MX" sz="850" dirty="0"/>
          </a:p>
        </p:txBody>
      </p:sp>
      <p:sp>
        <p:nvSpPr>
          <p:cNvPr id="78" name="ILBul_2.5_0"/>
          <p:cNvSpPr/>
          <p:nvPr/>
        </p:nvSpPr>
        <p:spPr>
          <a:xfrm>
            <a:off x="8668512" y="2923794"/>
            <a:ext cx="73152" cy="7315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ILItem_2.5_0"/>
          <p:cNvSpPr/>
          <p:nvPr/>
        </p:nvSpPr>
        <p:spPr>
          <a:xfrm>
            <a:off x="8823960" y="2880360"/>
            <a:ext cx="2880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TS&amp;T  ·  J. </a:t>
            </a:r>
            <a:endParaRPr lang="es-MX" sz="900" dirty="0"/>
          </a:p>
        </p:txBody>
      </p:sp>
      <p:sp>
        <p:nvSpPr>
          <p:cNvPr id="80" name="ILBul_2.5_1"/>
          <p:cNvSpPr/>
          <p:nvPr/>
        </p:nvSpPr>
        <p:spPr>
          <a:xfrm>
            <a:off x="8668512" y="3083813"/>
            <a:ext cx="73152" cy="7315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ILItem_2.5_1"/>
          <p:cNvSpPr/>
          <p:nvPr/>
        </p:nvSpPr>
        <p:spPr>
          <a:xfrm>
            <a:off x="8823960" y="3040379"/>
            <a:ext cx="2880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 ·</a:t>
            </a:r>
            <a:endParaRPr lang="es-MX" sz="900" dirty="0"/>
          </a:p>
        </p:txBody>
      </p:sp>
      <p:sp>
        <p:nvSpPr>
          <p:cNvPr id="82" name="ILBul_2.5_2"/>
          <p:cNvSpPr/>
          <p:nvPr/>
        </p:nvSpPr>
        <p:spPr>
          <a:xfrm>
            <a:off x="8668512" y="3243834"/>
            <a:ext cx="73152" cy="7315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ILItem_2.5_2"/>
          <p:cNvSpPr/>
          <p:nvPr/>
        </p:nvSpPr>
        <p:spPr>
          <a:xfrm>
            <a:off x="8823960" y="3200400"/>
            <a:ext cx="2880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S&amp;PE  ·</a:t>
            </a:r>
            <a:endParaRPr lang="es-MX" sz="900" dirty="0"/>
          </a:p>
        </p:txBody>
      </p:sp>
      <p:sp>
        <p:nvSpPr>
          <p:cNvPr id="84" name="ILBul_2.5_3"/>
          <p:cNvSpPr/>
          <p:nvPr/>
        </p:nvSpPr>
        <p:spPr>
          <a:xfrm>
            <a:off x="8668512" y="3403853"/>
            <a:ext cx="73152" cy="73152"/>
          </a:xfrm>
          <a:prstGeom prst="rect">
            <a:avLst/>
          </a:prstGeom>
          <a:solidFill>
            <a:srgbClr val="460073"/>
          </a:solidFill>
          <a:ln w="9525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5" name="ILItem_2.5_3"/>
          <p:cNvSpPr/>
          <p:nvPr/>
        </p:nvSpPr>
        <p:spPr>
          <a:xfrm>
            <a:off x="8823960" y="3360420"/>
            <a:ext cx="2880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</a:t>
            </a:r>
            <a:endParaRPr lang="es-MX" sz="900" dirty="0"/>
          </a:p>
        </p:txBody>
      </p:sp>
      <p:sp>
        <p:nvSpPr>
          <p:cNvPr id="86" name="IL_4.0"/>
          <p:cNvSpPr/>
          <p:nvPr/>
        </p:nvSpPr>
        <p:spPr>
          <a:xfrm>
            <a:off x="8503920" y="3657600"/>
            <a:ext cx="3291840" cy="1234440"/>
          </a:xfrm>
          <a:prstGeom prst="rect">
            <a:avLst/>
          </a:prstGeom>
          <a:solidFill>
            <a:srgbClr val="F2F2F5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ILBar_4.0"/>
          <p:cNvSpPr/>
          <p:nvPr/>
        </p:nvSpPr>
        <p:spPr>
          <a:xfrm>
            <a:off x="8503920" y="3657600"/>
            <a:ext cx="3291840" cy="292608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ILTitle_4.0"/>
          <p:cNvSpPr/>
          <p:nvPr/>
        </p:nvSpPr>
        <p:spPr>
          <a:xfrm>
            <a:off x="8641080" y="3703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 ·  ECOSYSTEM</a:t>
            </a:r>
            <a:endParaRPr lang="es-MX" sz="900" dirty="0"/>
          </a:p>
        </p:txBody>
      </p:sp>
      <p:sp>
        <p:nvSpPr>
          <p:cNvPr id="89" name="ILSub_4.0"/>
          <p:cNvSpPr/>
          <p:nvPr/>
        </p:nvSpPr>
        <p:spPr>
          <a:xfrm>
            <a:off x="8641080" y="39867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y alianzas</a:t>
            </a:r>
            <a:endParaRPr lang="es-MX" sz="850" dirty="0"/>
          </a:p>
        </p:txBody>
      </p:sp>
      <p:sp>
        <p:nvSpPr>
          <p:cNvPr id="90" name="ILBul_4.0_0"/>
          <p:cNvSpPr/>
          <p:nvPr/>
        </p:nvSpPr>
        <p:spPr>
          <a:xfrm>
            <a:off x="8668512" y="4314444"/>
            <a:ext cx="73152" cy="73152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ILItem_4.0_0"/>
          <p:cNvSpPr/>
          <p:nvPr/>
        </p:nvSpPr>
        <p:spPr>
          <a:xfrm>
            <a:off x="8823960" y="425196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/ Microsoft</a:t>
            </a:r>
            <a:endParaRPr lang="es-MX" sz="900" dirty="0"/>
          </a:p>
        </p:txBody>
      </p:sp>
      <p:sp>
        <p:nvSpPr>
          <p:cNvPr id="92" name="ILBul_4.0_1"/>
          <p:cNvSpPr/>
          <p:nvPr/>
        </p:nvSpPr>
        <p:spPr>
          <a:xfrm>
            <a:off x="8668512" y="4512564"/>
            <a:ext cx="73152" cy="73152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3" name="ILItem_4.0_1"/>
          <p:cNvSpPr/>
          <p:nvPr/>
        </p:nvSpPr>
        <p:spPr>
          <a:xfrm>
            <a:off x="8823960" y="445008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 ·  Oracle  ·  ServiceNow</a:t>
            </a:r>
            <a:endParaRPr lang="es-MX" sz="900" dirty="0"/>
          </a:p>
        </p:txBody>
      </p:sp>
      <p:sp>
        <p:nvSpPr>
          <p:cNvPr id="94" name="ILBul_4.0_2"/>
          <p:cNvSpPr/>
          <p:nvPr/>
        </p:nvSpPr>
        <p:spPr>
          <a:xfrm>
            <a:off x="8668512" y="4710684"/>
            <a:ext cx="73152" cy="73152"/>
          </a:xfrm>
          <a:prstGeom prst="rect">
            <a:avLst/>
          </a:prstGeom>
          <a:solidFill>
            <a:srgbClr val="5E2E8E"/>
          </a:solidFill>
          <a:ln w="9525">
            <a:solidFill>
              <a:srgbClr val="5E2E8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ILItem_4.0_2"/>
          <p:cNvSpPr/>
          <p:nvPr/>
        </p:nvSpPr>
        <p:spPr>
          <a:xfrm>
            <a:off x="8823960" y="464820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 ·  GenWizard</a:t>
            </a:r>
            <a:endParaRPr lang="es-MX" sz="900" dirty="0"/>
          </a:p>
        </p:txBody>
      </p:sp>
      <p:sp>
        <p:nvSpPr>
          <p:cNvPr id="96" name="IL_5.45"/>
          <p:cNvSpPr/>
          <p:nvPr/>
        </p:nvSpPr>
        <p:spPr>
          <a:xfrm>
            <a:off x="8503920" y="4983480"/>
            <a:ext cx="3291840" cy="1234440"/>
          </a:xfrm>
          <a:prstGeom prst="rect">
            <a:avLst/>
          </a:prstGeom>
          <a:solidFill>
            <a:srgbClr val="F2F2F5"/>
          </a:solidFill>
          <a:ln w="9525">
            <a:solidFill>
              <a:srgbClr val="D4D4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7" name="ILBar_5.45"/>
          <p:cNvSpPr/>
          <p:nvPr/>
        </p:nvSpPr>
        <p:spPr>
          <a:xfrm>
            <a:off x="8503920" y="4983480"/>
            <a:ext cx="3291840" cy="292608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8" name="ILTitle_5.45"/>
          <p:cNvSpPr/>
          <p:nvPr/>
        </p:nvSpPr>
        <p:spPr>
          <a:xfrm>
            <a:off x="8641080" y="5029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1" i="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 ·  CLIENTE</a:t>
            </a:r>
            <a:endParaRPr lang="es-MX" sz="900" dirty="0"/>
          </a:p>
        </p:txBody>
      </p:sp>
      <p:sp>
        <p:nvSpPr>
          <p:cNvPr id="99" name="ILSub_5.45"/>
          <p:cNvSpPr/>
          <p:nvPr/>
        </p:nvSpPr>
        <p:spPr>
          <a:xfrm>
            <a:off x="8641080" y="5312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85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interno + contraparte cliente</a:t>
            </a:r>
            <a:endParaRPr lang="es-MX" sz="850" dirty="0"/>
          </a:p>
        </p:txBody>
      </p:sp>
      <p:sp>
        <p:nvSpPr>
          <p:cNvPr id="100" name="ILBul_5.45_0"/>
          <p:cNvSpPr/>
          <p:nvPr/>
        </p:nvSpPr>
        <p:spPr>
          <a:xfrm>
            <a:off x="8668512" y="5640324"/>
            <a:ext cx="73152" cy="73152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1" name="ILItem_5.45_0"/>
          <p:cNvSpPr/>
          <p:nvPr/>
        </p:nvSpPr>
        <p:spPr>
          <a:xfrm>
            <a:off x="8823960" y="557784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Finance / HR</a:t>
            </a:r>
            <a:endParaRPr lang="es-MX" sz="900" dirty="0"/>
          </a:p>
        </p:txBody>
      </p:sp>
      <p:sp>
        <p:nvSpPr>
          <p:cNvPr id="102" name="ILBul_5.45_1"/>
          <p:cNvSpPr/>
          <p:nvPr/>
        </p:nvSpPr>
        <p:spPr>
          <a:xfrm>
            <a:off x="8668512" y="5838444"/>
            <a:ext cx="73152" cy="73152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3" name="ILItem_5.45_1"/>
          <p:cNvSpPr/>
          <p:nvPr/>
        </p:nvSpPr>
        <p:spPr>
          <a:xfrm>
            <a:off x="8823960" y="577596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·  Legal  ·  MD&amp;I</a:t>
            </a:r>
            <a:endParaRPr lang="es-MX" sz="900" dirty="0"/>
          </a:p>
        </p:txBody>
      </p:sp>
      <p:sp>
        <p:nvSpPr>
          <p:cNvPr id="104" name="ILBul_5.45_2"/>
          <p:cNvSpPr/>
          <p:nvPr/>
        </p:nvSpPr>
        <p:spPr>
          <a:xfrm>
            <a:off x="8668512" y="6036564"/>
            <a:ext cx="73152" cy="73152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5" name="ILItem_5.45_2"/>
          <p:cNvSpPr/>
          <p:nvPr/>
        </p:nvSpPr>
        <p:spPr>
          <a:xfrm>
            <a:off x="8823960" y="5974080"/>
            <a:ext cx="2880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cliente: CIO / CTO / CDO</a:t>
            </a:r>
            <a:endParaRPr lang="es-MX" sz="900" dirty="0"/>
          </a:p>
        </p:txBody>
      </p:sp>
      <p:sp>
        <p:nvSpPr>
          <p:cNvPr id="106" name="InterlockBridge"/>
          <p:cNvSpPr/>
          <p:nvPr/>
        </p:nvSpPr>
        <p:spPr>
          <a:xfrm>
            <a:off x="5743603" y="4145160"/>
            <a:ext cx="2760318" cy="275963"/>
          </a:xfrm>
          <a:prstGeom prst="line">
            <a:avLst/>
          </a:prstGeom>
          <a:ln w="9525">
            <a:solidFill>
              <a:srgbClr val="A100F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07" name="AmbBar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8" name="AmbText"/>
          <p:cNvSpPr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100" b="1" i="0" kern="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RECTOR:  </a:t>
            </a:r>
            <a:r>
              <a:rPr lang="es-MX" sz="1000" b="0" i="1" kern="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accountable end-to-end del business case  ·  cero silos técnicos  ·  full-stack engineers, no L1/L2/L3  ·  upskilling continuo en Agentic AI</a:t>
            </a:r>
            <a:endParaRPr lang="es-MX" sz="1000" dirty="0"/>
          </a:p>
        </p:txBody>
      </p:sp>
      <p:sp>
        <p:nvSpPr>
          <p:cNvPr id="109" name="FooterBar"/>
          <p:cNvSpPr/>
          <p:nvPr/>
        </p:nvSpPr>
        <p:spPr>
          <a:xfrm>
            <a:off x="0" y="6675120"/>
            <a:ext cx="12191695" cy="1920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0" name="FooterText"/>
          <p:cNvSpPr/>
          <p:nvPr/>
        </p:nvSpPr>
        <p:spPr>
          <a:xfrm>
            <a:off x="457200" y="6675120"/>
            <a:ext cx="9144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s-MX" sz="900" dirty="0"/>
          </a:p>
        </p:txBody>
      </p:sp>
      <p:sp>
        <p:nvSpPr>
          <p:cNvPr id="111" name="FooterNum"/>
          <p:cNvSpPr/>
          <p:nvPr/>
        </p:nvSpPr>
        <p:spPr>
          <a:xfrm>
            <a:off x="10820095" y="667512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900" b="0" i="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s-MX" sz="900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054A21E-630A-3D27-E875-913950818EA7}"/>
              </a:ext>
            </a:extLst>
          </p:cNvPr>
          <p:cNvGrpSpPr/>
          <p:nvPr/>
        </p:nvGrpSpPr>
        <p:grpSpPr>
          <a:xfrm>
            <a:off x="7057689" y="1965702"/>
            <a:ext cx="1320044" cy="777240"/>
            <a:chOff x="6693451" y="2171700"/>
            <a:chExt cx="1446233" cy="777240"/>
          </a:xfrm>
        </p:grpSpPr>
        <p:sp>
          <p:nvSpPr>
            <p:cNvPr id="32" name="VRO"/>
            <p:cNvSpPr/>
            <p:nvPr/>
          </p:nvSpPr>
          <p:spPr>
            <a:xfrm>
              <a:off x="6693451" y="2171700"/>
              <a:ext cx="1417320" cy="777240"/>
            </a:xfrm>
            <a:prstGeom prst="rect">
              <a:avLst/>
            </a:prstGeom>
            <a:solidFill>
              <a:srgbClr val="A100FF"/>
            </a:solidFill>
            <a:ln w="12700">
              <a:solidFill>
                <a:srgbClr val="A100FF"/>
              </a:solidFill>
              <a:prstDash val="soli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4" name="VROSub"/>
            <p:cNvSpPr/>
            <p:nvPr/>
          </p:nvSpPr>
          <p:spPr>
            <a:xfrm>
              <a:off x="6825996" y="2480310"/>
              <a:ext cx="12710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850" b="0" i="1" kern="0" dirty="0">
                  <a:solidFill>
                    <a:srgbClr val="F4EA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Raul Ruiz</a:t>
              </a:r>
              <a:endParaRPr lang="es-MX" sz="850" dirty="0"/>
            </a:p>
          </p:txBody>
        </p:sp>
        <p:sp>
          <p:nvSpPr>
            <p:cNvPr id="113" name="VROTitle">
              <a:extLst>
                <a:ext uri="{FF2B5EF4-FFF2-40B4-BE49-F238E27FC236}">
                  <a16:creationId xmlns:a16="http://schemas.microsoft.com/office/drawing/2014/main" id="{3DB57CF6-4B94-B37F-25B4-D8532EAF8977}"/>
                </a:ext>
              </a:extLst>
            </p:cNvPr>
            <p:cNvSpPr/>
            <p:nvPr/>
          </p:nvSpPr>
          <p:spPr>
            <a:xfrm>
              <a:off x="6868668" y="2333244"/>
              <a:ext cx="12710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950" b="1" i="0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Value Realization</a:t>
              </a:r>
              <a:endParaRPr lang="es-MX" sz="950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0FDDCF2-A1AF-2752-F9B8-436B6AEDDDAB}"/>
              </a:ext>
            </a:extLst>
          </p:cNvPr>
          <p:cNvGrpSpPr/>
          <p:nvPr/>
        </p:nvGrpSpPr>
        <p:grpSpPr>
          <a:xfrm>
            <a:off x="1388974" y="2005377"/>
            <a:ext cx="1417320" cy="777240"/>
            <a:chOff x="6679692" y="3292703"/>
            <a:chExt cx="1417320" cy="777240"/>
          </a:xfrm>
        </p:grpSpPr>
        <p:sp>
          <p:nvSpPr>
            <p:cNvPr id="112" name="VRO">
              <a:extLst>
                <a:ext uri="{FF2B5EF4-FFF2-40B4-BE49-F238E27FC236}">
                  <a16:creationId xmlns:a16="http://schemas.microsoft.com/office/drawing/2014/main" id="{5C9A188C-2418-9786-6537-BBFE2A3450D6}"/>
                </a:ext>
              </a:extLst>
            </p:cNvPr>
            <p:cNvSpPr/>
            <p:nvPr/>
          </p:nvSpPr>
          <p:spPr>
            <a:xfrm>
              <a:off x="6679692" y="3292703"/>
              <a:ext cx="1417320" cy="777240"/>
            </a:xfrm>
            <a:prstGeom prst="rect">
              <a:avLst/>
            </a:prstGeom>
            <a:solidFill>
              <a:srgbClr val="A100FF"/>
            </a:solidFill>
            <a:ln w="12700">
              <a:solidFill>
                <a:srgbClr val="A100FF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VROTitle"/>
            <p:cNvSpPr/>
            <p:nvPr/>
          </p:nvSpPr>
          <p:spPr>
            <a:xfrm>
              <a:off x="6767165" y="3392424"/>
              <a:ext cx="12710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950" b="1" i="0" kern="0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Delivery</a:t>
              </a:r>
              <a:r>
                <a:rPr lang="es-MX" sz="950" b="1" i="0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Lead MRS</a:t>
              </a:r>
              <a:endParaRPr lang="es-MX" sz="950" dirty="0"/>
            </a:p>
          </p:txBody>
        </p:sp>
        <p:sp>
          <p:nvSpPr>
            <p:cNvPr id="114" name="VROSub">
              <a:extLst>
                <a:ext uri="{FF2B5EF4-FFF2-40B4-BE49-F238E27FC236}">
                  <a16:creationId xmlns:a16="http://schemas.microsoft.com/office/drawing/2014/main" id="{0FA59F36-B4AD-7638-3F5C-EA84091A141E}"/>
                </a:ext>
              </a:extLst>
            </p:cNvPr>
            <p:cNvSpPr/>
            <p:nvPr/>
          </p:nvSpPr>
          <p:spPr>
            <a:xfrm>
              <a:off x="6789420" y="3611879"/>
              <a:ext cx="12710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850" b="0" i="1" kern="0" dirty="0">
                  <a:solidFill>
                    <a:srgbClr val="F4EA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Alfredo Garcia</a:t>
              </a:r>
              <a:endParaRPr lang="es-MX" sz="850" dirty="0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3F09A81-B331-EAE7-68B0-8250DD4E27FF}"/>
              </a:ext>
            </a:extLst>
          </p:cNvPr>
          <p:cNvGrpSpPr/>
          <p:nvPr/>
        </p:nvGrpSpPr>
        <p:grpSpPr>
          <a:xfrm>
            <a:off x="5578084" y="1977048"/>
            <a:ext cx="1417320" cy="777240"/>
            <a:chOff x="1408176" y="2200656"/>
            <a:chExt cx="1417320" cy="777240"/>
          </a:xfrm>
        </p:grpSpPr>
        <p:sp>
          <p:nvSpPr>
            <p:cNvPr id="115" name="VRO">
              <a:extLst>
                <a:ext uri="{FF2B5EF4-FFF2-40B4-BE49-F238E27FC236}">
                  <a16:creationId xmlns:a16="http://schemas.microsoft.com/office/drawing/2014/main" id="{2A7A0760-E28D-DB76-B723-A449BC6B9F54}"/>
                </a:ext>
              </a:extLst>
            </p:cNvPr>
            <p:cNvSpPr/>
            <p:nvPr/>
          </p:nvSpPr>
          <p:spPr>
            <a:xfrm>
              <a:off x="1408176" y="2200656"/>
              <a:ext cx="1417320" cy="777240"/>
            </a:xfrm>
            <a:prstGeom prst="rect">
              <a:avLst/>
            </a:prstGeom>
            <a:solidFill>
              <a:srgbClr val="A100FF"/>
            </a:solidFill>
            <a:ln w="12700">
              <a:solidFill>
                <a:srgbClr val="A100FF"/>
              </a:solidFill>
              <a:prstDash val="solid"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16" name="VROSub">
              <a:extLst>
                <a:ext uri="{FF2B5EF4-FFF2-40B4-BE49-F238E27FC236}">
                  <a16:creationId xmlns:a16="http://schemas.microsoft.com/office/drawing/2014/main" id="{D259697B-C79B-90ED-C08F-48E6FAA4AE73}"/>
                </a:ext>
              </a:extLst>
            </p:cNvPr>
            <p:cNvSpPr/>
            <p:nvPr/>
          </p:nvSpPr>
          <p:spPr>
            <a:xfrm>
              <a:off x="1466128" y="2477436"/>
              <a:ext cx="12710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850" b="0" i="1" kern="0" dirty="0">
                  <a:solidFill>
                    <a:srgbClr val="F4EA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TBC</a:t>
              </a:r>
              <a:endParaRPr lang="es-MX" sz="850" dirty="0"/>
            </a:p>
          </p:txBody>
        </p:sp>
        <p:sp>
          <p:nvSpPr>
            <p:cNvPr id="117" name="VROTitle">
              <a:extLst>
                <a:ext uri="{FF2B5EF4-FFF2-40B4-BE49-F238E27FC236}">
                  <a16:creationId xmlns:a16="http://schemas.microsoft.com/office/drawing/2014/main" id="{DE654799-7905-0B80-97E3-950B436D5DAE}"/>
                </a:ext>
              </a:extLst>
            </p:cNvPr>
            <p:cNvSpPr/>
            <p:nvPr/>
          </p:nvSpPr>
          <p:spPr>
            <a:xfrm>
              <a:off x="1508800" y="2330370"/>
              <a:ext cx="12710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MX" sz="950" b="1" kern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</a:t>
              </a:r>
              <a:endParaRPr lang="es-MX" sz="950" dirty="0"/>
            </a:p>
          </p:txBody>
        </p:sp>
      </p:grp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F63D1CD5-980F-6AAB-F053-C9DE115FB3D9}"/>
              </a:ext>
            </a:extLst>
          </p:cNvPr>
          <p:cNvCxnSpPr>
            <a:cxnSpLocks/>
            <a:stCxn id="112" idx="2"/>
            <a:endCxn id="17" idx="0"/>
          </p:cNvCxnSpPr>
          <p:nvPr/>
        </p:nvCxnSpPr>
        <p:spPr>
          <a:xfrm rot="5400000">
            <a:off x="1393959" y="2645958"/>
            <a:ext cx="567016" cy="84033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A0673057-6E33-4E20-E8A2-214B4DD6A2DE}"/>
              </a:ext>
            </a:extLst>
          </p:cNvPr>
          <p:cNvCxnSpPr>
            <a:stCxn id="114" idx="2"/>
            <a:endCxn id="21" idx="0"/>
          </p:cNvCxnSpPr>
          <p:nvPr/>
        </p:nvCxnSpPr>
        <p:spPr>
          <a:xfrm rot="16200000" flipH="1">
            <a:off x="2143335" y="2726908"/>
            <a:ext cx="613600" cy="63185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D1670D09-3DBF-91F5-B861-DC46DBC30FE6}"/>
              </a:ext>
            </a:extLst>
          </p:cNvPr>
          <p:cNvCxnSpPr>
            <a:stCxn id="112" idx="2"/>
            <a:endCxn id="25" idx="0"/>
          </p:cNvCxnSpPr>
          <p:nvPr/>
        </p:nvCxnSpPr>
        <p:spPr>
          <a:xfrm rot="16200000" flipH="1">
            <a:off x="2925579" y="1954672"/>
            <a:ext cx="567016" cy="222290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10EAA569-C511-4286-7589-CC5967B3CD64}"/>
              </a:ext>
            </a:extLst>
          </p:cNvPr>
          <p:cNvCxnSpPr>
            <a:cxnSpLocks/>
            <a:stCxn id="112" idx="2"/>
            <a:endCxn id="29" idx="0"/>
          </p:cNvCxnSpPr>
          <p:nvPr/>
        </p:nvCxnSpPr>
        <p:spPr>
          <a:xfrm rot="16200000" flipH="1">
            <a:off x="3702819" y="1177432"/>
            <a:ext cx="567016" cy="3777386"/>
          </a:xfrm>
          <a:prstGeom prst="bentConnector3">
            <a:avLst>
              <a:gd name="adj1" fmla="val 515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VROLine">
            <a:extLst>
              <a:ext uri="{FF2B5EF4-FFF2-40B4-BE49-F238E27FC236}">
                <a16:creationId xmlns:a16="http://schemas.microsoft.com/office/drawing/2014/main" id="{8D03FEBF-EED3-D60F-C9F1-A812A4BFBFE6}"/>
              </a:ext>
            </a:extLst>
          </p:cNvPr>
          <p:cNvSpPr/>
          <p:nvPr/>
        </p:nvSpPr>
        <p:spPr>
          <a:xfrm flipV="1">
            <a:off x="2777704" y="2370254"/>
            <a:ext cx="422696" cy="0"/>
          </a:xfrm>
          <a:prstGeom prst="line">
            <a:avLst/>
          </a:prstGeom>
          <a:ln w="9525">
            <a:solidFill>
              <a:srgbClr val="A100F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AD5E8413-057B-9B66-6074-2E1302BF105E}"/>
              </a:ext>
            </a:extLst>
          </p:cNvPr>
          <p:cNvCxnSpPr>
            <a:stCxn id="17" idx="2"/>
            <a:endCxn id="134" idx="0"/>
          </p:cNvCxnSpPr>
          <p:nvPr/>
        </p:nvCxnSpPr>
        <p:spPr>
          <a:xfrm rot="16200000" flipH="1">
            <a:off x="2151892" y="3232280"/>
            <a:ext cx="495418" cy="228460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5A5AE7CB-C1F8-3A1C-9CA4-3A63CC72D98B}"/>
              </a:ext>
            </a:extLst>
          </p:cNvPr>
          <p:cNvCxnSpPr>
            <a:stCxn id="23" idx="2"/>
            <a:endCxn id="134" idx="0"/>
          </p:cNvCxnSpPr>
          <p:nvPr/>
        </p:nvCxnSpPr>
        <p:spPr>
          <a:xfrm rot="16200000" flipH="1">
            <a:off x="2874268" y="3954655"/>
            <a:ext cx="559427" cy="775843"/>
          </a:xfrm>
          <a:prstGeom prst="bentConnector3">
            <a:avLst>
              <a:gd name="adj1" fmla="val 561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40554FFB-9655-F28A-406E-C54174B6E33F}"/>
              </a:ext>
            </a:extLst>
          </p:cNvPr>
          <p:cNvCxnSpPr>
            <a:cxnSpLocks/>
            <a:stCxn id="25" idx="2"/>
            <a:endCxn id="134" idx="0"/>
          </p:cNvCxnSpPr>
          <p:nvPr/>
        </p:nvCxnSpPr>
        <p:spPr>
          <a:xfrm rot="5400000">
            <a:off x="3683513" y="3985264"/>
            <a:ext cx="495418" cy="77863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2EDF1C76-B5A4-1208-30F6-5A5018C7F385}"/>
              </a:ext>
            </a:extLst>
          </p:cNvPr>
          <p:cNvCxnSpPr>
            <a:cxnSpLocks/>
            <a:stCxn id="106" idx="0"/>
            <a:endCxn id="134" idx="0"/>
          </p:cNvCxnSpPr>
          <p:nvPr/>
        </p:nvCxnSpPr>
        <p:spPr>
          <a:xfrm rot="5400000">
            <a:off x="4404188" y="3282875"/>
            <a:ext cx="477131" cy="2201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228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ROADMAP DE EJECUCIÓN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trimestral FY27 (Sep 26 — Ago 27)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28733"/>
            <a:ext cx="27889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28733"/>
            <a:ext cx="2788920" cy="105156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017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SEP-NOV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12781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Estabilizar y rearmar pipeline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27181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917453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del Value Realization Office MX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94109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484381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Reinvention.AI activada en 3 cuentas 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161037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5130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OLA 2 + Liverpool retainer renegociados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727965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61823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 objetivo: 30M (1.5x base)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294893"/>
            <a:ext cx="91440" cy="9144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18516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Q1: 15M  ·  Revenue Q1: 22M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1728733"/>
            <a:ext cx="27889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64992" y="1728733"/>
            <a:ext cx="2788920" cy="105156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7872" y="182017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DIC-FEB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47872" y="2112781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Reactivar generación de demanda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47872" y="3027181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30752" y="2917453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1er deal multi-tower (Banca o Retail)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47872" y="3594109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30752" y="3484381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Value-Led IT Summit FY27 con 30+ CIOs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47872" y="4161037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30752" y="405130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Bancoppel + Liverpool publicados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47872" y="4727965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30752" y="461823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qualified objetivo: 45M (~3x FY26)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47872" y="5294893"/>
            <a:ext cx="91440" cy="9144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30752" y="518516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Acumulado: Sales 35M  ·  Revenue 45M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72784" y="1728733"/>
            <a:ext cx="27889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72784" y="1728733"/>
            <a:ext cx="2788920" cy="105156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55664" y="182017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MAR-MAY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55664" y="2112781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Escalar y proteger margen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55664" y="3027181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38544" y="2917453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deal multi-tower cerrado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55664" y="3594109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38544" y="3484381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operativo en 5 cuentas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55664" y="4161037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38544" y="405130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CCI recuperándose hacia 28%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55664" y="4727965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38544" y="461823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Co-innovation lab con AWS + Microsoft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55664" y="5294893"/>
            <a:ext cx="91440" cy="91440"/>
          </a:xfrm>
          <a:prstGeom prst="rect">
            <a:avLst/>
          </a:prstGeom>
          <a:solidFill>
            <a:srgbClr val="B967FF"/>
          </a:solidFill>
          <a:ln w="12700">
            <a:solidFill>
              <a:srgbClr val="B96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38544" y="518516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Acumulado: Sales 55M  ·  Revenue 70M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80576" y="1728733"/>
            <a:ext cx="27889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180576" y="1728733"/>
            <a:ext cx="278892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363456" y="1820173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JUN-AGO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363456" y="2112781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Aterrizar y proyectar FY28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363456" y="3027181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546336" y="2917453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FY27: 75M sales  ·  95M revenue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363456" y="3594109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546336" y="3484381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CCI 34% confirmado  ·  Delivered CCI 28%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363456" y="4161037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546336" y="4051309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Renovaciones premium con uplift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363456" y="4727965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546336" y="461823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retrospective + plan FY28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363456" y="5294893"/>
            <a:ext cx="9144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546336" y="518516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FY28: Autonomous Enterprise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6355080"/>
            <a:ext cx="11277295" cy="0"/>
          </a:xfrm>
          <a:prstGeom prst="rect">
            <a:avLst/>
          </a:prstGeom>
          <a:noFill/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|  Managed Reinvention Services — Estrategia FY27 México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0BA02-1512-7CEC-4533-7877978EF09D}"/>
              </a:ext>
            </a:extLst>
          </p:cNvPr>
          <p:cNvSpPr txBox="1"/>
          <p:nvPr/>
        </p:nvSpPr>
        <p:spPr>
          <a:xfrm>
            <a:off x="3047281" y="2389132"/>
            <a:ext cx="6094562" cy="207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Renovaciones y contratos vencidos en el mercado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Cambio en la estructura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Account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Plan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up y top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down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23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73152" cy="6858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A10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CONVERSACIÓN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NECESITAMOS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TENER YA.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mexicano crece 7 veces más rápido que el PIB. Pero IDC lo dijo claro: la oportunidad es para quien sabe en qué segmento compite y tiene propuesta de valor clara. Nosotros la tenemos.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30 DÍAS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600200"/>
            <a:ext cx="521208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73152" cy="1371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12280" y="1737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80960" y="1764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0" y="2240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ejecutivo con el equipo MX para alinear pipeline FY27 y prioridades por industria.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3108960"/>
            <a:ext cx="521208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3108960"/>
            <a:ext cx="73152" cy="1371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8096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0" y="3749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madurez de las 5 cuentas core + identificación de oportunidades de uplift a MRS.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4617720"/>
            <a:ext cx="521208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4617720"/>
            <a:ext cx="73152" cy="13716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4754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80960" y="4782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5257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conjunta de soluciones e innovación. Roadmap detallado por cuenta con caso de negocio.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0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4516</TotalTime>
  <Words>3828</Words>
  <Application>Microsoft Office PowerPoint</Application>
  <PresentationFormat>Widescreen</PresentationFormat>
  <Paragraphs>724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Managed Reinvention Services - Estrategia FY27 México</dc:title>
  <dc:subject>PptxGenJS Presentation</dc:subject>
  <dc:creator>Accenture México</dc:creator>
  <cp:lastModifiedBy>Gallegos, Alejandro</cp:lastModifiedBy>
  <cp:revision>4</cp:revision>
  <dcterms:created xsi:type="dcterms:W3CDTF">2026-05-27T22:07:00Z</dcterms:created>
  <dcterms:modified xsi:type="dcterms:W3CDTF">2026-06-01T18:19:44Z</dcterms:modified>
</cp:coreProperties>
</file>